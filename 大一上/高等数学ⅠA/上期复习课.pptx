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8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59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0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6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041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85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32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19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65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39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00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0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1000"/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3A5CB-C729-48E6-BA88-DC482D717985}" type="datetimeFigureOut">
              <a:rPr lang="zh-CN" altLang="en-US" smtClean="0"/>
              <a:t>2023/12/18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3BE07-EE99-4938-AFE0-797B819F90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85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复习课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6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58993" y="225282"/>
            <a:ext cx="446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28C2"/>
                </a:solidFill>
              </a:rPr>
              <a:t>一元函数微积分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2368" y="91013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函数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02368" y="138995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极限思想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2368" y="237241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极限运算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5502" y="89489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显函数、隐函数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88369" y="910135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数列、分段函数、参数方程、积分函数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65501" y="1388407"/>
            <a:ext cx="5724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动与静的结合、函数变化趋势的数学描述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65502" y="1906591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连续、导数、定积分</a:t>
            </a:r>
            <a:endParaRPr lang="zh-CN" altLang="en-US" sz="2400" dirty="0"/>
          </a:p>
        </p:txBody>
      </p:sp>
      <p:sp>
        <p:nvSpPr>
          <p:cNvPr id="15" name="矩形 14"/>
          <p:cNvSpPr/>
          <p:nvPr/>
        </p:nvSpPr>
        <p:spPr>
          <a:xfrm>
            <a:off x="2465502" y="2372412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基本初等函数的各种极限状况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465502" y="2881082"/>
            <a:ext cx="8802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极限运算法则</a:t>
            </a:r>
            <a:r>
              <a:rPr lang="en-US" altLang="zh-CN" sz="2400" dirty="0" smtClean="0">
                <a:solidFill>
                  <a:srgbClr val="0070C0"/>
                </a:solidFill>
                <a:latin typeface="+mn-ea"/>
              </a:rPr>
              <a:t>——</a:t>
            </a: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四则运算、复合运算、无穷小与有界函数乘积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465502" y="3389752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极限存在准则</a:t>
            </a:r>
            <a:r>
              <a:rPr lang="en-US" altLang="zh-CN" sz="2400" dirty="0" smtClean="0">
                <a:solidFill>
                  <a:srgbClr val="0070C0"/>
                </a:solidFill>
                <a:latin typeface="+mn-ea"/>
              </a:rPr>
              <a:t>——</a:t>
            </a: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夹逼定理、单调有界数列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65502" y="3898422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无穷小的比较</a:t>
            </a:r>
            <a:r>
              <a:rPr lang="en-US" altLang="zh-CN" sz="2400" dirty="0" smtClean="0">
                <a:solidFill>
                  <a:srgbClr val="0070C0"/>
                </a:solidFill>
                <a:latin typeface="+mn-ea"/>
              </a:rPr>
              <a:t>——</a:t>
            </a: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高阶、低阶、同阶、等价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598116" y="389842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等价无穷小替换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2465502" y="4407092"/>
                <a:ext cx="2906565" cy="616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洛必达法则</a:t>
                </a:r>
                <a:r>
                  <a:rPr lang="en-US" altLang="zh-CN" sz="2400" dirty="0" smtClean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——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zh-CN" altLang="en-US" dirty="0" smtClean="0"/>
                  <a:t>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502" y="4407092"/>
                <a:ext cx="2906565" cy="616964"/>
              </a:xfrm>
              <a:prstGeom prst="rect">
                <a:avLst/>
              </a:prstGeom>
              <a:blipFill>
                <a:blip r:embed="rId2"/>
                <a:stretch>
                  <a:fillRect l="-3145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902368" y="5024056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函数连续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65501" y="5024056"/>
            <a:ext cx="8494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+mn-ea"/>
              </a:rPr>
              <a:t>函数在点的连续性、左极限、右极限、函数在区间上的连续性</a:t>
            </a:r>
            <a:endParaRPr lang="zh-CN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465501" y="553688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闭区间上连续函数的性质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433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2" grpId="0"/>
      <p:bldP spid="15" grpId="0"/>
      <p:bldP spid="16" grpId="0"/>
      <p:bldP spid="17" grpId="0"/>
      <p:bldP spid="18" grpId="0"/>
      <p:bldP spid="3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8993" y="225282"/>
            <a:ext cx="446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28C2"/>
                </a:solidFill>
              </a:rPr>
              <a:t>一元函数微积分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2368" y="91013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导数思想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89778" y="910135"/>
            <a:ext cx="8186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函数在点</a:t>
            </a: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的导数、左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导数</a:t>
            </a: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、右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导数</a:t>
            </a: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函数在区间上</a:t>
            </a: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的导数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9778" y="1371800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两个变量在某点处的变化量的比值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902368" y="189601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导数运算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89778" y="1896014"/>
            <a:ext cx="63401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按定义计算函数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</a:rPr>
              <a:t>在点的导数、左导数、右导数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89778" y="2420228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基本初等函数的导数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89778" y="288189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导数运算法则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89778" y="33435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高阶导数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489778" y="3805223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隐函数及参数方程的导数、积分函数的导数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902368" y="433846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导数应用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89778" y="4338460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中值定理（罗尔、拉格朗日、柯西、泰勒）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489778" y="4791102"/>
            <a:ext cx="89766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单调性、凹凸性、驻点、拐点、极值、最值、相关变化率、弧微分与曲率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6682351" y="2303690"/>
                <a:ext cx="5447609" cy="746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ⅆ</m:t>
                                </m:r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zh-CN" sz="2400" b="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i="1" smtClean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0428C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428C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rgbClr val="0428C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smtClean="0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428C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351" y="2303690"/>
                <a:ext cx="5447609" cy="7464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682351" y="3019710"/>
                <a:ext cx="2867195" cy="6746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sz="2400" i="1" dirty="0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2400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400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  <m:f>
                      <m:fPr>
                        <m:ctrlP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400" i="1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zh-CN" altLang="en-US" sz="2400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400" i="1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 dirty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428C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351" y="3019710"/>
                <a:ext cx="2867195" cy="674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49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8993" y="225282"/>
            <a:ext cx="446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28C2"/>
                </a:solidFill>
              </a:rPr>
              <a:t>一元函数微积分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2368" y="91013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微分思想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89778" y="910135"/>
            <a:ext cx="63401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极限条件下的线性与非线性的关系、以直代曲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58993" y="1533433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微分运算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9778" y="1995098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基本初等函数的微分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489778" y="153343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微分与导数的关系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489778" y="245676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微分运算法则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02368" y="302889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不定积分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89778" y="302889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不定积分与微分、导数的关系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89778" y="3490563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不定积分的性质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489778" y="3952228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不定积分公式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489778" y="4413893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不定积分的换元法与分部积分法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7370880" y="1969516"/>
                <a:ext cx="4365041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𝑑𝑓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 dirty="0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400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400" i="1" dirty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428C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80" y="1969516"/>
                <a:ext cx="4365041" cy="6242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5857976" y="1428751"/>
                <a:ext cx="59439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 dirty="0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 sz="2400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 dirty="0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zh-CN" altLang="en-US" sz="2400" i="1" dirty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altLang="zh-CN" sz="2400" b="0" i="1" dirty="0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zh-CN" altLang="en-US" sz="2400" i="1" dirty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428C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976" y="1428751"/>
                <a:ext cx="5943998" cy="461665"/>
              </a:xfrm>
              <a:prstGeom prst="rect">
                <a:avLst/>
              </a:prstGeom>
              <a:blipFill>
                <a:blip r:embed="rId3"/>
                <a:stretch>
                  <a:fillRect l="-308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7370880" y="2589382"/>
                <a:ext cx="1731884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srgbClr val="0428C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80" y="2589382"/>
                <a:ext cx="1731884" cy="624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297147" y="4879182"/>
                <a:ext cx="8850180" cy="7284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5B9BD5">
                                    <a:lumMod val="7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5B9BD5">
                                    <a:lumMod val="75000"/>
                                  </a:srgbClr>
                                </a:solidFill>
                                <a:latin typeface="Cambria Math" panose="02040503050406030204" pitchFamily="18" charset="0"/>
                              </a:rPr>
                              <m:t>𝑑𝐹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zh-CN" altLang="en-US" sz="2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𝑑𝐹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nary>
                    <m:r>
                      <m:rPr>
                        <m:nor/>
                      </m:rP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 </m:t>
                    </m:r>
                  </m:oMath>
                </a14:m>
                <a:r>
                  <a:rPr lang="zh-CN" altLang="en-US" sz="2400" dirty="0" smtClean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endParaRPr lang="zh-CN" altLang="en-US" sz="24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147" y="4879182"/>
                <a:ext cx="8850180" cy="7284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9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58993" y="225282"/>
            <a:ext cx="4461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428C2"/>
                </a:solidFill>
              </a:rPr>
              <a:t>一元函数微积分</a:t>
            </a:r>
            <a:endParaRPr lang="zh-CN" altLang="en-US" sz="2800" b="1" dirty="0">
              <a:solidFill>
                <a:srgbClr val="0428C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2368" y="910135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定积分思想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89778" y="910135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定积分的定义、元素法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2368" y="1533433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b="1" dirty="0">
                <a:solidFill>
                  <a:srgbClr val="0070C0"/>
                </a:solidFill>
                <a:ea typeface="黑体" panose="02010609060101010101" pitchFamily="49" charset="-122"/>
              </a:rPr>
              <a:t>定积分</a:t>
            </a: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运算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9778" y="153343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定积分的性质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89778" y="1995097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微积分基本公式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89778" y="2456762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定积分的换元法与分部积分法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9778" y="291542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反常积分与定积分的关系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02368" y="3474173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定积分应用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89778" y="3471166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微分与积分的关系，如何将元素表示为微分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9778" y="3932831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平面图形的面积（直角坐标、极坐标）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89778" y="4391489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体积与体积元素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89778" y="4847140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曲线弧长与弧微分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89778" y="5299784"/>
            <a:ext cx="54168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物理应用：功、质量、矩、压力、引力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7418890" y="990630"/>
                <a:ext cx="4528227" cy="14094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/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​</m:t>
                        </m:r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zh-CN" sz="2400" i="1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r>
                          <m:rPr>
                            <m:nor/>
                          </m:rPr>
                          <a:rPr kumimoji="1" lang="en-US" altLang="zh-CN" sz="2400" i="1" dirty="0">
                            <a:solidFill>
                              <a:srgbClr val="0428C2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</m:t>
                        </m:r>
                      </m:sub>
                      <m:sup>
                        <m:r>
                          <m:rPr>
                            <m:nor/>
                          </m:rPr>
                          <a:rPr kumimoji="1" lang="en-US" altLang="zh-CN" sz="2400" i="1" dirty="0">
                            <a:solidFill>
                              <a:srgbClr val="0428C2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</m:t>
                        </m:r>
                      </m:sup>
                      <m:e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CN" sz="2400" i="1" dirty="0">
                                    <a:solidFill>
                                      <a:srgbClr val="0428C2"/>
                                    </a:solidFill>
                                    <a:latin typeface="Times New Roman" panose="02020603050405020304" pitchFamily="18" charset="0"/>
                                    <a:ea typeface="黑体" panose="02010609060101010101" pitchFamily="49" charset="-122"/>
                                    <a:sym typeface="Symbol" panose="05050102010706020507" pitchFamily="18" charset="2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​</m:t>
                        </m:r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solidFill>
                                  <a:srgbClr val="0428C2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sym typeface="Symbol" panose="05050102010706020507" pitchFamily="18" charset="2"/>
                              </a:rPr>
                              <m:t>t</m:t>
                            </m:r>
                          </m:e>
                        </m:d>
                      </m:e>
                    </m:nary>
                  </m:oMath>
                </a14:m>
                <a:r>
                  <a:rPr kumimoji="1" lang="en-US" altLang="zh-CN" sz="2400" i="1" dirty="0" smtClean="0">
                    <a:solidFill>
                      <a:srgbClr val="0428C2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</a:p>
              <a:p>
                <a:pPr defTabSz="457200"/>
                <a:r>
                  <a:rPr lang="en-US" altLang="zh-CN" sz="2400" dirty="0" smtClean="0">
                    <a:solidFill>
                      <a:srgbClr val="0428C2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428C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r>
                          <m:rPr>
                            <m:nor/>
                          </m:rPr>
                          <a:rPr kumimoji="1" lang="en-US" altLang="zh-CN" sz="2400" i="1" dirty="0">
                            <a:solidFill>
                              <a:srgbClr val="0428C2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</m:t>
                        </m:r>
                      </m:sub>
                      <m:sup>
                        <m:r>
                          <m:rPr>
                            <m:nor/>
                          </m:rPr>
                          <a:rPr kumimoji="1" lang="en-US" altLang="zh-CN" sz="2400" i="1" dirty="0">
                            <a:solidFill>
                              <a:srgbClr val="0428C2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  <a:sym typeface="Symbol" panose="05050102010706020507" pitchFamily="18" charset="2"/>
                          </a:rPr>
                          <m:t></m:t>
                        </m:r>
                      </m:sup>
                      <m:e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428C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kumimoji="1" lang="en-US" altLang="zh-CN" sz="2400" i="1" dirty="0">
                                    <a:solidFill>
                                      <a:srgbClr val="0428C2"/>
                                    </a:solidFill>
                                    <a:latin typeface="Times New Roman" panose="02020603050405020304" pitchFamily="18" charset="0"/>
                                    <a:ea typeface="黑体" panose="02010609060101010101" pitchFamily="49" charset="-122"/>
                                    <a:sym typeface="Symbol" panose="05050102010706020507" pitchFamily="18" charset="2"/>
                                  </a:rPr>
                                  <m:t>t</m:t>
                                </m:r>
                              </m:e>
                            </m:d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 </m:t>
                        </m:r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p>
                            <m:r>
                              <a:rPr lang="en-US" altLang="zh-CN" sz="2400" i="1" smtClean="0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428C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solidFill>
                                  <a:srgbClr val="0428C2"/>
                                </a:solidFill>
                                <a:latin typeface="Times New Roman" panose="02020603050405020304" pitchFamily="18" charset="0"/>
                                <a:ea typeface="黑体" panose="02010609060101010101" pitchFamily="49" charset="-122"/>
                                <a:sym typeface="Symbol" panose="05050102010706020507" pitchFamily="18" charset="2"/>
                              </a:rPr>
                              <m:t>t</m:t>
                            </m:r>
                          </m:e>
                        </m:d>
                        <m: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  <a:ea typeface="等线" panose="02010600030101010101" pitchFamily="2" charset="-122"/>
                          </a:rPr>
                          <m:t>​</m:t>
                        </m:r>
                        <m:r>
                          <a:rPr lang="en-US" altLang="zh-CN" sz="2400" i="1" smtClean="0">
                            <a:solidFill>
                              <a:srgbClr val="0428C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solidFill>
                      <a:srgbClr val="0428C2"/>
                    </a:solidFill>
                    <a:ea typeface="等线" panose="02010600030101010101" pitchFamily="2" charset="-122"/>
                  </a:rPr>
                  <a:t>   </a:t>
                </a:r>
                <a:endParaRPr lang="zh-CN" altLang="en-US" sz="2400" dirty="0">
                  <a:solidFill>
                    <a:srgbClr val="0428C2"/>
                  </a:solidFill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890" y="990630"/>
                <a:ext cx="4528227" cy="14094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9282637" y="3902905"/>
                <a:ext cx="20772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</a:rPr>
                        <m:t>  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</a:rPr>
                        <m:t>​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rgbClr val="0428C2"/>
                  </a:solidFill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637" y="3902905"/>
                <a:ext cx="2077235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9282637" y="3376144"/>
                <a:ext cx="22595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428C2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428C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428C2"/>
                  </a:solidFill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637" y="3376144"/>
                <a:ext cx="2259529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62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656</Words>
  <Application>Microsoft Office PowerPoint</Application>
  <PresentationFormat>宽屏</PresentationFormat>
  <Paragraphs>67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等线</vt:lpstr>
      <vt:lpstr>黑体</vt:lpstr>
      <vt:lpstr>宋体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复习课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复习课</dc:title>
  <dc:creator>Windows User</dc:creator>
  <cp:lastModifiedBy>Windows User</cp:lastModifiedBy>
  <cp:revision>24</cp:revision>
  <dcterms:created xsi:type="dcterms:W3CDTF">2023-06-13T03:34:39Z</dcterms:created>
  <dcterms:modified xsi:type="dcterms:W3CDTF">2023-12-18T02:42:37Z</dcterms:modified>
</cp:coreProperties>
</file>