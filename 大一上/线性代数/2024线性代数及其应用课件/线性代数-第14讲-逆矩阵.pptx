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5" r:id="rId1"/>
  </p:sldMasterIdLst>
  <p:notesMasterIdLst>
    <p:notesMasterId r:id="rId37"/>
  </p:notesMasterIdLst>
  <p:handoutMasterIdLst>
    <p:handoutMasterId r:id="rId38"/>
  </p:handoutMasterIdLst>
  <p:sldIdLst>
    <p:sldId id="303" r:id="rId2"/>
    <p:sldId id="344" r:id="rId3"/>
    <p:sldId id="490" r:id="rId4"/>
    <p:sldId id="444" r:id="rId5"/>
    <p:sldId id="489" r:id="rId6"/>
    <p:sldId id="488" r:id="rId7"/>
    <p:sldId id="487" r:id="rId8"/>
    <p:sldId id="492" r:id="rId9"/>
    <p:sldId id="485" r:id="rId10"/>
    <p:sldId id="484" r:id="rId11"/>
    <p:sldId id="483" r:id="rId12"/>
    <p:sldId id="482" r:id="rId13"/>
    <p:sldId id="481" r:id="rId14"/>
    <p:sldId id="480" r:id="rId15"/>
    <p:sldId id="479" r:id="rId16"/>
    <p:sldId id="477" r:id="rId17"/>
    <p:sldId id="476" r:id="rId18"/>
    <p:sldId id="475" r:id="rId19"/>
    <p:sldId id="474" r:id="rId20"/>
    <p:sldId id="473" r:id="rId21"/>
    <p:sldId id="493" r:id="rId22"/>
    <p:sldId id="495" r:id="rId23"/>
    <p:sldId id="494" r:id="rId24"/>
    <p:sldId id="496" r:id="rId25"/>
    <p:sldId id="497" r:id="rId26"/>
    <p:sldId id="498" r:id="rId27"/>
    <p:sldId id="501" r:id="rId28"/>
    <p:sldId id="502" r:id="rId29"/>
    <p:sldId id="503" r:id="rId30"/>
    <p:sldId id="500" r:id="rId31"/>
    <p:sldId id="504" r:id="rId32"/>
    <p:sldId id="505" r:id="rId33"/>
    <p:sldId id="507" r:id="rId34"/>
    <p:sldId id="499" r:id="rId35"/>
    <p:sldId id="446" r:id="rId36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2" userDrawn="1">
          <p15:clr>
            <a:srgbClr val="A4A3A4"/>
          </p15:clr>
        </p15:guide>
        <p15:guide id="2" pos="14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FF0000"/>
    <a:srgbClr val="FFFFFF"/>
    <a:srgbClr val="0000FF"/>
    <a:srgbClr val="003300"/>
    <a:srgbClr val="008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52" autoAdjust="0"/>
    <p:restoredTop sz="94595" autoAdjust="0"/>
  </p:normalViewPr>
  <p:slideViewPr>
    <p:cSldViewPr>
      <p:cViewPr varScale="1">
        <p:scale>
          <a:sx n="64" d="100"/>
          <a:sy n="64" d="100"/>
        </p:scale>
        <p:origin x="72" y="84"/>
      </p:cViewPr>
      <p:guideLst>
        <p:guide orient="horz" pos="3312"/>
        <p:guide pos="14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185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4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4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6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image" Target="../media/image47.emf"/><Relationship Id="rId7" Type="http://schemas.openxmlformats.org/officeDocument/2006/relationships/image" Target="../media/image51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emf"/><Relationship Id="rId4" Type="http://schemas.openxmlformats.org/officeDocument/2006/relationships/image" Target="../media/image48.emf"/><Relationship Id="rId9" Type="http://schemas.openxmlformats.org/officeDocument/2006/relationships/image" Target="../media/image5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7" Type="http://schemas.openxmlformats.org/officeDocument/2006/relationships/image" Target="../media/image60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12" Type="http://schemas.openxmlformats.org/officeDocument/2006/relationships/image" Target="../media/image78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11" Type="http://schemas.openxmlformats.org/officeDocument/2006/relationships/image" Target="../media/image77.wmf"/><Relationship Id="rId5" Type="http://schemas.openxmlformats.org/officeDocument/2006/relationships/image" Target="../media/image71.wmf"/><Relationship Id="rId10" Type="http://schemas.openxmlformats.org/officeDocument/2006/relationships/image" Target="../media/image76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9.emf"/><Relationship Id="rId3" Type="http://schemas.openxmlformats.org/officeDocument/2006/relationships/image" Target="../media/image84.emf"/><Relationship Id="rId7" Type="http://schemas.openxmlformats.org/officeDocument/2006/relationships/image" Target="../media/image88.emf"/><Relationship Id="rId2" Type="http://schemas.openxmlformats.org/officeDocument/2006/relationships/image" Target="../media/image83.emf"/><Relationship Id="rId1" Type="http://schemas.openxmlformats.org/officeDocument/2006/relationships/image" Target="../media/image82.emf"/><Relationship Id="rId6" Type="http://schemas.openxmlformats.org/officeDocument/2006/relationships/image" Target="../media/image87.emf"/><Relationship Id="rId5" Type="http://schemas.openxmlformats.org/officeDocument/2006/relationships/image" Target="../media/image86.emf"/><Relationship Id="rId4" Type="http://schemas.openxmlformats.org/officeDocument/2006/relationships/image" Target="../media/image85.emf"/><Relationship Id="rId9" Type="http://schemas.openxmlformats.org/officeDocument/2006/relationships/image" Target="../media/image90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image" Target="../media/image91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emf"/><Relationship Id="rId1" Type="http://schemas.openxmlformats.org/officeDocument/2006/relationships/image" Target="../media/image94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emf"/><Relationship Id="rId2" Type="http://schemas.openxmlformats.org/officeDocument/2006/relationships/image" Target="../media/image97.emf"/><Relationship Id="rId1" Type="http://schemas.openxmlformats.org/officeDocument/2006/relationships/image" Target="../media/image96.emf"/><Relationship Id="rId4" Type="http://schemas.openxmlformats.org/officeDocument/2006/relationships/image" Target="../media/image99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image" Target="../media/image100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5" Type="http://schemas.openxmlformats.org/officeDocument/2006/relationships/image" Target="../media/image106.wmf"/><Relationship Id="rId4" Type="http://schemas.openxmlformats.org/officeDocument/2006/relationships/image" Target="../media/image105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13" Type="http://schemas.openxmlformats.org/officeDocument/2006/relationships/image" Target="../media/image119.e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12" Type="http://schemas.openxmlformats.org/officeDocument/2006/relationships/image" Target="../media/image118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11" Type="http://schemas.openxmlformats.org/officeDocument/2006/relationships/image" Target="../media/image117.emf"/><Relationship Id="rId5" Type="http://schemas.openxmlformats.org/officeDocument/2006/relationships/image" Target="../media/image111.wmf"/><Relationship Id="rId10" Type="http://schemas.openxmlformats.org/officeDocument/2006/relationships/image" Target="../media/image116.wmf"/><Relationship Id="rId4" Type="http://schemas.openxmlformats.org/officeDocument/2006/relationships/image" Target="../media/image110.wmf"/><Relationship Id="rId9" Type="http://schemas.openxmlformats.org/officeDocument/2006/relationships/image" Target="../media/image115.emf"/><Relationship Id="rId14" Type="http://schemas.openxmlformats.org/officeDocument/2006/relationships/image" Target="../media/image120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emf"/><Relationship Id="rId13" Type="http://schemas.openxmlformats.org/officeDocument/2006/relationships/image" Target="../media/image133.wmf"/><Relationship Id="rId3" Type="http://schemas.openxmlformats.org/officeDocument/2006/relationships/image" Target="../media/image123.wmf"/><Relationship Id="rId7" Type="http://schemas.openxmlformats.org/officeDocument/2006/relationships/image" Target="../media/image127.emf"/><Relationship Id="rId12" Type="http://schemas.openxmlformats.org/officeDocument/2006/relationships/image" Target="../media/image132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6" Type="http://schemas.openxmlformats.org/officeDocument/2006/relationships/image" Target="../media/image126.emf"/><Relationship Id="rId11" Type="http://schemas.openxmlformats.org/officeDocument/2006/relationships/image" Target="../media/image131.wmf"/><Relationship Id="rId5" Type="http://schemas.openxmlformats.org/officeDocument/2006/relationships/image" Target="../media/image125.wmf"/><Relationship Id="rId10" Type="http://schemas.openxmlformats.org/officeDocument/2006/relationships/image" Target="../media/image130.wmf"/><Relationship Id="rId4" Type="http://schemas.openxmlformats.org/officeDocument/2006/relationships/image" Target="../media/image124.wmf"/><Relationship Id="rId9" Type="http://schemas.openxmlformats.org/officeDocument/2006/relationships/image" Target="../media/image129.emf"/><Relationship Id="rId14" Type="http://schemas.openxmlformats.org/officeDocument/2006/relationships/image" Target="../media/image134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emf"/><Relationship Id="rId1" Type="http://schemas.openxmlformats.org/officeDocument/2006/relationships/image" Target="../media/image135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emf"/><Relationship Id="rId2" Type="http://schemas.openxmlformats.org/officeDocument/2006/relationships/image" Target="../media/image138.emf"/><Relationship Id="rId1" Type="http://schemas.openxmlformats.org/officeDocument/2006/relationships/image" Target="../media/image137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emf"/><Relationship Id="rId1" Type="http://schemas.openxmlformats.org/officeDocument/2006/relationships/image" Target="../media/image140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6" Type="http://schemas.openxmlformats.org/officeDocument/2006/relationships/image" Target="../media/image147.wmf"/><Relationship Id="rId5" Type="http://schemas.openxmlformats.org/officeDocument/2006/relationships/image" Target="../media/image146.wmf"/><Relationship Id="rId4" Type="http://schemas.openxmlformats.org/officeDocument/2006/relationships/image" Target="../media/image14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="" xmlns:a16="http://schemas.microsoft.com/office/drawing/2014/main" id="{9A95B05A-7E49-4F10-8CF0-F3AB1A0B0DD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5" name="Rectangle 3">
            <a:extLst>
              <a:ext uri="{FF2B5EF4-FFF2-40B4-BE49-F238E27FC236}">
                <a16:creationId xmlns="" xmlns:a16="http://schemas.microsoft.com/office/drawing/2014/main" id="{E911F444-429A-4344-A1ED-8F41493CFB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6" name="Rectangle 4">
            <a:extLst>
              <a:ext uri="{FF2B5EF4-FFF2-40B4-BE49-F238E27FC236}">
                <a16:creationId xmlns="" xmlns:a16="http://schemas.microsoft.com/office/drawing/2014/main" id="{0B61F52B-AD71-43B2-8069-F1DCD588AA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5957" name="Rectangle 5">
            <a:extLst>
              <a:ext uri="{FF2B5EF4-FFF2-40B4-BE49-F238E27FC236}">
                <a16:creationId xmlns="" xmlns:a16="http://schemas.microsoft.com/office/drawing/2014/main" id="{9698E757-F056-4B0A-8DE6-FC9628683BF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FCD7E741-4066-4943-8808-0DF39E867F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3504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="" xmlns:a16="http://schemas.microsoft.com/office/drawing/2014/main" id="{A36EB0CE-BAB2-4DD8-B3CE-B8F827A3F4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1" name="Rectangle 3">
            <a:extLst>
              <a:ext uri="{FF2B5EF4-FFF2-40B4-BE49-F238E27FC236}">
                <a16:creationId xmlns="" xmlns:a16="http://schemas.microsoft.com/office/drawing/2014/main" id="{53B29EDF-14FC-4862-BFCA-134EE418345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="" xmlns:a16="http://schemas.microsoft.com/office/drawing/2014/main" id="{BA2189EE-A6B9-4E3F-8E5E-2178246AF01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8373" name="Rectangle 5">
            <a:extLst>
              <a:ext uri="{FF2B5EF4-FFF2-40B4-BE49-F238E27FC236}">
                <a16:creationId xmlns="" xmlns:a16="http://schemas.microsoft.com/office/drawing/2014/main" id="{0FC490F9-828A-4C50-8042-E723FBAA3D2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8374" name="Rectangle 6">
            <a:extLst>
              <a:ext uri="{FF2B5EF4-FFF2-40B4-BE49-F238E27FC236}">
                <a16:creationId xmlns="" xmlns:a16="http://schemas.microsoft.com/office/drawing/2014/main" id="{3B06B64F-7F0E-4989-9570-B7CE9008100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5" name="Rectangle 7">
            <a:extLst>
              <a:ext uri="{FF2B5EF4-FFF2-40B4-BE49-F238E27FC236}">
                <a16:creationId xmlns="" xmlns:a16="http://schemas.microsoft.com/office/drawing/2014/main" id="{86209361-5CCB-4485-B402-74DA043B55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58EE0223-D259-4C4F-92D5-ECC6714CBA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60873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今天我抽到的讲课题目是逆矩阵。首先我们一起来回顾一下前面所学的一些知识。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E0223-D259-4C4F-92D5-ECC6714CBA52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7505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="" xmlns:a16="http://schemas.microsoft.com/office/drawing/2014/main" id="{E9601BE6-8BD8-4661-9305-FE4081F1AC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7171" name="备注占位符 2">
            <a:extLst>
              <a:ext uri="{FF2B5EF4-FFF2-40B4-BE49-F238E27FC236}">
                <a16:creationId xmlns="" xmlns:a16="http://schemas.microsoft.com/office/drawing/2014/main" id="{B7118302-2E83-4687-8B8C-53321D99A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/>
              <a:t>余则成和王翠平</a:t>
            </a:r>
          </a:p>
        </p:txBody>
      </p:sp>
      <p:sp>
        <p:nvSpPr>
          <p:cNvPr id="7172" name="灯片编号占位符 3">
            <a:extLst>
              <a:ext uri="{FF2B5EF4-FFF2-40B4-BE49-F238E27FC236}">
                <a16:creationId xmlns="" xmlns:a16="http://schemas.microsoft.com/office/drawing/2014/main" id="{877946E9-39F6-4F63-B291-60EB97B18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D679AC5-12AC-44CD-8A01-F5A17FF25E5B}" type="slidenum">
              <a:rPr lang="en-US" altLang="zh-CN" sz="1200" b="0" smtClean="0"/>
              <a:pPr/>
              <a:t>3</a:t>
            </a:fld>
            <a:endParaRPr lang="en-US" altLang="zh-CN" sz="1200" b="0"/>
          </a:p>
        </p:txBody>
      </p:sp>
    </p:spTree>
    <p:extLst>
      <p:ext uri="{BB962C8B-B14F-4D97-AF65-F5344CB8AC3E}">
        <p14:creationId xmlns:p14="http://schemas.microsoft.com/office/powerpoint/2010/main" val="3542905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板书（整齐点）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E0223-D259-4C4F-92D5-ECC6714CBA52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9665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我想学到这里，有同学一定会问，每一个方阵都有逆矩阵吗？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E0223-D259-4C4F-92D5-ECC6714CBA52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61676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我们来看一个例子，我们知道了并不是所有的矩阵都有逆矩阵，有同学又会问了，老师，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E0223-D259-4C4F-92D5-ECC6714CBA52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4305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板书证明，同学们这个时候又会问了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E0223-D259-4C4F-92D5-ECC6714CBA52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2258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我们来看定理</a:t>
            </a:r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E0223-D259-4C4F-92D5-ECC6714CBA52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3037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简单板书证明过程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E0223-D259-4C4F-92D5-ECC6714CBA52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8792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总结一下，定理</a:t>
            </a:r>
            <a:r>
              <a:rPr lang="en-US" altLang="zh-CN" dirty="0" smtClean="0"/>
              <a:t>2</a:t>
            </a:r>
            <a:r>
              <a:rPr lang="zh-CN" altLang="en-US" dirty="0" smtClean="0"/>
              <a:t>告诉了我们什么。接下里看例题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E0223-D259-4C4F-92D5-ECC6714CBA52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7060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强调伴随矩阵的写法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EE0223-D259-4C4F-92D5-ECC6714CBA52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2688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0A32C95C-5560-401B-9393-CAA0E7E36A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168008" y="116632"/>
            <a:ext cx="559223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/>
            <a:r>
              <a:rPr lang="zh-CN" altLang="en-US" sz="2000" smtClean="0">
                <a:solidFill>
                  <a:schemeClr val="bg1"/>
                </a:solidFill>
              </a:rPr>
              <a:t>第八讲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2124428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hlinkClick r:id="" action="ppaction://hlinkshowjump?jump=previousslide"/>
            <a:extLst>
              <a:ext uri="{FF2B5EF4-FFF2-40B4-BE49-F238E27FC236}">
                <a16:creationId xmlns="" xmlns:a16="http://schemas.microsoft.com/office/drawing/2014/main" id="{C108574E-2402-4EB4-A6C3-5D8CDB9A9E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17467" y="6286500"/>
            <a:ext cx="89746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/>
          </a:p>
        </p:txBody>
      </p:sp>
      <p:sp>
        <p:nvSpPr>
          <p:cNvPr id="1027" name="Rectangle 3">
            <a:hlinkClick r:id="" action="ppaction://hlinkshowjump?jump=nextslide"/>
            <a:extLst>
              <a:ext uri="{FF2B5EF4-FFF2-40B4-BE49-F238E27FC236}">
                <a16:creationId xmlns="" xmlns:a16="http://schemas.microsoft.com/office/drawing/2014/main" id="{5718B97D-EC1B-471D-A8C3-9305FFBC41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719733" y="6299200"/>
            <a:ext cx="897467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ransition>
    <p:wipe dir="r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jpeg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1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oleObject" Target="../embeddings/oleObject16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8.wmf"/><Relationship Id="rId12" Type="http://schemas.openxmlformats.org/officeDocument/2006/relationships/image" Target="../media/image23.png"/><Relationship Id="rId17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5" Type="http://schemas.openxmlformats.org/officeDocument/2006/relationships/oleObject" Target="../embeddings/oleObject17.bin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9.wmf"/><Relationship Id="rId14" Type="http://schemas.openxmlformats.org/officeDocument/2006/relationships/image" Target="../media/image2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13" Type="http://schemas.openxmlformats.org/officeDocument/2006/relationships/image" Target="../media/image29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2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9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5" Type="http://schemas.openxmlformats.org/officeDocument/2006/relationships/image" Target="../media/image30.wmf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23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3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7.wmf"/><Relationship Id="rId5" Type="http://schemas.openxmlformats.org/officeDocument/2006/relationships/image" Target="../media/image34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42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4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39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41.wmf"/><Relationship Id="rId4" Type="http://schemas.openxmlformats.org/officeDocument/2006/relationships/image" Target="../media/image38.w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43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.bin"/><Relationship Id="rId13" Type="http://schemas.openxmlformats.org/officeDocument/2006/relationships/image" Target="../media/image49.emf"/><Relationship Id="rId18" Type="http://schemas.openxmlformats.org/officeDocument/2006/relationships/oleObject" Target="../embeddings/oleObject45.bin"/><Relationship Id="rId3" Type="http://schemas.openxmlformats.org/officeDocument/2006/relationships/notesSlide" Target="../notesSlides/notesSlide9.xml"/><Relationship Id="rId21" Type="http://schemas.openxmlformats.org/officeDocument/2006/relationships/image" Target="../media/image53.wmf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42.bin"/><Relationship Id="rId17" Type="http://schemas.openxmlformats.org/officeDocument/2006/relationships/image" Target="../media/image51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44.bin"/><Relationship Id="rId20" Type="http://schemas.openxmlformats.org/officeDocument/2006/relationships/oleObject" Target="../embeddings/oleObject46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9.bin"/><Relationship Id="rId11" Type="http://schemas.openxmlformats.org/officeDocument/2006/relationships/image" Target="../media/image48.emf"/><Relationship Id="rId5" Type="http://schemas.openxmlformats.org/officeDocument/2006/relationships/image" Target="../media/image45.wmf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41.bin"/><Relationship Id="rId19" Type="http://schemas.openxmlformats.org/officeDocument/2006/relationships/image" Target="../media/image52.wmf"/><Relationship Id="rId4" Type="http://schemas.openxmlformats.org/officeDocument/2006/relationships/oleObject" Target="../embeddings/oleObject38.bin"/><Relationship Id="rId9" Type="http://schemas.openxmlformats.org/officeDocument/2006/relationships/image" Target="../media/image47.emf"/><Relationship Id="rId14" Type="http://schemas.openxmlformats.org/officeDocument/2006/relationships/oleObject" Target="../embeddings/oleObject4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oleObject" Target="../embeddings/oleObject52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0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13" Type="http://schemas.openxmlformats.org/officeDocument/2006/relationships/oleObject" Target="../embeddings/oleObject59.bin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57.bin"/><Relationship Id="rId14" Type="http://schemas.openxmlformats.org/officeDocument/2006/relationships/image" Target="../media/image6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71.wmf"/><Relationship Id="rId18" Type="http://schemas.openxmlformats.org/officeDocument/2006/relationships/oleObject" Target="../embeddings/oleObject67.bin"/><Relationship Id="rId26" Type="http://schemas.openxmlformats.org/officeDocument/2006/relationships/oleObject" Target="../embeddings/oleObject71.bin"/><Relationship Id="rId3" Type="http://schemas.openxmlformats.org/officeDocument/2006/relationships/notesSlide" Target="../notesSlides/notesSlide10.xml"/><Relationship Id="rId21" Type="http://schemas.openxmlformats.org/officeDocument/2006/relationships/image" Target="../media/image75.wmf"/><Relationship Id="rId7" Type="http://schemas.openxmlformats.org/officeDocument/2006/relationships/image" Target="../media/image68.wmf"/><Relationship Id="rId12" Type="http://schemas.openxmlformats.org/officeDocument/2006/relationships/oleObject" Target="../embeddings/oleObject64.bin"/><Relationship Id="rId17" Type="http://schemas.openxmlformats.org/officeDocument/2006/relationships/image" Target="../media/image73.wmf"/><Relationship Id="rId25" Type="http://schemas.openxmlformats.org/officeDocument/2006/relationships/image" Target="../media/image77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66.bin"/><Relationship Id="rId20" Type="http://schemas.openxmlformats.org/officeDocument/2006/relationships/oleObject" Target="../embeddings/oleObject68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70.wmf"/><Relationship Id="rId24" Type="http://schemas.openxmlformats.org/officeDocument/2006/relationships/oleObject" Target="../embeddings/oleObject70.bin"/><Relationship Id="rId5" Type="http://schemas.openxmlformats.org/officeDocument/2006/relationships/image" Target="../media/image67.wmf"/><Relationship Id="rId15" Type="http://schemas.openxmlformats.org/officeDocument/2006/relationships/image" Target="../media/image72.wmf"/><Relationship Id="rId23" Type="http://schemas.openxmlformats.org/officeDocument/2006/relationships/image" Target="../media/image76.wmf"/><Relationship Id="rId10" Type="http://schemas.openxmlformats.org/officeDocument/2006/relationships/oleObject" Target="../embeddings/oleObject63.bin"/><Relationship Id="rId19" Type="http://schemas.openxmlformats.org/officeDocument/2006/relationships/image" Target="../media/image74.wmf"/><Relationship Id="rId4" Type="http://schemas.openxmlformats.org/officeDocument/2006/relationships/oleObject" Target="../embeddings/oleObject60.bin"/><Relationship Id="rId9" Type="http://schemas.openxmlformats.org/officeDocument/2006/relationships/image" Target="../media/image69.wmf"/><Relationship Id="rId14" Type="http://schemas.openxmlformats.org/officeDocument/2006/relationships/oleObject" Target="../embeddings/oleObject65.bin"/><Relationship Id="rId22" Type="http://schemas.openxmlformats.org/officeDocument/2006/relationships/oleObject" Target="../embeddings/oleObject69.bin"/><Relationship Id="rId27" Type="http://schemas.openxmlformats.org/officeDocument/2006/relationships/image" Target="../media/image7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7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oleObject" Target="../embeddings/oleObject80.bin"/><Relationship Id="rId18" Type="http://schemas.openxmlformats.org/officeDocument/2006/relationships/image" Target="../media/image89.emf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86.emf"/><Relationship Id="rId17" Type="http://schemas.openxmlformats.org/officeDocument/2006/relationships/oleObject" Target="../embeddings/oleObject82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88.emf"/><Relationship Id="rId20" Type="http://schemas.openxmlformats.org/officeDocument/2006/relationships/image" Target="../media/image90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3.e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5" Type="http://schemas.openxmlformats.org/officeDocument/2006/relationships/oleObject" Target="../embeddings/oleObject81.bin"/><Relationship Id="rId10" Type="http://schemas.openxmlformats.org/officeDocument/2006/relationships/image" Target="../media/image85.emf"/><Relationship Id="rId19" Type="http://schemas.openxmlformats.org/officeDocument/2006/relationships/oleObject" Target="../embeddings/oleObject83.bin"/><Relationship Id="rId4" Type="http://schemas.openxmlformats.org/officeDocument/2006/relationships/image" Target="../media/image82.e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87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e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92.emf"/><Relationship Id="rId5" Type="http://schemas.openxmlformats.org/officeDocument/2006/relationships/oleObject" Target="../embeddings/oleObject85.bin"/><Relationship Id="rId4" Type="http://schemas.openxmlformats.org/officeDocument/2006/relationships/image" Target="../media/image91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5.e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94.e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e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97.emf"/><Relationship Id="rId5" Type="http://schemas.openxmlformats.org/officeDocument/2006/relationships/oleObject" Target="../embeddings/oleObject90.bin"/><Relationship Id="rId10" Type="http://schemas.openxmlformats.org/officeDocument/2006/relationships/image" Target="../media/image99.emf"/><Relationship Id="rId4" Type="http://schemas.openxmlformats.org/officeDocument/2006/relationships/image" Target="../media/image96.emf"/><Relationship Id="rId9" Type="http://schemas.openxmlformats.org/officeDocument/2006/relationships/oleObject" Target="../embeddings/oleObject9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01.e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100.e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oleObject" Target="../embeddings/oleObject95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0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03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0" Type="http://schemas.openxmlformats.org/officeDocument/2006/relationships/image" Target="../media/image105.wmf"/><Relationship Id="rId4" Type="http://schemas.openxmlformats.org/officeDocument/2006/relationships/image" Target="../media/image102.wmf"/><Relationship Id="rId9" Type="http://schemas.openxmlformats.org/officeDocument/2006/relationships/oleObject" Target="../embeddings/oleObject98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14.emf"/><Relationship Id="rId26" Type="http://schemas.openxmlformats.org/officeDocument/2006/relationships/image" Target="../media/image118.wmf"/><Relationship Id="rId3" Type="http://schemas.openxmlformats.org/officeDocument/2006/relationships/oleObject" Target="../embeddings/oleObject100.bin"/><Relationship Id="rId21" Type="http://schemas.openxmlformats.org/officeDocument/2006/relationships/oleObject" Target="../embeddings/oleObject109.bin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07.bin"/><Relationship Id="rId25" Type="http://schemas.openxmlformats.org/officeDocument/2006/relationships/oleObject" Target="../embeddings/oleObject111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13.wmf"/><Relationship Id="rId20" Type="http://schemas.openxmlformats.org/officeDocument/2006/relationships/image" Target="../media/image115.emf"/><Relationship Id="rId29" Type="http://schemas.openxmlformats.org/officeDocument/2006/relationships/oleObject" Target="../embeddings/oleObject113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04.bin"/><Relationship Id="rId24" Type="http://schemas.openxmlformats.org/officeDocument/2006/relationships/image" Target="../media/image117.emf"/><Relationship Id="rId5" Type="http://schemas.openxmlformats.org/officeDocument/2006/relationships/oleObject" Target="../embeddings/oleObject101.bin"/><Relationship Id="rId15" Type="http://schemas.openxmlformats.org/officeDocument/2006/relationships/oleObject" Target="../embeddings/oleObject106.bin"/><Relationship Id="rId23" Type="http://schemas.openxmlformats.org/officeDocument/2006/relationships/oleObject" Target="../embeddings/oleObject110.bin"/><Relationship Id="rId28" Type="http://schemas.openxmlformats.org/officeDocument/2006/relationships/image" Target="../media/image119.emf"/><Relationship Id="rId10" Type="http://schemas.openxmlformats.org/officeDocument/2006/relationships/image" Target="../media/image110.wmf"/><Relationship Id="rId19" Type="http://schemas.openxmlformats.org/officeDocument/2006/relationships/oleObject" Target="../embeddings/oleObject108.bin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12.wmf"/><Relationship Id="rId22" Type="http://schemas.openxmlformats.org/officeDocument/2006/relationships/image" Target="../media/image116.wmf"/><Relationship Id="rId27" Type="http://schemas.openxmlformats.org/officeDocument/2006/relationships/oleObject" Target="../embeddings/oleObject112.bin"/><Relationship Id="rId30" Type="http://schemas.openxmlformats.org/officeDocument/2006/relationships/image" Target="../media/image12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128.emf"/><Relationship Id="rId26" Type="http://schemas.openxmlformats.org/officeDocument/2006/relationships/image" Target="../media/image132.wmf"/><Relationship Id="rId3" Type="http://schemas.openxmlformats.org/officeDocument/2006/relationships/oleObject" Target="../embeddings/oleObject114.bin"/><Relationship Id="rId21" Type="http://schemas.openxmlformats.org/officeDocument/2006/relationships/oleObject" Target="../embeddings/oleObject123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25.wmf"/><Relationship Id="rId17" Type="http://schemas.openxmlformats.org/officeDocument/2006/relationships/oleObject" Target="../embeddings/oleObject121.bin"/><Relationship Id="rId25" Type="http://schemas.openxmlformats.org/officeDocument/2006/relationships/oleObject" Target="../embeddings/oleObject125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27.emf"/><Relationship Id="rId20" Type="http://schemas.openxmlformats.org/officeDocument/2006/relationships/image" Target="../media/image129.emf"/><Relationship Id="rId29" Type="http://schemas.openxmlformats.org/officeDocument/2006/relationships/oleObject" Target="../embeddings/oleObject127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18.bin"/><Relationship Id="rId24" Type="http://schemas.openxmlformats.org/officeDocument/2006/relationships/image" Target="../media/image131.wmf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23" Type="http://schemas.openxmlformats.org/officeDocument/2006/relationships/oleObject" Target="../embeddings/oleObject124.bin"/><Relationship Id="rId28" Type="http://schemas.openxmlformats.org/officeDocument/2006/relationships/image" Target="../media/image133.wmf"/><Relationship Id="rId10" Type="http://schemas.openxmlformats.org/officeDocument/2006/relationships/image" Target="../media/image124.wmf"/><Relationship Id="rId19" Type="http://schemas.openxmlformats.org/officeDocument/2006/relationships/oleObject" Target="../embeddings/oleObject122.bin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26.emf"/><Relationship Id="rId22" Type="http://schemas.openxmlformats.org/officeDocument/2006/relationships/image" Target="../media/image130.wmf"/><Relationship Id="rId27" Type="http://schemas.openxmlformats.org/officeDocument/2006/relationships/oleObject" Target="../embeddings/oleObject126.bin"/><Relationship Id="rId30" Type="http://schemas.openxmlformats.org/officeDocument/2006/relationships/image" Target="../media/image13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36.e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35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em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38.emf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37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41.emf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40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oleObject" Target="../embeddings/oleObject140.bin"/><Relationship Id="rId3" Type="http://schemas.openxmlformats.org/officeDocument/2006/relationships/oleObject" Target="../embeddings/oleObject135.bin"/><Relationship Id="rId7" Type="http://schemas.openxmlformats.org/officeDocument/2006/relationships/oleObject" Target="../embeddings/oleObject137.bin"/><Relationship Id="rId12" Type="http://schemas.openxmlformats.org/officeDocument/2006/relationships/image" Target="../media/image14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139.bin"/><Relationship Id="rId5" Type="http://schemas.openxmlformats.org/officeDocument/2006/relationships/oleObject" Target="../embeddings/oleObject136.bin"/><Relationship Id="rId10" Type="http://schemas.openxmlformats.org/officeDocument/2006/relationships/image" Target="../media/image145.wmf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38.bin"/><Relationship Id="rId14" Type="http://schemas.openxmlformats.org/officeDocument/2006/relationships/image" Target="../media/image147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7">
            <a:extLst>
              <a:ext uri="{FF2B5EF4-FFF2-40B4-BE49-F238E27FC236}">
                <a16:creationId xmlns="" xmlns:a16="http://schemas.microsoft.com/office/drawing/2014/main" id="{6FB54810-CE72-43BC-93A8-F1247639C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4072" y="1992746"/>
            <a:ext cx="2028825" cy="833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800" b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第二章</a:t>
            </a:r>
          </a:p>
        </p:txBody>
      </p:sp>
      <p:sp>
        <p:nvSpPr>
          <p:cNvPr id="6" name="Text Box 2">
            <a:extLst>
              <a:ext uri="{FF2B5EF4-FFF2-40B4-BE49-F238E27FC236}">
                <a16:creationId xmlns="" xmlns:a16="http://schemas.microsoft.com/office/drawing/2014/main" id="{A6C48D62-E6F9-4283-B932-DDA32D248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7928" y="3356992"/>
            <a:ext cx="48974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eaLnBrk="0" hangingPunct="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400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逆矩阵</a:t>
            </a:r>
          </a:p>
        </p:txBody>
      </p:sp>
      <p:pic>
        <p:nvPicPr>
          <p:cNvPr id="9" name="图片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432" y="1057275"/>
            <a:ext cx="3295650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985606" y="4595687"/>
            <a:ext cx="354575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  <a:ea typeface="微软雅黑" panose="020B0503020204020204" pitchFamily="34" charset="-122"/>
              </a:rPr>
              <a:t>                 </a:t>
            </a:r>
            <a:r>
              <a:rPr lang="zh-CN" altLang="en-US" dirty="0" smtClean="0">
                <a:solidFill>
                  <a:srgbClr val="FFC000"/>
                </a:solidFill>
                <a:ea typeface="微软雅黑" panose="020B0503020204020204" pitchFamily="34" charset="-122"/>
              </a:rPr>
              <a:t>赖</a:t>
            </a:r>
            <a:r>
              <a:rPr lang="zh-CN" altLang="en-US" dirty="0">
                <a:solidFill>
                  <a:srgbClr val="FFC000"/>
                </a:solidFill>
                <a:ea typeface="微软雅黑" panose="020B0503020204020204" pitchFamily="34" charset="-122"/>
              </a:rPr>
              <a:t>红</a:t>
            </a:r>
          </a:p>
          <a:p>
            <a:r>
              <a:rPr lang="zh-CN" altLang="en-US" dirty="0">
                <a:solidFill>
                  <a:srgbClr val="FFC000"/>
                </a:solidFill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solidFill>
                  <a:srgbClr val="FFC000"/>
                </a:solidFill>
                <a:ea typeface="微软雅黑" panose="020B0503020204020204" pitchFamily="34" charset="-122"/>
              </a:rPr>
              <a:t>hlai@swu.edu.cn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">
            <a:extLst>
              <a:ext uri="{FF2B5EF4-FFF2-40B4-BE49-F238E27FC236}">
                <a16:creationId xmlns="" xmlns:a16="http://schemas.microsoft.com/office/drawing/2014/main" id="{B6A51870-A26E-4FDD-B8A4-A8E4D93D7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560" y="2240756"/>
            <a:ext cx="677108" cy="2340371"/>
          </a:xfrm>
          <a:prstGeom prst="rect">
            <a:avLst/>
          </a:prstGeom>
          <a:noFill/>
          <a:ln w="254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矩阵运算</a:t>
            </a:r>
          </a:p>
        </p:txBody>
      </p:sp>
      <p:sp>
        <p:nvSpPr>
          <p:cNvPr id="19" name="左大括号 18">
            <a:extLst>
              <a:ext uri="{FF2B5EF4-FFF2-40B4-BE49-F238E27FC236}">
                <a16:creationId xmlns="" xmlns:a16="http://schemas.microsoft.com/office/drawing/2014/main" id="{E5106789-C53D-426B-BA63-B4755133F847}"/>
              </a:ext>
            </a:extLst>
          </p:cNvPr>
          <p:cNvSpPr/>
          <p:nvPr/>
        </p:nvSpPr>
        <p:spPr>
          <a:xfrm>
            <a:off x="2999656" y="1214228"/>
            <a:ext cx="252335" cy="3889375"/>
          </a:xfrm>
          <a:prstGeom prst="leftBrace">
            <a:avLst>
              <a:gd name="adj1" fmla="val 8333"/>
              <a:gd name="adj2" fmla="val 50229"/>
            </a:avLst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="" xmlns:a16="http://schemas.microsoft.com/office/drawing/2014/main" id="{61A5BC7D-BE10-426E-8F8A-B87219ECA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0142" y="1061445"/>
            <a:ext cx="1800225" cy="461962"/>
          </a:xfrm>
          <a:prstGeom prst="rect">
            <a:avLst/>
          </a:prstGeom>
          <a:noFill/>
          <a:ln w="2540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线性运算</a:t>
            </a:r>
          </a:p>
        </p:txBody>
      </p:sp>
      <p:sp>
        <p:nvSpPr>
          <p:cNvPr id="21" name="TextBox 4">
            <a:extLst>
              <a:ext uri="{FF2B5EF4-FFF2-40B4-BE49-F238E27FC236}">
                <a16:creationId xmlns="" xmlns:a16="http://schemas.microsoft.com/office/drawing/2014/main" id="{36A01EAB-614A-4858-8985-8E7372AC5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8979" y="2905991"/>
            <a:ext cx="1800225" cy="460375"/>
          </a:xfrm>
          <a:prstGeom prst="rect">
            <a:avLst/>
          </a:prstGeom>
          <a:noFill/>
          <a:ln w="254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乘法运算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="" xmlns:a16="http://schemas.microsoft.com/office/drawing/2014/main" id="{BE50EB1E-B6FA-44A6-A850-4BC096F01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0142" y="4873415"/>
            <a:ext cx="1800225" cy="460375"/>
          </a:xfrm>
          <a:prstGeom prst="rect">
            <a:avLst/>
          </a:prstGeom>
          <a:noFill/>
          <a:ln w="25400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4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转置运算</a:t>
            </a:r>
          </a:p>
        </p:txBody>
      </p:sp>
      <p:sp>
        <p:nvSpPr>
          <p:cNvPr id="23" name="左大括号 22">
            <a:extLst>
              <a:ext uri="{FF2B5EF4-FFF2-40B4-BE49-F238E27FC236}">
                <a16:creationId xmlns="" xmlns:a16="http://schemas.microsoft.com/office/drawing/2014/main" id="{CDBD3E0E-DD52-48F7-9E2F-EFB97AE1F0CD}"/>
              </a:ext>
            </a:extLst>
          </p:cNvPr>
          <p:cNvSpPr/>
          <p:nvPr/>
        </p:nvSpPr>
        <p:spPr>
          <a:xfrm>
            <a:off x="5448518" y="824907"/>
            <a:ext cx="287338" cy="935038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4" name="TextBox 16">
            <a:extLst>
              <a:ext uri="{FF2B5EF4-FFF2-40B4-BE49-F238E27FC236}">
                <a16:creationId xmlns="" xmlns:a16="http://schemas.microsoft.com/office/drawing/2014/main" id="{65222434-D0BB-4BA4-B8CC-D7DC6F8302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627" y="806154"/>
            <a:ext cx="1800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加法运算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="" xmlns:a16="http://schemas.microsoft.com/office/drawing/2014/main" id="{7E8A1C0B-8595-4228-B2B1-893D4C317B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627" y="1317329"/>
            <a:ext cx="1800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数乘运算</a:t>
            </a:r>
          </a:p>
        </p:txBody>
      </p:sp>
      <p:sp>
        <p:nvSpPr>
          <p:cNvPr id="26" name="左大括号 25">
            <a:extLst>
              <a:ext uri="{FF2B5EF4-FFF2-40B4-BE49-F238E27FC236}">
                <a16:creationId xmlns="" xmlns:a16="http://schemas.microsoft.com/office/drawing/2014/main" id="{AC8D52AC-9593-4A12-B437-7540F5BB3AC4}"/>
              </a:ext>
            </a:extLst>
          </p:cNvPr>
          <p:cNvSpPr/>
          <p:nvPr/>
        </p:nvSpPr>
        <p:spPr>
          <a:xfrm>
            <a:off x="5412006" y="2131855"/>
            <a:ext cx="360363" cy="2087563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A6396B41-260A-41A3-81C8-B299D0F0DF40}"/>
              </a:ext>
            </a:extLst>
          </p:cNvPr>
          <p:cNvGrpSpPr>
            <a:grpSpLocks/>
          </p:cNvGrpSpPr>
          <p:nvPr/>
        </p:nvGrpSpPr>
        <p:grpSpPr bwMode="auto">
          <a:xfrm>
            <a:off x="5990038" y="2092398"/>
            <a:ext cx="3960813" cy="2087563"/>
            <a:chOff x="4067944" y="2204864"/>
            <a:chExt cx="3960440" cy="2088232"/>
          </a:xfrm>
        </p:grpSpPr>
        <p:sp>
          <p:nvSpPr>
            <p:cNvPr id="28" name="圆角矩形 27">
              <a:extLst>
                <a:ext uri="{FF2B5EF4-FFF2-40B4-BE49-F238E27FC236}">
                  <a16:creationId xmlns="" xmlns:a16="http://schemas.microsoft.com/office/drawing/2014/main" id="{61F1DF52-576C-41A8-9F58-B0D15D97F1DA}"/>
                </a:ext>
              </a:extLst>
            </p:cNvPr>
            <p:cNvSpPr/>
            <p:nvPr/>
          </p:nvSpPr>
          <p:spPr>
            <a:xfrm>
              <a:off x="4067944" y="2204864"/>
              <a:ext cx="3816424" cy="2088232"/>
            </a:xfrm>
            <a:prstGeom prst="roundRect">
              <a:avLst/>
            </a:prstGeom>
            <a:solidFill>
              <a:srgbClr val="FFCCFF"/>
            </a:solidFill>
            <a:ln>
              <a:solidFill>
                <a:srgbClr val="92D050"/>
              </a:solidFill>
            </a:ln>
            <a:scene3d>
              <a:camera prst="orthographicFront"/>
              <a:lightRig rig="threePt" dir="t"/>
            </a:scene3d>
            <a:sp3d>
              <a:bevelT w="101600" h="1016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9" name="TextBox 20">
              <a:extLst>
                <a:ext uri="{FF2B5EF4-FFF2-40B4-BE49-F238E27FC236}">
                  <a16:creationId xmlns="" xmlns:a16="http://schemas.microsoft.com/office/drawing/2014/main" id="{F90D9D15-F899-47C4-86DB-9D45B44CB769}"/>
                </a:ext>
              </a:extLst>
            </p:cNvPr>
            <p:cNvSpPr txBox="1"/>
            <p:nvPr/>
          </p:nvSpPr>
          <p:spPr>
            <a:xfrm>
              <a:off x="4139375" y="2420833"/>
              <a:ext cx="3889009" cy="177336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defRPr/>
              </a:pPr>
              <a:r>
                <a: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1</a:t>
              </a:r>
              <a:r>
                <a: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、不满足交换律；</a:t>
              </a:r>
              <a:endPara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>
                <a:lnSpc>
                  <a:spcPct val="130000"/>
                </a:lnSpc>
                <a:defRPr/>
              </a:pPr>
              <a:r>
                <a: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2</a:t>
              </a:r>
              <a:r>
                <a: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、不满足消去律；</a:t>
              </a:r>
              <a:endPara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  <a:p>
              <a:pPr>
                <a:lnSpc>
                  <a:spcPct val="130000"/>
                </a:lnSpc>
                <a:defRPr/>
              </a:pPr>
              <a:r>
                <a: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3</a:t>
              </a:r>
              <a:r>
                <a: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、存在非零的零因子</a:t>
              </a:r>
            </a:p>
          </p:txBody>
        </p:sp>
      </p:grpSp>
      <p:sp>
        <p:nvSpPr>
          <p:cNvPr id="30" name="Rectangle 30">
            <a:extLst>
              <a:ext uri="{FF2B5EF4-FFF2-40B4-BE49-F238E27FC236}">
                <a16:creationId xmlns="" xmlns:a16="http://schemas.microsoft.com/office/drawing/2014/main" id="{4FD55031-1DE9-4686-92F8-56C267E03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9910" y="4359118"/>
            <a:ext cx="4572000" cy="244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(1)    (</a:t>
            </a:r>
            <a:r>
              <a:rPr lang="en-US" altLang="zh-CN" i="1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A</a:t>
            </a:r>
            <a:r>
              <a:rPr lang="en-US" altLang="zh-CN" baseline="30000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T</a:t>
            </a: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)</a:t>
            </a:r>
            <a:r>
              <a:rPr lang="en-US" altLang="zh-CN" baseline="30000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T</a:t>
            </a: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 = </a:t>
            </a:r>
            <a:r>
              <a:rPr lang="en-US" altLang="zh-CN" i="1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A</a:t>
            </a: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 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(2)    (</a:t>
            </a:r>
            <a:r>
              <a:rPr lang="en-US" altLang="zh-CN" i="1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B + C</a:t>
            </a: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)</a:t>
            </a:r>
            <a:r>
              <a:rPr lang="en-US" altLang="zh-CN" baseline="30000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T</a:t>
            </a: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 = </a:t>
            </a:r>
            <a:r>
              <a:rPr lang="en-US" altLang="zh-CN" i="1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B</a:t>
            </a:r>
            <a:r>
              <a:rPr lang="en-US" altLang="zh-CN" baseline="30000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T</a:t>
            </a:r>
            <a:r>
              <a:rPr lang="en-US" altLang="zh-CN" i="1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 + C</a:t>
            </a:r>
            <a:r>
              <a:rPr lang="en-US" altLang="zh-CN" baseline="30000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T</a:t>
            </a: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 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(3)    (</a:t>
            </a:r>
            <a:r>
              <a:rPr lang="en-US" altLang="zh-CN" i="1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kA</a:t>
            </a: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)</a:t>
            </a:r>
            <a:r>
              <a:rPr lang="en-US" altLang="zh-CN" baseline="30000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T</a:t>
            </a: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 = </a:t>
            </a:r>
            <a:r>
              <a:rPr lang="en-US" altLang="zh-CN" i="1" dirty="0" err="1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kA</a:t>
            </a:r>
            <a:r>
              <a:rPr lang="en-US" altLang="zh-CN" baseline="30000" dirty="0" err="1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T</a:t>
            </a: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;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(4)    (</a:t>
            </a:r>
            <a:r>
              <a:rPr lang="en-US" altLang="zh-CN" i="1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AB</a:t>
            </a: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)</a:t>
            </a:r>
            <a:r>
              <a:rPr lang="en-US" altLang="zh-CN" baseline="30000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T</a:t>
            </a: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 = </a:t>
            </a:r>
            <a:r>
              <a:rPr lang="en-US" altLang="zh-CN" i="1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B</a:t>
            </a:r>
            <a:r>
              <a:rPr lang="en-US" altLang="zh-CN" baseline="30000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T</a:t>
            </a:r>
            <a:r>
              <a:rPr lang="en-US" altLang="zh-CN" i="1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A</a:t>
            </a:r>
            <a:r>
              <a:rPr lang="en-US" altLang="zh-CN" baseline="30000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T</a:t>
            </a:r>
            <a:r>
              <a:rPr lang="en-US" altLang="zh-CN" dirty="0">
                <a:solidFill>
                  <a:srgbClr val="FFFFFF"/>
                </a:solidFill>
                <a:latin typeface="+mn-lt"/>
                <a:ea typeface="华文楷体" panose="02010600040101010101" pitchFamily="2" charset="-122"/>
              </a:rPr>
              <a:t> ; </a:t>
            </a:r>
          </a:p>
        </p:txBody>
      </p:sp>
      <p:sp>
        <p:nvSpPr>
          <p:cNvPr id="31" name="左大括号 30">
            <a:extLst>
              <a:ext uri="{FF2B5EF4-FFF2-40B4-BE49-F238E27FC236}">
                <a16:creationId xmlns="" xmlns:a16="http://schemas.microsoft.com/office/drawing/2014/main" id="{49BF6F43-1DAD-4938-8B2E-27D21DA730AC}"/>
              </a:ext>
            </a:extLst>
          </p:cNvPr>
          <p:cNvSpPr/>
          <p:nvPr/>
        </p:nvSpPr>
        <p:spPr>
          <a:xfrm>
            <a:off x="5412005" y="4406744"/>
            <a:ext cx="360363" cy="2347913"/>
          </a:xfrm>
          <a:prstGeom prst="lef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/>
      <p:bldP spid="26" grpId="0" animBg="1"/>
      <p:bldP spid="30" grpId="0" uiExpand="1" build="p" autoUpdateAnimBg="0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xin_342100508104725015796118">
            <a:extLst>
              <a:ext uri="{FF2B5EF4-FFF2-40B4-BE49-F238E27FC236}">
                <a16:creationId xmlns="" xmlns:a16="http://schemas.microsoft.com/office/drawing/2014/main" id="{A03F67C0-CDDE-4982-A5AA-C8FF3C54E2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03569" y="2708920"/>
            <a:ext cx="5400600" cy="346172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/>
        </p:spPr>
      </p:pic>
      <p:pic>
        <p:nvPicPr>
          <p:cNvPr id="8" name="Picture 5" descr="xin_362100508104764026846135">
            <a:extLst>
              <a:ext uri="{FF2B5EF4-FFF2-40B4-BE49-F238E27FC236}">
                <a16:creationId xmlns="" xmlns:a16="http://schemas.microsoft.com/office/drawing/2014/main" id="{BB1FFF06-9FDD-4437-BB35-04DE4EF1E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87831" y="2486240"/>
            <a:ext cx="3672408" cy="407125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/>
        </p:spPr>
      </p:pic>
      <p:sp>
        <p:nvSpPr>
          <p:cNvPr id="9" name="矩形 8">
            <a:extLst>
              <a:ext uri="{FF2B5EF4-FFF2-40B4-BE49-F238E27FC236}">
                <a16:creationId xmlns="" xmlns:a16="http://schemas.microsoft.com/office/drawing/2014/main" id="{0EB2012A-B779-4F72-9F21-262C66D62594}"/>
              </a:ext>
            </a:extLst>
          </p:cNvPr>
          <p:cNvSpPr/>
          <p:nvPr/>
        </p:nvSpPr>
        <p:spPr>
          <a:xfrm>
            <a:off x="4202697" y="1268112"/>
            <a:ext cx="37866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这两个人是谁？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4">
            <a:extLst>
              <a:ext uri="{FF2B5EF4-FFF2-40B4-BE49-F238E27FC236}">
                <a16:creationId xmlns="" xmlns:a16="http://schemas.microsoft.com/office/drawing/2014/main" id="{1755384E-C499-4A8F-A0EC-5D2990153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41" y="3715120"/>
            <a:ext cx="45370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原来的消息</a:t>
            </a:r>
            <a:r>
              <a:rPr lang="en-US" altLang="zh-CN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—</a:t>
            </a: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明文</a:t>
            </a:r>
          </a:p>
        </p:txBody>
      </p:sp>
      <p:sp>
        <p:nvSpPr>
          <p:cNvPr id="14" name="AutoShape 6">
            <a:extLst>
              <a:ext uri="{FF2B5EF4-FFF2-40B4-BE49-F238E27FC236}">
                <a16:creationId xmlns="" xmlns:a16="http://schemas.microsoft.com/office/drawing/2014/main" id="{ACE269A4-F12B-4C8C-87E1-68D123B20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04" y="2870079"/>
            <a:ext cx="3529012" cy="792162"/>
          </a:xfrm>
          <a:prstGeom prst="curvedDownArrow">
            <a:avLst>
              <a:gd name="adj1" fmla="val 89098"/>
              <a:gd name="adj2" fmla="val 178196"/>
              <a:gd name="adj3" fmla="val 33333"/>
            </a:avLst>
          </a:prstGeom>
          <a:solidFill>
            <a:schemeClr val="accent1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320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Text Box 7">
            <a:extLst>
              <a:ext uri="{FF2B5EF4-FFF2-40B4-BE49-F238E27FC236}">
                <a16:creationId xmlns="" xmlns:a16="http://schemas.microsoft.com/office/drawing/2014/main" id="{F1241D10-B2CC-474D-8EDD-30B8F8DA5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3281" y="3715119"/>
            <a:ext cx="21748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4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密文</a:t>
            </a:r>
          </a:p>
        </p:txBody>
      </p:sp>
      <p:sp>
        <p:nvSpPr>
          <p:cNvPr id="16" name="Text Box 8">
            <a:extLst>
              <a:ext uri="{FF2B5EF4-FFF2-40B4-BE49-F238E27FC236}">
                <a16:creationId xmlns="" xmlns:a16="http://schemas.microsoft.com/office/drawing/2014/main" id="{9569217C-0CCE-49CF-955B-F404BC3C0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1075" y="2299373"/>
            <a:ext cx="17287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加密</a:t>
            </a:r>
          </a:p>
        </p:txBody>
      </p:sp>
      <p:sp>
        <p:nvSpPr>
          <p:cNvPr id="17" name="Rectangle 43">
            <a:extLst>
              <a:ext uri="{FF2B5EF4-FFF2-40B4-BE49-F238E27FC236}">
                <a16:creationId xmlns="" xmlns:a16="http://schemas.microsoft.com/office/drawing/2014/main" id="{8C3197A8-FFF7-42B0-A628-D2E980FC3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664" y="5445224"/>
            <a:ext cx="1223962" cy="863600"/>
          </a:xfrm>
          <a:prstGeom prst="rect">
            <a:avLst/>
          </a:prstGeom>
          <a:solidFill>
            <a:srgbClr val="99CC00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X</a:t>
            </a:r>
          </a:p>
        </p:txBody>
      </p:sp>
      <p:sp>
        <p:nvSpPr>
          <p:cNvPr id="18" name="Rectangle 49">
            <a:extLst>
              <a:ext uri="{FF2B5EF4-FFF2-40B4-BE49-F238E27FC236}">
                <a16:creationId xmlns="" xmlns:a16="http://schemas.microsoft.com/office/drawing/2014/main" id="{AA8286EC-096A-45CF-97F3-FFC5231F4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4926" y="5433904"/>
            <a:ext cx="1152525" cy="863600"/>
          </a:xfrm>
          <a:prstGeom prst="rect">
            <a:avLst/>
          </a:prstGeom>
          <a:solidFill>
            <a:srgbClr val="FFCC00"/>
          </a:solidFill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i="1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AX</a:t>
            </a:r>
          </a:p>
        </p:txBody>
      </p:sp>
      <p:grpSp>
        <p:nvGrpSpPr>
          <p:cNvPr id="19" name="Group 58">
            <a:extLst>
              <a:ext uri="{FF2B5EF4-FFF2-40B4-BE49-F238E27FC236}">
                <a16:creationId xmlns="" xmlns:a16="http://schemas.microsoft.com/office/drawing/2014/main" id="{BD59B95D-33FB-42BE-84EE-E4A94FF3E8B3}"/>
              </a:ext>
            </a:extLst>
          </p:cNvPr>
          <p:cNvGrpSpPr>
            <a:grpSpLocks/>
          </p:cNvGrpSpPr>
          <p:nvPr/>
        </p:nvGrpSpPr>
        <p:grpSpPr bwMode="auto">
          <a:xfrm>
            <a:off x="4558000" y="5232294"/>
            <a:ext cx="3384550" cy="865188"/>
            <a:chOff x="1610" y="2885"/>
            <a:chExt cx="2132" cy="545"/>
          </a:xfrm>
        </p:grpSpPr>
        <p:sp>
          <p:nvSpPr>
            <p:cNvPr id="20" name="Text Box 46">
              <a:extLst>
                <a:ext uri="{FF2B5EF4-FFF2-40B4-BE49-F238E27FC236}">
                  <a16:creationId xmlns="" xmlns:a16="http://schemas.microsoft.com/office/drawing/2014/main" id="{17892D8C-FD4A-411A-ACC5-30F7260F00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0" y="2885"/>
              <a:ext cx="958" cy="330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3200" b="1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左乘以</a:t>
              </a:r>
              <a:r>
                <a:rPr lang="en-US" altLang="zh-CN" sz="2800" i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A</a:t>
              </a:r>
              <a:endParaRPr lang="zh-CN" altLang="en-US" sz="2800" i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1" name="AutoShape 56">
              <a:extLst>
                <a:ext uri="{FF2B5EF4-FFF2-40B4-BE49-F238E27FC236}">
                  <a16:creationId xmlns="" xmlns:a16="http://schemas.microsoft.com/office/drawing/2014/main" id="{DBAFBFD6-799D-423F-9D0F-31E5CAC083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3294"/>
              <a:ext cx="2132" cy="136"/>
            </a:xfrm>
            <a:prstGeom prst="rightArrow">
              <a:avLst>
                <a:gd name="adj1" fmla="val 50000"/>
                <a:gd name="adj2" fmla="val 391912"/>
              </a:avLst>
            </a:prstGeom>
            <a:solidFill>
              <a:schemeClr val="accent1"/>
            </a:solidFill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320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="" xmlns:a16="http://schemas.microsoft.com/office/drawing/2014/main" id="{984B8E6E-A0B6-4B83-B54A-EE617DDF3065}"/>
              </a:ext>
            </a:extLst>
          </p:cNvPr>
          <p:cNvSpPr/>
          <p:nvPr/>
        </p:nvSpPr>
        <p:spPr>
          <a:xfrm>
            <a:off x="2916287" y="1268112"/>
            <a:ext cx="635943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矩阵乘法在</a:t>
            </a:r>
            <a:r>
              <a:rPr lang="zh-CN" altLang="en-US" sz="4000" i="1" kern="0" dirty="0">
                <a:solidFill>
                  <a:schemeClr val="accent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密码学</a:t>
            </a: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中的应用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3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5" grpId="0"/>
      <p:bldP spid="16" grpId="0"/>
      <p:bldP spid="17" grpId="0" animBg="1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4" descr="xin_362100508104764026846135">
            <a:extLst>
              <a:ext uri="{FF2B5EF4-FFF2-40B4-BE49-F238E27FC236}">
                <a16:creationId xmlns="" xmlns:a16="http://schemas.microsoft.com/office/drawing/2014/main" id="{D21C89FF-F419-451B-938A-506DF5F05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529" y="825139"/>
            <a:ext cx="2082801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ext Box 5">
            <a:extLst>
              <a:ext uri="{FF2B5EF4-FFF2-40B4-BE49-F238E27FC236}">
                <a16:creationId xmlns="" xmlns:a16="http://schemas.microsoft.com/office/drawing/2014/main" id="{B3B79417-5189-447E-BFC8-8E0DFD901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1776" y="823914"/>
            <a:ext cx="601466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把这个消息：</a:t>
            </a:r>
            <a:endParaRPr lang="en-US" altLang="zh-CN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/>
            <a:r>
              <a:rPr lang="en-US" altLang="zh-CN" sz="2400" i="1" u="sng" dirty="0">
                <a:solidFill>
                  <a:schemeClr val="bg1"/>
                </a:solidFill>
                <a:latin typeface="+mn-lt"/>
                <a:ea typeface="楷体" panose="02010609060101010101" pitchFamily="49" charset="-122"/>
              </a:rPr>
              <a:t>ACCOMPLISH  THE TASK</a:t>
            </a:r>
            <a:endParaRPr lang="en-US" altLang="zh-CN" u="sng" dirty="0">
              <a:solidFill>
                <a:schemeClr val="bg1"/>
              </a:solidFill>
              <a:latin typeface="+mn-lt"/>
              <a:ea typeface="楷体" panose="02010609060101010101" pitchFamily="49" charset="-122"/>
            </a:endParaRPr>
          </a:p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按列写成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楷体" panose="02010609060101010101" pitchFamily="49" charset="-122"/>
              </a:rPr>
              <a:t>4×5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矩阵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楷体" panose="02010609060101010101" pitchFamily="49" charset="-122"/>
              </a:rPr>
              <a:t>X</a:t>
            </a:r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8196" name="Object 6">
            <a:extLst>
              <a:ext uri="{FF2B5EF4-FFF2-40B4-BE49-F238E27FC236}">
                <a16:creationId xmlns="" xmlns:a16="http://schemas.microsoft.com/office/drawing/2014/main" id="{C39F09E8-5BAC-48EB-95DD-75262859EC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149996"/>
              </p:ext>
            </p:extLst>
          </p:nvPr>
        </p:nvGraphicFramePr>
        <p:xfrm>
          <a:off x="5303913" y="2276132"/>
          <a:ext cx="3676699" cy="1887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3" name="Equation" r:id="rId4" imgW="3606480" imgH="1854000" progId="Equation.DSMT4">
                  <p:embed/>
                </p:oleObj>
              </mc:Choice>
              <mc:Fallback>
                <p:oleObj name="Equation" r:id="rId4" imgW="3606480" imgH="1854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913" y="2276132"/>
                        <a:ext cx="3676699" cy="18878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7">
            <a:extLst>
              <a:ext uri="{FF2B5EF4-FFF2-40B4-BE49-F238E27FC236}">
                <a16:creationId xmlns="" xmlns:a16="http://schemas.microsoft.com/office/drawing/2014/main" id="{EA66F05A-010C-4D5C-A3B0-BB3CC642E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513" y="4725145"/>
            <a:ext cx="2082801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然后加密：</a:t>
            </a:r>
          </a:p>
        </p:txBody>
      </p:sp>
      <p:graphicFrame>
        <p:nvGraphicFramePr>
          <p:cNvPr id="8198" name="Object 8">
            <a:extLst>
              <a:ext uri="{FF2B5EF4-FFF2-40B4-BE49-F238E27FC236}">
                <a16:creationId xmlns="" xmlns:a16="http://schemas.microsoft.com/office/drawing/2014/main" id="{296AD494-D428-4EB3-B401-41A5839F8B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394688"/>
              </p:ext>
            </p:extLst>
          </p:nvPr>
        </p:nvGraphicFramePr>
        <p:xfrm>
          <a:off x="2900768" y="4581129"/>
          <a:ext cx="7272808" cy="1954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64" name="Equation" r:id="rId6" imgW="6895800" imgH="1854000" progId="Equation.DSMT4">
                  <p:embed/>
                </p:oleObj>
              </mc:Choice>
              <mc:Fallback>
                <p:oleObj name="Equation" r:id="rId6" imgW="6895800" imgH="1854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0768" y="4581129"/>
                        <a:ext cx="7272808" cy="19544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 descr="xin_362100508104764026846135">
            <a:extLst>
              <a:ext uri="{FF2B5EF4-FFF2-40B4-BE49-F238E27FC236}">
                <a16:creationId xmlns="" xmlns:a16="http://schemas.microsoft.com/office/drawing/2014/main" id="{DAAB075A-275B-423E-B1D5-44A247868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8594" y="979984"/>
            <a:ext cx="2344738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43" name="Object 5">
            <a:extLst>
              <a:ext uri="{FF2B5EF4-FFF2-40B4-BE49-F238E27FC236}">
                <a16:creationId xmlns="" xmlns:a16="http://schemas.microsoft.com/office/drawing/2014/main" id="{823A60D0-0000-4962-A1CB-40B09D54CA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784054"/>
              </p:ext>
            </p:extLst>
          </p:nvPr>
        </p:nvGraphicFramePr>
        <p:xfrm>
          <a:off x="4295800" y="979983"/>
          <a:ext cx="5944954" cy="2158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8" name="Equation" r:id="rId4" imgW="5105160" imgH="1854000" progId="Equation.DSMT4">
                  <p:embed/>
                </p:oleObj>
              </mc:Choice>
              <mc:Fallback>
                <p:oleObj name="Equation" r:id="rId4" imgW="5105160" imgH="18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800" y="979983"/>
                        <a:ext cx="5944954" cy="21583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AutoShape 7">
            <a:extLst>
              <a:ext uri="{FF2B5EF4-FFF2-40B4-BE49-F238E27FC236}">
                <a16:creationId xmlns="" xmlns:a16="http://schemas.microsoft.com/office/drawing/2014/main" id="{9EDA5EC8-C5CF-4DA4-A781-1FFF1C9655D7}"/>
              </a:ext>
            </a:extLst>
          </p:cNvPr>
          <p:cNvSpPr>
            <a:spLocks noChangeArrowheads="1"/>
          </p:cNvSpPr>
          <p:nvPr/>
        </p:nvSpPr>
        <p:spPr bwMode="auto">
          <a:xfrm rot="1043277">
            <a:off x="4083094" y="3383000"/>
            <a:ext cx="3634686" cy="1345212"/>
          </a:xfrm>
          <a:prstGeom prst="rightArrow">
            <a:avLst>
              <a:gd name="adj1" fmla="val 50000"/>
              <a:gd name="adj2" fmla="val 44854"/>
            </a:avLst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发送</a:t>
            </a:r>
          </a:p>
        </p:txBody>
      </p:sp>
      <p:pic>
        <p:nvPicPr>
          <p:cNvPr id="6" name="Picture 9" descr="xin_36210050810471879659133">
            <a:extLst>
              <a:ext uri="{FF2B5EF4-FFF2-40B4-BE49-F238E27FC236}">
                <a16:creationId xmlns="" xmlns:a16="http://schemas.microsoft.com/office/drawing/2014/main" id="{9D411C8E-3E97-4152-93DC-640494059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237" y="4183328"/>
            <a:ext cx="2233613" cy="248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AutoShape 7">
            <a:extLst>
              <a:ext uri="{FF2B5EF4-FFF2-40B4-BE49-F238E27FC236}">
                <a16:creationId xmlns="" xmlns:a16="http://schemas.microsoft.com/office/drawing/2014/main" id="{BBB8B80C-7EDC-4C08-A2DC-4D79B4F4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3332" y="5271041"/>
            <a:ext cx="3063342" cy="775961"/>
          </a:xfrm>
          <a:prstGeom prst="wedgeRoundRectCallout">
            <a:avLst>
              <a:gd name="adj1" fmla="val -33149"/>
              <a:gd name="adj2" fmla="val 52323"/>
              <a:gd name="adj3" fmla="val 16667"/>
            </a:avLst>
          </a:prstGeom>
          <a:solidFill>
            <a:srgbClr val="FF0000"/>
          </a:solidFill>
          <a:ln w="38100">
            <a:solidFill>
              <a:srgbClr val="0033CC"/>
            </a:solidFill>
            <a:miter lim="800000"/>
            <a:headEnd/>
            <a:tailEnd/>
          </a:ln>
          <a:effectLst/>
          <a:extLst/>
        </p:spPr>
        <p:txBody>
          <a:bodyPr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如何</a:t>
            </a:r>
            <a:r>
              <a:rPr lang="zh-CN" altLang="en-US" sz="32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得到明文</a:t>
            </a: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？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="" xmlns:a16="http://schemas.microsoft.com/office/drawing/2014/main" id="{92C5E494-F8D7-4A1C-8C40-EB569651AD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447569"/>
              </p:ext>
            </p:extLst>
          </p:nvPr>
        </p:nvGraphicFramePr>
        <p:xfrm>
          <a:off x="2837802" y="5175460"/>
          <a:ext cx="6907212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2" name="Equation" r:id="rId4" imgW="2298700" imgH="215900" progId="Equation.DSMT4">
                  <p:embed/>
                </p:oleObj>
              </mc:Choice>
              <mc:Fallback>
                <p:oleObj name="Equation" r:id="rId4" imgW="2298700" imgH="2159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7802" y="5175460"/>
                        <a:ext cx="6907212" cy="642938"/>
                      </a:xfrm>
                      <a:prstGeom prst="rect">
                        <a:avLst/>
                      </a:prstGeom>
                      <a:solidFill>
                        <a:srgbClr val="C2FFF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44" name="Group 4">
            <a:extLst>
              <a:ext uri="{FF2B5EF4-FFF2-40B4-BE49-F238E27FC236}">
                <a16:creationId xmlns="" xmlns:a16="http://schemas.microsoft.com/office/drawing/2014/main" id="{F8FBFDC1-77A8-4945-8C42-98DA54C49892}"/>
              </a:ext>
            </a:extLst>
          </p:cNvPr>
          <p:cNvGrpSpPr>
            <a:grpSpLocks/>
          </p:cNvGrpSpPr>
          <p:nvPr/>
        </p:nvGrpSpPr>
        <p:grpSpPr bwMode="auto">
          <a:xfrm>
            <a:off x="3386948" y="2523077"/>
            <a:ext cx="6453468" cy="1169988"/>
            <a:chOff x="523" y="1857"/>
            <a:chExt cx="2406" cy="737"/>
          </a:xfrm>
        </p:grpSpPr>
        <p:sp>
          <p:nvSpPr>
            <p:cNvPr id="11273" name="Text Box 6">
              <a:extLst>
                <a:ext uri="{FF2B5EF4-FFF2-40B4-BE49-F238E27FC236}">
                  <a16:creationId xmlns="" xmlns:a16="http://schemas.microsoft.com/office/drawing/2014/main" id="{60725F37-106F-431B-A2FD-D4386986D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6" y="1915"/>
              <a:ext cx="1463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200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是否</a:t>
              </a:r>
              <a:r>
                <a:rPr lang="zh-CN" altLang="en-US" sz="3200" dirty="0" smtClean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可以像一</a:t>
              </a:r>
              <a:r>
                <a:rPr lang="zh-CN" altLang="en-US" sz="3200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元一次</a:t>
              </a:r>
              <a:r>
                <a:rPr lang="zh-CN" altLang="en-US" sz="3200" dirty="0" smtClean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代数方程一样</a:t>
              </a:r>
              <a:r>
                <a:rPr lang="zh-CN" altLang="en-US" sz="3200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求解</a:t>
              </a:r>
              <a:r>
                <a:rPr lang="en-US" altLang="zh-CN" sz="3200" dirty="0">
                  <a:solidFill>
                    <a:srgbClr val="FFFF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?</a:t>
              </a:r>
            </a:p>
          </p:txBody>
        </p:sp>
        <p:graphicFrame>
          <p:nvGraphicFramePr>
            <p:cNvPr id="11274" name="Object 7">
              <a:extLst>
                <a:ext uri="{FF2B5EF4-FFF2-40B4-BE49-F238E27FC236}">
                  <a16:creationId xmlns="" xmlns:a16="http://schemas.microsoft.com/office/drawing/2014/main" id="{6C77769A-432F-47E9-98E1-8C45CB42C5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0881071"/>
                </p:ext>
              </p:extLst>
            </p:nvPr>
          </p:nvGraphicFramePr>
          <p:xfrm>
            <a:off x="525" y="2267"/>
            <a:ext cx="654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3" name="Equation" r:id="rId6" imgW="431640" imgH="139680" progId="Equation.DSMT4">
                    <p:embed/>
                  </p:oleObj>
                </mc:Choice>
                <mc:Fallback>
                  <p:oleObj name="Equation" r:id="rId6" imgW="431640" imgH="13968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" y="2267"/>
                          <a:ext cx="654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75" name="Object 9">
              <a:extLst>
                <a:ext uri="{FF2B5EF4-FFF2-40B4-BE49-F238E27FC236}">
                  <a16:creationId xmlns="" xmlns:a16="http://schemas.microsoft.com/office/drawing/2014/main" id="{D2A862E9-9D74-49E2-926D-E8E8CBA58A6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9283482"/>
                </p:ext>
              </p:extLst>
            </p:nvPr>
          </p:nvGraphicFramePr>
          <p:xfrm>
            <a:off x="523" y="1857"/>
            <a:ext cx="870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764" name="Equation" r:id="rId8" imgW="545760" imgH="177480" progId="Equation.DSMT4">
                    <p:embed/>
                  </p:oleObj>
                </mc:Choice>
                <mc:Fallback>
                  <p:oleObj name="Equation" r:id="rId8" imgW="545760" imgH="17748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" y="1857"/>
                          <a:ext cx="870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271" name="Object 15">
            <a:extLst>
              <a:ext uri="{FF2B5EF4-FFF2-40B4-BE49-F238E27FC236}">
                <a16:creationId xmlns="" xmlns:a16="http://schemas.microsoft.com/office/drawing/2014/main" id="{A41A453E-011B-49B6-96FB-C9EB911CE8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9075"/>
              </p:ext>
            </p:extLst>
          </p:nvPr>
        </p:nvGraphicFramePr>
        <p:xfrm>
          <a:off x="3384695" y="4031698"/>
          <a:ext cx="581342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5" name="Equation" r:id="rId10" imgW="2438280" imgH="228600" progId="Equation.DSMT4">
                  <p:embed/>
                </p:oleObj>
              </mc:Choice>
              <mc:Fallback>
                <p:oleObj name="Equation" r:id="rId10" imgW="2438280" imgH="228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695" y="4031698"/>
                        <a:ext cx="581342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8B27E940-C09D-487D-A805-4C5734F31091}"/>
              </a:ext>
            </a:extLst>
          </p:cNvPr>
          <p:cNvSpPr/>
          <p:nvPr/>
        </p:nvSpPr>
        <p:spPr>
          <a:xfrm>
            <a:off x="4769718" y="895420"/>
            <a:ext cx="275748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问题的提出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4" name="Text Box 5">
            <a:extLst>
              <a:ext uri="{FF2B5EF4-FFF2-40B4-BE49-F238E27FC236}">
                <a16:creationId xmlns="" xmlns:a16="http://schemas.microsoft.com/office/drawing/2014/main" id="{0B9F55E2-867F-40B0-94F3-0EDF05F25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7729" y="2406312"/>
            <a:ext cx="586986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对于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华文楷体" panose="02010600040101010101" pitchFamily="2" charset="-122"/>
              </a:rPr>
              <a:t>n</a:t>
            </a:r>
            <a:r>
              <a:rPr lang="zh-CN" altLang="en-US" dirty="0">
                <a:solidFill>
                  <a:srgbClr val="00B050"/>
                </a:solidFill>
                <a:latin typeface="+mn-lt"/>
                <a:ea typeface="华文楷体" panose="02010600040101010101" pitchFamily="2" charset="-122"/>
              </a:rPr>
              <a:t>阶矩阵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华文楷体" panose="02010600040101010101" pitchFamily="2" charset="-122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，如果有一个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n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阶矩阵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B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使得</a:t>
            </a:r>
            <a:r>
              <a:rPr lang="en-US" altLang="zh-CN" dirty="0">
                <a:solidFill>
                  <a:srgbClr val="00B050"/>
                </a:solidFill>
                <a:latin typeface="+mn-lt"/>
                <a:ea typeface="华文楷体" panose="02010600040101010101" pitchFamily="2" charset="-122"/>
              </a:rPr>
              <a:t>AB=BA=E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，则说矩阵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是可逆的，并把矩阵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B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称为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的逆矩阵</a:t>
            </a:r>
            <a:r>
              <a:rPr lang="en-US" altLang="zh-CN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.</a:t>
            </a:r>
          </a:p>
        </p:txBody>
      </p:sp>
      <p:graphicFrame>
        <p:nvGraphicFramePr>
          <p:cNvPr id="22" name="Object 15">
            <a:extLst>
              <a:ext uri="{FF2B5EF4-FFF2-40B4-BE49-F238E27FC236}">
                <a16:creationId xmlns="" xmlns:a16="http://schemas.microsoft.com/office/drawing/2014/main" id="{1FC9BBEC-ED6F-4090-92BF-20367D276D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1810027"/>
              </p:ext>
            </p:extLst>
          </p:nvPr>
        </p:nvGraphicFramePr>
        <p:xfrm>
          <a:off x="4546600" y="4086031"/>
          <a:ext cx="3061568" cy="508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7" name="Equation" r:id="rId3" imgW="2654280" imgH="419040" progId="Equation.DSMT4">
                  <p:embed/>
                </p:oleObj>
              </mc:Choice>
              <mc:Fallback>
                <p:oleObj name="Equation" r:id="rId3" imgW="2654280" imgH="4190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6600" y="4086031"/>
                        <a:ext cx="3061568" cy="508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16">
            <a:extLst>
              <a:ext uri="{FF2B5EF4-FFF2-40B4-BE49-F238E27FC236}">
                <a16:creationId xmlns="" xmlns:a16="http://schemas.microsoft.com/office/drawing/2014/main" id="{E5B62D0E-4E61-4F50-AFF5-4789BA770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6779" y="5146778"/>
            <a:ext cx="1430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</a:t>
            </a:r>
          </a:p>
        </p:txBody>
      </p:sp>
      <p:graphicFrame>
        <p:nvGraphicFramePr>
          <p:cNvPr id="24" name="Object 17">
            <a:extLst>
              <a:ext uri="{FF2B5EF4-FFF2-40B4-BE49-F238E27FC236}">
                <a16:creationId xmlns="" xmlns:a16="http://schemas.microsoft.com/office/drawing/2014/main" id="{830B044A-B8E2-415E-BF92-1812FE5A69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810576"/>
              </p:ext>
            </p:extLst>
          </p:nvPr>
        </p:nvGraphicFramePr>
        <p:xfrm>
          <a:off x="4114800" y="4957538"/>
          <a:ext cx="3962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8" name="Equation" r:id="rId5" imgW="3962160" imgH="901440" progId="Equation.DSMT4">
                  <p:embed/>
                </p:oleObj>
              </mc:Choice>
              <mc:Fallback>
                <p:oleObj name="Equation" r:id="rId5" imgW="3962160" imgH="90144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4957538"/>
                        <a:ext cx="39624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8">
            <a:extLst>
              <a:ext uri="{FF2B5EF4-FFF2-40B4-BE49-F238E27FC236}">
                <a16:creationId xmlns="" xmlns:a16="http://schemas.microsoft.com/office/drawing/2014/main" id="{C0D2A595-2F66-47E2-8AF2-3A3169BB36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359273"/>
              </p:ext>
            </p:extLst>
          </p:nvPr>
        </p:nvGraphicFramePr>
        <p:xfrm>
          <a:off x="3647728" y="6013194"/>
          <a:ext cx="20193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9" name="Equation" r:id="rId7" imgW="2019240" imgH="355320" progId="Equation.DSMT4">
                  <p:embed/>
                </p:oleObj>
              </mc:Choice>
              <mc:Fallback>
                <p:oleObj name="Equation" r:id="rId7" imgW="2019240" imgH="35532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7728" y="6013194"/>
                        <a:ext cx="20193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9">
            <a:extLst>
              <a:ext uri="{FF2B5EF4-FFF2-40B4-BE49-F238E27FC236}">
                <a16:creationId xmlns="" xmlns:a16="http://schemas.microsoft.com/office/drawing/2014/main" id="{2DFE09BA-EB99-48BB-8B75-049B54560B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44205"/>
              </p:ext>
            </p:extLst>
          </p:nvPr>
        </p:nvGraphicFramePr>
        <p:xfrm>
          <a:off x="5873750" y="5975094"/>
          <a:ext cx="2895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30" name="Equation" r:id="rId9" imgW="2895480" imgH="393480" progId="Equation.DSMT4">
                  <p:embed/>
                </p:oleObj>
              </mc:Choice>
              <mc:Fallback>
                <p:oleObj name="Equation" r:id="rId9" imgW="2895480" imgH="3934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0" y="5975094"/>
                        <a:ext cx="2895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>
            <a:extLst>
              <a:ext uri="{FF2B5EF4-FFF2-40B4-BE49-F238E27FC236}">
                <a16:creationId xmlns="" xmlns:a16="http://schemas.microsoft.com/office/drawing/2014/main" id="{D4F9CC2B-8EAA-4830-8A15-DA027772E16B}"/>
              </a:ext>
            </a:extLst>
          </p:cNvPr>
          <p:cNvSpPr/>
          <p:nvPr/>
        </p:nvSpPr>
        <p:spPr>
          <a:xfrm>
            <a:off x="4512438" y="895420"/>
            <a:ext cx="327205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逆矩阵的定义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032958AE-3ADE-47B4-B4E3-84D2A92CACAE}"/>
              </a:ext>
            </a:extLst>
          </p:cNvPr>
          <p:cNvSpPr/>
          <p:nvPr/>
        </p:nvSpPr>
        <p:spPr>
          <a:xfrm>
            <a:off x="2209982" y="1680746"/>
            <a:ext cx="413446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0"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一</a:t>
            </a:r>
            <a:r>
              <a:rPr kumimoji="0" lang="zh-CN" altLang="en-US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kumimoji="0"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逆矩阵的概念和性质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93C89A7F-6312-47C0-80D4-B2B3C46CBE0A}"/>
              </a:ext>
            </a:extLst>
          </p:cNvPr>
          <p:cNvSpPr/>
          <p:nvPr/>
        </p:nvSpPr>
        <p:spPr>
          <a:xfrm>
            <a:off x="2293407" y="2418178"/>
            <a:ext cx="10871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定义</a:t>
            </a:r>
            <a:r>
              <a:rPr lang="en-US" altLang="zh-CN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endParaRPr lang="zh-CN" altLang="en-US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4" grpId="0"/>
      <p:bldP spid="23" grpId="0" autoUpdateAnimBg="0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9">
            <a:extLst>
              <a:ext uri="{FF2B5EF4-FFF2-40B4-BE49-F238E27FC236}">
                <a16:creationId xmlns="" xmlns:a16="http://schemas.microsoft.com/office/drawing/2014/main" id="{247F18CD-FF33-4B7C-A5E9-100A0C6AC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2724478"/>
            <a:ext cx="184731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9" name="Object 2">
            <a:extLst>
              <a:ext uri="{FF2B5EF4-FFF2-40B4-BE49-F238E27FC236}">
                <a16:creationId xmlns="" xmlns:a16="http://schemas.microsoft.com/office/drawing/2014/main" id="{952AD8AF-E797-4D18-9D98-748F16BC63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3610534"/>
              </p:ext>
            </p:extLst>
          </p:nvPr>
        </p:nvGraphicFramePr>
        <p:xfrm>
          <a:off x="3447416" y="820476"/>
          <a:ext cx="1944216" cy="1104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78" name="Equation" r:id="rId4" imgW="1587240" imgH="901440" progId="Equation.DSMT4">
                  <p:embed/>
                </p:oleObj>
              </mc:Choice>
              <mc:Fallback>
                <p:oleObj name="Equation" r:id="rId4" imgW="1587240" imgH="9014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7416" y="820476"/>
                        <a:ext cx="1944216" cy="1104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>
            <a:extLst>
              <a:ext uri="{FF2B5EF4-FFF2-40B4-BE49-F238E27FC236}">
                <a16:creationId xmlns="" xmlns:a16="http://schemas.microsoft.com/office/drawing/2014/main" id="{22E226E7-EC9A-41F0-A838-3F4EEFB97A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625465"/>
              </p:ext>
            </p:extLst>
          </p:nvPr>
        </p:nvGraphicFramePr>
        <p:xfrm>
          <a:off x="5401761" y="838495"/>
          <a:ext cx="2410828" cy="1104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79" name="Equation" r:id="rId6" imgW="1968480" imgH="901440" progId="Equation.DSMT4">
                  <p:embed/>
                </p:oleObj>
              </mc:Choice>
              <mc:Fallback>
                <p:oleObj name="Equation" r:id="rId6" imgW="1968480" imgH="9014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1761" y="838495"/>
                        <a:ext cx="2410828" cy="1104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">
            <a:extLst>
              <a:ext uri="{FF2B5EF4-FFF2-40B4-BE49-F238E27FC236}">
                <a16:creationId xmlns="" xmlns:a16="http://schemas.microsoft.com/office/drawing/2014/main" id="{1B1B5AE7-5915-4C50-A3C9-7C99B5E7E6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59045"/>
              </p:ext>
            </p:extLst>
          </p:nvPr>
        </p:nvGraphicFramePr>
        <p:xfrm>
          <a:off x="2799344" y="2746210"/>
          <a:ext cx="5184576" cy="11257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80" name="Equation" r:id="rId8" imgW="4152600" imgH="901440" progId="Equation.DSMT4">
                  <p:embed/>
                </p:oleObj>
              </mc:Choice>
              <mc:Fallback>
                <p:oleObj name="Equation" r:id="rId8" imgW="4152600" imgH="9014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9344" y="2746210"/>
                        <a:ext cx="5184576" cy="11257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>
            <a:extLst>
              <a:ext uri="{FF2B5EF4-FFF2-40B4-BE49-F238E27FC236}">
                <a16:creationId xmlns="" xmlns:a16="http://schemas.microsoft.com/office/drawing/2014/main" id="{B3E6D4E2-9F03-4811-A0C6-5A2926C5D8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8097240"/>
              </p:ext>
            </p:extLst>
          </p:nvPr>
        </p:nvGraphicFramePr>
        <p:xfrm>
          <a:off x="7875664" y="855562"/>
          <a:ext cx="2190599" cy="1087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81" name="Equation" r:id="rId10" imgW="1815840" imgH="901440" progId="Equation.DSMT4">
                  <p:embed/>
                </p:oleObj>
              </mc:Choice>
              <mc:Fallback>
                <p:oleObj name="Equation" r:id="rId10" imgW="1815840" imgH="9014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5664" y="855562"/>
                        <a:ext cx="2190599" cy="10876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图片 82" descr="Crystal_Clear_action_button_cancel.png">
            <a:extLst>
              <a:ext uri="{FF2B5EF4-FFF2-40B4-BE49-F238E27FC236}">
                <a16:creationId xmlns="" xmlns:a16="http://schemas.microsoft.com/office/drawing/2014/main" id="{1DF72ACE-7F92-489A-BBDB-3467FF5B73B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577" y="2986089"/>
            <a:ext cx="7143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2" name="Object 2">
            <a:extLst>
              <a:ext uri="{FF2B5EF4-FFF2-40B4-BE49-F238E27FC236}">
                <a16:creationId xmlns="" xmlns:a16="http://schemas.microsoft.com/office/drawing/2014/main" id="{2A5D3E15-DBBA-4026-BBFE-AB0ED200C5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478533"/>
              </p:ext>
            </p:extLst>
          </p:nvPr>
        </p:nvGraphicFramePr>
        <p:xfrm>
          <a:off x="2799344" y="5248092"/>
          <a:ext cx="5184577" cy="11361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82" name="Equation" r:id="rId13" imgW="4114800" imgH="901440" progId="Equation.DSMT4">
                  <p:embed/>
                </p:oleObj>
              </mc:Choice>
              <mc:Fallback>
                <p:oleObj name="Equation" r:id="rId13" imgW="4114800" imgH="9014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9344" y="5248092"/>
                        <a:ext cx="5184577" cy="11361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>
            <a:extLst>
              <a:ext uri="{FF2B5EF4-FFF2-40B4-BE49-F238E27FC236}">
                <a16:creationId xmlns="" xmlns:a16="http://schemas.microsoft.com/office/drawing/2014/main" id="{BF1DEB7B-D659-488C-AD7C-794D5B035C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603507"/>
              </p:ext>
            </p:extLst>
          </p:nvPr>
        </p:nvGraphicFramePr>
        <p:xfrm>
          <a:off x="2799344" y="4003625"/>
          <a:ext cx="5184576" cy="1118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83" name="Equation" r:id="rId15" imgW="4178160" imgH="901440" progId="Equation.DSMT4">
                  <p:embed/>
                </p:oleObj>
              </mc:Choice>
              <mc:Fallback>
                <p:oleObj name="Equation" r:id="rId15" imgW="4178160" imgH="9014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9344" y="4003625"/>
                        <a:ext cx="5184576" cy="11188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图片 81" descr="Crystal_Clear_action_apply.png">
            <a:extLst>
              <a:ext uri="{FF2B5EF4-FFF2-40B4-BE49-F238E27FC236}">
                <a16:creationId xmlns="" xmlns:a16="http://schemas.microsoft.com/office/drawing/2014/main" id="{607E70ED-3B97-4C03-9EA3-DF564EE9373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969" y="5505453"/>
            <a:ext cx="7143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图片 81" descr="Crystal_Clear_action_apply.png">
            <a:extLst>
              <a:ext uri="{FF2B5EF4-FFF2-40B4-BE49-F238E27FC236}">
                <a16:creationId xmlns="" xmlns:a16="http://schemas.microsoft.com/office/drawing/2014/main" id="{982351FE-0B53-4BB1-A21E-D2922EA7F7F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4577" y="4245771"/>
            <a:ext cx="7143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 Box 16">
            <a:extLst>
              <a:ext uri="{FF2B5EF4-FFF2-40B4-BE49-F238E27FC236}">
                <a16:creationId xmlns="" xmlns:a16="http://schemas.microsoft.com/office/drawing/2014/main" id="{5967553F-76DC-4DE1-96AE-C8CF4D824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029" y="1041845"/>
            <a:ext cx="1430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F8FF8FBA-2E0B-460C-86CA-9C0AEAF66929}"/>
              </a:ext>
            </a:extLst>
          </p:cNvPr>
          <p:cNvSpPr txBox="1"/>
          <p:nvPr/>
        </p:nvSpPr>
        <p:spPr>
          <a:xfrm>
            <a:off x="2912568" y="1952525"/>
            <a:ext cx="56316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验证：</a:t>
            </a:r>
            <a:r>
              <a:rPr lang="en-US" altLang="zh-CN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是否均是</a:t>
            </a:r>
            <a:r>
              <a:rPr lang="en-US" altLang="zh-CN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的逆矩阵。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9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>
            <a:extLst>
              <a:ext uri="{FF2B5EF4-FFF2-40B4-BE49-F238E27FC236}">
                <a16:creationId xmlns="" xmlns:a16="http://schemas.microsoft.com/office/drawing/2014/main" id="{8BFBA6D7-BDF5-4923-B920-685014DCE6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384202"/>
              </p:ext>
            </p:extLst>
          </p:nvPr>
        </p:nvGraphicFramePr>
        <p:xfrm>
          <a:off x="2855641" y="1876357"/>
          <a:ext cx="2428227" cy="1378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9" name="Equation" r:id="rId4" imgW="1587240" imgH="901440" progId="Equation.DSMT4">
                  <p:embed/>
                </p:oleObj>
              </mc:Choice>
              <mc:Fallback>
                <p:oleObj name="Equation" r:id="rId4" imgW="1587240" imgH="90144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641" y="1876357"/>
                        <a:ext cx="2428227" cy="13781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="" xmlns:a16="http://schemas.microsoft.com/office/drawing/2014/main" id="{964A4595-2CCE-44CF-90F3-005195D02A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627424"/>
              </p:ext>
            </p:extLst>
          </p:nvPr>
        </p:nvGraphicFramePr>
        <p:xfrm>
          <a:off x="2821116" y="3703690"/>
          <a:ext cx="3604028" cy="1102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" name="Equation" r:id="rId6" imgW="2984400" imgH="914400" progId="Equation.DSMT4">
                  <p:embed/>
                </p:oleObj>
              </mc:Choice>
              <mc:Fallback>
                <p:oleObj name="Equation" r:id="rId6" imgW="2984400" imgH="9144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1116" y="3703690"/>
                        <a:ext cx="3604028" cy="11020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="" xmlns:a16="http://schemas.microsoft.com/office/drawing/2014/main" id="{3F90BFE8-63B7-466A-8E8A-1FB316CE67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152729"/>
              </p:ext>
            </p:extLst>
          </p:nvPr>
        </p:nvGraphicFramePr>
        <p:xfrm>
          <a:off x="3409462" y="5048350"/>
          <a:ext cx="1840752" cy="122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1" name="Equation" r:id="rId8" imgW="1371600" imgH="914400" progId="Equation.DSMT4">
                  <p:embed/>
                </p:oleObj>
              </mc:Choice>
              <mc:Fallback>
                <p:oleObj name="Equation" r:id="rId8" imgW="1371600" imgH="9144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9462" y="5048350"/>
                        <a:ext cx="1840752" cy="12260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="" xmlns:a16="http://schemas.microsoft.com/office/drawing/2014/main" id="{F36DCF13-D9B2-4E41-AD1A-FAD4F81B6E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808966"/>
              </p:ext>
            </p:extLst>
          </p:nvPr>
        </p:nvGraphicFramePr>
        <p:xfrm>
          <a:off x="7348538" y="5435293"/>
          <a:ext cx="1566239" cy="452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2" name="Equation" r:id="rId10" imgW="1231560" imgH="355320" progId="Equation.DSMT4">
                  <p:embed/>
                </p:oleObj>
              </mc:Choice>
              <mc:Fallback>
                <p:oleObj name="Equation" r:id="rId10" imgW="1231560" imgH="355320" progId="Equation.DSMT4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8538" y="5435293"/>
                        <a:ext cx="1566239" cy="452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="" xmlns:a16="http://schemas.microsoft.com/office/drawing/2014/main" id="{F9AC46FC-3CC3-47B6-AD1D-3D40962764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41590"/>
              </p:ext>
            </p:extLst>
          </p:nvPr>
        </p:nvGraphicFramePr>
        <p:xfrm>
          <a:off x="5375920" y="5048350"/>
          <a:ext cx="1778254" cy="1226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3" name="Equation" r:id="rId12" imgW="1307880" imgH="901440" progId="Equation.DSMT4">
                  <p:embed/>
                </p:oleObj>
              </mc:Choice>
              <mc:Fallback>
                <p:oleObj name="Equation" r:id="rId12" imgW="1307880" imgH="901440" progId="Equation.DSMT4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920" y="5048350"/>
                        <a:ext cx="1778254" cy="12260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="" xmlns:a16="http://schemas.microsoft.com/office/drawing/2014/main" id="{CC87549B-3325-4401-A459-6D7E2F5D42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8243843"/>
              </p:ext>
            </p:extLst>
          </p:nvPr>
        </p:nvGraphicFramePr>
        <p:xfrm>
          <a:off x="5507043" y="1963445"/>
          <a:ext cx="3682991" cy="1203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4" name="Equation" r:id="rId14" imgW="2793960" imgH="914400" progId="Equation.DSMT4">
                  <p:embed/>
                </p:oleObj>
              </mc:Choice>
              <mc:Fallback>
                <p:oleObj name="Equation" r:id="rId14" imgW="2793960" imgH="9144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043" y="1963445"/>
                        <a:ext cx="3682991" cy="1203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85385DD7-134B-461C-BB5D-62B4B197F1A5}"/>
              </a:ext>
            </a:extLst>
          </p:cNvPr>
          <p:cNvSpPr/>
          <p:nvPr/>
        </p:nvSpPr>
        <p:spPr>
          <a:xfrm>
            <a:off x="4255159" y="895420"/>
            <a:ext cx="378661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问题：</a:t>
            </a:r>
            <a:r>
              <a:rPr lang="zh-CN" altLang="en-US" sz="4000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存在性？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19B6B633-3274-494D-B3E6-5FBAF66A5C81}"/>
              </a:ext>
            </a:extLst>
          </p:cNvPr>
          <p:cNvSpPr/>
          <p:nvPr/>
        </p:nvSpPr>
        <p:spPr>
          <a:xfrm>
            <a:off x="2495601" y="2114357"/>
            <a:ext cx="7560997" cy="1766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zh-CN" altLang="en-US" sz="32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若 </a:t>
            </a:r>
            <a:r>
              <a:rPr lang="en-US" altLang="zh-CN" sz="3200" kern="0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B </a:t>
            </a:r>
            <a:r>
              <a:rPr lang="zh-CN" altLang="en-US" sz="3200" kern="0" dirty="0">
                <a:solidFill>
                  <a:srgbClr val="FFC000"/>
                </a:solidFill>
                <a:latin typeface="+mn-lt"/>
                <a:ea typeface="华文楷体" panose="02010600040101010101" pitchFamily="2" charset="-122"/>
              </a:rPr>
              <a:t>和 </a:t>
            </a:r>
            <a:r>
              <a:rPr lang="en-US" altLang="zh-CN" sz="3200" kern="0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C </a:t>
            </a:r>
            <a:r>
              <a:rPr lang="zh-CN" altLang="en-US" sz="3200" kern="0" dirty="0">
                <a:solidFill>
                  <a:srgbClr val="FFC000"/>
                </a:solidFill>
                <a:latin typeface="+mn-lt"/>
                <a:ea typeface="华文楷体" panose="02010600040101010101" pitchFamily="2" charset="-122"/>
              </a:rPr>
              <a:t>是 </a:t>
            </a:r>
            <a:r>
              <a:rPr lang="en-US" altLang="zh-CN" sz="3200" kern="0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A </a:t>
            </a:r>
            <a:r>
              <a:rPr lang="zh-CN" altLang="en-US" sz="3200" kern="0" dirty="0">
                <a:solidFill>
                  <a:srgbClr val="FFC000"/>
                </a:solidFill>
                <a:latin typeface="+mn-lt"/>
                <a:ea typeface="华文楷体" panose="02010600040101010101" pitchFamily="2" charset="-122"/>
              </a:rPr>
              <a:t>的逆矩阵</a:t>
            </a:r>
            <a:r>
              <a:rPr lang="en-US" altLang="zh-CN" sz="3200" kern="0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, </a:t>
            </a:r>
            <a:r>
              <a:rPr lang="zh-CN" altLang="en-US" sz="3200" kern="0" dirty="0">
                <a:solidFill>
                  <a:srgbClr val="FFC000"/>
                </a:solidFill>
                <a:latin typeface="+mn-lt"/>
                <a:ea typeface="华文楷体" panose="02010600040101010101" pitchFamily="2" charset="-122"/>
              </a:rPr>
              <a:t>即均满足</a:t>
            </a:r>
            <a:endParaRPr lang="en-US" altLang="zh-CN" sz="3200" kern="0" dirty="0">
              <a:solidFill>
                <a:srgbClr val="FFC000"/>
              </a:solidFill>
              <a:latin typeface="+mn-lt"/>
              <a:ea typeface="华文楷体" panose="02010600040101010101" pitchFamily="2" charset="-122"/>
            </a:endParaRPr>
          </a:p>
          <a:p>
            <a:pPr algn="ctr">
              <a:spcBef>
                <a:spcPct val="20000"/>
              </a:spcBef>
              <a:defRPr/>
            </a:pPr>
            <a:r>
              <a:rPr lang="en-US" altLang="zh-CN" sz="3200" kern="0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 AB = BA = E, AC = CA = E, </a:t>
            </a:r>
          </a:p>
          <a:p>
            <a:pPr>
              <a:spcBef>
                <a:spcPct val="20000"/>
              </a:spcBef>
              <a:defRPr/>
            </a:pPr>
            <a:r>
              <a:rPr lang="zh-CN" altLang="en-US" sz="3200" kern="0" dirty="0">
                <a:solidFill>
                  <a:srgbClr val="FFC000"/>
                </a:solidFill>
                <a:latin typeface="+mn-lt"/>
                <a:ea typeface="华文楷体" panose="02010600040101010101" pitchFamily="2" charset="-122"/>
              </a:rPr>
              <a:t>则 </a:t>
            </a:r>
            <a:r>
              <a:rPr lang="en-US" altLang="zh-CN" sz="3200" kern="0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B = BE = B(AC) = (BA)C = EC = C. </a:t>
            </a:r>
            <a:endParaRPr lang="zh-CN" altLang="en-US" sz="3200" kern="0" dirty="0">
              <a:solidFill>
                <a:schemeClr val="bg1"/>
              </a:solidFill>
              <a:latin typeface="+mn-lt"/>
              <a:ea typeface="华文楷体" panose="0201060004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="" xmlns:a16="http://schemas.microsoft.com/office/drawing/2014/main" id="{3096707B-936E-4770-8B6B-0158470C45BE}"/>
              </a:ext>
            </a:extLst>
          </p:cNvPr>
          <p:cNvSpPr/>
          <p:nvPr/>
        </p:nvSpPr>
        <p:spPr>
          <a:xfrm>
            <a:off x="2711467" y="895420"/>
            <a:ext cx="687399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问题：</a:t>
            </a:r>
            <a:r>
              <a:rPr lang="zh-CN" altLang="en-US" sz="4000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如果存在，是否唯一？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="" xmlns:a16="http://schemas.microsoft.com/office/drawing/2014/main" id="{AFE590B9-A017-4D1E-8683-E98677FB52D7}"/>
              </a:ext>
            </a:extLst>
          </p:cNvPr>
          <p:cNvSpPr/>
          <p:nvPr/>
        </p:nvSpPr>
        <p:spPr>
          <a:xfrm>
            <a:off x="2603720" y="4725144"/>
            <a:ext cx="6984560" cy="121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0" lang="zh-CN" altLang="en-US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定理</a:t>
            </a:r>
            <a:r>
              <a:rPr kumimoji="0" lang="en-US" altLang="zh-CN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kumimoji="0" lang="zh-CN" altLang="en-US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kumimoji="0" lang="zh-CN" altLang="en-US" kern="0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如果</a:t>
            </a:r>
            <a:r>
              <a:rPr kumimoji="0" lang="en-US" altLang="zh-CN" kern="0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n </a:t>
            </a:r>
            <a:r>
              <a:rPr kumimoji="0" lang="zh-CN" altLang="en-US" kern="0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阶方阵 </a:t>
            </a:r>
            <a:r>
              <a:rPr kumimoji="0" lang="en-US" altLang="zh-CN" kern="0" dirty="0">
                <a:solidFill>
                  <a:schemeClr val="bg1"/>
                </a:solidFill>
                <a:latin typeface="+mn-lt"/>
                <a:ea typeface="华文楷体" panose="02010600040101010101" pitchFamily="2" charset="-122"/>
              </a:rPr>
              <a:t>A </a:t>
            </a:r>
            <a:r>
              <a:rPr kumimoji="0" lang="zh-CN" altLang="en-US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可逆， 则它的</a:t>
            </a:r>
            <a:endParaRPr kumimoji="0" lang="en-US" altLang="zh-CN" kern="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defRPr/>
            </a:pPr>
            <a:r>
              <a:rPr kumimoji="0" lang="zh-CN" altLang="en-US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kumimoji="0" lang="zh-CN" altLang="en-US" kern="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kumimoji="0" lang="zh-CN" altLang="en-US" kern="0" dirty="0" smtClean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逆</a:t>
            </a:r>
            <a:r>
              <a:rPr kumimoji="0" lang="zh-CN" altLang="en-US" kern="0" dirty="0">
                <a:solidFill>
                  <a:srgbClr val="00B05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矩阵是唯一的</a:t>
            </a:r>
            <a:r>
              <a:rPr kumimoji="0" lang="zh-CN" altLang="en-US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8">
            <a:extLst>
              <a:ext uri="{FF2B5EF4-FFF2-40B4-BE49-F238E27FC236}">
                <a16:creationId xmlns="" xmlns:a16="http://schemas.microsoft.com/office/drawing/2014/main" id="{05ECE6D6-765F-4327-A7C9-9401918C9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6329" y="2708920"/>
            <a:ext cx="626427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如何判定存在矩阵是否可逆？</a:t>
            </a:r>
            <a:endParaRPr lang="en-US" altLang="zh-CN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>
              <a:lnSpc>
                <a:spcPct val="150000"/>
              </a:lnSpc>
              <a:buClr>
                <a:srgbClr val="FF0000"/>
              </a:buClr>
            </a:pPr>
            <a:endParaRPr lang="zh-CN" altLang="en-US" sz="32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>
              <a:lnSpc>
                <a:spcPct val="150000"/>
              </a:lnSpc>
              <a:buClr>
                <a:srgbClr val="FF0000"/>
              </a:buClr>
            </a:pPr>
            <a:r>
              <a:rPr lang="zh-CN" altLang="en-US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如何求？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C62098DD-F7C7-44E1-B37B-872AC67343ED}"/>
              </a:ext>
            </a:extLst>
          </p:cNvPr>
          <p:cNvSpPr/>
          <p:nvPr/>
        </p:nvSpPr>
        <p:spPr>
          <a:xfrm>
            <a:off x="5541569" y="895420"/>
            <a:ext cx="12137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问题</a:t>
            </a:r>
            <a:endParaRPr lang="zh-CN" altLang="en-US" sz="4000" kern="0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F4F9117-3125-4A8C-9F45-9BD0C8E9C136}"/>
              </a:ext>
            </a:extLst>
          </p:cNvPr>
          <p:cNvSpPr txBox="1">
            <a:spLocks noChangeArrowheads="1"/>
          </p:cNvSpPr>
          <p:nvPr/>
        </p:nvSpPr>
        <p:spPr>
          <a:xfrm>
            <a:off x="2027238" y="1519238"/>
            <a:ext cx="6934200" cy="9144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kumimoji="0" lang="zh-CN" altLang="en-US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定理</a:t>
            </a:r>
            <a:r>
              <a:rPr kumimoji="0" lang="en-US" altLang="zh-CN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2</a:t>
            </a:r>
            <a:r>
              <a:rPr kumimoji="0" lang="zh-CN" altLang="en-US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  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kumimoji="0" lang="zh-CN" altLang="en-US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rPr>
              <a:t>是可逆方阵的充分必要条件是          </a:t>
            </a:r>
          </a:p>
        </p:txBody>
      </p:sp>
      <p:grpSp>
        <p:nvGrpSpPr>
          <p:cNvPr id="4" name="Group 50">
            <a:extLst>
              <a:ext uri="{FF2B5EF4-FFF2-40B4-BE49-F238E27FC236}">
                <a16:creationId xmlns="" xmlns:a16="http://schemas.microsoft.com/office/drawing/2014/main" id="{93185C8C-30E7-44A4-8CCC-4BDAD7A3DCDD}"/>
              </a:ext>
            </a:extLst>
          </p:cNvPr>
          <p:cNvGrpSpPr>
            <a:grpSpLocks/>
          </p:cNvGrpSpPr>
          <p:nvPr/>
        </p:nvGrpSpPr>
        <p:grpSpPr bwMode="auto">
          <a:xfrm>
            <a:off x="3236119" y="4691204"/>
            <a:ext cx="4467226" cy="523876"/>
            <a:chOff x="240" y="1482"/>
            <a:chExt cx="2814" cy="330"/>
          </a:xfrm>
        </p:grpSpPr>
        <p:sp>
          <p:nvSpPr>
            <p:cNvPr id="17418" name="Text Box 8">
              <a:extLst>
                <a:ext uri="{FF2B5EF4-FFF2-40B4-BE49-F238E27FC236}">
                  <a16:creationId xmlns="" xmlns:a16="http://schemas.microsoft.com/office/drawing/2014/main" id="{66B63282-537B-4FE9-8CCC-CECD0EE5A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482"/>
              <a:ext cx="281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其中   </a:t>
              </a:r>
              <a:r>
                <a:rPr lang="zh-CN" altLang="en-US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 是</a:t>
              </a:r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方阵</a:t>
              </a:r>
              <a:r>
                <a:rPr lang="en-US" altLang="zh-CN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A</a:t>
              </a:r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的伴随阵。</a:t>
              </a:r>
            </a:p>
          </p:txBody>
        </p:sp>
        <p:graphicFrame>
          <p:nvGraphicFramePr>
            <p:cNvPr id="17419" name="Object 10">
              <a:extLst>
                <a:ext uri="{FF2B5EF4-FFF2-40B4-BE49-F238E27FC236}">
                  <a16:creationId xmlns="" xmlns:a16="http://schemas.microsoft.com/office/drawing/2014/main" id="{CEA83EFB-0E65-4A22-8D89-56762EE002E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0063484"/>
                </p:ext>
              </p:extLst>
            </p:nvPr>
          </p:nvGraphicFramePr>
          <p:xfrm>
            <a:off x="726" y="1482"/>
            <a:ext cx="333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6" name="Equation" r:id="rId3" imgW="190440" imgH="190440" progId="Equation.DSMT4">
                    <p:embed/>
                  </p:oleObj>
                </mc:Choice>
                <mc:Fallback>
                  <p:oleObj name="Equation" r:id="rId3" imgW="190440" imgH="19044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6" y="1482"/>
                          <a:ext cx="333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36">
            <a:extLst>
              <a:ext uri="{FF2B5EF4-FFF2-40B4-BE49-F238E27FC236}">
                <a16:creationId xmlns="" xmlns:a16="http://schemas.microsoft.com/office/drawing/2014/main" id="{02CA38B9-9B13-4737-A578-3C0C013AE2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506385"/>
              </p:ext>
            </p:extLst>
          </p:nvPr>
        </p:nvGraphicFramePr>
        <p:xfrm>
          <a:off x="4727848" y="3055143"/>
          <a:ext cx="1914054" cy="1098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87" name="Equation" r:id="rId5" imgW="761760" imgH="444240" progId="Equation.DSMT4">
                  <p:embed/>
                </p:oleObj>
              </mc:Choice>
              <mc:Fallback>
                <p:oleObj name="Equation" r:id="rId5" imgW="761760" imgH="44424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7848" y="3055143"/>
                        <a:ext cx="1914054" cy="10988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9">
            <a:extLst>
              <a:ext uri="{FF2B5EF4-FFF2-40B4-BE49-F238E27FC236}">
                <a16:creationId xmlns="" xmlns:a16="http://schemas.microsoft.com/office/drawing/2014/main" id="{F6637CAB-2E26-4616-9FE5-85D042F14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9606" y="2140743"/>
            <a:ext cx="312136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而且当 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 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可逆时，</a:t>
            </a:r>
          </a:p>
        </p:txBody>
      </p:sp>
      <p:graphicFrame>
        <p:nvGraphicFramePr>
          <p:cNvPr id="9" name="Object 38">
            <a:extLst>
              <a:ext uri="{FF2B5EF4-FFF2-40B4-BE49-F238E27FC236}">
                <a16:creationId xmlns="" xmlns:a16="http://schemas.microsoft.com/office/drawing/2014/main" id="{0D6B01EA-D3B1-464A-B0E9-A88705B29F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0169934"/>
              </p:ext>
            </p:extLst>
          </p:nvPr>
        </p:nvGraphicFramePr>
        <p:xfrm>
          <a:off x="8197330" y="1484785"/>
          <a:ext cx="1528217" cy="7021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88" name="Equation" r:id="rId7" imgW="469800" imgH="253800" progId="Equation.DSMT4">
                  <p:embed/>
                </p:oleObj>
              </mc:Choice>
              <mc:Fallback>
                <p:oleObj name="Equation" r:id="rId7" imgW="469800" imgH="2538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7330" y="1484785"/>
                        <a:ext cx="1528217" cy="7021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49">
            <a:extLst>
              <a:ext uri="{FF2B5EF4-FFF2-40B4-BE49-F238E27FC236}">
                <a16:creationId xmlns="" xmlns:a16="http://schemas.microsoft.com/office/drawing/2014/main" id="{F4AEBD87-2FE6-4390-A49E-402605A16B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816" y="2997696"/>
            <a:ext cx="2440428" cy="129540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9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4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utoUpdateAnimBg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="" xmlns:a16="http://schemas.microsoft.com/office/drawing/2014/main" id="{0D027DD8-E090-4E77-B317-F9032357F8F9}"/>
              </a:ext>
            </a:extLst>
          </p:cNvPr>
          <p:cNvSpPr txBox="1">
            <a:spLocks/>
          </p:cNvSpPr>
          <p:nvPr/>
        </p:nvSpPr>
        <p:spPr bwMode="auto">
          <a:xfrm>
            <a:off x="10090151" y="7115175"/>
            <a:ext cx="684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fld id="{27B55A8F-015C-4FB8-A71B-7440EBD1A605}" type="slidenum">
              <a:rPr lang="en-US" altLang="zh-CN" sz="180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pPr eaLnBrk="1" hangingPunct="1"/>
              <a:t>14</a:t>
            </a:fld>
            <a:r>
              <a:rPr lang="en-US" altLang="zh-CN" sz="1800"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</a:p>
        </p:txBody>
      </p:sp>
      <p:graphicFrame>
        <p:nvGraphicFramePr>
          <p:cNvPr id="4" name="Object 2">
            <a:extLst>
              <a:ext uri="{FF2B5EF4-FFF2-40B4-BE49-F238E27FC236}">
                <a16:creationId xmlns="" xmlns:a16="http://schemas.microsoft.com/office/drawing/2014/main" id="{241568B3-A66A-45B7-96BE-93A59EAFE6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65586"/>
              </p:ext>
            </p:extLst>
          </p:nvPr>
        </p:nvGraphicFramePr>
        <p:xfrm>
          <a:off x="3503712" y="4238997"/>
          <a:ext cx="4803137" cy="718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14" name="Equation" r:id="rId4" imgW="2971800" imgH="444240" progId="Equation.DSMT4">
                  <p:embed/>
                </p:oleObj>
              </mc:Choice>
              <mc:Fallback>
                <p:oleObj name="Equation" r:id="rId4" imgW="2971800" imgH="4442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4238997"/>
                        <a:ext cx="4803137" cy="7184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2">
            <a:extLst>
              <a:ext uri="{FF2B5EF4-FFF2-40B4-BE49-F238E27FC236}">
                <a16:creationId xmlns="" xmlns:a16="http://schemas.microsoft.com/office/drawing/2014/main" id="{A2212AE4-5AD9-432F-9D91-B49097E0BB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877215"/>
              </p:ext>
            </p:extLst>
          </p:nvPr>
        </p:nvGraphicFramePr>
        <p:xfrm>
          <a:off x="3503712" y="1481239"/>
          <a:ext cx="4305665" cy="8812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15" name="Equation" r:id="rId6" imgW="2171520" imgH="444240" progId="Equation.DSMT4">
                  <p:embed/>
                </p:oleObj>
              </mc:Choice>
              <mc:Fallback>
                <p:oleObj name="Equation" r:id="rId6" imgW="2171520" imgH="4442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1481239"/>
                        <a:ext cx="4305665" cy="8812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245517" y="2930869"/>
            <a:ext cx="8186740" cy="611514"/>
            <a:chOff x="2013716" y="2564905"/>
            <a:chExt cx="7738272" cy="409577"/>
          </a:xfrm>
        </p:grpSpPr>
        <p:grpSp>
          <p:nvGrpSpPr>
            <p:cNvPr id="5" name="Group 3">
              <a:extLst>
                <a:ext uri="{FF2B5EF4-FFF2-40B4-BE49-F238E27FC236}">
                  <a16:creationId xmlns="" xmlns:a16="http://schemas.microsoft.com/office/drawing/2014/main" id="{0BEFCA48-A670-47B2-80E8-139F1CB9B6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7688" y="2572844"/>
              <a:ext cx="6464300" cy="401638"/>
              <a:chOff x="1066" y="653"/>
              <a:chExt cx="3402" cy="253"/>
            </a:xfrm>
          </p:grpSpPr>
          <p:sp>
            <p:nvSpPr>
              <p:cNvPr id="18447" name="Rectangle 4">
                <a:extLst>
                  <a:ext uri="{FF2B5EF4-FFF2-40B4-BE49-F238E27FC236}">
                    <a16:creationId xmlns="" xmlns:a16="http://schemas.microsoft.com/office/drawing/2014/main" id="{683F75B5-57B3-49E6-B6C8-3A1C8D15D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" y="653"/>
                <a:ext cx="3402" cy="2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zh-CN" altLang="en-US" sz="3300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         </a:t>
                </a:r>
                <a:r>
                  <a:rPr lang="zh-CN" altLang="en-US" sz="3300" dirty="0" smtClean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</a:t>
                </a:r>
                <a:r>
                  <a:rPr lang="en-US" altLang="zh-CN" sz="3300" dirty="0" smtClean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  </a:t>
                </a:r>
                <a:r>
                  <a:rPr lang="zh-CN" altLang="en-US" sz="3300" dirty="0" smtClean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由</a:t>
                </a:r>
                <a:r>
                  <a:rPr lang="zh-CN" altLang="en-US" sz="3300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行列式乘法定理</a:t>
                </a:r>
              </a:p>
            </p:txBody>
          </p:sp>
          <p:graphicFrame>
            <p:nvGraphicFramePr>
              <p:cNvPr id="18448" name="Object 5">
                <a:extLst>
                  <a:ext uri="{FF2B5EF4-FFF2-40B4-BE49-F238E27FC236}">
                    <a16:creationId xmlns="" xmlns:a16="http://schemas.microsoft.com/office/drawing/2014/main" id="{907E42FE-E4B4-4BF4-A96D-D63FF51CB3E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3957983"/>
                  </p:ext>
                </p:extLst>
              </p:nvPr>
            </p:nvGraphicFramePr>
            <p:xfrm>
              <a:off x="1398" y="674"/>
              <a:ext cx="753" cy="2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916" name="Equation" r:id="rId8" imgW="990360" imgH="279360" progId="Equation.DSMT4">
                      <p:embed/>
                    </p:oleObj>
                  </mc:Choice>
                  <mc:Fallback>
                    <p:oleObj name="Equation" r:id="rId8" imgW="990360" imgH="279360" progId="Equation.DSMT4">
                      <p:embed/>
                      <p:pic>
                        <p:nvPicPr>
                          <p:cNvPr id="0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98" y="674"/>
                            <a:ext cx="753" cy="21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440" name="Text Box 14">
              <a:extLst>
                <a:ext uri="{FF2B5EF4-FFF2-40B4-BE49-F238E27FC236}">
                  <a16:creationId xmlns="" xmlns:a16="http://schemas.microsoft.com/office/drawing/2014/main" id="{99CEEC6A-0568-4A70-9A73-3F3724817D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3716" y="2564905"/>
              <a:ext cx="541337" cy="401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sz="33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证</a:t>
              </a:r>
            </a:p>
          </p:txBody>
        </p:sp>
        <p:graphicFrame>
          <p:nvGraphicFramePr>
            <p:cNvPr id="10" name="Object 16">
              <a:extLst>
                <a:ext uri="{FF2B5EF4-FFF2-40B4-BE49-F238E27FC236}">
                  <a16:creationId xmlns="" xmlns:a16="http://schemas.microsoft.com/office/drawing/2014/main" id="{E479EB1F-A389-4072-A545-F4413CF2FBD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0999015"/>
                </p:ext>
              </p:extLst>
            </p:nvPr>
          </p:nvGraphicFramePr>
          <p:xfrm>
            <a:off x="2656482" y="2586589"/>
            <a:ext cx="558800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917" name="Equation" r:id="rId10" imgW="558720" imgH="355320" progId="Equation.DSMT4">
                    <p:embed/>
                  </p:oleObj>
                </mc:Choice>
                <mc:Fallback>
                  <p:oleObj name="Equation" r:id="rId10" imgW="558720" imgH="3553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56482" y="2586589"/>
                          <a:ext cx="558800" cy="355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7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6">
            <a:extLst>
              <a:ext uri="{FF2B5EF4-FFF2-40B4-BE49-F238E27FC236}">
                <a16:creationId xmlns="" xmlns:a16="http://schemas.microsoft.com/office/drawing/2014/main" id="{E479EB1F-A389-4072-A545-F4413CF2FB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112035"/>
              </p:ext>
            </p:extLst>
          </p:nvPr>
        </p:nvGraphicFramePr>
        <p:xfrm>
          <a:off x="2430799" y="5144294"/>
          <a:ext cx="464096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9" name="Equation" r:id="rId3" imgW="558720" imgH="355320" progId="Equation.DSMT4">
                  <p:embed/>
                </p:oleObj>
              </mc:Choice>
              <mc:Fallback>
                <p:oleObj name="Equation" r:id="rId3" imgW="558720" imgH="35532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799" y="5144294"/>
                        <a:ext cx="464096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7">
            <a:extLst>
              <a:ext uri="{FF2B5EF4-FFF2-40B4-BE49-F238E27FC236}">
                <a16:creationId xmlns="" xmlns:a16="http://schemas.microsoft.com/office/drawing/2014/main" id="{81A94F2D-0C8A-49D6-AFF9-3C095A55893C}"/>
              </a:ext>
            </a:extLst>
          </p:cNvPr>
          <p:cNvGrpSpPr>
            <a:grpSpLocks/>
          </p:cNvGrpSpPr>
          <p:nvPr/>
        </p:nvGrpSpPr>
        <p:grpSpPr bwMode="auto">
          <a:xfrm>
            <a:off x="3071813" y="4873625"/>
            <a:ext cx="6119813" cy="896938"/>
            <a:chOff x="1111" y="1626"/>
            <a:chExt cx="3855" cy="565"/>
          </a:xfrm>
        </p:grpSpPr>
        <p:sp>
          <p:nvSpPr>
            <p:cNvPr id="19470" name="Text Box 29">
              <a:extLst>
                <a:ext uri="{FF2B5EF4-FFF2-40B4-BE49-F238E27FC236}">
                  <a16:creationId xmlns="" xmlns:a16="http://schemas.microsoft.com/office/drawing/2014/main" id="{21CF3420-B51A-4A4B-BE18-83A86C0083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1703"/>
              <a:ext cx="226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设                 </a:t>
              </a:r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由</a:t>
              </a:r>
            </a:p>
          </p:txBody>
        </p:sp>
        <p:graphicFrame>
          <p:nvGraphicFramePr>
            <p:cNvPr id="19471" name="Object 31">
              <a:extLst>
                <a:ext uri="{FF2B5EF4-FFF2-40B4-BE49-F238E27FC236}">
                  <a16:creationId xmlns="" xmlns:a16="http://schemas.microsoft.com/office/drawing/2014/main" id="{1069A254-0FD6-481A-A09F-E2C3101740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7755637"/>
                </p:ext>
              </p:extLst>
            </p:nvPr>
          </p:nvGraphicFramePr>
          <p:xfrm>
            <a:off x="2628" y="1626"/>
            <a:ext cx="2338" cy="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20" name="Equation" r:id="rId5" imgW="3225600" imgH="863280" progId="Equation.DSMT4">
                    <p:embed/>
                  </p:oleObj>
                </mc:Choice>
                <mc:Fallback>
                  <p:oleObj name="Equation" r:id="rId5" imgW="3225600" imgH="86328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8" y="1626"/>
                          <a:ext cx="2338" cy="5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2">
            <a:extLst>
              <a:ext uri="{FF2B5EF4-FFF2-40B4-BE49-F238E27FC236}">
                <a16:creationId xmlns="" xmlns:a16="http://schemas.microsoft.com/office/drawing/2014/main" id="{02039E98-19A8-4A47-82F2-55ACC9C6FF9E}"/>
              </a:ext>
            </a:extLst>
          </p:cNvPr>
          <p:cNvGrpSpPr>
            <a:grpSpLocks/>
          </p:cNvGrpSpPr>
          <p:nvPr/>
        </p:nvGrpSpPr>
        <p:grpSpPr bwMode="auto">
          <a:xfrm>
            <a:off x="3000375" y="5683250"/>
            <a:ext cx="2536826" cy="1136649"/>
            <a:chOff x="1179" y="2079"/>
            <a:chExt cx="1598" cy="716"/>
          </a:xfrm>
        </p:grpSpPr>
        <p:graphicFrame>
          <p:nvGraphicFramePr>
            <p:cNvPr id="19468" name="Object 33">
              <a:extLst>
                <a:ext uri="{FF2B5EF4-FFF2-40B4-BE49-F238E27FC236}">
                  <a16:creationId xmlns="" xmlns:a16="http://schemas.microsoft.com/office/drawing/2014/main" id="{62B324FF-D988-4497-B174-869172A19EA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69475786"/>
                </p:ext>
              </p:extLst>
            </p:nvPr>
          </p:nvGraphicFramePr>
          <p:xfrm>
            <a:off x="1545" y="2079"/>
            <a:ext cx="1232" cy="7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21" name="Equation" r:id="rId7" imgW="1485720" imgH="863280" progId="Equation.DSMT4">
                    <p:embed/>
                  </p:oleObj>
                </mc:Choice>
                <mc:Fallback>
                  <p:oleObj name="Equation" r:id="rId7" imgW="1485720" imgH="863280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5" y="2079"/>
                          <a:ext cx="1232" cy="7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9" name="Text Box 34">
              <a:extLst>
                <a:ext uri="{FF2B5EF4-FFF2-40B4-BE49-F238E27FC236}">
                  <a16:creationId xmlns="" xmlns:a16="http://schemas.microsoft.com/office/drawing/2014/main" id="{90B0A6D1-523F-45A7-8DBC-341625B70C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9" y="2241"/>
              <a:ext cx="5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得</a:t>
              </a:r>
            </a:p>
          </p:txBody>
        </p:sp>
      </p:grpSp>
      <p:graphicFrame>
        <p:nvGraphicFramePr>
          <p:cNvPr id="10" name="Object 2">
            <a:extLst>
              <a:ext uri="{FF2B5EF4-FFF2-40B4-BE49-F238E27FC236}">
                <a16:creationId xmlns="" xmlns:a16="http://schemas.microsoft.com/office/drawing/2014/main" id="{7FACA581-B349-4969-AEAA-E01F76523B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157702"/>
              </p:ext>
            </p:extLst>
          </p:nvPr>
        </p:nvGraphicFramePr>
        <p:xfrm>
          <a:off x="3575720" y="1709738"/>
          <a:ext cx="4095458" cy="2245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22" name="Equation" r:id="rId9" imgW="1701720" imgH="939600" progId="Equation.DSMT4">
                  <p:embed/>
                </p:oleObj>
              </mc:Choice>
              <mc:Fallback>
                <p:oleObj name="Equation" r:id="rId9" imgW="1701720" imgH="939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720" y="1709738"/>
                        <a:ext cx="4095458" cy="2245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3">
            <a:extLst>
              <a:ext uri="{FF2B5EF4-FFF2-40B4-BE49-F238E27FC236}">
                <a16:creationId xmlns="" xmlns:a16="http://schemas.microsoft.com/office/drawing/2014/main" id="{8D129EB1-97D9-46F8-9A96-3FF02015D6DB}"/>
              </a:ext>
            </a:extLst>
          </p:cNvPr>
          <p:cNvGrpSpPr>
            <a:grpSpLocks/>
          </p:cNvGrpSpPr>
          <p:nvPr/>
        </p:nvGrpSpPr>
        <p:grpSpPr bwMode="auto">
          <a:xfrm>
            <a:off x="2081214" y="881063"/>
            <a:ext cx="5903913" cy="641350"/>
            <a:chOff x="721" y="3591"/>
            <a:chExt cx="3719" cy="404"/>
          </a:xfrm>
        </p:grpSpPr>
        <p:sp>
          <p:nvSpPr>
            <p:cNvPr id="19466" name="Text Box 9">
              <a:extLst>
                <a:ext uri="{FF2B5EF4-FFF2-40B4-BE49-F238E27FC236}">
                  <a16:creationId xmlns="" xmlns:a16="http://schemas.microsoft.com/office/drawing/2014/main" id="{CC9F32C1-C4E9-4711-822C-1332D6A910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" y="3591"/>
              <a:ext cx="3719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矩阵  </a:t>
              </a:r>
              <a:r>
                <a:rPr lang="zh-CN" altLang="en-US" sz="3600" dirty="0" smtClean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 的</a:t>
              </a:r>
              <a:r>
                <a:rPr lang="zh-CN" altLang="en-US" sz="36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伴随矩阵</a:t>
              </a:r>
              <a:endParaRPr lang="en-US" altLang="zh-CN" sz="32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graphicFrame>
          <p:nvGraphicFramePr>
            <p:cNvPr id="19467" name="Object 10">
              <a:extLst>
                <a:ext uri="{FF2B5EF4-FFF2-40B4-BE49-F238E27FC236}">
                  <a16:creationId xmlns="" xmlns:a16="http://schemas.microsoft.com/office/drawing/2014/main" id="{504F9C35-1E6A-4818-B7D5-E4C85C32AB6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6794905"/>
                </p:ext>
              </p:extLst>
            </p:nvPr>
          </p:nvGraphicFramePr>
          <p:xfrm>
            <a:off x="1260" y="3608"/>
            <a:ext cx="493" cy="3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323" name="Equation" r:id="rId11" imgW="152280" imgH="164880" progId="Equation.DSMT4">
                    <p:embed/>
                  </p:oleObj>
                </mc:Choice>
                <mc:Fallback>
                  <p:oleObj name="Equation" r:id="rId11" imgW="152280" imgH="164880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0" y="3608"/>
                          <a:ext cx="493" cy="3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Object 4">
            <a:extLst>
              <a:ext uri="{FF2B5EF4-FFF2-40B4-BE49-F238E27FC236}">
                <a16:creationId xmlns="" xmlns:a16="http://schemas.microsoft.com/office/drawing/2014/main" id="{365559C5-DE97-4BCB-8FE8-CC370C562B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124290"/>
              </p:ext>
            </p:extLst>
          </p:nvPr>
        </p:nvGraphicFramePr>
        <p:xfrm>
          <a:off x="3578225" y="4035383"/>
          <a:ext cx="3600451" cy="7172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24" name="Equation" r:id="rId13" imgW="2286000" imgH="457200" progId="Equation.DSMT4">
                  <p:embed/>
                </p:oleObj>
              </mc:Choice>
              <mc:Fallback>
                <p:oleObj name="Equation" r:id="rId13" imgW="2286000" imgH="4572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225" y="4035383"/>
                        <a:ext cx="3600451" cy="7172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38">
            <a:extLst>
              <a:ext uri="{FF2B5EF4-FFF2-40B4-BE49-F238E27FC236}">
                <a16:creationId xmlns="" xmlns:a16="http://schemas.microsoft.com/office/drawing/2014/main" id="{7EC87AB1-254C-426C-8EB7-42D595CAA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3" y="2423741"/>
            <a:ext cx="21590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满足：</a:t>
            </a:r>
          </a:p>
        </p:txBody>
      </p:sp>
      <p:graphicFrame>
        <p:nvGraphicFramePr>
          <p:cNvPr id="16" name="对象 15">
            <a:extLst>
              <a:ext uri="{FF2B5EF4-FFF2-40B4-BE49-F238E27FC236}">
                <a16:creationId xmlns="" xmlns:a16="http://schemas.microsoft.com/office/drawing/2014/main" id="{2D239264-5340-4652-B278-E5E9E25CFE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570734"/>
              </p:ext>
            </p:extLst>
          </p:nvPr>
        </p:nvGraphicFramePr>
        <p:xfrm>
          <a:off x="3612172" y="4928395"/>
          <a:ext cx="1360487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25" name="Equation" r:id="rId15" imgW="431640" imgH="253800" progId="Equation.DSMT4">
                  <p:embed/>
                </p:oleObj>
              </mc:Choice>
              <mc:Fallback>
                <p:oleObj name="Equation" r:id="rId15" imgW="431640" imgH="2538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2172" y="4928395"/>
                        <a:ext cx="1360487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="" xmlns:a16="http://schemas.microsoft.com/office/drawing/2014/main" id="{2AC185A5-BF1F-473A-842C-EFE4CD8A9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0698" y="1571575"/>
            <a:ext cx="70375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</a:pP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这个定理给出了矩阵可逆的一个充要条件：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C19AD6B4-7790-4864-9C69-CF5A204CDAD4}"/>
              </a:ext>
            </a:extLst>
          </p:cNvPr>
          <p:cNvGrpSpPr>
            <a:grpSpLocks/>
          </p:cNvGrpSpPr>
          <p:nvPr/>
        </p:nvGrpSpPr>
        <p:grpSpPr bwMode="auto">
          <a:xfrm>
            <a:off x="4216401" y="2168526"/>
            <a:ext cx="1968500" cy="519112"/>
            <a:chOff x="1707" y="1399"/>
            <a:chExt cx="1240" cy="327"/>
          </a:xfrm>
        </p:grpSpPr>
        <p:sp>
          <p:nvSpPr>
            <p:cNvPr id="20506" name="Text Box 5">
              <a:extLst>
                <a:ext uri="{FF2B5EF4-FFF2-40B4-BE49-F238E27FC236}">
                  <a16:creationId xmlns="" xmlns:a16="http://schemas.microsoft.com/office/drawing/2014/main" id="{75E928C9-338E-4D87-B450-0F5F444B9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7" y="1399"/>
              <a:ext cx="12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矩阵    可逆</a:t>
              </a:r>
            </a:p>
          </p:txBody>
        </p:sp>
        <p:graphicFrame>
          <p:nvGraphicFramePr>
            <p:cNvPr id="20507" name="Object 6">
              <a:extLst>
                <a:ext uri="{FF2B5EF4-FFF2-40B4-BE49-F238E27FC236}">
                  <a16:creationId xmlns="" xmlns:a16="http://schemas.microsoft.com/office/drawing/2014/main" id="{C94FFF5D-DCAB-41B6-991B-FFFA30BAB9C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94777615"/>
                </p:ext>
              </p:extLst>
            </p:nvPr>
          </p:nvGraphicFramePr>
          <p:xfrm>
            <a:off x="2192" y="1424"/>
            <a:ext cx="238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38" name="Equation" r:id="rId4" imgW="253800" imgH="279360" progId="Equation.DSMT4">
                    <p:embed/>
                  </p:oleObj>
                </mc:Choice>
                <mc:Fallback>
                  <p:oleObj name="Equation" r:id="rId4" imgW="253800" imgH="27936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2" y="1424"/>
                          <a:ext cx="238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7">
            <a:extLst>
              <a:ext uri="{FF2B5EF4-FFF2-40B4-BE49-F238E27FC236}">
                <a16:creationId xmlns="" xmlns:a16="http://schemas.microsoft.com/office/drawing/2014/main" id="{7CA9C9DB-0A31-4C2E-A0FF-ED2B4A4AE8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7360344"/>
              </p:ext>
            </p:extLst>
          </p:nvPr>
        </p:nvGraphicFramePr>
        <p:xfrm>
          <a:off x="6155052" y="2153601"/>
          <a:ext cx="1630363" cy="602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39" name="Equation" r:id="rId6" imgW="1295280" imgH="444240" progId="Equation.DSMT4">
                  <p:embed/>
                </p:oleObj>
              </mc:Choice>
              <mc:Fallback>
                <p:oleObj name="Equation" r:id="rId6" imgW="1295280" imgH="4442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5052" y="2153601"/>
                        <a:ext cx="1630363" cy="6026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>
            <a:extLst>
              <a:ext uri="{FF2B5EF4-FFF2-40B4-BE49-F238E27FC236}">
                <a16:creationId xmlns="" xmlns:a16="http://schemas.microsoft.com/office/drawing/2014/main" id="{C4D2C177-A9F3-49FA-9782-578BBB165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851" y="2881021"/>
            <a:ext cx="60981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</a:pP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定理</a:t>
            </a:r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给出了计算逆矩阵的一个方法：</a:t>
            </a:r>
          </a:p>
        </p:txBody>
      </p:sp>
      <p:sp>
        <p:nvSpPr>
          <p:cNvPr id="20488" name="Text Box 10">
            <a:extLst>
              <a:ext uri="{FF2B5EF4-FFF2-40B4-BE49-F238E27FC236}">
                <a16:creationId xmlns="" xmlns:a16="http://schemas.microsoft.com/office/drawing/2014/main" id="{F71D8F3C-EBA4-49D4-9A05-CE6E5EC8C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3480" y="3321844"/>
            <a:ext cx="1433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）计算</a:t>
            </a:r>
          </a:p>
        </p:txBody>
      </p:sp>
      <p:grpSp>
        <p:nvGrpSpPr>
          <p:cNvPr id="11" name="Group 12">
            <a:extLst>
              <a:ext uri="{FF2B5EF4-FFF2-40B4-BE49-F238E27FC236}">
                <a16:creationId xmlns="" xmlns:a16="http://schemas.microsoft.com/office/drawing/2014/main" id="{0BFFEBC9-0688-479A-88B3-8C06CD5621F3}"/>
              </a:ext>
            </a:extLst>
          </p:cNvPr>
          <p:cNvGrpSpPr>
            <a:grpSpLocks/>
          </p:cNvGrpSpPr>
          <p:nvPr/>
        </p:nvGrpSpPr>
        <p:grpSpPr bwMode="auto">
          <a:xfrm>
            <a:off x="3673480" y="3788134"/>
            <a:ext cx="1971675" cy="550863"/>
            <a:chOff x="1344" y="2256"/>
            <a:chExt cx="1242" cy="347"/>
          </a:xfrm>
        </p:grpSpPr>
        <p:graphicFrame>
          <p:nvGraphicFramePr>
            <p:cNvPr id="20504" name="Object 13">
              <a:extLst>
                <a:ext uri="{FF2B5EF4-FFF2-40B4-BE49-F238E27FC236}">
                  <a16:creationId xmlns="" xmlns:a16="http://schemas.microsoft.com/office/drawing/2014/main" id="{329EB903-EA83-46E0-B523-8FCB9268090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5079882"/>
                </p:ext>
              </p:extLst>
            </p:nvPr>
          </p:nvGraphicFramePr>
          <p:xfrm>
            <a:off x="2216" y="2286"/>
            <a:ext cx="37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0" name="Equation" r:id="rId8" imgW="330120" imgH="279360" progId="Equation.3">
                    <p:embed/>
                  </p:oleObj>
                </mc:Choice>
                <mc:Fallback>
                  <p:oleObj name="Equation" r:id="rId8" imgW="330120" imgH="279360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16" y="2286"/>
                          <a:ext cx="37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5" name="Text Box 14">
              <a:extLst>
                <a:ext uri="{FF2B5EF4-FFF2-40B4-BE49-F238E27FC236}">
                  <a16:creationId xmlns="" xmlns:a16="http://schemas.microsoft.com/office/drawing/2014/main" id="{8CC8D1C3-37FA-4DB9-A44B-00672F13AC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256"/>
              <a:ext cx="9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</a:t>
              </a:r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）计算</a:t>
              </a:r>
            </a:p>
          </p:txBody>
        </p:sp>
      </p:grpSp>
      <p:grpSp>
        <p:nvGrpSpPr>
          <p:cNvPr id="14" name="Group 15">
            <a:extLst>
              <a:ext uri="{FF2B5EF4-FFF2-40B4-BE49-F238E27FC236}">
                <a16:creationId xmlns="" xmlns:a16="http://schemas.microsoft.com/office/drawing/2014/main" id="{B573554E-9843-4B5C-A33A-CFF5BC082503}"/>
              </a:ext>
            </a:extLst>
          </p:cNvPr>
          <p:cNvGrpSpPr>
            <a:grpSpLocks/>
          </p:cNvGrpSpPr>
          <p:nvPr/>
        </p:nvGrpSpPr>
        <p:grpSpPr bwMode="auto">
          <a:xfrm>
            <a:off x="3651253" y="4259807"/>
            <a:ext cx="2049463" cy="531813"/>
            <a:chOff x="1344" y="2640"/>
            <a:chExt cx="1291" cy="335"/>
          </a:xfrm>
        </p:grpSpPr>
        <p:sp>
          <p:nvSpPr>
            <p:cNvPr id="20502" name="Text Box 16">
              <a:extLst>
                <a:ext uri="{FF2B5EF4-FFF2-40B4-BE49-F238E27FC236}">
                  <a16:creationId xmlns="" xmlns:a16="http://schemas.microsoft.com/office/drawing/2014/main" id="{8050B23A-6A93-4F68-AA3A-93ECAA930A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2640"/>
              <a:ext cx="9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3</a:t>
              </a:r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）写出</a:t>
              </a:r>
            </a:p>
          </p:txBody>
        </p:sp>
        <p:graphicFrame>
          <p:nvGraphicFramePr>
            <p:cNvPr id="20503" name="Object 17">
              <a:extLst>
                <a:ext uri="{FF2B5EF4-FFF2-40B4-BE49-F238E27FC236}">
                  <a16:creationId xmlns="" xmlns:a16="http://schemas.microsoft.com/office/drawing/2014/main" id="{AE5A6480-208A-467D-A7B8-DD2C43A624F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8116194"/>
                </p:ext>
              </p:extLst>
            </p:nvPr>
          </p:nvGraphicFramePr>
          <p:xfrm>
            <a:off x="2203" y="2664"/>
            <a:ext cx="432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1" name="Equation" r:id="rId10" imgW="393480" imgH="279360" progId="Equation.3">
                    <p:embed/>
                  </p:oleObj>
                </mc:Choice>
                <mc:Fallback>
                  <p:oleObj name="Equation" r:id="rId10" imgW="393480" imgH="27936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3" y="2664"/>
                          <a:ext cx="432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Text Box 19">
            <a:extLst>
              <a:ext uri="{FF2B5EF4-FFF2-40B4-BE49-F238E27FC236}">
                <a16:creationId xmlns="" xmlns:a16="http://schemas.microsoft.com/office/drawing/2014/main" id="{47F37A3B-FBCB-44EC-8CB5-1D44568A8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0698" y="5143793"/>
            <a:ext cx="8064500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</a:pP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根据这个充要条件，可以将定义中的条件改进为</a:t>
            </a:r>
          </a:p>
        </p:txBody>
      </p:sp>
      <p:graphicFrame>
        <p:nvGraphicFramePr>
          <p:cNvPr id="18" name="Object 20">
            <a:extLst>
              <a:ext uri="{FF2B5EF4-FFF2-40B4-BE49-F238E27FC236}">
                <a16:creationId xmlns="" xmlns:a16="http://schemas.microsoft.com/office/drawing/2014/main" id="{60973C1B-0DE5-45B4-9778-093B6CBB0C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465015"/>
              </p:ext>
            </p:extLst>
          </p:nvPr>
        </p:nvGraphicFramePr>
        <p:xfrm>
          <a:off x="3526633" y="5629065"/>
          <a:ext cx="3605212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2" name="Equation" r:id="rId12" imgW="1802520" imgH="266760" progId="Equation.DSMT4">
                  <p:embed/>
                </p:oleObj>
              </mc:Choice>
              <mc:Fallback>
                <p:oleObj name="Equation" r:id="rId12" imgW="1802520" imgH="26676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6633" y="5629065"/>
                        <a:ext cx="3605212" cy="566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21">
            <a:extLst>
              <a:ext uri="{FF2B5EF4-FFF2-40B4-BE49-F238E27FC236}">
                <a16:creationId xmlns="" xmlns:a16="http://schemas.microsoft.com/office/drawing/2014/main" id="{54C5BFBC-E600-4DF5-B521-FD809B775237}"/>
              </a:ext>
            </a:extLst>
          </p:cNvPr>
          <p:cNvGrpSpPr>
            <a:grpSpLocks/>
          </p:cNvGrpSpPr>
          <p:nvPr/>
        </p:nvGrpSpPr>
        <p:grpSpPr bwMode="auto">
          <a:xfrm>
            <a:off x="3442553" y="6101362"/>
            <a:ext cx="5754689" cy="609600"/>
            <a:chOff x="1268" y="3750"/>
            <a:chExt cx="3625" cy="384"/>
          </a:xfrm>
        </p:grpSpPr>
        <p:sp>
          <p:nvSpPr>
            <p:cNvPr id="20498" name="Text Box 22">
              <a:extLst>
                <a:ext uri="{FF2B5EF4-FFF2-40B4-BE49-F238E27FC236}">
                  <a16:creationId xmlns="" xmlns:a16="http://schemas.microsoft.com/office/drawing/2014/main" id="{0DB74136-AA8E-4553-902C-52E1D3DA7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8" y="3772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若</a:t>
              </a:r>
            </a:p>
          </p:txBody>
        </p:sp>
        <p:graphicFrame>
          <p:nvGraphicFramePr>
            <p:cNvPr id="20499" name="Object 23">
              <a:extLst>
                <a:ext uri="{FF2B5EF4-FFF2-40B4-BE49-F238E27FC236}">
                  <a16:creationId xmlns="" xmlns:a16="http://schemas.microsoft.com/office/drawing/2014/main" id="{1AFAA2E5-9F97-4312-9438-9CBDBCEEE7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5609716"/>
                </p:ext>
              </p:extLst>
            </p:nvPr>
          </p:nvGraphicFramePr>
          <p:xfrm>
            <a:off x="1551" y="3785"/>
            <a:ext cx="2114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3" name="Equation" r:id="rId14" imgW="2539800" imgH="393480" progId="Equation.DSMT4">
                    <p:embed/>
                  </p:oleObj>
                </mc:Choice>
                <mc:Fallback>
                  <p:oleObj name="Equation" r:id="rId14" imgW="2539800" imgH="39348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51" y="3785"/>
                          <a:ext cx="2114" cy="3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0" name="Text Box 24">
              <a:extLst>
                <a:ext uri="{FF2B5EF4-FFF2-40B4-BE49-F238E27FC236}">
                  <a16:creationId xmlns="" xmlns:a16="http://schemas.microsoft.com/office/drawing/2014/main" id="{CA2681B0-E20D-438C-B4C7-0CC684652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8" y="3792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则</a:t>
              </a:r>
            </a:p>
          </p:txBody>
        </p:sp>
        <p:graphicFrame>
          <p:nvGraphicFramePr>
            <p:cNvPr id="20501" name="Object 25">
              <a:extLst>
                <a:ext uri="{FF2B5EF4-FFF2-40B4-BE49-F238E27FC236}">
                  <a16:creationId xmlns="" xmlns:a16="http://schemas.microsoft.com/office/drawing/2014/main" id="{DD35FB8F-70DE-4827-B7E0-79DFF80D3F6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2453788"/>
                </p:ext>
              </p:extLst>
            </p:nvPr>
          </p:nvGraphicFramePr>
          <p:xfrm>
            <a:off x="3948" y="3750"/>
            <a:ext cx="945" cy="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44" name="Equation" r:id="rId16" imgW="1041120" imgH="355320" progId="Equation.DSMT4">
                    <p:embed/>
                  </p:oleObj>
                </mc:Choice>
                <mc:Fallback>
                  <p:oleObj name="Equation" r:id="rId16" imgW="1041120" imgH="355320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48" y="3750"/>
                          <a:ext cx="945" cy="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对象 23">
            <a:extLst>
              <a:ext uri="{FF2B5EF4-FFF2-40B4-BE49-F238E27FC236}">
                <a16:creationId xmlns="" xmlns:a16="http://schemas.microsoft.com/office/drawing/2014/main" id="{C23D17CB-9889-4565-890E-7A632F0C77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6397882"/>
              </p:ext>
            </p:extLst>
          </p:nvPr>
        </p:nvGraphicFramePr>
        <p:xfrm>
          <a:off x="5057780" y="3325515"/>
          <a:ext cx="425077" cy="534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5" name="Equation" r:id="rId18" imgW="203040" imgH="253800" progId="Equation.DSMT4">
                  <p:embed/>
                </p:oleObj>
              </mc:Choice>
              <mc:Fallback>
                <p:oleObj name="Equation" r:id="rId18" imgW="203040" imgH="253800" progId="Equation.DSMT4">
                  <p:embed/>
                  <p:pic>
                    <p:nvPicPr>
                      <p:cNvPr id="0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7780" y="3325515"/>
                        <a:ext cx="425077" cy="5343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6" name="Object 33">
            <a:extLst>
              <a:ext uri="{FF2B5EF4-FFF2-40B4-BE49-F238E27FC236}">
                <a16:creationId xmlns="" xmlns:a16="http://schemas.microsoft.com/office/drawing/2014/main" id="{42165111-A8C9-4351-BB57-9CC147B232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244490"/>
              </p:ext>
            </p:extLst>
          </p:nvPr>
        </p:nvGraphicFramePr>
        <p:xfrm>
          <a:off x="5759450" y="4339401"/>
          <a:ext cx="1646238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46" name="Equation" r:id="rId20" imgW="1574640" imgH="457200" progId="Equation.DSMT4">
                  <p:embed/>
                </p:oleObj>
              </mc:Choice>
              <mc:Fallback>
                <p:oleObj name="Equation" r:id="rId20" imgW="1574640" imgH="4572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9450" y="4339401"/>
                        <a:ext cx="1646238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>
            <a:extLst>
              <a:ext uri="{FF2B5EF4-FFF2-40B4-BE49-F238E27FC236}">
                <a16:creationId xmlns="" xmlns:a16="http://schemas.microsoft.com/office/drawing/2014/main" id="{BB28F23E-8411-4E15-BB7B-98672611FE0A}"/>
              </a:ext>
            </a:extLst>
          </p:cNvPr>
          <p:cNvSpPr/>
          <p:nvPr/>
        </p:nvSpPr>
        <p:spPr>
          <a:xfrm>
            <a:off x="5541571" y="895420"/>
            <a:ext cx="121379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说明</a:t>
            </a:r>
            <a:endParaRPr lang="zh-CN" altLang="en-US" sz="4000" kern="0" dirty="0">
              <a:solidFill>
                <a:srgbClr val="FFFF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+mn-ea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9" grpId="0" autoUpdateAnimBg="0"/>
      <p:bldP spid="20488" grpId="0"/>
      <p:bldP spid="1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="" xmlns:a16="http://schemas.microsoft.com/office/drawing/2014/main" id="{C9A0B95C-69EB-4CAC-8730-7439CB04A7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9898915"/>
              </p:ext>
            </p:extLst>
          </p:nvPr>
        </p:nvGraphicFramePr>
        <p:xfrm>
          <a:off x="2833600" y="722632"/>
          <a:ext cx="2125769" cy="1125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69" name="Equation" r:id="rId3" imgW="1536480" imgH="901440" progId="Equation.DSMT4">
                  <p:embed/>
                </p:oleObj>
              </mc:Choice>
              <mc:Fallback>
                <p:oleObj name="Equation" r:id="rId3" imgW="1536480" imgH="901440" progId="Equation.DSMT4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00" y="722632"/>
                        <a:ext cx="2125769" cy="1125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6">
            <a:extLst>
              <a:ext uri="{FF2B5EF4-FFF2-40B4-BE49-F238E27FC236}">
                <a16:creationId xmlns="" xmlns:a16="http://schemas.microsoft.com/office/drawing/2014/main" id="{0B724503-1229-44FA-85B2-9E0CBFC894B1}"/>
              </a:ext>
            </a:extLst>
          </p:cNvPr>
          <p:cNvGrpSpPr>
            <a:grpSpLocks/>
          </p:cNvGrpSpPr>
          <p:nvPr/>
        </p:nvGrpSpPr>
        <p:grpSpPr bwMode="auto">
          <a:xfrm>
            <a:off x="2807588" y="2006239"/>
            <a:ext cx="4281486" cy="530521"/>
            <a:chOff x="1404" y="1352"/>
            <a:chExt cx="2697" cy="372"/>
          </a:xfrm>
        </p:grpSpPr>
        <p:graphicFrame>
          <p:nvGraphicFramePr>
            <p:cNvPr id="21520" name="Object 7">
              <a:extLst>
                <a:ext uri="{FF2B5EF4-FFF2-40B4-BE49-F238E27FC236}">
                  <a16:creationId xmlns="" xmlns:a16="http://schemas.microsoft.com/office/drawing/2014/main" id="{5947BA86-E6AF-4E21-974A-8F9D36B34FB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6480968"/>
                </p:ext>
              </p:extLst>
            </p:nvPr>
          </p:nvGraphicFramePr>
          <p:xfrm>
            <a:off x="2129" y="1371"/>
            <a:ext cx="1972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0" name="Equation" r:id="rId5" imgW="2476440" imgH="444240" progId="Equation.DSMT4">
                    <p:embed/>
                  </p:oleObj>
                </mc:Choice>
                <mc:Fallback>
                  <p:oleObj name="Equation" r:id="rId5" imgW="2476440" imgH="44424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9" y="1371"/>
                          <a:ext cx="1972" cy="3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21" name="Text Box 8">
              <a:extLst>
                <a:ext uri="{FF2B5EF4-FFF2-40B4-BE49-F238E27FC236}">
                  <a16:creationId xmlns="" xmlns:a16="http://schemas.microsoft.com/office/drawing/2014/main" id="{9447220A-DD97-4D07-A139-81F648665B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4" y="1352"/>
              <a:ext cx="725" cy="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i="1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A</a:t>
              </a:r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可逆</a:t>
              </a:r>
            </a:p>
          </p:txBody>
        </p:sp>
      </p:grpSp>
      <p:graphicFrame>
        <p:nvGraphicFramePr>
          <p:cNvPr id="7" name="Object 9">
            <a:extLst>
              <a:ext uri="{FF2B5EF4-FFF2-40B4-BE49-F238E27FC236}">
                <a16:creationId xmlns="" xmlns:a16="http://schemas.microsoft.com/office/drawing/2014/main" id="{0DFC5836-5D1B-4397-8C14-E3C298FA83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229176"/>
              </p:ext>
            </p:extLst>
          </p:nvPr>
        </p:nvGraphicFramePr>
        <p:xfrm>
          <a:off x="2785576" y="3684299"/>
          <a:ext cx="6358745" cy="10197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1" name="Equation" r:id="rId7" imgW="5206680" imgH="927000" progId="Equation.DSMT4">
                  <p:embed/>
                </p:oleObj>
              </mc:Choice>
              <mc:Fallback>
                <p:oleObj name="Equation" r:id="rId7" imgW="5206680" imgH="927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5576" y="3684299"/>
                        <a:ext cx="6358745" cy="10197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10">
            <a:extLst>
              <a:ext uri="{FF2B5EF4-FFF2-40B4-BE49-F238E27FC236}">
                <a16:creationId xmlns="" xmlns:a16="http://schemas.microsoft.com/office/drawing/2014/main" id="{59C7C7D9-1C2F-4B5C-BFB7-35C62A25E7BB}"/>
              </a:ext>
            </a:extLst>
          </p:cNvPr>
          <p:cNvGrpSpPr>
            <a:grpSpLocks/>
          </p:cNvGrpSpPr>
          <p:nvPr/>
        </p:nvGrpSpPr>
        <p:grpSpPr bwMode="auto">
          <a:xfrm>
            <a:off x="2279577" y="4927673"/>
            <a:ext cx="2555875" cy="810944"/>
            <a:chOff x="850" y="2638"/>
            <a:chExt cx="1610" cy="568"/>
          </a:xfrm>
        </p:grpSpPr>
        <p:graphicFrame>
          <p:nvGraphicFramePr>
            <p:cNvPr id="21518" name="Object 11">
              <a:extLst>
                <a:ext uri="{FF2B5EF4-FFF2-40B4-BE49-F238E27FC236}">
                  <a16:creationId xmlns="" xmlns:a16="http://schemas.microsoft.com/office/drawing/2014/main" id="{A6161944-25F3-4143-965E-2592A6ABE32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8734928"/>
                </p:ext>
              </p:extLst>
            </p:nvPr>
          </p:nvGraphicFramePr>
          <p:xfrm>
            <a:off x="1524" y="2638"/>
            <a:ext cx="936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72" name="Equation" r:id="rId9" imgW="1485720" imgH="901440" progId="Equation.DSMT4">
                    <p:embed/>
                  </p:oleObj>
                </mc:Choice>
                <mc:Fallback>
                  <p:oleObj name="Equation" r:id="rId9" imgW="1485720" imgH="90144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24" y="2638"/>
                          <a:ext cx="936" cy="5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9" name="Text Box 12">
              <a:extLst>
                <a:ext uri="{FF2B5EF4-FFF2-40B4-BE49-F238E27FC236}">
                  <a16:creationId xmlns="" xmlns:a16="http://schemas.microsoft.com/office/drawing/2014/main" id="{FAE057F0-AFED-4188-BB7A-9749E97A89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0" y="2712"/>
              <a:ext cx="567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如</a:t>
              </a:r>
            </a:p>
          </p:txBody>
        </p:sp>
      </p:grpSp>
      <p:graphicFrame>
        <p:nvGraphicFramePr>
          <p:cNvPr id="11" name="Object 13">
            <a:extLst>
              <a:ext uri="{FF2B5EF4-FFF2-40B4-BE49-F238E27FC236}">
                <a16:creationId xmlns="" xmlns:a16="http://schemas.microsoft.com/office/drawing/2014/main" id="{3F6EFD57-80BB-4478-BEEA-1288B0B7DC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4633660"/>
              </p:ext>
            </p:extLst>
          </p:nvPr>
        </p:nvGraphicFramePr>
        <p:xfrm>
          <a:off x="5188446" y="5072691"/>
          <a:ext cx="3146700" cy="456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3" name="Equation" r:id="rId11" imgW="2755800" imgH="444240" progId="Equation.DSMT4">
                  <p:embed/>
                </p:oleObj>
              </mc:Choice>
              <mc:Fallback>
                <p:oleObj name="Equation" r:id="rId11" imgW="2755800" imgH="4442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8446" y="5072691"/>
                        <a:ext cx="3146700" cy="456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>
            <a:extLst>
              <a:ext uri="{FF2B5EF4-FFF2-40B4-BE49-F238E27FC236}">
                <a16:creationId xmlns="" xmlns:a16="http://schemas.microsoft.com/office/drawing/2014/main" id="{F9DB5E8D-A5F3-43F7-A294-B261FBCC4F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747172"/>
              </p:ext>
            </p:extLst>
          </p:nvPr>
        </p:nvGraphicFramePr>
        <p:xfrm>
          <a:off x="3372346" y="5862973"/>
          <a:ext cx="3632200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4" name="Equation" r:id="rId13" imgW="3632040" imgH="901440" progId="Equation.DSMT4">
                  <p:embed/>
                </p:oleObj>
              </mc:Choice>
              <mc:Fallback>
                <p:oleObj name="Equation" r:id="rId13" imgW="3632040" imgH="9014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2346" y="5862973"/>
                        <a:ext cx="3632200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8">
            <a:extLst>
              <a:ext uri="{FF2B5EF4-FFF2-40B4-BE49-F238E27FC236}">
                <a16:creationId xmlns="" xmlns:a16="http://schemas.microsoft.com/office/drawing/2014/main" id="{B2D1666D-609F-455B-9224-D91565855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71" y="973931"/>
            <a:ext cx="709146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="" xmlns:a16="http://schemas.microsoft.com/office/drawing/2014/main" id="{42E4BA66-0745-4C2A-BBE5-7577DF05161B}"/>
              </a:ext>
            </a:extLst>
          </p:cNvPr>
          <p:cNvGrpSpPr>
            <a:grpSpLocks/>
          </p:cNvGrpSpPr>
          <p:nvPr/>
        </p:nvGrpSpPr>
        <p:grpSpPr bwMode="auto">
          <a:xfrm rot="20595621">
            <a:off x="7496888" y="1898436"/>
            <a:ext cx="2305050" cy="935038"/>
            <a:chOff x="6366888" y="6016383"/>
            <a:chExt cx="2304256" cy="936104"/>
          </a:xfrm>
        </p:grpSpPr>
        <p:sp>
          <p:nvSpPr>
            <p:cNvPr id="15" name="椭圆形标注 14">
              <a:extLst>
                <a:ext uri="{FF2B5EF4-FFF2-40B4-BE49-F238E27FC236}">
                  <a16:creationId xmlns="" xmlns:a16="http://schemas.microsoft.com/office/drawing/2014/main" id="{EDDCDA84-FC99-4035-A370-0CCD709B52CE}"/>
                </a:ext>
              </a:extLst>
            </p:cNvPr>
            <p:cNvSpPr/>
            <p:nvPr/>
          </p:nvSpPr>
          <p:spPr>
            <a:xfrm>
              <a:off x="6366888" y="6016383"/>
              <a:ext cx="2304256" cy="936104"/>
            </a:xfrm>
            <a:prstGeom prst="wedgeEllipseCallout">
              <a:avLst>
                <a:gd name="adj1" fmla="val -64290"/>
                <a:gd name="adj2" fmla="val -18154"/>
              </a:avLst>
            </a:prstGeom>
            <a:solidFill>
              <a:srgbClr val="FFCCFF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1517" name="TextBox 16">
              <a:extLst>
                <a:ext uri="{FF2B5EF4-FFF2-40B4-BE49-F238E27FC236}">
                  <a16:creationId xmlns="" xmlns:a16="http://schemas.microsoft.com/office/drawing/2014/main" id="{DF5E5DF1-5ED2-4B49-AC8C-97B07E37B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2406" y="6194605"/>
              <a:ext cx="194421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206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一调一反</a:t>
              </a:r>
            </a:p>
          </p:txBody>
        </p:sp>
      </p:grpSp>
      <p:graphicFrame>
        <p:nvGraphicFramePr>
          <p:cNvPr id="17" name="对象 16">
            <a:extLst>
              <a:ext uri="{FF2B5EF4-FFF2-40B4-BE49-F238E27FC236}">
                <a16:creationId xmlns="" xmlns:a16="http://schemas.microsoft.com/office/drawing/2014/main" id="{CF4EBB84-29AB-4E15-8496-3C7453FAAA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535082"/>
              </p:ext>
            </p:extLst>
          </p:nvPr>
        </p:nvGraphicFramePr>
        <p:xfrm>
          <a:off x="5056225" y="2625904"/>
          <a:ext cx="2354847" cy="1080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5" name="Equation" r:id="rId15" imgW="2057400" imgH="901440" progId="Equation.DSMT4">
                  <p:embed/>
                </p:oleObj>
              </mc:Choice>
              <mc:Fallback>
                <p:oleObj name="Equation" r:id="rId15" imgW="2057400" imgH="90144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225" y="2625904"/>
                        <a:ext cx="2354847" cy="10802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B7DFA510-FFB7-43F5-B799-49B6C4A155E8}"/>
              </a:ext>
            </a:extLst>
          </p:cNvPr>
          <p:cNvSpPr txBox="1"/>
          <p:nvPr/>
        </p:nvSpPr>
        <p:spPr>
          <a:xfrm>
            <a:off x="5147282" y="973931"/>
            <a:ext cx="4873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u="sng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此例的结果应该作为公式记住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="" xmlns:a16="http://schemas.microsoft.com/office/drawing/2014/main" id="{B4C6F0C9-320D-473B-A803-97011BFF433C}"/>
              </a:ext>
            </a:extLst>
          </p:cNvPr>
          <p:cNvSpPr txBox="1">
            <a:spLocks/>
          </p:cNvSpPr>
          <p:nvPr/>
        </p:nvSpPr>
        <p:spPr bwMode="auto">
          <a:xfrm>
            <a:off x="2135561" y="1800549"/>
            <a:ext cx="8229600" cy="4508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sz="2800" b="1" baseline="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endParaRPr kumimoji="0" lang="en-US" altLang="zh-CN" kern="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  <a:defRPr/>
            </a:pPr>
            <a:r>
              <a:rPr kumimoji="0" lang="zh-CN" altLang="en-US" kern="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kumimoji="0" lang="en-US" altLang="zh-CN" kern="0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kumimoji="0" lang="zh-CN" altLang="en-US" kern="0" dirty="0" smtClean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kumimoji="0" lang="zh-CN" altLang="en-US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</a:t>
            </a:r>
            <a:endParaRPr kumimoji="0" lang="en-US" altLang="zh-CN" kern="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defRPr/>
            </a:pPr>
            <a:endParaRPr kumimoji="0" lang="en-US" altLang="zh-CN" kern="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  <a:defRPr/>
            </a:pPr>
            <a:endParaRPr kumimoji="0" lang="en-US" altLang="zh-CN" kern="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  <a:defRPr/>
            </a:pPr>
            <a:r>
              <a:rPr kumimoji="0" lang="zh-CN" altLang="en-US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  <a:endParaRPr kumimoji="0" lang="en-US" altLang="zh-CN" kern="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defRPr/>
            </a:pPr>
            <a:endParaRPr kumimoji="0" lang="en-US" altLang="zh-CN" kern="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Wingdings" pitchFamily="2" charset="2"/>
              <a:buNone/>
              <a:defRPr/>
            </a:pPr>
            <a:endParaRPr kumimoji="0" lang="en-US" altLang="zh-CN" kern="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Wingdings" pitchFamily="2" charset="2"/>
              <a:buNone/>
              <a:defRPr/>
            </a:pPr>
            <a:endParaRPr kumimoji="0" lang="en-US" altLang="zh-CN" kern="0" dirty="0">
              <a:solidFill>
                <a:srgbClr val="FFFF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Wingdings" pitchFamily="2" charset="2"/>
              <a:buNone/>
              <a:defRPr/>
            </a:pPr>
            <a:r>
              <a:rPr kumimoji="0" lang="zh-CN" altLang="en-US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所以</a:t>
            </a:r>
            <a:r>
              <a:rPr kumimoji="0" lang="en-US" altLang="zh-CN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kumimoji="0" lang="zh-CN" altLang="en-US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可逆</a:t>
            </a:r>
            <a:r>
              <a:rPr kumimoji="0" lang="en-US" altLang="zh-CN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r>
              <a:rPr kumimoji="0" lang="zh-CN" altLang="en-US" kern="0" dirty="0">
                <a:solidFill>
                  <a:srgbClr val="FFFF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711630" y="1772816"/>
            <a:ext cx="5557013" cy="1714227"/>
            <a:chOff x="3711630" y="1772816"/>
            <a:chExt cx="5557013" cy="1714227"/>
          </a:xfrm>
        </p:grpSpPr>
        <p:graphicFrame>
          <p:nvGraphicFramePr>
            <p:cNvPr id="5" name="Object 5">
              <a:extLst>
                <a:ext uri="{FF2B5EF4-FFF2-40B4-BE49-F238E27FC236}">
                  <a16:creationId xmlns="" xmlns:a16="http://schemas.microsoft.com/office/drawing/2014/main" id="{830C80BB-3DDF-400E-BEB5-A46A234CAC3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38927161"/>
                </p:ext>
              </p:extLst>
            </p:nvPr>
          </p:nvGraphicFramePr>
          <p:xfrm>
            <a:off x="3711630" y="1772816"/>
            <a:ext cx="2510118" cy="1714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65" name="Equation" r:id="rId3" imgW="2031840" imgH="1396800" progId="Equation.DSMT4">
                    <p:embed/>
                  </p:oleObj>
                </mc:Choice>
                <mc:Fallback>
                  <p:oleObj name="Equation" r:id="rId3" imgW="2031840" imgH="13968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1630" y="1772816"/>
                          <a:ext cx="2510118" cy="1714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3">
              <a:extLst>
                <a:ext uri="{FF2B5EF4-FFF2-40B4-BE49-F238E27FC236}">
                  <a16:creationId xmlns="" xmlns:a16="http://schemas.microsoft.com/office/drawing/2014/main" id="{9443D768-CE11-4054-AF38-407DD0DE202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1744427"/>
                </p:ext>
              </p:extLst>
            </p:nvPr>
          </p:nvGraphicFramePr>
          <p:xfrm>
            <a:off x="6326990" y="2412029"/>
            <a:ext cx="2941653" cy="435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66" name="Equation" r:id="rId5" imgW="2717640" imgH="406080" progId="Equation.DSMT4">
                    <p:embed/>
                  </p:oleObj>
                </mc:Choice>
                <mc:Fallback>
                  <p:oleObj name="Equation" r:id="rId5" imgW="2717640" imgH="40608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26990" y="2412029"/>
                          <a:ext cx="2941653" cy="435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2873804" y="3726320"/>
            <a:ext cx="7710160" cy="1714228"/>
            <a:chOff x="2873804" y="3726320"/>
            <a:chExt cx="7710160" cy="1714228"/>
          </a:xfrm>
        </p:grpSpPr>
        <p:graphicFrame>
          <p:nvGraphicFramePr>
            <p:cNvPr id="7" name="Object 4">
              <a:extLst>
                <a:ext uri="{FF2B5EF4-FFF2-40B4-BE49-F238E27FC236}">
                  <a16:creationId xmlns="" xmlns:a16="http://schemas.microsoft.com/office/drawing/2014/main" id="{4D47807B-5B2C-40B7-A952-8CAAC0D029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9465457"/>
                </p:ext>
              </p:extLst>
            </p:nvPr>
          </p:nvGraphicFramePr>
          <p:xfrm>
            <a:off x="2873804" y="3741108"/>
            <a:ext cx="2205184" cy="16846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67" name="Equation" r:id="rId7" imgW="1815840" imgH="1396800" progId="Equation.DSMT4">
                    <p:embed/>
                  </p:oleObj>
                </mc:Choice>
                <mc:Fallback>
                  <p:oleObj name="Equation" r:id="rId7" imgW="1815840" imgH="13968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3804" y="3741108"/>
                          <a:ext cx="2205184" cy="16846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7">
              <a:extLst>
                <a:ext uri="{FF2B5EF4-FFF2-40B4-BE49-F238E27FC236}">
                  <a16:creationId xmlns="" xmlns:a16="http://schemas.microsoft.com/office/drawing/2014/main" id="{43352D2E-BE92-4E0A-AFEF-E55F878CEC4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85504989"/>
                </p:ext>
              </p:extLst>
            </p:nvPr>
          </p:nvGraphicFramePr>
          <p:xfrm>
            <a:off x="5073068" y="3726321"/>
            <a:ext cx="2212354" cy="17142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68" name="Equation" r:id="rId9" imgW="1790640" imgH="1396800" progId="Equation.DSMT4">
                    <p:embed/>
                  </p:oleObj>
                </mc:Choice>
                <mc:Fallback>
                  <p:oleObj name="Equation" r:id="rId9" imgW="1790640" imgH="13968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3068" y="3726321"/>
                          <a:ext cx="2212354" cy="17142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>
              <a:extLst>
                <a:ext uri="{FF2B5EF4-FFF2-40B4-BE49-F238E27FC236}">
                  <a16:creationId xmlns="" xmlns:a16="http://schemas.microsoft.com/office/drawing/2014/main" id="{61AD191B-28A9-4EBB-915B-DF82C1B1E17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6352913"/>
                </p:ext>
              </p:extLst>
            </p:nvPr>
          </p:nvGraphicFramePr>
          <p:xfrm>
            <a:off x="7304168" y="3726320"/>
            <a:ext cx="2213284" cy="1714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69" name="Equation" r:id="rId11" imgW="1790640" imgH="1396800" progId="Equation.DSMT4">
                    <p:embed/>
                  </p:oleObj>
                </mc:Choice>
                <mc:Fallback>
                  <p:oleObj name="Equation" r:id="rId11" imgW="1790640" imgH="13968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04168" y="3726320"/>
                          <a:ext cx="2213284" cy="1714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9">
              <a:extLst>
                <a:ext uri="{FF2B5EF4-FFF2-40B4-BE49-F238E27FC236}">
                  <a16:creationId xmlns="" xmlns:a16="http://schemas.microsoft.com/office/drawing/2014/main" id="{122102CE-4789-46D9-8DCA-78390B1C43B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4172614"/>
                </p:ext>
              </p:extLst>
            </p:nvPr>
          </p:nvGraphicFramePr>
          <p:xfrm>
            <a:off x="9528918" y="4408017"/>
            <a:ext cx="1055046" cy="362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270" name="Equation" r:id="rId13" imgW="990360" imgH="342720" progId="Equation.DSMT4">
                    <p:embed/>
                  </p:oleObj>
                </mc:Choice>
                <mc:Fallback>
                  <p:oleObj name="Equation" r:id="rId13" imgW="990360" imgH="34272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528918" y="4408017"/>
                          <a:ext cx="1055046" cy="362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E8A97B0E-95DF-4EB1-8F05-E4BCDC86436E}"/>
              </a:ext>
            </a:extLst>
          </p:cNvPr>
          <p:cNvSpPr/>
          <p:nvPr/>
        </p:nvSpPr>
        <p:spPr>
          <a:xfrm>
            <a:off x="1810583" y="895420"/>
            <a:ext cx="86757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 可逆矩阵的充要条件与逆矩阵的计算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内容占位符 2">
            <a:extLst>
              <a:ext uri="{FF2B5EF4-FFF2-40B4-BE49-F238E27FC236}">
                <a16:creationId xmlns="" xmlns:a16="http://schemas.microsoft.com/office/drawing/2014/main" id="{7FA676CA-66A9-4A92-BBFC-BBD0F33E65F2}"/>
              </a:ext>
            </a:extLst>
          </p:cNvPr>
          <p:cNvSpPr txBox="1">
            <a:spLocks/>
          </p:cNvSpPr>
          <p:nvPr/>
        </p:nvSpPr>
        <p:spPr bwMode="auto">
          <a:xfrm>
            <a:off x="1614488" y="1501775"/>
            <a:ext cx="8229600" cy="521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lang="en-US" altLang="zh-CN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spcBef>
                <a:spcPct val="20000"/>
              </a:spcBef>
              <a:buClr>
                <a:schemeClr val="hlink"/>
              </a:buClr>
            </a:pPr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</a:t>
            </a:r>
            <a:r>
              <a:rPr lang="en-US" altLang="zh-CN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dirty="0">
                <a:solidFill>
                  <a:srgbClr val="FFFF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设</a:t>
            </a:r>
            <a:endParaRPr lang="en-US" altLang="zh-CN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lang="en-US" altLang="zh-CN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spcBef>
                <a:spcPct val="20000"/>
              </a:spcBef>
              <a:buClr>
                <a:schemeClr val="hlink"/>
              </a:buClr>
            </a:pP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</a:t>
            </a:r>
            <a:endParaRPr lang="en-US" altLang="zh-CN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lang="en-US" altLang="zh-CN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</a:p>
        </p:txBody>
      </p:sp>
      <p:graphicFrame>
        <p:nvGraphicFramePr>
          <p:cNvPr id="23557" name="Object 5">
            <a:extLst>
              <a:ext uri="{FF2B5EF4-FFF2-40B4-BE49-F238E27FC236}">
                <a16:creationId xmlns="" xmlns:a16="http://schemas.microsoft.com/office/drawing/2014/main" id="{24E8065D-40B3-4DC9-BAC5-544CF02058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278115"/>
              </p:ext>
            </p:extLst>
          </p:nvPr>
        </p:nvGraphicFramePr>
        <p:xfrm>
          <a:off x="2943512" y="1668119"/>
          <a:ext cx="1945989" cy="1330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51" name="Equation" r:id="rId4" imgW="2031840" imgH="1396800" progId="Equation.DSMT4">
                  <p:embed/>
                </p:oleObj>
              </mc:Choice>
              <mc:Fallback>
                <p:oleObj name="Equation" r:id="rId4" imgW="2031840" imgH="1396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512" y="1668119"/>
                        <a:ext cx="1945989" cy="1330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3">
            <a:extLst>
              <a:ext uri="{FF2B5EF4-FFF2-40B4-BE49-F238E27FC236}">
                <a16:creationId xmlns="" xmlns:a16="http://schemas.microsoft.com/office/drawing/2014/main" id="{095AB4DD-E13A-44B8-AE5C-0735664B0B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900141"/>
              </p:ext>
            </p:extLst>
          </p:nvPr>
        </p:nvGraphicFramePr>
        <p:xfrm>
          <a:off x="4930776" y="2052190"/>
          <a:ext cx="2848669" cy="42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52" name="Equation" r:id="rId6" imgW="2717640" imgH="406080" progId="Equation.DSMT4">
                  <p:embed/>
                </p:oleObj>
              </mc:Choice>
              <mc:Fallback>
                <p:oleObj name="Equation" r:id="rId6" imgW="2717640" imgH="4060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0776" y="2052190"/>
                        <a:ext cx="2848669" cy="42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="" xmlns:a16="http://schemas.microsoft.com/office/drawing/2014/main" id="{6D0DD412-ABB8-4125-B780-B0D4CD5D8C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8312104"/>
              </p:ext>
            </p:extLst>
          </p:nvPr>
        </p:nvGraphicFramePr>
        <p:xfrm>
          <a:off x="2509685" y="3373774"/>
          <a:ext cx="2120881" cy="965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53" name="Equation" r:id="rId8" imgW="1968480" imgH="901440" progId="Equation.DSMT4">
                  <p:embed/>
                </p:oleObj>
              </mc:Choice>
              <mc:Fallback>
                <p:oleObj name="Equation" r:id="rId8" imgW="1968480" imgH="9014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685" y="3373774"/>
                        <a:ext cx="2120881" cy="965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="" xmlns:a16="http://schemas.microsoft.com/office/drawing/2014/main" id="{CB983591-A79B-44F9-91B6-D61844C0E7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3934869"/>
              </p:ext>
            </p:extLst>
          </p:nvPr>
        </p:nvGraphicFramePr>
        <p:xfrm>
          <a:off x="5132239" y="3376348"/>
          <a:ext cx="2366968" cy="965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54" name="Equation" r:id="rId10" imgW="2197080" imgH="901440" progId="Equation.DSMT4">
                  <p:embed/>
                </p:oleObj>
              </mc:Choice>
              <mc:Fallback>
                <p:oleObj name="Equation" r:id="rId10" imgW="2197080" imgH="9014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2239" y="3376348"/>
                        <a:ext cx="2366968" cy="965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="" xmlns:a16="http://schemas.microsoft.com/office/drawing/2014/main" id="{3AEDB589-B949-44F1-AA63-BC3A8AD0E1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487666"/>
              </p:ext>
            </p:extLst>
          </p:nvPr>
        </p:nvGraphicFramePr>
        <p:xfrm>
          <a:off x="7680176" y="3376348"/>
          <a:ext cx="2325684" cy="965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55" name="Equation" r:id="rId12" imgW="2158920" imgH="901440" progId="Equation.DSMT4">
                  <p:embed/>
                </p:oleObj>
              </mc:Choice>
              <mc:Fallback>
                <p:oleObj name="Equation" r:id="rId12" imgW="2158920" imgH="90144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176" y="3376348"/>
                        <a:ext cx="2325684" cy="965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="" xmlns:a16="http://schemas.microsoft.com/office/drawing/2014/main" id="{6D545470-FE05-4C59-B8FF-A26ACBC058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942143"/>
              </p:ext>
            </p:extLst>
          </p:nvPr>
        </p:nvGraphicFramePr>
        <p:xfrm>
          <a:off x="2466827" y="4428050"/>
          <a:ext cx="2543439" cy="9665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56" name="Equation" r:id="rId14" imgW="2361960" imgH="901440" progId="Equation.DSMT4">
                  <p:embed/>
                </p:oleObj>
              </mc:Choice>
              <mc:Fallback>
                <p:oleObj name="Equation" r:id="rId14" imgW="2361960" imgH="9014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6827" y="4428050"/>
                        <a:ext cx="2543439" cy="9665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>
            <a:extLst>
              <a:ext uri="{FF2B5EF4-FFF2-40B4-BE49-F238E27FC236}">
                <a16:creationId xmlns="" xmlns:a16="http://schemas.microsoft.com/office/drawing/2014/main" id="{9D4F31C6-F8FB-43D5-A3E9-BBE04182BB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0040573"/>
              </p:ext>
            </p:extLst>
          </p:nvPr>
        </p:nvGraphicFramePr>
        <p:xfrm>
          <a:off x="5159227" y="4428051"/>
          <a:ext cx="2324065" cy="9665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57" name="Equation" r:id="rId16" imgW="2158920" imgH="901440" progId="Equation.DSMT4">
                  <p:embed/>
                </p:oleObj>
              </mc:Choice>
              <mc:Fallback>
                <p:oleObj name="Equation" r:id="rId16" imgW="2158920" imgH="9014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227" y="4428051"/>
                        <a:ext cx="2324065" cy="9665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>
            <a:extLst>
              <a:ext uri="{FF2B5EF4-FFF2-40B4-BE49-F238E27FC236}">
                <a16:creationId xmlns="" xmlns:a16="http://schemas.microsoft.com/office/drawing/2014/main" id="{0F8E8CE5-24FE-40AB-85FC-1C1D5D8A08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5271065"/>
              </p:ext>
            </p:extLst>
          </p:nvPr>
        </p:nvGraphicFramePr>
        <p:xfrm>
          <a:off x="7654776" y="4428051"/>
          <a:ext cx="2364539" cy="96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58" name="Equation" r:id="rId18" imgW="2197080" imgH="901440" progId="Equation.DSMT4">
                  <p:embed/>
                </p:oleObj>
              </mc:Choice>
              <mc:Fallback>
                <p:oleObj name="Equation" r:id="rId18" imgW="2197080" imgH="9014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4776" y="4428051"/>
                        <a:ext cx="2364539" cy="96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>
            <a:extLst>
              <a:ext uri="{FF2B5EF4-FFF2-40B4-BE49-F238E27FC236}">
                <a16:creationId xmlns="" xmlns:a16="http://schemas.microsoft.com/office/drawing/2014/main" id="{8BB7BBF5-6B54-4E50-9A17-621C3CF26E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771579"/>
              </p:ext>
            </p:extLst>
          </p:nvPr>
        </p:nvGraphicFramePr>
        <p:xfrm>
          <a:off x="2509685" y="5518081"/>
          <a:ext cx="2146785" cy="965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59" name="Equation" r:id="rId20" imgW="1993680" imgH="901440" progId="Equation.DSMT4">
                  <p:embed/>
                </p:oleObj>
              </mc:Choice>
              <mc:Fallback>
                <p:oleObj name="Equation" r:id="rId20" imgW="1993680" imgH="9014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9685" y="5518081"/>
                        <a:ext cx="2146785" cy="965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>
            <a:extLst>
              <a:ext uri="{FF2B5EF4-FFF2-40B4-BE49-F238E27FC236}">
                <a16:creationId xmlns="" xmlns:a16="http://schemas.microsoft.com/office/drawing/2014/main" id="{638BD67B-9889-451F-80E6-CDD293BD7F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73026"/>
              </p:ext>
            </p:extLst>
          </p:nvPr>
        </p:nvGraphicFramePr>
        <p:xfrm>
          <a:off x="5119540" y="5525823"/>
          <a:ext cx="2378301" cy="965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0" name="Equation" r:id="rId22" imgW="2209680" imgH="901440" progId="Equation.DSMT4">
                  <p:embed/>
                </p:oleObj>
              </mc:Choice>
              <mc:Fallback>
                <p:oleObj name="Equation" r:id="rId22" imgW="2209680" imgH="9014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9540" y="5525823"/>
                        <a:ext cx="2378301" cy="965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>
            <a:extLst>
              <a:ext uri="{FF2B5EF4-FFF2-40B4-BE49-F238E27FC236}">
                <a16:creationId xmlns="" xmlns:a16="http://schemas.microsoft.com/office/drawing/2014/main" id="{E6642BD3-B0BC-48B5-8B5F-034B6D3516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7680584"/>
              </p:ext>
            </p:extLst>
          </p:nvPr>
        </p:nvGraphicFramePr>
        <p:xfrm>
          <a:off x="7761140" y="5549634"/>
          <a:ext cx="2364539" cy="965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1" name="Equation" r:id="rId24" imgW="2197080" imgH="901440" progId="Equation.DSMT4">
                  <p:embed/>
                </p:oleObj>
              </mc:Choice>
              <mc:Fallback>
                <p:oleObj name="Equation" r:id="rId24" imgW="2197080" imgH="90144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1140" y="5549634"/>
                        <a:ext cx="2364539" cy="9657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7">
            <a:extLst>
              <a:ext uri="{FF2B5EF4-FFF2-40B4-BE49-F238E27FC236}">
                <a16:creationId xmlns="" xmlns:a16="http://schemas.microsoft.com/office/drawing/2014/main" id="{1D26CC64-0F08-4671-9479-AAEFDBAB49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298477"/>
              </p:ext>
            </p:extLst>
          </p:nvPr>
        </p:nvGraphicFramePr>
        <p:xfrm>
          <a:off x="7957412" y="1725533"/>
          <a:ext cx="2325685" cy="126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062" name="Equation" r:id="rId26" imgW="2565360" imgH="1396800" progId="Equation.DSMT4">
                  <p:embed/>
                </p:oleObj>
              </mc:Choice>
              <mc:Fallback>
                <p:oleObj name="Equation" r:id="rId26" imgW="2565360" imgH="1396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7412" y="1725533"/>
                        <a:ext cx="2325685" cy="126095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直接连接符 16">
            <a:extLst>
              <a:ext uri="{FF2B5EF4-FFF2-40B4-BE49-F238E27FC236}">
                <a16:creationId xmlns="" xmlns:a16="http://schemas.microsoft.com/office/drawing/2014/main" id="{5CED0B75-4F15-4B62-BD2C-3DE0C5D0FD28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2968277" y="2355215"/>
            <a:ext cx="1357312" cy="1588"/>
          </a:xfrm>
          <a:prstGeom prst="line">
            <a:avLst/>
          </a:prstGeom>
          <a:noFill/>
          <a:ln w="3492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连接符 17">
            <a:extLst>
              <a:ext uri="{FF2B5EF4-FFF2-40B4-BE49-F238E27FC236}">
                <a16:creationId xmlns="" xmlns:a16="http://schemas.microsoft.com/office/drawing/2014/main" id="{F7F2F92A-D1B8-493E-95C7-387F2D6CA49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407937" y="2309227"/>
            <a:ext cx="1357312" cy="1587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直接连接符 18">
            <a:extLst>
              <a:ext uri="{FF2B5EF4-FFF2-40B4-BE49-F238E27FC236}">
                <a16:creationId xmlns="" xmlns:a16="http://schemas.microsoft.com/office/drawing/2014/main" id="{D5A716B7-1910-4F9B-95F5-FF0612DA34C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3833962" y="2309227"/>
            <a:ext cx="1357312" cy="1587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19">
            <a:extLst>
              <a:ext uri="{FF2B5EF4-FFF2-40B4-BE49-F238E27FC236}">
                <a16:creationId xmlns="" xmlns:a16="http://schemas.microsoft.com/office/drawing/2014/main" id="{C13045E1-19F0-456C-BC7C-02538BFD335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48858" y="1844824"/>
            <a:ext cx="1214437" cy="1587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直接连接符 20">
            <a:extLst>
              <a:ext uri="{FF2B5EF4-FFF2-40B4-BE49-F238E27FC236}">
                <a16:creationId xmlns="" xmlns:a16="http://schemas.microsoft.com/office/drawing/2014/main" id="{736DB286-3273-48A7-BEDF-3FD0B6CDEF9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85419" y="2348880"/>
            <a:ext cx="1214437" cy="1587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直接连接符 21">
            <a:extLst>
              <a:ext uri="{FF2B5EF4-FFF2-40B4-BE49-F238E27FC236}">
                <a16:creationId xmlns="" xmlns:a16="http://schemas.microsoft.com/office/drawing/2014/main" id="{40BA73B0-99AA-4D67-8DDB-41579992B7A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548857" y="2780928"/>
            <a:ext cx="1214437" cy="1588"/>
          </a:xfrm>
          <a:prstGeom prst="line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1E26E0C4-D87A-48A6-BBF7-2BDFBD3988A4}"/>
              </a:ext>
            </a:extLst>
          </p:cNvPr>
          <p:cNvSpPr/>
          <p:nvPr/>
        </p:nvSpPr>
        <p:spPr>
          <a:xfrm>
            <a:off x="1810583" y="895420"/>
            <a:ext cx="867577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000" kern="0" dirty="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可逆矩阵的充要条件与逆矩阵的计算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78" name="对象 2">
            <a:extLst>
              <a:ext uri="{FF2B5EF4-FFF2-40B4-BE49-F238E27FC236}">
                <a16:creationId xmlns="" xmlns:a16="http://schemas.microsoft.com/office/drawing/2014/main" id="{9A5299A7-D4EB-44EF-9EAE-C761FC28BA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312294"/>
              </p:ext>
            </p:extLst>
          </p:nvPr>
        </p:nvGraphicFramePr>
        <p:xfrm>
          <a:off x="3273575" y="1799716"/>
          <a:ext cx="1846958" cy="1068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1" name="Equation" r:id="rId3" imgW="1485720" imgH="863280" progId="Equation.DSMT4">
                  <p:embed/>
                </p:oleObj>
              </mc:Choice>
              <mc:Fallback>
                <p:oleObj name="Equation" r:id="rId3" imgW="1485720" imgH="8632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3575" y="1799716"/>
                        <a:ext cx="1846958" cy="1068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="" xmlns:a16="http://schemas.microsoft.com/office/drawing/2014/main" id="{995087CA-5801-44B6-8943-C162D69AAD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4082570"/>
              </p:ext>
            </p:extLst>
          </p:nvPr>
        </p:nvGraphicFramePr>
        <p:xfrm>
          <a:off x="5231904" y="1470067"/>
          <a:ext cx="3015920" cy="172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2" name="Equation" r:id="rId5" imgW="2425680" imgH="1396800" progId="Equation.DSMT4">
                  <p:embed/>
                </p:oleObj>
              </mc:Choice>
              <mc:Fallback>
                <p:oleObj name="Equation" r:id="rId5" imgW="2425680" imgH="1396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4" y="1470067"/>
                        <a:ext cx="3015920" cy="1728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="" xmlns:a16="http://schemas.microsoft.com/office/drawing/2014/main" id="{4AA1C289-3933-4C0D-8206-69E8CEF879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671015"/>
              </p:ext>
            </p:extLst>
          </p:nvPr>
        </p:nvGraphicFramePr>
        <p:xfrm>
          <a:off x="5231905" y="3356992"/>
          <a:ext cx="3409625" cy="172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3" name="Equation" r:id="rId7" imgW="2743200" imgH="1396800" progId="Equation.DSMT4">
                  <p:embed/>
                </p:oleObj>
              </mc:Choice>
              <mc:Fallback>
                <p:oleObj name="Equation" r:id="rId7" imgW="2743200" imgH="1396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1905" y="3356992"/>
                        <a:ext cx="3409625" cy="17281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2135560" y="548680"/>
            <a:ext cx="4892675" cy="1524000"/>
            <a:chOff x="758" y="288"/>
            <a:chExt cx="3082" cy="960"/>
          </a:xfrm>
        </p:grpSpPr>
        <p:sp>
          <p:nvSpPr>
            <p:cNvPr id="4" name="Text Box 4"/>
            <p:cNvSpPr txBox="1">
              <a:spLocks noChangeArrowheads="1"/>
            </p:cNvSpPr>
            <p:nvPr/>
          </p:nvSpPr>
          <p:spPr bwMode="auto">
            <a:xfrm>
              <a:off x="758" y="618"/>
              <a:ext cx="85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例</a:t>
              </a:r>
              <a:r>
                <a:rPr lang="en-US" altLang="zh-CN">
                  <a:solidFill>
                    <a:schemeClr val="bg1"/>
                  </a:solidFill>
                </a:rPr>
                <a:t> 4  </a:t>
              </a:r>
              <a:r>
                <a:rPr lang="zh-CN" altLang="en-US">
                  <a:solidFill>
                    <a:schemeClr val="bg1"/>
                  </a:solidFill>
                </a:rPr>
                <a:t>设</a:t>
              </a:r>
            </a:p>
          </p:txBody>
        </p:sp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1536" y="288"/>
            <a:ext cx="1396" cy="9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3" name="Equation" r:id="rId3" imgW="1332720" imgH="901800" progId="Equation.3">
                    <p:embed/>
                  </p:oleObj>
                </mc:Choice>
                <mc:Fallback>
                  <p:oleObj name="Equation" r:id="rId3" imgW="1332720" imgH="90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88"/>
                          <a:ext cx="1396" cy="9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3062" y="604"/>
              <a:ext cx="3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求</a:t>
              </a:r>
            </a:p>
          </p:txBody>
        </p:sp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3360" y="624"/>
            <a:ext cx="480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4" name="Equation" r:id="rId5" imgW="380880" imgH="241200" progId="Equation.3">
                    <p:embed/>
                  </p:oleObj>
                </mc:Choice>
                <mc:Fallback>
                  <p:oleObj name="Equation" r:id="rId5" imgW="3808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624"/>
                          <a:ext cx="480" cy="3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999035" y="2225080"/>
            <a:ext cx="541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99FF99"/>
                </a:solidFill>
              </a:rPr>
              <a:t>解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668960" y="2193330"/>
            <a:ext cx="16129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分块法：</a:t>
            </a:r>
          </a:p>
        </p:txBody>
      </p:sp>
      <p:grpSp>
        <p:nvGrpSpPr>
          <p:cNvPr id="10" name="Group 21"/>
          <p:cNvGrpSpPr>
            <a:grpSpLocks/>
          </p:cNvGrpSpPr>
          <p:nvPr/>
        </p:nvGrpSpPr>
        <p:grpSpPr bwMode="auto">
          <a:xfrm>
            <a:off x="2630860" y="2193330"/>
            <a:ext cx="7405688" cy="946150"/>
            <a:chOff x="1070" y="1324"/>
            <a:chExt cx="4665" cy="596"/>
          </a:xfrm>
        </p:grpSpPr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1070" y="1324"/>
              <a:ext cx="4665" cy="5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SimSun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chemeClr val="bg1"/>
                  </a:solidFill>
                </a:rPr>
                <a:t>                 </a:t>
              </a:r>
              <a:r>
                <a:rPr lang="zh-CN" altLang="en-US">
                  <a:solidFill>
                    <a:schemeClr val="bg1"/>
                  </a:solidFill>
                </a:rPr>
                <a:t>对</a:t>
              </a:r>
              <a:r>
                <a:rPr lang="zh-CN" altLang="en-US"/>
                <a:t>    </a:t>
              </a:r>
              <a:r>
                <a:rPr lang="zh-CN" altLang="en-US">
                  <a:solidFill>
                    <a:schemeClr val="bg1"/>
                  </a:solidFill>
                </a:rPr>
                <a:t>做如下形式的分块后，得到分块对角阵</a:t>
              </a:r>
              <a:r>
                <a:rPr lang="en-US" altLang="zh-CN">
                  <a:solidFill>
                    <a:schemeClr val="bg1"/>
                  </a:solidFill>
                </a:rPr>
                <a:t>:</a:t>
              </a:r>
            </a:p>
          </p:txBody>
        </p:sp>
        <p:graphicFrame>
          <p:nvGraphicFramePr>
            <p:cNvPr id="12" name="Object 11"/>
            <p:cNvGraphicFramePr>
              <a:graphicFrameLocks noChangeAspect="1"/>
            </p:cNvGraphicFramePr>
            <p:nvPr/>
          </p:nvGraphicFramePr>
          <p:xfrm>
            <a:off x="2232" y="1334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35" name="Equation" r:id="rId7" imgW="190440" imgH="190440" progId="Equation.3">
                    <p:embed/>
                  </p:oleObj>
                </mc:Choice>
                <mc:Fallback>
                  <p:oleObj name="Equation" r:id="rId7" imgW="190440" imgH="190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2" y="1334"/>
                          <a:ext cx="28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07472"/>
              </p:ext>
            </p:extLst>
          </p:nvPr>
        </p:nvGraphicFramePr>
        <p:xfrm>
          <a:off x="3183310" y="3139480"/>
          <a:ext cx="2132013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6" name="Equation" r:id="rId9" imgW="1281960" imgH="901800" progId="Equation.3">
                  <p:embed/>
                </p:oleObj>
              </mc:Choice>
              <mc:Fallback>
                <p:oleObj name="Equation" r:id="rId9" imgW="1281960" imgH="90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3310" y="3139480"/>
                        <a:ext cx="2132013" cy="15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13"/>
          <p:cNvSpPr>
            <a:spLocks noChangeShapeType="1"/>
          </p:cNvSpPr>
          <p:nvPr/>
        </p:nvSpPr>
        <p:spPr bwMode="auto">
          <a:xfrm>
            <a:off x="3827835" y="3596680"/>
            <a:ext cx="1295400" cy="0"/>
          </a:xfrm>
          <a:prstGeom prst="line">
            <a:avLst/>
          </a:prstGeom>
          <a:noFill/>
          <a:ln w="28575">
            <a:solidFill>
              <a:srgbClr val="99FF99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Line 14"/>
          <p:cNvSpPr>
            <a:spLocks noChangeShapeType="1"/>
          </p:cNvSpPr>
          <p:nvPr/>
        </p:nvSpPr>
        <p:spPr bwMode="auto">
          <a:xfrm>
            <a:off x="4285035" y="3215680"/>
            <a:ext cx="0" cy="1295400"/>
          </a:xfrm>
          <a:prstGeom prst="line">
            <a:avLst/>
          </a:prstGeom>
          <a:noFill/>
          <a:ln w="28575">
            <a:solidFill>
              <a:srgbClr val="99FF99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777813"/>
              </p:ext>
            </p:extLst>
          </p:nvPr>
        </p:nvGraphicFramePr>
        <p:xfrm>
          <a:off x="5351835" y="3444280"/>
          <a:ext cx="1524000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7" name="Equation" r:id="rId11" imgW="1028160" imgH="596880" progId="Equation.3">
                  <p:embed/>
                </p:oleObj>
              </mc:Choice>
              <mc:Fallback>
                <p:oleObj name="Equation" r:id="rId11" imgW="1028160" imgH="596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835" y="3444280"/>
                        <a:ext cx="1524000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400462"/>
              </p:ext>
            </p:extLst>
          </p:nvPr>
        </p:nvGraphicFramePr>
        <p:xfrm>
          <a:off x="3065835" y="4892080"/>
          <a:ext cx="10668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8" name="Equation" r:id="rId13" imgW="672840" imgH="291960" progId="Equation.3">
                  <p:embed/>
                </p:oleObj>
              </mc:Choice>
              <mc:Fallback>
                <p:oleObj name="Equation" r:id="rId13" imgW="67284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835" y="4892080"/>
                        <a:ext cx="10668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2202205"/>
              </p:ext>
            </p:extLst>
          </p:nvPr>
        </p:nvGraphicFramePr>
        <p:xfrm>
          <a:off x="4216773" y="4815880"/>
          <a:ext cx="150971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9" name="Equation" r:id="rId15" imgW="723600" imgH="291960" progId="Equation.3">
                  <p:embed/>
                </p:oleObj>
              </mc:Choice>
              <mc:Fallback>
                <p:oleObj name="Equation" r:id="rId15" imgW="72360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6773" y="4815880"/>
                        <a:ext cx="1509712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524276"/>
              </p:ext>
            </p:extLst>
          </p:nvPr>
        </p:nvGraphicFramePr>
        <p:xfrm>
          <a:off x="3065835" y="5501680"/>
          <a:ext cx="2524125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0" name="Equation" r:id="rId17" imgW="1612080" imgH="596880" progId="Equation.3">
                  <p:embed/>
                </p:oleObj>
              </mc:Choice>
              <mc:Fallback>
                <p:oleObj name="Equation" r:id="rId17" imgW="1612080" imgH="596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835" y="5501680"/>
                        <a:ext cx="2524125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855650"/>
              </p:ext>
            </p:extLst>
          </p:nvPr>
        </p:nvGraphicFramePr>
        <p:xfrm>
          <a:off x="5809035" y="5501680"/>
          <a:ext cx="24384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41" name="Equation" r:id="rId19" imgW="1485000" imgH="596880" progId="Equation.3">
                  <p:embed/>
                </p:oleObj>
              </mc:Choice>
              <mc:Fallback>
                <p:oleObj name="Equation" r:id="rId19" imgW="1485000" imgH="596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9035" y="5501680"/>
                        <a:ext cx="2438400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003940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9" grpId="0" autoUpdateAnimBg="0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063552" y="1124744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因此</a:t>
            </a: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339920"/>
              </p:ext>
            </p:extLst>
          </p:nvPr>
        </p:nvGraphicFramePr>
        <p:xfrm>
          <a:off x="3358952" y="1200944"/>
          <a:ext cx="2895600" cy="1239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6" name="Equation" r:id="rId3" imgW="1510560" imgH="635040" progId="Equation.3">
                  <p:embed/>
                </p:oleObj>
              </mc:Choice>
              <mc:Fallback>
                <p:oleObj name="Equation" r:id="rId3" imgW="1510560" imgH="635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8952" y="1200944"/>
                        <a:ext cx="2895600" cy="1239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364763"/>
              </p:ext>
            </p:extLst>
          </p:nvPr>
        </p:nvGraphicFramePr>
        <p:xfrm>
          <a:off x="3968552" y="2648744"/>
          <a:ext cx="2209800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7" name="Equation" r:id="rId5" imgW="1193040" imgH="635040" progId="Equation.3">
                  <p:embed/>
                </p:oleObj>
              </mc:Choice>
              <mc:Fallback>
                <p:oleObj name="Equation" r:id="rId5" imgW="1193040" imgH="635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552" y="2648744"/>
                        <a:ext cx="2209800" cy="1195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621053"/>
              </p:ext>
            </p:extLst>
          </p:nvPr>
        </p:nvGraphicFramePr>
        <p:xfrm>
          <a:off x="6178352" y="2343944"/>
          <a:ext cx="2667000" cy="175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8" name="Equation" r:id="rId7" imgW="1409040" imgH="927000" progId="Equation.3">
                  <p:embed/>
                </p:oleObj>
              </mc:Choice>
              <mc:Fallback>
                <p:oleObj name="Equation" r:id="rId7" imgW="1409040" imgH="927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8352" y="2343944"/>
                        <a:ext cx="2667000" cy="175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6711752" y="2953544"/>
            <a:ext cx="1828800" cy="0"/>
          </a:xfrm>
          <a:prstGeom prst="line">
            <a:avLst/>
          </a:prstGeom>
          <a:noFill/>
          <a:ln w="28575">
            <a:solidFill>
              <a:srgbClr val="99FF99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>
            <a:off x="7168952" y="2420144"/>
            <a:ext cx="0" cy="1524000"/>
          </a:xfrm>
          <a:prstGeom prst="line">
            <a:avLst/>
          </a:prstGeom>
          <a:noFill/>
          <a:ln w="28575">
            <a:solidFill>
              <a:srgbClr val="99FF99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1971477" y="4140994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99FF99"/>
                </a:solidFill>
                <a:ea typeface="黑体" panose="02010609060101010101" pitchFamily="49" charset="-122"/>
              </a:rPr>
              <a:t>说明</a:t>
            </a:r>
          </a:p>
        </p:txBody>
      </p:sp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1963540" y="4706144"/>
            <a:ext cx="80248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chemeClr val="bg1"/>
                </a:solidFill>
              </a:rPr>
              <a:t>由此例可以看出，用</a:t>
            </a:r>
            <a:r>
              <a:rPr lang="zh-CN" altLang="en-US" dirty="0">
                <a:solidFill>
                  <a:srgbClr val="00B050"/>
                </a:solidFill>
              </a:rPr>
              <a:t>分块法把求</a:t>
            </a:r>
            <a:r>
              <a:rPr lang="en-US" altLang="zh-CN" dirty="0">
                <a:solidFill>
                  <a:srgbClr val="00B050"/>
                </a:solidFill>
              </a:rPr>
              <a:t>3</a:t>
            </a:r>
            <a:r>
              <a:rPr lang="zh-CN" altLang="en-US" dirty="0">
                <a:solidFill>
                  <a:srgbClr val="00B050"/>
                </a:solidFill>
              </a:rPr>
              <a:t>阶矩阵的逆阵问</a:t>
            </a: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00B050"/>
                </a:solidFill>
              </a:rPr>
              <a:t>  题化为求</a:t>
            </a:r>
            <a:r>
              <a:rPr lang="en-US" altLang="zh-CN" dirty="0">
                <a:solidFill>
                  <a:srgbClr val="00B050"/>
                </a:solidFill>
              </a:rPr>
              <a:t>2</a:t>
            </a:r>
            <a:r>
              <a:rPr lang="zh-CN" altLang="en-US" dirty="0">
                <a:solidFill>
                  <a:srgbClr val="00B050"/>
                </a:solidFill>
              </a:rPr>
              <a:t>阶矩阵的逆阵问题</a:t>
            </a:r>
            <a:r>
              <a:rPr lang="zh-CN" altLang="en-US" dirty="0">
                <a:solidFill>
                  <a:srgbClr val="FFCC99"/>
                </a:solidFill>
              </a:rPr>
              <a:t>，</a:t>
            </a:r>
            <a:r>
              <a:rPr lang="zh-CN" altLang="en-US" dirty="0">
                <a:solidFill>
                  <a:schemeClr val="bg1"/>
                </a:solidFill>
              </a:rPr>
              <a:t>使计算简便多了</a:t>
            </a:r>
            <a:r>
              <a:rPr lang="en-US" altLang="zh-CN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1987352" y="5696744"/>
            <a:ext cx="7399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chemeClr val="bg1"/>
                </a:solidFill>
              </a:rPr>
              <a:t>此例显示出</a:t>
            </a:r>
            <a:r>
              <a:rPr lang="zh-CN" altLang="en-US" dirty="0">
                <a:solidFill>
                  <a:srgbClr val="FFCC99"/>
                </a:solidFill>
              </a:rPr>
              <a:t>，</a:t>
            </a:r>
            <a:r>
              <a:rPr lang="zh-CN" altLang="en-US" dirty="0">
                <a:solidFill>
                  <a:srgbClr val="00B050"/>
                </a:solidFill>
              </a:rPr>
              <a:t>记住</a:t>
            </a:r>
            <a:r>
              <a:rPr lang="en-US" altLang="zh-CN" dirty="0">
                <a:solidFill>
                  <a:srgbClr val="00B050"/>
                </a:solidFill>
              </a:rPr>
              <a:t>2</a:t>
            </a:r>
            <a:r>
              <a:rPr lang="zh-CN" altLang="en-US" dirty="0">
                <a:solidFill>
                  <a:srgbClr val="00B050"/>
                </a:solidFill>
              </a:rPr>
              <a:t>阶矩阵的逆阵，是必要的</a:t>
            </a:r>
            <a:r>
              <a:rPr lang="en-US" altLang="zh-CN" dirty="0">
                <a:solidFill>
                  <a:srgbClr val="FFCC99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167960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7" grpId="0" animBg="1"/>
      <p:bldP spid="8" grpId="0" animBg="1"/>
      <p:bldP spid="9" grpId="0" autoUpdateAnimBg="0"/>
      <p:bldP spid="10" grpId="0" autoUpdateAnimBg="0"/>
      <p:bldP spid="11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1631504" y="1196752"/>
            <a:ext cx="9456737" cy="795337"/>
          </a:xfrm>
          <a:prstGeom prst="rect">
            <a:avLst/>
          </a:prstGeom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kumimoji="0" lang="zh-CN" altLang="en-US" dirty="0">
                <a:solidFill>
                  <a:srgbClr val="FFC000"/>
                </a:solidFill>
              </a:rPr>
              <a:t>定义</a:t>
            </a:r>
            <a:r>
              <a:rPr kumimoji="0" lang="en-US" altLang="zh-CN" dirty="0">
                <a:solidFill>
                  <a:srgbClr val="FFC000"/>
                </a:solidFill>
              </a:rPr>
              <a:t>2   </a:t>
            </a:r>
            <a:r>
              <a:rPr kumimoji="0" lang="zh-CN" altLang="en-US" dirty="0">
                <a:solidFill>
                  <a:srgbClr val="FFC000"/>
                </a:solidFill>
              </a:rPr>
              <a:t>当</a:t>
            </a:r>
            <a:r>
              <a:rPr kumimoji="0" lang="en-US" altLang="zh-CN" dirty="0">
                <a:solidFill>
                  <a:srgbClr val="FFC000"/>
                </a:solidFill>
              </a:rPr>
              <a:t>|</a:t>
            </a:r>
            <a:r>
              <a:rPr kumimoji="0" lang="en-US" altLang="zh-CN" i="1" dirty="0">
                <a:solidFill>
                  <a:srgbClr val="FFC000"/>
                </a:solidFill>
              </a:rPr>
              <a:t>A</a:t>
            </a:r>
            <a:r>
              <a:rPr kumimoji="0" lang="en-US" altLang="zh-CN" dirty="0">
                <a:solidFill>
                  <a:srgbClr val="FFC000"/>
                </a:solidFill>
              </a:rPr>
              <a:t>|=0</a:t>
            </a:r>
            <a:r>
              <a:rPr kumimoji="0" lang="zh-CN" altLang="en-US" dirty="0">
                <a:solidFill>
                  <a:srgbClr val="FFC000"/>
                </a:solidFill>
              </a:rPr>
              <a:t>时，称</a:t>
            </a:r>
            <a:r>
              <a:rPr kumimoji="0" lang="en-US" altLang="zh-CN" i="1" dirty="0">
                <a:solidFill>
                  <a:srgbClr val="FFC000"/>
                </a:solidFill>
              </a:rPr>
              <a:t>A</a:t>
            </a:r>
            <a:r>
              <a:rPr kumimoji="0" lang="zh-CN" altLang="en-US" dirty="0">
                <a:solidFill>
                  <a:srgbClr val="FFC000"/>
                </a:solidFill>
              </a:rPr>
              <a:t>为奇异矩阵</a:t>
            </a:r>
            <a:r>
              <a:rPr kumimoji="0" lang="zh-CN" altLang="en-US" dirty="0">
                <a:solidFill>
                  <a:srgbClr val="00FF00"/>
                </a:solidFill>
              </a:rPr>
              <a:t>（</a:t>
            </a:r>
            <a:r>
              <a:rPr kumimoji="0" lang="zh-CN" altLang="en-US" dirty="0">
                <a:solidFill>
                  <a:srgbClr val="00B050"/>
                </a:solidFill>
              </a:rPr>
              <a:t>退化矩阵</a:t>
            </a:r>
            <a:r>
              <a:rPr kumimoji="0" lang="zh-CN" altLang="en-US" dirty="0">
                <a:solidFill>
                  <a:srgbClr val="00FF00"/>
                </a:solidFill>
              </a:rPr>
              <a:t>）。</a:t>
            </a: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3007866" y="2879502"/>
            <a:ext cx="7056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C000"/>
                </a:solidFill>
              </a:rPr>
              <a:t>由定理</a:t>
            </a:r>
            <a:r>
              <a:rPr lang="en-US" altLang="zh-CN" dirty="0">
                <a:solidFill>
                  <a:srgbClr val="FFC000"/>
                </a:solidFill>
              </a:rPr>
              <a:t>2</a:t>
            </a:r>
            <a:r>
              <a:rPr lang="zh-CN" altLang="en-US" dirty="0">
                <a:solidFill>
                  <a:srgbClr val="FFC000"/>
                </a:solidFill>
              </a:rPr>
              <a:t>可知，可逆矩阵就是非奇异矩阵。</a:t>
            </a: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899916" y="2036539"/>
            <a:ext cx="72707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C000"/>
                </a:solidFill>
              </a:rPr>
              <a:t>否则称</a:t>
            </a:r>
            <a:r>
              <a:rPr lang="en-US" altLang="zh-CN" i="1" dirty="0">
                <a:solidFill>
                  <a:srgbClr val="FFC000"/>
                </a:solidFill>
              </a:rPr>
              <a:t>A</a:t>
            </a:r>
            <a:r>
              <a:rPr lang="zh-CN" altLang="en-US" dirty="0">
                <a:solidFill>
                  <a:srgbClr val="FFC000"/>
                </a:solidFill>
              </a:rPr>
              <a:t>为非奇异矩阵</a:t>
            </a:r>
            <a:r>
              <a:rPr lang="zh-CN" altLang="en-US" dirty="0">
                <a:solidFill>
                  <a:srgbClr val="66FF33"/>
                </a:solidFill>
              </a:rPr>
              <a:t>（</a:t>
            </a:r>
            <a:r>
              <a:rPr lang="zh-CN" altLang="en-US" dirty="0">
                <a:solidFill>
                  <a:srgbClr val="00B050"/>
                </a:solidFill>
              </a:rPr>
              <a:t>非</a:t>
            </a:r>
            <a:r>
              <a:rPr lang="zh-CN" altLang="en-US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退化矩阵</a:t>
            </a:r>
            <a:r>
              <a:rPr lang="zh-CN" alt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）。</a:t>
            </a:r>
            <a:endParaRPr lang="zh-CN" altLang="en-US" dirty="0">
              <a:solidFill>
                <a:srgbClr val="FFFF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631504" y="4292377"/>
            <a:ext cx="1524000" cy="609600"/>
          </a:xfrm>
          <a:prstGeom prst="rect">
            <a:avLst/>
          </a:prstGeom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kumimoji="0" lang="zh-CN" altLang="en-US" dirty="0">
                <a:solidFill>
                  <a:srgbClr val="00B050"/>
                </a:solidFill>
              </a:rPr>
              <a:t>推论 ：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776091" y="4297139"/>
            <a:ext cx="3886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zh-CN" altLang="en-US" dirty="0">
                <a:solidFill>
                  <a:srgbClr val="FFC000"/>
                </a:solidFill>
              </a:rPr>
              <a:t>设</a:t>
            </a:r>
            <a:r>
              <a:rPr lang="en-US" altLang="zh-CN" i="1" dirty="0">
                <a:solidFill>
                  <a:srgbClr val="FFC000"/>
                </a:solidFill>
              </a:rPr>
              <a:t>A</a:t>
            </a:r>
            <a:r>
              <a:rPr lang="zh-CN" altLang="en-US" dirty="0">
                <a:solidFill>
                  <a:srgbClr val="FFC000"/>
                </a:solidFill>
              </a:rPr>
              <a:t>、</a:t>
            </a:r>
            <a:r>
              <a:rPr lang="en-US" altLang="zh-CN" i="1" dirty="0">
                <a:solidFill>
                  <a:srgbClr val="FFC000"/>
                </a:solidFill>
              </a:rPr>
              <a:t>B</a:t>
            </a:r>
            <a:r>
              <a:rPr lang="zh-CN" altLang="en-US" dirty="0">
                <a:solidFill>
                  <a:srgbClr val="FFC000"/>
                </a:solidFill>
              </a:rPr>
              <a:t>是</a:t>
            </a:r>
            <a:r>
              <a:rPr lang="en-US" altLang="zh-CN" i="1" dirty="0">
                <a:solidFill>
                  <a:srgbClr val="FFC000"/>
                </a:solidFill>
              </a:rPr>
              <a:t>n</a:t>
            </a:r>
            <a:r>
              <a:rPr lang="en-US" altLang="zh-CN" dirty="0">
                <a:solidFill>
                  <a:srgbClr val="FFC000"/>
                </a:solidFill>
              </a:rPr>
              <a:t> </a:t>
            </a:r>
            <a:r>
              <a:rPr lang="zh-CN" altLang="en-US" dirty="0">
                <a:solidFill>
                  <a:srgbClr val="FFC000"/>
                </a:solidFill>
              </a:rPr>
              <a:t>阶方阵，</a:t>
            </a:r>
            <a:endParaRPr lang="zh-CN" altLang="en-US" baseline="30000" dirty="0">
              <a:solidFill>
                <a:srgbClr val="FFC000"/>
              </a:solidFill>
            </a:endParaRPr>
          </a:p>
        </p:txBody>
      </p:sp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4943029" y="5155977"/>
            <a:ext cx="1939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rgbClr val="FFC000"/>
                </a:solidFill>
              </a:rPr>
              <a:t>则 </a:t>
            </a:r>
            <a:r>
              <a:rPr lang="en-US" altLang="zh-CN" i="1" dirty="0">
                <a:solidFill>
                  <a:srgbClr val="FFC000"/>
                </a:solidFill>
              </a:rPr>
              <a:t>B</a:t>
            </a:r>
            <a:r>
              <a:rPr lang="en-US" altLang="zh-CN" dirty="0">
                <a:solidFill>
                  <a:srgbClr val="FFC000"/>
                </a:solidFill>
              </a:rPr>
              <a:t>=</a:t>
            </a:r>
            <a:r>
              <a:rPr lang="en-US" altLang="zh-CN" i="1" dirty="0">
                <a:solidFill>
                  <a:srgbClr val="FFC000"/>
                </a:solidFill>
              </a:rPr>
              <a:t>A</a:t>
            </a:r>
            <a:r>
              <a:rPr lang="en-US" altLang="zh-CN" baseline="30000" dirty="0">
                <a:solidFill>
                  <a:srgbClr val="FFC000"/>
                </a:solidFill>
              </a:rPr>
              <a:t>-1</a:t>
            </a:r>
            <a:r>
              <a:rPr lang="zh-CN" altLang="en-US" dirty="0">
                <a:solidFill>
                  <a:srgbClr val="FFC000"/>
                </a:solidFill>
              </a:rPr>
              <a:t>。</a:t>
            </a:r>
          </a:p>
        </p:txBody>
      </p:sp>
      <p:sp>
        <p:nvSpPr>
          <p:cNvPr id="8" name="Rectangle 21"/>
          <p:cNvSpPr>
            <a:spLocks noChangeArrowheads="1"/>
          </p:cNvSpPr>
          <p:nvPr/>
        </p:nvSpPr>
        <p:spPr bwMode="auto">
          <a:xfrm>
            <a:off x="3071366" y="5135339"/>
            <a:ext cx="43894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FFC000"/>
                </a:solidFill>
              </a:rPr>
              <a:t>或 </a:t>
            </a:r>
            <a:r>
              <a:rPr lang="en-US" altLang="zh-CN" i="1" dirty="0">
                <a:solidFill>
                  <a:srgbClr val="FFC000"/>
                </a:solidFill>
              </a:rPr>
              <a:t>BA</a:t>
            </a:r>
            <a:r>
              <a:rPr lang="en-US" altLang="zh-CN" dirty="0">
                <a:solidFill>
                  <a:srgbClr val="FFC000"/>
                </a:solidFill>
              </a:rPr>
              <a:t>= </a:t>
            </a:r>
            <a:r>
              <a:rPr lang="en-US" altLang="zh-CN" i="1" dirty="0">
                <a:solidFill>
                  <a:srgbClr val="FFC000"/>
                </a:solidFill>
              </a:rPr>
              <a:t>E</a:t>
            </a:r>
            <a:r>
              <a:rPr lang="en-US" altLang="zh-CN" dirty="0">
                <a:solidFill>
                  <a:srgbClr val="FFC000"/>
                </a:solidFill>
              </a:rPr>
              <a:t>  ,</a:t>
            </a: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6382891" y="4309839"/>
            <a:ext cx="2376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FFC000"/>
                </a:solidFill>
              </a:rPr>
              <a:t>如果 </a:t>
            </a:r>
            <a:r>
              <a:rPr lang="en-US" altLang="zh-CN" i="1" dirty="0">
                <a:solidFill>
                  <a:srgbClr val="FFC000"/>
                </a:solidFill>
              </a:rPr>
              <a:t>A B</a:t>
            </a:r>
            <a:r>
              <a:rPr lang="en-US" altLang="zh-CN" dirty="0">
                <a:solidFill>
                  <a:srgbClr val="FFC000"/>
                </a:solidFill>
              </a:rPr>
              <a:t> = </a:t>
            </a:r>
            <a:r>
              <a:rPr lang="en-US" altLang="zh-CN" i="1" dirty="0">
                <a:solidFill>
                  <a:srgbClr val="FFC000"/>
                </a:solidFill>
              </a:rPr>
              <a:t>E</a:t>
            </a:r>
            <a:r>
              <a:rPr lang="en-US" altLang="zh-CN" dirty="0">
                <a:solidFill>
                  <a:srgbClr val="FFC00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1785091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3" grpId="0" build="p" autoUpdateAnimBg="0"/>
      <p:bldP spid="4" grpId="0" build="p" autoUpdateAnimBg="0"/>
      <p:bldP spid="5" grpId="0" build="p" autoUpdateAnimBg="0"/>
      <p:bldP spid="6" grpId="0" build="p" autoUpdateAnimBg="0"/>
      <p:bldP spid="7" grpId="0" build="p" autoUpdateAnimBg="0"/>
      <p:bldP spid="8" grpId="0" build="p" autoUpdateAnimBg="0"/>
      <p:bldP spid="9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052736"/>
            <a:ext cx="12192000" cy="281307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2400" dirty="0">
                <a:solidFill>
                  <a:srgbClr val="00B050"/>
                </a:solidFill>
              </a:rPr>
              <a:t>利用推论去讨论逆矩阵比较方便</a:t>
            </a:r>
            <a:r>
              <a:rPr lang="en-US" altLang="zh-CN" sz="2400" dirty="0">
                <a:solidFill>
                  <a:srgbClr val="00B050"/>
                </a:solidFill>
              </a:rPr>
              <a:t>, </a:t>
            </a:r>
            <a:r>
              <a:rPr lang="zh-CN" altLang="en-US" sz="2400" dirty="0">
                <a:solidFill>
                  <a:srgbClr val="00B050"/>
                </a:solidFill>
              </a:rPr>
              <a:t>例如证明逆矩阵的存在性以及验证逆矩阵的正确性等</a:t>
            </a:r>
            <a:r>
              <a:rPr lang="en-US" altLang="zh-CN" sz="2400" dirty="0">
                <a:solidFill>
                  <a:srgbClr val="00B050"/>
                </a:solidFill>
              </a:rPr>
              <a:t>.</a:t>
            </a:r>
          </a:p>
          <a:p>
            <a:pPr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zh-CN" altLang="en-US" sz="3200" dirty="0">
                <a:solidFill>
                  <a:schemeClr val="bg1"/>
                </a:solidFill>
                <a:ea typeface="华文新魏" panose="02010800040101010101" pitchFamily="2" charset="-122"/>
              </a:rPr>
              <a:t>例</a:t>
            </a:r>
            <a:r>
              <a:rPr lang="en-US" altLang="zh-CN" sz="3200" dirty="0">
                <a:solidFill>
                  <a:schemeClr val="bg1"/>
                </a:solidFill>
                <a:ea typeface="华文新魏" panose="02010800040101010101" pitchFamily="2" charset="-122"/>
              </a:rPr>
              <a:t>5   </a:t>
            </a:r>
            <a:r>
              <a:rPr lang="zh-CN" altLang="en-US" sz="3200" dirty="0">
                <a:solidFill>
                  <a:schemeClr val="bg1"/>
                </a:solidFill>
              </a:rPr>
              <a:t>设</a:t>
            </a:r>
            <a:r>
              <a:rPr lang="en-US" altLang="zh-CN" sz="3200" i="1" dirty="0">
                <a:solidFill>
                  <a:schemeClr val="bg1"/>
                </a:solidFill>
              </a:rPr>
              <a:t>A</a:t>
            </a:r>
            <a:r>
              <a:rPr lang="zh-CN" altLang="en-US" sz="3200" dirty="0">
                <a:solidFill>
                  <a:schemeClr val="bg1"/>
                </a:solidFill>
              </a:rPr>
              <a:t>满足</a:t>
            </a:r>
            <a:r>
              <a:rPr lang="en-US" altLang="zh-CN" sz="3200" i="1" dirty="0">
                <a:solidFill>
                  <a:schemeClr val="bg1"/>
                </a:solidFill>
              </a:rPr>
              <a:t>A</a:t>
            </a:r>
            <a:r>
              <a:rPr lang="en-US" altLang="zh-CN" sz="3200" baseline="30000" dirty="0">
                <a:solidFill>
                  <a:schemeClr val="bg1"/>
                </a:solidFill>
              </a:rPr>
              <a:t>2</a:t>
            </a:r>
            <a:r>
              <a:rPr lang="en-US" altLang="zh-CN" sz="3200" dirty="0">
                <a:solidFill>
                  <a:schemeClr val="bg1"/>
                </a:solidFill>
              </a:rPr>
              <a:t> – 5</a:t>
            </a:r>
            <a:r>
              <a:rPr lang="en-US" altLang="zh-CN" sz="3200" i="1" dirty="0">
                <a:solidFill>
                  <a:schemeClr val="bg1"/>
                </a:solidFill>
              </a:rPr>
              <a:t>A</a:t>
            </a:r>
            <a:r>
              <a:rPr lang="en-US" altLang="zh-CN" sz="3200" dirty="0">
                <a:solidFill>
                  <a:schemeClr val="bg1"/>
                </a:solidFill>
              </a:rPr>
              <a:t> + 4</a:t>
            </a:r>
            <a:r>
              <a:rPr lang="en-US" altLang="zh-CN" sz="3200" i="1" dirty="0">
                <a:solidFill>
                  <a:schemeClr val="bg1"/>
                </a:solidFill>
              </a:rPr>
              <a:t>E</a:t>
            </a:r>
            <a:r>
              <a:rPr lang="en-US" altLang="zh-CN" sz="3200" dirty="0">
                <a:solidFill>
                  <a:schemeClr val="bg1"/>
                </a:solidFill>
              </a:rPr>
              <a:t> = 0</a:t>
            </a:r>
            <a:r>
              <a:rPr lang="zh-CN" altLang="en-US" sz="3200" dirty="0">
                <a:solidFill>
                  <a:schemeClr val="bg1"/>
                </a:solidFill>
              </a:rPr>
              <a:t>，证明</a:t>
            </a:r>
            <a:r>
              <a:rPr lang="en-US" altLang="zh-CN" sz="3200" i="1" dirty="0">
                <a:solidFill>
                  <a:schemeClr val="bg1"/>
                </a:solidFill>
              </a:rPr>
              <a:t>A</a:t>
            </a:r>
            <a:r>
              <a:rPr lang="zh-CN" altLang="en-US" sz="3200" dirty="0">
                <a:solidFill>
                  <a:schemeClr val="bg1"/>
                </a:solidFill>
              </a:rPr>
              <a:t>和</a:t>
            </a:r>
            <a:r>
              <a:rPr lang="en-US" altLang="zh-CN" sz="3200" i="1" dirty="0">
                <a:solidFill>
                  <a:schemeClr val="bg1"/>
                </a:solidFill>
              </a:rPr>
              <a:t>A</a:t>
            </a:r>
            <a:r>
              <a:rPr lang="en-US" altLang="zh-CN" sz="3200" dirty="0">
                <a:solidFill>
                  <a:schemeClr val="bg1"/>
                </a:solidFill>
              </a:rPr>
              <a:t> – 3</a:t>
            </a:r>
            <a:r>
              <a:rPr lang="en-US" altLang="zh-CN" sz="3200" i="1" dirty="0">
                <a:solidFill>
                  <a:schemeClr val="bg1"/>
                </a:solidFill>
              </a:rPr>
              <a:t>E</a:t>
            </a:r>
            <a:r>
              <a:rPr lang="zh-CN" altLang="en-US" sz="3200" dirty="0">
                <a:solidFill>
                  <a:schemeClr val="bg1"/>
                </a:solidFill>
              </a:rPr>
              <a:t>均可逆，并求出它们的逆</a:t>
            </a:r>
            <a:r>
              <a:rPr lang="en-US" altLang="zh-CN" sz="3200" dirty="0">
                <a:solidFill>
                  <a:schemeClr val="bg1"/>
                </a:solidFill>
              </a:rPr>
              <a:t>. 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zh-CN" sz="3200" dirty="0">
                <a:solidFill>
                  <a:schemeClr val="bg1"/>
                </a:solidFill>
              </a:rPr>
              <a:t>Proof  </a:t>
            </a:r>
            <a:r>
              <a:rPr lang="en-US" altLang="zh-CN" sz="3200" i="1" dirty="0">
                <a:solidFill>
                  <a:schemeClr val="bg1"/>
                </a:solidFill>
              </a:rPr>
              <a:t>A</a:t>
            </a:r>
            <a:r>
              <a:rPr lang="en-US" altLang="zh-CN" sz="3200" baseline="30000" dirty="0">
                <a:solidFill>
                  <a:schemeClr val="bg1"/>
                </a:solidFill>
              </a:rPr>
              <a:t>2</a:t>
            </a:r>
            <a:r>
              <a:rPr lang="en-US" altLang="zh-CN" sz="3200" dirty="0">
                <a:solidFill>
                  <a:schemeClr val="bg1"/>
                </a:solidFill>
              </a:rPr>
              <a:t> – 5</a:t>
            </a:r>
            <a:r>
              <a:rPr lang="en-US" altLang="zh-CN" sz="3200" i="1" dirty="0">
                <a:solidFill>
                  <a:schemeClr val="bg1"/>
                </a:solidFill>
              </a:rPr>
              <a:t>A</a:t>
            </a:r>
            <a:r>
              <a:rPr lang="en-US" altLang="zh-CN" sz="3200" dirty="0">
                <a:solidFill>
                  <a:schemeClr val="bg1"/>
                </a:solidFill>
              </a:rPr>
              <a:t> + 4</a:t>
            </a:r>
            <a:r>
              <a:rPr lang="en-US" altLang="zh-CN" sz="3200" i="1" dirty="0">
                <a:solidFill>
                  <a:schemeClr val="bg1"/>
                </a:solidFill>
              </a:rPr>
              <a:t>E</a:t>
            </a:r>
            <a:r>
              <a:rPr lang="en-US" altLang="zh-CN" sz="3200" dirty="0">
                <a:solidFill>
                  <a:schemeClr val="bg1"/>
                </a:solidFill>
              </a:rPr>
              <a:t> = 0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696068"/>
              </p:ext>
            </p:extLst>
          </p:nvPr>
        </p:nvGraphicFramePr>
        <p:xfrm>
          <a:off x="3215680" y="3950646"/>
          <a:ext cx="38290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6" name="公式" r:id="rId3" imgW="2119680" imgH="152280" progId="Equation.3">
                  <p:embed/>
                </p:oleObj>
              </mc:Choice>
              <mc:Fallback>
                <p:oleObj name="公式" r:id="rId3" imgW="2119680" imgH="152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3950646"/>
                        <a:ext cx="3829050" cy="512763"/>
                      </a:xfrm>
                      <a:prstGeom prst="rect">
                        <a:avLst/>
                      </a:prstGeom>
                      <a:solidFill>
                        <a:srgbClr val="0033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825713"/>
              </p:ext>
            </p:extLst>
          </p:nvPr>
        </p:nvGraphicFramePr>
        <p:xfrm>
          <a:off x="3215680" y="4463409"/>
          <a:ext cx="262890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17" name="公式" r:id="rId5" imgW="1409040" imgH="368280" progId="Equation.3">
                  <p:embed/>
                </p:oleObj>
              </mc:Choice>
              <mc:Fallback>
                <p:oleObj name="公式" r:id="rId5" imgW="1409040" imgH="368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5680" y="4463409"/>
                        <a:ext cx="2628900" cy="882650"/>
                      </a:xfrm>
                      <a:prstGeom prst="rect">
                        <a:avLst/>
                      </a:prstGeom>
                      <a:solidFill>
                        <a:srgbClr val="0033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799530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2567608" y="692696"/>
            <a:ext cx="7543800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3200" i="1" dirty="0">
                <a:solidFill>
                  <a:schemeClr val="bg1"/>
                </a:solidFill>
              </a:rPr>
              <a:t>A</a:t>
            </a:r>
            <a:r>
              <a:rPr lang="en-US" altLang="zh-CN" sz="3200" baseline="30000" dirty="0">
                <a:solidFill>
                  <a:schemeClr val="bg1"/>
                </a:solidFill>
              </a:rPr>
              <a:t>2</a:t>
            </a:r>
            <a:r>
              <a:rPr lang="en-US" altLang="zh-CN" sz="3200" dirty="0">
                <a:solidFill>
                  <a:schemeClr val="bg1"/>
                </a:solidFill>
              </a:rPr>
              <a:t> – 5</a:t>
            </a:r>
            <a:r>
              <a:rPr lang="en-US" altLang="zh-CN" sz="3200" i="1" dirty="0">
                <a:solidFill>
                  <a:schemeClr val="bg1"/>
                </a:solidFill>
              </a:rPr>
              <a:t>A</a:t>
            </a:r>
            <a:r>
              <a:rPr lang="en-US" altLang="zh-CN" sz="3200" dirty="0">
                <a:solidFill>
                  <a:schemeClr val="bg1"/>
                </a:solidFill>
              </a:rPr>
              <a:t> + 4</a:t>
            </a:r>
            <a:r>
              <a:rPr lang="en-US" altLang="zh-CN" sz="3200" i="1" dirty="0">
                <a:solidFill>
                  <a:schemeClr val="bg1"/>
                </a:solidFill>
              </a:rPr>
              <a:t>E</a:t>
            </a:r>
            <a:r>
              <a:rPr lang="en-US" altLang="zh-CN" sz="3200" dirty="0">
                <a:solidFill>
                  <a:schemeClr val="bg1"/>
                </a:solidFill>
              </a:rPr>
              <a:t> = 0</a:t>
            </a:r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zh-CN" sz="3200" dirty="0"/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zh-CN" sz="3200" dirty="0"/>
          </a:p>
          <a:p>
            <a:pPr>
              <a:spcBef>
                <a:spcPct val="20000"/>
              </a:spcBef>
              <a:buFontTx/>
              <a:buChar char="•"/>
            </a:pPr>
            <a:endParaRPr lang="en-US" altLang="zh-CN" sz="3200" dirty="0"/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672604"/>
              </p:ext>
            </p:extLst>
          </p:nvPr>
        </p:nvGraphicFramePr>
        <p:xfrm>
          <a:off x="3923754" y="1457567"/>
          <a:ext cx="394335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8" name="公式" r:id="rId3" imgW="2196000" imgH="165240" progId="Equation.3">
                  <p:embed/>
                </p:oleObj>
              </mc:Choice>
              <mc:Fallback>
                <p:oleObj name="公式" r:id="rId3" imgW="2196000" imgH="165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754" y="1457567"/>
                        <a:ext cx="3943350" cy="512762"/>
                      </a:xfrm>
                      <a:prstGeom prst="rect">
                        <a:avLst/>
                      </a:prstGeom>
                      <a:solidFill>
                        <a:srgbClr val="2626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357388"/>
              </p:ext>
            </p:extLst>
          </p:nvPr>
        </p:nvGraphicFramePr>
        <p:xfrm>
          <a:off x="4007768" y="2370457"/>
          <a:ext cx="40576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79" name="公式" r:id="rId5" imgW="2259360" imgH="127080" progId="Equation.3">
                  <p:embed/>
                </p:oleObj>
              </mc:Choice>
              <mc:Fallback>
                <p:oleObj name="公式" r:id="rId5" imgW="2259360" imgH="127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768" y="2370457"/>
                        <a:ext cx="4057650" cy="455613"/>
                      </a:xfrm>
                      <a:prstGeom prst="rect">
                        <a:avLst/>
                      </a:prstGeom>
                      <a:solidFill>
                        <a:srgbClr val="2626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99281"/>
              </p:ext>
            </p:extLst>
          </p:nvPr>
        </p:nvGraphicFramePr>
        <p:xfrm>
          <a:off x="4223791" y="3226198"/>
          <a:ext cx="334327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80" name="公式" r:id="rId7" imgW="1840680" imgH="127080" progId="Equation.3">
                  <p:embed/>
                </p:oleObj>
              </mc:Choice>
              <mc:Fallback>
                <p:oleObj name="公式" r:id="rId7" imgW="1840680" imgH="127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3791" y="3226198"/>
                        <a:ext cx="3343275" cy="455612"/>
                      </a:xfrm>
                      <a:prstGeom prst="rect">
                        <a:avLst/>
                      </a:prstGeom>
                      <a:solidFill>
                        <a:srgbClr val="2626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7482219"/>
              </p:ext>
            </p:extLst>
          </p:nvPr>
        </p:nvGraphicFramePr>
        <p:xfrm>
          <a:off x="4236368" y="3933056"/>
          <a:ext cx="3600450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81" name="公式" r:id="rId9" imgW="1992960" imgH="380880" progId="Equation.3">
                  <p:embed/>
                </p:oleObj>
              </mc:Choice>
              <mc:Fallback>
                <p:oleObj name="公式" r:id="rId9" imgW="199296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6368" y="3933056"/>
                        <a:ext cx="3600450" cy="882650"/>
                      </a:xfrm>
                      <a:prstGeom prst="rect">
                        <a:avLst/>
                      </a:prstGeom>
                      <a:solidFill>
                        <a:srgbClr val="26269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907411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 txBox="1">
            <a:spLocks noChangeArrowheads="1"/>
          </p:cNvSpPr>
          <p:nvPr/>
        </p:nvSpPr>
        <p:spPr bwMode="auto">
          <a:xfrm>
            <a:off x="1559496" y="980728"/>
            <a:ext cx="8867775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</a:pPr>
            <a:r>
              <a:rPr lang="zh-CN" altLang="en-US" sz="3600" dirty="0">
                <a:solidFill>
                  <a:schemeClr val="bg1"/>
                </a:solidFill>
                <a:ea typeface="华文新魏" panose="02010800040101010101" pitchFamily="2" charset="-122"/>
              </a:rPr>
              <a:t>例</a:t>
            </a:r>
            <a:r>
              <a:rPr lang="en-US" altLang="zh-CN" dirty="0">
                <a:solidFill>
                  <a:schemeClr val="bg1"/>
                </a:solidFill>
                <a:ea typeface="华文新魏" panose="02010800040101010101" pitchFamily="2" charset="-122"/>
              </a:rPr>
              <a:t>6 </a:t>
            </a:r>
            <a:r>
              <a:rPr lang="zh-CN" altLang="en-US" dirty="0">
                <a:solidFill>
                  <a:schemeClr val="bg1"/>
                </a:solidFill>
              </a:rPr>
              <a:t>设</a:t>
            </a:r>
            <a:r>
              <a:rPr lang="en-US" altLang="zh-CN" i="1" dirty="0">
                <a:solidFill>
                  <a:schemeClr val="bg1"/>
                </a:solidFill>
              </a:rPr>
              <a:t>A</a:t>
            </a:r>
            <a:r>
              <a:rPr lang="zh-CN" altLang="en-US" dirty="0">
                <a:solidFill>
                  <a:schemeClr val="bg1"/>
                </a:solidFill>
              </a:rPr>
              <a:t>是非零矩阵且满足</a:t>
            </a:r>
            <a:r>
              <a:rPr lang="en-US" altLang="zh-CN" i="1" dirty="0">
                <a:solidFill>
                  <a:schemeClr val="bg1"/>
                </a:solidFill>
              </a:rPr>
              <a:t>A</a:t>
            </a:r>
            <a:r>
              <a:rPr lang="en-US" altLang="zh-CN" baseline="30000" dirty="0">
                <a:solidFill>
                  <a:schemeClr val="bg1"/>
                </a:solidFill>
              </a:rPr>
              <a:t>3</a:t>
            </a:r>
            <a:r>
              <a:rPr lang="en-US" altLang="zh-CN" dirty="0">
                <a:solidFill>
                  <a:schemeClr val="bg1"/>
                </a:solidFill>
              </a:rPr>
              <a:t> = 0</a:t>
            </a:r>
            <a:r>
              <a:rPr lang="zh-CN" altLang="en-US" dirty="0">
                <a:solidFill>
                  <a:schemeClr val="bg1"/>
                </a:solidFill>
              </a:rPr>
              <a:t>，证明</a:t>
            </a:r>
            <a:r>
              <a:rPr lang="en-US" altLang="zh-CN" i="1" dirty="0">
                <a:solidFill>
                  <a:schemeClr val="bg1"/>
                </a:solidFill>
              </a:rPr>
              <a:t>E</a:t>
            </a:r>
            <a:r>
              <a:rPr lang="en-US" altLang="zh-CN" dirty="0">
                <a:solidFill>
                  <a:schemeClr val="bg1"/>
                </a:solidFill>
              </a:rPr>
              <a:t> - </a:t>
            </a:r>
            <a:r>
              <a:rPr lang="en-US" altLang="zh-CN" i="1" dirty="0">
                <a:solidFill>
                  <a:schemeClr val="bg1"/>
                </a:solidFill>
              </a:rPr>
              <a:t>A</a:t>
            </a:r>
            <a:r>
              <a:rPr lang="zh-CN" altLang="en-US" dirty="0">
                <a:solidFill>
                  <a:schemeClr val="bg1"/>
                </a:solidFill>
              </a:rPr>
              <a:t>和</a:t>
            </a:r>
            <a:r>
              <a:rPr lang="en-US" altLang="zh-CN" i="1" dirty="0">
                <a:solidFill>
                  <a:schemeClr val="bg1"/>
                </a:solidFill>
              </a:rPr>
              <a:t>E </a:t>
            </a:r>
            <a:r>
              <a:rPr lang="en-US" altLang="zh-CN" dirty="0">
                <a:solidFill>
                  <a:schemeClr val="bg1"/>
                </a:solidFill>
              </a:rPr>
              <a:t>+ </a:t>
            </a:r>
            <a:r>
              <a:rPr lang="en-US" altLang="zh-CN" i="1" dirty="0">
                <a:solidFill>
                  <a:schemeClr val="bg1"/>
                </a:solidFill>
              </a:rPr>
              <a:t>A</a:t>
            </a:r>
            <a:r>
              <a:rPr lang="zh-CN" altLang="en-US" dirty="0">
                <a:solidFill>
                  <a:schemeClr val="bg1"/>
                </a:solidFill>
              </a:rPr>
              <a:t>均可逆，并求出它们的逆</a:t>
            </a:r>
            <a:r>
              <a:rPr lang="en-US" altLang="zh-CN" dirty="0">
                <a:solidFill>
                  <a:schemeClr val="bg1"/>
                </a:solidFill>
              </a:rPr>
              <a:t>. </a:t>
            </a:r>
          </a:p>
          <a:p>
            <a:pPr marL="0" indent="0" eaLnBrk="1" hangingPunct="1">
              <a:spcBef>
                <a:spcPct val="20000"/>
              </a:spcBef>
              <a:buClr>
                <a:schemeClr val="hlink"/>
              </a:buClr>
            </a:pPr>
            <a:r>
              <a:rPr lang="en-US" altLang="zh-CN" dirty="0">
                <a:solidFill>
                  <a:schemeClr val="bg1"/>
                </a:solidFill>
              </a:rPr>
              <a:t>Proof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lang="en-US" altLang="zh-CN" dirty="0">
              <a:solidFill>
                <a:schemeClr val="bg1"/>
              </a:solidFill>
            </a:endParaRP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lang="en-US" altLang="zh-CN" dirty="0"/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</a:pPr>
            <a:endParaRPr lang="en-US" altLang="zh-CN" dirty="0"/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7621882"/>
              </p:ext>
            </p:extLst>
          </p:nvPr>
        </p:nvGraphicFramePr>
        <p:xfrm>
          <a:off x="4170934" y="2665066"/>
          <a:ext cx="43656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0" name="公式" r:id="rId3" imgW="2056320" imgH="165240" progId="Equation.3">
                  <p:embed/>
                </p:oleObj>
              </mc:Choice>
              <mc:Fallback>
                <p:oleObj name="公式" r:id="rId3" imgW="2056320" imgH="165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0934" y="2665066"/>
                        <a:ext cx="4365625" cy="512762"/>
                      </a:xfrm>
                      <a:prstGeom prst="rect">
                        <a:avLst/>
                      </a:prstGeom>
                      <a:solidFill>
                        <a:srgbClr val="0033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4377854"/>
              </p:ext>
            </p:extLst>
          </p:nvPr>
        </p:nvGraphicFramePr>
        <p:xfrm>
          <a:off x="4285109" y="4493866"/>
          <a:ext cx="436562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1" name="公式" r:id="rId5" imgW="2056320" imgH="165240" progId="Equation.3">
                  <p:embed/>
                </p:oleObj>
              </mc:Choice>
              <mc:Fallback>
                <p:oleObj name="公式" r:id="rId5" imgW="2056320" imgH="165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5109" y="4493866"/>
                        <a:ext cx="4365625" cy="512762"/>
                      </a:xfrm>
                      <a:prstGeom prst="rect">
                        <a:avLst/>
                      </a:prstGeom>
                      <a:solidFill>
                        <a:srgbClr val="0033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7"/>
          <p:cNvSpPr>
            <a:spLocks/>
          </p:cNvSpPr>
          <p:nvPr/>
        </p:nvSpPr>
        <p:spPr bwMode="auto">
          <a:xfrm>
            <a:off x="4734496" y="3096866"/>
            <a:ext cx="1268413" cy="442912"/>
          </a:xfrm>
          <a:custGeom>
            <a:avLst/>
            <a:gdLst>
              <a:gd name="T0" fmla="*/ 0 w 680"/>
              <a:gd name="T1" fmla="*/ 2147483646 h 279"/>
              <a:gd name="T2" fmla="*/ 2147483646 w 680"/>
              <a:gd name="T3" fmla="*/ 2147483646 h 279"/>
              <a:gd name="T4" fmla="*/ 2147483646 w 680"/>
              <a:gd name="T5" fmla="*/ 0 h 279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80" h="279">
                <a:moveTo>
                  <a:pt x="0" y="45"/>
                </a:moveTo>
                <a:cubicBezTo>
                  <a:pt x="57" y="162"/>
                  <a:pt x="114" y="279"/>
                  <a:pt x="227" y="272"/>
                </a:cubicBezTo>
                <a:cubicBezTo>
                  <a:pt x="340" y="265"/>
                  <a:pt x="510" y="132"/>
                  <a:pt x="680" y="0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8"/>
          <p:cNvSpPr>
            <a:spLocks/>
          </p:cNvSpPr>
          <p:nvPr/>
        </p:nvSpPr>
        <p:spPr bwMode="auto">
          <a:xfrm>
            <a:off x="4666234" y="3096866"/>
            <a:ext cx="2032000" cy="731837"/>
          </a:xfrm>
          <a:custGeom>
            <a:avLst/>
            <a:gdLst>
              <a:gd name="T0" fmla="*/ 0 w 1089"/>
              <a:gd name="T1" fmla="*/ 2147483646 h 461"/>
              <a:gd name="T2" fmla="*/ 2147483646 w 1089"/>
              <a:gd name="T3" fmla="*/ 2147483646 h 461"/>
              <a:gd name="T4" fmla="*/ 2147483646 w 1089"/>
              <a:gd name="T5" fmla="*/ 0 h 46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89" h="461">
                <a:moveTo>
                  <a:pt x="0" y="45"/>
                </a:moveTo>
                <a:cubicBezTo>
                  <a:pt x="23" y="253"/>
                  <a:pt x="46" y="461"/>
                  <a:pt x="227" y="454"/>
                </a:cubicBezTo>
                <a:cubicBezTo>
                  <a:pt x="408" y="447"/>
                  <a:pt x="748" y="223"/>
                  <a:pt x="1089" y="0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9"/>
          <p:cNvSpPr>
            <a:spLocks/>
          </p:cNvSpPr>
          <p:nvPr/>
        </p:nvSpPr>
        <p:spPr bwMode="auto">
          <a:xfrm>
            <a:off x="4259834" y="3168303"/>
            <a:ext cx="3076575" cy="1008063"/>
          </a:xfrm>
          <a:custGeom>
            <a:avLst/>
            <a:gdLst>
              <a:gd name="T0" fmla="*/ 2147483646 w 1648"/>
              <a:gd name="T1" fmla="*/ 0 h 635"/>
              <a:gd name="T2" fmla="*/ 2147483646 w 1648"/>
              <a:gd name="T3" fmla="*/ 2147483646 h 635"/>
              <a:gd name="T4" fmla="*/ 2147483646 w 1648"/>
              <a:gd name="T5" fmla="*/ 0 h 635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648" h="635">
                <a:moveTo>
                  <a:pt x="197" y="0"/>
                </a:moveTo>
                <a:cubicBezTo>
                  <a:pt x="98" y="317"/>
                  <a:pt x="0" y="635"/>
                  <a:pt x="242" y="635"/>
                </a:cubicBezTo>
                <a:cubicBezTo>
                  <a:pt x="484" y="635"/>
                  <a:pt x="1066" y="317"/>
                  <a:pt x="1648" y="0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"/>
          <p:cNvSpPr>
            <a:spLocks/>
          </p:cNvSpPr>
          <p:nvPr/>
        </p:nvSpPr>
        <p:spPr bwMode="auto">
          <a:xfrm>
            <a:off x="5426646" y="2507903"/>
            <a:ext cx="762000" cy="301625"/>
          </a:xfrm>
          <a:custGeom>
            <a:avLst/>
            <a:gdLst>
              <a:gd name="T0" fmla="*/ 0 w 408"/>
              <a:gd name="T1" fmla="*/ 2147483646 h 190"/>
              <a:gd name="T2" fmla="*/ 2147483646 w 408"/>
              <a:gd name="T3" fmla="*/ 2147483646 h 190"/>
              <a:gd name="T4" fmla="*/ 2147483646 w 408"/>
              <a:gd name="T5" fmla="*/ 2147483646 h 19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08" h="190">
                <a:moveTo>
                  <a:pt x="0" y="190"/>
                </a:moveTo>
                <a:cubicBezTo>
                  <a:pt x="79" y="103"/>
                  <a:pt x="159" y="16"/>
                  <a:pt x="227" y="8"/>
                </a:cubicBezTo>
                <a:cubicBezTo>
                  <a:pt x="295" y="0"/>
                  <a:pt x="378" y="121"/>
                  <a:pt x="408" y="144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>
            <a:spLocks/>
          </p:cNvSpPr>
          <p:nvPr/>
        </p:nvSpPr>
        <p:spPr bwMode="auto">
          <a:xfrm>
            <a:off x="5374259" y="2220566"/>
            <a:ext cx="1354137" cy="588962"/>
          </a:xfrm>
          <a:custGeom>
            <a:avLst/>
            <a:gdLst>
              <a:gd name="T0" fmla="*/ 0 w 726"/>
              <a:gd name="T1" fmla="*/ 2147483646 h 371"/>
              <a:gd name="T2" fmla="*/ 2147483646 w 726"/>
              <a:gd name="T3" fmla="*/ 2147483646 h 371"/>
              <a:gd name="T4" fmla="*/ 2147483646 w 726"/>
              <a:gd name="T5" fmla="*/ 2147483646 h 37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26" h="371">
                <a:moveTo>
                  <a:pt x="0" y="371"/>
                </a:moveTo>
                <a:cubicBezTo>
                  <a:pt x="98" y="193"/>
                  <a:pt x="197" y="16"/>
                  <a:pt x="318" y="8"/>
                </a:cubicBezTo>
                <a:cubicBezTo>
                  <a:pt x="439" y="0"/>
                  <a:pt x="582" y="162"/>
                  <a:pt x="726" y="325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2"/>
          <p:cNvSpPr>
            <a:spLocks/>
          </p:cNvSpPr>
          <p:nvPr/>
        </p:nvSpPr>
        <p:spPr bwMode="auto">
          <a:xfrm>
            <a:off x="5313934" y="1920528"/>
            <a:ext cx="2032000" cy="889000"/>
          </a:xfrm>
          <a:custGeom>
            <a:avLst/>
            <a:gdLst>
              <a:gd name="T0" fmla="*/ 0 w 1089"/>
              <a:gd name="T1" fmla="*/ 2147483646 h 560"/>
              <a:gd name="T2" fmla="*/ 2147483646 w 1089"/>
              <a:gd name="T3" fmla="*/ 2147483646 h 560"/>
              <a:gd name="T4" fmla="*/ 2147483646 w 1089"/>
              <a:gd name="T5" fmla="*/ 2147483646 h 56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89" h="560">
                <a:moveTo>
                  <a:pt x="0" y="560"/>
                </a:moveTo>
                <a:cubicBezTo>
                  <a:pt x="68" y="295"/>
                  <a:pt x="137" y="30"/>
                  <a:pt x="318" y="15"/>
                </a:cubicBezTo>
                <a:cubicBezTo>
                  <a:pt x="499" y="0"/>
                  <a:pt x="794" y="234"/>
                  <a:pt x="1089" y="469"/>
                </a:cubicBezTo>
              </a:path>
            </a:pathLst>
          </a:custGeom>
          <a:noFill/>
          <a:ln w="9525">
            <a:solidFill>
              <a:schemeClr val="bg1"/>
            </a:solidFill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90094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1703512" y="633080"/>
            <a:ext cx="2963862" cy="646113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rgbClr val="000000"/>
                </a:solidFill>
                <a:latin typeface="Arial" panose="020B0604020202020204" pitchFamily="34" charset="0"/>
              </a:rPr>
              <a:t>逆矩阵的性质</a:t>
            </a:r>
            <a:endParaRPr lang="zh-CN" altLang="en-US" dirty="0">
              <a:solidFill>
                <a:srgbClr val="000000"/>
              </a:solidFill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1870130"/>
              </p:ext>
            </p:extLst>
          </p:nvPr>
        </p:nvGraphicFramePr>
        <p:xfrm>
          <a:off x="1874664" y="1545407"/>
          <a:ext cx="5994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4" name="Equation" r:id="rId3" imgW="5994400" imgH="546100" progId="Equation.3">
                  <p:embed/>
                </p:oleObj>
              </mc:Choice>
              <mc:Fallback>
                <p:oleObj name="Equation" r:id="rId3" imgW="59944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664" y="1545407"/>
                        <a:ext cx="59944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826455"/>
              </p:ext>
            </p:extLst>
          </p:nvPr>
        </p:nvGraphicFramePr>
        <p:xfrm>
          <a:off x="2284239" y="2407420"/>
          <a:ext cx="78486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5" name="Equation" r:id="rId5" imgW="3162300" imgH="215900" progId="Equation.DSMT4">
                  <p:embed/>
                </p:oleObj>
              </mc:Choice>
              <mc:Fallback>
                <p:oleObj name="Equation" r:id="rId5" imgW="31623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239" y="2407420"/>
                        <a:ext cx="7848600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70065"/>
              </p:ext>
            </p:extLst>
          </p:nvPr>
        </p:nvGraphicFramePr>
        <p:xfrm>
          <a:off x="1758777" y="3547245"/>
          <a:ext cx="5183187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6" name="Equation" r:id="rId7" imgW="5181600" imgH="876300" progId="Equation.3">
                  <p:embed/>
                </p:oleObj>
              </mc:Choice>
              <mc:Fallback>
                <p:oleObj name="Equation" r:id="rId7" imgW="5181600" imgH="876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777" y="3547245"/>
                        <a:ext cx="5183187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382934"/>
              </p:ext>
            </p:extLst>
          </p:nvPr>
        </p:nvGraphicFramePr>
        <p:xfrm>
          <a:off x="7157864" y="3329757"/>
          <a:ext cx="2222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7" name="Equation" r:id="rId9" imgW="2222500" imgH="838200" progId="Equation.DSMT4">
                  <p:embed/>
                </p:oleObj>
              </mc:Choice>
              <mc:Fallback>
                <p:oleObj name="Equation" r:id="rId9" imgW="22225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7864" y="3329757"/>
                        <a:ext cx="2222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956611"/>
              </p:ext>
            </p:extLst>
          </p:nvPr>
        </p:nvGraphicFramePr>
        <p:xfrm>
          <a:off x="2395364" y="4194945"/>
          <a:ext cx="6624638" cy="223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78" name="Equation" r:id="rId11" imgW="2489200" imgH="838200" progId="Equation.DSMT4">
                  <p:embed/>
                </p:oleObj>
              </mc:Choice>
              <mc:Fallback>
                <p:oleObj name="Equation" r:id="rId11" imgW="2489200" imgH="838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5364" y="4194945"/>
                        <a:ext cx="6624638" cy="2230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390123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364127"/>
              </p:ext>
            </p:extLst>
          </p:nvPr>
        </p:nvGraphicFramePr>
        <p:xfrm>
          <a:off x="2423592" y="1196752"/>
          <a:ext cx="724058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2" name="Equation" r:id="rId3" imgW="7239000" imgH="952500" progId="Equation.3">
                  <p:embed/>
                </p:oleObj>
              </mc:Choice>
              <mc:Fallback>
                <p:oleObj name="Equation" r:id="rId3" imgW="7239000" imgH="952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1196752"/>
                        <a:ext cx="7240588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5069335"/>
              </p:ext>
            </p:extLst>
          </p:nvPr>
        </p:nvGraphicFramePr>
        <p:xfrm>
          <a:off x="3090342" y="3952652"/>
          <a:ext cx="18891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3" name="Equation" r:id="rId5" imgW="190500" imgH="419100" progId="Equation.3">
                  <p:embed/>
                </p:oleObj>
              </mc:Choice>
              <mc:Fallback>
                <p:oleObj name="Equation" r:id="rId5" imgW="1905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342" y="3952652"/>
                        <a:ext cx="188913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53363"/>
              </p:ext>
            </p:extLst>
          </p:nvPr>
        </p:nvGraphicFramePr>
        <p:xfrm>
          <a:off x="4152380" y="3068414"/>
          <a:ext cx="3898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4" name="Equation" r:id="rId7" imgW="4127500" imgH="457200" progId="Equation.3">
                  <p:embed/>
                </p:oleObj>
              </mc:Choice>
              <mc:Fallback>
                <p:oleObj name="Equation" r:id="rId7" imgW="41275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380" y="3068414"/>
                        <a:ext cx="3898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678913"/>
              </p:ext>
            </p:extLst>
          </p:nvPr>
        </p:nvGraphicFramePr>
        <p:xfrm>
          <a:off x="6095480" y="3716114"/>
          <a:ext cx="1295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5" name="Equation" r:id="rId9" imgW="1295400" imgH="381000" progId="Equation.3">
                  <p:embed/>
                </p:oleObj>
              </mc:Choice>
              <mc:Fallback>
                <p:oleObj name="Equation" r:id="rId9" imgW="12954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5480" y="3716114"/>
                        <a:ext cx="1295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38527"/>
              </p:ext>
            </p:extLst>
          </p:nvPr>
        </p:nvGraphicFramePr>
        <p:xfrm>
          <a:off x="7679805" y="3787552"/>
          <a:ext cx="1524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6" name="Equation" r:id="rId11" imgW="1828800" imgH="444500" progId="Equation.3">
                  <p:embed/>
                </p:oleObj>
              </mc:Choice>
              <mc:Fallback>
                <p:oleObj name="Equation" r:id="rId11" imgW="18288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9805" y="3787552"/>
                        <a:ext cx="1524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7112219"/>
              </p:ext>
            </p:extLst>
          </p:nvPr>
        </p:nvGraphicFramePr>
        <p:xfrm>
          <a:off x="4511155" y="4363814"/>
          <a:ext cx="28321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47" name="Equation" r:id="rId13" imgW="2832100" imgH="482600" progId="Equation.3">
                  <p:embed/>
                </p:oleObj>
              </mc:Choice>
              <mc:Fallback>
                <p:oleObj name="Equation" r:id="rId13" imgW="28321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155" y="4363814"/>
                        <a:ext cx="2832100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710930" y="3068414"/>
            <a:ext cx="8985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FFC000"/>
                </a:solidFill>
                <a:ea typeface="黑体" panose="02010609060101010101" pitchFamily="49" charset="-122"/>
              </a:rPr>
              <a:t>证明</a:t>
            </a:r>
          </a:p>
        </p:txBody>
      </p:sp>
      <p:grpSp>
        <p:nvGrpSpPr>
          <p:cNvPr id="9" name="Group 19"/>
          <p:cNvGrpSpPr>
            <a:grpSpLocks/>
          </p:cNvGrpSpPr>
          <p:nvPr/>
        </p:nvGrpSpPr>
        <p:grpSpPr bwMode="auto">
          <a:xfrm>
            <a:off x="3071292" y="5229002"/>
            <a:ext cx="5910263" cy="508000"/>
            <a:chOff x="720" y="480"/>
            <a:chExt cx="3144" cy="320"/>
          </a:xfrm>
        </p:grpSpPr>
        <p:graphicFrame>
          <p:nvGraphicFramePr>
            <p:cNvPr id="10" name="Object 20"/>
            <p:cNvGraphicFramePr>
              <a:graphicFrameLocks noChangeAspect="1"/>
            </p:cNvGraphicFramePr>
            <p:nvPr/>
          </p:nvGraphicFramePr>
          <p:xfrm>
            <a:off x="720" y="480"/>
            <a:ext cx="312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48" name="Equation" r:id="rId15" imgW="5207000" imgH="495300" progId="Equation.3">
                    <p:embed/>
                  </p:oleObj>
                </mc:Choice>
                <mc:Fallback>
                  <p:oleObj name="Equation" r:id="rId15" imgW="5207000" imgH="495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0" y="480"/>
                          <a:ext cx="3120" cy="3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9194791"/>
                </p:ext>
              </p:extLst>
            </p:nvPr>
          </p:nvGraphicFramePr>
          <p:xfrm>
            <a:off x="1392" y="528"/>
            <a:ext cx="23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49" name="Equation" r:id="rId17" imgW="314435" imgH="362070" progId="Equation.DSMT4">
                    <p:embed/>
                  </p:oleObj>
                </mc:Choice>
                <mc:Fallback>
                  <p:oleObj name="Equation" r:id="rId17" imgW="314435" imgH="36207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528"/>
                          <a:ext cx="23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22"/>
            <p:cNvGraphicFramePr>
              <a:graphicFrameLocks noChangeAspect="1"/>
            </p:cNvGraphicFramePr>
            <p:nvPr/>
          </p:nvGraphicFramePr>
          <p:xfrm>
            <a:off x="2112" y="528"/>
            <a:ext cx="2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50" name="Equation" r:id="rId19" imgW="400067" imgH="371520" progId="Equation.3">
                    <p:embed/>
                  </p:oleObj>
                </mc:Choice>
                <mc:Fallback>
                  <p:oleObj name="Equation" r:id="rId19" imgW="400067" imgH="3715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2" y="528"/>
                          <a:ext cx="28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23"/>
            <p:cNvGraphicFramePr>
              <a:graphicFrameLocks noChangeAspect="1"/>
            </p:cNvGraphicFramePr>
            <p:nvPr/>
          </p:nvGraphicFramePr>
          <p:xfrm>
            <a:off x="2928" y="480"/>
            <a:ext cx="16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51" name="Equation" r:id="rId21" imgW="266584" imgH="380835" progId="Equation.3">
                    <p:embed/>
                  </p:oleObj>
                </mc:Choice>
                <mc:Fallback>
                  <p:oleObj name="Equation" r:id="rId21" imgW="266584" imgH="3808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8" y="480"/>
                          <a:ext cx="16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4"/>
            <p:cNvGraphicFramePr>
              <a:graphicFrameLocks noChangeAspect="1"/>
            </p:cNvGraphicFramePr>
            <p:nvPr/>
          </p:nvGraphicFramePr>
          <p:xfrm>
            <a:off x="2736" y="528"/>
            <a:ext cx="28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52" name="Equation" r:id="rId23" imgW="400067" imgH="371520" progId="Equation.3">
                    <p:embed/>
                  </p:oleObj>
                </mc:Choice>
                <mc:Fallback>
                  <p:oleObj name="Equation" r:id="rId23" imgW="400067" imgH="3715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36" y="528"/>
                          <a:ext cx="28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25"/>
            <p:cNvGraphicFramePr>
              <a:graphicFrameLocks noChangeAspect="1"/>
            </p:cNvGraphicFramePr>
            <p:nvPr/>
          </p:nvGraphicFramePr>
          <p:xfrm>
            <a:off x="3696" y="480"/>
            <a:ext cx="16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53" name="Equation" r:id="rId25" imgW="266584" imgH="380835" progId="Equation.3">
                    <p:embed/>
                  </p:oleObj>
                </mc:Choice>
                <mc:Fallback>
                  <p:oleObj name="Equation" r:id="rId25" imgW="266584" imgH="38083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6" y="480"/>
                          <a:ext cx="16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6"/>
            <p:cNvGraphicFramePr>
              <a:graphicFrameLocks noChangeAspect="1"/>
            </p:cNvGraphicFramePr>
            <p:nvPr/>
          </p:nvGraphicFramePr>
          <p:xfrm>
            <a:off x="3504" y="528"/>
            <a:ext cx="23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054" name="Equation" r:id="rId27" imgW="314435" imgH="362070" progId="Equation.3">
                    <p:embed/>
                  </p:oleObj>
                </mc:Choice>
                <mc:Fallback>
                  <p:oleObj name="Equation" r:id="rId27" imgW="314435" imgH="36207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04" y="528"/>
                          <a:ext cx="23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297347"/>
              </p:ext>
            </p:extLst>
          </p:nvPr>
        </p:nvGraphicFramePr>
        <p:xfrm>
          <a:off x="4495280" y="1885727"/>
          <a:ext cx="3671887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55" name="Equation" r:id="rId29" imgW="1040948" imgH="228501" progId="Equation.DSMT4">
                  <p:embed/>
                </p:oleObj>
              </mc:Choice>
              <mc:Fallback>
                <p:oleObj name="Equation" r:id="rId29" imgW="1040948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280" y="1885727"/>
                        <a:ext cx="3671887" cy="70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BE9D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12908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0613616"/>
              </p:ext>
            </p:extLst>
          </p:nvPr>
        </p:nvGraphicFramePr>
        <p:xfrm>
          <a:off x="4295751" y="2204815"/>
          <a:ext cx="32893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66" name="Equation" r:id="rId3" imgW="3289300" imgH="546100" progId="Equation.3">
                  <p:embed/>
                </p:oleObj>
              </mc:Choice>
              <mc:Fallback>
                <p:oleObj name="Equation" r:id="rId3" imgW="32893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5751" y="2204815"/>
                        <a:ext cx="32893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8490469"/>
              </p:ext>
            </p:extLst>
          </p:nvPr>
        </p:nvGraphicFramePr>
        <p:xfrm>
          <a:off x="7824763" y="2276252"/>
          <a:ext cx="9144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67" name="Equation" r:id="rId5" imgW="761669" imgH="380835" progId="Equation.3">
                  <p:embed/>
                </p:oleObj>
              </mc:Choice>
              <mc:Fallback>
                <p:oleObj name="Equation" r:id="rId5" imgW="761669" imgH="38083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4763" y="2276252"/>
                        <a:ext cx="9144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5578479"/>
              </p:ext>
            </p:extLst>
          </p:nvPr>
        </p:nvGraphicFramePr>
        <p:xfrm>
          <a:off x="8904263" y="2347690"/>
          <a:ext cx="609600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68" name="Equation" r:id="rId7" imgW="698197" imgH="355446" progId="Equation.3">
                  <p:embed/>
                </p:oleObj>
              </mc:Choice>
              <mc:Fallback>
                <p:oleObj name="Equation" r:id="rId7" imgW="698197" imgH="3554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263" y="2347690"/>
                        <a:ext cx="609600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2558756"/>
              </p:ext>
            </p:extLst>
          </p:nvPr>
        </p:nvGraphicFramePr>
        <p:xfrm>
          <a:off x="4440213" y="3139852"/>
          <a:ext cx="27051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69" name="Equation" r:id="rId9" imgW="2705100" imgH="546100" progId="Equation.3">
                  <p:embed/>
                </p:oleObj>
              </mc:Choice>
              <mc:Fallback>
                <p:oleObj name="Equation" r:id="rId9" imgW="2705100" imgH="546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213" y="3139852"/>
                        <a:ext cx="27051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2855888" y="2276252"/>
            <a:ext cx="8985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lang="zh-CN" altLang="en-US" sz="2800" b="1">
                <a:solidFill>
                  <a:schemeClr val="tx1"/>
                </a:solidFill>
                <a:ea typeface="黑体" panose="02010609060101010101" pitchFamily="49" charset="-122"/>
              </a:rPr>
              <a:t>证明</a:t>
            </a:r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3287688" y="1196752"/>
            <a:ext cx="6343650" cy="544513"/>
            <a:chOff x="684" y="1056"/>
            <a:chExt cx="3996" cy="343"/>
          </a:xfrm>
        </p:grpSpPr>
        <p:graphicFrame>
          <p:nvGraphicFramePr>
            <p:cNvPr id="8" name="Object 8"/>
            <p:cNvGraphicFramePr>
              <a:graphicFrameLocks noChangeAspect="1"/>
            </p:cNvGraphicFramePr>
            <p:nvPr/>
          </p:nvGraphicFramePr>
          <p:xfrm>
            <a:off x="684" y="1056"/>
            <a:ext cx="3985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70" name="Equation" r:id="rId11" imgW="6324600" imgH="546100" progId="Equation.3">
                    <p:embed/>
                  </p:oleObj>
                </mc:Choice>
                <mc:Fallback>
                  <p:oleObj name="Equation" r:id="rId11" imgW="6324600" imgH="546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4" y="1056"/>
                          <a:ext cx="3985" cy="3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9"/>
            <p:cNvGraphicFramePr>
              <a:graphicFrameLocks noChangeAspect="1"/>
            </p:cNvGraphicFramePr>
            <p:nvPr/>
          </p:nvGraphicFramePr>
          <p:xfrm>
            <a:off x="3648" y="1056"/>
            <a:ext cx="12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71" name="Equation" r:id="rId13" imgW="133446" imgH="323730" progId="Equation.3">
                    <p:embed/>
                  </p:oleObj>
                </mc:Choice>
                <mc:Fallback>
                  <p:oleObj name="Equation" r:id="rId13" imgW="133446" imgH="32373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8" y="1056"/>
                          <a:ext cx="12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/>
            <p:cNvGraphicFramePr>
              <a:graphicFrameLocks noChangeAspect="1"/>
            </p:cNvGraphicFramePr>
            <p:nvPr/>
          </p:nvGraphicFramePr>
          <p:xfrm>
            <a:off x="4560" y="1056"/>
            <a:ext cx="12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72" name="Equation" r:id="rId15" imgW="133446" imgH="323730" progId="Equation.3">
                    <p:embed/>
                  </p:oleObj>
                </mc:Choice>
                <mc:Fallback>
                  <p:oleObj name="Equation" r:id="rId15" imgW="133446" imgH="32373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0" y="1056"/>
                          <a:ext cx="12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1"/>
            <p:cNvGraphicFramePr>
              <a:graphicFrameLocks noChangeAspect="1"/>
            </p:cNvGraphicFramePr>
            <p:nvPr/>
          </p:nvGraphicFramePr>
          <p:xfrm>
            <a:off x="3792" y="1056"/>
            <a:ext cx="16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73" name="Equation" r:id="rId17" imgW="209623" imgH="323730" progId="Equation.3">
                    <p:embed/>
                  </p:oleObj>
                </mc:Choice>
                <mc:Fallback>
                  <p:oleObj name="Equation" r:id="rId17" imgW="209623" imgH="32373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056"/>
                          <a:ext cx="16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2"/>
            <p:cNvGraphicFramePr>
              <a:graphicFrameLocks noChangeAspect="1"/>
            </p:cNvGraphicFramePr>
            <p:nvPr/>
          </p:nvGraphicFramePr>
          <p:xfrm>
            <a:off x="4320" y="1056"/>
            <a:ext cx="168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74" name="Equation" r:id="rId19" imgW="209623" imgH="323730" progId="Equation.3">
                    <p:embed/>
                  </p:oleObj>
                </mc:Choice>
                <mc:Fallback>
                  <p:oleObj name="Equation" r:id="rId19" imgW="209623" imgH="32373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1056"/>
                          <a:ext cx="168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176448"/>
              </p:ext>
            </p:extLst>
          </p:nvPr>
        </p:nvGraphicFramePr>
        <p:xfrm>
          <a:off x="3143226" y="3860577"/>
          <a:ext cx="45847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75" name="Equation" r:id="rId21" imgW="4584700" imgH="571500" progId="Equation.3">
                  <p:embed/>
                </p:oleObj>
              </mc:Choice>
              <mc:Fallback>
                <p:oleObj name="Equation" r:id="rId21" imgW="45847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26" y="3860577"/>
                        <a:ext cx="45847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609155"/>
              </p:ext>
            </p:extLst>
          </p:nvPr>
        </p:nvGraphicFramePr>
        <p:xfrm>
          <a:off x="3016226" y="4567015"/>
          <a:ext cx="10668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76" name="公式" r:id="rId23" imgW="1066800" imgH="419100" progId="Equation.3">
                  <p:embed/>
                </p:oleObj>
              </mc:Choice>
              <mc:Fallback>
                <p:oleObj name="公式" r:id="rId23" imgW="10668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26" y="4567015"/>
                        <a:ext cx="10668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9290868"/>
              </p:ext>
            </p:extLst>
          </p:nvPr>
        </p:nvGraphicFramePr>
        <p:xfrm>
          <a:off x="4487838" y="4581302"/>
          <a:ext cx="18288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77" name="公式" r:id="rId25" imgW="1828800" imgH="381000" progId="Equation.3">
                  <p:embed/>
                </p:oleObj>
              </mc:Choice>
              <mc:Fallback>
                <p:oleObj name="公式" r:id="rId25" imgW="18288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7838" y="4581302"/>
                        <a:ext cx="18288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3251812"/>
              </p:ext>
            </p:extLst>
          </p:nvPr>
        </p:nvGraphicFramePr>
        <p:xfrm>
          <a:off x="4471963" y="5198840"/>
          <a:ext cx="18796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78" name="公式" r:id="rId27" imgW="1879600" imgH="533400" progId="Equation.3">
                  <p:embed/>
                </p:oleObj>
              </mc:Choice>
              <mc:Fallback>
                <p:oleObj name="公式" r:id="rId27" imgW="1879600" imgH="533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1963" y="5198840"/>
                        <a:ext cx="18796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503801"/>
              </p:ext>
            </p:extLst>
          </p:nvPr>
        </p:nvGraphicFramePr>
        <p:xfrm>
          <a:off x="4371951" y="5819552"/>
          <a:ext cx="25654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79" name="公式" r:id="rId29" imgW="2565400" imgH="571500" progId="Equation.3">
                  <p:embed/>
                </p:oleObj>
              </mc:Choice>
              <mc:Fallback>
                <p:oleObj name="公式" r:id="rId29" imgW="2565400" imgH="571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1951" y="5819552"/>
                        <a:ext cx="25654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191015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557213" y="765175"/>
            <a:ext cx="796131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FFFFCC"/>
              </a:buClr>
              <a:buSzPct val="70000"/>
            </a:pPr>
            <a:r>
              <a:rPr kumimoji="0" lang="en-US" altLang="zh-CN" sz="3200" dirty="0" smtClean="0">
                <a:solidFill>
                  <a:srgbClr val="FFC000"/>
                </a:solidFill>
              </a:rPr>
              <a:t>(6) </a:t>
            </a:r>
            <a:r>
              <a:rPr kumimoji="0" lang="zh-CN" altLang="en-US" sz="3200" dirty="0">
                <a:solidFill>
                  <a:srgbClr val="FFC000"/>
                </a:solidFill>
              </a:rPr>
              <a:t>若</a:t>
            </a:r>
            <a:r>
              <a:rPr kumimoji="0" lang="en-US" altLang="zh-CN" sz="3200" i="1" dirty="0">
                <a:solidFill>
                  <a:srgbClr val="FFC000"/>
                </a:solidFill>
                <a:cs typeface="Times New Roman" panose="02020603050405020304" pitchFamily="18" charset="0"/>
              </a:rPr>
              <a:t>A</a:t>
            </a:r>
            <a:r>
              <a:rPr kumimoji="0" lang="en-US" altLang="zh-CN" sz="3200" i="1" baseline="-25000" dirty="0">
                <a:solidFill>
                  <a:srgbClr val="FFC000"/>
                </a:solidFill>
                <a:cs typeface="Times New Roman" panose="02020603050405020304" pitchFamily="18" charset="0"/>
              </a:rPr>
              <a:t>i</a:t>
            </a:r>
            <a:r>
              <a:rPr kumimoji="0" lang="en-US" altLang="zh-CN" sz="3200" dirty="0">
                <a:solidFill>
                  <a:srgbClr val="FFC000"/>
                </a:solidFill>
                <a:cs typeface="Times New Roman" panose="02020603050405020304" pitchFamily="18" charset="0"/>
              </a:rPr>
              <a:t>(</a:t>
            </a:r>
            <a:r>
              <a:rPr kumimoji="0" lang="en-US" altLang="zh-CN" sz="3200" i="1" dirty="0" err="1">
                <a:solidFill>
                  <a:srgbClr val="FFC000"/>
                </a:solidFill>
                <a:cs typeface="Times New Roman" panose="02020603050405020304" pitchFamily="18" charset="0"/>
              </a:rPr>
              <a:t>i</a:t>
            </a:r>
            <a:r>
              <a:rPr kumimoji="0" lang="en-US" altLang="zh-CN" sz="3200" i="1" dirty="0">
                <a:solidFill>
                  <a:srgbClr val="FFC000"/>
                </a:solidFill>
                <a:cs typeface="Times New Roman" panose="02020603050405020304" pitchFamily="18" charset="0"/>
              </a:rPr>
              <a:t> </a:t>
            </a:r>
            <a:r>
              <a:rPr kumimoji="0" lang="en-US" altLang="zh-CN" sz="3200" dirty="0">
                <a:solidFill>
                  <a:srgbClr val="FFC000"/>
                </a:solidFill>
                <a:cs typeface="Times New Roman" panose="02020603050405020304" pitchFamily="18" charset="0"/>
              </a:rPr>
              <a:t>= 1,2,…,</a:t>
            </a:r>
            <a:r>
              <a:rPr kumimoji="0" lang="en-US" altLang="zh-CN" sz="3200" i="1" dirty="0">
                <a:solidFill>
                  <a:srgbClr val="FFC000"/>
                </a:solidFill>
                <a:cs typeface="Times New Roman" panose="02020603050405020304" pitchFamily="18" charset="0"/>
              </a:rPr>
              <a:t>t</a:t>
            </a:r>
            <a:r>
              <a:rPr kumimoji="0" lang="en-US" altLang="zh-CN" sz="3200" dirty="0">
                <a:solidFill>
                  <a:srgbClr val="FFC000"/>
                </a:solidFill>
                <a:cs typeface="Times New Roman" panose="02020603050405020304" pitchFamily="18" charset="0"/>
              </a:rPr>
              <a:t>)</a:t>
            </a:r>
            <a:r>
              <a:rPr kumimoji="0" lang="zh-CN" altLang="en-US" sz="3200" dirty="0">
                <a:solidFill>
                  <a:srgbClr val="FFC000"/>
                </a:solidFill>
              </a:rPr>
              <a:t>可逆</a:t>
            </a:r>
            <a:r>
              <a:rPr kumimoji="0" lang="en-US" altLang="zh-CN" sz="3200" dirty="0">
                <a:solidFill>
                  <a:srgbClr val="FFC000"/>
                </a:solidFill>
              </a:rPr>
              <a:t>, </a:t>
            </a:r>
            <a:r>
              <a:rPr kumimoji="0" lang="zh-CN" altLang="en-US" sz="3200" dirty="0">
                <a:solidFill>
                  <a:srgbClr val="FFC000"/>
                </a:solidFill>
              </a:rPr>
              <a:t>则分块对角阵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9748118"/>
              </p:ext>
            </p:extLst>
          </p:nvPr>
        </p:nvGraphicFramePr>
        <p:xfrm>
          <a:off x="1531938" y="1582738"/>
          <a:ext cx="5667375" cy="225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4" name="公式" r:id="rId3" imgW="3617640" imgH="1130400" progId="Equation.3">
                  <p:embed/>
                </p:oleObj>
              </mc:Choice>
              <mc:Fallback>
                <p:oleObj name="公式" r:id="rId3" imgW="3617640" imgH="113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1938" y="1582738"/>
                        <a:ext cx="5667375" cy="2257425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388886"/>
              </p:ext>
            </p:extLst>
          </p:nvPr>
        </p:nvGraphicFramePr>
        <p:xfrm>
          <a:off x="1116013" y="4365625"/>
          <a:ext cx="7602537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5" name="公式" r:id="rId5" imgW="4823640" imgH="1130400" progId="Equation.3">
                  <p:embed/>
                </p:oleObj>
              </mc:Choice>
              <mc:Fallback>
                <p:oleObj name="公式" r:id="rId5" imgW="4823640" imgH="113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4365625"/>
                        <a:ext cx="7602537" cy="1962150"/>
                      </a:xfrm>
                      <a:prstGeom prst="rect">
                        <a:avLst/>
                      </a:prstGeom>
                      <a:solidFill>
                        <a:srgbClr val="0070C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989918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407368" y="620688"/>
            <a:ext cx="11521280" cy="11757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marL="0" indent="0" algn="l" eaLnBrk="1" hangingPunct="1">
              <a:spcBef>
                <a:spcPct val="20000"/>
              </a:spcBef>
              <a:buClr>
                <a:srgbClr val="FFFFCC"/>
              </a:buClr>
              <a:buSzPct val="70000"/>
            </a:pPr>
            <a:r>
              <a:rPr lang="zh-CN" altLang="en-US" sz="3200" b="1" dirty="0">
                <a:solidFill>
                  <a:schemeClr val="tx1"/>
                </a:solidFill>
                <a:ea typeface="华文新魏" panose="02010800040101010101" pitchFamily="2" charset="-122"/>
              </a:rPr>
              <a:t>例</a:t>
            </a:r>
            <a:r>
              <a:rPr lang="en-US" altLang="zh-CN" sz="3200" dirty="0">
                <a:solidFill>
                  <a:schemeClr val="tx1"/>
                </a:solidFill>
                <a:ea typeface="华文新魏" panose="02010800040101010101" pitchFamily="2" charset="-122"/>
              </a:rPr>
              <a:t>2.25</a:t>
            </a:r>
            <a:r>
              <a:rPr lang="en-US" altLang="zh-CN" sz="32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3200" dirty="0">
                <a:solidFill>
                  <a:schemeClr val="tx1"/>
                </a:solidFill>
              </a:rPr>
              <a:t>设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zh-CN" altLang="en-US" sz="3200" dirty="0">
                <a:solidFill>
                  <a:schemeClr val="tx1"/>
                </a:solidFill>
              </a:rPr>
              <a:t>和</a:t>
            </a:r>
            <a:r>
              <a:rPr lang="en-US" altLang="zh-CN" sz="3200" b="1" i="1" dirty="0">
                <a:solidFill>
                  <a:schemeClr val="tx1"/>
                </a:solidFill>
              </a:rPr>
              <a:t>B</a:t>
            </a:r>
            <a:r>
              <a:rPr lang="zh-CN" altLang="en-US" sz="3200" dirty="0">
                <a:solidFill>
                  <a:schemeClr val="tx1"/>
                </a:solidFill>
              </a:rPr>
              <a:t>满足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>
                <a:solidFill>
                  <a:schemeClr val="tx1"/>
                </a:solidFill>
              </a:rPr>
              <a:t>*</a:t>
            </a:r>
            <a:r>
              <a:rPr lang="en-US" altLang="zh-CN" sz="3200" b="1" i="1" dirty="0">
                <a:solidFill>
                  <a:schemeClr val="tx1"/>
                </a:solidFill>
              </a:rPr>
              <a:t>BA </a:t>
            </a:r>
            <a:r>
              <a:rPr lang="en-US" altLang="zh-CN" sz="3200" dirty="0">
                <a:solidFill>
                  <a:schemeClr val="tx1"/>
                </a:solidFill>
              </a:rPr>
              <a:t>= 2</a:t>
            </a:r>
            <a:r>
              <a:rPr lang="en-US" altLang="zh-CN" sz="3200" b="1" i="1" dirty="0">
                <a:solidFill>
                  <a:schemeClr val="tx1"/>
                </a:solidFill>
              </a:rPr>
              <a:t>BA </a:t>
            </a:r>
            <a:r>
              <a:rPr lang="en-US" altLang="zh-CN" sz="3200" dirty="0">
                <a:solidFill>
                  <a:schemeClr val="tx1"/>
                </a:solidFill>
              </a:rPr>
              <a:t>-8</a:t>
            </a:r>
            <a:r>
              <a:rPr lang="en-US" altLang="zh-CN" sz="3200" b="1" i="1" dirty="0">
                <a:solidFill>
                  <a:schemeClr val="tx1"/>
                </a:solidFill>
              </a:rPr>
              <a:t>E</a:t>
            </a:r>
            <a:r>
              <a:rPr lang="en-US" altLang="zh-CN" sz="3200" dirty="0">
                <a:solidFill>
                  <a:schemeClr val="tx1"/>
                </a:solidFill>
              </a:rPr>
              <a:t>, </a:t>
            </a:r>
            <a:r>
              <a:rPr lang="zh-CN" altLang="en-US" sz="3200" dirty="0">
                <a:solidFill>
                  <a:schemeClr val="tx1"/>
                </a:solidFill>
              </a:rPr>
              <a:t>其中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dirty="0">
                <a:solidFill>
                  <a:schemeClr val="tx1"/>
                </a:solidFill>
              </a:rPr>
              <a:t> = </a:t>
            </a:r>
            <a:r>
              <a:rPr lang="en-US" altLang="zh-CN" sz="3200" dirty="0" err="1">
                <a:solidFill>
                  <a:schemeClr val="tx1"/>
                </a:solidFill>
              </a:rPr>
              <a:t>diag</a:t>
            </a:r>
            <a:r>
              <a:rPr lang="en-US" altLang="zh-CN" sz="3200" dirty="0">
                <a:solidFill>
                  <a:schemeClr val="tx1"/>
                </a:solidFill>
              </a:rPr>
              <a:t>(1, -2, 1), </a:t>
            </a:r>
            <a:r>
              <a:rPr lang="zh-CN" altLang="en-US" sz="3200" dirty="0">
                <a:solidFill>
                  <a:schemeClr val="tx1"/>
                </a:solidFill>
              </a:rPr>
              <a:t>求</a:t>
            </a:r>
            <a:r>
              <a:rPr lang="en-US" altLang="zh-CN" sz="3200" b="1" i="1" dirty="0">
                <a:solidFill>
                  <a:schemeClr val="tx1"/>
                </a:solidFill>
              </a:rPr>
              <a:t>B</a:t>
            </a:r>
            <a:r>
              <a:rPr lang="en-US" altLang="zh-CN" sz="3200" dirty="0">
                <a:solidFill>
                  <a:schemeClr val="tx1"/>
                </a:solidFill>
              </a:rPr>
              <a:t>.</a:t>
            </a:r>
          </a:p>
          <a:p>
            <a:pPr algn="l" eaLnBrk="1" hangingPunct="1">
              <a:spcBef>
                <a:spcPct val="20000"/>
              </a:spcBef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3200" dirty="0">
                <a:solidFill>
                  <a:schemeClr val="tx1"/>
                </a:solidFill>
              </a:rPr>
              <a:t>Solution </a:t>
            </a: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3143672" y="1628800"/>
            <a:ext cx="812800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>
                <a:solidFill>
                  <a:schemeClr val="tx1"/>
                </a:solidFill>
              </a:rPr>
              <a:t>*</a:t>
            </a:r>
            <a:r>
              <a:rPr lang="en-US" altLang="zh-CN" sz="3200" b="1" i="1" dirty="0">
                <a:solidFill>
                  <a:schemeClr val="tx1"/>
                </a:solidFill>
              </a:rPr>
              <a:t>BA </a:t>
            </a:r>
            <a:r>
              <a:rPr lang="en-US" altLang="zh-CN" sz="3200" dirty="0">
                <a:solidFill>
                  <a:schemeClr val="tx1"/>
                </a:solidFill>
              </a:rPr>
              <a:t>= 2</a:t>
            </a:r>
            <a:r>
              <a:rPr lang="en-US" altLang="zh-CN" sz="3200" b="1" i="1" dirty="0">
                <a:solidFill>
                  <a:schemeClr val="tx1"/>
                </a:solidFill>
              </a:rPr>
              <a:t>BA </a:t>
            </a:r>
            <a:r>
              <a:rPr lang="en-US" altLang="zh-CN" sz="3200" dirty="0">
                <a:solidFill>
                  <a:schemeClr val="tx1"/>
                </a:solidFill>
              </a:rPr>
              <a:t>-8</a:t>
            </a:r>
            <a:r>
              <a:rPr lang="en-US" altLang="zh-CN" sz="3200" b="1" i="1" dirty="0">
                <a:solidFill>
                  <a:schemeClr val="tx1"/>
                </a:solidFill>
              </a:rPr>
              <a:t>E </a:t>
            </a:r>
          </a:p>
          <a:p>
            <a:pPr algn="l" eaLnBrk="1" hangingPunct="1">
              <a:spcBef>
                <a:spcPct val="20000"/>
              </a:spcBef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endParaRPr lang="en-US" altLang="zh-CN" sz="3200" b="1" i="1" dirty="0">
              <a:solidFill>
                <a:schemeClr val="tx1"/>
              </a:solidFill>
            </a:endParaRPr>
          </a:p>
          <a:p>
            <a:pPr algn="l" eaLnBrk="1" hangingPunct="1">
              <a:spcBef>
                <a:spcPct val="20000"/>
              </a:spcBef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3200" dirty="0">
                <a:solidFill>
                  <a:schemeClr val="tx1"/>
                </a:solidFill>
                <a:sym typeface="Symbol" panose="05050102010706020507" pitchFamily="18" charset="2"/>
              </a:rPr>
              <a:t> (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>
                <a:solidFill>
                  <a:schemeClr val="tx1"/>
                </a:solidFill>
              </a:rPr>
              <a:t>* </a:t>
            </a:r>
            <a:r>
              <a:rPr lang="en-US" altLang="zh-CN" sz="3200" dirty="0">
                <a:solidFill>
                  <a:schemeClr val="tx1"/>
                </a:solidFill>
              </a:rPr>
              <a:t>-</a:t>
            </a:r>
            <a:r>
              <a:rPr lang="en-US" altLang="zh-CN" sz="3200" baseline="300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2</a:t>
            </a:r>
            <a:r>
              <a:rPr lang="en-US" altLang="zh-CN" sz="3200" b="1" i="1" dirty="0">
                <a:solidFill>
                  <a:schemeClr val="tx1"/>
                </a:solidFill>
              </a:rPr>
              <a:t>E</a:t>
            </a:r>
            <a:r>
              <a:rPr lang="en-US" altLang="zh-CN" sz="3200" dirty="0">
                <a:solidFill>
                  <a:schemeClr val="tx1"/>
                </a:solidFill>
              </a:rPr>
              <a:t>)</a:t>
            </a:r>
            <a:r>
              <a:rPr lang="en-US" altLang="zh-CN" sz="3200" baseline="30000" dirty="0">
                <a:solidFill>
                  <a:schemeClr val="tx1"/>
                </a:solidFill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</a:rPr>
              <a:t>BA </a:t>
            </a:r>
            <a:r>
              <a:rPr lang="en-US" altLang="zh-CN" sz="3200" dirty="0">
                <a:solidFill>
                  <a:schemeClr val="tx1"/>
                </a:solidFill>
              </a:rPr>
              <a:t>= -8</a:t>
            </a:r>
            <a:r>
              <a:rPr lang="en-US" altLang="zh-CN" sz="3200" b="1" i="1" dirty="0">
                <a:solidFill>
                  <a:schemeClr val="tx1"/>
                </a:solidFill>
              </a:rPr>
              <a:t>E</a:t>
            </a:r>
            <a:r>
              <a:rPr lang="en-US" altLang="zh-CN" sz="32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algn="l" eaLnBrk="1" hangingPunct="1">
              <a:spcBef>
                <a:spcPct val="20000"/>
              </a:spcBef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endParaRPr lang="en-US" altLang="zh-CN" sz="32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algn="l" eaLnBrk="1" hangingPunct="1">
              <a:spcBef>
                <a:spcPct val="20000"/>
              </a:spcBef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3200" dirty="0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en-US" altLang="zh-CN" sz="3200" b="1" i="1" dirty="0">
                <a:solidFill>
                  <a:schemeClr val="tx1"/>
                </a:solidFill>
              </a:rPr>
              <a:t>BA </a:t>
            </a:r>
            <a:r>
              <a:rPr lang="en-US" altLang="zh-CN" sz="3200" dirty="0">
                <a:solidFill>
                  <a:schemeClr val="tx1"/>
                </a:solidFill>
              </a:rPr>
              <a:t>= </a:t>
            </a:r>
            <a:r>
              <a:rPr lang="en-US" altLang="zh-CN" sz="3200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>
                <a:solidFill>
                  <a:schemeClr val="tx1"/>
                </a:solidFill>
              </a:rPr>
              <a:t>* </a:t>
            </a:r>
            <a:r>
              <a:rPr lang="en-US" altLang="zh-CN" sz="3200" dirty="0">
                <a:solidFill>
                  <a:schemeClr val="tx1"/>
                </a:solidFill>
              </a:rPr>
              <a:t>-</a:t>
            </a:r>
            <a:r>
              <a:rPr lang="en-US" altLang="zh-CN" sz="3200" baseline="300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2</a:t>
            </a:r>
            <a:r>
              <a:rPr lang="en-US" altLang="zh-CN" sz="3200" b="1" i="1" dirty="0">
                <a:solidFill>
                  <a:schemeClr val="tx1"/>
                </a:solidFill>
              </a:rPr>
              <a:t>E</a:t>
            </a:r>
            <a:r>
              <a:rPr lang="en-US" altLang="zh-CN" sz="3200" dirty="0">
                <a:solidFill>
                  <a:schemeClr val="tx1"/>
                </a:solidFill>
              </a:rPr>
              <a:t>)</a:t>
            </a:r>
            <a:r>
              <a:rPr lang="en-US" altLang="zh-CN" sz="3200" baseline="30000" dirty="0">
                <a:solidFill>
                  <a:schemeClr val="tx1"/>
                </a:solidFill>
              </a:rPr>
              <a:t>-1</a:t>
            </a:r>
            <a:r>
              <a:rPr lang="en-US" altLang="zh-CN" sz="3200" dirty="0">
                <a:solidFill>
                  <a:schemeClr val="tx1"/>
                </a:solidFill>
              </a:rPr>
              <a:t>(-8</a:t>
            </a:r>
            <a:r>
              <a:rPr lang="en-US" altLang="zh-CN" sz="3200" b="1" i="1" dirty="0">
                <a:solidFill>
                  <a:schemeClr val="tx1"/>
                </a:solidFill>
              </a:rPr>
              <a:t>E</a:t>
            </a:r>
            <a:r>
              <a:rPr lang="en-US" altLang="zh-CN" sz="3200" dirty="0">
                <a:solidFill>
                  <a:schemeClr val="tx1"/>
                </a:solidFill>
              </a:rPr>
              <a:t>) = -8</a:t>
            </a:r>
            <a:r>
              <a:rPr lang="en-US" altLang="zh-CN" sz="3200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>
                <a:solidFill>
                  <a:schemeClr val="tx1"/>
                </a:solidFill>
              </a:rPr>
              <a:t>* </a:t>
            </a:r>
            <a:r>
              <a:rPr lang="en-US" altLang="zh-CN" sz="3200" dirty="0">
                <a:solidFill>
                  <a:schemeClr val="tx1"/>
                </a:solidFill>
              </a:rPr>
              <a:t>-</a:t>
            </a:r>
            <a:r>
              <a:rPr lang="en-US" altLang="zh-CN" sz="3200" baseline="300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2</a:t>
            </a:r>
            <a:r>
              <a:rPr lang="en-US" altLang="zh-CN" sz="3200" b="1" i="1" dirty="0">
                <a:solidFill>
                  <a:schemeClr val="tx1"/>
                </a:solidFill>
              </a:rPr>
              <a:t>E</a:t>
            </a:r>
            <a:r>
              <a:rPr lang="en-US" altLang="zh-CN" sz="3200" dirty="0">
                <a:solidFill>
                  <a:schemeClr val="tx1"/>
                </a:solidFill>
              </a:rPr>
              <a:t>)</a:t>
            </a:r>
            <a:r>
              <a:rPr lang="en-US" altLang="zh-CN" sz="3200" baseline="30000" dirty="0">
                <a:solidFill>
                  <a:schemeClr val="tx1"/>
                </a:solidFill>
              </a:rPr>
              <a:t>-1</a:t>
            </a:r>
            <a:endParaRPr lang="en-US" altLang="zh-CN" sz="3200" dirty="0">
              <a:solidFill>
                <a:schemeClr val="tx1"/>
              </a:solidFill>
            </a:endParaRPr>
          </a:p>
          <a:p>
            <a:pPr algn="l" eaLnBrk="1" hangingPunct="1">
              <a:spcBef>
                <a:spcPct val="20000"/>
              </a:spcBef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endParaRPr lang="en-US" altLang="zh-CN" sz="32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algn="l" eaLnBrk="1" hangingPunct="1">
              <a:spcBef>
                <a:spcPct val="20000"/>
              </a:spcBef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3200" dirty="0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en-US" altLang="zh-CN" sz="3200" b="1" i="1" dirty="0">
                <a:solidFill>
                  <a:schemeClr val="tx1"/>
                </a:solidFill>
              </a:rPr>
              <a:t>B </a:t>
            </a:r>
            <a:r>
              <a:rPr lang="en-US" altLang="zh-CN" sz="3200" dirty="0">
                <a:solidFill>
                  <a:schemeClr val="tx1"/>
                </a:solidFill>
              </a:rPr>
              <a:t>= -8</a:t>
            </a:r>
            <a:r>
              <a:rPr lang="en-US" altLang="zh-CN" sz="3200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>
                <a:solidFill>
                  <a:schemeClr val="tx1"/>
                </a:solidFill>
              </a:rPr>
              <a:t>* </a:t>
            </a:r>
            <a:r>
              <a:rPr lang="en-US" altLang="zh-CN" sz="3200" dirty="0">
                <a:solidFill>
                  <a:schemeClr val="tx1"/>
                </a:solidFill>
              </a:rPr>
              <a:t>-</a:t>
            </a:r>
            <a:r>
              <a:rPr lang="en-US" altLang="zh-CN" sz="3200" baseline="300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2</a:t>
            </a:r>
            <a:r>
              <a:rPr lang="en-US" altLang="zh-CN" sz="3200" b="1" i="1" dirty="0">
                <a:solidFill>
                  <a:schemeClr val="tx1"/>
                </a:solidFill>
              </a:rPr>
              <a:t>E</a:t>
            </a:r>
            <a:r>
              <a:rPr lang="en-US" altLang="zh-CN" sz="3200" dirty="0">
                <a:solidFill>
                  <a:schemeClr val="tx1"/>
                </a:solidFill>
              </a:rPr>
              <a:t>)</a:t>
            </a:r>
            <a:r>
              <a:rPr lang="en-US" altLang="zh-CN" sz="3200" baseline="30000" dirty="0">
                <a:solidFill>
                  <a:schemeClr val="tx1"/>
                </a:solidFill>
              </a:rPr>
              <a:t>-1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>
                <a:solidFill>
                  <a:schemeClr val="tx1"/>
                </a:solidFill>
              </a:rPr>
              <a:t>-1</a:t>
            </a:r>
            <a:r>
              <a:rPr lang="en-US" altLang="zh-CN" sz="32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01313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407368" y="116632"/>
            <a:ext cx="11208568" cy="176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algn="l" eaLnBrk="1" hangingPunct="1">
              <a:spcBef>
                <a:spcPct val="20000"/>
              </a:spcBef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3200" b="1" i="1" dirty="0">
                <a:solidFill>
                  <a:srgbClr val="000000"/>
                </a:solidFill>
              </a:rPr>
              <a:t>A</a:t>
            </a:r>
            <a:r>
              <a:rPr lang="en-US" altLang="zh-CN" sz="3200" dirty="0">
                <a:solidFill>
                  <a:srgbClr val="000000"/>
                </a:solidFill>
              </a:rPr>
              <a:t> = </a:t>
            </a:r>
            <a:r>
              <a:rPr lang="en-US" altLang="zh-CN" sz="3200" dirty="0" err="1">
                <a:solidFill>
                  <a:srgbClr val="000000"/>
                </a:solidFill>
              </a:rPr>
              <a:t>diag</a:t>
            </a:r>
            <a:r>
              <a:rPr lang="en-US" altLang="zh-CN" sz="3200" dirty="0">
                <a:solidFill>
                  <a:srgbClr val="000000"/>
                </a:solidFill>
              </a:rPr>
              <a:t>(1, -2, 1) </a:t>
            </a:r>
            <a:r>
              <a:rPr lang="en-US" altLang="zh-CN" sz="3200" dirty="0" smtClean="0">
                <a:solidFill>
                  <a:srgbClr val="000000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3200" dirty="0" smtClean="0">
                <a:solidFill>
                  <a:srgbClr val="000000"/>
                </a:solidFill>
              </a:rPr>
              <a:t> </a:t>
            </a:r>
            <a:r>
              <a:rPr lang="en-US" altLang="zh-CN" sz="3200" dirty="0">
                <a:solidFill>
                  <a:srgbClr val="000000"/>
                </a:solidFill>
              </a:rPr>
              <a:t>|</a:t>
            </a:r>
            <a:r>
              <a:rPr lang="en-US" altLang="zh-CN" sz="3200" b="1" i="1" dirty="0">
                <a:solidFill>
                  <a:srgbClr val="000000"/>
                </a:solidFill>
              </a:rPr>
              <a:t>A</a:t>
            </a:r>
            <a:r>
              <a:rPr lang="en-US" altLang="zh-CN" sz="3200" dirty="0">
                <a:solidFill>
                  <a:srgbClr val="000000"/>
                </a:solidFill>
              </a:rPr>
              <a:t>| = 1</a:t>
            </a:r>
            <a:r>
              <a:rPr lang="en-US" altLang="zh-CN" sz="3200" dirty="0">
                <a:solidFill>
                  <a:srgbClr val="000000"/>
                </a:solidFill>
                <a:cs typeface="Times New Roman" panose="02020603050405020304" pitchFamily="18" charset="0"/>
              </a:rPr>
              <a:t>·(-2) ·1= -2, </a:t>
            </a:r>
            <a:endParaRPr lang="en-US" altLang="zh-CN" sz="3200" b="1" i="1" dirty="0" smtClean="0">
              <a:solidFill>
                <a:srgbClr val="000000"/>
              </a:solidFill>
            </a:endParaRPr>
          </a:p>
          <a:p>
            <a:pPr algn="l" eaLnBrk="1" hangingPunct="1">
              <a:spcBef>
                <a:spcPct val="20000"/>
              </a:spcBef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3200" b="1" i="1" dirty="0" smtClean="0">
                <a:solidFill>
                  <a:srgbClr val="000000"/>
                </a:solidFill>
              </a:rPr>
              <a:t>A</a:t>
            </a:r>
            <a:r>
              <a:rPr lang="en-US" altLang="zh-CN" sz="3200" baseline="30000" dirty="0" smtClean="0">
                <a:solidFill>
                  <a:srgbClr val="000000"/>
                </a:solidFill>
              </a:rPr>
              <a:t>-1</a:t>
            </a:r>
            <a:r>
              <a:rPr lang="en-US" altLang="zh-CN" sz="3200" dirty="0" smtClean="0">
                <a:solidFill>
                  <a:srgbClr val="000000"/>
                </a:solidFill>
              </a:rPr>
              <a:t> </a:t>
            </a:r>
            <a:r>
              <a:rPr lang="en-US" altLang="zh-CN" sz="3200" dirty="0">
                <a:solidFill>
                  <a:srgbClr val="000000"/>
                </a:solidFill>
              </a:rPr>
              <a:t>= </a:t>
            </a:r>
            <a:r>
              <a:rPr lang="en-US" altLang="zh-CN" sz="3200" dirty="0" err="1">
                <a:solidFill>
                  <a:srgbClr val="000000"/>
                </a:solidFill>
              </a:rPr>
              <a:t>diag</a:t>
            </a:r>
            <a:r>
              <a:rPr lang="en-US" altLang="zh-CN" sz="3200" dirty="0">
                <a:solidFill>
                  <a:srgbClr val="000000"/>
                </a:solidFill>
              </a:rPr>
              <a:t>(1, -1/2, 1</a:t>
            </a:r>
            <a:r>
              <a:rPr lang="en-US" altLang="zh-CN" sz="3200" dirty="0" smtClean="0">
                <a:solidFill>
                  <a:srgbClr val="000000"/>
                </a:solidFill>
              </a:rPr>
              <a:t>)</a:t>
            </a:r>
            <a:endParaRPr lang="en-US" altLang="zh-CN" sz="3200" dirty="0">
              <a:solidFill>
                <a:srgbClr val="000000"/>
              </a:solidFill>
              <a:sym typeface="Symbol" panose="05050102010706020507" pitchFamily="18" charset="2"/>
            </a:endParaRPr>
          </a:p>
          <a:p>
            <a:pPr algn="l" eaLnBrk="1" hangingPunct="1">
              <a:spcBef>
                <a:spcPct val="20000"/>
              </a:spcBef>
              <a:buClr>
                <a:srgbClr val="FFFFCC"/>
              </a:buClr>
              <a:buSzPct val="70000"/>
              <a:buFont typeface="Wingdings" panose="05000000000000000000" pitchFamily="2" charset="2"/>
              <a:buChar char="n"/>
            </a:pPr>
            <a:r>
              <a:rPr lang="en-US" altLang="zh-CN" sz="3200" dirty="0">
                <a:solidFill>
                  <a:srgbClr val="000000"/>
                </a:solidFill>
                <a:sym typeface="Symbol" panose="05050102010706020507" pitchFamily="18" charset="2"/>
              </a:rPr>
              <a:t> </a:t>
            </a:r>
            <a:r>
              <a:rPr lang="en-US" altLang="zh-CN" sz="3200" b="1" i="1" dirty="0">
                <a:solidFill>
                  <a:srgbClr val="000000"/>
                </a:solidFill>
              </a:rPr>
              <a:t>A</a:t>
            </a:r>
            <a:r>
              <a:rPr lang="en-US" altLang="zh-CN" sz="3200" baseline="30000" dirty="0">
                <a:solidFill>
                  <a:srgbClr val="000000"/>
                </a:solidFill>
              </a:rPr>
              <a:t>*</a:t>
            </a:r>
            <a:r>
              <a:rPr lang="en-US" altLang="zh-CN" sz="3200" dirty="0">
                <a:solidFill>
                  <a:srgbClr val="000000"/>
                </a:solidFill>
              </a:rPr>
              <a:t> = |</a:t>
            </a:r>
            <a:r>
              <a:rPr lang="en-US" altLang="zh-CN" sz="3200" b="1" i="1" dirty="0">
                <a:solidFill>
                  <a:srgbClr val="000000"/>
                </a:solidFill>
              </a:rPr>
              <a:t>A</a:t>
            </a:r>
            <a:r>
              <a:rPr lang="en-US" altLang="zh-CN" sz="3200" dirty="0">
                <a:solidFill>
                  <a:srgbClr val="000000"/>
                </a:solidFill>
              </a:rPr>
              <a:t>| </a:t>
            </a:r>
            <a:r>
              <a:rPr lang="en-US" altLang="zh-CN" sz="3200" b="1" i="1" dirty="0">
                <a:solidFill>
                  <a:srgbClr val="000000"/>
                </a:solidFill>
              </a:rPr>
              <a:t>A</a:t>
            </a:r>
            <a:r>
              <a:rPr lang="en-US" altLang="zh-CN" sz="3200" baseline="30000" dirty="0">
                <a:solidFill>
                  <a:srgbClr val="000000"/>
                </a:solidFill>
              </a:rPr>
              <a:t>-1 </a:t>
            </a:r>
            <a:r>
              <a:rPr lang="en-US" altLang="zh-CN" sz="3200" dirty="0">
                <a:solidFill>
                  <a:srgbClr val="000000"/>
                </a:solidFill>
              </a:rPr>
              <a:t>= -2diag(1, -1/2, 1) = </a:t>
            </a:r>
            <a:r>
              <a:rPr lang="en-US" altLang="zh-CN" sz="3200" dirty="0" err="1">
                <a:solidFill>
                  <a:srgbClr val="000000"/>
                </a:solidFill>
              </a:rPr>
              <a:t>diag</a:t>
            </a:r>
            <a:r>
              <a:rPr lang="en-US" altLang="zh-CN" sz="3200" dirty="0">
                <a:solidFill>
                  <a:srgbClr val="000000"/>
                </a:solidFill>
              </a:rPr>
              <a:t>(-2, 1, -2).</a:t>
            </a:r>
            <a:r>
              <a:rPr lang="en-US" altLang="zh-CN" sz="3200" dirty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endParaRPr lang="en-US" altLang="zh-CN" sz="3200" dirty="0">
              <a:solidFill>
                <a:srgbClr val="000000"/>
              </a:solidFill>
            </a:endParaRPr>
          </a:p>
        </p:txBody>
      </p:sp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0924620"/>
              </p:ext>
            </p:extLst>
          </p:nvPr>
        </p:nvGraphicFramePr>
        <p:xfrm>
          <a:off x="2063552" y="2074816"/>
          <a:ext cx="7056784" cy="2163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6" name="Equation" r:id="rId3" imgW="3057635" imgH="885870" progId="Equation.DSMT4">
                  <p:embed/>
                </p:oleObj>
              </mc:Choice>
              <mc:Fallback>
                <p:oleObj name="Equation" r:id="rId3" imgW="3057635" imgH="8858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2074816"/>
                        <a:ext cx="7056784" cy="216338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373161"/>
              </p:ext>
            </p:extLst>
          </p:nvPr>
        </p:nvGraphicFramePr>
        <p:xfrm>
          <a:off x="1017612" y="4364383"/>
          <a:ext cx="7886700" cy="216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7" name="Equation" r:id="rId5" imgW="3429068" imgH="885870" progId="Equation.DSMT4">
                  <p:embed/>
                </p:oleObj>
              </mc:Choice>
              <mc:Fallback>
                <p:oleObj name="Equation" r:id="rId5" imgW="3429068" imgH="88587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612" y="4364383"/>
                        <a:ext cx="7886700" cy="2163763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144734"/>
              </p:ext>
            </p:extLst>
          </p:nvPr>
        </p:nvGraphicFramePr>
        <p:xfrm>
          <a:off x="8904312" y="4653136"/>
          <a:ext cx="2085975" cy="159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8" name="Equation" r:id="rId7" imgW="847677" imgH="638280" progId="Equation.DSMT4">
                  <p:embed/>
                </p:oleObj>
              </mc:Choice>
              <mc:Fallback>
                <p:oleObj name="Equation" r:id="rId7" imgW="847677" imgH="63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4312" y="4653136"/>
                        <a:ext cx="2085975" cy="1595437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906213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343472" y="1052736"/>
            <a:ext cx="8505825" cy="4721292"/>
          </a:xfrm>
          <a:prstGeom prst="rect">
            <a:avLst/>
          </a:prstGeom>
        </p:spPr>
        <p:txBody>
          <a:bodyPr>
            <a:spAutoFit/>
          </a:bodyPr>
          <a:lstStyle>
            <a:lvl1pPr marL="342900" indent="-3429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 marL="0" indent="0" algn="l" eaLnBrk="1" hangingPunct="1">
              <a:spcBef>
                <a:spcPct val="20000"/>
              </a:spcBef>
              <a:buClr>
                <a:srgbClr val="FFFFCC"/>
              </a:buClr>
              <a:buSzPct val="70000"/>
            </a:pPr>
            <a:r>
              <a:rPr lang="zh-CN" altLang="en-US" sz="3200" b="1" dirty="0">
                <a:solidFill>
                  <a:schemeClr val="tx1"/>
                </a:solidFill>
                <a:ea typeface="华文新魏" panose="02010800040101010101" pitchFamily="2" charset="-122"/>
              </a:rPr>
              <a:t>例</a:t>
            </a:r>
            <a:r>
              <a:rPr lang="en-US" altLang="zh-CN" sz="3200" dirty="0">
                <a:solidFill>
                  <a:schemeClr val="tx1"/>
                </a:solidFill>
                <a:ea typeface="华文新魏" panose="02010800040101010101" pitchFamily="2" charset="-122"/>
              </a:rPr>
              <a:t>2.26 </a:t>
            </a:r>
            <a:r>
              <a:rPr lang="zh-CN" altLang="en-US" sz="3200" dirty="0">
                <a:solidFill>
                  <a:schemeClr val="tx1"/>
                </a:solidFill>
              </a:rPr>
              <a:t>设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zh-CN" altLang="en-US" sz="3200" dirty="0">
                <a:solidFill>
                  <a:schemeClr val="tx1"/>
                </a:solidFill>
              </a:rPr>
              <a:t>为</a:t>
            </a:r>
            <a:r>
              <a:rPr lang="en-US" altLang="zh-CN" sz="3200" i="1" dirty="0">
                <a:solidFill>
                  <a:schemeClr val="tx1"/>
                </a:solidFill>
              </a:rPr>
              <a:t>n</a:t>
            </a:r>
            <a:r>
              <a:rPr lang="en-US" altLang="zh-CN" sz="3200" dirty="0">
                <a:solidFill>
                  <a:schemeClr val="tx1"/>
                </a:solidFill>
              </a:rPr>
              <a:t>(</a:t>
            </a:r>
            <a:r>
              <a:rPr lang="en-US" altLang="zh-CN" sz="3200" i="1" dirty="0">
                <a:solidFill>
                  <a:schemeClr val="tx1"/>
                </a:solidFill>
              </a:rPr>
              <a:t>n</a:t>
            </a:r>
            <a:r>
              <a:rPr lang="en-US" altLang="zh-CN" sz="3200" dirty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  <a:latin typeface="SimSun" panose="02010600030101010101" pitchFamily="2" charset="-122"/>
              </a:rPr>
              <a:t>≥</a:t>
            </a:r>
            <a:r>
              <a:rPr lang="en-US" altLang="zh-CN" sz="3200" dirty="0">
                <a:solidFill>
                  <a:schemeClr val="tx1"/>
                </a:solidFill>
              </a:rPr>
              <a:t> 2)</a:t>
            </a:r>
            <a:r>
              <a:rPr lang="zh-CN" altLang="en-US" sz="3200" dirty="0">
                <a:solidFill>
                  <a:schemeClr val="tx1"/>
                </a:solidFill>
              </a:rPr>
              <a:t>阶方阵</a:t>
            </a:r>
            <a:r>
              <a:rPr lang="en-US" altLang="zh-CN" sz="3200" dirty="0">
                <a:solidFill>
                  <a:schemeClr val="tx1"/>
                </a:solidFill>
              </a:rPr>
              <a:t>,</a:t>
            </a:r>
            <a:r>
              <a:rPr lang="zh-CN" altLang="en-US" sz="3200" dirty="0">
                <a:solidFill>
                  <a:schemeClr val="tx1"/>
                </a:solidFill>
              </a:rPr>
              <a:t>证明</a:t>
            </a:r>
          </a:p>
          <a:p>
            <a:pPr marL="0" indent="0" algn="l" eaLnBrk="1" hangingPunct="1">
              <a:spcBef>
                <a:spcPct val="20000"/>
              </a:spcBef>
              <a:buClr>
                <a:srgbClr val="FFFFCC"/>
              </a:buClr>
              <a:buSzPct val="70000"/>
            </a:pPr>
            <a:r>
              <a:rPr lang="en-US" altLang="zh-CN" sz="3200" dirty="0">
                <a:solidFill>
                  <a:schemeClr val="tx1"/>
                </a:solidFill>
              </a:rPr>
              <a:t>(1) </a:t>
            </a:r>
            <a:r>
              <a:rPr lang="zh-CN" altLang="en-US" sz="3200" dirty="0">
                <a:solidFill>
                  <a:schemeClr val="tx1"/>
                </a:solidFill>
              </a:rPr>
              <a:t>若</a:t>
            </a:r>
            <a:r>
              <a:rPr lang="en-US" altLang="zh-CN" sz="3200" dirty="0">
                <a:solidFill>
                  <a:schemeClr val="tx1"/>
                </a:solidFill>
              </a:rPr>
              <a:t>|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dirty="0">
                <a:solidFill>
                  <a:schemeClr val="tx1"/>
                </a:solidFill>
              </a:rPr>
              <a:t>| = 0, </a:t>
            </a:r>
            <a:r>
              <a:rPr lang="zh-CN" altLang="en-US" sz="3200" dirty="0">
                <a:solidFill>
                  <a:schemeClr val="tx1"/>
                </a:solidFill>
              </a:rPr>
              <a:t>则</a:t>
            </a:r>
            <a:r>
              <a:rPr lang="en-US" altLang="zh-CN" sz="3200" dirty="0">
                <a:solidFill>
                  <a:schemeClr val="tx1"/>
                </a:solidFill>
              </a:rPr>
              <a:t>|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>
                <a:solidFill>
                  <a:schemeClr val="tx1"/>
                </a:solidFill>
              </a:rPr>
              <a:t>*</a:t>
            </a:r>
            <a:r>
              <a:rPr lang="en-US" altLang="zh-CN" sz="3200" dirty="0">
                <a:solidFill>
                  <a:schemeClr val="tx1"/>
                </a:solidFill>
              </a:rPr>
              <a:t>| = 0.</a:t>
            </a:r>
          </a:p>
          <a:p>
            <a:pPr marL="0" indent="0" algn="l" eaLnBrk="1" hangingPunct="1">
              <a:spcBef>
                <a:spcPct val="20000"/>
              </a:spcBef>
              <a:buClr>
                <a:srgbClr val="FFFFCC"/>
              </a:buClr>
              <a:buSzPct val="70000"/>
            </a:pPr>
            <a:r>
              <a:rPr lang="en-US" altLang="zh-CN" sz="3200" dirty="0">
                <a:solidFill>
                  <a:schemeClr val="tx1"/>
                </a:solidFill>
              </a:rPr>
              <a:t>(2) |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>
                <a:solidFill>
                  <a:schemeClr val="tx1"/>
                </a:solidFill>
              </a:rPr>
              <a:t>*</a:t>
            </a:r>
            <a:r>
              <a:rPr lang="en-US" altLang="zh-CN" sz="3200" dirty="0">
                <a:solidFill>
                  <a:schemeClr val="tx1"/>
                </a:solidFill>
              </a:rPr>
              <a:t>| = |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dirty="0">
                <a:solidFill>
                  <a:schemeClr val="tx1"/>
                </a:solidFill>
              </a:rPr>
              <a:t>|</a:t>
            </a:r>
            <a:r>
              <a:rPr lang="en-US" altLang="zh-CN" sz="3200" i="1" baseline="30000" dirty="0">
                <a:solidFill>
                  <a:schemeClr val="tx1"/>
                </a:solidFill>
              </a:rPr>
              <a:t>n</a:t>
            </a:r>
            <a:r>
              <a:rPr lang="en-US" altLang="zh-CN" sz="3200" baseline="30000" dirty="0">
                <a:solidFill>
                  <a:schemeClr val="tx1"/>
                </a:solidFill>
              </a:rPr>
              <a:t>-1</a:t>
            </a:r>
            <a:r>
              <a:rPr lang="en-US" altLang="zh-CN" sz="3200" dirty="0">
                <a:solidFill>
                  <a:schemeClr val="tx1"/>
                </a:solidFill>
              </a:rPr>
              <a:t>. </a:t>
            </a:r>
          </a:p>
          <a:p>
            <a:pPr marL="0" indent="0" algn="l" eaLnBrk="1" hangingPunct="1">
              <a:spcBef>
                <a:spcPct val="20000"/>
              </a:spcBef>
              <a:buClr>
                <a:srgbClr val="FFFFCC"/>
              </a:buClr>
              <a:buSzPct val="70000"/>
            </a:pPr>
            <a:r>
              <a:rPr lang="en-US" altLang="zh-CN" sz="3200" dirty="0">
                <a:solidFill>
                  <a:schemeClr val="tx1"/>
                </a:solidFill>
              </a:rPr>
              <a:t>Proof (1) </a:t>
            </a:r>
            <a:r>
              <a:rPr lang="en-US" altLang="zh-CN" sz="3200" dirty="0" smtClean="0">
                <a:solidFill>
                  <a:srgbClr val="FFC000"/>
                </a:solidFill>
              </a:rPr>
              <a:t>case1:   </a:t>
            </a:r>
            <a:r>
              <a:rPr lang="en-US" altLang="zh-CN" sz="3200" dirty="0" smtClean="0">
                <a:solidFill>
                  <a:schemeClr val="tx1"/>
                </a:solidFill>
              </a:rPr>
              <a:t> </a:t>
            </a:r>
            <a:r>
              <a:rPr lang="en-US" altLang="zh-CN" sz="3200" b="1" i="1" dirty="0" smtClean="0">
                <a:solidFill>
                  <a:schemeClr val="tx1"/>
                </a:solidFill>
              </a:rPr>
              <a:t>A</a:t>
            </a:r>
            <a:r>
              <a:rPr lang="en-US" altLang="zh-CN" sz="3200" dirty="0" smtClean="0">
                <a:solidFill>
                  <a:schemeClr val="tx1"/>
                </a:solidFill>
              </a:rPr>
              <a:t> </a:t>
            </a:r>
            <a:r>
              <a:rPr lang="en-US" altLang="zh-CN" sz="3200" dirty="0">
                <a:solidFill>
                  <a:schemeClr val="tx1"/>
                </a:solidFill>
              </a:rPr>
              <a:t>= </a:t>
            </a:r>
            <a:r>
              <a:rPr lang="en-US" altLang="zh-CN" sz="3200" b="1" dirty="0">
                <a:solidFill>
                  <a:schemeClr val="tx1"/>
                </a:solidFill>
              </a:rPr>
              <a:t>0</a:t>
            </a:r>
            <a:r>
              <a:rPr lang="en-US" altLang="zh-CN" sz="3200" dirty="0">
                <a:solidFill>
                  <a:schemeClr val="tx1"/>
                </a:solidFill>
              </a:rPr>
              <a:t>: 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>
                <a:solidFill>
                  <a:schemeClr val="tx1"/>
                </a:solidFill>
              </a:rPr>
              <a:t>*</a:t>
            </a:r>
            <a:r>
              <a:rPr lang="en-US" altLang="zh-CN" sz="3200" dirty="0">
                <a:solidFill>
                  <a:schemeClr val="tx1"/>
                </a:solidFill>
              </a:rPr>
              <a:t> = </a:t>
            </a:r>
            <a:r>
              <a:rPr lang="en-US" altLang="zh-CN" sz="3200" b="1" dirty="0">
                <a:solidFill>
                  <a:schemeClr val="tx1"/>
                </a:solidFill>
              </a:rPr>
              <a:t>0</a:t>
            </a:r>
            <a:r>
              <a:rPr lang="en-US" altLang="zh-CN" sz="3200" dirty="0">
                <a:solidFill>
                  <a:schemeClr val="tx1"/>
                </a:solidFill>
              </a:rPr>
              <a:t>, |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>
                <a:solidFill>
                  <a:schemeClr val="tx1"/>
                </a:solidFill>
              </a:rPr>
              <a:t>*</a:t>
            </a:r>
            <a:r>
              <a:rPr lang="en-US" altLang="zh-CN" sz="3200" dirty="0">
                <a:solidFill>
                  <a:schemeClr val="tx1"/>
                </a:solidFill>
              </a:rPr>
              <a:t>| = 0</a:t>
            </a:r>
            <a:r>
              <a:rPr lang="en-US" altLang="zh-CN" sz="3200" dirty="0" smtClean="0">
                <a:solidFill>
                  <a:schemeClr val="tx1"/>
                </a:solidFill>
              </a:rPr>
              <a:t>.</a:t>
            </a:r>
          </a:p>
          <a:p>
            <a:pPr marL="0" indent="0" eaLnBrk="1" hangingPunct="1">
              <a:spcBef>
                <a:spcPct val="20000"/>
              </a:spcBef>
              <a:buClr>
                <a:srgbClr val="FFFFCC"/>
              </a:buClr>
              <a:buSzPct val="70000"/>
            </a:pPr>
            <a:r>
              <a:rPr lang="en-US" altLang="zh-CN" sz="3200" b="1" i="1" dirty="0" smtClean="0">
                <a:solidFill>
                  <a:schemeClr val="tx1"/>
                </a:solidFill>
              </a:rPr>
              <a:t>                </a:t>
            </a:r>
            <a:r>
              <a:rPr lang="en-US" altLang="zh-CN" sz="3200" dirty="0" smtClean="0">
                <a:solidFill>
                  <a:srgbClr val="FFC000"/>
                </a:solidFill>
              </a:rPr>
              <a:t>case2:   </a:t>
            </a:r>
            <a:r>
              <a:rPr lang="en-US" altLang="zh-CN" sz="3200" b="1" i="1" dirty="0" smtClean="0">
                <a:solidFill>
                  <a:schemeClr val="tx1"/>
                </a:solidFill>
              </a:rPr>
              <a:t>A</a:t>
            </a:r>
            <a:r>
              <a:rPr lang="en-US" altLang="zh-CN" sz="3200" dirty="0" smtClean="0">
                <a:solidFill>
                  <a:schemeClr val="tx1"/>
                </a:solidFill>
              </a:rPr>
              <a:t> </a:t>
            </a:r>
            <a:r>
              <a:rPr lang="en-US" altLang="zh-CN" sz="3200" dirty="0" smtClean="0">
                <a:solidFill>
                  <a:schemeClr val="tx1"/>
                </a:solidFill>
                <a:sym typeface="Symbol" panose="05050102010706020507" pitchFamily="18" charset="2"/>
              </a:rPr>
              <a:t> 0: </a:t>
            </a:r>
            <a:r>
              <a:rPr lang="zh-CN" altLang="en-US" sz="3200" dirty="0" smtClean="0">
                <a:solidFill>
                  <a:schemeClr val="tx1"/>
                </a:solidFill>
                <a:sym typeface="Symbol" panose="05050102010706020507" pitchFamily="18" charset="2"/>
              </a:rPr>
              <a:t>假设</a:t>
            </a:r>
            <a:r>
              <a:rPr lang="en-US" altLang="zh-CN" sz="3200" dirty="0" smtClean="0">
                <a:solidFill>
                  <a:schemeClr val="tx1"/>
                </a:solidFill>
              </a:rPr>
              <a:t>|</a:t>
            </a:r>
            <a:r>
              <a:rPr lang="en-US" altLang="zh-CN" sz="3200" b="1" i="1" dirty="0" smtClean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 smtClean="0">
                <a:solidFill>
                  <a:schemeClr val="tx1"/>
                </a:solidFill>
              </a:rPr>
              <a:t>*</a:t>
            </a:r>
            <a:r>
              <a:rPr lang="en-US" altLang="zh-CN" sz="3200" dirty="0" smtClean="0">
                <a:solidFill>
                  <a:schemeClr val="tx1"/>
                </a:solidFill>
              </a:rPr>
              <a:t>| </a:t>
            </a:r>
            <a:r>
              <a:rPr lang="en-US" altLang="zh-CN" sz="3200" dirty="0" smtClean="0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zh-CN" sz="3200" dirty="0" smtClean="0">
                <a:solidFill>
                  <a:schemeClr val="tx1"/>
                </a:solidFill>
              </a:rPr>
              <a:t> 0, </a:t>
            </a:r>
            <a:r>
              <a:rPr lang="zh-CN" altLang="en-US" sz="3200" dirty="0" smtClean="0">
                <a:solidFill>
                  <a:schemeClr val="tx1"/>
                </a:solidFill>
              </a:rPr>
              <a:t>则</a:t>
            </a:r>
            <a:r>
              <a:rPr lang="en-US" altLang="zh-CN" sz="3200" b="1" i="1" dirty="0" smtClean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 smtClean="0">
                <a:solidFill>
                  <a:schemeClr val="tx1"/>
                </a:solidFill>
              </a:rPr>
              <a:t>*</a:t>
            </a:r>
            <a:r>
              <a:rPr lang="zh-CN" altLang="en-US" sz="3200" dirty="0" smtClean="0">
                <a:solidFill>
                  <a:schemeClr val="tx1"/>
                </a:solidFill>
              </a:rPr>
              <a:t>可逆</a:t>
            </a:r>
            <a:r>
              <a:rPr lang="en-US" altLang="zh-CN" sz="3200" dirty="0" smtClean="0">
                <a:solidFill>
                  <a:schemeClr val="tx1"/>
                </a:solidFill>
              </a:rPr>
              <a:t>. </a:t>
            </a:r>
            <a:endParaRPr lang="en-US" altLang="zh-CN" sz="3200" dirty="0" smtClean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algn="l" eaLnBrk="1" hangingPunct="1">
              <a:spcBef>
                <a:spcPct val="20000"/>
              </a:spcBef>
              <a:buClr>
                <a:srgbClr val="FFFFCC"/>
              </a:buClr>
              <a:buSzPct val="70000"/>
            </a:pPr>
            <a:endParaRPr lang="en-US" altLang="zh-CN" sz="3200" dirty="0">
              <a:solidFill>
                <a:schemeClr val="tx1"/>
              </a:solidFill>
            </a:endParaRPr>
          </a:p>
          <a:p>
            <a:pPr marL="0" indent="0" algn="l" eaLnBrk="1" hangingPunct="1">
              <a:spcBef>
                <a:spcPct val="20000"/>
              </a:spcBef>
              <a:buClr>
                <a:srgbClr val="FFFFCC"/>
              </a:buClr>
              <a:buSzPct val="70000"/>
            </a:pPr>
            <a:r>
              <a:rPr lang="en-US" altLang="zh-CN" sz="3200" dirty="0">
                <a:solidFill>
                  <a:schemeClr val="tx1"/>
                </a:solidFill>
              </a:rPr>
              <a:t>         (2) |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dirty="0">
                <a:solidFill>
                  <a:schemeClr val="tx1"/>
                </a:solidFill>
              </a:rPr>
              <a:t>| = 0 </a:t>
            </a:r>
            <a:r>
              <a:rPr lang="en-US" altLang="zh-CN" sz="3200" dirty="0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3200" dirty="0">
                <a:solidFill>
                  <a:schemeClr val="tx1"/>
                </a:solidFill>
              </a:rPr>
              <a:t> |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>
                <a:solidFill>
                  <a:schemeClr val="tx1"/>
                </a:solidFill>
              </a:rPr>
              <a:t>*</a:t>
            </a:r>
            <a:r>
              <a:rPr lang="en-US" altLang="zh-CN" sz="3200" dirty="0">
                <a:solidFill>
                  <a:schemeClr val="tx1"/>
                </a:solidFill>
              </a:rPr>
              <a:t>| = 0 </a:t>
            </a:r>
            <a:r>
              <a:rPr lang="en-US" altLang="zh-CN" sz="3200" dirty="0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en-US" altLang="zh-CN" sz="3200" dirty="0">
                <a:solidFill>
                  <a:schemeClr val="tx1"/>
                </a:solidFill>
              </a:rPr>
              <a:t>|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baseline="30000" dirty="0">
                <a:solidFill>
                  <a:schemeClr val="tx1"/>
                </a:solidFill>
              </a:rPr>
              <a:t>*</a:t>
            </a:r>
            <a:r>
              <a:rPr lang="en-US" altLang="zh-CN" sz="3200" dirty="0">
                <a:solidFill>
                  <a:schemeClr val="tx1"/>
                </a:solidFill>
              </a:rPr>
              <a:t>| = |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dirty="0">
                <a:solidFill>
                  <a:schemeClr val="tx1"/>
                </a:solidFill>
              </a:rPr>
              <a:t>|</a:t>
            </a:r>
            <a:r>
              <a:rPr lang="en-US" altLang="zh-CN" sz="3200" i="1" baseline="30000" dirty="0">
                <a:solidFill>
                  <a:schemeClr val="tx1"/>
                </a:solidFill>
              </a:rPr>
              <a:t>n</a:t>
            </a:r>
            <a:r>
              <a:rPr lang="en-US" altLang="zh-CN" sz="3200" baseline="30000" dirty="0">
                <a:solidFill>
                  <a:schemeClr val="tx1"/>
                </a:solidFill>
              </a:rPr>
              <a:t>-1</a:t>
            </a:r>
            <a:r>
              <a:rPr lang="en-US" altLang="zh-CN" sz="3200" dirty="0">
                <a:solidFill>
                  <a:schemeClr val="tx1"/>
                </a:solidFill>
              </a:rPr>
              <a:t>. </a:t>
            </a:r>
          </a:p>
          <a:p>
            <a:pPr marL="0" indent="0" algn="l" eaLnBrk="1" hangingPunct="1">
              <a:spcBef>
                <a:spcPct val="20000"/>
              </a:spcBef>
              <a:buClr>
                <a:srgbClr val="FFFFCC"/>
              </a:buClr>
              <a:buSzPct val="70000"/>
            </a:pPr>
            <a:r>
              <a:rPr lang="en-US" altLang="zh-CN" sz="3200" dirty="0">
                <a:solidFill>
                  <a:schemeClr val="tx1"/>
                </a:solidFill>
              </a:rPr>
              <a:t>               |</a:t>
            </a:r>
            <a:r>
              <a:rPr lang="en-US" altLang="zh-CN" sz="3200" b="1" i="1" dirty="0">
                <a:solidFill>
                  <a:schemeClr val="tx1"/>
                </a:solidFill>
              </a:rPr>
              <a:t>A</a:t>
            </a:r>
            <a:r>
              <a:rPr lang="en-US" altLang="zh-CN" sz="3200" dirty="0">
                <a:solidFill>
                  <a:schemeClr val="tx1"/>
                </a:solidFill>
              </a:rPr>
              <a:t>| </a:t>
            </a:r>
            <a:r>
              <a:rPr lang="en-US" altLang="zh-CN" sz="3200" dirty="0">
                <a:solidFill>
                  <a:schemeClr val="tx1"/>
                </a:solidFill>
                <a:sym typeface="Symbol" panose="05050102010706020507" pitchFamily="18" charset="2"/>
              </a:rPr>
              <a:t></a:t>
            </a:r>
            <a:r>
              <a:rPr lang="en-US" altLang="zh-CN" sz="3200" dirty="0">
                <a:solidFill>
                  <a:schemeClr val="tx1"/>
                </a:solidFill>
              </a:rPr>
              <a:t> 0 </a:t>
            </a:r>
            <a:r>
              <a:rPr lang="en-US" altLang="zh-CN" sz="3200" dirty="0">
                <a:solidFill>
                  <a:schemeClr val="tx1"/>
                </a:solidFill>
                <a:sym typeface="Symbol" panose="05050102010706020507" pitchFamily="18" charset="2"/>
              </a:rPr>
              <a:t>: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7689459"/>
              </p:ext>
            </p:extLst>
          </p:nvPr>
        </p:nvGraphicFramePr>
        <p:xfrm>
          <a:off x="2999656" y="4077072"/>
          <a:ext cx="642937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2" name="Equation" r:id="rId3" imgW="2771834" imgH="142830" progId="Equation.DSMT4">
                  <p:embed/>
                </p:oleObj>
              </mc:Choice>
              <mc:Fallback>
                <p:oleObj name="Equation" r:id="rId3" imgW="2771834" imgH="14283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4077072"/>
                        <a:ext cx="6429375" cy="5143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274946"/>
              </p:ext>
            </p:extLst>
          </p:nvPr>
        </p:nvGraphicFramePr>
        <p:xfrm>
          <a:off x="2999656" y="5850981"/>
          <a:ext cx="62865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3" name="公式" r:id="rId5" imgW="2705111" imgH="142830" progId="Equation.3">
                  <p:embed/>
                </p:oleObj>
              </mc:Choice>
              <mc:Fallback>
                <p:oleObj name="公式" r:id="rId5" imgW="2705111" imgH="1428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5850981"/>
                        <a:ext cx="6286500" cy="514350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1930073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088450"/>
              </p:ext>
            </p:extLst>
          </p:nvPr>
        </p:nvGraphicFramePr>
        <p:xfrm>
          <a:off x="1864172" y="1313086"/>
          <a:ext cx="6019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4" name="Equation" r:id="rId3" imgW="6019800" imgH="520700" progId="Equation.DSMT4">
                  <p:embed/>
                </p:oleObj>
              </mc:Choice>
              <mc:Fallback>
                <p:oleObj name="Equation" r:id="rId3" imgW="6019800" imgH="520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172" y="1313086"/>
                        <a:ext cx="6019800" cy="5207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252099"/>
              </p:ext>
            </p:extLst>
          </p:nvPr>
        </p:nvGraphicFramePr>
        <p:xfrm>
          <a:off x="1864172" y="2006823"/>
          <a:ext cx="7264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5" name="公式" r:id="rId5" imgW="7264400" imgH="838200" progId="Equation.3">
                  <p:embed/>
                </p:oleObj>
              </mc:Choice>
              <mc:Fallback>
                <p:oleObj name="公式" r:id="rId5" imgW="7264400" imgH="838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172" y="2006823"/>
                        <a:ext cx="7264400" cy="8382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869969"/>
              </p:ext>
            </p:extLst>
          </p:nvPr>
        </p:nvGraphicFramePr>
        <p:xfrm>
          <a:off x="1841947" y="3152998"/>
          <a:ext cx="78232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6" name="公式" r:id="rId7" imgW="7823200" imgH="520700" progId="Equation.3">
                  <p:embed/>
                </p:oleObj>
              </mc:Choice>
              <mc:Fallback>
                <p:oleObj name="公式" r:id="rId7" imgW="78232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1947" y="3152998"/>
                        <a:ext cx="7823200" cy="5207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1922303"/>
              </p:ext>
            </p:extLst>
          </p:nvPr>
        </p:nvGraphicFramePr>
        <p:xfrm>
          <a:off x="1874912" y="3982792"/>
          <a:ext cx="5994550" cy="599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7" name="Equation" r:id="rId9" imgW="1777680" imgH="177480" progId="Equation.DSMT4">
                  <p:embed/>
                </p:oleObj>
              </mc:Choice>
              <mc:Fallback>
                <p:oleObj name="Equation" r:id="rId9" imgW="17776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4912" y="3982792"/>
                        <a:ext cx="5994550" cy="59945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8504173"/>
              </p:ext>
            </p:extLst>
          </p:nvPr>
        </p:nvGraphicFramePr>
        <p:xfrm>
          <a:off x="1864172" y="4884961"/>
          <a:ext cx="3505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8" name="公式" r:id="rId11" imgW="3505200" imgH="939800" progId="Equation.3">
                  <p:embed/>
                </p:oleObj>
              </mc:Choice>
              <mc:Fallback>
                <p:oleObj name="公式" r:id="rId11" imgW="35052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172" y="4884961"/>
                        <a:ext cx="3505200" cy="9398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613819"/>
              </p:ext>
            </p:extLst>
          </p:nvPr>
        </p:nvGraphicFramePr>
        <p:xfrm>
          <a:off x="1864172" y="5889848"/>
          <a:ext cx="5981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9" name="公式" r:id="rId13" imgW="5981700" imgH="520700" progId="Equation.3">
                  <p:embed/>
                </p:oleObj>
              </mc:Choice>
              <mc:Fallback>
                <p:oleObj name="公式" r:id="rId13" imgW="5981700" imgH="520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172" y="5889848"/>
                        <a:ext cx="5981700" cy="5207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7926835" y="5854923"/>
            <a:ext cx="223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endParaRPr lang="zh-CN" altLang="zh-CN" sz="2400"/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3370710" y="108173"/>
            <a:ext cx="180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FF0000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endParaRPr lang="zh-CN" altLang="zh-CN"/>
          </a:p>
        </p:txBody>
      </p:sp>
      <p:sp>
        <p:nvSpPr>
          <p:cNvPr id="12" name="矩形 1"/>
          <p:cNvSpPr>
            <a:spLocks noChangeArrowheads="1"/>
          </p:cNvSpPr>
          <p:nvPr/>
        </p:nvSpPr>
        <p:spPr bwMode="auto">
          <a:xfrm>
            <a:off x="4872187" y="644972"/>
            <a:ext cx="11080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defRPr>
            </a:lvl9pPr>
          </a:lstStyle>
          <a:p>
            <a:r>
              <a:rPr lang="zh-CN" altLang="en-US" sz="36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</a:p>
        </p:txBody>
      </p:sp>
    </p:spTree>
    <p:extLst>
      <p:ext uri="{BB962C8B-B14F-4D97-AF65-F5344CB8AC3E}">
        <p14:creationId xmlns:p14="http://schemas.microsoft.com/office/powerpoint/2010/main" val="183388737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="" xmlns:a16="http://schemas.microsoft.com/office/drawing/2014/main" id="{A0AB90F8-5A9F-443F-A995-D41DA8256A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624" y="3356992"/>
            <a:ext cx="6022554" cy="24468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marL="342900" indent="-342900">
              <a:spcBef>
                <a:spcPct val="20000"/>
              </a:spcBef>
              <a:buClr>
                <a:srgbClr val="E3E3FF"/>
              </a:buClr>
              <a:buFontTx/>
              <a:buNone/>
              <a:defRPr sz="4000" kern="0">
                <a:solidFill>
                  <a:srgbClr val="FFC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45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见书</a:t>
            </a:r>
            <a:r>
              <a:rPr lang="en-US" altLang="zh-CN" sz="45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p109-111</a:t>
            </a:r>
            <a:endParaRPr lang="en-US" altLang="zh-CN" sz="45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 eaLnBrk="1" hangingPunct="1">
              <a:defRPr/>
            </a:pPr>
            <a:r>
              <a:rPr lang="en-US" altLang="zh-CN" sz="45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19</a:t>
            </a:r>
            <a:r>
              <a:rPr lang="zh-CN" altLang="en-US" sz="45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450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21</a:t>
            </a:r>
            <a:r>
              <a:rPr lang="zh-CN" altLang="en-US" sz="45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45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23</a:t>
            </a:r>
            <a:r>
              <a:rPr lang="zh-CN" altLang="en-US" sz="45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45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24</a:t>
            </a:r>
            <a:r>
              <a:rPr lang="zh-CN" altLang="en-US" sz="45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45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26 </a:t>
            </a:r>
          </a:p>
          <a:p>
            <a:pPr algn="ctr" eaLnBrk="1" hangingPunct="1">
              <a:defRPr/>
            </a:pPr>
            <a:r>
              <a:rPr lang="en-US" altLang="zh-CN" sz="45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45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类题，</a:t>
            </a:r>
            <a:r>
              <a:rPr lang="en-US" altLang="zh-CN" sz="45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endParaRPr lang="en-US" altLang="zh-CN" sz="45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AE448B23-3232-42F8-91D6-60C4A1C1CDFA}"/>
              </a:ext>
            </a:extLst>
          </p:cNvPr>
          <p:cNvSpPr/>
          <p:nvPr/>
        </p:nvSpPr>
        <p:spPr>
          <a:xfrm>
            <a:off x="5231904" y="2276872"/>
            <a:ext cx="1342034" cy="784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20000"/>
              </a:spcBef>
              <a:buClr>
                <a:srgbClr val="E3E3FF"/>
              </a:buClr>
              <a:defRPr/>
            </a:pPr>
            <a:r>
              <a:rPr lang="zh-CN" altLang="en-US" sz="4500" kern="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+mn-ea"/>
              </a:rPr>
              <a:t>作业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320" y="1196752"/>
            <a:ext cx="2343150" cy="5138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F8F8F8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B2B2B2"/>
      </a:folHlink>
    </a:clrScheme>
    <a:fontScheme name="1_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stealth" w="lg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00"/>
          </a:solidFill>
          <a:prstDash val="solid"/>
          <a:round/>
          <a:headEnd type="none" w="med" len="med"/>
          <a:tailEnd type="stealth" w="lg" len="lg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14483</TotalTime>
  <Words>1081</Words>
  <Application>Microsoft Office PowerPoint</Application>
  <PresentationFormat>宽屏</PresentationFormat>
  <Paragraphs>168</Paragraphs>
  <Slides>35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35</vt:i4>
      </vt:variant>
    </vt:vector>
  </HeadingPairs>
  <TitlesOfParts>
    <vt:vector size="50" baseType="lpstr">
      <vt:lpstr>黑体</vt:lpstr>
      <vt:lpstr>华文楷体</vt:lpstr>
      <vt:lpstr>华文新魏</vt:lpstr>
      <vt:lpstr>楷体</vt:lpstr>
      <vt:lpstr>宋体</vt:lpstr>
      <vt:lpstr>宋体</vt:lpstr>
      <vt:lpstr>微软雅黑</vt:lpstr>
      <vt:lpstr>Arial</vt:lpstr>
      <vt:lpstr>Symbol</vt:lpstr>
      <vt:lpstr>Times New Roman</vt:lpstr>
      <vt:lpstr>Wingdings</vt:lpstr>
      <vt:lpstr>1_模板</vt:lpstr>
      <vt:lpstr>Equation</vt:lpstr>
      <vt:lpstr>公式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西安通信学院数学教研室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hlai</dc:creator>
  <cp:lastModifiedBy>Windows 用户</cp:lastModifiedBy>
  <cp:revision>287</cp:revision>
  <dcterms:created xsi:type="dcterms:W3CDTF">2000-09-19T09:57:13Z</dcterms:created>
  <dcterms:modified xsi:type="dcterms:W3CDTF">2023-11-09T08:01:51Z</dcterms:modified>
</cp:coreProperties>
</file>