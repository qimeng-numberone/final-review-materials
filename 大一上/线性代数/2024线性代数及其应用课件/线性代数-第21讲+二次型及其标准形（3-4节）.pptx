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6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7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8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9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10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11.xml" ContentType="application/vnd.openxmlformats-officedocument.presentationml.tags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12.xml" ContentType="application/vnd.openxmlformats-officedocument.presentationml.tags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13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9" r:id="rId2"/>
    <p:sldId id="288" r:id="rId3"/>
    <p:sldId id="289" r:id="rId4"/>
    <p:sldId id="285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34" r:id="rId43"/>
    <p:sldId id="328" r:id="rId44"/>
    <p:sldId id="329" r:id="rId45"/>
    <p:sldId id="330" r:id="rId46"/>
    <p:sldId id="331" r:id="rId47"/>
    <p:sldId id="332" r:id="rId48"/>
    <p:sldId id="333" r:id="rId49"/>
    <p:sldId id="335" r:id="rId50"/>
    <p:sldId id="336" r:id="rId51"/>
    <p:sldId id="337" r:id="rId52"/>
    <p:sldId id="338" r:id="rId53"/>
    <p:sldId id="339" r:id="rId54"/>
    <p:sldId id="340" r:id="rId55"/>
    <p:sldId id="286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25" userDrawn="1">
          <p15:clr>
            <a:srgbClr val="A4A3A4"/>
          </p15:clr>
        </p15:guide>
        <p15:guide id="4" pos="73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汝德 杨" initials="汝德" lastIdx="1" clrIdx="0">
    <p:extLst>
      <p:ext uri="{19B8F6BF-5375-455C-9EA6-DF929625EA0E}">
        <p15:presenceInfo xmlns:p15="http://schemas.microsoft.com/office/powerpoint/2012/main" xmlns="" userId="f76269213a5f429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C300"/>
    <a:srgbClr val="404040"/>
    <a:srgbClr val="0070C0"/>
    <a:srgbClr val="A0D3D6"/>
    <a:srgbClr val="92D050"/>
    <a:srgbClr val="FFD966"/>
    <a:srgbClr val="DEEBF7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-498" y="-108"/>
      </p:cViewPr>
      <p:guideLst>
        <p:guide orient="horz" pos="3906"/>
        <p:guide pos="3840"/>
        <p:guide pos="325"/>
        <p:guide pos="73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e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e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emf"/><Relationship Id="rId1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5.emf"/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3.wmf"/><Relationship Id="rId7" Type="http://schemas.openxmlformats.org/officeDocument/2006/relationships/image" Target="../media/image51.emf"/><Relationship Id="rId2" Type="http://schemas.openxmlformats.org/officeDocument/2006/relationships/image" Target="../media/image47.emf"/><Relationship Id="rId1" Type="http://schemas.openxmlformats.org/officeDocument/2006/relationships/image" Target="../media/image46.wmf"/><Relationship Id="rId6" Type="http://schemas.openxmlformats.org/officeDocument/2006/relationships/image" Target="../media/image50.wmf"/><Relationship Id="rId5" Type="http://schemas.openxmlformats.org/officeDocument/2006/relationships/image" Target="../media/image49.emf"/><Relationship Id="rId4" Type="http://schemas.openxmlformats.org/officeDocument/2006/relationships/image" Target="../media/image48.emf"/><Relationship Id="rId9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image" Target="../media/image70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image" Target="../media/image82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emf"/><Relationship Id="rId1" Type="http://schemas.openxmlformats.org/officeDocument/2006/relationships/image" Target="../media/image85.wmf"/><Relationship Id="rId4" Type="http://schemas.openxmlformats.org/officeDocument/2006/relationships/image" Target="../media/image8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3" Type="http://schemas.openxmlformats.org/officeDocument/2006/relationships/image" Target="../media/image97.emf"/><Relationship Id="rId7" Type="http://schemas.openxmlformats.org/officeDocument/2006/relationships/image" Target="../media/image101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emf"/><Relationship Id="rId9" Type="http://schemas.openxmlformats.org/officeDocument/2006/relationships/image" Target="../media/image103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Relationship Id="rId5" Type="http://schemas.openxmlformats.org/officeDocument/2006/relationships/image" Target="../media/image109.wmf"/><Relationship Id="rId4" Type="http://schemas.openxmlformats.org/officeDocument/2006/relationships/image" Target="../media/image108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image" Target="../media/image110.emf"/><Relationship Id="rId5" Type="http://schemas.openxmlformats.org/officeDocument/2006/relationships/image" Target="../media/image109.wmf"/><Relationship Id="rId4" Type="http://schemas.openxmlformats.org/officeDocument/2006/relationships/image" Target="../media/image113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image" Target="../media/image114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image" Target="../media/image120.emf"/><Relationship Id="rId1" Type="http://schemas.openxmlformats.org/officeDocument/2006/relationships/image" Target="../media/image119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image" Target="../media/image122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image" Target="../media/image124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6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4" Type="http://schemas.openxmlformats.org/officeDocument/2006/relationships/image" Target="../media/image133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BCF9A-DE6F-41A9-A801-E893C85EFC23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E83CC-0F00-4877-AF8F-88A572890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93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717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57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507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758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962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388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761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078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513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44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719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615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735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598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940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315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159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90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4283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838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064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161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3143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4016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5238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434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71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056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877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9823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8992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8607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940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2194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0145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3804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0807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6258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4519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8522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46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8165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708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44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4714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5407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0237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7407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7511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2249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9052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1515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3225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E83CC-0F00-4877-AF8F-88A572890E2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856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45B2A90-8126-470E-840C-EA1E7407E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6C26B435-677E-4ED7-B695-852032B94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4EDDE7C-AF8F-405E-869D-DB826E0FF4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FE81DBF-AF70-4D5A-A645-F0D6FE53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2855B69-A5F5-4B37-9697-66C6AE4C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01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AD768D1-CCF2-4A9A-9AF3-D1F87035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29DCA4E-4B97-49AC-98B0-BB97C751F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1060D4E-FF15-4919-AA14-E148C12D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C9A3409-46D6-4747-A0B6-8C068A0F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C9AACF5-DB04-4C73-ADF4-BA7226E9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44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E917C90-1860-421E-91F8-38A7DB40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4380138E-7D67-4D54-B571-FB6CFBB78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A526C30-8A0E-457A-8FE9-B96457E9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17D8752-F276-4EE7-8551-26D5788E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52379FC-733F-4CC4-9D45-4B8D6231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07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15BD32A-FA49-4B43-96F1-7EB7DEE7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B5FDD89-3DFC-4479-BCB0-0673F6534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9F89130B-B56B-407F-B8F1-353EC00E0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376916E-52A5-4633-87E9-09038BCF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AC2C6CF1-14D0-4DBF-AAE5-E1641BE5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CF236A3-237B-451E-A8CA-A6ED1BDB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72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B8122BB-B2BB-4C0B-ADDD-4184C16C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17E735E-B09B-4342-B22E-ABE559CB0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E9D18B39-30CC-4FAB-942A-3016AC714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3C15CEA2-E0EA-4B56-B6CA-037C42C80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AF6ED304-5054-48D0-87D9-5034C3690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2CF14366-47DF-4D58-9204-40DF885E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DD3E7371-72CD-4DC7-9E82-67CBC71A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2D93C9EF-3831-4ED3-A51D-4DB7F5CA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63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B86CE77-32A7-4F23-BFE2-1A0BE8C14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870AD6AA-7320-42DF-863F-FB5117E4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B5F9B5D2-7A00-4BC6-AF95-2ECCA95DC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FE48B09-FDA6-4EAD-9BF2-1C929356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43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8AC83F17-ED1E-4F3E-9296-D7D82763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966BFEB4-591F-497F-BCC9-E73B21D3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BEC1C891-2309-4980-B37E-836E51BC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18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32E9292-4E02-499A-8D20-FCB5B564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B595530-8EC9-41B6-B655-B494EA1A3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ADA43880-1C19-47FC-A003-960A851C9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BFC97C11-F698-4D81-8C06-AE89F066ED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6FDE0AD5-4AFF-4E38-9255-F9749CAB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290BE394-5E51-43CB-9774-A2489D86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80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3FDD571-4361-46E7-9A90-737FB03D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0099C899-98C9-4074-9BCE-6A9D8A6AA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BCB8D083-3E17-406F-B39B-F998F3023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8CDF0243-89B1-4844-9D21-250C1C17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644E74DE-38AC-4E45-9F71-2E2FA219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9ED0D973-B22D-4E20-A94D-3E560AE0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31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CD2F8A7-D952-4874-B335-B1058490A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70BF6C68-8B83-4097-8659-F5C0CC5DE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613A661-6C91-4BD4-BD14-572C74CA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7CF2864-C6CC-4308-8CA6-9E256E120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7C51C0C-029C-46E5-B358-F8AC0A5E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934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93AFC707-E795-4B31-8DA8-B914AFBBA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C6513C25-9033-4825-B304-2D9CCD29A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A664125-1AED-433F-9BB0-1179CD60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4E08FFE-D4AF-4A74-84E0-47F66CDD147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C6C701A-5CF6-4B2B-906F-0DDCB31C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6B669A1-84AE-4277-9930-04C98D28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37FF27-5A54-4807-9285-FE0389191F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46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E465ADC5-9EA3-48E2-9318-9AA2F09477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61834893-CAEC-45D3-9894-14320413C268}"/>
              </a:ext>
            </a:extLst>
          </p:cNvPr>
          <p:cNvGrpSpPr/>
          <p:nvPr userDrawn="1"/>
        </p:nvGrpSpPr>
        <p:grpSpPr>
          <a:xfrm>
            <a:off x="108859" y="0"/>
            <a:ext cx="4794532" cy="895808"/>
            <a:chOff x="-8909" y="-43544"/>
            <a:chExt cx="4665555" cy="89580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xmlns="" id="{56C10C55-2CF8-4362-81CB-662BA8E6A1EC}"/>
                </a:ext>
              </a:extLst>
            </p:cNvPr>
            <p:cNvSpPr/>
            <p:nvPr userDrawn="1"/>
          </p:nvSpPr>
          <p:spPr>
            <a:xfrm>
              <a:off x="1798013" y="-43544"/>
              <a:ext cx="2858633" cy="895808"/>
            </a:xfrm>
            <a:custGeom>
              <a:avLst/>
              <a:gdLst>
                <a:gd name="connsiteX0" fmla="*/ 0 w 2796721"/>
                <a:gd name="connsiteY0" fmla="*/ 0 h 854980"/>
                <a:gd name="connsiteX1" fmla="*/ 2796721 w 2796721"/>
                <a:gd name="connsiteY1" fmla="*/ 0 h 854980"/>
                <a:gd name="connsiteX2" fmla="*/ 2750990 w 2796721"/>
                <a:gd name="connsiteY2" fmla="*/ 82341 h 854980"/>
                <a:gd name="connsiteX3" fmla="*/ 1727107 w 2796721"/>
                <a:gd name="connsiteY3" fmla="*/ 832792 h 854980"/>
                <a:gd name="connsiteX4" fmla="*/ 1594205 w 2796721"/>
                <a:gd name="connsiteY4" fmla="*/ 854980 h 854980"/>
                <a:gd name="connsiteX5" fmla="*/ 1202515 w 2796721"/>
                <a:gd name="connsiteY5" fmla="*/ 854980 h 854980"/>
                <a:gd name="connsiteX6" fmla="*/ 1069613 w 2796721"/>
                <a:gd name="connsiteY6" fmla="*/ 832792 h 854980"/>
                <a:gd name="connsiteX7" fmla="*/ 45730 w 2796721"/>
                <a:gd name="connsiteY7" fmla="*/ 82341 h 854980"/>
                <a:gd name="connsiteX8" fmla="*/ 0 w 2796721"/>
                <a:gd name="connsiteY8" fmla="*/ 0 h 854980"/>
                <a:gd name="connsiteX0" fmla="*/ 0 w 2858633"/>
                <a:gd name="connsiteY0" fmla="*/ 0 h 857362"/>
                <a:gd name="connsiteX1" fmla="*/ 2858633 w 2858633"/>
                <a:gd name="connsiteY1" fmla="*/ 2382 h 857362"/>
                <a:gd name="connsiteX2" fmla="*/ 2812902 w 2858633"/>
                <a:gd name="connsiteY2" fmla="*/ 84723 h 857362"/>
                <a:gd name="connsiteX3" fmla="*/ 1789019 w 2858633"/>
                <a:gd name="connsiteY3" fmla="*/ 835174 h 857362"/>
                <a:gd name="connsiteX4" fmla="*/ 1656117 w 2858633"/>
                <a:gd name="connsiteY4" fmla="*/ 857362 h 857362"/>
                <a:gd name="connsiteX5" fmla="*/ 1264427 w 2858633"/>
                <a:gd name="connsiteY5" fmla="*/ 857362 h 857362"/>
                <a:gd name="connsiteX6" fmla="*/ 1131525 w 2858633"/>
                <a:gd name="connsiteY6" fmla="*/ 835174 h 857362"/>
                <a:gd name="connsiteX7" fmla="*/ 107642 w 2858633"/>
                <a:gd name="connsiteY7" fmla="*/ 84723 h 857362"/>
                <a:gd name="connsiteX8" fmla="*/ 0 w 2858633"/>
                <a:gd name="connsiteY8" fmla="*/ 0 h 857362"/>
                <a:gd name="connsiteX0" fmla="*/ 0 w 2858633"/>
                <a:gd name="connsiteY0" fmla="*/ 0 h 857362"/>
                <a:gd name="connsiteX1" fmla="*/ 2858633 w 2858633"/>
                <a:gd name="connsiteY1" fmla="*/ 2382 h 857362"/>
                <a:gd name="connsiteX2" fmla="*/ 2812902 w 2858633"/>
                <a:gd name="connsiteY2" fmla="*/ 84723 h 857362"/>
                <a:gd name="connsiteX3" fmla="*/ 1789019 w 2858633"/>
                <a:gd name="connsiteY3" fmla="*/ 835174 h 857362"/>
                <a:gd name="connsiteX4" fmla="*/ 1656117 w 2858633"/>
                <a:gd name="connsiteY4" fmla="*/ 857362 h 857362"/>
                <a:gd name="connsiteX5" fmla="*/ 1264427 w 2858633"/>
                <a:gd name="connsiteY5" fmla="*/ 857362 h 857362"/>
                <a:gd name="connsiteX6" fmla="*/ 1131525 w 2858633"/>
                <a:gd name="connsiteY6" fmla="*/ 835174 h 857362"/>
                <a:gd name="connsiteX7" fmla="*/ 71924 w 2858633"/>
                <a:gd name="connsiteY7" fmla="*/ 106155 h 857362"/>
                <a:gd name="connsiteX8" fmla="*/ 0 w 2858633"/>
                <a:gd name="connsiteY8" fmla="*/ 0 h 85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58633" h="857362">
                  <a:moveTo>
                    <a:pt x="0" y="0"/>
                  </a:moveTo>
                  <a:lnTo>
                    <a:pt x="2858633" y="2382"/>
                  </a:lnTo>
                  <a:lnTo>
                    <a:pt x="2812902" y="84723"/>
                  </a:lnTo>
                  <a:cubicBezTo>
                    <a:pt x="2578389" y="464435"/>
                    <a:pt x="2213772" y="740098"/>
                    <a:pt x="1789019" y="835174"/>
                  </a:cubicBezTo>
                  <a:lnTo>
                    <a:pt x="1656117" y="857362"/>
                  </a:lnTo>
                  <a:lnTo>
                    <a:pt x="1264427" y="857362"/>
                  </a:lnTo>
                  <a:lnTo>
                    <a:pt x="1131525" y="835174"/>
                  </a:lnTo>
                  <a:cubicBezTo>
                    <a:pt x="706772" y="740098"/>
                    <a:pt x="306437" y="485867"/>
                    <a:pt x="71924" y="106155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xmlns="" id="{0408612B-D4AA-4917-8BC9-241078FADD3C}"/>
                </a:ext>
              </a:extLst>
            </p:cNvPr>
            <p:cNvSpPr/>
            <p:nvPr userDrawn="1"/>
          </p:nvSpPr>
          <p:spPr>
            <a:xfrm>
              <a:off x="-8909" y="-2716"/>
              <a:ext cx="3242114" cy="854980"/>
            </a:xfrm>
            <a:custGeom>
              <a:avLst/>
              <a:gdLst>
                <a:gd name="connsiteX0" fmla="*/ 0 w 2779249"/>
                <a:gd name="connsiteY0" fmla="*/ 0 h 854980"/>
                <a:gd name="connsiteX1" fmla="*/ 1576734 w 2779249"/>
                <a:gd name="connsiteY1" fmla="*/ 0 h 854980"/>
                <a:gd name="connsiteX2" fmla="*/ 1622464 w 2779249"/>
                <a:gd name="connsiteY2" fmla="*/ 82341 h 854980"/>
                <a:gd name="connsiteX3" fmla="*/ 2646347 w 2779249"/>
                <a:gd name="connsiteY3" fmla="*/ 832792 h 854980"/>
                <a:gd name="connsiteX4" fmla="*/ 2779249 w 2779249"/>
                <a:gd name="connsiteY4" fmla="*/ 854980 h 854980"/>
                <a:gd name="connsiteX5" fmla="*/ 0 w 2779249"/>
                <a:gd name="connsiteY5" fmla="*/ 854980 h 854980"/>
                <a:gd name="connsiteX6" fmla="*/ 0 w 2779249"/>
                <a:gd name="connsiteY6" fmla="*/ 0 h 854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9249" h="854980">
                  <a:moveTo>
                    <a:pt x="0" y="0"/>
                  </a:moveTo>
                  <a:lnTo>
                    <a:pt x="1576734" y="0"/>
                  </a:lnTo>
                  <a:lnTo>
                    <a:pt x="1622464" y="82341"/>
                  </a:lnTo>
                  <a:cubicBezTo>
                    <a:pt x="1856977" y="462053"/>
                    <a:pt x="2221594" y="737716"/>
                    <a:pt x="2646347" y="832792"/>
                  </a:cubicBezTo>
                  <a:lnTo>
                    <a:pt x="2779249" y="854980"/>
                  </a:lnTo>
                  <a:lnTo>
                    <a:pt x="0" y="8549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EAB348B8-C937-49F7-BFF9-081F88978FC3}"/>
              </a:ext>
            </a:extLst>
          </p:cNvPr>
          <p:cNvGrpSpPr/>
          <p:nvPr userDrawn="1"/>
        </p:nvGrpSpPr>
        <p:grpSpPr>
          <a:xfrm>
            <a:off x="1" y="-5098"/>
            <a:ext cx="4794532" cy="908162"/>
            <a:chOff x="-8909" y="-55898"/>
            <a:chExt cx="4665555" cy="908162"/>
          </a:xfrm>
          <a:solidFill>
            <a:srgbClr val="FFC300"/>
          </a:solidFill>
        </p:grpSpPr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xmlns="" id="{10C007CE-8D50-4B01-80FA-E47F304ECF92}"/>
                </a:ext>
              </a:extLst>
            </p:cNvPr>
            <p:cNvSpPr/>
            <p:nvPr userDrawn="1"/>
          </p:nvSpPr>
          <p:spPr>
            <a:xfrm>
              <a:off x="1798013" y="-55898"/>
              <a:ext cx="2858633" cy="908162"/>
            </a:xfrm>
            <a:custGeom>
              <a:avLst/>
              <a:gdLst>
                <a:gd name="connsiteX0" fmla="*/ 0 w 2796721"/>
                <a:gd name="connsiteY0" fmla="*/ 0 h 854980"/>
                <a:gd name="connsiteX1" fmla="*/ 2796721 w 2796721"/>
                <a:gd name="connsiteY1" fmla="*/ 0 h 854980"/>
                <a:gd name="connsiteX2" fmla="*/ 2750990 w 2796721"/>
                <a:gd name="connsiteY2" fmla="*/ 82341 h 854980"/>
                <a:gd name="connsiteX3" fmla="*/ 1727107 w 2796721"/>
                <a:gd name="connsiteY3" fmla="*/ 832792 h 854980"/>
                <a:gd name="connsiteX4" fmla="*/ 1594205 w 2796721"/>
                <a:gd name="connsiteY4" fmla="*/ 854980 h 854980"/>
                <a:gd name="connsiteX5" fmla="*/ 1202515 w 2796721"/>
                <a:gd name="connsiteY5" fmla="*/ 854980 h 854980"/>
                <a:gd name="connsiteX6" fmla="*/ 1069613 w 2796721"/>
                <a:gd name="connsiteY6" fmla="*/ 832792 h 854980"/>
                <a:gd name="connsiteX7" fmla="*/ 45730 w 2796721"/>
                <a:gd name="connsiteY7" fmla="*/ 82341 h 854980"/>
                <a:gd name="connsiteX8" fmla="*/ 0 w 2796721"/>
                <a:gd name="connsiteY8" fmla="*/ 0 h 854980"/>
                <a:gd name="connsiteX0" fmla="*/ 0 w 2858633"/>
                <a:gd name="connsiteY0" fmla="*/ 0 h 857362"/>
                <a:gd name="connsiteX1" fmla="*/ 2858633 w 2858633"/>
                <a:gd name="connsiteY1" fmla="*/ 2382 h 857362"/>
                <a:gd name="connsiteX2" fmla="*/ 2812902 w 2858633"/>
                <a:gd name="connsiteY2" fmla="*/ 84723 h 857362"/>
                <a:gd name="connsiteX3" fmla="*/ 1789019 w 2858633"/>
                <a:gd name="connsiteY3" fmla="*/ 835174 h 857362"/>
                <a:gd name="connsiteX4" fmla="*/ 1656117 w 2858633"/>
                <a:gd name="connsiteY4" fmla="*/ 857362 h 857362"/>
                <a:gd name="connsiteX5" fmla="*/ 1264427 w 2858633"/>
                <a:gd name="connsiteY5" fmla="*/ 857362 h 857362"/>
                <a:gd name="connsiteX6" fmla="*/ 1131525 w 2858633"/>
                <a:gd name="connsiteY6" fmla="*/ 835174 h 857362"/>
                <a:gd name="connsiteX7" fmla="*/ 107642 w 2858633"/>
                <a:gd name="connsiteY7" fmla="*/ 84723 h 857362"/>
                <a:gd name="connsiteX8" fmla="*/ 0 w 2858633"/>
                <a:gd name="connsiteY8" fmla="*/ 0 h 857362"/>
                <a:gd name="connsiteX0" fmla="*/ 0 w 2858633"/>
                <a:gd name="connsiteY0" fmla="*/ 0 h 857362"/>
                <a:gd name="connsiteX1" fmla="*/ 2858633 w 2858633"/>
                <a:gd name="connsiteY1" fmla="*/ 2382 h 857362"/>
                <a:gd name="connsiteX2" fmla="*/ 2812902 w 2858633"/>
                <a:gd name="connsiteY2" fmla="*/ 84723 h 857362"/>
                <a:gd name="connsiteX3" fmla="*/ 1789019 w 2858633"/>
                <a:gd name="connsiteY3" fmla="*/ 835174 h 857362"/>
                <a:gd name="connsiteX4" fmla="*/ 1656117 w 2858633"/>
                <a:gd name="connsiteY4" fmla="*/ 857362 h 857362"/>
                <a:gd name="connsiteX5" fmla="*/ 1264427 w 2858633"/>
                <a:gd name="connsiteY5" fmla="*/ 857362 h 857362"/>
                <a:gd name="connsiteX6" fmla="*/ 1131525 w 2858633"/>
                <a:gd name="connsiteY6" fmla="*/ 835174 h 857362"/>
                <a:gd name="connsiteX7" fmla="*/ 71924 w 2858633"/>
                <a:gd name="connsiteY7" fmla="*/ 106155 h 857362"/>
                <a:gd name="connsiteX8" fmla="*/ 0 w 2858633"/>
                <a:gd name="connsiteY8" fmla="*/ 0 h 85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58633" h="857362">
                  <a:moveTo>
                    <a:pt x="0" y="0"/>
                  </a:moveTo>
                  <a:lnTo>
                    <a:pt x="2858633" y="2382"/>
                  </a:lnTo>
                  <a:lnTo>
                    <a:pt x="2812902" y="84723"/>
                  </a:lnTo>
                  <a:cubicBezTo>
                    <a:pt x="2578389" y="464435"/>
                    <a:pt x="2213772" y="740098"/>
                    <a:pt x="1789019" y="835174"/>
                  </a:cubicBezTo>
                  <a:lnTo>
                    <a:pt x="1656117" y="857362"/>
                  </a:lnTo>
                  <a:lnTo>
                    <a:pt x="1264427" y="857362"/>
                  </a:lnTo>
                  <a:lnTo>
                    <a:pt x="1131525" y="835174"/>
                  </a:lnTo>
                  <a:cubicBezTo>
                    <a:pt x="706772" y="740098"/>
                    <a:pt x="306437" y="485867"/>
                    <a:pt x="71924" y="106155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xmlns="" id="{78175FB2-83AC-486A-8D33-03C2E4F76ACE}"/>
                </a:ext>
              </a:extLst>
            </p:cNvPr>
            <p:cNvSpPr/>
            <p:nvPr userDrawn="1"/>
          </p:nvSpPr>
          <p:spPr>
            <a:xfrm>
              <a:off x="-8909" y="-2716"/>
              <a:ext cx="3242114" cy="854980"/>
            </a:xfrm>
            <a:custGeom>
              <a:avLst/>
              <a:gdLst>
                <a:gd name="connsiteX0" fmla="*/ 0 w 2779249"/>
                <a:gd name="connsiteY0" fmla="*/ 0 h 854980"/>
                <a:gd name="connsiteX1" fmla="*/ 1576734 w 2779249"/>
                <a:gd name="connsiteY1" fmla="*/ 0 h 854980"/>
                <a:gd name="connsiteX2" fmla="*/ 1622464 w 2779249"/>
                <a:gd name="connsiteY2" fmla="*/ 82341 h 854980"/>
                <a:gd name="connsiteX3" fmla="*/ 2646347 w 2779249"/>
                <a:gd name="connsiteY3" fmla="*/ 832792 h 854980"/>
                <a:gd name="connsiteX4" fmla="*/ 2779249 w 2779249"/>
                <a:gd name="connsiteY4" fmla="*/ 854980 h 854980"/>
                <a:gd name="connsiteX5" fmla="*/ 0 w 2779249"/>
                <a:gd name="connsiteY5" fmla="*/ 854980 h 854980"/>
                <a:gd name="connsiteX6" fmla="*/ 0 w 2779249"/>
                <a:gd name="connsiteY6" fmla="*/ 0 h 854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9249" h="854980">
                  <a:moveTo>
                    <a:pt x="0" y="0"/>
                  </a:moveTo>
                  <a:lnTo>
                    <a:pt x="1576734" y="0"/>
                  </a:lnTo>
                  <a:lnTo>
                    <a:pt x="1622464" y="82341"/>
                  </a:lnTo>
                  <a:cubicBezTo>
                    <a:pt x="1856977" y="462053"/>
                    <a:pt x="2221594" y="737716"/>
                    <a:pt x="2646347" y="832792"/>
                  </a:cubicBezTo>
                  <a:lnTo>
                    <a:pt x="2779249" y="854980"/>
                  </a:lnTo>
                  <a:lnTo>
                    <a:pt x="0" y="8549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33C205DC-BB9E-4202-B21A-33512BE57DCA}"/>
              </a:ext>
            </a:extLst>
          </p:cNvPr>
          <p:cNvGrpSpPr/>
          <p:nvPr userDrawn="1"/>
        </p:nvGrpSpPr>
        <p:grpSpPr>
          <a:xfrm>
            <a:off x="-8909" y="-5098"/>
            <a:ext cx="4665555" cy="857362"/>
            <a:chOff x="-8909" y="-5098"/>
            <a:chExt cx="4665555" cy="857362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xmlns="" id="{FB19C251-D672-4414-B0DF-F3FFA9F849D6}"/>
                </a:ext>
              </a:extLst>
            </p:cNvPr>
            <p:cNvSpPr/>
            <p:nvPr userDrawn="1"/>
          </p:nvSpPr>
          <p:spPr>
            <a:xfrm>
              <a:off x="1798013" y="-5098"/>
              <a:ext cx="2858633" cy="857362"/>
            </a:xfrm>
            <a:custGeom>
              <a:avLst/>
              <a:gdLst>
                <a:gd name="connsiteX0" fmla="*/ 0 w 2796721"/>
                <a:gd name="connsiteY0" fmla="*/ 0 h 854980"/>
                <a:gd name="connsiteX1" fmla="*/ 2796721 w 2796721"/>
                <a:gd name="connsiteY1" fmla="*/ 0 h 854980"/>
                <a:gd name="connsiteX2" fmla="*/ 2750990 w 2796721"/>
                <a:gd name="connsiteY2" fmla="*/ 82341 h 854980"/>
                <a:gd name="connsiteX3" fmla="*/ 1727107 w 2796721"/>
                <a:gd name="connsiteY3" fmla="*/ 832792 h 854980"/>
                <a:gd name="connsiteX4" fmla="*/ 1594205 w 2796721"/>
                <a:gd name="connsiteY4" fmla="*/ 854980 h 854980"/>
                <a:gd name="connsiteX5" fmla="*/ 1202515 w 2796721"/>
                <a:gd name="connsiteY5" fmla="*/ 854980 h 854980"/>
                <a:gd name="connsiteX6" fmla="*/ 1069613 w 2796721"/>
                <a:gd name="connsiteY6" fmla="*/ 832792 h 854980"/>
                <a:gd name="connsiteX7" fmla="*/ 45730 w 2796721"/>
                <a:gd name="connsiteY7" fmla="*/ 82341 h 854980"/>
                <a:gd name="connsiteX8" fmla="*/ 0 w 2796721"/>
                <a:gd name="connsiteY8" fmla="*/ 0 h 854980"/>
                <a:gd name="connsiteX0" fmla="*/ 0 w 2858633"/>
                <a:gd name="connsiteY0" fmla="*/ 0 h 857362"/>
                <a:gd name="connsiteX1" fmla="*/ 2858633 w 2858633"/>
                <a:gd name="connsiteY1" fmla="*/ 2382 h 857362"/>
                <a:gd name="connsiteX2" fmla="*/ 2812902 w 2858633"/>
                <a:gd name="connsiteY2" fmla="*/ 84723 h 857362"/>
                <a:gd name="connsiteX3" fmla="*/ 1789019 w 2858633"/>
                <a:gd name="connsiteY3" fmla="*/ 835174 h 857362"/>
                <a:gd name="connsiteX4" fmla="*/ 1656117 w 2858633"/>
                <a:gd name="connsiteY4" fmla="*/ 857362 h 857362"/>
                <a:gd name="connsiteX5" fmla="*/ 1264427 w 2858633"/>
                <a:gd name="connsiteY5" fmla="*/ 857362 h 857362"/>
                <a:gd name="connsiteX6" fmla="*/ 1131525 w 2858633"/>
                <a:gd name="connsiteY6" fmla="*/ 835174 h 857362"/>
                <a:gd name="connsiteX7" fmla="*/ 107642 w 2858633"/>
                <a:gd name="connsiteY7" fmla="*/ 84723 h 857362"/>
                <a:gd name="connsiteX8" fmla="*/ 0 w 2858633"/>
                <a:gd name="connsiteY8" fmla="*/ 0 h 857362"/>
                <a:gd name="connsiteX0" fmla="*/ 0 w 2858633"/>
                <a:gd name="connsiteY0" fmla="*/ 0 h 857362"/>
                <a:gd name="connsiteX1" fmla="*/ 2858633 w 2858633"/>
                <a:gd name="connsiteY1" fmla="*/ 2382 h 857362"/>
                <a:gd name="connsiteX2" fmla="*/ 2812902 w 2858633"/>
                <a:gd name="connsiteY2" fmla="*/ 84723 h 857362"/>
                <a:gd name="connsiteX3" fmla="*/ 1789019 w 2858633"/>
                <a:gd name="connsiteY3" fmla="*/ 835174 h 857362"/>
                <a:gd name="connsiteX4" fmla="*/ 1656117 w 2858633"/>
                <a:gd name="connsiteY4" fmla="*/ 857362 h 857362"/>
                <a:gd name="connsiteX5" fmla="*/ 1264427 w 2858633"/>
                <a:gd name="connsiteY5" fmla="*/ 857362 h 857362"/>
                <a:gd name="connsiteX6" fmla="*/ 1131525 w 2858633"/>
                <a:gd name="connsiteY6" fmla="*/ 835174 h 857362"/>
                <a:gd name="connsiteX7" fmla="*/ 71924 w 2858633"/>
                <a:gd name="connsiteY7" fmla="*/ 106155 h 857362"/>
                <a:gd name="connsiteX8" fmla="*/ 0 w 2858633"/>
                <a:gd name="connsiteY8" fmla="*/ 0 h 85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58633" h="857362">
                  <a:moveTo>
                    <a:pt x="0" y="0"/>
                  </a:moveTo>
                  <a:lnTo>
                    <a:pt x="2858633" y="2382"/>
                  </a:lnTo>
                  <a:lnTo>
                    <a:pt x="2812902" y="84723"/>
                  </a:lnTo>
                  <a:cubicBezTo>
                    <a:pt x="2578389" y="464435"/>
                    <a:pt x="2213772" y="740098"/>
                    <a:pt x="1789019" y="835174"/>
                  </a:cubicBezTo>
                  <a:lnTo>
                    <a:pt x="1656117" y="857362"/>
                  </a:lnTo>
                  <a:lnTo>
                    <a:pt x="1264427" y="857362"/>
                  </a:lnTo>
                  <a:lnTo>
                    <a:pt x="1131525" y="835174"/>
                  </a:lnTo>
                  <a:cubicBezTo>
                    <a:pt x="706772" y="740098"/>
                    <a:pt x="306437" y="485867"/>
                    <a:pt x="71924" y="10615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xmlns="" id="{50F66EF2-E4BD-48CD-AA78-82A58B51FAD0}"/>
                </a:ext>
              </a:extLst>
            </p:cNvPr>
            <p:cNvSpPr/>
            <p:nvPr userDrawn="1"/>
          </p:nvSpPr>
          <p:spPr>
            <a:xfrm>
              <a:off x="-8909" y="-2716"/>
              <a:ext cx="3242114" cy="854980"/>
            </a:xfrm>
            <a:custGeom>
              <a:avLst/>
              <a:gdLst>
                <a:gd name="connsiteX0" fmla="*/ 0 w 2779249"/>
                <a:gd name="connsiteY0" fmla="*/ 0 h 854980"/>
                <a:gd name="connsiteX1" fmla="*/ 1576734 w 2779249"/>
                <a:gd name="connsiteY1" fmla="*/ 0 h 854980"/>
                <a:gd name="connsiteX2" fmla="*/ 1622464 w 2779249"/>
                <a:gd name="connsiteY2" fmla="*/ 82341 h 854980"/>
                <a:gd name="connsiteX3" fmla="*/ 2646347 w 2779249"/>
                <a:gd name="connsiteY3" fmla="*/ 832792 h 854980"/>
                <a:gd name="connsiteX4" fmla="*/ 2779249 w 2779249"/>
                <a:gd name="connsiteY4" fmla="*/ 854980 h 854980"/>
                <a:gd name="connsiteX5" fmla="*/ 0 w 2779249"/>
                <a:gd name="connsiteY5" fmla="*/ 854980 h 854980"/>
                <a:gd name="connsiteX6" fmla="*/ 0 w 2779249"/>
                <a:gd name="connsiteY6" fmla="*/ 0 h 854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9249" h="854980">
                  <a:moveTo>
                    <a:pt x="0" y="0"/>
                  </a:moveTo>
                  <a:lnTo>
                    <a:pt x="1576734" y="0"/>
                  </a:lnTo>
                  <a:lnTo>
                    <a:pt x="1622464" y="82341"/>
                  </a:lnTo>
                  <a:cubicBezTo>
                    <a:pt x="1856977" y="462053"/>
                    <a:pt x="2221594" y="737716"/>
                    <a:pt x="2646347" y="832792"/>
                  </a:cubicBezTo>
                  <a:lnTo>
                    <a:pt x="2779249" y="854980"/>
                  </a:lnTo>
                  <a:lnTo>
                    <a:pt x="0" y="854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382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3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7.wmf"/><Relationship Id="rId2" Type="http://schemas.openxmlformats.org/officeDocument/2006/relationships/tags" Target="../tags/tag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6.wmf"/><Relationship Id="rId4" Type="http://schemas.openxmlformats.org/officeDocument/2006/relationships/notesSlide" Target="../notesSlides/notesSlide4.xml"/><Relationship Id="rId9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emf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6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7.bin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0.wmf"/><Relationship Id="rId2" Type="http://schemas.openxmlformats.org/officeDocument/2006/relationships/tags" Target="../tags/tag2.xml"/><Relationship Id="rId16" Type="http://schemas.openxmlformats.org/officeDocument/2006/relationships/image" Target="../media/image32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9.wmf"/><Relationship Id="rId4" Type="http://schemas.openxmlformats.org/officeDocument/2006/relationships/notesSlide" Target="../notesSlides/notesSlide8.xml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29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34.bin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8.emf"/><Relationship Id="rId2" Type="http://schemas.openxmlformats.org/officeDocument/2006/relationships/tags" Target="../tags/tag3.xml"/><Relationship Id="rId16" Type="http://schemas.openxmlformats.org/officeDocument/2006/relationships/image" Target="../media/image40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37.emf"/><Relationship Id="rId4" Type="http://schemas.openxmlformats.org/officeDocument/2006/relationships/notesSlide" Target="../notesSlides/notesSlide12.xml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9.emf"/><Relationship Id="rId18" Type="http://schemas.openxmlformats.org/officeDocument/2006/relationships/oleObject" Target="../embeddings/oleObject49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53.wmf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5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8.emf"/><Relationship Id="rId5" Type="http://schemas.openxmlformats.org/officeDocument/2006/relationships/image" Target="../media/image46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52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5.emf"/><Relationship Id="rId4" Type="http://schemas.openxmlformats.org/officeDocument/2006/relationships/oleObject" Target="../embeddings/oleObject5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5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55.bin"/><Relationship Id="rId2" Type="http://schemas.openxmlformats.org/officeDocument/2006/relationships/tags" Target="../tags/tag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4.bin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6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63.png"/><Relationship Id="rId5" Type="http://schemas.openxmlformats.org/officeDocument/2006/relationships/image" Target="../media/image60.e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6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60.bin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6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65.e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6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68.emf"/><Relationship Id="rId4" Type="http://schemas.openxmlformats.org/officeDocument/2006/relationships/oleObject" Target="../embeddings/oleObject6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4.jpeg"/><Relationship Id="rId2" Type="http://schemas.openxmlformats.org/officeDocument/2006/relationships/tags" Target="../tags/tag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0.emf"/><Relationship Id="rId11" Type="http://schemas.openxmlformats.org/officeDocument/2006/relationships/image" Target="../media/image73.jpeg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72.emf"/><Relationship Id="rId4" Type="http://schemas.openxmlformats.org/officeDocument/2006/relationships/notesSlide" Target="../notesSlides/notesSlide27.xml"/><Relationship Id="rId9" Type="http://schemas.openxmlformats.org/officeDocument/2006/relationships/oleObject" Target="../embeddings/oleObject6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75.emf"/><Relationship Id="rId4" Type="http://schemas.openxmlformats.org/officeDocument/2006/relationships/oleObject" Target="../embeddings/oleObject69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7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76.emf"/><Relationship Id="rId4" Type="http://schemas.openxmlformats.org/officeDocument/2006/relationships/oleObject" Target="../embeddings/oleObject7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73.bin"/><Relationship Id="rId2" Type="http://schemas.openxmlformats.org/officeDocument/2006/relationships/tags" Target="../tags/tag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72.bin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8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80.emf"/><Relationship Id="rId4" Type="http://schemas.openxmlformats.org/officeDocument/2006/relationships/oleObject" Target="../embeddings/oleObject7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77.bin"/><Relationship Id="rId2" Type="http://schemas.openxmlformats.org/officeDocument/2006/relationships/tags" Target="../tags/tag9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76.bin"/><Relationship Id="rId4" Type="http://schemas.openxmlformats.org/officeDocument/2006/relationships/notesSlide" Target="../notesSlides/notesSlide35.xml"/><Relationship Id="rId9" Type="http://schemas.openxmlformats.org/officeDocument/2006/relationships/image" Target="../media/image8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8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7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93.wmf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90.wmf"/><Relationship Id="rId12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91.wmf"/><Relationship Id="rId14" Type="http://schemas.openxmlformats.org/officeDocument/2006/relationships/image" Target="../media/image9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9.emf"/><Relationship Id="rId18" Type="http://schemas.openxmlformats.org/officeDocument/2006/relationships/oleObject" Target="../embeddings/oleObject94.bin"/><Relationship Id="rId3" Type="http://schemas.openxmlformats.org/officeDocument/2006/relationships/notesSlide" Target="../notesSlides/notesSlide40.xml"/><Relationship Id="rId21" Type="http://schemas.openxmlformats.org/officeDocument/2006/relationships/image" Target="../media/image103.emf"/><Relationship Id="rId7" Type="http://schemas.openxmlformats.org/officeDocument/2006/relationships/image" Target="../media/image96.e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10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3.bin"/><Relationship Id="rId20" Type="http://schemas.openxmlformats.org/officeDocument/2006/relationships/oleObject" Target="../embeddings/oleObject95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98.emf"/><Relationship Id="rId5" Type="http://schemas.openxmlformats.org/officeDocument/2006/relationships/image" Target="../media/image95.emf"/><Relationship Id="rId15" Type="http://schemas.openxmlformats.org/officeDocument/2006/relationships/image" Target="../media/image100.e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102.e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97.emf"/><Relationship Id="rId14" Type="http://schemas.openxmlformats.org/officeDocument/2006/relationships/oleObject" Target="../embeddings/oleObject92.bin"/><Relationship Id="rId22" Type="http://schemas.openxmlformats.org/officeDocument/2006/relationships/image" Target="../media/image10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9.wmf"/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106.emf"/><Relationship Id="rId12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8.emf"/><Relationship Id="rId5" Type="http://schemas.openxmlformats.org/officeDocument/2006/relationships/image" Target="../media/image105.e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7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09.wmf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111.emf"/><Relationship Id="rId12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13.emf"/><Relationship Id="rId5" Type="http://schemas.openxmlformats.org/officeDocument/2006/relationships/image" Target="../media/image110.emf"/><Relationship Id="rId10" Type="http://schemas.openxmlformats.org/officeDocument/2006/relationships/oleObject" Target="../embeddings/oleObject104.bin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12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107.bin"/><Relationship Id="rId2" Type="http://schemas.openxmlformats.org/officeDocument/2006/relationships/tags" Target="../tags/tag1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106.bin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11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116.e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8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1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119.emf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21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12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122.emf"/><Relationship Id="rId4" Type="http://schemas.openxmlformats.org/officeDocument/2006/relationships/oleObject" Target="../embeddings/oleObject11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117.bin"/><Relationship Id="rId2" Type="http://schemas.openxmlformats.org/officeDocument/2006/relationships/tags" Target="../tags/tag1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24.emf"/><Relationship Id="rId5" Type="http://schemas.openxmlformats.org/officeDocument/2006/relationships/oleObject" Target="../embeddings/oleObject116.bin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126.emf"/><Relationship Id="rId4" Type="http://schemas.openxmlformats.org/officeDocument/2006/relationships/oleObject" Target="../embeddings/oleObject118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27.wmf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29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notesSlide" Target="../notesSlides/notesSlide52.xml"/><Relationship Id="rId7" Type="http://schemas.openxmlformats.org/officeDocument/2006/relationships/image" Target="../media/image1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33.emf"/><Relationship Id="rId5" Type="http://schemas.openxmlformats.org/officeDocument/2006/relationships/image" Target="../media/image130.wmf"/><Relationship Id="rId10" Type="http://schemas.openxmlformats.org/officeDocument/2006/relationships/oleObject" Target="../embeddings/oleObject125.bin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3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5" Type="http://schemas.openxmlformats.org/officeDocument/2006/relationships/image" Target="../media/image134.emf"/><Relationship Id="rId4" Type="http://schemas.openxmlformats.org/officeDocument/2006/relationships/oleObject" Target="../embeddings/oleObject126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435B0B3E-9417-4138-BDFE-ADC90AB23582}"/>
              </a:ext>
            </a:extLst>
          </p:cNvPr>
          <p:cNvSpPr/>
          <p:nvPr/>
        </p:nvSpPr>
        <p:spPr>
          <a:xfrm>
            <a:off x="122021" y="0"/>
            <a:ext cx="12195108" cy="6858000"/>
          </a:xfrm>
          <a:prstGeom prst="rect">
            <a:avLst/>
          </a:prstGeom>
          <a:solidFill>
            <a:schemeClr val="bg1">
              <a:lumMod val="9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8EEB5A1D-E95E-4517-B8B3-FDE6B5FC4E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9" y="2794000"/>
            <a:ext cx="12192000" cy="4064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8280E367-6FFD-411E-803F-38D9AF7CE223}"/>
              </a:ext>
            </a:extLst>
          </p:cNvPr>
          <p:cNvSpPr/>
          <p:nvPr/>
        </p:nvSpPr>
        <p:spPr>
          <a:xfrm>
            <a:off x="741331" y="-336884"/>
            <a:ext cx="12192000" cy="6858000"/>
          </a:xfrm>
          <a:prstGeom prst="rect">
            <a:avLst/>
          </a:prstGeom>
          <a:solidFill>
            <a:schemeClr val="bg1">
              <a:alpha val="51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4DB8ED6-C2D6-49AA-830D-44D35D3ECB4D}"/>
              </a:ext>
            </a:extLst>
          </p:cNvPr>
          <p:cNvSpPr/>
          <p:nvPr/>
        </p:nvSpPr>
        <p:spPr>
          <a:xfrm>
            <a:off x="2454443" y="1175459"/>
            <a:ext cx="8903367" cy="5378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5295ECF2-ED42-4153-90D9-C26838E0669A}"/>
              </a:ext>
            </a:extLst>
          </p:cNvPr>
          <p:cNvCxnSpPr>
            <a:cxnSpLocks/>
          </p:cNvCxnSpPr>
          <p:nvPr/>
        </p:nvCxnSpPr>
        <p:spPr>
          <a:xfrm flipH="1">
            <a:off x="13376061" y="2492618"/>
            <a:ext cx="90488" cy="235065"/>
          </a:xfrm>
          <a:prstGeom prst="line">
            <a:avLst/>
          </a:prstGeom>
          <a:ln>
            <a:solidFill>
              <a:srgbClr val="92CF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: 空心 25">
            <a:extLst>
              <a:ext uri="{FF2B5EF4-FFF2-40B4-BE49-F238E27FC236}">
                <a16:creationId xmlns:a16="http://schemas.microsoft.com/office/drawing/2014/main" xmlns="" id="{4A8843CC-9F01-465C-82FB-6E6A7EC005A0}"/>
              </a:ext>
            </a:extLst>
          </p:cNvPr>
          <p:cNvSpPr>
            <a:spLocks noChangeAspect="1"/>
          </p:cNvSpPr>
          <p:nvPr/>
        </p:nvSpPr>
        <p:spPr>
          <a:xfrm>
            <a:off x="-2414" y="0"/>
            <a:ext cx="3570400" cy="3570400"/>
          </a:xfrm>
          <a:prstGeom prst="donut">
            <a:avLst>
              <a:gd name="adj" fmla="val 22236"/>
            </a:avLst>
          </a:prstGeom>
          <a:solidFill>
            <a:srgbClr val="FFC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图形 20">
            <a:extLst>
              <a:ext uri="{FF2B5EF4-FFF2-40B4-BE49-F238E27FC236}">
                <a16:creationId xmlns:a16="http://schemas.microsoft.com/office/drawing/2014/main" xmlns="" id="{0FAA3462-C24A-4F68-B87F-DC1D332203B9}"/>
              </a:ext>
            </a:extLst>
          </p:cNvPr>
          <p:cNvSpPr/>
          <p:nvPr/>
        </p:nvSpPr>
        <p:spPr>
          <a:xfrm rot="16200000">
            <a:off x="8523540" y="4923300"/>
            <a:ext cx="1006252" cy="961329"/>
          </a:xfrm>
          <a:custGeom>
            <a:avLst/>
            <a:gdLst>
              <a:gd name="connsiteX0" fmla="*/ 996998 w 1006252"/>
              <a:gd name="connsiteY0" fmla="*/ 489986 h 961329"/>
              <a:gd name="connsiteX1" fmla="*/ 9299 w 1006252"/>
              <a:gd name="connsiteY1" fmla="*/ 489986 h 961329"/>
              <a:gd name="connsiteX2" fmla="*/ 0 w 1006252"/>
              <a:gd name="connsiteY2" fmla="*/ 480687 h 961329"/>
              <a:gd name="connsiteX3" fmla="*/ 9299 w 1006252"/>
              <a:gd name="connsiteY3" fmla="*/ 471343 h 961329"/>
              <a:gd name="connsiteX4" fmla="*/ 996953 w 1006252"/>
              <a:gd name="connsiteY4" fmla="*/ 471343 h 961329"/>
              <a:gd name="connsiteX5" fmla="*/ 1006252 w 1006252"/>
              <a:gd name="connsiteY5" fmla="*/ 480687 h 961329"/>
              <a:gd name="connsiteX6" fmla="*/ 996998 w 1006252"/>
              <a:gd name="connsiteY6" fmla="*/ 489986 h 961329"/>
              <a:gd name="connsiteX7" fmla="*/ 987609 w 1006252"/>
              <a:gd name="connsiteY7" fmla="*/ 395736 h 961329"/>
              <a:gd name="connsiteX8" fmla="*/ 18688 w 1006252"/>
              <a:gd name="connsiteY8" fmla="*/ 395736 h 961329"/>
              <a:gd name="connsiteX9" fmla="*/ 9344 w 1006252"/>
              <a:gd name="connsiteY9" fmla="*/ 386392 h 961329"/>
              <a:gd name="connsiteX10" fmla="*/ 18688 w 1006252"/>
              <a:gd name="connsiteY10" fmla="*/ 377047 h 961329"/>
              <a:gd name="connsiteX11" fmla="*/ 987609 w 1006252"/>
              <a:gd name="connsiteY11" fmla="*/ 377047 h 961329"/>
              <a:gd name="connsiteX12" fmla="*/ 996908 w 1006252"/>
              <a:gd name="connsiteY12" fmla="*/ 386392 h 961329"/>
              <a:gd name="connsiteX13" fmla="*/ 987609 w 1006252"/>
              <a:gd name="connsiteY13" fmla="*/ 395736 h 961329"/>
              <a:gd name="connsiteX14" fmla="*/ 958992 w 1006252"/>
              <a:gd name="connsiteY14" fmla="*/ 301485 h 961329"/>
              <a:gd name="connsiteX15" fmla="*/ 47305 w 1006252"/>
              <a:gd name="connsiteY15" fmla="*/ 301485 h 961329"/>
              <a:gd name="connsiteX16" fmla="*/ 38006 w 1006252"/>
              <a:gd name="connsiteY16" fmla="*/ 292141 h 961329"/>
              <a:gd name="connsiteX17" fmla="*/ 47305 w 1006252"/>
              <a:gd name="connsiteY17" fmla="*/ 282797 h 961329"/>
              <a:gd name="connsiteX18" fmla="*/ 959037 w 1006252"/>
              <a:gd name="connsiteY18" fmla="*/ 282797 h 961329"/>
              <a:gd name="connsiteX19" fmla="*/ 968336 w 1006252"/>
              <a:gd name="connsiteY19" fmla="*/ 292141 h 961329"/>
              <a:gd name="connsiteX20" fmla="*/ 958992 w 1006252"/>
              <a:gd name="connsiteY20" fmla="*/ 301485 h 961329"/>
              <a:gd name="connsiteX21" fmla="*/ 906970 w 1006252"/>
              <a:gd name="connsiteY21" fmla="*/ 207190 h 961329"/>
              <a:gd name="connsiteX22" fmla="*/ 99327 w 1006252"/>
              <a:gd name="connsiteY22" fmla="*/ 207190 h 961329"/>
              <a:gd name="connsiteX23" fmla="*/ 90028 w 1006252"/>
              <a:gd name="connsiteY23" fmla="*/ 197845 h 961329"/>
              <a:gd name="connsiteX24" fmla="*/ 99327 w 1006252"/>
              <a:gd name="connsiteY24" fmla="*/ 188501 h 961329"/>
              <a:gd name="connsiteX25" fmla="*/ 906970 w 1006252"/>
              <a:gd name="connsiteY25" fmla="*/ 188501 h 961329"/>
              <a:gd name="connsiteX26" fmla="*/ 916269 w 1006252"/>
              <a:gd name="connsiteY26" fmla="*/ 197845 h 961329"/>
              <a:gd name="connsiteX27" fmla="*/ 906970 w 1006252"/>
              <a:gd name="connsiteY27" fmla="*/ 207190 h 961329"/>
              <a:gd name="connsiteX28" fmla="*/ 820402 w 1006252"/>
              <a:gd name="connsiteY28" fmla="*/ 112939 h 961329"/>
              <a:gd name="connsiteX29" fmla="*/ 185850 w 1006252"/>
              <a:gd name="connsiteY29" fmla="*/ 112939 h 961329"/>
              <a:gd name="connsiteX30" fmla="*/ 176551 w 1006252"/>
              <a:gd name="connsiteY30" fmla="*/ 103595 h 961329"/>
              <a:gd name="connsiteX31" fmla="*/ 185850 w 1006252"/>
              <a:gd name="connsiteY31" fmla="*/ 94251 h 961329"/>
              <a:gd name="connsiteX32" fmla="*/ 820402 w 1006252"/>
              <a:gd name="connsiteY32" fmla="*/ 94251 h 961329"/>
              <a:gd name="connsiteX33" fmla="*/ 829701 w 1006252"/>
              <a:gd name="connsiteY33" fmla="*/ 103595 h 961329"/>
              <a:gd name="connsiteX34" fmla="*/ 820402 w 1006252"/>
              <a:gd name="connsiteY34" fmla="*/ 112939 h 961329"/>
              <a:gd name="connsiteX35" fmla="*/ 647310 w 1006252"/>
              <a:gd name="connsiteY35" fmla="*/ 18688 h 961329"/>
              <a:gd name="connsiteX36" fmla="*/ 358988 w 1006252"/>
              <a:gd name="connsiteY36" fmla="*/ 18688 h 961329"/>
              <a:gd name="connsiteX37" fmla="*/ 349688 w 1006252"/>
              <a:gd name="connsiteY37" fmla="*/ 9344 h 961329"/>
              <a:gd name="connsiteX38" fmla="*/ 358988 w 1006252"/>
              <a:gd name="connsiteY38" fmla="*/ 0 h 961329"/>
              <a:gd name="connsiteX39" fmla="*/ 647265 w 1006252"/>
              <a:gd name="connsiteY39" fmla="*/ 0 h 961329"/>
              <a:gd name="connsiteX40" fmla="*/ 656564 w 1006252"/>
              <a:gd name="connsiteY40" fmla="*/ 9344 h 961329"/>
              <a:gd name="connsiteX41" fmla="*/ 647310 w 1006252"/>
              <a:gd name="connsiteY41" fmla="*/ 18688 h 961329"/>
              <a:gd name="connsiteX42" fmla="*/ 17835 w 1006252"/>
              <a:gd name="connsiteY42" fmla="*/ 565593 h 961329"/>
              <a:gd name="connsiteX43" fmla="*/ 988462 w 1006252"/>
              <a:gd name="connsiteY43" fmla="*/ 565593 h 961329"/>
              <a:gd name="connsiteX44" fmla="*/ 997762 w 1006252"/>
              <a:gd name="connsiteY44" fmla="*/ 574938 h 961329"/>
              <a:gd name="connsiteX45" fmla="*/ 988462 w 1006252"/>
              <a:gd name="connsiteY45" fmla="*/ 584282 h 961329"/>
              <a:gd name="connsiteX46" fmla="*/ 17835 w 1006252"/>
              <a:gd name="connsiteY46" fmla="*/ 584282 h 961329"/>
              <a:gd name="connsiteX47" fmla="*/ 8536 w 1006252"/>
              <a:gd name="connsiteY47" fmla="*/ 574938 h 961329"/>
              <a:gd name="connsiteX48" fmla="*/ 17835 w 1006252"/>
              <a:gd name="connsiteY48" fmla="*/ 565593 h 961329"/>
              <a:gd name="connsiteX49" fmla="*/ 45553 w 1006252"/>
              <a:gd name="connsiteY49" fmla="*/ 659844 h 961329"/>
              <a:gd name="connsiteX50" fmla="*/ 960789 w 1006252"/>
              <a:gd name="connsiteY50" fmla="*/ 659844 h 961329"/>
              <a:gd name="connsiteX51" fmla="*/ 970088 w 1006252"/>
              <a:gd name="connsiteY51" fmla="*/ 669188 h 961329"/>
              <a:gd name="connsiteX52" fmla="*/ 960789 w 1006252"/>
              <a:gd name="connsiteY52" fmla="*/ 678532 h 961329"/>
              <a:gd name="connsiteX53" fmla="*/ 45553 w 1006252"/>
              <a:gd name="connsiteY53" fmla="*/ 678532 h 961329"/>
              <a:gd name="connsiteX54" fmla="*/ 36254 w 1006252"/>
              <a:gd name="connsiteY54" fmla="*/ 669188 h 961329"/>
              <a:gd name="connsiteX55" fmla="*/ 45553 w 1006252"/>
              <a:gd name="connsiteY55" fmla="*/ 659844 h 961329"/>
              <a:gd name="connsiteX56" fmla="*/ 96362 w 1006252"/>
              <a:gd name="connsiteY56" fmla="*/ 754140 h 961329"/>
              <a:gd name="connsiteX57" fmla="*/ 909890 w 1006252"/>
              <a:gd name="connsiteY57" fmla="*/ 754140 h 961329"/>
              <a:gd name="connsiteX58" fmla="*/ 919189 w 1006252"/>
              <a:gd name="connsiteY58" fmla="*/ 763484 h 961329"/>
              <a:gd name="connsiteX59" fmla="*/ 909890 w 1006252"/>
              <a:gd name="connsiteY59" fmla="*/ 772828 h 961329"/>
              <a:gd name="connsiteX60" fmla="*/ 96362 w 1006252"/>
              <a:gd name="connsiteY60" fmla="*/ 772828 h 961329"/>
              <a:gd name="connsiteX61" fmla="*/ 87063 w 1006252"/>
              <a:gd name="connsiteY61" fmla="*/ 763484 h 961329"/>
              <a:gd name="connsiteX62" fmla="*/ 96362 w 1006252"/>
              <a:gd name="connsiteY62" fmla="*/ 754140 h 961329"/>
              <a:gd name="connsiteX63" fmla="*/ 180774 w 1006252"/>
              <a:gd name="connsiteY63" fmla="*/ 848390 h 961329"/>
              <a:gd name="connsiteX64" fmla="*/ 825478 w 1006252"/>
              <a:gd name="connsiteY64" fmla="*/ 848390 h 961329"/>
              <a:gd name="connsiteX65" fmla="*/ 834777 w 1006252"/>
              <a:gd name="connsiteY65" fmla="*/ 857734 h 961329"/>
              <a:gd name="connsiteX66" fmla="*/ 825478 w 1006252"/>
              <a:gd name="connsiteY66" fmla="*/ 867078 h 961329"/>
              <a:gd name="connsiteX67" fmla="*/ 180774 w 1006252"/>
              <a:gd name="connsiteY67" fmla="*/ 867078 h 961329"/>
              <a:gd name="connsiteX68" fmla="*/ 171475 w 1006252"/>
              <a:gd name="connsiteY68" fmla="*/ 857734 h 961329"/>
              <a:gd name="connsiteX69" fmla="*/ 180774 w 1006252"/>
              <a:gd name="connsiteY69" fmla="*/ 848390 h 961329"/>
              <a:gd name="connsiteX70" fmla="*/ 345600 w 1006252"/>
              <a:gd name="connsiteY70" fmla="*/ 942641 h 961329"/>
              <a:gd name="connsiteX71" fmla="*/ 660652 w 1006252"/>
              <a:gd name="connsiteY71" fmla="*/ 942641 h 961329"/>
              <a:gd name="connsiteX72" fmla="*/ 669951 w 1006252"/>
              <a:gd name="connsiteY72" fmla="*/ 951985 h 961329"/>
              <a:gd name="connsiteX73" fmla="*/ 660652 w 1006252"/>
              <a:gd name="connsiteY73" fmla="*/ 961329 h 961329"/>
              <a:gd name="connsiteX74" fmla="*/ 345600 w 1006252"/>
              <a:gd name="connsiteY74" fmla="*/ 961329 h 961329"/>
              <a:gd name="connsiteX75" fmla="*/ 336301 w 1006252"/>
              <a:gd name="connsiteY75" fmla="*/ 951985 h 961329"/>
              <a:gd name="connsiteX76" fmla="*/ 345600 w 1006252"/>
              <a:gd name="connsiteY76" fmla="*/ 942641 h 961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1006252" h="961329">
                <a:moveTo>
                  <a:pt x="996998" y="489986"/>
                </a:moveTo>
                <a:lnTo>
                  <a:pt x="9299" y="489986"/>
                </a:lnTo>
                <a:cubicBezTo>
                  <a:pt x="4178" y="489986"/>
                  <a:pt x="0" y="485808"/>
                  <a:pt x="0" y="480687"/>
                </a:cubicBezTo>
                <a:cubicBezTo>
                  <a:pt x="0" y="475521"/>
                  <a:pt x="4178" y="471343"/>
                  <a:pt x="9299" y="471343"/>
                </a:cubicBezTo>
                <a:lnTo>
                  <a:pt x="996953" y="471343"/>
                </a:lnTo>
                <a:cubicBezTo>
                  <a:pt x="1002119" y="471343"/>
                  <a:pt x="1006252" y="475521"/>
                  <a:pt x="1006252" y="480687"/>
                </a:cubicBezTo>
                <a:cubicBezTo>
                  <a:pt x="1006297" y="485808"/>
                  <a:pt x="1002119" y="489986"/>
                  <a:pt x="996998" y="489986"/>
                </a:cubicBezTo>
                <a:close/>
                <a:moveTo>
                  <a:pt x="987609" y="395736"/>
                </a:moveTo>
                <a:lnTo>
                  <a:pt x="18688" y="395736"/>
                </a:lnTo>
                <a:cubicBezTo>
                  <a:pt x="13522" y="395736"/>
                  <a:pt x="9344" y="391558"/>
                  <a:pt x="9344" y="386392"/>
                </a:cubicBezTo>
                <a:cubicBezTo>
                  <a:pt x="9344" y="381225"/>
                  <a:pt x="13522" y="377047"/>
                  <a:pt x="18688" y="377047"/>
                </a:cubicBezTo>
                <a:lnTo>
                  <a:pt x="987609" y="377047"/>
                </a:lnTo>
                <a:cubicBezTo>
                  <a:pt x="992775" y="377047"/>
                  <a:pt x="996908" y="381225"/>
                  <a:pt x="996908" y="386392"/>
                </a:cubicBezTo>
                <a:cubicBezTo>
                  <a:pt x="996908" y="391558"/>
                  <a:pt x="992775" y="395736"/>
                  <a:pt x="987609" y="395736"/>
                </a:cubicBezTo>
                <a:close/>
                <a:moveTo>
                  <a:pt x="958992" y="301485"/>
                </a:moveTo>
                <a:lnTo>
                  <a:pt x="47305" y="301485"/>
                </a:lnTo>
                <a:cubicBezTo>
                  <a:pt x="42139" y="301485"/>
                  <a:pt x="38006" y="297307"/>
                  <a:pt x="38006" y="292141"/>
                </a:cubicBezTo>
                <a:cubicBezTo>
                  <a:pt x="38006" y="286975"/>
                  <a:pt x="42184" y="282797"/>
                  <a:pt x="47305" y="282797"/>
                </a:cubicBezTo>
                <a:lnTo>
                  <a:pt x="959037" y="282797"/>
                </a:lnTo>
                <a:cubicBezTo>
                  <a:pt x="964203" y="282797"/>
                  <a:pt x="968336" y="286975"/>
                  <a:pt x="968336" y="292141"/>
                </a:cubicBezTo>
                <a:cubicBezTo>
                  <a:pt x="968336" y="297307"/>
                  <a:pt x="964158" y="301485"/>
                  <a:pt x="958992" y="301485"/>
                </a:cubicBezTo>
                <a:close/>
                <a:moveTo>
                  <a:pt x="906970" y="207190"/>
                </a:moveTo>
                <a:lnTo>
                  <a:pt x="99327" y="207190"/>
                </a:lnTo>
                <a:cubicBezTo>
                  <a:pt x="94161" y="207190"/>
                  <a:pt x="90028" y="203012"/>
                  <a:pt x="90028" y="197845"/>
                </a:cubicBezTo>
                <a:cubicBezTo>
                  <a:pt x="90028" y="192679"/>
                  <a:pt x="94206" y="188501"/>
                  <a:pt x="99327" y="188501"/>
                </a:cubicBezTo>
                <a:lnTo>
                  <a:pt x="906970" y="188501"/>
                </a:lnTo>
                <a:cubicBezTo>
                  <a:pt x="912136" y="188501"/>
                  <a:pt x="916269" y="192679"/>
                  <a:pt x="916269" y="197845"/>
                </a:cubicBezTo>
                <a:cubicBezTo>
                  <a:pt x="916269" y="203012"/>
                  <a:pt x="912136" y="207190"/>
                  <a:pt x="906970" y="207190"/>
                </a:cubicBezTo>
                <a:close/>
                <a:moveTo>
                  <a:pt x="820402" y="112939"/>
                </a:moveTo>
                <a:lnTo>
                  <a:pt x="185850" y="112939"/>
                </a:lnTo>
                <a:cubicBezTo>
                  <a:pt x="180684" y="112939"/>
                  <a:pt x="176551" y="108761"/>
                  <a:pt x="176551" y="103595"/>
                </a:cubicBezTo>
                <a:cubicBezTo>
                  <a:pt x="176551" y="98429"/>
                  <a:pt x="180729" y="94251"/>
                  <a:pt x="185850" y="94251"/>
                </a:cubicBezTo>
                <a:lnTo>
                  <a:pt x="820402" y="94251"/>
                </a:lnTo>
                <a:cubicBezTo>
                  <a:pt x="825568" y="94251"/>
                  <a:pt x="829701" y="98429"/>
                  <a:pt x="829701" y="103595"/>
                </a:cubicBezTo>
                <a:cubicBezTo>
                  <a:pt x="829701" y="108761"/>
                  <a:pt x="825568" y="112939"/>
                  <a:pt x="820402" y="112939"/>
                </a:cubicBezTo>
                <a:close/>
                <a:moveTo>
                  <a:pt x="647310" y="18688"/>
                </a:moveTo>
                <a:lnTo>
                  <a:pt x="358988" y="18688"/>
                </a:lnTo>
                <a:cubicBezTo>
                  <a:pt x="353821" y="18688"/>
                  <a:pt x="349688" y="14510"/>
                  <a:pt x="349688" y="9344"/>
                </a:cubicBezTo>
                <a:cubicBezTo>
                  <a:pt x="349688" y="4178"/>
                  <a:pt x="353866" y="0"/>
                  <a:pt x="358988" y="0"/>
                </a:cubicBezTo>
                <a:lnTo>
                  <a:pt x="647265" y="0"/>
                </a:lnTo>
                <a:cubicBezTo>
                  <a:pt x="652431" y="0"/>
                  <a:pt x="656564" y="4178"/>
                  <a:pt x="656564" y="9344"/>
                </a:cubicBezTo>
                <a:cubicBezTo>
                  <a:pt x="656564" y="14510"/>
                  <a:pt x="652431" y="18688"/>
                  <a:pt x="647310" y="18688"/>
                </a:cubicBezTo>
                <a:close/>
                <a:moveTo>
                  <a:pt x="17835" y="565593"/>
                </a:moveTo>
                <a:lnTo>
                  <a:pt x="988462" y="565593"/>
                </a:lnTo>
                <a:cubicBezTo>
                  <a:pt x="993628" y="565593"/>
                  <a:pt x="997762" y="569771"/>
                  <a:pt x="997762" y="574938"/>
                </a:cubicBezTo>
                <a:cubicBezTo>
                  <a:pt x="997762" y="580104"/>
                  <a:pt x="993584" y="584282"/>
                  <a:pt x="988462" y="584282"/>
                </a:cubicBezTo>
                <a:lnTo>
                  <a:pt x="17835" y="584282"/>
                </a:lnTo>
                <a:cubicBezTo>
                  <a:pt x="12669" y="584282"/>
                  <a:pt x="8536" y="580104"/>
                  <a:pt x="8536" y="574938"/>
                </a:cubicBezTo>
                <a:cubicBezTo>
                  <a:pt x="8491" y="569771"/>
                  <a:pt x="12669" y="565593"/>
                  <a:pt x="17835" y="565593"/>
                </a:cubicBezTo>
                <a:close/>
                <a:moveTo>
                  <a:pt x="45553" y="659844"/>
                </a:moveTo>
                <a:lnTo>
                  <a:pt x="960789" y="659844"/>
                </a:lnTo>
                <a:cubicBezTo>
                  <a:pt x="965955" y="659844"/>
                  <a:pt x="970088" y="664022"/>
                  <a:pt x="970088" y="669188"/>
                </a:cubicBezTo>
                <a:cubicBezTo>
                  <a:pt x="970088" y="674354"/>
                  <a:pt x="965910" y="678532"/>
                  <a:pt x="960789" y="678532"/>
                </a:cubicBezTo>
                <a:lnTo>
                  <a:pt x="45553" y="678532"/>
                </a:lnTo>
                <a:cubicBezTo>
                  <a:pt x="40387" y="678532"/>
                  <a:pt x="36254" y="674354"/>
                  <a:pt x="36254" y="669188"/>
                </a:cubicBezTo>
                <a:cubicBezTo>
                  <a:pt x="36254" y="664022"/>
                  <a:pt x="40387" y="659844"/>
                  <a:pt x="45553" y="659844"/>
                </a:cubicBezTo>
                <a:close/>
                <a:moveTo>
                  <a:pt x="96362" y="754140"/>
                </a:moveTo>
                <a:lnTo>
                  <a:pt x="909890" y="754140"/>
                </a:lnTo>
                <a:cubicBezTo>
                  <a:pt x="915056" y="754140"/>
                  <a:pt x="919189" y="758317"/>
                  <a:pt x="919189" y="763484"/>
                </a:cubicBezTo>
                <a:cubicBezTo>
                  <a:pt x="919189" y="768650"/>
                  <a:pt x="915011" y="772828"/>
                  <a:pt x="909890" y="772828"/>
                </a:cubicBezTo>
                <a:lnTo>
                  <a:pt x="96362" y="772828"/>
                </a:lnTo>
                <a:cubicBezTo>
                  <a:pt x="91196" y="772828"/>
                  <a:pt x="87063" y="768650"/>
                  <a:pt x="87063" y="763484"/>
                </a:cubicBezTo>
                <a:cubicBezTo>
                  <a:pt x="87063" y="758317"/>
                  <a:pt x="91241" y="754140"/>
                  <a:pt x="96362" y="754140"/>
                </a:cubicBezTo>
                <a:close/>
                <a:moveTo>
                  <a:pt x="180774" y="848390"/>
                </a:moveTo>
                <a:lnTo>
                  <a:pt x="825478" y="848390"/>
                </a:lnTo>
                <a:cubicBezTo>
                  <a:pt x="830644" y="848390"/>
                  <a:pt x="834777" y="852568"/>
                  <a:pt x="834777" y="857734"/>
                </a:cubicBezTo>
                <a:cubicBezTo>
                  <a:pt x="834777" y="862901"/>
                  <a:pt x="830599" y="867078"/>
                  <a:pt x="825478" y="867078"/>
                </a:cubicBezTo>
                <a:lnTo>
                  <a:pt x="180774" y="867078"/>
                </a:lnTo>
                <a:cubicBezTo>
                  <a:pt x="175608" y="867078"/>
                  <a:pt x="171475" y="862901"/>
                  <a:pt x="171475" y="857734"/>
                </a:cubicBezTo>
                <a:cubicBezTo>
                  <a:pt x="171475" y="852568"/>
                  <a:pt x="175653" y="848390"/>
                  <a:pt x="180774" y="848390"/>
                </a:cubicBezTo>
                <a:close/>
                <a:moveTo>
                  <a:pt x="345600" y="942641"/>
                </a:moveTo>
                <a:lnTo>
                  <a:pt x="660652" y="942641"/>
                </a:lnTo>
                <a:cubicBezTo>
                  <a:pt x="665818" y="942641"/>
                  <a:pt x="669951" y="946819"/>
                  <a:pt x="669951" y="951985"/>
                </a:cubicBezTo>
                <a:cubicBezTo>
                  <a:pt x="669951" y="957151"/>
                  <a:pt x="665773" y="961329"/>
                  <a:pt x="660652" y="961329"/>
                </a:cubicBezTo>
                <a:lnTo>
                  <a:pt x="345600" y="961329"/>
                </a:lnTo>
                <a:cubicBezTo>
                  <a:pt x="340434" y="961329"/>
                  <a:pt x="336301" y="957151"/>
                  <a:pt x="336301" y="951985"/>
                </a:cubicBezTo>
                <a:cubicBezTo>
                  <a:pt x="336301" y="946819"/>
                  <a:pt x="340479" y="942641"/>
                  <a:pt x="345600" y="94264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44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xmlns="" id="{99AF29D9-5948-4D19-AF42-3C1E6594074D}"/>
              </a:ext>
            </a:extLst>
          </p:cNvPr>
          <p:cNvSpPr/>
          <p:nvPr/>
        </p:nvSpPr>
        <p:spPr>
          <a:xfrm rot="20332329">
            <a:off x="3243648" y="1257269"/>
            <a:ext cx="557989" cy="557989"/>
          </a:xfrm>
          <a:prstGeom prst="ellipse">
            <a:avLst/>
          </a:prstGeom>
          <a:solidFill>
            <a:schemeClr val="bg1">
              <a:alpha val="4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xmlns="" id="{C22C8728-4075-441A-897F-FF84A925D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028" y="1533991"/>
            <a:ext cx="1842381" cy="498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161838" y="1117272"/>
            <a:ext cx="2028825" cy="83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华文行楷" pitchFamily="2" charset="-122"/>
              </a:rPr>
              <a:t>第五章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4903326" y="1868160"/>
            <a:ext cx="5688012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华文行楷" pitchFamily="2" charset="-122"/>
              </a:rPr>
              <a:t>二次型及其标准型</a:t>
            </a:r>
            <a:r>
              <a:rPr kumimoji="1"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行楷" pitchFamily="2" charset="-122"/>
              </a:rPr>
              <a:t> 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184188" y="4631997"/>
            <a:ext cx="4849813" cy="74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楷体" pitchFamily="2" charset="-122"/>
              </a:rPr>
              <a:t>§5.3   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楷体" pitchFamily="2" charset="-122"/>
              </a:rPr>
              <a:t>正定二次型与正定矩阵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4184188" y="3841422"/>
            <a:ext cx="4132263" cy="74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楷体" pitchFamily="2" charset="-122"/>
              </a:rPr>
              <a:t>§5.2   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楷体" pitchFamily="2" charset="-122"/>
              </a:rPr>
              <a:t>化二次型为标准型</a:t>
            </a: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4184188" y="3206422"/>
            <a:ext cx="4491038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楷体" pitchFamily="2" charset="-122"/>
              </a:rPr>
              <a:t>§5.1   </a:t>
            </a:r>
            <a:r>
              <a:rPr kumimoji="1"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华文楷体" pitchFamily="2" charset="-122"/>
              </a:rPr>
              <a:t>二次型及其矩阵表示</a:t>
            </a:r>
          </a:p>
        </p:txBody>
      </p:sp>
      <p:sp>
        <p:nvSpPr>
          <p:cNvPr id="16" name="Line 7"/>
          <p:cNvSpPr>
            <a:spLocks noChangeShapeType="1"/>
          </p:cNvSpPr>
          <p:nvPr/>
        </p:nvSpPr>
        <p:spPr bwMode="auto">
          <a:xfrm>
            <a:off x="3319001" y="1868160"/>
            <a:ext cx="7561262" cy="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>
            <a:off x="4658213" y="4557698"/>
            <a:ext cx="3887788" cy="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8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969" y="5364771"/>
            <a:ext cx="2981325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643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593181" y="853391"/>
            <a:ext cx="8715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A50E8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例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A50E8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5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56794" y="928003"/>
            <a:ext cx="6124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化二次型  </a:t>
            </a:r>
            <a:r>
              <a:rPr kumimoji="1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f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= </a:t>
            </a:r>
            <a:r>
              <a:rPr kumimoji="1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+ 2</a:t>
            </a:r>
            <a:r>
              <a:rPr kumimoji="1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4</a:t>
            </a:r>
            <a:r>
              <a:rPr kumimoji="1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+ 3</a:t>
            </a:r>
            <a:r>
              <a:rPr kumimoji="1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503569" y="959753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800" kern="0" dirty="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为标准型。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36044" y="1783666"/>
            <a:ext cx="941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A50E82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解：</a:t>
            </a: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464719" y="1942416"/>
            <a:ext cx="5353050" cy="1593850"/>
            <a:chOff x="752" y="771"/>
            <a:chExt cx="3372" cy="1004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752" y="1072"/>
              <a:ext cx="16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f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= ( 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 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2364" y="793"/>
            <a:ext cx="1279" cy="9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1" name="Equation" r:id="rId4" imgW="927100" imgH="711200" progId="Equation.DSMT4">
                    <p:embed/>
                  </p:oleObj>
                </mc:Choice>
                <mc:Fallback>
                  <p:oleObj name="Equation" r:id="rId4" imgW="9271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4" y="793"/>
                          <a:ext cx="1279" cy="9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3653" y="771"/>
            <a:ext cx="471" cy="9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2" name="Equation" r:id="rId6" imgW="342751" imgH="710891" progId="Equation.DSMT4">
                    <p:embed/>
                  </p:oleObj>
                </mc:Choice>
                <mc:Fallback>
                  <p:oleObj name="Equation" r:id="rId6" imgW="342751" imgH="7108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3" y="771"/>
                          <a:ext cx="471" cy="9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790156" y="3714066"/>
            <a:ext cx="2308225" cy="3006725"/>
            <a:chOff x="968" y="1859"/>
            <a:chExt cx="1454" cy="1894"/>
          </a:xfrm>
        </p:grpSpPr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968" y="1859"/>
            <a:ext cx="1454" cy="18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" name="公式" r:id="rId8" imgW="1054100" imgH="1371600" progId="Equation.3">
                    <p:embed/>
                  </p:oleObj>
                </mc:Choice>
                <mc:Fallback>
                  <p:oleObj name="公式" r:id="rId8" imgW="1054100" imgH="1371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8" y="1859"/>
                          <a:ext cx="1454" cy="18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234" y="2796"/>
              <a:ext cx="103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5219031" y="5184091"/>
            <a:ext cx="2184400" cy="93662"/>
          </a:xfrm>
          <a:prstGeom prst="rightArrow">
            <a:avLst>
              <a:gd name="adj1" fmla="val 56185"/>
              <a:gd name="adj2" fmla="val 57266"/>
            </a:avLst>
          </a:prstGeom>
          <a:solidFill>
            <a:srgbClr val="0000FF"/>
          </a:solidFill>
          <a:ln w="9525">
            <a:solidFill>
              <a:srgbClr val="76DBF4"/>
            </a:solidFill>
            <a:miter lim="800000"/>
            <a:headEnd type="none" w="sm" len="lg"/>
            <a:tailEnd type="none" w="lg" len="lg"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rgbClr val="FFC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421545" y="4735254"/>
            <a:ext cx="15825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– </a:t>
            </a:r>
            <a:r>
              <a:rPr kumimoji="1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r</a:t>
            </a:r>
            <a:r>
              <a:rPr kumimoji="1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+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r</a:t>
            </a:r>
            <a:r>
              <a:rPr kumimoji="1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7585049" y="2193241"/>
            <a:ext cx="2481263" cy="4527550"/>
            <a:chOff x="4040" y="918"/>
            <a:chExt cx="1563" cy="2852"/>
          </a:xfrm>
        </p:grpSpPr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4497" y="918"/>
              <a:ext cx="1106" cy="0"/>
            </a:xfrm>
            <a:prstGeom prst="line">
              <a:avLst/>
            </a:prstGeom>
            <a:noFill/>
            <a:ln w="9525">
              <a:solidFill>
                <a:srgbClr val="76DBF4"/>
              </a:solidFill>
              <a:prstDash val="sysDot"/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7" name="Group 17"/>
            <p:cNvGrpSpPr>
              <a:grpSpLocks/>
            </p:cNvGrpSpPr>
            <p:nvPr/>
          </p:nvGrpSpPr>
          <p:grpSpPr bwMode="auto">
            <a:xfrm>
              <a:off x="4040" y="1876"/>
              <a:ext cx="1279" cy="1894"/>
              <a:chOff x="4040" y="1876"/>
              <a:chExt cx="1279" cy="1894"/>
            </a:xfrm>
          </p:grpSpPr>
          <p:graphicFrame>
            <p:nvGraphicFramePr>
              <p:cNvPr id="18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5655142"/>
                  </p:ext>
                </p:extLst>
              </p:nvPr>
            </p:nvGraphicFramePr>
            <p:xfrm>
              <a:off x="4040" y="1876"/>
              <a:ext cx="1279" cy="18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14" name="Equation" r:id="rId10" imgW="927100" imgH="1371600" progId="Equation.DSMT4">
                      <p:embed/>
                    </p:oleObj>
                  </mc:Choice>
                  <mc:Fallback>
                    <p:oleObj name="Equation" r:id="rId10" imgW="927100" imgH="1371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0" y="1876"/>
                            <a:ext cx="1279" cy="18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4214" y="2144"/>
                <a:ext cx="95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 type="none" w="sm" len="lg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33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</a:rPr>
                  <a:t>0     2    2</a:t>
                </a:r>
              </a:p>
            </p:txBody>
          </p:sp>
        </p:grpSp>
      </p:grp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8439124" y="3640248"/>
            <a:ext cx="361950" cy="519112"/>
          </a:xfrm>
          <a:prstGeom prst="rect">
            <a:avLst/>
          </a:prstGeom>
          <a:solidFill>
            <a:srgbClr val="FFFF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8521031" y="4631641"/>
            <a:ext cx="361950" cy="519112"/>
          </a:xfrm>
          <a:prstGeom prst="rect">
            <a:avLst/>
          </a:prstGeom>
          <a:solidFill>
            <a:srgbClr val="FFFF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8463881" y="5184091"/>
            <a:ext cx="539750" cy="519112"/>
          </a:xfrm>
          <a:prstGeom prst="rect">
            <a:avLst/>
          </a:prstGeom>
          <a:solidFill>
            <a:srgbClr val="FFFF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–1</a:t>
            </a:r>
          </a:p>
        </p:txBody>
      </p:sp>
      <p:grpSp>
        <p:nvGrpSpPr>
          <p:cNvPr id="23" name="Group 24"/>
          <p:cNvGrpSpPr>
            <a:grpSpLocks/>
          </p:cNvGrpSpPr>
          <p:nvPr/>
        </p:nvGrpSpPr>
        <p:grpSpPr bwMode="auto">
          <a:xfrm>
            <a:off x="1605881" y="4672916"/>
            <a:ext cx="1006475" cy="1300162"/>
            <a:chOff x="497" y="2767"/>
            <a:chExt cx="634" cy="819"/>
          </a:xfrm>
        </p:grpSpPr>
        <p:graphicFrame>
          <p:nvGraphicFramePr>
            <p:cNvPr id="24" name="Object 25"/>
            <p:cNvGraphicFramePr>
              <a:graphicFrameLocks noChangeAspect="1"/>
            </p:cNvGraphicFramePr>
            <p:nvPr/>
          </p:nvGraphicFramePr>
          <p:xfrm>
            <a:off x="497" y="2767"/>
            <a:ext cx="634" cy="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5" name="公式" r:id="rId12" imgW="342756" imgH="476350" progId="Equation.3">
                    <p:embed/>
                  </p:oleObj>
                </mc:Choice>
                <mc:Fallback>
                  <p:oleObj name="公式" r:id="rId12" imgW="342756" imgH="4763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" y="2767"/>
                          <a:ext cx="634" cy="8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26"/>
            <p:cNvSpPr>
              <a:spLocks noChangeShapeType="1"/>
            </p:cNvSpPr>
            <p:nvPr/>
          </p:nvSpPr>
          <p:spPr bwMode="auto">
            <a:xfrm>
              <a:off x="648" y="3162"/>
              <a:ext cx="32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671" y="281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671" y="3173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E</a:t>
              </a:r>
            </a:p>
          </p:txBody>
        </p:sp>
      </p:grpSp>
      <p:sp>
        <p:nvSpPr>
          <p:cNvPr id="28" name="矩形 33"/>
          <p:cNvSpPr>
            <a:spLocks noChangeArrowheads="1"/>
          </p:cNvSpPr>
          <p:nvPr/>
        </p:nvSpPr>
        <p:spPr bwMode="auto">
          <a:xfrm>
            <a:off x="-289594" y="256066"/>
            <a:ext cx="5508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合同变换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化二次型为标准</a:t>
            </a:r>
            <a:r>
              <a:rPr lang="zh-CN" altLang="en-US" kern="0" dirty="0">
                <a:solidFill>
                  <a:srgbClr val="000000"/>
                </a:solidFill>
              </a:rPr>
              <a:t>形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>
            <a:off x="7817767" y="5184091"/>
            <a:ext cx="1643063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79888" y="5262218"/>
            <a:ext cx="1393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sz="28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</a:t>
            </a:r>
            <a:r>
              <a:rPr kumimoji="1" lang="en-US" altLang="zh-CN" sz="2800" b="1" i="1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sz="2800" b="1" kern="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kern="0" dirty="0" smtClean="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kern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800" kern="0" dirty="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sz="2800" b="1" kern="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800" b="1" kern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168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3" grpId="0" animBg="1"/>
      <p:bldP spid="14" grpId="0" build="p" autoUpdateAnimBg="0"/>
      <p:bldP spid="20" grpId="0" animBg="1" autoUpdateAnimBg="0"/>
      <p:bldP spid="21" grpId="0" animBg="1" autoUpdateAnimBg="0"/>
      <p:bldP spid="22" grpId="0" animBg="1" autoUpdateAnimBg="0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740631" y="284920"/>
            <a:ext cx="1973263" cy="3006725"/>
            <a:chOff x="1228" y="100"/>
            <a:chExt cx="1243" cy="1894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1228" y="100"/>
            <a:ext cx="1243" cy="18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5" name="公式" r:id="rId4" imgW="901700" imgH="1371600" progId="Equation.3">
                    <p:embed/>
                  </p:oleObj>
                </mc:Choice>
                <mc:Fallback>
                  <p:oleObj name="公式" r:id="rId4" imgW="901700" imgH="1371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8" y="100"/>
                          <a:ext cx="1243" cy="18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1329" y="1013"/>
              <a:ext cx="1011" cy="0"/>
            </a:xfrm>
            <a:prstGeom prst="line">
              <a:avLst/>
            </a:prstGeom>
            <a:noFill/>
            <a:ln w="28575">
              <a:solidFill>
                <a:srgbClr val="76DBF4"/>
              </a:solidFill>
              <a:prstDash val="sysDot"/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279693" y="3164645"/>
            <a:ext cx="3206750" cy="1558925"/>
            <a:chOff x="63" y="2022"/>
            <a:chExt cx="2020" cy="982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3" y="2385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itchFamily="18" charset="2"/>
                </a:rPr>
                <a:t>得</a:t>
              </a:r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9164696"/>
                </p:ext>
              </p:extLst>
            </p:nvPr>
          </p:nvGraphicFramePr>
          <p:xfrm>
            <a:off x="506" y="2022"/>
            <a:ext cx="1577" cy="9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6" name="Equation" r:id="rId6" imgW="1390578" imgH="819122" progId="Equation.DSMT4">
                    <p:embed/>
                  </p:oleObj>
                </mc:Choice>
                <mc:Fallback>
                  <p:oleObj name="Equation" r:id="rId6" imgW="1390578" imgH="81912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" y="2022"/>
                          <a:ext cx="1577" cy="9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3901523" y="3541784"/>
            <a:ext cx="5645150" cy="576263"/>
            <a:chOff x="2048" y="2248"/>
            <a:chExt cx="3556" cy="363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048" y="2281"/>
              <a:ext cx="162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作变换 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A50E82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Q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endPara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509" y="2248"/>
              <a:ext cx="209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化二次型 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f </a:t>
              </a:r>
              <a:r>
                <a:rPr kumimoji="1" lang="zh-CN" altLang="en-US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为标准型</a:t>
              </a:r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4466723" y="4285866"/>
            <a:ext cx="4511675" cy="523875"/>
            <a:chOff x="2446" y="2664"/>
            <a:chExt cx="2842" cy="330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2446" y="2664"/>
              <a:ext cx="10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sz="2800" i="1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  </a:t>
              </a:r>
              <a:r>
                <a:rPr lang="en-US" altLang="zh-CN" sz="2800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2800" i="1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 </a:t>
              </a:r>
              <a:r>
                <a:rPr lang="en-US" altLang="zh-CN" sz="2800" i="1" kern="0" baseline="30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 </a:t>
              </a:r>
              <a:r>
                <a:rPr lang="en-US" altLang="zh-CN" sz="2800" i="1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BY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3607" y="2664"/>
              <a:ext cx="16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2800" i="1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800" kern="0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800" kern="0" baseline="30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+ 2</a:t>
              </a:r>
              <a:r>
                <a:rPr lang="en-US" altLang="zh-CN" sz="2800" i="1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800" kern="0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kern="0" baseline="30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 6</a:t>
              </a:r>
              <a:r>
                <a:rPr lang="en-US" altLang="zh-CN" sz="2800" i="1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sz="2800" kern="0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sz="2800" kern="0" baseline="30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kern="0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2023561" y="937828"/>
            <a:ext cx="1682750" cy="952499"/>
            <a:chOff x="153" y="518"/>
            <a:chExt cx="1060" cy="600"/>
          </a:xfrm>
        </p:grpSpPr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153" y="1043"/>
              <a:ext cx="1060" cy="75"/>
            </a:xfrm>
            <a:prstGeom prst="rightArrow">
              <a:avLst>
                <a:gd name="adj1" fmla="val 56185"/>
                <a:gd name="adj2" fmla="val 44115"/>
              </a:avLst>
            </a:prstGeom>
            <a:solidFill>
              <a:srgbClr val="0000FF"/>
            </a:solidFill>
            <a:ln w="9525">
              <a:solidFill>
                <a:srgbClr val="76DBF4"/>
              </a:solidFill>
              <a:miter lim="800000"/>
              <a:headEnd type="none" w="sm" len="lg"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37" y="518"/>
              <a:ext cx="6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2r</a:t>
              </a:r>
              <a:r>
                <a:rPr kumimoji="1" lang="en-US" altLang="zh-CN" sz="24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+</a:t>
              </a:r>
              <a:r>
                <a:rPr kumimoji="1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endPara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346" y="756"/>
              <a:ext cx="6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2c</a:t>
              </a:r>
              <a:r>
                <a:rPr kumimoji="1" lang="en-US" altLang="zh-CN" sz="24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+</a:t>
              </a:r>
              <a:r>
                <a:rPr kumimoji="1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kumimoji="1" lang="en-US" altLang="zh-CN" sz="24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8" name="Group 18"/>
          <p:cNvGrpSpPr>
            <a:grpSpLocks/>
          </p:cNvGrpSpPr>
          <p:nvPr/>
        </p:nvGrpSpPr>
        <p:grpSpPr bwMode="auto">
          <a:xfrm>
            <a:off x="5770061" y="918778"/>
            <a:ext cx="1511300" cy="984250"/>
            <a:chOff x="2513" y="506"/>
            <a:chExt cx="952" cy="620"/>
          </a:xfrm>
        </p:grpSpPr>
        <p:sp>
          <p:nvSpPr>
            <p:cNvPr id="19" name="AutoShape 19"/>
            <p:cNvSpPr>
              <a:spLocks noChangeArrowheads="1"/>
            </p:cNvSpPr>
            <p:nvPr/>
          </p:nvSpPr>
          <p:spPr bwMode="auto">
            <a:xfrm>
              <a:off x="2513" y="1052"/>
              <a:ext cx="952" cy="74"/>
            </a:xfrm>
            <a:prstGeom prst="rightArrow">
              <a:avLst>
                <a:gd name="adj1" fmla="val 56185"/>
                <a:gd name="adj2" fmla="val 42306"/>
              </a:avLst>
            </a:prstGeom>
            <a:solidFill>
              <a:srgbClr val="0000FF"/>
            </a:solidFill>
            <a:ln w="9525">
              <a:solidFill>
                <a:srgbClr val="76DBF4"/>
              </a:solidFill>
              <a:miter lim="800000"/>
              <a:headEnd type="none" w="sm" len="lg"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2647" y="506"/>
              <a:ext cx="66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-r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+ </a:t>
              </a:r>
              <a:r>
                <a:rPr kumimoji="1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endParaRPr kumimoji="1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2620" y="793"/>
              <a:ext cx="6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-c</a:t>
              </a:r>
              <a:r>
                <a:rPr kumimoji="1" lang="en-US" altLang="zh-CN" sz="24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+ </a:t>
              </a:r>
              <a:r>
                <a:rPr kumimoji="1" lang="en-US" altLang="zh-CN" sz="24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kumimoji="1" lang="en-US" altLang="zh-CN" sz="2400" b="1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endPara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9289548" y="1126741"/>
            <a:ext cx="1311275" cy="1300162"/>
            <a:chOff x="4730" y="637"/>
            <a:chExt cx="826" cy="819"/>
          </a:xfrm>
        </p:grpSpPr>
        <p:grpSp>
          <p:nvGrpSpPr>
            <p:cNvPr id="23" name="Group 23"/>
            <p:cNvGrpSpPr>
              <a:grpSpLocks/>
            </p:cNvGrpSpPr>
            <p:nvPr/>
          </p:nvGrpSpPr>
          <p:grpSpPr bwMode="auto">
            <a:xfrm>
              <a:off x="4922" y="637"/>
              <a:ext cx="634" cy="819"/>
              <a:chOff x="4322" y="2792"/>
              <a:chExt cx="634" cy="819"/>
            </a:xfrm>
          </p:grpSpPr>
          <p:graphicFrame>
            <p:nvGraphicFramePr>
              <p:cNvPr id="25" name="Object 24"/>
              <p:cNvGraphicFramePr>
                <a:graphicFrameLocks noChangeAspect="1"/>
              </p:cNvGraphicFramePr>
              <p:nvPr/>
            </p:nvGraphicFramePr>
            <p:xfrm>
              <a:off x="4322" y="2792"/>
              <a:ext cx="634" cy="8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37" name="公式" r:id="rId8" imgW="355446" imgH="457002" progId="Equation.3">
                      <p:embed/>
                    </p:oleObj>
                  </mc:Choice>
                  <mc:Fallback>
                    <p:oleObj name="公式" r:id="rId8" imgW="355446" imgH="457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2" y="2792"/>
                            <a:ext cx="634" cy="8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Line 25"/>
              <p:cNvSpPr>
                <a:spLocks noChangeShapeType="1"/>
              </p:cNvSpPr>
              <p:nvPr/>
            </p:nvSpPr>
            <p:spPr bwMode="auto">
              <a:xfrm>
                <a:off x="4473" y="3187"/>
                <a:ext cx="329" cy="0"/>
              </a:xfrm>
              <a:prstGeom prst="line">
                <a:avLst/>
              </a:prstGeom>
              <a:noFill/>
              <a:ln w="28575">
                <a:solidFill>
                  <a:srgbClr val="76DBF4"/>
                </a:solidFill>
                <a:prstDash val="sysDot"/>
                <a:round/>
                <a:headEnd type="none" w="sm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Text Box 26"/>
              <p:cNvSpPr txBox="1">
                <a:spLocks noChangeArrowheads="1"/>
              </p:cNvSpPr>
              <p:nvPr/>
            </p:nvSpPr>
            <p:spPr bwMode="auto">
              <a:xfrm>
                <a:off x="4519" y="2838"/>
                <a:ext cx="26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 type="none" w="sm" len="lg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0" cap="none" spc="0" normalizeH="0" baseline="0" noProof="0" smtClean="0">
                    <a:ln>
                      <a:noFill/>
                    </a:ln>
                    <a:solidFill>
                      <a:srgbClr val="CC0099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</a:rPr>
                  <a:t>B</a:t>
                </a:r>
              </a:p>
            </p:txBody>
          </p:sp>
          <p:sp>
            <p:nvSpPr>
              <p:cNvPr id="28" name="Text Box 27"/>
              <p:cNvSpPr txBox="1">
                <a:spLocks noChangeArrowheads="1"/>
              </p:cNvSpPr>
              <p:nvPr/>
            </p:nvSpPr>
            <p:spPr bwMode="auto">
              <a:xfrm>
                <a:off x="4519" y="3198"/>
                <a:ext cx="27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 type="none" w="sm" len="lg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0" cap="none" spc="0" normalizeH="0" baseline="0" noProof="0" smtClean="0">
                    <a:ln>
                      <a:noFill/>
                    </a:ln>
                    <a:solidFill>
                      <a:srgbClr val="A50E82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</a:rPr>
                  <a:t>Q</a:t>
                </a:r>
              </a:p>
            </p:txBody>
          </p:sp>
        </p:grpSp>
        <p:sp>
          <p:nvSpPr>
            <p:cNvPr id="24" name="Text Box 28"/>
            <p:cNvSpPr txBox="1">
              <a:spLocks noChangeArrowheads="1"/>
            </p:cNvSpPr>
            <p:nvPr/>
          </p:nvSpPr>
          <p:spPr bwMode="auto">
            <a:xfrm>
              <a:off x="4730" y="859"/>
              <a:ext cx="2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</a:t>
              </a:r>
            </a:p>
          </p:txBody>
        </p:sp>
      </p:grpSp>
      <p:grpSp>
        <p:nvGrpSpPr>
          <p:cNvPr id="29" name="Group 29"/>
          <p:cNvGrpSpPr>
            <a:grpSpLocks/>
          </p:cNvGrpSpPr>
          <p:nvPr/>
        </p:nvGrpSpPr>
        <p:grpSpPr bwMode="auto">
          <a:xfrm>
            <a:off x="7365498" y="210753"/>
            <a:ext cx="2028825" cy="3070225"/>
            <a:chOff x="3518" y="60"/>
            <a:chExt cx="1278" cy="1934"/>
          </a:xfrm>
        </p:grpSpPr>
        <p:graphicFrame>
          <p:nvGraphicFramePr>
            <p:cNvPr id="30" name="Object 30"/>
            <p:cNvGraphicFramePr>
              <a:graphicFrameLocks noChangeAspect="1"/>
            </p:cNvGraphicFramePr>
            <p:nvPr/>
          </p:nvGraphicFramePr>
          <p:xfrm>
            <a:off x="3518" y="100"/>
            <a:ext cx="1278" cy="18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8" name="公式" r:id="rId10" imgW="927100" imgH="1371600" progId="Equation.3">
                    <p:embed/>
                  </p:oleObj>
                </mc:Choice>
                <mc:Fallback>
                  <p:oleObj name="公式" r:id="rId10" imgW="927100" imgH="1371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8" y="100"/>
                          <a:ext cx="1278" cy="18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3660" y="1013"/>
              <a:ext cx="1011" cy="0"/>
            </a:xfrm>
            <a:prstGeom prst="line">
              <a:avLst/>
            </a:prstGeom>
            <a:noFill/>
            <a:ln w="28575">
              <a:solidFill>
                <a:srgbClr val="76DBF4"/>
              </a:solidFill>
              <a:prstDash val="sysDot"/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3588" y="6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3960" y="37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4356" y="684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– 6</a:t>
              </a:r>
            </a:p>
          </p:txBody>
        </p:sp>
      </p:grpSp>
      <p:grpSp>
        <p:nvGrpSpPr>
          <p:cNvPr id="35" name="Group 35"/>
          <p:cNvGrpSpPr>
            <a:grpSpLocks/>
          </p:cNvGrpSpPr>
          <p:nvPr/>
        </p:nvGrpSpPr>
        <p:grpSpPr bwMode="auto">
          <a:xfrm>
            <a:off x="3874499" y="4937653"/>
            <a:ext cx="5037137" cy="1628775"/>
            <a:chOff x="1307" y="3144"/>
            <a:chExt cx="3173" cy="1026"/>
          </a:xfrm>
        </p:grpSpPr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2048" y="3515"/>
              <a:ext cx="11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kumimoji="0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 </a:t>
              </a:r>
              <a:r>
                <a:rPr kumimoji="0" lang="en-US" altLang="zh-CN" sz="1800" b="0" i="1" u="none" strike="noStrike" kern="0" cap="none" spc="0" normalizeH="0" baseline="30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 </a:t>
              </a:r>
              <a:r>
                <a:rPr kumimoji="0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AQ</a:t>
              </a:r>
            </a:p>
          </p:txBody>
        </p:sp>
        <p:graphicFrame>
          <p:nvGraphicFramePr>
            <p:cNvPr id="37" name="Object 37"/>
            <p:cNvGraphicFramePr>
              <a:graphicFrameLocks noChangeAspect="1"/>
            </p:cNvGraphicFramePr>
            <p:nvPr/>
          </p:nvGraphicFramePr>
          <p:xfrm>
            <a:off x="3113" y="3188"/>
            <a:ext cx="1367" cy="9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9" name="Equation" r:id="rId12" imgW="990170" imgH="710891" progId="Equation.DSMT4">
                    <p:embed/>
                  </p:oleObj>
                </mc:Choice>
                <mc:Fallback>
                  <p:oleObj name="Equation" r:id="rId12" imgW="990170" imgH="7108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3" y="3188"/>
                          <a:ext cx="1367" cy="9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1307" y="3533"/>
              <a:ext cx="6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其中</a:t>
              </a:r>
              <a:r>
                <a:rPr kumimoji="1" lang="en-US" altLang="zh-CN" sz="28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:</a:t>
              </a:r>
            </a:p>
          </p:txBody>
        </p:sp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3401" y="314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3749" y="345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4027" y="3768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–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892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68196" y="467670"/>
            <a:ext cx="7704137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                                    ，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求非退化矩阵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，使            为对角阵 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388924"/>
              </p:ext>
            </p:extLst>
          </p:nvPr>
        </p:nvGraphicFramePr>
        <p:xfrm>
          <a:off x="1402280" y="291135"/>
          <a:ext cx="280035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Equation" r:id="rId5" imgW="2806560" imgH="1562040" progId="Equation.DSMT4">
                  <p:embed/>
                </p:oleObj>
              </mc:Choice>
              <mc:Fallback>
                <p:oleObj name="Equation" r:id="rId5" imgW="2806560" imgH="1562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280" y="291135"/>
                        <a:ext cx="2800350" cy="156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834266"/>
              </p:ext>
            </p:extLst>
          </p:nvPr>
        </p:nvGraphicFramePr>
        <p:xfrm>
          <a:off x="3322331" y="1758084"/>
          <a:ext cx="990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Equation" r:id="rId7" imgW="990360" imgH="393480" progId="Equation.DSMT4">
                  <p:embed/>
                </p:oleObj>
              </mc:Choice>
              <mc:Fallback>
                <p:oleObj name="Equation" r:id="rId7" imgW="990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331" y="1758084"/>
                        <a:ext cx="990600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68196" y="2877173"/>
            <a:ext cx="2089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</a:t>
            </a: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253783"/>
              </p:ext>
            </p:extLst>
          </p:nvPr>
        </p:nvGraphicFramePr>
        <p:xfrm>
          <a:off x="644632" y="2444430"/>
          <a:ext cx="6742113" cy="356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Equation" r:id="rId9" imgW="6819840" imgH="3568680" progId="Equation.DSMT4">
                  <p:embed/>
                </p:oleObj>
              </mc:Choice>
              <mc:Fallback>
                <p:oleObj name="Equation" r:id="rId9" imgW="6819840" imgH="3568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32" y="2444430"/>
                        <a:ext cx="6742113" cy="356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6"/>
          <p:cNvSpPr>
            <a:spLocks noChangeShapeType="1"/>
          </p:cNvSpPr>
          <p:nvPr/>
        </p:nvSpPr>
        <p:spPr bwMode="auto">
          <a:xfrm>
            <a:off x="716640" y="4172622"/>
            <a:ext cx="522288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Line 26"/>
          <p:cNvSpPr>
            <a:spLocks noChangeShapeType="1"/>
          </p:cNvSpPr>
          <p:nvPr/>
        </p:nvSpPr>
        <p:spPr bwMode="auto">
          <a:xfrm>
            <a:off x="1796760" y="4172622"/>
            <a:ext cx="1767978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Line 26"/>
          <p:cNvSpPr>
            <a:spLocks noChangeShapeType="1"/>
          </p:cNvSpPr>
          <p:nvPr/>
        </p:nvSpPr>
        <p:spPr bwMode="auto">
          <a:xfrm>
            <a:off x="5397160" y="4333825"/>
            <a:ext cx="1767978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496226"/>
              </p:ext>
            </p:extLst>
          </p:nvPr>
        </p:nvGraphicFramePr>
        <p:xfrm>
          <a:off x="7458753" y="2117675"/>
          <a:ext cx="3624263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Equation" r:id="rId11" imgW="3670200" imgH="4431960" progId="Equation.DSMT4">
                  <p:embed/>
                </p:oleObj>
              </mc:Choice>
              <mc:Fallback>
                <p:oleObj name="Equation" r:id="rId11" imgW="3670200" imgH="443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8753" y="2117675"/>
                        <a:ext cx="3624263" cy="443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26"/>
          <p:cNvSpPr>
            <a:spLocks noChangeShapeType="1"/>
          </p:cNvSpPr>
          <p:nvPr/>
        </p:nvSpPr>
        <p:spPr bwMode="auto">
          <a:xfrm>
            <a:off x="9120205" y="4412822"/>
            <a:ext cx="1767978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83019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250968"/>
              </p:ext>
            </p:extLst>
          </p:nvPr>
        </p:nvGraphicFramePr>
        <p:xfrm>
          <a:off x="1365553" y="1374289"/>
          <a:ext cx="3498850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Equation" r:id="rId4" imgW="3543120" imgH="4431960" progId="Equation.DSMT4">
                  <p:embed/>
                </p:oleObj>
              </mc:Choice>
              <mc:Fallback>
                <p:oleObj name="Equation" r:id="rId4" imgW="3543120" imgH="443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553" y="1374289"/>
                        <a:ext cx="3498850" cy="443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26"/>
          <p:cNvSpPr>
            <a:spLocks noChangeShapeType="1"/>
          </p:cNvSpPr>
          <p:nvPr/>
        </p:nvSpPr>
        <p:spPr bwMode="auto">
          <a:xfrm>
            <a:off x="2835703" y="3771212"/>
            <a:ext cx="1767978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216883"/>
              </p:ext>
            </p:extLst>
          </p:nvPr>
        </p:nvGraphicFramePr>
        <p:xfrm>
          <a:off x="5021368" y="1374289"/>
          <a:ext cx="3606800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Equation" r:id="rId6" imgW="3606480" imgH="4431960" progId="Equation.DSMT4">
                  <p:embed/>
                </p:oleObj>
              </mc:Choice>
              <mc:Fallback>
                <p:oleObj name="Equation" r:id="rId6" imgW="3606480" imgH="443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368" y="1374289"/>
                        <a:ext cx="3606800" cy="443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26"/>
          <p:cNvSpPr>
            <a:spLocks noChangeShapeType="1"/>
          </p:cNvSpPr>
          <p:nvPr/>
        </p:nvSpPr>
        <p:spPr bwMode="auto">
          <a:xfrm>
            <a:off x="6571494" y="3771212"/>
            <a:ext cx="1767978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b="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95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724357"/>
              </p:ext>
            </p:extLst>
          </p:nvPr>
        </p:nvGraphicFramePr>
        <p:xfrm>
          <a:off x="5473059" y="1144538"/>
          <a:ext cx="4294188" cy="393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Equation" r:id="rId4" imgW="4317840" imgH="4000320" progId="Equation.DSMT4">
                  <p:embed/>
                </p:oleObj>
              </mc:Choice>
              <mc:Fallback>
                <p:oleObj name="Equation" r:id="rId4" imgW="4317840" imgH="4000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059" y="1144538"/>
                        <a:ext cx="4294188" cy="3938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Line 26"/>
          <p:cNvSpPr>
            <a:spLocks noChangeShapeType="1"/>
          </p:cNvSpPr>
          <p:nvPr/>
        </p:nvSpPr>
        <p:spPr bwMode="auto">
          <a:xfrm>
            <a:off x="3412634" y="3052872"/>
            <a:ext cx="1767978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276" y="1108298"/>
            <a:ext cx="3300244" cy="4011067"/>
          </a:xfrm>
          <a:prstGeom prst="rect">
            <a:avLst/>
          </a:prstGeom>
        </p:spPr>
      </p:pic>
      <p:sp>
        <p:nvSpPr>
          <p:cNvPr id="7" name="Line 26"/>
          <p:cNvSpPr>
            <a:spLocks noChangeShapeType="1"/>
          </p:cNvSpPr>
          <p:nvPr/>
        </p:nvSpPr>
        <p:spPr bwMode="auto">
          <a:xfrm>
            <a:off x="6960121" y="3052872"/>
            <a:ext cx="1767978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800" b="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0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327856"/>
              </p:ext>
            </p:extLst>
          </p:nvPr>
        </p:nvGraphicFramePr>
        <p:xfrm>
          <a:off x="3628233" y="1412777"/>
          <a:ext cx="576103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6" r:id="rId4" imgW="2514600" imgH="241300" progId="Equation.DSMT4">
                  <p:embed/>
                </p:oleObj>
              </mc:Choice>
              <mc:Fallback>
                <p:oleObj r:id="rId4" imgW="25146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8233" y="1412777"/>
                        <a:ext cx="5761037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592665"/>
              </p:ext>
            </p:extLst>
          </p:nvPr>
        </p:nvGraphicFramePr>
        <p:xfrm>
          <a:off x="2404270" y="3500340"/>
          <a:ext cx="3489325" cy="139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7" r:id="rId6" imgW="1778380" imgH="711280" progId="Equation.DSMT4">
                  <p:embed/>
                </p:oleObj>
              </mc:Choice>
              <mc:Fallback>
                <p:oleObj r:id="rId6" imgW="1778380" imgH="711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270" y="3500340"/>
                        <a:ext cx="3489325" cy="139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89945" y="866677"/>
            <a:ext cx="8523288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黑体" panose="02010609060101010101" pitchFamily="49" charset="-122"/>
              </a:rPr>
              <a:t>例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黑体" panose="02010609060101010101" pitchFamily="49" charset="-122"/>
              </a:rPr>
              <a:t>7.</a:t>
            </a: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用合同变换化二次型为标准形</a:t>
            </a:r>
            <a:endParaRPr kumimoji="1"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954084"/>
              </p:ext>
            </p:extLst>
          </p:nvPr>
        </p:nvGraphicFramePr>
        <p:xfrm>
          <a:off x="5872263" y="3500488"/>
          <a:ext cx="3424237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8" name="Equation" r:id="rId8" imgW="1828800" imgH="711000" progId="Equation.DSMT4">
                  <p:embed/>
                </p:oleObj>
              </mc:Choice>
              <mc:Fallback>
                <p:oleObj name="Equation" r:id="rId8" imgW="18288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263" y="3500488"/>
                        <a:ext cx="3424237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404270" y="2204940"/>
            <a:ext cx="5256213" cy="1227137"/>
            <a:chOff x="0" y="0"/>
            <a:chExt cx="8278" cy="1932"/>
          </a:xfrm>
        </p:grpSpPr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5670" y="0"/>
            <a:ext cx="2608" cy="19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29" r:id="rId10" imgW="928712" imgH="686993" progId="Equation.DSMT4">
                    <p:embed/>
                  </p:oleObj>
                </mc:Choice>
                <mc:Fallback>
                  <p:oleObj r:id="rId10" imgW="928712" imgH="68699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0" y="0"/>
                          <a:ext cx="2608" cy="19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0" y="567"/>
              <a:ext cx="5401" cy="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细黑" panose="02010600040101010101" pitchFamily="2" charset="-122"/>
                </a:rPr>
                <a:t> 解：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二次型的系数矩阵为</a:t>
              </a:r>
            </a:p>
          </p:txBody>
        </p:sp>
      </p:grpSp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846129"/>
              </p:ext>
            </p:extLst>
          </p:nvPr>
        </p:nvGraphicFramePr>
        <p:xfrm>
          <a:off x="2487713" y="5013376"/>
          <a:ext cx="35433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0" name="Equation" r:id="rId12" imgW="1892160" imgH="711000" progId="Equation.DSMT4">
                  <p:embed/>
                </p:oleObj>
              </mc:Choice>
              <mc:Fallback>
                <p:oleObj name="Equation" r:id="rId12" imgW="18921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713" y="5013376"/>
                        <a:ext cx="354330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834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276115"/>
              </p:ext>
            </p:extLst>
          </p:nvPr>
        </p:nvGraphicFramePr>
        <p:xfrm>
          <a:off x="3773764" y="965364"/>
          <a:ext cx="407352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6" name="Equation" r:id="rId5" imgW="1828800" imgH="711000" progId="Equation.DSMT4">
                  <p:embed/>
                </p:oleObj>
              </mc:Choice>
              <mc:Fallback>
                <p:oleObj name="Equation" r:id="rId5" imgW="18288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764" y="965364"/>
                        <a:ext cx="4073525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857256"/>
              </p:ext>
            </p:extLst>
          </p:nvPr>
        </p:nvGraphicFramePr>
        <p:xfrm>
          <a:off x="605114" y="1130464"/>
          <a:ext cx="3168650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7" r:id="rId7" imgW="1309943" imgH="712121" progId="Equation.DSMT4">
                  <p:embed/>
                </p:oleObj>
              </mc:Choice>
              <mc:Fallback>
                <p:oleObj r:id="rId7" imgW="1309943" imgH="712121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14" y="1130464"/>
                        <a:ext cx="3168650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528193"/>
              </p:ext>
            </p:extLst>
          </p:nvPr>
        </p:nvGraphicFramePr>
        <p:xfrm>
          <a:off x="7832112" y="894104"/>
          <a:ext cx="421481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8" name="Equation" r:id="rId9" imgW="1892160" imgH="711000" progId="Equation.DSMT4">
                  <p:embed/>
                </p:oleObj>
              </mc:Choice>
              <mc:Fallback>
                <p:oleObj name="Equation" r:id="rId9" imgW="18921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112" y="894104"/>
                        <a:ext cx="4214812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396102"/>
              </p:ext>
            </p:extLst>
          </p:nvPr>
        </p:nvGraphicFramePr>
        <p:xfrm>
          <a:off x="605114" y="3050822"/>
          <a:ext cx="446405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9" name="Equation" r:id="rId11" imgW="1917360" imgH="711000" progId="Equation.DSMT4">
                  <p:embed/>
                </p:oleObj>
              </mc:Choice>
              <mc:Fallback>
                <p:oleObj name="Equation" r:id="rId11" imgW="19173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14" y="3050822"/>
                        <a:ext cx="446405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71968"/>
              </p:ext>
            </p:extLst>
          </p:nvPr>
        </p:nvGraphicFramePr>
        <p:xfrm>
          <a:off x="4964096" y="2922862"/>
          <a:ext cx="4521200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0" name="Equation" r:id="rId13" imgW="1942920" imgH="711000" progId="Equation.DSMT4">
                  <p:embed/>
                </p:oleObj>
              </mc:Choice>
              <mc:Fallback>
                <p:oleObj name="Equation" r:id="rId13" imgW="19429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096" y="2922862"/>
                        <a:ext cx="4521200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2567118" y="5207717"/>
            <a:ext cx="34544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 i="1" dirty="0">
              <a:solidFill>
                <a:srgbClr val="000000"/>
              </a:solidFill>
              <a:latin typeface="Symbol" panose="05050102010706020507" pitchFamily="18" charset="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2868329" y="6243431"/>
            <a:ext cx="87301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于是二次型的标准形为 </a:t>
            </a:r>
            <a:r>
              <a:rPr kumimoji="1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f= y</a:t>
            </a:r>
            <a:r>
              <a:rPr kumimoji="1" lang="zh-CN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+y</a:t>
            </a:r>
            <a:r>
              <a:rPr kumimoji="1" lang="zh-CN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724467"/>
              </p:ext>
            </p:extLst>
          </p:nvPr>
        </p:nvGraphicFramePr>
        <p:xfrm>
          <a:off x="6973871" y="4510231"/>
          <a:ext cx="2511425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1" name="Equation" r:id="rId15" imgW="1079280" imgH="685800" progId="Equation.DSMT4">
                  <p:embed/>
                </p:oleObj>
              </mc:Choice>
              <mc:Fallback>
                <p:oleObj name="Equation" r:id="rId15" imgW="10792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3871" y="4510231"/>
                        <a:ext cx="2511425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9304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utoUpdateAnimBg="0"/>
      <p:bldP spid="9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1761" y="1246330"/>
            <a:ext cx="114766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6070" algn="just" eaLnBrk="0" fontAlgn="base" hangingPunct="0">
              <a:lnSpc>
                <a:spcPct val="150000"/>
              </a:lnSpc>
              <a:spcBef>
                <a:spcPct val="0"/>
              </a:spcBef>
            </a:pPr>
            <a:r>
              <a:rPr kumimoji="1" lang="zh-CN" altLang="zh-CN" sz="28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思考：合同变换求二次型的标准型时为什么行列变换要一致？行和列先后变换顺序是随意的吗？</a:t>
            </a:r>
            <a:endParaRPr kumimoji="1" lang="zh-CN" altLang="zh-CN" sz="2000" b="1" kern="1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69" y="3006710"/>
            <a:ext cx="10657331" cy="280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4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297113" y="780198"/>
            <a:ext cx="74168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用配方法求二次型的标准型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23925" y="2057150"/>
            <a:ext cx="109631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配方法就是将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二次多项式配成完全平方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的方法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这种方法在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中学数学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大量使用过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需要记住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14307"/>
              </p:ext>
            </p:extLst>
          </p:nvPr>
        </p:nvGraphicFramePr>
        <p:xfrm>
          <a:off x="4585468" y="3794668"/>
          <a:ext cx="33877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4" imgW="1657422" imgH="209578" progId="Equation.DSMT4">
                  <p:embed/>
                </p:oleObj>
              </mc:Choice>
              <mc:Fallback>
                <p:oleObj name="Equation" r:id="rId4" imgW="1657422" imgH="209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468" y="3794668"/>
                        <a:ext cx="3387725" cy="63976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75000"/>
                        </a:schemeClr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160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78616" y="1425872"/>
            <a:ext cx="10899158" cy="1117600"/>
            <a:chOff x="198" y="913"/>
            <a:chExt cx="4856" cy="704"/>
          </a:xfrm>
        </p:grpSpPr>
        <p:sp>
          <p:nvSpPr>
            <p:cNvPr id="3" name="Text Box 3"/>
            <p:cNvSpPr txBox="1">
              <a:spLocks noChangeArrowheads="1"/>
            </p:cNvSpPr>
            <p:nvPr/>
          </p:nvSpPr>
          <p:spPr bwMode="auto">
            <a:xfrm>
              <a:off x="198" y="951"/>
              <a:ext cx="55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例</a:t>
              </a:r>
              <a:r>
                <a:rPr kumimoji="1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760" y="913"/>
              <a:ext cx="4294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化二次型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+ 2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–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2800" b="1" i="0" u="none" strike="noStrike" kern="0" cap="none" spc="0" normalizeH="0" baseline="30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+ 4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– 4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– 4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为标准形，并写出所作的线性变换。</a:t>
              </a:r>
            </a:p>
          </p:txBody>
        </p:sp>
      </p:grp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57862" y="3178070"/>
            <a:ext cx="3063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+ 4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1" lang="en-US" altLang="zh-CN" sz="28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88024" y="3906620"/>
            <a:ext cx="5883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+ 2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– 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+ 4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5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486424" y="4689370"/>
            <a:ext cx="720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+ 2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2(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+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– 3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57862" y="5338658"/>
            <a:ext cx="561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+ 2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2(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3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33899" y="2601808"/>
            <a:ext cx="1101725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582049" y="2673245"/>
            <a:ext cx="288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+ 2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– 4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341962" y="2643083"/>
            <a:ext cx="3367087" cy="549275"/>
            <a:chOff x="789" y="1762"/>
            <a:chExt cx="2121" cy="346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4" y="1762"/>
              <a:ext cx="17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+ 4</a:t>
              </a:r>
              <a:r>
                <a:rPr kumimoji="1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1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r>
                <a:rPr kumimoji="1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 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89" y="1781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</a:t>
              </a:r>
            </a:p>
          </p:txBody>
        </p:sp>
      </p:grp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8122504" y="3234967"/>
            <a:ext cx="29065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– 4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367737" y="3169879"/>
            <a:ext cx="40370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4(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800" b="1" i="0" u="none" strike="noStrike" kern="0" cap="none" spc="0" normalizeH="0" baseline="3000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0" y="223226"/>
            <a:ext cx="6497637" cy="5778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94000">
                <a:srgbClr val="00CC99">
                  <a:lumMod val="20000"/>
                  <a:lumOff val="80000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35921" dir="2700000" algn="ctr" rotWithShape="0">
              <a:srgbClr val="000000"/>
            </a:outerShdw>
          </a:effec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用配方法化二次型为标准形</a:t>
            </a:r>
          </a:p>
        </p:txBody>
      </p:sp>
      <p:sp>
        <p:nvSpPr>
          <p:cNvPr id="17" name="Line 26"/>
          <p:cNvSpPr>
            <a:spLocks noChangeShapeType="1"/>
          </p:cNvSpPr>
          <p:nvPr/>
        </p:nvSpPr>
        <p:spPr bwMode="auto">
          <a:xfrm>
            <a:off x="1986487" y="3703089"/>
            <a:ext cx="4251746" cy="9967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sz="4000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26"/>
          <p:cNvSpPr>
            <a:spLocks noChangeShapeType="1"/>
          </p:cNvSpPr>
          <p:nvPr/>
        </p:nvSpPr>
        <p:spPr bwMode="auto">
          <a:xfrm flipV="1">
            <a:off x="4529661" y="4467621"/>
            <a:ext cx="3019820" cy="46396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Line 26"/>
          <p:cNvSpPr>
            <a:spLocks noChangeShapeType="1"/>
          </p:cNvSpPr>
          <p:nvPr/>
        </p:nvSpPr>
        <p:spPr bwMode="auto">
          <a:xfrm>
            <a:off x="4963891" y="5208483"/>
            <a:ext cx="242647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 type="none" w="sm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885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build="p" autoUpdateAnimBg="0"/>
      <p:bldP spid="8" grpId="0" build="p" autoUpdateAnimBg="0"/>
      <p:bldP spid="9" grpId="0" build="p" autoUpdateAnimBg="0"/>
      <p:bldP spid="10" grpId="0" build="p" autoUpdateAnimBg="0"/>
      <p:bldP spid="14" grpId="0" build="p" autoUpdateAnimBg="0"/>
      <p:bldP spid="15" grpId="0" build="p" autoUpdateAnimBg="0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42445" y="911542"/>
            <a:ext cx="4019550" cy="1890712"/>
            <a:chOff x="232" y="339"/>
            <a:chExt cx="2532" cy="1191"/>
          </a:xfrm>
        </p:grpSpPr>
        <p:sp>
          <p:nvSpPr>
            <p:cNvPr id="3" name="Text Box 3"/>
            <p:cNvSpPr txBox="1">
              <a:spLocks noChangeArrowheads="1"/>
            </p:cNvSpPr>
            <p:nvPr/>
          </p:nvSpPr>
          <p:spPr bwMode="auto">
            <a:xfrm>
              <a:off x="232" y="781"/>
              <a:ext cx="5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令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</a:p>
          </p:txBody>
        </p:sp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985" y="339"/>
              <a:ext cx="17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+ 2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– 2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985" y="771"/>
              <a:ext cx="11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–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985" y="1203"/>
              <a:ext cx="7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 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AutoShape 7"/>
            <p:cNvSpPr>
              <a:spLocks/>
            </p:cNvSpPr>
            <p:nvPr/>
          </p:nvSpPr>
          <p:spPr bwMode="auto">
            <a:xfrm>
              <a:off x="798" y="516"/>
              <a:ext cx="105" cy="953"/>
            </a:xfrm>
            <a:prstGeom prst="leftBrace">
              <a:avLst>
                <a:gd name="adj1" fmla="val 75635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2731320" y="2994183"/>
            <a:ext cx="6196013" cy="568326"/>
            <a:chOff x="468" y="1634"/>
            <a:chExt cx="3903" cy="358"/>
          </a:xfrm>
          <a:solidFill>
            <a:srgbClr val="FFFFFF"/>
          </a:solidFill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468" y="1634"/>
              <a:ext cx="566" cy="32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则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597" y="1662"/>
              <a:ext cx="2774" cy="33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f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– 2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– 3</a:t>
              </a:r>
              <a:r>
                <a:rPr kumimoji="1" lang="en-US" altLang="zh-CN" sz="2800" b="1" i="1" u="none" strike="noStrike" kern="0" cap="none" spc="0" normalizeH="0" baseline="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1" lang="en-US" altLang="zh-CN" sz="2800" b="0" i="0" u="none" strike="noStrike" kern="0" cap="none" spc="0" normalizeH="0" baseline="30000" noProof="0" dirty="0" smtClean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zh-CN" altLang="zh-CN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为标准</a:t>
              </a:r>
              <a:r>
                <a:rPr kumimoji="1" lang="zh-CN" altLang="en-US" sz="2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形</a:t>
              </a: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550345" y="3546629"/>
            <a:ext cx="1260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其中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6020694" y="5663779"/>
            <a:ext cx="4284662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是非退化的线性变换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07195" y="382110"/>
            <a:ext cx="4165600" cy="400050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  <a:miter lim="800000"/>
            <a:headEnd type="none" w="sm" len="lg"/>
            <a:tailEnd type="none" w="lg" len="lg"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=(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+ 2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2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000" b="1" i="0" u="none" strike="noStrike" kern="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2(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000" b="1" i="0" u="none" strike="noStrike" kern="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– 3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000" b="1" i="0" u="none" strike="noStrike" kern="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6668320" y="955829"/>
            <a:ext cx="4210050" cy="1533525"/>
            <a:chOff x="2775" y="547"/>
            <a:chExt cx="2653" cy="966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775" y="867"/>
              <a:ext cx="5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即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3282" y="547"/>
            <a:ext cx="636" cy="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8" name="公式" r:id="rId5" imgW="495348" imgH="819122" progId="Equation.3">
                    <p:embed/>
                  </p:oleObj>
                </mc:Choice>
                <mc:Fallback>
                  <p:oleObj name="公式" r:id="rId5" imgW="495348" imgH="8191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2" y="547"/>
                          <a:ext cx="636" cy="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910" y="551"/>
            <a:ext cx="1097" cy="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9" name="公式" r:id="rId7" imgW="952356" imgH="819122" progId="Equation.3">
                    <p:embed/>
                  </p:oleObj>
                </mc:Choice>
                <mc:Fallback>
                  <p:oleObj name="公式" r:id="rId7" imgW="952356" imgH="8191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0" y="551"/>
                          <a:ext cx="1097" cy="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4966" y="550"/>
            <a:ext cx="462" cy="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0" name="公式" r:id="rId9" imgW="323970" imgH="819122" progId="Equation.3">
                    <p:embed/>
                  </p:oleObj>
                </mc:Choice>
                <mc:Fallback>
                  <p:oleObj name="公式" r:id="rId9" imgW="323970" imgH="8191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6" y="550"/>
                          <a:ext cx="462" cy="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9"/>
          <p:cNvGrpSpPr>
            <a:grpSpLocks/>
          </p:cNvGrpSpPr>
          <p:nvPr/>
        </p:nvGrpSpPr>
        <p:grpSpPr bwMode="auto">
          <a:xfrm>
            <a:off x="2731886" y="3681726"/>
            <a:ext cx="6045199" cy="1603375"/>
            <a:chOff x="-79" y="2145"/>
            <a:chExt cx="3808" cy="1010"/>
          </a:xfrm>
        </p:grpSpPr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-79" y="2491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线性变换为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3214" y="2193"/>
            <a:ext cx="515" cy="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1" name="公式" r:id="rId11" imgW="381096" imgH="819122" progId="Equation.3">
                    <p:embed/>
                  </p:oleObj>
                </mc:Choice>
                <mc:Fallback>
                  <p:oleObj name="公式" r:id="rId11" imgW="381096" imgH="8191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4" y="2193"/>
                          <a:ext cx="515" cy="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2071" y="2145"/>
            <a:ext cx="1237" cy="9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2" name="公式" r:id="rId13" imgW="1085778" imgH="847910" progId="Equation.3">
                    <p:embed/>
                  </p:oleObj>
                </mc:Choice>
                <mc:Fallback>
                  <p:oleObj name="公式" r:id="rId13" imgW="1085778" imgH="84791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" y="2145"/>
                          <a:ext cx="1237" cy="9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1464" y="2152"/>
            <a:ext cx="619" cy="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3" name="Equation" r:id="rId15" imgW="476178" imgH="819122" progId="Equation.DSMT4">
                    <p:embed/>
                  </p:oleObj>
                </mc:Choice>
                <mc:Fallback>
                  <p:oleObj name="Equation" r:id="rId15" imgW="476178" imgH="81912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4" y="2152"/>
                          <a:ext cx="619" cy="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4"/>
          <p:cNvGrpSpPr>
            <a:grpSpLocks/>
          </p:cNvGrpSpPr>
          <p:nvPr/>
        </p:nvGrpSpPr>
        <p:grpSpPr bwMode="auto">
          <a:xfrm>
            <a:off x="2709253" y="5121275"/>
            <a:ext cx="2976562" cy="1736725"/>
            <a:chOff x="214" y="3117"/>
            <a:chExt cx="1875" cy="1095"/>
          </a:xfrm>
        </p:grpSpPr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805" y="3117"/>
              <a:ext cx="12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– 2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2800" b="0" i="0" u="none" strike="noStrike" kern="0" cap="none" spc="0" normalizeH="0" baseline="-25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805" y="3501"/>
              <a:ext cx="113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+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805" y="3885"/>
              <a:ext cx="7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AutoShape 28"/>
            <p:cNvSpPr>
              <a:spLocks/>
            </p:cNvSpPr>
            <p:nvPr/>
          </p:nvSpPr>
          <p:spPr bwMode="auto">
            <a:xfrm>
              <a:off x="654" y="3245"/>
              <a:ext cx="93" cy="870"/>
            </a:xfrm>
            <a:prstGeom prst="leftBrace">
              <a:avLst>
                <a:gd name="adj1" fmla="val 77957"/>
                <a:gd name="adj2" fmla="val 50000"/>
              </a:avLst>
            </a:prstGeom>
            <a:noFill/>
            <a:ln w="9525">
              <a:solidFill>
                <a:srgbClr val="FF3300"/>
              </a:solidFill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214" y="3552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即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73102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2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10663" y="1275461"/>
            <a:ext cx="11315280" cy="1274763"/>
            <a:chOff x="222" y="387"/>
            <a:chExt cx="5203" cy="803"/>
          </a:xfrm>
        </p:grpSpPr>
        <p:sp>
          <p:nvSpPr>
            <p:cNvPr id="3" name="Text Box 3"/>
            <p:cNvSpPr txBox="1">
              <a:spLocks noChangeArrowheads="1"/>
            </p:cNvSpPr>
            <p:nvPr/>
          </p:nvSpPr>
          <p:spPr bwMode="auto">
            <a:xfrm>
              <a:off x="222" y="459"/>
              <a:ext cx="55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例</a:t>
              </a:r>
              <a:r>
                <a:rPr kumimoji="1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770" y="387"/>
              <a:ext cx="4655" cy="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化二次型 </a:t>
              </a:r>
              <a:r>
                <a:rPr kumimoji="1" lang="en-US" altLang="zh-CN" sz="36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2</a:t>
              </a:r>
              <a:r>
                <a:rPr kumimoji="1" lang="en-US" altLang="zh-CN" sz="36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36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36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36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+ 2</a:t>
              </a:r>
              <a:r>
                <a:rPr kumimoji="1" lang="en-US" altLang="zh-CN" sz="36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36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36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36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– 6</a:t>
              </a:r>
              <a:r>
                <a:rPr kumimoji="1" lang="en-US" altLang="zh-CN" sz="36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36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36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36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为标准形，并写出所作的线性变换。</a:t>
              </a:r>
            </a:p>
          </p:txBody>
        </p:sp>
      </p:grp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496138" y="2723262"/>
            <a:ext cx="10461118" cy="1117600"/>
            <a:chOff x="297" y="1356"/>
            <a:chExt cx="5146" cy="704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297" y="1377"/>
              <a:ext cx="694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00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解</a:t>
              </a:r>
              <a:r>
                <a:rPr kumimoji="1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873" y="1356"/>
              <a:ext cx="4570" cy="70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>
              <a:outerShdw dist="35921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由于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中不含平方项，故先通过线性变换来构造平方项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2606292" y="4229672"/>
            <a:ext cx="3008313" cy="1890712"/>
            <a:chOff x="326" y="2365"/>
            <a:chExt cx="1895" cy="1191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26" y="2806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令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993" y="2365"/>
              <a:ext cx="11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+ 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2800" b="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993" y="2797"/>
              <a:ext cx="1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–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,</a:t>
              </a:r>
              <a:endPara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993" y="3229"/>
              <a:ext cx="7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1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AutoShape 13"/>
            <p:cNvSpPr>
              <a:spLocks/>
            </p:cNvSpPr>
            <p:nvPr/>
          </p:nvSpPr>
          <p:spPr bwMode="auto">
            <a:xfrm>
              <a:off x="806" y="2542"/>
              <a:ext cx="105" cy="953"/>
            </a:xfrm>
            <a:prstGeom prst="leftBrace">
              <a:avLst>
                <a:gd name="adj1" fmla="val 7563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562479" y="4426213"/>
            <a:ext cx="4251325" cy="1690687"/>
            <a:chOff x="2219" y="2497"/>
            <a:chExt cx="2678" cy="1065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219" y="2826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即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</a:p>
          </p:txBody>
        </p:sp>
        <p:graphicFrame>
          <p:nvGraphicFramePr>
            <p:cNvPr id="16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3722861"/>
                </p:ext>
              </p:extLst>
            </p:nvPr>
          </p:nvGraphicFramePr>
          <p:xfrm>
            <a:off x="2685" y="2497"/>
            <a:ext cx="644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7" name="公式" r:id="rId4" imgW="457200" imgH="711200" progId="Equation.3">
                    <p:embed/>
                  </p:oleObj>
                </mc:Choice>
                <mc:Fallback>
                  <p:oleObj name="公式" r:id="rId4" imgW="457200" imgH="71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5" y="2497"/>
                          <a:ext cx="644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298" y="2497"/>
            <a:ext cx="1109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8" name="公式" r:id="rId6" imgW="923985" imgH="819122" progId="Equation.3">
                    <p:embed/>
                  </p:oleObj>
                </mc:Choice>
                <mc:Fallback>
                  <p:oleObj name="公式" r:id="rId6" imgW="923985" imgH="8191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" y="2497"/>
                          <a:ext cx="1109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4416" y="2506"/>
            <a:ext cx="481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9" name="公式" r:id="rId8" imgW="342751" imgH="710891" progId="Equation.3">
                    <p:embed/>
                  </p:oleObj>
                </mc:Choice>
                <mc:Fallback>
                  <p:oleObj name="公式" r:id="rId8" imgW="342751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506"/>
                          <a:ext cx="481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7688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61863" y="858088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则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482588" y="858088"/>
            <a:ext cx="7419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f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= 2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6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+ 6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769925" y="1507376"/>
            <a:ext cx="470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= 2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4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2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+ 8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769925" y="2082051"/>
            <a:ext cx="693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= 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(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– 2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2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+ 8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698488" y="2658313"/>
            <a:ext cx="6975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= 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(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(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4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+ 4y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+ 6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698488" y="3163138"/>
            <a:ext cx="5797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= 2 (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2 (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2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+ 6 y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1834888" y="3739401"/>
            <a:ext cx="3146425" cy="1890712"/>
            <a:chOff x="254" y="2521"/>
            <a:chExt cx="1982" cy="1191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54" y="2962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令：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921" y="2521"/>
              <a:ext cx="11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z</a:t>
              </a:r>
              <a:r>
                <a:rPr kumimoji="1" lang="en-US" altLang="zh-CN" sz="2800" b="0" i="0" u="none" strike="noStrike" kern="0" cap="none" spc="0" normalizeH="0" baseline="-2500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– </a:t>
              </a: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endParaRPr kumimoji="1" lang="en-US" altLang="zh-CN" sz="2800" b="0" i="0" u="none" strike="noStrike" kern="0" cap="none" spc="0" normalizeH="0" baseline="-2500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921" y="2953"/>
              <a:ext cx="13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z</a:t>
              </a:r>
              <a:r>
                <a:rPr kumimoji="1" lang="en-US" altLang="zh-CN" sz="2800" b="0" i="0" u="none" strike="noStrike" kern="0" cap="none" spc="0" normalizeH="0" baseline="-2500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– 2</a:t>
              </a: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921" y="3385"/>
              <a:ext cx="6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z</a:t>
              </a:r>
              <a:r>
                <a:rPr kumimoji="1" lang="en-US" altLang="zh-CN" sz="2800" b="0" i="0" u="none" strike="noStrike" kern="0" cap="none" spc="0" normalizeH="0" baseline="-2500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1" lang="en-US" altLang="zh-CN" sz="2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= </a:t>
              </a:r>
              <a:r>
                <a:rPr kumimoji="1" lang="en-US" altLang="zh-CN" sz="2800" b="1" i="1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y</a:t>
              </a:r>
              <a:r>
                <a:rPr kumimoji="1" lang="en-US" altLang="zh-CN" sz="2800" b="0" i="0" u="none" strike="noStrike" kern="0" cap="none" spc="0" normalizeH="0" baseline="-2500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endParaRPr kumimoji="1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" name="AutoShape 13"/>
            <p:cNvSpPr>
              <a:spLocks/>
            </p:cNvSpPr>
            <p:nvPr/>
          </p:nvSpPr>
          <p:spPr bwMode="auto">
            <a:xfrm>
              <a:off x="734" y="2698"/>
              <a:ext cx="105" cy="953"/>
            </a:xfrm>
            <a:prstGeom prst="leftBrace">
              <a:avLst>
                <a:gd name="adj1" fmla="val 75635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  <a:headEnd type="none" w="sm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074975" y="4098176"/>
            <a:ext cx="4383088" cy="1716087"/>
            <a:chOff x="2348" y="2692"/>
            <a:chExt cx="2761" cy="1081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348" y="2988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即：</a:t>
              </a:r>
            </a:p>
          </p:txBody>
        </p:sp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2852" y="2692"/>
            <a:ext cx="644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8" name="公式" r:id="rId4" imgW="457200" imgH="711200" progId="Equation.3">
                    <p:embed/>
                  </p:oleObj>
                </mc:Choice>
                <mc:Fallback>
                  <p:oleObj name="公式" r:id="rId4" imgW="457200" imgH="71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2" y="2692"/>
                          <a:ext cx="644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517" y="2708"/>
            <a:ext cx="1143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9" name="公式" r:id="rId6" imgW="952356" imgH="819122" progId="Equation.3">
                    <p:embed/>
                  </p:oleObj>
                </mc:Choice>
                <mc:Fallback>
                  <p:oleObj name="公式" r:id="rId6" imgW="952356" imgH="8191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7" y="2708"/>
                          <a:ext cx="1143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4628" y="2717"/>
            <a:ext cx="481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0" name="公式" r:id="rId8" imgW="342751" imgH="710891" progId="Equation.3">
                    <p:embed/>
                  </p:oleObj>
                </mc:Choice>
                <mc:Fallback>
                  <p:oleObj name="公式" r:id="rId8" imgW="342751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8" y="2717"/>
                          <a:ext cx="481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1906325" y="5826963"/>
            <a:ext cx="7466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则二次型化为标准型   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f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 = 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z 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– 2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z 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+ 6 </a:t>
            </a:r>
            <a:r>
              <a:rPr kumimoji="1" lang="en-US" altLang="zh-CN" sz="2800" b="1" i="1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z </a:t>
            </a:r>
            <a:r>
              <a:rPr kumimoji="1" lang="en-US" altLang="zh-CN" sz="2800" b="1" i="0" u="none" strike="noStrike" kern="0" cap="none" spc="0" normalizeH="0" baseline="-25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3000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2   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829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/>
      <p:bldP spid="5" grpId="0" build="p" autoUpdateAnimBg="0"/>
      <p:bldP spid="6" grpId="0" build="p" autoUpdateAnimBg="0"/>
      <p:bldP spid="7" grpId="0" build="p" autoUpdateAnimBg="0"/>
      <p:bldP spid="1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510532" y="1154269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其中：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962467"/>
              </p:ext>
            </p:extLst>
          </p:nvPr>
        </p:nvGraphicFramePr>
        <p:xfrm>
          <a:off x="2513832" y="997107"/>
          <a:ext cx="10223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7" name="公式" r:id="rId4" imgW="457200" imgH="711200" progId="Equation.3">
                  <p:embed/>
                </p:oleObj>
              </mc:Choice>
              <mc:Fallback>
                <p:oleObj name="公式" r:id="rId4" imgW="4572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832" y="997107"/>
                        <a:ext cx="102235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3586983" y="1011395"/>
            <a:ext cx="2357438" cy="1676400"/>
            <a:chOff x="1369" y="906"/>
            <a:chExt cx="1485" cy="1056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2684273"/>
                </p:ext>
              </p:extLst>
            </p:nvPr>
          </p:nvGraphicFramePr>
          <p:xfrm>
            <a:off x="1369" y="906"/>
            <a:ext cx="1063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8" name="公式" r:id="rId6" imgW="923985" imgH="819122" progId="Equation.3">
                    <p:embed/>
                  </p:oleObj>
                </mc:Choice>
                <mc:Fallback>
                  <p:oleObj name="公式" r:id="rId6" imgW="923985" imgH="8191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9" y="906"/>
                          <a:ext cx="1063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2373" y="906"/>
            <a:ext cx="481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89" name="公式" r:id="rId8" imgW="342751" imgH="710891" progId="Equation.3">
                    <p:embed/>
                  </p:oleObj>
                </mc:Choice>
                <mc:Fallback>
                  <p:oleObj name="公式" r:id="rId8" imgW="342751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3" y="906"/>
                          <a:ext cx="481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5826945" y="909794"/>
            <a:ext cx="4471987" cy="1755775"/>
            <a:chOff x="2839" y="845"/>
            <a:chExt cx="2817" cy="1106"/>
          </a:xfrm>
        </p:grpSpPr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2839" y="886"/>
            <a:ext cx="1234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0" name="公式" r:id="rId10" imgW="1085778" imgH="819122" progId="Equation.3">
                    <p:embed/>
                  </p:oleObj>
                </mc:Choice>
                <mc:Fallback>
                  <p:oleObj name="公式" r:id="rId10" imgW="1085778" imgH="81912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9" y="886"/>
                          <a:ext cx="1234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4016" y="845"/>
            <a:ext cx="1234" cy="10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1" name="公式" r:id="rId12" imgW="1085778" imgH="847910" progId="Equation.3">
                    <p:embed/>
                  </p:oleObj>
                </mc:Choice>
                <mc:Fallback>
                  <p:oleObj name="公式" r:id="rId12" imgW="1085778" imgH="84791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" y="845"/>
                          <a:ext cx="1234" cy="10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/>
            <p:cNvGraphicFramePr>
              <a:graphicFrameLocks noChangeAspect="1"/>
            </p:cNvGraphicFramePr>
            <p:nvPr/>
          </p:nvGraphicFramePr>
          <p:xfrm>
            <a:off x="5191" y="895"/>
            <a:ext cx="465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2" name="公式" r:id="rId14" imgW="330057" imgH="710891" progId="Equation.3">
                    <p:embed/>
                  </p:oleObj>
                </mc:Choice>
                <mc:Fallback>
                  <p:oleObj name="公式" r:id="rId14" imgW="330057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1" y="895"/>
                          <a:ext cx="465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3305995" y="2509994"/>
            <a:ext cx="2889250" cy="1755775"/>
            <a:chOff x="1219" y="1920"/>
            <a:chExt cx="1820" cy="1106"/>
          </a:xfrm>
        </p:grpSpPr>
        <p:graphicFrame>
          <p:nvGraphicFramePr>
            <p:cNvPr id="1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9452373"/>
                </p:ext>
              </p:extLst>
            </p:nvPr>
          </p:nvGraphicFramePr>
          <p:xfrm>
            <a:off x="1219" y="1970"/>
            <a:ext cx="1352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3" name="Equation" r:id="rId16" imgW="1200030" imgH="819122" progId="Equation.DSMT4">
                    <p:embed/>
                  </p:oleObj>
                </mc:Choice>
                <mc:Fallback>
                  <p:oleObj name="Equation" r:id="rId16" imgW="1200030" imgH="81912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1970"/>
                          <a:ext cx="1352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/>
          </p:nvGraphicFramePr>
          <p:xfrm>
            <a:off x="2575" y="1920"/>
            <a:ext cx="464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4" name="公式" r:id="rId18" imgW="330057" imgH="710891" progId="Equation.3">
                    <p:embed/>
                  </p:oleObj>
                </mc:Choice>
                <mc:Fallback>
                  <p:oleObj name="公式" r:id="rId18" imgW="330057" imgH="7108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5" y="1920"/>
                          <a:ext cx="464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1901057" y="4362606"/>
            <a:ext cx="3551238" cy="1281113"/>
            <a:chOff x="353" y="3312"/>
            <a:chExt cx="2237" cy="807"/>
          </a:xfrm>
        </p:grpSpPr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353" y="3514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 type="none" w="sm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因为</a:t>
              </a:r>
              <a:r>
                <a:rPr kumimoji="1" lang="zh-CN" altLang="en-US" sz="28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：</a:t>
              </a:r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0432976"/>
                </p:ext>
              </p:extLst>
            </p:nvPr>
          </p:nvGraphicFramePr>
          <p:xfrm>
            <a:off x="1060" y="3312"/>
            <a:ext cx="1530" cy="8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5" name="Equation" r:id="rId20" imgW="1130040" imgH="596880" progId="Equation.DSMT4">
                    <p:embed/>
                  </p:oleObj>
                </mc:Choice>
                <mc:Fallback>
                  <p:oleObj name="Equation" r:id="rId20" imgW="1130040" imgH="596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0" y="3312"/>
                          <a:ext cx="1530" cy="8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5795701" y="4683281"/>
            <a:ext cx="558798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所以所作的线性变换是非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退化的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347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07834" y="174799"/>
            <a:ext cx="1457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021407" y="958570"/>
            <a:ext cx="9097283" cy="781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任意一个二次型都可以用配方法化成标准形。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83771" y="2054107"/>
            <a:ext cx="11063235" cy="197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 type="none" w="sm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325563" indent="-1325563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325563" marR="0" lvl="0" indent="-1325563" algn="just" defTabSz="914400" eaLnBrk="1" fontAlgn="base" latinLnBrk="0" hangingPunct="1">
              <a:lnSpc>
                <a:spcPct val="1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9E4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注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9E4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9E4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化二次型为标准形时，所用的非退化的线性变换不同，标准形的系数不一定相同，因此，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二次型的标准形不是唯一的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040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683568" y="-165781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rgbClr val="003300"/>
                </a:solidFill>
                <a:latin typeface="Times New Roman"/>
                <a:ea typeface="宋体"/>
              </a:rPr>
              <a:t>5.3 </a:t>
            </a:r>
            <a:r>
              <a:rPr lang="zh-CN" altLang="en-US" dirty="0" smtClean="0">
                <a:solidFill>
                  <a:srgbClr val="003300"/>
                </a:solidFill>
                <a:latin typeface="Times New Roman"/>
                <a:ea typeface="宋体"/>
              </a:rPr>
              <a:t>欧氏空间</a:t>
            </a:r>
            <a:r>
              <a:rPr lang="zh-CN" altLang="en-US" dirty="0" smtClean="0">
                <a:solidFill>
                  <a:srgbClr val="003300"/>
                </a:solidFill>
                <a:latin typeface="Tahoma"/>
                <a:ea typeface="宋体"/>
              </a:rPr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386" y="174237"/>
            <a:ext cx="2755971" cy="3216274"/>
          </a:xfrm>
          <a:prstGeom prst="rect">
            <a:avLst/>
          </a:prstGeom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82320" y="3380504"/>
            <a:ext cx="11266923" cy="339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000000"/>
              </a:buClr>
              <a:defRPr/>
            </a:pPr>
            <a:r>
              <a:rPr kumimoji="1" lang="zh-CN" altLang="en-US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借助于</a:t>
            </a:r>
            <a:r>
              <a:rPr kumimoji="1" lang="zh-CN" altLang="en-US" b="1" dirty="0" smtClean="0">
                <a:solidFill>
                  <a:srgbClr val="FF0000"/>
                </a:solidFill>
                <a:effectLst/>
                <a:latin typeface="Times New Roman"/>
                <a:ea typeface="宋体"/>
              </a:rPr>
              <a:t>正交变换</a:t>
            </a:r>
            <a:r>
              <a:rPr kumimoji="1" lang="zh-CN" altLang="en-US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讨论二次型的标准形，需要在</a:t>
            </a:r>
            <a:r>
              <a:rPr kumimoji="1" lang="zh-CN" altLang="en-US" b="1" dirty="0">
                <a:solidFill>
                  <a:srgbClr val="FF0000"/>
                </a:solidFill>
                <a:effectLst/>
                <a:latin typeface="Times New Roman"/>
                <a:ea typeface="宋体"/>
              </a:rPr>
              <a:t>欧氏空间</a:t>
            </a:r>
            <a:r>
              <a:rPr kumimoji="1" lang="zh-CN" altLang="en-US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进行</a:t>
            </a:r>
            <a:r>
              <a:rPr kumimoji="1" lang="en-US" altLang="zh-CN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. </a:t>
            </a:r>
          </a:p>
          <a:p>
            <a:pPr eaLnBrk="1" hangingPunct="1">
              <a:buClr>
                <a:srgbClr val="000000"/>
              </a:buClr>
              <a:defRPr/>
            </a:pPr>
            <a:endParaRPr kumimoji="1" lang="en-US" altLang="zh-CN" b="1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 eaLnBrk="1" hangingPunct="1">
              <a:buClr>
                <a:srgbClr val="000000"/>
              </a:buClr>
              <a:defRPr/>
            </a:pPr>
            <a:r>
              <a:rPr kumimoji="1" lang="zh-CN" altLang="en-US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定义了</a:t>
            </a:r>
            <a:r>
              <a:rPr kumimoji="1" lang="zh-CN" altLang="en-US" b="1" dirty="0" smtClean="0">
                <a:solidFill>
                  <a:srgbClr val="FF0000"/>
                </a:solidFill>
                <a:effectLst/>
                <a:latin typeface="Times New Roman"/>
                <a:ea typeface="宋体"/>
              </a:rPr>
              <a:t>实向量内积</a:t>
            </a:r>
            <a:r>
              <a:rPr kumimoji="1" lang="zh-CN" altLang="en-US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进而有</a:t>
            </a:r>
            <a:r>
              <a:rPr kumimoji="1" lang="zh-CN" altLang="en-US" b="1" dirty="0" smtClean="0">
                <a:solidFill>
                  <a:srgbClr val="FF0000"/>
                </a:solidFill>
                <a:effectLst/>
                <a:latin typeface="Times New Roman"/>
                <a:ea typeface="宋体"/>
              </a:rPr>
              <a:t>向量长度</a:t>
            </a:r>
            <a:r>
              <a:rPr kumimoji="1" lang="zh-CN" altLang="en-US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以及两</a:t>
            </a:r>
            <a:r>
              <a:rPr kumimoji="1" lang="zh-CN" altLang="en-US" b="1" dirty="0" smtClean="0">
                <a:solidFill>
                  <a:srgbClr val="FF0000"/>
                </a:solidFill>
                <a:effectLst/>
                <a:latin typeface="Times New Roman"/>
                <a:ea typeface="宋体"/>
              </a:rPr>
              <a:t>向量夹角</a:t>
            </a:r>
            <a:r>
              <a:rPr kumimoji="1" lang="zh-CN" altLang="en-US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概念的向量空间就是欧氏空间</a:t>
            </a:r>
            <a:r>
              <a:rPr kumimoji="1" lang="en-US" altLang="zh-CN" b="1" dirty="0" smtClean="0">
                <a:solidFill>
                  <a:srgbClr val="000000"/>
                </a:solidFill>
                <a:effectLst/>
                <a:latin typeface="Times New Roman"/>
                <a:ea typeface="宋体"/>
              </a:rPr>
              <a:t>.</a:t>
            </a:r>
          </a:p>
          <a:p>
            <a:pPr marL="0" indent="0" eaLnBrk="1" hangingPunct="1">
              <a:buClr>
                <a:srgbClr val="000000"/>
              </a:buClr>
              <a:buNone/>
              <a:defRPr/>
            </a:pPr>
            <a:endParaRPr kumimoji="1" lang="en-US" altLang="zh-CN" b="1" dirty="0" smtClean="0">
              <a:solidFill>
                <a:srgbClr val="000000"/>
              </a:solidFill>
              <a:effectLst/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37154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688123" y="0"/>
            <a:ext cx="910907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5.3.1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向量的内积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在空间解析几何中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给定两个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32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中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维向量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在讨论力所做的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华文行楷" panose="02010800040101010101" pitchFamily="2" charset="-122"/>
              </a:rPr>
              <a:t>功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时用到内积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: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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= |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|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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|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|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</a:t>
            </a:r>
            <a:r>
              <a:rPr kumimoji="0" lang="en-US" altLang="zh-C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cos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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将其推广到</a:t>
            </a:r>
            <a:r>
              <a:rPr kumimoji="0" lang="en-US" altLang="zh-CN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9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3200" b="0" i="1" u="none" strike="noStrike" kern="1200" cap="none" spc="0" normalizeH="0" baseline="30000" noProof="0" dirty="0" err="1" smtClean="0">
                <a:ln>
                  <a:noFill/>
                </a:ln>
                <a:solidFill>
                  <a:srgbClr val="99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n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中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有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665915"/>
              </p:ext>
            </p:extLst>
          </p:nvPr>
        </p:nvGraphicFramePr>
        <p:xfrm>
          <a:off x="4099536" y="1125538"/>
          <a:ext cx="3552825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Equation" r:id="rId4" imgW="1428918" imgH="819122" progId="Equation.DSMT4">
                  <p:embed/>
                </p:oleObj>
              </mc:Choice>
              <mc:Fallback>
                <p:oleObj name="Equation" r:id="rId4" imgW="1428918" imgH="81912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536" y="1125538"/>
                        <a:ext cx="3552825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28495"/>
              </p:ext>
            </p:extLst>
          </p:nvPr>
        </p:nvGraphicFramePr>
        <p:xfrm>
          <a:off x="3804261" y="3225800"/>
          <a:ext cx="4554537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Equation" r:id="rId6" imgW="1866756" imgH="171578" progId="Equation.DSMT4">
                  <p:embed/>
                </p:oleObj>
              </mc:Choice>
              <mc:Fallback>
                <p:oleObj name="Equation" r:id="rId6" imgW="1866756" imgH="171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4261" y="3225800"/>
                        <a:ext cx="4554537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381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Def 5.3 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给定两个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n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维实向量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称为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3200" b="1" i="0" u="none" strike="noStrike" kern="120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1 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y</a:t>
            </a:r>
            <a:r>
              <a:rPr kumimoji="1" lang="en-US" altLang="zh-CN" sz="3200" b="1" i="0" u="none" strike="noStrike" kern="120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1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+ 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2</a:t>
            </a:r>
            <a:r>
              <a:rPr kumimoji="1" lang="en-US" altLang="zh-CN" sz="3200" b="1" i="0" u="none" strike="noStrike" kern="120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y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2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+…+ </a:t>
            </a:r>
            <a:r>
              <a:rPr kumimoji="1" lang="en-US" altLang="zh-CN" sz="32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x</a:t>
            </a:r>
            <a:r>
              <a:rPr kumimoji="1" lang="en-US" altLang="zh-CN" sz="3200" b="1" i="1" u="none" strike="noStrike" kern="1200" cap="none" spc="0" normalizeH="0" baseline="-2500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n</a:t>
            </a:r>
            <a:r>
              <a:rPr kumimoji="1" lang="en-US" altLang="zh-CN" sz="3200" b="1" i="0" u="none" strike="noStrike" kern="120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en-US" altLang="zh-CN" sz="32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y</a:t>
            </a:r>
            <a:r>
              <a:rPr kumimoji="1" lang="en-US" altLang="zh-CN" sz="3200" b="1" i="1" u="none" strike="noStrike" kern="1200" cap="none" spc="0" normalizeH="0" baseline="-2500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n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向量</a:t>
            </a:r>
            <a:r>
              <a:rPr kumimoji="1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与</a:t>
            </a:r>
            <a:r>
              <a:rPr kumimoji="1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的内积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或点积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) , 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记为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([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]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或</a:t>
            </a:r>
            <a:r>
              <a:rPr kumimoji="1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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). 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853064"/>
              </p:ext>
            </p:extLst>
          </p:nvPr>
        </p:nvGraphicFramePr>
        <p:xfrm>
          <a:off x="4081847" y="1001171"/>
          <a:ext cx="3565525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Equation" r:id="rId4" imgW="1428918" imgH="1123893" progId="Equation.DSMT4">
                  <p:embed/>
                </p:oleObj>
              </mc:Choice>
              <mc:Fallback>
                <p:oleObj name="Equation" r:id="rId4" imgW="1428918" imgH="112389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847" y="1001171"/>
                        <a:ext cx="3565525" cy="280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37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根据內积的定义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容易验证內积满足下列性质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其中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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是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n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维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None/>
              <a:tabLst/>
              <a:defRPr/>
            </a:pPr>
            <a:r>
              <a:rPr lang="en-US" altLang="zh-CN" dirty="0">
                <a:solidFill>
                  <a:srgbClr val="FFFFFF"/>
                </a:solidFill>
                <a:latin typeface="Times New Roman"/>
                <a:ea typeface="宋体"/>
              </a:rPr>
              <a:t> 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  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向量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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是实数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(1)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交换性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：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 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= (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(2)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数乘性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：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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 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= 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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 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(3)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可加性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：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 +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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 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= (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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 + 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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).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 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(4)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非负性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：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/>
                <a:sym typeface="Symbol" panose="05050102010706020507" pitchFamily="18" charset="2"/>
              </a:rPr>
              <a:t>≥0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/>
                <a:sym typeface="Symbol" panose="05050102010706020507" pitchFamily="18" charset="2"/>
              </a:rPr>
              <a:t>且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)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/>
                <a:sym typeface="Symbol" panose="05050102010706020507" pitchFamily="18" charset="2"/>
              </a:rPr>
              <a:t>=0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 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=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0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 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71828"/>
              </p:ext>
            </p:extLst>
          </p:nvPr>
        </p:nvGraphicFramePr>
        <p:xfrm>
          <a:off x="3203575" y="185738"/>
          <a:ext cx="5697537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2" name="Equation" r:id="rId5" imgW="2362104" imgH="171578" progId="Equation.DSMT4">
                  <p:embed/>
                </p:oleObj>
              </mc:Choice>
              <mc:Fallback>
                <p:oleObj name="Equation" r:id="rId5" imgW="2362104" imgH="171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85738"/>
                        <a:ext cx="5697537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889007"/>
              </p:ext>
            </p:extLst>
          </p:nvPr>
        </p:nvGraphicFramePr>
        <p:xfrm>
          <a:off x="4831555" y="952029"/>
          <a:ext cx="24415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" name="Equation" r:id="rId7" imgW="933570" imgH="171578" progId="Equation.DSMT4">
                  <p:embed/>
                </p:oleObj>
              </mc:Choice>
              <mc:Fallback>
                <p:oleObj name="Equation" r:id="rId7" imgW="933570" imgH="171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1555" y="952029"/>
                        <a:ext cx="244157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72484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3386" y="389996"/>
            <a:ext cx="11032025" cy="560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最前面的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3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条性质在今后计算內积的过程中常用到</a:t>
            </a:r>
            <a:r>
              <a:rPr lang="en-US" altLang="zh-CN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而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非负性是定义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向量长度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的依据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.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en-US" altLang="zh-CN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 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有很多的书将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数乘性称为齐次性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实际上</a:t>
            </a:r>
            <a:r>
              <a:rPr lang="en-US" altLang="zh-CN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它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是一条关于向量数乘与内积的性质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.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定义了向量内积</a:t>
            </a:r>
            <a:r>
              <a:rPr lang="en-US" altLang="zh-CN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zh-CN" alt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就</a:t>
            </a: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可以类似于空间解析几何去定义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向量长度以及两向量夹角</a:t>
            </a:r>
            <a:r>
              <a:rPr lang="en-US" altLang="zh-CN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.</a:t>
            </a: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39678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Def 5.4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给定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n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维向量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None/>
              <a:tabLst/>
              <a:defRPr/>
            </a:pPr>
            <a:endParaRPr lang="en-US" altLang="zh-CN" dirty="0">
              <a:solidFill>
                <a:srgbClr val="FFFFFF"/>
              </a:solidFill>
              <a:latin typeface="Times New Roman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为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向量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的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长度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(length/norm of the vector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),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记为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||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||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也可以记为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|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|. 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485072"/>
              </p:ext>
            </p:extLst>
          </p:nvPr>
        </p:nvGraphicFramePr>
        <p:xfrm>
          <a:off x="1749937" y="627062"/>
          <a:ext cx="1743075" cy="280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0" name="Equation" r:id="rId4" imgW="628770" imgH="1123893" progId="Equation.DSMT4">
                  <p:embed/>
                </p:oleObj>
              </mc:Choice>
              <mc:Fallback>
                <p:oleObj name="Equation" r:id="rId4" imgW="628770" imgH="112389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937" y="627062"/>
                        <a:ext cx="1743075" cy="280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956749"/>
              </p:ext>
            </p:extLst>
          </p:nvPr>
        </p:nvGraphicFramePr>
        <p:xfrm>
          <a:off x="5008230" y="1084044"/>
          <a:ext cx="5307013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1" name="Equation" r:id="rId6" imgW="2190726" imgH="266771" progId="Equation.DSMT4">
                  <p:embed/>
                </p:oleObj>
              </mc:Choice>
              <mc:Fallback>
                <p:oleObj name="Equation" r:id="rId6" imgW="2190726" imgH="26677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230" y="1084044"/>
                        <a:ext cx="5307013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88628" y="4021278"/>
            <a:ext cx="12192000" cy="2357568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及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3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中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           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向量的长度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在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1" u="none" strike="noStrike" kern="0" cap="none" spc="0" normalizeH="0" baseline="3000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n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中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           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为向量的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范数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范数是长度和距离概念的一种推广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19851"/>
              </p:ext>
            </p:extLst>
          </p:nvPr>
        </p:nvGraphicFramePr>
        <p:xfrm>
          <a:off x="2742055" y="4638748"/>
          <a:ext cx="127589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2" name="Equation" r:id="rId8" imgW="514518" imgH="199982" progId="Equation.DSMT4">
                  <p:embed/>
                </p:oleObj>
              </mc:Choice>
              <mc:Fallback>
                <p:oleObj name="Equation" r:id="rId8" imgW="514518" imgH="1999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055" y="4638748"/>
                        <a:ext cx="127589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632591"/>
              </p:ext>
            </p:extLst>
          </p:nvPr>
        </p:nvGraphicFramePr>
        <p:xfrm>
          <a:off x="1897993" y="5723050"/>
          <a:ext cx="127589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3" name="Equation" r:id="rId10" imgW="514518" imgH="199982" progId="Equation.DSMT4">
                  <p:embed/>
                </p:oleObj>
              </mc:Choice>
              <mc:Fallback>
                <p:oleObj name="Equation" r:id="rId10" imgW="514518" imgH="1999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993" y="5723050"/>
                        <a:ext cx="127589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20477" y="178071"/>
            <a:ext cx="7626113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61736" y="1395613"/>
            <a:ext cx="88469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FFCC"/>
              </a:buClr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长度为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的向量称为</a:t>
            </a:r>
            <a:r>
              <a:rPr lang="zh-CN" altLang="en-US" sz="28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单位向量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给定非零向量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因为向量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087292"/>
              </p:ext>
            </p:extLst>
          </p:nvPr>
        </p:nvGraphicFramePr>
        <p:xfrm>
          <a:off x="5474710" y="2233018"/>
          <a:ext cx="884187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9" name="Equation" r:id="rId5" imgW="323970" imgH="466753" progId="Equation.DSMT4">
                  <p:embed/>
                </p:oleObj>
              </mc:Choice>
              <mc:Fallback>
                <p:oleObj name="Equation" r:id="rId5" imgW="323970" imgH="4667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4710" y="2233018"/>
                        <a:ext cx="884187" cy="11191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241160" y="3666390"/>
            <a:ext cx="116125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Clr>
                <a:srgbClr val="FFFFCC"/>
              </a:buClr>
              <a:defRPr/>
            </a:pPr>
            <a:r>
              <a:rPr lang="zh-CN" altLang="en-US" sz="2800" dirty="0">
                <a:solidFill>
                  <a:srgbClr val="FFFFFF"/>
                </a:solidFill>
                <a:latin typeface="Tahoma"/>
                <a:ea typeface="宋体" panose="02010600030101010101" pitchFamily="2" charset="-122"/>
              </a:rPr>
              <a:t>的</a:t>
            </a:r>
            <a:r>
              <a:rPr lang="zh-CN" altLang="en-US" sz="2800" dirty="0">
                <a:latin typeface="Tahoma"/>
                <a:ea typeface="宋体" panose="02010600030101010101" pitchFamily="2" charset="-122"/>
              </a:rPr>
              <a:t>长度为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1, </a:t>
            </a:r>
            <a:r>
              <a:rPr lang="zh-CN" altLang="en-US" sz="2800" dirty="0">
                <a:latin typeface="Tahoma"/>
                <a:ea typeface="宋体" panose="02010600030101010101" pitchFamily="2" charset="-122"/>
              </a:rPr>
              <a:t>所以它是一个与向量方向一致的单位向量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latin typeface="Tahoma"/>
                <a:ea typeface="宋体" panose="02010600030101010101" pitchFamily="2" charset="-122"/>
              </a:rPr>
              <a:t>通过这种方式可以将向量</a:t>
            </a:r>
            <a:r>
              <a:rPr lang="zh-CN" altLang="en-US" sz="2800" b="1" dirty="0">
                <a:latin typeface="Tahoma"/>
                <a:ea typeface="华文新魏" panose="02010800040101010101" pitchFamily="2" charset="-122"/>
              </a:rPr>
              <a:t>单位化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(normalizing).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06901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0821" y="321548"/>
            <a:ext cx="11947491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/>
            </a:endParaRPr>
          </a:p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/>
            </a:endParaRPr>
          </a:p>
          <a:p>
            <a:pPr>
              <a:spcBef>
                <a:spcPct val="20000"/>
              </a:spcBef>
              <a:buClr>
                <a:srgbClr val="FFFFCC"/>
              </a:buClr>
              <a:buSzPct val="70000"/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向量的长度满足下面的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条性质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</a:t>
            </a:r>
            <a:r>
              <a:rPr lang="zh-CN" altLang="en-US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它们是公理化定义向量范数的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个条件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rgbClr val="FFFFCC"/>
              </a:buClr>
              <a:buSzPct val="70000"/>
              <a:defRPr/>
            </a:pP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(1)</a:t>
            </a:r>
            <a:r>
              <a:rPr lang="zh-CN" altLang="en-US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非负性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||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||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 ≥0</a:t>
            </a:r>
            <a:r>
              <a:rPr lang="zh-CN" altLang="en-US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||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||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 = 0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= 0. </a:t>
            </a:r>
          </a:p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b="1" dirty="0"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FFFFCC"/>
              </a:buClr>
              <a:buSzPct val="70000"/>
              <a:defRPr/>
            </a:pP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(2)</a:t>
            </a:r>
            <a:r>
              <a:rPr lang="zh-CN" altLang="en-US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数乘性： 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||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||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= |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|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 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||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||.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b="1" dirty="0"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FFFFCC"/>
              </a:buClr>
              <a:buSzPct val="70000"/>
              <a:defRPr/>
            </a:pP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(3)</a:t>
            </a:r>
            <a:r>
              <a:rPr lang="zh-CN" altLang="en-US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三角不等式： 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||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 +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||≤ ||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|| + ||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3200" b="1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||.</a:t>
            </a:r>
          </a:p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/>
            </a:endParaRPr>
          </a:p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/>
            </a:endParaRPr>
          </a:p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/>
            </a:endParaRPr>
          </a:p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/>
            </a:endParaRPr>
          </a:p>
          <a:p>
            <a:pPr marL="342900" indent="-342900">
              <a:spcBef>
                <a:spcPct val="20000"/>
              </a:spcBef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28364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1668027" y="0"/>
            <a:ext cx="9144000" cy="704373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lang="en-US" altLang="zh-CN" dirty="0" smtClean="0">
              <a:solidFill>
                <a:srgbClr val="FFFFFF"/>
              </a:solidFill>
              <a:latin typeface="Times New Roman"/>
              <a:ea typeface="宋体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对于两个非零向量</a:t>
            </a:r>
            <a:r>
              <a:rPr lang="zh-CN" altLang="en-US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和</a:t>
            </a:r>
            <a:r>
              <a:rPr lang="zh-CN" altLang="en-US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, </a:t>
            </a: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由于对于任意数</a:t>
            </a:r>
            <a:r>
              <a:rPr lang="zh-CN" altLang="en-US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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, </a:t>
            </a: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有</a:t>
            </a:r>
          </a:p>
          <a:p>
            <a:pPr>
              <a:defRPr/>
            </a:pPr>
            <a:endParaRPr lang="zh-CN" altLang="en-US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0" indent="0">
              <a:buFontTx/>
              <a:buNone/>
              <a:defRPr/>
            </a:pPr>
            <a:endParaRPr lang="en-US" altLang="zh-CN" dirty="0" smtClean="0">
              <a:solidFill>
                <a:srgbClr val="FFFFFF"/>
              </a:solidFill>
              <a:latin typeface="Times New Roman"/>
              <a:ea typeface="宋体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其关于</a:t>
            </a:r>
            <a:r>
              <a:rPr lang="zh-CN" altLang="en-US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</a:t>
            </a: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的二次代数方程的判别式应小于等于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0, </a:t>
            </a: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于是有</a:t>
            </a:r>
            <a:r>
              <a:rPr lang="en-US" altLang="zh-CN" dirty="0" smtClean="0">
                <a:solidFill>
                  <a:srgbClr val="FF0000"/>
                </a:solidFill>
                <a:latin typeface="Times New Roman"/>
                <a:ea typeface="宋体"/>
              </a:rPr>
              <a:t>Cauchy-Schwarz</a:t>
            </a:r>
            <a:r>
              <a:rPr lang="zh-CN" altLang="en-US" dirty="0" smtClean="0">
                <a:solidFill>
                  <a:srgbClr val="FF0000"/>
                </a:solidFill>
                <a:latin typeface="Times New Roman"/>
                <a:ea typeface="宋体"/>
              </a:rPr>
              <a:t>不等式</a:t>
            </a:r>
          </a:p>
          <a:p>
            <a:pPr>
              <a:defRPr/>
            </a:pPr>
            <a:endParaRPr lang="zh-CN" altLang="en-US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>
              <a:defRPr/>
            </a:pPr>
            <a:endParaRPr lang="en-US" altLang="zh-CN" dirty="0" smtClean="0">
              <a:solidFill>
                <a:srgbClr val="FFFFFF"/>
              </a:solidFill>
              <a:latin typeface="Times New Roman"/>
              <a:ea typeface="宋体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进而</a:t>
            </a:r>
            <a:endParaRPr lang="zh-CN" altLang="en-US" dirty="0">
              <a:solidFill>
                <a:srgbClr val="FFFFFF"/>
              </a:solidFill>
              <a:latin typeface="Times New Roman"/>
              <a:ea typeface="宋体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253508"/>
              </p:ext>
            </p:extLst>
          </p:nvPr>
        </p:nvGraphicFramePr>
        <p:xfrm>
          <a:off x="1918852" y="1512391"/>
          <a:ext cx="82089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1" name="Equation" r:id="rId4" imgW="3838563" imgH="171578" progId="Equation.DSMT4">
                  <p:embed/>
                </p:oleObj>
              </mc:Choice>
              <mc:Fallback>
                <p:oleObj name="Equation" r:id="rId4" imgW="3838563" imgH="171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852" y="1512391"/>
                        <a:ext cx="82089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453659"/>
              </p:ext>
            </p:extLst>
          </p:nvPr>
        </p:nvGraphicFramePr>
        <p:xfrm>
          <a:off x="4655702" y="3687266"/>
          <a:ext cx="399256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2" name="Equation" r:id="rId6" imgW="1609881" imgH="171578" progId="Equation.DSMT4">
                  <p:embed/>
                </p:oleObj>
              </mc:Choice>
              <mc:Fallback>
                <p:oleObj name="Equation" r:id="rId6" imgW="1609881" imgH="171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702" y="3687266"/>
                        <a:ext cx="3992563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335245"/>
              </p:ext>
            </p:extLst>
          </p:nvPr>
        </p:nvGraphicFramePr>
        <p:xfrm>
          <a:off x="5306577" y="4569916"/>
          <a:ext cx="2249488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Equation" r:id="rId8" imgW="847689" imgH="542754" progId="Equation.DSMT4">
                  <p:embed/>
                </p:oleObj>
              </mc:Choice>
              <mc:Fallback>
                <p:oleObj name="Equation" r:id="rId8" imgW="847689" imgH="54275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6577" y="4569916"/>
                        <a:ext cx="2249488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641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58764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42900" eaLnBrk="1" hangingPunct="1"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Def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5.5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给定两个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n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维非零向量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和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称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为向量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和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的夹角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(angle between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and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).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这与解析几何中定义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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= |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|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 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|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|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</a:t>
            </a:r>
            <a:r>
              <a:rPr kumimoji="0" lang="en-US" altLang="zh-C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cos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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时出现的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和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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的夹角一致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388292"/>
              </p:ext>
            </p:extLst>
          </p:nvPr>
        </p:nvGraphicFramePr>
        <p:xfrm>
          <a:off x="4441633" y="1228211"/>
          <a:ext cx="2752725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" name="Equation" r:id="rId4" imgW="1076193" imgH="466753" progId="Equation.DSMT4">
                  <p:embed/>
                </p:oleObj>
              </mc:Choice>
              <mc:Fallback>
                <p:oleObj name="Equation" r:id="rId4" imgW="1076193" imgH="4667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633" y="1228211"/>
                        <a:ext cx="2752725" cy="132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379012"/>
              </p:ext>
            </p:extLst>
          </p:nvPr>
        </p:nvGraphicFramePr>
        <p:xfrm>
          <a:off x="2954304" y="5107546"/>
          <a:ext cx="6011862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name="Equation" r:id="rId6" imgW="2495526" imgH="466753" progId="Equation.DSMT4">
                  <p:embed/>
                </p:oleObj>
              </mc:Choice>
              <mc:Fallback>
                <p:oleObj name="Equation" r:id="rId6" imgW="2495526" imgH="46675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04" y="5107546"/>
                        <a:ext cx="6011862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301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0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称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</a:rPr>
              <a:t>正交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(orthogonal),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这时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之间的夹角为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/2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因此正交即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垂直之意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871503"/>
              </p:ext>
            </p:extLst>
          </p:nvPr>
        </p:nvGraphicFramePr>
        <p:xfrm>
          <a:off x="4915694" y="1681163"/>
          <a:ext cx="32004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9" name="Equation" r:id="rId5" imgW="1561956" imgH="133194" progId="Equation.DSMT4">
                  <p:embed/>
                </p:oleObj>
              </mc:Choice>
              <mc:Fallback>
                <p:oleObj name="Equation" r:id="rId5" imgW="1561956" imgH="13319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5694" y="1681163"/>
                        <a:ext cx="32004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5219700" y="3644900"/>
            <a:ext cx="2592388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V="1">
            <a:off x="6443663" y="2205038"/>
            <a:ext cx="0" cy="2087562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V="1">
            <a:off x="6443663" y="2852738"/>
            <a:ext cx="504825" cy="792162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 flipV="1">
            <a:off x="5867400" y="3357563"/>
            <a:ext cx="576263" cy="287337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7010400" y="2597150"/>
          <a:ext cx="14081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0" name="公式" r:id="rId7" imgW="619185" imgH="133194" progId="Equation.3">
                  <p:embed/>
                </p:oleObj>
              </mc:Choice>
              <mc:Fallback>
                <p:oleObj name="公式" r:id="rId7" imgW="619185" imgH="13319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597150"/>
                        <a:ext cx="14081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46877"/>
              </p:ext>
            </p:extLst>
          </p:nvPr>
        </p:nvGraphicFramePr>
        <p:xfrm>
          <a:off x="4687888" y="2709863"/>
          <a:ext cx="16891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1" name="Equation" r:id="rId9" imgW="771393" imgH="171578" progId="Equation.DSMT4">
                  <p:embed/>
                </p:oleObj>
              </mc:Choice>
              <mc:Fallback>
                <p:oleObj name="Equation" r:id="rId9" imgW="771393" imgH="171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2709863"/>
                        <a:ext cx="16891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1" descr="d1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69" y="3350734"/>
            <a:ext cx="4570107" cy="344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" descr="2095cnb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512" y="3284538"/>
            <a:ext cx="4652964" cy="3489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9223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零向量与任何向量正交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0,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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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0.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特别地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对于非零向量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0,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两两正交的向量组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称为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</a:rPr>
              <a:t>正交向量组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按这种较自然的一种定义方式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正交向量组中可以含零向量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但可以证明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581610"/>
              </p:ext>
            </p:extLst>
          </p:nvPr>
        </p:nvGraphicFramePr>
        <p:xfrm>
          <a:off x="4869124" y="1062282"/>
          <a:ext cx="3451225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公式" r:id="rId4" imgW="1380993" imgH="542754" progId="Equation.3">
                  <p:embed/>
                </p:oleObj>
              </mc:Choice>
              <mc:Fallback>
                <p:oleObj name="公式" r:id="rId4" imgW="1380993" imgH="5427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9124" y="1062282"/>
                        <a:ext cx="3451225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59578" y="4702629"/>
            <a:ext cx="9019092" cy="523875"/>
          </a:xfrm>
          <a:prstGeom prst="rect">
            <a:avLst/>
          </a:prstGeom>
          <a:solidFill>
            <a:srgbClr val="33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Theorem 5.1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不含零向量的正交向量组是线性无关的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649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937" y="0"/>
            <a:ext cx="12098737" cy="523875"/>
          </a:xfrm>
          <a:prstGeom prst="rect">
            <a:avLst/>
          </a:prstGeom>
          <a:solidFill>
            <a:srgbClr val="33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Theorem 5.1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不含零向量的正交向量组是线性无关的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矩形 2"/>
          <p:cNvSpPr/>
          <p:nvPr/>
        </p:nvSpPr>
        <p:spPr>
          <a:xfrm>
            <a:off x="341955" y="523875"/>
            <a:ext cx="11575390" cy="560768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Proof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设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是正交向量组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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0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=1, 2, …,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，</a:t>
            </a:r>
            <a:r>
              <a:rPr kumimoji="0" lang="en-US" altLang="zh-CN" sz="3200" b="0" i="1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j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0,i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j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若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存在一组数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使得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lang="en-US" altLang="zh-CN" sz="3200" i="1" kern="0" dirty="0">
                <a:solidFill>
                  <a:srgbClr val="FF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</a:t>
            </a:r>
            <a:r>
              <a:rPr lang="en-US" altLang="zh-CN" sz="3200" i="1" kern="0" dirty="0"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lang="en-US" altLang="zh-CN" sz="3200" kern="0" baseline="-25000" dirty="0"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sz="3200" b="1" i="1" kern="0" dirty="0"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lang="en-US" altLang="zh-CN" sz="3200" kern="0" baseline="-25000" dirty="0"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+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…+ </a:t>
            </a:r>
            <a:r>
              <a:rPr kumimoji="0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 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0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于是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              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0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 =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0=(</a:t>
            </a:r>
            <a:r>
              <a:rPr kumimoji="0" lang="en-US" altLang="zh-CN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+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 …+ </a:t>
            </a:r>
            <a:r>
              <a:rPr kumimoji="0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根据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内积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可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加性和数乘性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有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3200" b="0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k</a:t>
            </a:r>
            <a:r>
              <a:rPr kumimoji="0" lang="en-US" altLang="zh-CN" sz="32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1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 +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2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 …+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-1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-1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32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 err="1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1" u="none" strike="noStrike" kern="0" cap="none" spc="0" normalizeH="0" baseline="-2500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   +…+ </a:t>
            </a:r>
            <a:r>
              <a:rPr kumimoji="0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 = 0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由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已知条件知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 = 0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因为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非零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所以</a:t>
            </a:r>
            <a:r>
              <a:rPr kumimoji="0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k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 0(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i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=1, 2, …,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).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因此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线性无关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46043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5.4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已知向量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验证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正交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并求一个非零向量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使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为正交向量组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Solution 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 0,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正交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设         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494224"/>
              </p:ext>
            </p:extLst>
          </p:nvPr>
        </p:nvGraphicFramePr>
        <p:xfrm>
          <a:off x="3995738" y="609599"/>
          <a:ext cx="323215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0" name="公式" r:id="rId4" imgW="1581126" imgH="819122" progId="Equation.3">
                  <p:embed/>
                </p:oleObj>
              </mc:Choice>
              <mc:Fallback>
                <p:oleObj name="公式" r:id="rId4" imgW="1581126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609599"/>
                        <a:ext cx="3232150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62479"/>
              </p:ext>
            </p:extLst>
          </p:nvPr>
        </p:nvGraphicFramePr>
        <p:xfrm>
          <a:off x="5001603" y="4345249"/>
          <a:ext cx="1665287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公式" r:id="rId6" imgW="743022" imgH="819122" progId="Equation.3">
                  <p:embed/>
                </p:oleObj>
              </mc:Choice>
              <mc:Fallback>
                <p:oleObj name="公式" r:id="rId6" imgW="743022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1603" y="4345249"/>
                        <a:ext cx="1665287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31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1540460" y="0"/>
            <a:ext cx="9144000" cy="681355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且同时满足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(</a:t>
            </a:r>
            <a:r>
              <a:rPr lang="en-US" altLang="zh-CN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/>
                <a:ea typeface="宋体"/>
              </a:rPr>
              <a:t>1 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, </a:t>
            </a:r>
            <a:r>
              <a:rPr lang="en-US" altLang="zh-CN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/>
                <a:ea typeface="宋体"/>
              </a:rPr>
              <a:t>3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) = 0, (</a:t>
            </a:r>
            <a:r>
              <a:rPr lang="en-US" altLang="zh-CN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/>
                <a:ea typeface="宋体"/>
              </a:rPr>
              <a:t>2 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, </a:t>
            </a:r>
            <a:r>
              <a:rPr lang="en-US" altLang="zh-CN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/>
                <a:ea typeface="宋体"/>
              </a:rPr>
              <a:t>3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) = 0:</a:t>
            </a:r>
          </a:p>
          <a:p>
            <a:pPr>
              <a:defRPr/>
            </a:pPr>
            <a:endParaRPr lang="en-US" altLang="zh-CN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>
              <a:defRPr/>
            </a:pPr>
            <a:endParaRPr lang="en-US" altLang="zh-CN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>
              <a:defRPr/>
            </a:pPr>
            <a:endParaRPr lang="en-US" altLang="zh-CN" dirty="0" smtClean="0">
              <a:solidFill>
                <a:srgbClr val="FFFFFF"/>
              </a:solidFill>
              <a:latin typeface="Times New Roman"/>
              <a:ea typeface="宋体"/>
            </a:endParaRPr>
          </a:p>
          <a:p>
            <a:pPr>
              <a:defRPr/>
            </a:pPr>
            <a:endParaRPr lang="en-US" altLang="zh-CN" dirty="0" smtClean="0">
              <a:solidFill>
                <a:srgbClr val="FFFFFF"/>
              </a:solidFill>
              <a:latin typeface="Times New Roman"/>
              <a:ea typeface="宋体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令</a:t>
            </a:r>
            <a:r>
              <a:rPr lang="en-US" altLang="zh-CN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x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/>
                <a:ea typeface="宋体"/>
              </a:rPr>
              <a:t>3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 = 1,</a:t>
            </a: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得一个非零解</a:t>
            </a:r>
          </a:p>
          <a:p>
            <a:pPr>
              <a:defRPr/>
            </a:pPr>
            <a:endParaRPr lang="zh-CN" altLang="en-US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>
              <a:defRPr/>
            </a:pPr>
            <a:endParaRPr lang="zh-CN" altLang="en-US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>
              <a:defRPr/>
            </a:pPr>
            <a:endParaRPr lang="zh-CN" altLang="en-US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0" indent="0">
              <a:buFontTx/>
              <a:buNone/>
              <a:defRPr/>
            </a:pPr>
            <a:endParaRPr lang="en-US" altLang="zh-CN" dirty="0">
              <a:solidFill>
                <a:srgbClr val="FFFFFF"/>
              </a:solidFill>
              <a:latin typeface="Times New Roman"/>
              <a:ea typeface="宋体"/>
            </a:endParaRPr>
          </a:p>
          <a:p>
            <a:pPr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这时</a:t>
            </a:r>
            <a:r>
              <a:rPr lang="zh-CN" altLang="en-US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/>
                <a:ea typeface="宋体"/>
              </a:rPr>
              <a:t>1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, </a:t>
            </a:r>
            <a:r>
              <a:rPr lang="en-US" altLang="zh-CN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/>
                <a:ea typeface="宋体"/>
              </a:rPr>
              <a:t>2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, </a:t>
            </a:r>
            <a:r>
              <a:rPr lang="en-US" altLang="zh-CN" i="1" dirty="0" smtClean="0">
                <a:solidFill>
                  <a:srgbClr val="FFFFFF"/>
                </a:solidFill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lang="en-US" altLang="zh-CN" baseline="-25000" dirty="0" smtClean="0">
                <a:solidFill>
                  <a:srgbClr val="FFFFFF"/>
                </a:solidFill>
                <a:latin typeface="Times New Roman"/>
                <a:ea typeface="宋体"/>
              </a:rPr>
              <a:t>3</a:t>
            </a:r>
            <a:r>
              <a:rPr lang="zh-CN" altLang="en-US" dirty="0" smtClean="0">
                <a:solidFill>
                  <a:srgbClr val="FFFFFF"/>
                </a:solidFill>
                <a:latin typeface="Times New Roman"/>
                <a:ea typeface="宋体"/>
              </a:rPr>
              <a:t>为正交向量组</a:t>
            </a:r>
            <a:r>
              <a:rPr lang="en-US" altLang="zh-CN" dirty="0" smtClean="0">
                <a:solidFill>
                  <a:srgbClr val="FFFFFF"/>
                </a:solidFill>
                <a:latin typeface="Times New Roman"/>
                <a:ea typeface="宋体"/>
              </a:rPr>
              <a:t>.</a:t>
            </a:r>
          </a:p>
          <a:p>
            <a:pPr>
              <a:defRPr/>
            </a:pPr>
            <a:endParaRPr lang="en-US" altLang="zh-CN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052806"/>
              </p:ext>
            </p:extLst>
          </p:nvPr>
        </p:nvGraphicFramePr>
        <p:xfrm>
          <a:off x="4408279" y="1008063"/>
          <a:ext cx="322262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4" name="公式" r:id="rId5" imgW="1276326" imgH="514350" progId="Equation.3">
                  <p:embed/>
                </p:oleObj>
              </mc:Choice>
              <mc:Fallback>
                <p:oleObj name="公式" r:id="rId5" imgW="1276326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8279" y="1008063"/>
                        <a:ext cx="322262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225843"/>
              </p:ext>
            </p:extLst>
          </p:nvPr>
        </p:nvGraphicFramePr>
        <p:xfrm>
          <a:off x="5200441" y="3529013"/>
          <a:ext cx="1824038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公式" r:id="rId7" imgW="666726" imgH="819122" progId="Equation.3">
                  <p:embed/>
                </p:oleObj>
              </mc:Choice>
              <mc:Fallback>
                <p:oleObj name="公式" r:id="rId7" imgW="666726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441" y="3529013"/>
                        <a:ext cx="1824038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19598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06990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en-US" altLang="zh-CN" sz="3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    5.3.2 </a:t>
            </a:r>
            <a:r>
              <a:rPr lang="zh-CN" alt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欧氏空间的定义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endParaRPr lang="en-US" altLang="zh-CN" sz="3200" dirty="0" smtClea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en-US" altLang="zh-CN" sz="32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Def</a:t>
            </a:r>
            <a:r>
              <a:rPr lang="en-US" altLang="zh-CN" sz="3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 </a:t>
            </a:r>
            <a:r>
              <a:rPr lang="en-US" altLang="zh-CN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5.6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 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设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V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是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向量空间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若在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V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上定义了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两个向量的内积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则称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V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为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欧氏空间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(Euclidean space).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由于在欧氏空间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V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中定义了两个向量的内积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进而有向量长度以及两向量夹角概念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.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17156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1113"/>
            <a:ext cx="12289134" cy="693728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 marR="0" lvl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  设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n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是欧氏空间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的一个基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若满足下列两个条件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则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n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称是欧氏空间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的一个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</a:rPr>
              <a:t>单位正交基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(orthonormal basis)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或标准正交基或规范正交基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(1)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n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正交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向量组</a:t>
            </a:r>
          </a:p>
          <a:p>
            <a:pPr marL="342900" marR="0" lvl="0" indent="-3429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(2)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n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均为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单位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向量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54497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798655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782815"/>
              </p:ext>
            </p:extLst>
          </p:nvPr>
        </p:nvGraphicFramePr>
        <p:xfrm>
          <a:off x="3762393" y="311150"/>
          <a:ext cx="4579937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6" name="公式" r:id="rId4" imgW="1866756" imgH="819122" progId="Equation.3">
                  <p:embed/>
                </p:oleObj>
              </mc:Choice>
              <mc:Fallback>
                <p:oleObj name="公式" r:id="rId4" imgW="1866756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93" y="311150"/>
                        <a:ext cx="4579937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675055"/>
              </p:ext>
            </p:extLst>
          </p:nvPr>
        </p:nvGraphicFramePr>
        <p:xfrm>
          <a:off x="1841518" y="2546350"/>
          <a:ext cx="9197975" cy="363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7" name="公式" r:id="rId6" imgW="3876519" imgH="1495453" progId="Equation.3">
                  <p:embed/>
                </p:oleObj>
              </mc:Choice>
              <mc:Fallback>
                <p:oleObj name="公式" r:id="rId6" imgW="3876519" imgH="1495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18" y="2546350"/>
                        <a:ext cx="9197975" cy="363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424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1355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为何要考虑欧氏空间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的单位正交基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? 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是欧氏空间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的一个单位正交基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对于任意向量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任意</a:t>
            </a:r>
            <a:r>
              <a:rPr kumimoji="1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kumimoji="1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=1, 2, …,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kumimoji="1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 sz="3200" b="1" i="1" u="none" strike="noStrike" kern="0" cap="none" spc="0" normalizeH="0" baseline="-2500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的计算较简单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若是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的基而不是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的单位正交基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要得出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kumimoji="1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 sz="3200" b="1" i="1" u="none" strike="noStrike" kern="0" cap="none" spc="0" normalizeH="0" baseline="-2500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需要求解线性方程组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994237"/>
              </p:ext>
            </p:extLst>
          </p:nvPr>
        </p:nvGraphicFramePr>
        <p:xfrm>
          <a:off x="3949127" y="1889409"/>
          <a:ext cx="40671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8" name="Equation" r:id="rId5" imgW="2019348" imgH="171578" progId="Equation.DSMT4">
                  <p:embed/>
                </p:oleObj>
              </mc:Choice>
              <mc:Fallback>
                <p:oleObj name="Equation" r:id="rId5" imgW="2019348" imgH="171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127" y="1889409"/>
                        <a:ext cx="40671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59272"/>
              </p:ext>
            </p:extLst>
          </p:nvPr>
        </p:nvGraphicFramePr>
        <p:xfrm>
          <a:off x="3266395" y="3192869"/>
          <a:ext cx="61817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9" name="Equation" r:id="rId7" imgW="3133881" imgH="171578" progId="Equation.DSMT4">
                  <p:embed/>
                </p:oleObj>
              </mc:Choice>
              <mc:Fallback>
                <p:oleObj name="Equation" r:id="rId7" imgW="3133881" imgH="1715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395" y="3192869"/>
                        <a:ext cx="6181725" cy="574675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66192"/>
            <a:ext cx="1751442" cy="1230021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5420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-85982" y="105389"/>
            <a:ext cx="457314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4400" b="1" dirty="0" smtClean="0">
                <a:solidFill>
                  <a:srgbClr val="008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量子</a:t>
            </a:r>
            <a:r>
              <a:rPr kumimoji="1" lang="zh-CN" altLang="en-US" sz="4400" b="1" dirty="0">
                <a:solidFill>
                  <a:srgbClr val="008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比特的测定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00589" y="969658"/>
            <a:ext cx="532923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如何从一个</a:t>
            </a:r>
            <a:r>
              <a:rPr kumimoji="1"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qubit</a:t>
            </a:r>
            <a:r>
              <a:rPr kumimoji="1"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获得所要的（经典）信息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753537" y="1379530"/>
            <a:ext cx="6477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</a:rPr>
              <a:t>？</a:t>
            </a: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403621"/>
              </p:ext>
            </p:extLst>
          </p:nvPr>
        </p:nvGraphicFramePr>
        <p:xfrm>
          <a:off x="5785002" y="1720881"/>
          <a:ext cx="1943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0" name="Equation" r:id="rId4" imgW="1028254" imgH="253890" progId="Equation.DSMT4">
                  <p:embed/>
                </p:oleObj>
              </mc:Choice>
              <mc:Fallback>
                <p:oleObj name="Equation" r:id="rId4" imgW="1028254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5002" y="1720881"/>
                        <a:ext cx="1943100" cy="4794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954185" y="380795"/>
            <a:ext cx="3132137" cy="1584325"/>
            <a:chOff x="3787" y="527"/>
            <a:chExt cx="1180" cy="817"/>
          </a:xfrm>
        </p:grpSpPr>
        <p:sp>
          <p:nvSpPr>
            <p:cNvPr id="7" name="AutoShape 8"/>
            <p:cNvSpPr>
              <a:spLocks noChangeArrowheads="1"/>
            </p:cNvSpPr>
            <p:nvPr/>
          </p:nvSpPr>
          <p:spPr bwMode="auto">
            <a:xfrm>
              <a:off x="3787" y="527"/>
              <a:ext cx="1180" cy="817"/>
            </a:xfrm>
            <a:prstGeom prst="cloudCallout">
              <a:avLst>
                <a:gd name="adj1" fmla="val -56440"/>
                <a:gd name="adj2" fmla="val 63708"/>
              </a:avLst>
            </a:pr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3969" y="618"/>
              <a:ext cx="816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如何确定的知道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和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的值</a:t>
              </a:r>
            </a:p>
          </p:txBody>
        </p:sp>
      </p:grpSp>
      <p:grpSp>
        <p:nvGrpSpPr>
          <p:cNvPr id="9" name="Group 12"/>
          <p:cNvGrpSpPr>
            <a:grpSpLocks/>
          </p:cNvGrpSpPr>
          <p:nvPr/>
        </p:nvGrpSpPr>
        <p:grpSpPr bwMode="auto">
          <a:xfrm>
            <a:off x="2200588" y="2059576"/>
            <a:ext cx="7524329" cy="2586855"/>
            <a:chOff x="1724" y="2176"/>
            <a:chExt cx="2631" cy="1588"/>
          </a:xfrm>
        </p:grpSpPr>
        <p:sp>
          <p:nvSpPr>
            <p:cNvPr id="10" name="AutoShape 10"/>
            <p:cNvSpPr>
              <a:spLocks noChangeArrowheads="1"/>
            </p:cNvSpPr>
            <p:nvPr/>
          </p:nvSpPr>
          <p:spPr bwMode="auto">
            <a:xfrm>
              <a:off x="1724" y="2176"/>
              <a:ext cx="2631" cy="1588"/>
            </a:xfrm>
            <a:prstGeom prst="irregularSeal2">
              <a:avLst/>
            </a:prstGeom>
            <a:solidFill>
              <a:srgbClr val="FFFFFF"/>
            </a:solidFill>
            <a:ln w="31750">
              <a:solidFill>
                <a:srgbClr val="8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2229" y="2629"/>
              <a:ext cx="1497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可以通过一个测定的过程，将一个</a:t>
              </a:r>
              <a:r>
                <a:rPr kumimoji="1" lang="en-US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qubit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的状态以概率幅的方式变换成</a:t>
              </a:r>
              <a:r>
                <a:rPr kumimoji="1" lang="en-US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bit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信息</a:t>
              </a:r>
            </a:p>
          </p:txBody>
        </p:sp>
      </p:grpSp>
      <p:grpSp>
        <p:nvGrpSpPr>
          <p:cNvPr id="12" name="Group 22"/>
          <p:cNvGrpSpPr>
            <a:grpSpLocks/>
          </p:cNvGrpSpPr>
          <p:nvPr/>
        </p:nvGrpSpPr>
        <p:grpSpPr bwMode="auto">
          <a:xfrm>
            <a:off x="2666956" y="4836087"/>
            <a:ext cx="7938433" cy="2021913"/>
            <a:chOff x="1247" y="2976"/>
            <a:chExt cx="3675" cy="1066"/>
          </a:xfrm>
        </p:grpSpPr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247" y="2976"/>
              <a:ext cx="34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量子比特      将以下列方式被转换，以</a:t>
              </a:r>
            </a:p>
          </p:txBody>
        </p:sp>
        <p:graphicFrame>
          <p:nvGraphicFramePr>
            <p:cNvPr id="1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9916035"/>
                </p:ext>
              </p:extLst>
            </p:nvPr>
          </p:nvGraphicFramePr>
          <p:xfrm>
            <a:off x="1860" y="3024"/>
            <a:ext cx="21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11" name="Equation" r:id="rId6" imgW="238089" imgH="237983" progId="Equation.DSMT4">
                    <p:embed/>
                  </p:oleObj>
                </mc:Choice>
                <mc:Fallback>
                  <p:oleObj name="Equation" r:id="rId6" imgW="238089" imgH="23798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" y="3024"/>
                          <a:ext cx="21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" name="Group 16"/>
            <p:cNvGrpSpPr>
              <a:grpSpLocks/>
            </p:cNvGrpSpPr>
            <p:nvPr/>
          </p:nvGrpSpPr>
          <p:grpSpPr bwMode="auto">
            <a:xfrm>
              <a:off x="1248" y="3325"/>
              <a:ext cx="3673" cy="294"/>
              <a:chOff x="567" y="1071"/>
              <a:chExt cx="4354" cy="294"/>
            </a:xfrm>
          </p:grpSpPr>
          <p:sp>
            <p:nvSpPr>
              <p:cNvPr id="19" name="Text Box 17"/>
              <p:cNvSpPr txBox="1">
                <a:spLocks noChangeArrowheads="1"/>
              </p:cNvSpPr>
              <p:nvPr/>
            </p:nvSpPr>
            <p:spPr bwMode="auto">
              <a:xfrm>
                <a:off x="567" y="1071"/>
                <a:ext cx="4354" cy="291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概率                                                    </a:t>
                </a:r>
                <a:r>
                  <a:rPr kumimoji="1" lang="zh-CN" altLang="en-US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  变换</a:t>
                </a: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成 </a:t>
                </a:r>
                <a:r>
                  <a:rPr kumimoji="1" lang="en-US" altLang="zh-CN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bit </a:t>
                </a: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       </a:t>
                </a:r>
              </a:p>
            </p:txBody>
          </p:sp>
          <p:graphicFrame>
            <p:nvGraphicFramePr>
              <p:cNvPr id="20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30742501"/>
                  </p:ext>
                </p:extLst>
              </p:nvPr>
            </p:nvGraphicFramePr>
            <p:xfrm>
              <a:off x="1286" y="1081"/>
              <a:ext cx="1859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712" name="Equation" r:id="rId8" imgW="1993900" imgH="304800" progId="Equation.DSMT4">
                      <p:embed/>
                    </p:oleObj>
                  </mc:Choice>
                  <mc:Fallback>
                    <p:oleObj name="Equation" r:id="rId8" imgW="1993900" imgH="304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86" y="1081"/>
                            <a:ext cx="1859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" name="Group 19"/>
            <p:cNvGrpSpPr>
              <a:grpSpLocks/>
            </p:cNvGrpSpPr>
            <p:nvPr/>
          </p:nvGrpSpPr>
          <p:grpSpPr bwMode="auto">
            <a:xfrm>
              <a:off x="1248" y="3751"/>
              <a:ext cx="3674" cy="291"/>
              <a:chOff x="567" y="1529"/>
              <a:chExt cx="4354" cy="291"/>
            </a:xfrm>
          </p:grpSpPr>
          <p:sp>
            <p:nvSpPr>
              <p:cNvPr id="17" name="Text Box 20"/>
              <p:cNvSpPr txBox="1">
                <a:spLocks noChangeArrowheads="1"/>
              </p:cNvSpPr>
              <p:nvPr/>
            </p:nvSpPr>
            <p:spPr bwMode="auto">
              <a:xfrm>
                <a:off x="567" y="1529"/>
                <a:ext cx="4354" cy="291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概率                                                    变换成   </a:t>
                </a:r>
                <a:r>
                  <a:rPr kumimoji="1" lang="en-US" altLang="zh-CN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bit </a:t>
                </a: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</a:t>
                </a:r>
              </a:p>
            </p:txBody>
          </p:sp>
          <p:graphicFrame>
            <p:nvGraphicFramePr>
              <p:cNvPr id="18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8689901"/>
                  </p:ext>
                </p:extLst>
              </p:nvPr>
            </p:nvGraphicFramePr>
            <p:xfrm>
              <a:off x="1202" y="1533"/>
              <a:ext cx="1729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713" name="Equation" r:id="rId10" imgW="1854200" imgH="304800" progId="Equation.DSMT4">
                      <p:embed/>
                    </p:oleObj>
                  </mc:Choice>
                  <mc:Fallback>
                    <p:oleObj name="Equation" r:id="rId10" imgW="1854200" imgH="304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2" y="1533"/>
                            <a:ext cx="1729" cy="2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487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2328159" y="291632"/>
            <a:ext cx="43924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量子比特对可以表示为：</a:t>
            </a:r>
          </a:p>
        </p:txBody>
      </p:sp>
      <p:graphicFrame>
        <p:nvGraphicFramePr>
          <p:cNvPr id="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43277"/>
              </p:ext>
            </p:extLst>
          </p:nvPr>
        </p:nvGraphicFramePr>
        <p:xfrm>
          <a:off x="3444749" y="1022814"/>
          <a:ext cx="655179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9" name="Equation" r:id="rId4" imgW="2540000" imgH="254000" progId="Equation.DSMT4">
                  <p:embed/>
                </p:oleObj>
              </mc:Choice>
              <mc:Fallback>
                <p:oleObj name="Equation" r:id="rId4" imgW="25400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749" y="1022814"/>
                        <a:ext cx="6551795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2112135" y="1787743"/>
            <a:ext cx="59750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通过测定取经典比特各种列值的概率</a:t>
            </a: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3733022" y="2431324"/>
            <a:ext cx="18017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测定结果</a:t>
            </a:r>
          </a:p>
        </p:txBody>
      </p:sp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6360607" y="2420254"/>
            <a:ext cx="1871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出现概率</a:t>
            </a: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4274669" y="2926309"/>
            <a:ext cx="7184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00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4278788" y="3825835"/>
            <a:ext cx="5751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01</a:t>
            </a: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4236835" y="4844040"/>
            <a:ext cx="5751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4274669" y="5788149"/>
            <a:ext cx="5751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</a:p>
        </p:txBody>
      </p:sp>
      <p:graphicFrame>
        <p:nvGraphicFramePr>
          <p:cNvPr id="1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281617"/>
              </p:ext>
            </p:extLst>
          </p:nvPr>
        </p:nvGraphicFramePr>
        <p:xfrm>
          <a:off x="6458428" y="2967736"/>
          <a:ext cx="2064096" cy="557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0" name="Equation" r:id="rId6" imgW="1015559" imgH="304668" progId="Equation.DSMT4">
                  <p:embed/>
                </p:oleObj>
              </mc:Choice>
              <mc:Fallback>
                <p:oleObj name="Equation" r:id="rId6" imgW="1015559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8428" y="2967736"/>
                        <a:ext cx="2064096" cy="557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424200"/>
              </p:ext>
            </p:extLst>
          </p:nvPr>
        </p:nvGraphicFramePr>
        <p:xfrm>
          <a:off x="6476917" y="3866728"/>
          <a:ext cx="2204705" cy="603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name="Equation" r:id="rId8" imgW="1002865" imgH="304668" progId="Equation.DSMT4">
                  <p:embed/>
                </p:oleObj>
              </mc:Choice>
              <mc:Fallback>
                <p:oleObj name="Equation" r:id="rId8" imgW="1002865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917" y="3866728"/>
                        <a:ext cx="2204705" cy="6035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192912"/>
              </p:ext>
            </p:extLst>
          </p:nvPr>
        </p:nvGraphicFramePr>
        <p:xfrm>
          <a:off x="6476917" y="4844040"/>
          <a:ext cx="2161917" cy="591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2" name="Equation" r:id="rId10" imgW="1002865" imgH="304668" progId="Equation.DSMT4">
                  <p:embed/>
                </p:oleObj>
              </mc:Choice>
              <mc:Fallback>
                <p:oleObj name="Equation" r:id="rId10" imgW="1002865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917" y="4844040"/>
                        <a:ext cx="2161917" cy="591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000950"/>
              </p:ext>
            </p:extLst>
          </p:nvPr>
        </p:nvGraphicFramePr>
        <p:xfrm>
          <a:off x="6544462" y="5777285"/>
          <a:ext cx="1952153" cy="532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3" name="Equation" r:id="rId12" imgW="977476" imgH="304668" progId="Equation.DSMT4">
                  <p:embed/>
                </p:oleObj>
              </mc:Choice>
              <mc:Fallback>
                <p:oleObj name="Equation" r:id="rId12" imgW="977476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4462" y="5777285"/>
                        <a:ext cx="1952153" cy="532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34074" y="20529"/>
            <a:ext cx="7271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0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638" y="0"/>
            <a:ext cx="12171362" cy="659257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设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是线性无关的向量组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则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由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32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生成一个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向量空间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假定在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上定义了两个向量的内积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显然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是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的基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如何根据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得出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单位正交基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? </a:t>
            </a:r>
          </a:p>
          <a:p>
            <a:pPr marL="342900" marR="0" lvl="0" indent="-3429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简言之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就是要根据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线性无关的向量组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 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得出一个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单位正交向量组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</a:t>
            </a:r>
            <a:r>
              <a:rPr kumimoji="0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使其与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…,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等价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99299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742972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pPr marR="0" lvl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现对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R</a:t>
            </a:r>
            <a:r>
              <a:rPr kumimoji="0" lang="en-US" altLang="zh-CN" sz="3200" b="0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中两个线性无关的向量组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做一个简单的分析如下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：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R="0" lvl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关键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是找出与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等价的正交向量组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 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R="0" lvl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再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分别将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 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单位化得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 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R="0" lvl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由于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与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 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等价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容易知道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e 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与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等价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R="0" lvl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不妨取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=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由于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线性无关， 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和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确定一个平面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，与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正交的向量可在该平面内与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垂直的方向上找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为了保证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可由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 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线性表示，将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往</a:t>
            </a:r>
            <a:r>
              <a:rPr kumimoji="0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,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 </a:t>
            </a:r>
            <a:r>
              <a:rPr kumimoji="0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这两个互相垂直的方向上分解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770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-25590" y="0"/>
            <a:ext cx="12192000" cy="681355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3779838" y="2276475"/>
            <a:ext cx="2376487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 flipV="1">
            <a:off x="3779838" y="549275"/>
            <a:ext cx="0" cy="172720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3779838" y="549275"/>
            <a:ext cx="158432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V="1">
            <a:off x="5364163" y="549275"/>
            <a:ext cx="0" cy="172720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3779838" y="549275"/>
            <a:ext cx="1584325" cy="172720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5724525" y="1628775"/>
          <a:ext cx="11541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3" name="公式" r:id="rId4" imgW="476178" imgH="161982" progId="Equation.3">
                  <p:embed/>
                </p:oleObj>
              </mc:Choice>
              <mc:Fallback>
                <p:oleObj name="公式" r:id="rId4" imgW="476178" imgH="161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1628775"/>
                        <a:ext cx="11541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/>
        </p:nvGraphicFramePr>
        <p:xfrm>
          <a:off x="4500563" y="1628775"/>
          <a:ext cx="5778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4" name="公式" r:id="rId6" imgW="171378" imgH="161982" progId="Equation.3">
                  <p:embed/>
                </p:oleObj>
              </mc:Choice>
              <mc:Fallback>
                <p:oleObj name="公式" r:id="rId6" imgW="171378" imgH="161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628775"/>
                        <a:ext cx="5778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3106738" y="333375"/>
          <a:ext cx="4810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5" name="公式" r:id="rId8" imgW="123837" imgH="161982" progId="Equation.3">
                  <p:embed/>
                </p:oleObj>
              </mc:Choice>
              <mc:Fallback>
                <p:oleObj name="公式" r:id="rId8" imgW="123837" imgH="161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333375"/>
                        <a:ext cx="4810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5435600" y="260350"/>
          <a:ext cx="4476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6" name="公式" r:id="rId10" imgW="114252" imgH="161982" progId="Equation.3">
                  <p:embed/>
                </p:oleObj>
              </mc:Choice>
              <mc:Fallback>
                <p:oleObj name="公式" r:id="rId10" imgW="114252" imgH="161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60350"/>
                        <a:ext cx="4476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734037"/>
              </p:ext>
            </p:extLst>
          </p:nvPr>
        </p:nvGraphicFramePr>
        <p:xfrm>
          <a:off x="3511568" y="2562304"/>
          <a:ext cx="4572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7" name="公式" r:id="rId12" imgW="2295393" imgH="161982" progId="Equation.3">
                  <p:embed/>
                </p:oleObj>
              </mc:Choice>
              <mc:Fallback>
                <p:oleObj name="公式" r:id="rId12" imgW="2295393" imgH="161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68" y="2562304"/>
                        <a:ext cx="4572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406690"/>
              </p:ext>
            </p:extLst>
          </p:nvPr>
        </p:nvGraphicFramePr>
        <p:xfrm>
          <a:off x="245269" y="3391057"/>
          <a:ext cx="57229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8" name="公式" r:id="rId14" imgW="2904993" imgH="161982" progId="Equation.3">
                  <p:embed/>
                </p:oleObj>
              </mc:Choice>
              <mc:Fallback>
                <p:oleObj name="公式" r:id="rId14" imgW="2904993" imgH="161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9" y="3391057"/>
                        <a:ext cx="57229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633898"/>
              </p:ext>
            </p:extLst>
          </p:nvPr>
        </p:nvGraphicFramePr>
        <p:xfrm>
          <a:off x="6024861" y="3155989"/>
          <a:ext cx="23336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9" name="公式" r:id="rId16" imgW="1104948" imgH="437965" progId="Equation.3">
                  <p:embed/>
                </p:oleObj>
              </mc:Choice>
              <mc:Fallback>
                <p:oleObj name="公式" r:id="rId16" imgW="1104948" imgH="4379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861" y="3155989"/>
                        <a:ext cx="23336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573279"/>
              </p:ext>
            </p:extLst>
          </p:nvPr>
        </p:nvGraphicFramePr>
        <p:xfrm>
          <a:off x="474663" y="5118257"/>
          <a:ext cx="40259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0" name="公式" r:id="rId18" imgW="2000178" imgH="437965" progId="Equation.3">
                  <p:embed/>
                </p:oleObj>
              </mc:Choice>
              <mc:Fallback>
                <p:oleObj name="公式" r:id="rId18" imgW="2000178" imgH="4379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5118257"/>
                        <a:ext cx="40259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481514"/>
              </p:ext>
            </p:extLst>
          </p:nvPr>
        </p:nvGraphicFramePr>
        <p:xfrm>
          <a:off x="632647" y="4215670"/>
          <a:ext cx="19875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1" name="公式" r:id="rId20" imgW="923985" imgH="161982" progId="Equation.3">
                  <p:embed/>
                </p:oleObj>
              </mc:Choice>
              <mc:Fallback>
                <p:oleObj name="公式" r:id="rId20" imgW="923985" imgH="161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647" y="4215670"/>
                        <a:ext cx="19875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64163" y="4322802"/>
            <a:ext cx="45720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-34174" y="0"/>
            <a:ext cx="12226173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对于线性无关的向量组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1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2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…,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得出一个单位正交向量组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e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1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e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2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…, </a:t>
            </a:r>
            <a:r>
              <a:rPr kumimoji="0" lang="en-US" altLang="zh-CN" sz="32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e</a:t>
            </a:r>
            <a:r>
              <a:rPr kumimoji="0" lang="en-US" altLang="zh-CN" sz="3200" b="0" i="1" u="none" strike="noStrike" kern="1200" cap="none" spc="0" normalizeH="0" baseline="-2500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使其与</a:t>
            </a:r>
            <a:r>
              <a:rPr kumimoji="0" lang="zh-CN" alt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1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2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, …, </a:t>
            </a:r>
            <a:r>
              <a:rPr kumimoji="0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</a:t>
            </a:r>
            <a:r>
              <a:rPr kumimoji="0" lang="en-US" altLang="zh-CN" sz="3200" b="0" i="1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等价的步骤如下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Step 1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正交化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950025"/>
              </p:ext>
            </p:extLst>
          </p:nvPr>
        </p:nvGraphicFramePr>
        <p:xfrm>
          <a:off x="5010696" y="1323731"/>
          <a:ext cx="155416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2" name="公式" r:id="rId4" imgW="542889" imgH="161982" progId="Equation.3">
                  <p:embed/>
                </p:oleObj>
              </mc:Choice>
              <mc:Fallback>
                <p:oleObj name="公式" r:id="rId4" imgW="542889" imgH="1619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696" y="1323731"/>
                        <a:ext cx="1554162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840624"/>
              </p:ext>
            </p:extLst>
          </p:nvPr>
        </p:nvGraphicFramePr>
        <p:xfrm>
          <a:off x="4104856" y="2205772"/>
          <a:ext cx="3948112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3" name="公式" r:id="rId6" imgW="1600296" imgH="437965" progId="Equation.3">
                  <p:embed/>
                </p:oleObj>
              </mc:Choice>
              <mc:Fallback>
                <p:oleObj name="公式" r:id="rId6" imgW="1600296" imgH="4379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856" y="2205772"/>
                        <a:ext cx="3948112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764593"/>
              </p:ext>
            </p:extLst>
          </p:nvPr>
        </p:nvGraphicFramePr>
        <p:xfrm>
          <a:off x="3172127" y="3537560"/>
          <a:ext cx="635000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4" name="公式" r:id="rId8" imgW="2648118" imgH="437965" progId="Equation.3">
                  <p:embed/>
                </p:oleObj>
              </mc:Choice>
              <mc:Fallback>
                <p:oleObj name="公式" r:id="rId8" imgW="2648118" imgH="4379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2127" y="3537560"/>
                        <a:ext cx="635000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199107"/>
              </p:ext>
            </p:extLst>
          </p:nvPr>
        </p:nvGraphicFramePr>
        <p:xfrm>
          <a:off x="1883077" y="5356452"/>
          <a:ext cx="89281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5" name="公式" r:id="rId10" imgW="4391037" imgH="437965" progId="Equation.3">
                  <p:embed/>
                </p:oleObj>
              </mc:Choice>
              <mc:Fallback>
                <p:oleObj name="公式" r:id="rId10" imgW="4391037" imgH="4379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077" y="5356452"/>
                        <a:ext cx="89281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252081"/>
              </p:ext>
            </p:extLst>
          </p:nvPr>
        </p:nvGraphicFramePr>
        <p:xfrm>
          <a:off x="4889099" y="4937579"/>
          <a:ext cx="27590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6" name="Equation" r:id="rId12" imgW="1028520" imgH="164880" progId="Equation.DSMT4">
                  <p:embed/>
                </p:oleObj>
              </mc:Choice>
              <mc:Fallback>
                <p:oleObj name="Equation" r:id="rId12" imgW="10285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099" y="4937579"/>
                        <a:ext cx="27590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545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1912536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Step 2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单位化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kumimoji="1" lang="en-US" altLang="zh-CN" sz="3200" b="1" i="1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单位化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得 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740099"/>
              </p:ext>
            </p:extLst>
          </p:nvPr>
        </p:nvGraphicFramePr>
        <p:xfrm>
          <a:off x="4652526" y="1143000"/>
          <a:ext cx="18923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6" name="公式" r:id="rId4" imgW="876444" imgH="466753" progId="Equation.3">
                  <p:embed/>
                </p:oleObj>
              </mc:Choice>
              <mc:Fallback>
                <p:oleObj name="公式" r:id="rId4" imgW="876444" imgH="4667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526" y="1143000"/>
                        <a:ext cx="18923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931901"/>
              </p:ext>
            </p:extLst>
          </p:nvPr>
        </p:nvGraphicFramePr>
        <p:xfrm>
          <a:off x="4573588" y="2527300"/>
          <a:ext cx="202088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7" name="公式" r:id="rId6" imgW="933570" imgH="466753" progId="Equation.3">
                  <p:embed/>
                </p:oleObj>
              </mc:Choice>
              <mc:Fallback>
                <p:oleObj name="公式" r:id="rId6" imgW="933570" imgH="4667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2527300"/>
                        <a:ext cx="202088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896220"/>
              </p:ext>
            </p:extLst>
          </p:nvPr>
        </p:nvGraphicFramePr>
        <p:xfrm>
          <a:off x="4500563" y="4391819"/>
          <a:ext cx="19558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8" name="公式" r:id="rId8" imgW="895230" imgH="466753" progId="Equation.3">
                  <p:embed/>
                </p:oleObj>
              </mc:Choice>
              <mc:Fallback>
                <p:oleObj name="公式" r:id="rId8" imgW="895230" imgH="4667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391819"/>
                        <a:ext cx="19558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4500563" y="3644900"/>
          <a:ext cx="19208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9" name="公式" r:id="rId10" imgW="0" imgH="123981" progId="Equation.3">
                  <p:embed/>
                </p:oleObj>
              </mc:Choice>
              <mc:Fallback>
                <p:oleObj name="公式" r:id="rId10" imgW="0" imgH="12398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644900"/>
                        <a:ext cx="19208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340477"/>
              </p:ext>
            </p:extLst>
          </p:nvPr>
        </p:nvGraphicFramePr>
        <p:xfrm>
          <a:off x="4158921" y="4025303"/>
          <a:ext cx="27590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0" name="Equation" r:id="rId12" imgW="1028520" imgH="164880" progId="Equation.DSMT4">
                  <p:embed/>
                </p:oleObj>
              </mc:Choice>
              <mc:Fallback>
                <p:oleObj name="Equation" r:id="rId12" imgW="10285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8921" y="4025303"/>
                        <a:ext cx="27590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25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上述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方法称为格拉姆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施密特方法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(Gram-Schmidt method)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，简称为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施密特方法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，包括了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正交化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Orthogonalizing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单位化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(normalizing)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两个步骤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690562" y="3573016"/>
            <a:ext cx="10915284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说明：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求标准正交组的过程为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先正交化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，  再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单位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化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814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597688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华文新魏" panose="02010800040101010101" pitchFamily="2" charset="-122"/>
              </a:rPr>
              <a:t>例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5.5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已知线性无关的向量组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用施密特方法将其单位正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交化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/>
                <a:ea typeface="宋体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Solution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先正交化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取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499838"/>
              </p:ext>
            </p:extLst>
          </p:nvPr>
        </p:nvGraphicFramePr>
        <p:xfrm>
          <a:off x="3793201" y="692150"/>
          <a:ext cx="5189537" cy="21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4" name="公式" r:id="rId5" imgW="2143185" imgH="819122" progId="Equation.3">
                  <p:embed/>
                </p:oleObj>
              </mc:Choice>
              <mc:Fallback>
                <p:oleObj name="公式" r:id="rId5" imgW="2143185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3201" y="692150"/>
                        <a:ext cx="5189537" cy="211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670666"/>
              </p:ext>
            </p:extLst>
          </p:nvPr>
        </p:nvGraphicFramePr>
        <p:xfrm>
          <a:off x="4866351" y="4652963"/>
          <a:ext cx="2606675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5" name="公式" r:id="rId7" imgW="1000281" imgH="819122" progId="Equation.3">
                  <p:embed/>
                </p:oleObj>
              </mc:Choice>
              <mc:Fallback>
                <p:oleObj name="公式" r:id="rId7" imgW="1000281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6351" y="4652963"/>
                        <a:ext cx="2606675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36319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527349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072562"/>
              </p:ext>
            </p:extLst>
          </p:nvPr>
        </p:nvGraphicFramePr>
        <p:xfrm>
          <a:off x="1852787" y="392113"/>
          <a:ext cx="7821612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0" name="公式" r:id="rId4" imgW="3286089" imgH="819122" progId="Equation.3">
                  <p:embed/>
                </p:oleObj>
              </mc:Choice>
              <mc:Fallback>
                <p:oleObj name="公式" r:id="rId4" imgW="3286089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787" y="392113"/>
                        <a:ext cx="7821612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878049"/>
              </p:ext>
            </p:extLst>
          </p:nvPr>
        </p:nvGraphicFramePr>
        <p:xfrm>
          <a:off x="1851199" y="2924175"/>
          <a:ext cx="62341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1" name="公式" r:id="rId6" imgW="2600193" imgH="437965" progId="Equation.3">
                  <p:embed/>
                </p:oleObj>
              </mc:Choice>
              <mc:Fallback>
                <p:oleObj name="公式" r:id="rId6" imgW="2600193" imgH="4379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199" y="2924175"/>
                        <a:ext cx="6234113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849151"/>
              </p:ext>
            </p:extLst>
          </p:nvPr>
        </p:nvGraphicFramePr>
        <p:xfrm>
          <a:off x="2498899" y="4581525"/>
          <a:ext cx="6427788" cy="211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2" name="公式" r:id="rId8" imgW="2676489" imgH="819122" progId="Equation.3">
                  <p:embed/>
                </p:oleObj>
              </mc:Choice>
              <mc:Fallback>
                <p:oleObj name="公式" r:id="rId8" imgW="2676489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899" y="4581525"/>
                        <a:ext cx="6427788" cy="211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349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376624" y="-20097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/>
              <a:ea typeface="宋体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463561"/>
              </p:ext>
            </p:extLst>
          </p:nvPr>
        </p:nvGraphicFramePr>
        <p:xfrm>
          <a:off x="2779974" y="-120110"/>
          <a:ext cx="5948363" cy="2270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" name="公式" r:id="rId4" imgW="2457570" imgH="885910" progId="Equation.3">
                  <p:embed/>
                </p:oleObj>
              </mc:Choice>
              <mc:Fallback>
                <p:oleObj name="公式" r:id="rId4" imgW="2457570" imgH="8859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974" y="-120110"/>
                        <a:ext cx="5948363" cy="2270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303618"/>
              </p:ext>
            </p:extLst>
          </p:nvPr>
        </p:nvGraphicFramePr>
        <p:xfrm>
          <a:off x="2546612" y="2273841"/>
          <a:ext cx="6804025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2" name="公式" r:id="rId6" imgW="2829081" imgH="885910" progId="Equation.3">
                  <p:embed/>
                </p:oleObj>
              </mc:Choice>
              <mc:Fallback>
                <p:oleObj name="公式" r:id="rId6" imgW="2829081" imgH="8859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612" y="2273841"/>
                        <a:ext cx="6804025" cy="227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446026"/>
              </p:ext>
            </p:extLst>
          </p:nvPr>
        </p:nvGraphicFramePr>
        <p:xfrm>
          <a:off x="2635512" y="4704303"/>
          <a:ext cx="4667250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3" name="公式" r:id="rId8" imgW="1905096" imgH="885910" progId="Equation.3">
                  <p:embed/>
                </p:oleObj>
              </mc:Choice>
              <mc:Fallback>
                <p:oleObj name="公式" r:id="rId8" imgW="1905096" imgH="8859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512" y="4704303"/>
                        <a:ext cx="4667250" cy="227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295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-1" y="0"/>
            <a:ext cx="12192001" cy="685800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5.6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已知向量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求非零向量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使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是正交向量组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Solution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向量</a:t>
            </a:r>
            <a:r>
              <a:rPr kumimoji="1" lang="zh-CN" altLang="en-US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的分量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应满足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 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0,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其基础解系为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762601"/>
              </p:ext>
            </p:extLst>
          </p:nvPr>
        </p:nvGraphicFramePr>
        <p:xfrm>
          <a:off x="5186359" y="509082"/>
          <a:ext cx="1819279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2" name="公式" r:id="rId4" imgW="743022" imgH="819122" progId="Equation.3">
                  <p:embed/>
                </p:oleObj>
              </mc:Choice>
              <mc:Fallback>
                <p:oleObj name="公式" r:id="rId4" imgW="743022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59" y="509082"/>
                        <a:ext cx="1819279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60070"/>
              </p:ext>
            </p:extLst>
          </p:nvPr>
        </p:nvGraphicFramePr>
        <p:xfrm>
          <a:off x="4502826" y="4121778"/>
          <a:ext cx="3186346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3" name="公式" r:id="rId6" imgW="1409748" imgH="819122" progId="Equation.3">
                  <p:embed/>
                </p:oleObj>
              </mc:Choice>
              <mc:Fallback>
                <p:oleObj name="公式" r:id="rId6" imgW="1409748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826" y="4121778"/>
                        <a:ext cx="3186346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826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608254" y="85730"/>
            <a:ext cx="910907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kumimoji="1" lang="zh-CN" altLang="en-US" sz="32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</a:t>
            </a:r>
            <a:r>
              <a:rPr kumimoji="1" lang="en-US" altLang="zh-CN" sz="3200" b="1" i="0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kumimoji="1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</a:t>
            </a:r>
            <a:r>
              <a:rPr kumimoji="1" lang="en-US" altLang="zh-CN" sz="3200" b="1" i="0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正交化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得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590662"/>
              </p:ext>
            </p:extLst>
          </p:nvPr>
        </p:nvGraphicFramePr>
        <p:xfrm>
          <a:off x="4811311" y="1081559"/>
          <a:ext cx="2246313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6" name="公式" r:id="rId5" imgW="1047822" imgH="819122" progId="Equation.3">
                  <p:embed/>
                </p:oleObj>
              </mc:Choice>
              <mc:Fallback>
                <p:oleObj name="公式" r:id="rId5" imgW="1047822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311" y="1081559"/>
                        <a:ext cx="2246313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58675"/>
              </p:ext>
            </p:extLst>
          </p:nvPr>
        </p:nvGraphicFramePr>
        <p:xfrm>
          <a:off x="2933299" y="3169122"/>
          <a:ext cx="6899275" cy="178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公式" r:id="rId7" imgW="3524178" imgH="819122" progId="Equation.3">
                  <p:embed/>
                </p:oleObj>
              </mc:Choice>
              <mc:Fallback>
                <p:oleObj name="公式" r:id="rId7" imgW="3524178" imgH="8191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299" y="3169122"/>
                        <a:ext cx="6899275" cy="178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20377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03792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5.3.3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正交矩阵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与单位正交向量组密切相关的概念是正交矩阵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zh-CN" sz="3200" kern="0" dirty="0">
              <a:solidFill>
                <a:srgbClr val="FFFFFF"/>
              </a:solidFill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Def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5.6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阶方阵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则称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</a:rPr>
              <a:t>正交矩阵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(orthogonal matrix).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090580"/>
              </p:ext>
            </p:extLst>
          </p:nvPr>
        </p:nvGraphicFramePr>
        <p:xfrm>
          <a:off x="4670355" y="3736993"/>
          <a:ext cx="15414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0" name="公式" r:id="rId4" imgW="685896" imgH="123981" progId="Equation.3">
                  <p:embed/>
                </p:oleObj>
              </mc:Choice>
              <mc:Fallback>
                <p:oleObj name="公式" r:id="rId4" imgW="685896" imgH="12398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355" y="3736993"/>
                        <a:ext cx="15414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690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48708" y="1029269"/>
            <a:ext cx="4014788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例如，单位矩阵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为正交矩阵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306128"/>
              </p:ext>
            </p:extLst>
          </p:nvPr>
        </p:nvGraphicFramePr>
        <p:xfrm>
          <a:off x="3168788" y="3189509"/>
          <a:ext cx="490061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4" r:id="rId4" imgW="2463800" imgH="457200" progId="Equation.DSMT4">
                  <p:embed/>
                </p:oleObj>
              </mc:Choice>
              <mc:Fallback>
                <p:oleObj r:id="rId4" imgW="2463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788" y="3189509"/>
                        <a:ext cx="4900613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145546"/>
              </p:ext>
            </p:extLst>
          </p:nvPr>
        </p:nvGraphicFramePr>
        <p:xfrm>
          <a:off x="8007488" y="3145059"/>
          <a:ext cx="19272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5" r:id="rId6" imgW="890546" imgH="457995" progId="Equation.DSMT4">
                  <p:embed/>
                </p:oleObj>
              </mc:Choice>
              <mc:Fallback>
                <p:oleObj r:id="rId6" imgW="890546" imgH="4579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7488" y="3145059"/>
                        <a:ext cx="19272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249644"/>
              </p:ext>
            </p:extLst>
          </p:nvPr>
        </p:nvGraphicFramePr>
        <p:xfrm>
          <a:off x="4091126" y="2095721"/>
          <a:ext cx="258286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6" r:id="rId8" imgW="1297653" imgH="457995" progId="Equation.DSMT4">
                  <p:embed/>
                </p:oleObj>
              </mc:Choice>
              <mc:Fallback>
                <p:oleObj r:id="rId8" imgW="1297653" imgH="4579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1126" y="2095721"/>
                        <a:ext cx="2582862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519501" y="2348134"/>
            <a:ext cx="1822450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再如，矩阵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666051" y="2368771"/>
            <a:ext cx="2378075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也为正交矩阵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7230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6" grpId="0" build="p" autoUpdateAnimBg="0"/>
      <p:bldP spid="7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4462" y="1384110"/>
            <a:ext cx="1194749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．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为正交矩阵的充要条件是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 marL="457200" marR="0" lvl="0" indent="-457200" defTabSz="914400" eaLnBrk="1" fontAlgn="base" latinLnBrk="0" hangingPunct="1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2.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正交矩阵的逆矩阵是正交矩阵；</a:t>
            </a:r>
          </a:p>
          <a:p>
            <a:pPr marL="457200" marR="0" lvl="0" indent="-457200" defTabSz="914400" eaLnBrk="1" fontAlgn="base" latinLnBrk="0" hangingPunct="1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3.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两个正交矩阵的乘积是正交矩阵；</a:t>
            </a:r>
          </a:p>
          <a:p>
            <a:pPr marL="457200" marR="0" lvl="0" indent="-457200" defTabSz="914400" eaLnBrk="1" fontAlgn="base" latinLnBrk="0" hangingPunct="1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4.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正交矩阵是满秩的且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|=1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 marL="457200" marR="0" lvl="0" indent="-457200" defTabSz="914400" eaLnBrk="1" fontAlgn="base" latinLnBrk="0" hangingPunct="1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5.  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为正交矩阵的充分必要条件是其列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向量组是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标准正交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向量组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（证明见下页）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97116" y="410657"/>
            <a:ext cx="3048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FF3300"/>
                </a:solidFill>
                <a:latin typeface="楷体_GB2312" pitchFamily="1" charset="-122"/>
              </a:rPr>
              <a:t>正交矩阵的性质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802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11982" y="270807"/>
            <a:ext cx="11987684" cy="973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49" charset="-122"/>
              </a:rPr>
              <a:t>  性质</a:t>
            </a:r>
            <a:r>
              <a:rPr kumimoji="1" lang="en-US" altLang="zh-CN" sz="2400" b="1" dirty="0">
                <a:solidFill>
                  <a:srgbClr val="FF3300"/>
                </a:solidFill>
                <a:latin typeface="黑体" panose="02010609060101010101" pitchFamily="49" charset="-122"/>
              </a:rPr>
              <a:t>5 </a:t>
            </a:r>
            <a:r>
              <a:rPr kumimoji="1" lang="en-US" altLang="zh-CN" sz="24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阶实矩阵，则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为正交矩阵的充分必要条件是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其列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向量组是标准正交向量组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524838" y="1309635"/>
            <a:ext cx="8686800" cy="103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49" charset="-122"/>
              </a:rPr>
              <a:t> 证明：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设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400" b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=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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其中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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为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的列向</a:t>
            </a:r>
          </a:p>
          <a:p>
            <a:pPr algn="l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量组，则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的行向量组为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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i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baseline="30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于是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851013"/>
              </p:ext>
            </p:extLst>
          </p:nvPr>
        </p:nvGraphicFramePr>
        <p:xfrm>
          <a:off x="3420313" y="2511373"/>
          <a:ext cx="3073400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8" r:id="rId4" imgW="1676820" imgH="990750" progId="Equation.DSMT4">
                  <p:embed/>
                </p:oleObj>
              </mc:Choice>
              <mc:Fallback>
                <p:oleObj r:id="rId4" imgW="1676820" imgH="9907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0313" y="2511373"/>
                        <a:ext cx="3073400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509075"/>
              </p:ext>
            </p:extLst>
          </p:nvPr>
        </p:nvGraphicFramePr>
        <p:xfrm>
          <a:off x="1547063" y="2439935"/>
          <a:ext cx="1816100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9" r:id="rId6" imgW="1081377" imgH="915990" progId="Equation.DSMT4">
                  <p:embed/>
                </p:oleObj>
              </mc:Choice>
              <mc:Fallback>
                <p:oleObj r:id="rId6" imgW="1081377" imgH="9159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063" y="2439935"/>
                        <a:ext cx="1816100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509168"/>
              </p:ext>
            </p:extLst>
          </p:nvPr>
        </p:nvGraphicFramePr>
        <p:xfrm>
          <a:off x="6515938" y="2511373"/>
          <a:ext cx="3840163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0" r:id="rId8" imgW="1854730" imgH="939970" progId="Equation.DSMT4">
                  <p:embed/>
                </p:oleObj>
              </mc:Choice>
              <mc:Fallback>
                <p:oleObj r:id="rId8" imgW="1854730" imgH="939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938" y="2511373"/>
                        <a:ext cx="3840163" cy="210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00484" y="4713957"/>
            <a:ext cx="11947490" cy="97328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   显然，若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为正交矩阵，则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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为标准正交向量组</a:t>
            </a:r>
            <a:r>
              <a:rPr kumimoji="1" lang="zh-CN" altLang="en-US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；若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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kumimoji="1" lang="en-US" altLang="zh-CN" sz="2400" b="1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为</a:t>
            </a:r>
            <a:endParaRPr kumimoji="1" lang="en-US" altLang="zh-CN" sz="2400" b="1" dirty="0" smtClean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标准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正交向量组，则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为正交矩阵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85400" y="6116641"/>
            <a:ext cx="4765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的行向量组的证明类似，略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711673"/>
              </p:ext>
            </p:extLst>
          </p:nvPr>
        </p:nvGraphicFramePr>
        <p:xfrm>
          <a:off x="3780006" y="2654248"/>
          <a:ext cx="3088059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1" name="公式" r:id="rId10" imgW="1152489" imgH="476350" progId="Equation.3">
                  <p:embed/>
                </p:oleObj>
              </mc:Choice>
              <mc:Fallback>
                <p:oleObj name="公式" r:id="rId10" imgW="1152489" imgH="476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0006" y="2654248"/>
                        <a:ext cx="3088059" cy="1458912"/>
                      </a:xfrm>
                      <a:prstGeom prst="rect">
                        <a:avLst/>
                      </a:prstGeom>
                      <a:solidFill>
                        <a:srgbClr val="3333CC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048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7" grpId="0" bldLvl="0" animBg="1" autoUpdateAnimBg="0"/>
      <p:bldP spid="8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A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华文新魏" panose="02010800040101010101" pitchFamily="2" charset="-122"/>
              </a:rPr>
              <a:t>是正交矩阵的充要条件是</a:t>
            </a:r>
            <a:r>
              <a:rPr kumimoji="1" lang="en-US" altLang="zh-CN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A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的列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或行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向量组是单位正交向量组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Char char="n"/>
              <a:tabLst/>
              <a:defRPr/>
            </a:pPr>
            <a:endParaRPr kumimoji="1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None/>
              <a:tabLst/>
              <a:defRPr/>
            </a:pPr>
            <a:endParaRPr kumimoji="1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是正交矩阵</a:t>
            </a:r>
            <a:r>
              <a:rPr kumimoji="1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/>
                <a:ea typeface="宋体"/>
              </a:rPr>
              <a:t>.</a:t>
            </a: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511506"/>
              </p:ext>
            </p:extLst>
          </p:nvPr>
        </p:nvGraphicFramePr>
        <p:xfrm>
          <a:off x="4970689" y="1101277"/>
          <a:ext cx="2751137" cy="280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1" name="公式" r:id="rId4" imgW="1847970" imgH="1905014" progId="Equation.3">
                  <p:embed/>
                </p:oleObj>
              </mc:Choice>
              <mc:Fallback>
                <p:oleObj name="公式" r:id="rId4" imgW="1847970" imgH="19050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689" y="1101277"/>
                        <a:ext cx="2751137" cy="280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442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58462" y="114789"/>
            <a:ext cx="9144000" cy="7675947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defRPr/>
            </a:pPr>
            <a:r>
              <a:rPr lang="zh-CN" altLang="en-US" sz="32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   若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A</a:t>
            </a:r>
            <a:r>
              <a:rPr lang="zh-CN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是正交矩阵，则</a:t>
            </a: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zh-CN" altLang="en-US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(1) (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Ax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Ay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) = (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x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y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).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(2) (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Ax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Ay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) = 0 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 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x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y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) = 0.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(3) ||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Ax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|| = ||</a:t>
            </a:r>
            <a:r>
              <a:rPr lang="en-US" altLang="zh-CN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x</a:t>
            </a:r>
            <a:r>
              <a:rPr lang="en-US" altLang="zh-CN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/>
              </a:rPr>
              <a:t>||.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3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89033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F76B70E7-40FF-46C9-B86F-96A0D73D0765}"/>
              </a:ext>
            </a:extLst>
          </p:cNvPr>
          <p:cNvSpPr/>
          <p:nvPr/>
        </p:nvSpPr>
        <p:spPr>
          <a:xfrm>
            <a:off x="0" y="0"/>
            <a:ext cx="12192000" cy="4354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xmlns="" id="{C5E3DF5C-996C-4A15-9A68-C9061D5DD571}"/>
              </a:ext>
            </a:extLst>
          </p:cNvPr>
          <p:cNvSpPr/>
          <p:nvPr/>
        </p:nvSpPr>
        <p:spPr>
          <a:xfrm>
            <a:off x="-4916782" y="2970937"/>
            <a:ext cx="23088847" cy="4431525"/>
          </a:xfrm>
          <a:custGeom>
            <a:avLst/>
            <a:gdLst>
              <a:gd name="connsiteX0" fmla="*/ 0 w 12181028"/>
              <a:gd name="connsiteY0" fmla="*/ 1057595 h 1057595"/>
              <a:gd name="connsiteX1" fmla="*/ 1524000 w 12181028"/>
              <a:gd name="connsiteY1" fmla="*/ 3495 h 1057595"/>
              <a:gd name="connsiteX2" fmla="*/ 5194300 w 12181028"/>
              <a:gd name="connsiteY2" fmla="*/ 701995 h 1057595"/>
              <a:gd name="connsiteX3" fmla="*/ 6667500 w 12181028"/>
              <a:gd name="connsiteY3" fmla="*/ 270195 h 1057595"/>
              <a:gd name="connsiteX4" fmla="*/ 8089900 w 12181028"/>
              <a:gd name="connsiteY4" fmla="*/ 460695 h 1057595"/>
              <a:gd name="connsiteX5" fmla="*/ 10718800 w 12181028"/>
              <a:gd name="connsiteY5" fmla="*/ 257495 h 1057595"/>
              <a:gd name="connsiteX6" fmla="*/ 11988800 w 12181028"/>
              <a:gd name="connsiteY6" fmla="*/ 105095 h 1057595"/>
              <a:gd name="connsiteX7" fmla="*/ 12153900 w 12181028"/>
              <a:gd name="connsiteY7" fmla="*/ 511495 h 1057595"/>
              <a:gd name="connsiteX0" fmla="*/ 0 w 12412834"/>
              <a:gd name="connsiteY0" fmla="*/ 1057595 h 1756095"/>
              <a:gd name="connsiteX1" fmla="*/ 1524000 w 12412834"/>
              <a:gd name="connsiteY1" fmla="*/ 3495 h 1756095"/>
              <a:gd name="connsiteX2" fmla="*/ 5194300 w 12412834"/>
              <a:gd name="connsiteY2" fmla="*/ 701995 h 1756095"/>
              <a:gd name="connsiteX3" fmla="*/ 6667500 w 12412834"/>
              <a:gd name="connsiteY3" fmla="*/ 270195 h 1756095"/>
              <a:gd name="connsiteX4" fmla="*/ 8089900 w 12412834"/>
              <a:gd name="connsiteY4" fmla="*/ 460695 h 1756095"/>
              <a:gd name="connsiteX5" fmla="*/ 10718800 w 12412834"/>
              <a:gd name="connsiteY5" fmla="*/ 257495 h 1756095"/>
              <a:gd name="connsiteX6" fmla="*/ 11988800 w 12412834"/>
              <a:gd name="connsiteY6" fmla="*/ 105095 h 1756095"/>
              <a:gd name="connsiteX7" fmla="*/ 12407900 w 12412834"/>
              <a:gd name="connsiteY7" fmla="*/ 1756095 h 1756095"/>
              <a:gd name="connsiteX0" fmla="*/ 0 w 12933534"/>
              <a:gd name="connsiteY0" fmla="*/ 1618883 h 1771283"/>
              <a:gd name="connsiteX1" fmla="*/ 2044700 w 12933534"/>
              <a:gd name="connsiteY1" fmla="*/ 18683 h 1771283"/>
              <a:gd name="connsiteX2" fmla="*/ 5715000 w 12933534"/>
              <a:gd name="connsiteY2" fmla="*/ 717183 h 1771283"/>
              <a:gd name="connsiteX3" fmla="*/ 7188200 w 12933534"/>
              <a:gd name="connsiteY3" fmla="*/ 285383 h 1771283"/>
              <a:gd name="connsiteX4" fmla="*/ 8610600 w 12933534"/>
              <a:gd name="connsiteY4" fmla="*/ 475883 h 1771283"/>
              <a:gd name="connsiteX5" fmla="*/ 11239500 w 12933534"/>
              <a:gd name="connsiteY5" fmla="*/ 272683 h 1771283"/>
              <a:gd name="connsiteX6" fmla="*/ 12509500 w 12933534"/>
              <a:gd name="connsiteY6" fmla="*/ 120283 h 1771283"/>
              <a:gd name="connsiteX7" fmla="*/ 12928600 w 12933534"/>
              <a:gd name="connsiteY7" fmla="*/ 1771283 h 1771283"/>
              <a:gd name="connsiteX0" fmla="*/ 0 w 12933534"/>
              <a:gd name="connsiteY0" fmla="*/ 1618311 h 1770711"/>
              <a:gd name="connsiteX1" fmla="*/ 2044700 w 12933534"/>
              <a:gd name="connsiteY1" fmla="*/ 18111 h 1770711"/>
              <a:gd name="connsiteX2" fmla="*/ 5715000 w 12933534"/>
              <a:gd name="connsiteY2" fmla="*/ 716611 h 1770711"/>
              <a:gd name="connsiteX3" fmla="*/ 7226300 w 12933534"/>
              <a:gd name="connsiteY3" fmla="*/ 107011 h 1770711"/>
              <a:gd name="connsiteX4" fmla="*/ 8610600 w 12933534"/>
              <a:gd name="connsiteY4" fmla="*/ 475311 h 1770711"/>
              <a:gd name="connsiteX5" fmla="*/ 11239500 w 12933534"/>
              <a:gd name="connsiteY5" fmla="*/ 272111 h 1770711"/>
              <a:gd name="connsiteX6" fmla="*/ 12509500 w 12933534"/>
              <a:gd name="connsiteY6" fmla="*/ 119711 h 1770711"/>
              <a:gd name="connsiteX7" fmla="*/ 12928600 w 12933534"/>
              <a:gd name="connsiteY7" fmla="*/ 1770711 h 1770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33534" h="1770711">
                <a:moveTo>
                  <a:pt x="0" y="1618311"/>
                </a:moveTo>
                <a:cubicBezTo>
                  <a:pt x="329141" y="1120894"/>
                  <a:pt x="1092200" y="168394"/>
                  <a:pt x="2044700" y="18111"/>
                </a:cubicBezTo>
                <a:cubicBezTo>
                  <a:pt x="2997200" y="-132172"/>
                  <a:pt x="4851400" y="701794"/>
                  <a:pt x="5715000" y="716611"/>
                </a:cubicBezTo>
                <a:cubicBezTo>
                  <a:pt x="6578600" y="731428"/>
                  <a:pt x="6743700" y="147228"/>
                  <a:pt x="7226300" y="107011"/>
                </a:cubicBezTo>
                <a:cubicBezTo>
                  <a:pt x="7708900" y="66794"/>
                  <a:pt x="7941733" y="447794"/>
                  <a:pt x="8610600" y="475311"/>
                </a:cubicBezTo>
                <a:cubicBezTo>
                  <a:pt x="9279467" y="502828"/>
                  <a:pt x="10589683" y="331378"/>
                  <a:pt x="11239500" y="272111"/>
                </a:cubicBezTo>
                <a:cubicBezTo>
                  <a:pt x="11889317" y="212844"/>
                  <a:pt x="12227983" y="-130056"/>
                  <a:pt x="12509500" y="119711"/>
                </a:cubicBezTo>
                <a:cubicBezTo>
                  <a:pt x="12791017" y="369478"/>
                  <a:pt x="12965641" y="1588677"/>
                  <a:pt x="12928600" y="1770711"/>
                </a:cubicBezTo>
              </a:path>
            </a:pathLst>
          </a:custGeom>
          <a:solidFill>
            <a:srgbClr val="FFC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FF64BFED-275F-4AF2-AD6B-D4A271A25376}"/>
              </a:ext>
            </a:extLst>
          </p:cNvPr>
          <p:cNvGrpSpPr/>
          <p:nvPr/>
        </p:nvGrpSpPr>
        <p:grpSpPr>
          <a:xfrm>
            <a:off x="660401" y="773223"/>
            <a:ext cx="11264900" cy="6084777"/>
            <a:chOff x="660401" y="773223"/>
            <a:chExt cx="11264900" cy="6084777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xmlns="" id="{C7ADA74D-41BB-4C91-B0ED-66E8F82FF5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890" b="7543"/>
            <a:stretch/>
          </p:blipFill>
          <p:spPr>
            <a:xfrm>
              <a:off x="660401" y="773223"/>
              <a:ext cx="11264900" cy="6084777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xmlns="" id="{8ABD5484-DC1D-4C2E-8A55-514EBA3C11E0}"/>
                </a:ext>
              </a:extLst>
            </p:cNvPr>
            <p:cNvSpPr/>
            <p:nvPr/>
          </p:nvSpPr>
          <p:spPr>
            <a:xfrm>
              <a:off x="3845557" y="3298048"/>
              <a:ext cx="6096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8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1</a:t>
              </a:r>
              <a:r>
                <a:rPr lang="zh-CN" altLang="en-US" sz="28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、见书</a:t>
              </a:r>
              <a:r>
                <a:rPr lang="en-US" altLang="zh-CN" sz="2800" b="1" kern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p219     3</a:t>
              </a:r>
              <a:r>
                <a:rPr lang="zh-CN" altLang="en-US" sz="2800" b="1" kern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、</a:t>
              </a:r>
              <a:r>
                <a:rPr lang="en-US" altLang="zh-CN" sz="2800" b="1" kern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4-5</a:t>
              </a:r>
              <a:r>
                <a:rPr lang="zh-CN" altLang="en-US" sz="2800" b="1" kern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、</a:t>
              </a:r>
              <a:r>
                <a:rPr lang="en-US" altLang="zh-CN" sz="2800" b="1" kern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7-13</a:t>
              </a:r>
              <a:endParaRPr lang="en-US" altLang="zh-CN" sz="28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1C5505C5-FDB8-4D0F-B473-ED0CD48ACF1D}"/>
                </a:ext>
              </a:extLst>
            </p:cNvPr>
            <p:cNvSpPr/>
            <p:nvPr/>
          </p:nvSpPr>
          <p:spPr>
            <a:xfrm>
              <a:off x="3517898" y="1636069"/>
              <a:ext cx="111921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kern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作业 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7DC52444-E09B-471D-90DD-11B17033AC41}"/>
                </a:ext>
              </a:extLst>
            </p:cNvPr>
            <p:cNvCxnSpPr>
              <a:cxnSpLocks/>
            </p:cNvCxnSpPr>
            <p:nvPr/>
          </p:nvCxnSpPr>
          <p:spPr>
            <a:xfrm>
              <a:off x="3696507" y="2307800"/>
              <a:ext cx="723093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xmlns="" id="{605C6907-9612-4B5B-8C1C-75CEC0755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3494" y="1463647"/>
              <a:ext cx="1219200" cy="1219200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55292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082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设计专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2922</Words>
  <Application>Microsoft Office PowerPoint</Application>
  <PresentationFormat>自定义</PresentationFormat>
  <Paragraphs>394</Paragraphs>
  <Slides>55</Slides>
  <Notes>54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55</vt:i4>
      </vt:variant>
    </vt:vector>
  </HeadingPairs>
  <TitlesOfParts>
    <vt:vector size="59" baseType="lpstr">
      <vt:lpstr>Office 主题​​</vt:lpstr>
      <vt:lpstr>Equation</vt:lpstr>
      <vt:lpstr>公式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汝德 杨</dc:creator>
  <cp:lastModifiedBy>Administrator</cp:lastModifiedBy>
  <cp:revision>131</cp:revision>
  <dcterms:created xsi:type="dcterms:W3CDTF">2022-11-22T06:29:53Z</dcterms:created>
  <dcterms:modified xsi:type="dcterms:W3CDTF">2024-06-14T00:48:51Z</dcterms:modified>
</cp:coreProperties>
</file>