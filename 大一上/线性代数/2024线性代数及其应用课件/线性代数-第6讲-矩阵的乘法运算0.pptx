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</p:sldMasterIdLst>
  <p:notesMasterIdLst>
    <p:notesMasterId r:id="rId44"/>
  </p:notesMasterIdLst>
  <p:handoutMasterIdLst>
    <p:handoutMasterId r:id="rId45"/>
  </p:handoutMasterIdLst>
  <p:sldIdLst>
    <p:sldId id="303" r:id="rId2"/>
    <p:sldId id="447" r:id="rId3"/>
    <p:sldId id="481" r:id="rId4"/>
    <p:sldId id="453" r:id="rId5"/>
    <p:sldId id="482" r:id="rId6"/>
    <p:sldId id="473" r:id="rId7"/>
    <p:sldId id="483" r:id="rId8"/>
    <p:sldId id="415" r:id="rId9"/>
    <p:sldId id="444" r:id="rId10"/>
    <p:sldId id="448" r:id="rId11"/>
    <p:sldId id="445" r:id="rId12"/>
    <p:sldId id="418" r:id="rId13"/>
    <p:sldId id="419" r:id="rId14"/>
    <p:sldId id="346" r:id="rId15"/>
    <p:sldId id="484" r:id="rId16"/>
    <p:sldId id="476" r:id="rId17"/>
    <p:sldId id="347" r:id="rId18"/>
    <p:sldId id="485" r:id="rId19"/>
    <p:sldId id="486" r:id="rId20"/>
    <p:sldId id="437" r:id="rId21"/>
    <p:sldId id="424" r:id="rId22"/>
    <p:sldId id="474" r:id="rId23"/>
    <p:sldId id="454" r:id="rId24"/>
    <p:sldId id="455" r:id="rId25"/>
    <p:sldId id="456" r:id="rId26"/>
    <p:sldId id="457" r:id="rId27"/>
    <p:sldId id="471" r:id="rId28"/>
    <p:sldId id="472" r:id="rId29"/>
    <p:sldId id="480" r:id="rId30"/>
    <p:sldId id="487" r:id="rId31"/>
    <p:sldId id="459" r:id="rId32"/>
    <p:sldId id="460" r:id="rId33"/>
    <p:sldId id="461" r:id="rId34"/>
    <p:sldId id="469" r:id="rId35"/>
    <p:sldId id="475" r:id="rId36"/>
    <p:sldId id="463" r:id="rId37"/>
    <p:sldId id="464" r:id="rId38"/>
    <p:sldId id="465" r:id="rId39"/>
    <p:sldId id="466" r:id="rId40"/>
    <p:sldId id="467" r:id="rId41"/>
    <p:sldId id="468" r:id="rId42"/>
    <p:sldId id="478" r:id="rId43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12" userDrawn="1">
          <p15:clr>
            <a:srgbClr val="A4A3A4"/>
          </p15:clr>
        </p15:guide>
        <p15:guide id="2" pos="14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q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0000"/>
    <a:srgbClr val="0000FF"/>
    <a:srgbClr val="003300"/>
    <a:srgbClr val="0080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55" autoAdjust="0"/>
    <p:restoredTop sz="89894" autoAdjust="0"/>
  </p:normalViewPr>
  <p:slideViewPr>
    <p:cSldViewPr>
      <p:cViewPr varScale="1">
        <p:scale>
          <a:sx n="59" d="100"/>
          <a:sy n="59" d="100"/>
        </p:scale>
        <p:origin x="652" y="60"/>
      </p:cViewPr>
      <p:guideLst>
        <p:guide orient="horz" pos="3312"/>
        <p:guide pos="14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85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6B7FBB44-D9CB-4ED6-965D-AFB200A4F42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FDEE8D19-6EA2-4E99-ADD0-7E2B17DA50E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5956" name="Rectangle 4">
            <a:extLst>
              <a:ext uri="{FF2B5EF4-FFF2-40B4-BE49-F238E27FC236}">
                <a16:creationId xmlns:a16="http://schemas.microsoft.com/office/drawing/2014/main" id="{0EC7EA41-CC06-401D-97E7-D96BE296014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5957" name="Rectangle 5">
            <a:extLst>
              <a:ext uri="{FF2B5EF4-FFF2-40B4-BE49-F238E27FC236}">
                <a16:creationId xmlns:a16="http://schemas.microsoft.com/office/drawing/2014/main" id="{5643A4F5-9AEB-4650-A42D-8419521D3FE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7BD20AD4-0025-4910-AF98-8FA15FB057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58223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D30F775B-722F-46EA-96D7-61FF3427EA8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C4B6E409-0E89-436A-8367-9E5C0B6AF07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1A3673C-9B32-4F58-BFAF-A10E581B50D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8BD2F5B5-675B-4DF1-8079-5A571E938D9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20FCE62D-36FA-4186-A5FE-B83D82D9651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5" name="Rectangle 7">
            <a:extLst>
              <a:ext uri="{FF2B5EF4-FFF2-40B4-BE49-F238E27FC236}">
                <a16:creationId xmlns:a16="http://schemas.microsoft.com/office/drawing/2014/main" id="{C96A93B9-89E0-4134-9E51-0E4F6EF98C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A261DC47-5EC8-4907-9264-9286123093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93018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今天我抽到的讲课题目是矩阵的乘法运算。（比赛的话我讲这一节）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61DC47-5EC8-4907-9264-928612309346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4894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，我听到有同学说是潜伏中的王翠平和余则成，同学们也知道他们之间若要传递信息，是不能直接传递消息本身的，而是要将这个传递的消息先进行加密，其中他们用到一种矩阵乘法的希尔密码的加密体制（矩阵乘法在密码学中的应用</a:t>
            </a:r>
          </a:p>
          <a:p>
            <a:r>
              <a:rPr lang="zh-CN" altLang="en-US" dirty="0"/>
              <a:t>），具体如下：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61DC47-5EC8-4907-9264-928612309346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8413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要做一名好的共产党员，是需要学好矩阵的乘法的，今天我们就以来学习矩阵的乘法。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61DC47-5EC8-4907-9264-928612309346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534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接下里我们就来具体的计算矩阵的乘积。板书第二个例题（很多同学很容易算错）。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61DC47-5EC8-4907-9264-928612309346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9100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板书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61DC47-5EC8-4907-9264-928612309346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7316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能思维活跃的同学会问，老师，当前阵前阵列数与后阵行数不等，矩阵的乘法就一定不能计算吗？恭喜您，您的疑问帮您解决了，是可以用的，而且可以用到现在很火的量子计算里，来扩大维数。有兴趣的同学下去自行学习，但是在本书的学习中，我们默认前阵列数与后阵行数不等是不能计算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61DC47-5EC8-4907-9264-928612309346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5782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板书两个数相乘的情况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61DC47-5EC8-4907-9264-928612309346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2235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播放视频</a:t>
            </a:r>
            <a:r>
              <a:rPr lang="en-US" altLang="zh-CN" dirty="0"/>
              <a:t>https://www.bilibili.com/video/BV16S4y1h7UE/?spm_id_from=333.337.search-card.all.click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61DC47-5EC8-4907-9264-928612309346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4803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https://www.bilibili.com/video/BV16S4y1h7UE/?spm_id_from=333.337.search-card.all.click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61DC47-5EC8-4907-9264-928612309346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7947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一起总结一下，矩阵的乘法不满足交换律和消去律，有非零因子（板书整洁）。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61DC47-5EC8-4907-9264-928612309346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3954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重点关注性质</a:t>
            </a:r>
            <a:r>
              <a:rPr lang="en-US" altLang="zh-CN" dirty="0"/>
              <a:t>4</a:t>
            </a:r>
            <a:r>
              <a:rPr lang="zh-CN" altLang="en-US" dirty="0"/>
              <a:t>和</a:t>
            </a:r>
            <a:r>
              <a:rPr lang="en-US" altLang="zh-CN" dirty="0"/>
              <a:t>6</a:t>
            </a:r>
            <a:r>
              <a:rPr lang="zh-CN" altLang="en-US" dirty="0"/>
              <a:t>（同学们下去思考），提问（</a:t>
            </a:r>
            <a:r>
              <a:rPr lang="en-US" altLang="zh-CN" dirty="0"/>
              <a:t>4</a:t>
            </a:r>
            <a:r>
              <a:rPr lang="zh-CN" altLang="en-US" dirty="0"/>
              <a:t>），对，有同学回答正确了，是由两个矩阵能相乘的条件决定的。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61DC47-5EC8-4907-9264-928612309346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5615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B82D5E-767B-4D87-B874-C73554BD0E7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40016" y="116632"/>
            <a:ext cx="559223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000" dirty="0">
                <a:solidFill>
                  <a:schemeClr val="bg1"/>
                </a:solidFill>
              </a:rPr>
              <a:t>第六讲</a:t>
            </a:r>
          </a:p>
        </p:txBody>
      </p:sp>
    </p:spTree>
    <p:extLst>
      <p:ext uri="{BB962C8B-B14F-4D97-AF65-F5344CB8AC3E}">
        <p14:creationId xmlns:p14="http://schemas.microsoft.com/office/powerpoint/2010/main" val="1648771618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BFAB255-7962-4857-97C1-1285B6A187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17467" y="6286500"/>
            <a:ext cx="897467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/>
          </a:p>
        </p:txBody>
      </p:sp>
      <p:sp>
        <p:nvSpPr>
          <p:cNvPr id="1027" name="Rectangl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86024E2-93DB-40CA-958C-9D611E63D9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19733" y="6299200"/>
            <a:ext cx="897467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ransition>
    <p:wipe dir="r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7.emf"/><Relationship Id="rId7" Type="http://schemas.openxmlformats.org/officeDocument/2006/relationships/image" Target="../media/image9.wmf"/><Relationship Id="rId12" Type="http://schemas.openxmlformats.org/officeDocument/2006/relationships/image" Target="../media/image13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2.png"/><Relationship Id="rId5" Type="http://schemas.openxmlformats.org/officeDocument/2006/relationships/image" Target="../media/image8.emf"/><Relationship Id="rId10" Type="http://schemas.openxmlformats.org/officeDocument/2006/relationships/image" Target="../media/image11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package" Target="../embeddings/Microsoft_Visio___.vsdx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2.wmf"/><Relationship Id="rId18" Type="http://schemas.openxmlformats.org/officeDocument/2006/relationships/oleObject" Target="../embeddings/oleObject15.bin"/><Relationship Id="rId26" Type="http://schemas.openxmlformats.org/officeDocument/2006/relationships/oleObject" Target="../embeddings/oleObject19.bin"/><Relationship Id="rId3" Type="http://schemas.openxmlformats.org/officeDocument/2006/relationships/image" Target="../media/image17.wmf"/><Relationship Id="rId21" Type="http://schemas.openxmlformats.org/officeDocument/2006/relationships/image" Target="../media/image26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24.wmf"/><Relationship Id="rId25" Type="http://schemas.openxmlformats.org/officeDocument/2006/relationships/image" Target="../media/image28.wmf"/><Relationship Id="rId2" Type="http://schemas.openxmlformats.org/officeDocument/2006/relationships/oleObject" Target="../embeddings/oleObject7.bin"/><Relationship Id="rId16" Type="http://schemas.openxmlformats.org/officeDocument/2006/relationships/oleObject" Target="../embeddings/oleObject14.bin"/><Relationship Id="rId20" Type="http://schemas.openxmlformats.org/officeDocument/2006/relationships/oleObject" Target="../embeddings/oleObject1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1.wmf"/><Relationship Id="rId24" Type="http://schemas.openxmlformats.org/officeDocument/2006/relationships/oleObject" Target="../embeddings/oleObject18.bin"/><Relationship Id="rId5" Type="http://schemas.openxmlformats.org/officeDocument/2006/relationships/image" Target="../media/image18.wmf"/><Relationship Id="rId15" Type="http://schemas.openxmlformats.org/officeDocument/2006/relationships/image" Target="../media/image23.wmf"/><Relationship Id="rId23" Type="http://schemas.openxmlformats.org/officeDocument/2006/relationships/image" Target="../media/image27.wmf"/><Relationship Id="rId28" Type="http://schemas.openxmlformats.org/officeDocument/2006/relationships/image" Target="../media/image30.png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25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13.bin"/><Relationship Id="rId22" Type="http://schemas.openxmlformats.org/officeDocument/2006/relationships/oleObject" Target="../embeddings/oleObject17.bin"/><Relationship Id="rId27" Type="http://schemas.openxmlformats.org/officeDocument/2006/relationships/image" Target="../media/image29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2.w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3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44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31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6.png"/><Relationship Id="rId1" Type="http://schemas.openxmlformats.org/officeDocument/2006/relationships/tags" Target="../tags/tag7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43.wmf"/><Relationship Id="rId5" Type="http://schemas.openxmlformats.org/officeDocument/2006/relationships/image" Target="../media/image40.emf"/><Relationship Id="rId15" Type="http://schemas.openxmlformats.org/officeDocument/2006/relationships/image" Target="../media/image45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3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48.e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7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51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50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60.wmf"/><Relationship Id="rId3" Type="http://schemas.openxmlformats.org/officeDocument/2006/relationships/slideLayout" Target="../slideLayouts/slideLayout1.xml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45.bin"/><Relationship Id="rId2" Type="http://schemas.openxmlformats.org/officeDocument/2006/relationships/tags" Target="../tags/tag11.xml"/><Relationship Id="rId16" Type="http://schemas.openxmlformats.org/officeDocument/2006/relationships/image" Target="../media/image59.wmf"/><Relationship Id="rId20" Type="http://schemas.openxmlformats.org/officeDocument/2006/relationships/image" Target="../media/image61.wmf"/><Relationship Id="rId1" Type="http://schemas.openxmlformats.org/officeDocument/2006/relationships/tags" Target="../tags/tag10.x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56.wmf"/><Relationship Id="rId19" Type="http://schemas.openxmlformats.org/officeDocument/2006/relationships/oleObject" Target="../embeddings/oleObject46.bin"/><Relationship Id="rId4" Type="http://schemas.openxmlformats.org/officeDocument/2006/relationships/image" Target="../media/image53.png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58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13" Type="http://schemas.openxmlformats.org/officeDocument/2006/relationships/oleObject" Target="../embeddings/oleObject52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66.e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68.emf"/><Relationship Id="rId1" Type="http://schemas.openxmlformats.org/officeDocument/2006/relationships/tags" Target="../tags/tag12.xml"/><Relationship Id="rId6" Type="http://schemas.openxmlformats.org/officeDocument/2006/relationships/image" Target="../media/image63.e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10" Type="http://schemas.openxmlformats.org/officeDocument/2006/relationships/image" Target="../media/image65.emf"/><Relationship Id="rId4" Type="http://schemas.openxmlformats.org/officeDocument/2006/relationships/image" Target="../media/image62.e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67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1.wmf"/><Relationship Id="rId12" Type="http://schemas.openxmlformats.org/officeDocument/2006/relationships/oleObject" Target="../embeddings/oleObject59.bin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73.wmf"/><Relationship Id="rId5" Type="http://schemas.openxmlformats.org/officeDocument/2006/relationships/image" Target="../media/image70.wmf"/><Relationship Id="rId15" Type="http://schemas.openxmlformats.org/officeDocument/2006/relationships/image" Target="../media/image75.wmf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72.wmf"/><Relationship Id="rId14" Type="http://schemas.openxmlformats.org/officeDocument/2006/relationships/oleObject" Target="../embeddings/oleObject6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81.png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80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79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8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84.w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oleObject" Target="../embeddings/oleObject67.bin"/><Relationship Id="rId5" Type="http://schemas.openxmlformats.org/officeDocument/2006/relationships/image" Target="../media/image83.wmf"/><Relationship Id="rId4" Type="http://schemas.openxmlformats.org/officeDocument/2006/relationships/oleObject" Target="../embeddings/oleObject66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89.e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86.emf"/><Relationship Id="rId12" Type="http://schemas.openxmlformats.org/officeDocument/2006/relationships/oleObject" Target="../embeddings/oleObject72.bin"/><Relationship Id="rId17" Type="http://schemas.openxmlformats.org/officeDocument/2006/relationships/image" Target="../media/image91.e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74.bin"/><Relationship Id="rId1" Type="http://schemas.openxmlformats.org/officeDocument/2006/relationships/tags" Target="../tags/tag14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88.emf"/><Relationship Id="rId5" Type="http://schemas.openxmlformats.org/officeDocument/2006/relationships/image" Target="../media/image85.emf"/><Relationship Id="rId15" Type="http://schemas.openxmlformats.org/officeDocument/2006/relationships/image" Target="../media/image90.emf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87.emf"/><Relationship Id="rId14" Type="http://schemas.openxmlformats.org/officeDocument/2006/relationships/oleObject" Target="../embeddings/oleObject7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10" Type="http://schemas.openxmlformats.org/officeDocument/2006/relationships/image" Target="../media/image99.wmf"/><Relationship Id="rId4" Type="http://schemas.openxmlformats.org/officeDocument/2006/relationships/image" Target="../media/image94.png"/><Relationship Id="rId9" Type="http://schemas.openxmlformats.org/officeDocument/2006/relationships/oleObject" Target="../embeddings/oleObject7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105.emf"/><Relationship Id="rId18" Type="http://schemas.openxmlformats.org/officeDocument/2006/relationships/oleObject" Target="../embeddings/oleObject84.bin"/><Relationship Id="rId26" Type="http://schemas.openxmlformats.org/officeDocument/2006/relationships/oleObject" Target="../embeddings/oleObject88.bin"/><Relationship Id="rId3" Type="http://schemas.openxmlformats.org/officeDocument/2006/relationships/image" Target="../media/image100.emf"/><Relationship Id="rId21" Type="http://schemas.openxmlformats.org/officeDocument/2006/relationships/image" Target="../media/image109.emf"/><Relationship Id="rId7" Type="http://schemas.openxmlformats.org/officeDocument/2006/relationships/image" Target="../media/image102.emf"/><Relationship Id="rId12" Type="http://schemas.openxmlformats.org/officeDocument/2006/relationships/oleObject" Target="../embeddings/oleObject81.bin"/><Relationship Id="rId17" Type="http://schemas.openxmlformats.org/officeDocument/2006/relationships/image" Target="../media/image107.emf"/><Relationship Id="rId25" Type="http://schemas.openxmlformats.org/officeDocument/2006/relationships/image" Target="../media/image111.emf"/><Relationship Id="rId2" Type="http://schemas.openxmlformats.org/officeDocument/2006/relationships/oleObject" Target="../embeddings/oleObject76.bin"/><Relationship Id="rId16" Type="http://schemas.openxmlformats.org/officeDocument/2006/relationships/oleObject" Target="../embeddings/oleObject83.bin"/><Relationship Id="rId20" Type="http://schemas.openxmlformats.org/officeDocument/2006/relationships/oleObject" Target="../embeddings/oleObject8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104.emf"/><Relationship Id="rId24" Type="http://schemas.openxmlformats.org/officeDocument/2006/relationships/oleObject" Target="../embeddings/oleObject87.bin"/><Relationship Id="rId5" Type="http://schemas.openxmlformats.org/officeDocument/2006/relationships/image" Target="../media/image101.emf"/><Relationship Id="rId15" Type="http://schemas.openxmlformats.org/officeDocument/2006/relationships/image" Target="../media/image106.emf"/><Relationship Id="rId23" Type="http://schemas.openxmlformats.org/officeDocument/2006/relationships/image" Target="../media/image110.wmf"/><Relationship Id="rId10" Type="http://schemas.openxmlformats.org/officeDocument/2006/relationships/oleObject" Target="../embeddings/oleObject80.bin"/><Relationship Id="rId19" Type="http://schemas.openxmlformats.org/officeDocument/2006/relationships/image" Target="../media/image108.emf"/><Relationship Id="rId4" Type="http://schemas.openxmlformats.org/officeDocument/2006/relationships/oleObject" Target="../embeddings/oleObject77.bin"/><Relationship Id="rId9" Type="http://schemas.openxmlformats.org/officeDocument/2006/relationships/image" Target="../media/image103.emf"/><Relationship Id="rId14" Type="http://schemas.openxmlformats.org/officeDocument/2006/relationships/oleObject" Target="../embeddings/oleObject82.bin"/><Relationship Id="rId22" Type="http://schemas.openxmlformats.org/officeDocument/2006/relationships/oleObject" Target="../embeddings/oleObject86.bin"/><Relationship Id="rId27" Type="http://schemas.openxmlformats.org/officeDocument/2006/relationships/image" Target="../media/image112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118.wmf"/><Relationship Id="rId3" Type="http://schemas.openxmlformats.org/officeDocument/2006/relationships/image" Target="../media/image113.emf"/><Relationship Id="rId7" Type="http://schemas.openxmlformats.org/officeDocument/2006/relationships/image" Target="../media/image115.wmf"/><Relationship Id="rId12" Type="http://schemas.openxmlformats.org/officeDocument/2006/relationships/oleObject" Target="../embeddings/oleObject94.bin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117.wmf"/><Relationship Id="rId5" Type="http://schemas.openxmlformats.org/officeDocument/2006/relationships/image" Target="../media/image114.wmf"/><Relationship Id="rId10" Type="http://schemas.openxmlformats.org/officeDocument/2006/relationships/oleObject" Target="../embeddings/oleObject93.bin"/><Relationship Id="rId4" Type="http://schemas.openxmlformats.org/officeDocument/2006/relationships/oleObject" Target="../embeddings/oleObject90.bin"/><Relationship Id="rId9" Type="http://schemas.openxmlformats.org/officeDocument/2006/relationships/image" Target="../media/image11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0.wmf"/><Relationship Id="rId4" Type="http://schemas.openxmlformats.org/officeDocument/2006/relationships/oleObject" Target="../embeddings/oleObject96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6.emf"/><Relationship Id="rId4" Type="http://schemas.openxmlformats.org/officeDocument/2006/relationships/image" Target="../media/image1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image" Target="../media/image137.wmf"/><Relationship Id="rId18" Type="http://schemas.openxmlformats.org/officeDocument/2006/relationships/image" Target="../media/image140.png"/><Relationship Id="rId3" Type="http://schemas.openxmlformats.org/officeDocument/2006/relationships/image" Target="../media/image133.emf"/><Relationship Id="rId7" Type="http://schemas.openxmlformats.org/officeDocument/2006/relationships/image" Target="../media/image135.wmf"/><Relationship Id="rId12" Type="http://schemas.openxmlformats.org/officeDocument/2006/relationships/oleObject" Target="../embeddings/oleObject103.bin"/><Relationship Id="rId17" Type="http://schemas.openxmlformats.org/officeDocument/2006/relationships/image" Target="../media/image139.wmf"/><Relationship Id="rId2" Type="http://schemas.openxmlformats.org/officeDocument/2006/relationships/oleObject" Target="../embeddings/oleObject98.bin"/><Relationship Id="rId16" Type="http://schemas.openxmlformats.org/officeDocument/2006/relationships/oleObject" Target="../embeddings/oleObject10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136.wmf"/><Relationship Id="rId5" Type="http://schemas.openxmlformats.org/officeDocument/2006/relationships/image" Target="../media/image134.wmf"/><Relationship Id="rId15" Type="http://schemas.openxmlformats.org/officeDocument/2006/relationships/image" Target="../media/image138.wmf"/><Relationship Id="rId10" Type="http://schemas.openxmlformats.org/officeDocument/2006/relationships/oleObject" Target="../embeddings/oleObject102.bin"/><Relationship Id="rId4" Type="http://schemas.openxmlformats.org/officeDocument/2006/relationships/oleObject" Target="../embeddings/oleObject99.bin"/><Relationship Id="rId9" Type="http://schemas.openxmlformats.org/officeDocument/2006/relationships/image" Target="../media/image76.wmf"/><Relationship Id="rId14" Type="http://schemas.openxmlformats.org/officeDocument/2006/relationships/oleObject" Target="../embeddings/oleObject104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image" Target="../media/image146.wmf"/><Relationship Id="rId18" Type="http://schemas.openxmlformats.org/officeDocument/2006/relationships/oleObject" Target="../embeddings/oleObject114.bin"/><Relationship Id="rId26" Type="http://schemas.openxmlformats.org/officeDocument/2006/relationships/oleObject" Target="../embeddings/oleObject118.bin"/><Relationship Id="rId3" Type="http://schemas.openxmlformats.org/officeDocument/2006/relationships/image" Target="../media/image141.emf"/><Relationship Id="rId21" Type="http://schemas.openxmlformats.org/officeDocument/2006/relationships/image" Target="../media/image150.emf"/><Relationship Id="rId7" Type="http://schemas.openxmlformats.org/officeDocument/2006/relationships/image" Target="../media/image143.emf"/><Relationship Id="rId12" Type="http://schemas.openxmlformats.org/officeDocument/2006/relationships/oleObject" Target="../embeddings/oleObject111.bin"/><Relationship Id="rId17" Type="http://schemas.openxmlformats.org/officeDocument/2006/relationships/image" Target="../media/image148.emf"/><Relationship Id="rId25" Type="http://schemas.openxmlformats.org/officeDocument/2006/relationships/image" Target="../media/image152.emf"/><Relationship Id="rId2" Type="http://schemas.openxmlformats.org/officeDocument/2006/relationships/oleObject" Target="../embeddings/oleObject106.bin"/><Relationship Id="rId16" Type="http://schemas.openxmlformats.org/officeDocument/2006/relationships/oleObject" Target="../embeddings/oleObject113.bin"/><Relationship Id="rId20" Type="http://schemas.openxmlformats.org/officeDocument/2006/relationships/oleObject" Target="../embeddings/oleObject115.bin"/><Relationship Id="rId29" Type="http://schemas.openxmlformats.org/officeDocument/2006/relationships/image" Target="../media/image154.emf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45.emf"/><Relationship Id="rId24" Type="http://schemas.openxmlformats.org/officeDocument/2006/relationships/oleObject" Target="../embeddings/oleObject117.bin"/><Relationship Id="rId5" Type="http://schemas.openxmlformats.org/officeDocument/2006/relationships/image" Target="../media/image142.emf"/><Relationship Id="rId15" Type="http://schemas.openxmlformats.org/officeDocument/2006/relationships/image" Target="../media/image147.emf"/><Relationship Id="rId23" Type="http://schemas.openxmlformats.org/officeDocument/2006/relationships/image" Target="../media/image151.emf"/><Relationship Id="rId28" Type="http://schemas.openxmlformats.org/officeDocument/2006/relationships/oleObject" Target="../embeddings/oleObject119.bin"/><Relationship Id="rId10" Type="http://schemas.openxmlformats.org/officeDocument/2006/relationships/oleObject" Target="../embeddings/oleObject110.bin"/><Relationship Id="rId19" Type="http://schemas.openxmlformats.org/officeDocument/2006/relationships/image" Target="../media/image149.emf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144.emf"/><Relationship Id="rId14" Type="http://schemas.openxmlformats.org/officeDocument/2006/relationships/oleObject" Target="../embeddings/oleObject112.bin"/><Relationship Id="rId22" Type="http://schemas.openxmlformats.org/officeDocument/2006/relationships/oleObject" Target="../embeddings/oleObject116.bin"/><Relationship Id="rId27" Type="http://schemas.openxmlformats.org/officeDocument/2006/relationships/image" Target="../media/image153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13" Type="http://schemas.openxmlformats.org/officeDocument/2006/relationships/image" Target="../media/image160.emf"/><Relationship Id="rId3" Type="http://schemas.openxmlformats.org/officeDocument/2006/relationships/image" Target="../media/image155.emf"/><Relationship Id="rId7" Type="http://schemas.openxmlformats.org/officeDocument/2006/relationships/image" Target="../media/image157.emf"/><Relationship Id="rId12" Type="http://schemas.openxmlformats.org/officeDocument/2006/relationships/oleObject" Target="../embeddings/oleObject125.bin"/><Relationship Id="rId2" Type="http://schemas.openxmlformats.org/officeDocument/2006/relationships/oleObject" Target="../embeddings/oleObject12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22.bin"/><Relationship Id="rId11" Type="http://schemas.openxmlformats.org/officeDocument/2006/relationships/image" Target="../media/image159.emf"/><Relationship Id="rId5" Type="http://schemas.openxmlformats.org/officeDocument/2006/relationships/image" Target="../media/image156.emf"/><Relationship Id="rId15" Type="http://schemas.openxmlformats.org/officeDocument/2006/relationships/image" Target="../media/image161.emf"/><Relationship Id="rId10" Type="http://schemas.openxmlformats.org/officeDocument/2006/relationships/oleObject" Target="../embeddings/oleObject124.bin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58.emf"/><Relationship Id="rId14" Type="http://schemas.openxmlformats.org/officeDocument/2006/relationships/oleObject" Target="../embeddings/oleObject126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emf"/><Relationship Id="rId2" Type="http://schemas.openxmlformats.org/officeDocument/2006/relationships/oleObject" Target="../embeddings/oleObject127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3.emf"/><Relationship Id="rId4" Type="http://schemas.openxmlformats.org/officeDocument/2006/relationships/oleObject" Target="../embeddings/oleObject128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jpeg"/><Relationship Id="rId2" Type="http://schemas.openxmlformats.org/officeDocument/2006/relationships/image" Target="../media/image168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13" Type="http://schemas.openxmlformats.org/officeDocument/2006/relationships/image" Target="../media/image176.png"/><Relationship Id="rId3" Type="http://schemas.openxmlformats.org/officeDocument/2006/relationships/image" Target="../media/image170.emf"/><Relationship Id="rId7" Type="http://schemas.openxmlformats.org/officeDocument/2006/relationships/image" Target="../media/image172.emf"/><Relationship Id="rId12" Type="http://schemas.openxmlformats.org/officeDocument/2006/relationships/image" Target="../media/image175.png"/><Relationship Id="rId2" Type="http://schemas.openxmlformats.org/officeDocument/2006/relationships/oleObject" Target="../embeddings/oleObject12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31.bin"/><Relationship Id="rId11" Type="http://schemas.openxmlformats.org/officeDocument/2006/relationships/image" Target="../media/image174.emf"/><Relationship Id="rId5" Type="http://schemas.openxmlformats.org/officeDocument/2006/relationships/image" Target="../media/image171.emf"/><Relationship Id="rId10" Type="http://schemas.openxmlformats.org/officeDocument/2006/relationships/oleObject" Target="../embeddings/oleObject133.bin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73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82.wmf"/><Relationship Id="rId18" Type="http://schemas.openxmlformats.org/officeDocument/2006/relationships/oleObject" Target="../embeddings/oleObject142.bin"/><Relationship Id="rId3" Type="http://schemas.openxmlformats.org/officeDocument/2006/relationships/image" Target="../media/image177.emf"/><Relationship Id="rId21" Type="http://schemas.openxmlformats.org/officeDocument/2006/relationships/image" Target="../media/image186.wmf"/><Relationship Id="rId7" Type="http://schemas.openxmlformats.org/officeDocument/2006/relationships/image" Target="../media/image179.wmf"/><Relationship Id="rId12" Type="http://schemas.openxmlformats.org/officeDocument/2006/relationships/oleObject" Target="../embeddings/oleObject139.bin"/><Relationship Id="rId17" Type="http://schemas.openxmlformats.org/officeDocument/2006/relationships/image" Target="../media/image184.emf"/><Relationship Id="rId2" Type="http://schemas.openxmlformats.org/officeDocument/2006/relationships/oleObject" Target="../embeddings/oleObject134.bin"/><Relationship Id="rId16" Type="http://schemas.openxmlformats.org/officeDocument/2006/relationships/oleObject" Target="../embeddings/oleObject141.bin"/><Relationship Id="rId20" Type="http://schemas.openxmlformats.org/officeDocument/2006/relationships/oleObject" Target="../embeddings/oleObject14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81.emf"/><Relationship Id="rId5" Type="http://schemas.openxmlformats.org/officeDocument/2006/relationships/image" Target="../media/image178.emf"/><Relationship Id="rId15" Type="http://schemas.openxmlformats.org/officeDocument/2006/relationships/image" Target="../media/image183.emf"/><Relationship Id="rId10" Type="http://schemas.openxmlformats.org/officeDocument/2006/relationships/oleObject" Target="../embeddings/oleObject138.bin"/><Relationship Id="rId19" Type="http://schemas.openxmlformats.org/officeDocument/2006/relationships/image" Target="../media/image185.emf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80.emf"/><Relationship Id="rId14" Type="http://schemas.openxmlformats.org/officeDocument/2006/relationships/oleObject" Target="../embeddings/oleObject140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3" Type="http://schemas.openxmlformats.org/officeDocument/2006/relationships/image" Target="../media/image187.emf"/><Relationship Id="rId7" Type="http://schemas.openxmlformats.org/officeDocument/2006/relationships/image" Target="../media/image189.emf"/><Relationship Id="rId2" Type="http://schemas.openxmlformats.org/officeDocument/2006/relationships/oleObject" Target="../embeddings/oleObject14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46.bin"/><Relationship Id="rId5" Type="http://schemas.openxmlformats.org/officeDocument/2006/relationships/image" Target="../media/image188.wmf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190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13" Type="http://schemas.openxmlformats.org/officeDocument/2006/relationships/image" Target="../media/image196.emf"/><Relationship Id="rId3" Type="http://schemas.openxmlformats.org/officeDocument/2006/relationships/image" Target="../media/image191.emf"/><Relationship Id="rId7" Type="http://schemas.openxmlformats.org/officeDocument/2006/relationships/image" Target="../media/image193.emf"/><Relationship Id="rId12" Type="http://schemas.openxmlformats.org/officeDocument/2006/relationships/oleObject" Target="../embeddings/oleObject153.bin"/><Relationship Id="rId17" Type="http://schemas.openxmlformats.org/officeDocument/2006/relationships/image" Target="../media/image198.emf"/><Relationship Id="rId2" Type="http://schemas.openxmlformats.org/officeDocument/2006/relationships/oleObject" Target="../embeddings/oleObject148.bin"/><Relationship Id="rId16" Type="http://schemas.openxmlformats.org/officeDocument/2006/relationships/oleObject" Target="../embeddings/oleObject15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50.bin"/><Relationship Id="rId11" Type="http://schemas.openxmlformats.org/officeDocument/2006/relationships/image" Target="../media/image195.emf"/><Relationship Id="rId5" Type="http://schemas.openxmlformats.org/officeDocument/2006/relationships/image" Target="../media/image192.emf"/><Relationship Id="rId15" Type="http://schemas.openxmlformats.org/officeDocument/2006/relationships/image" Target="../media/image197.emf"/><Relationship Id="rId10" Type="http://schemas.openxmlformats.org/officeDocument/2006/relationships/oleObject" Target="../embeddings/oleObject152.bin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94.emf"/><Relationship Id="rId14" Type="http://schemas.openxmlformats.org/officeDocument/2006/relationships/oleObject" Target="../embeddings/oleObject154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emf"/><Relationship Id="rId2" Type="http://schemas.openxmlformats.org/officeDocument/2006/relationships/oleObject" Target="../embeddings/oleObject156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0.emf"/><Relationship Id="rId4" Type="http://schemas.openxmlformats.org/officeDocument/2006/relationships/oleObject" Target="../embeddings/oleObject157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>
            <a:extLst>
              <a:ext uri="{FF2B5EF4-FFF2-40B4-BE49-F238E27FC236}">
                <a16:creationId xmlns:a16="http://schemas.microsoft.com/office/drawing/2014/main" id="{74ACB9D5-0D3A-4477-A2FE-4CA68079C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640" y="2996952"/>
            <a:ext cx="662473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6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矩阵的乘法运算</a:t>
            </a:r>
          </a:p>
        </p:txBody>
      </p:sp>
    </p:spTree>
  </p:cSld>
  <p:clrMapOvr>
    <a:masterClrMapping/>
  </p:clrMapOvr>
  <p:transition advTm="7075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4" descr="xin_342100508104725015796118">
            <a:extLst>
              <a:ext uri="{FF2B5EF4-FFF2-40B4-BE49-F238E27FC236}">
                <a16:creationId xmlns:a16="http://schemas.microsoft.com/office/drawing/2014/main" id="{6E966EE7-9259-4E8C-A2FC-6735B076A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03569" y="2708920"/>
            <a:ext cx="5400600" cy="346172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7172" name="Picture 5" descr="xin_362100508104764026846135">
            <a:extLst>
              <a:ext uri="{FF2B5EF4-FFF2-40B4-BE49-F238E27FC236}">
                <a16:creationId xmlns:a16="http://schemas.microsoft.com/office/drawing/2014/main" id="{67B4F45F-8906-4BD4-AB4E-CEB32BE5A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87831" y="2486240"/>
            <a:ext cx="3672408" cy="407125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195FDB4-E71A-478F-943C-3398C3A2FCF9}"/>
              </a:ext>
            </a:extLst>
          </p:cNvPr>
          <p:cNvSpPr/>
          <p:nvPr/>
        </p:nvSpPr>
        <p:spPr>
          <a:xfrm>
            <a:off x="3695347" y="1268112"/>
            <a:ext cx="48013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3600" b="0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还记得这两个人是谁？</a:t>
            </a:r>
          </a:p>
        </p:txBody>
      </p:sp>
    </p:spTree>
    <p:custDataLst>
      <p:tags r:id="rId1"/>
    </p:custDataLst>
  </p:cSld>
  <p:clrMapOvr>
    <a:masterClrMapping/>
  </p:clrMapOvr>
  <p:transition advTm="35378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Rot="1" noChangeArrowheads="1"/>
          </p:cNvSpPr>
          <p:nvPr/>
        </p:nvSpPr>
        <p:spPr bwMode="auto">
          <a:xfrm>
            <a:off x="646091" y="1032635"/>
            <a:ext cx="42703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r>
              <a:rPr lang="zh-CN" altLang="en-US" sz="36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</a:t>
            </a:r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4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密码学</a:t>
            </a:r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中的应用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514461" y="3673111"/>
            <a:ext cx="1250559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明文</a:t>
            </a:r>
          </a:p>
        </p:txBody>
      </p:sp>
      <p:sp>
        <p:nvSpPr>
          <p:cNvPr id="4" name="AutoShape 6"/>
          <p:cNvSpPr>
            <a:spLocks noChangeArrowheads="1"/>
          </p:cNvSpPr>
          <p:nvPr/>
        </p:nvSpPr>
        <p:spPr bwMode="auto">
          <a:xfrm>
            <a:off x="1830384" y="2880948"/>
            <a:ext cx="2937669" cy="792163"/>
          </a:xfrm>
          <a:prstGeom prst="curvedDownArrow">
            <a:avLst>
              <a:gd name="adj1" fmla="val 89098"/>
              <a:gd name="adj2" fmla="val 178196"/>
              <a:gd name="adj3" fmla="val 33333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3848157" y="3643839"/>
            <a:ext cx="132232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密文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574114" y="2392379"/>
            <a:ext cx="91329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加密</a:t>
            </a:r>
          </a:p>
        </p:txBody>
      </p:sp>
      <p:sp>
        <p:nvSpPr>
          <p:cNvPr id="7" name="Rectangle 43"/>
          <p:cNvSpPr>
            <a:spLocks noChangeArrowheads="1"/>
          </p:cNvSpPr>
          <p:nvPr/>
        </p:nvSpPr>
        <p:spPr bwMode="auto">
          <a:xfrm>
            <a:off x="440755" y="5316748"/>
            <a:ext cx="1223963" cy="863600"/>
          </a:xfrm>
          <a:prstGeom prst="rect">
            <a:avLst/>
          </a:prstGeom>
          <a:solidFill>
            <a:srgbClr val="92D05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i="1"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8" name="Rectangle 49"/>
          <p:cNvSpPr>
            <a:spLocks noChangeArrowheads="1"/>
          </p:cNvSpPr>
          <p:nvPr/>
        </p:nvSpPr>
        <p:spPr bwMode="auto">
          <a:xfrm>
            <a:off x="4219569" y="5392958"/>
            <a:ext cx="1152525" cy="863600"/>
          </a:xfrm>
          <a:prstGeom prst="rect">
            <a:avLst/>
          </a:prstGeom>
          <a:solidFill>
            <a:srgbClr val="FFCC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i="1">
                <a:latin typeface="Arial" panose="020B0604020202020204" pitchFamily="34" charset="0"/>
                <a:ea typeface="微软雅黑" panose="020B0503020204020204" pitchFamily="34" charset="-122"/>
              </a:rPr>
              <a:t>A+B</a:t>
            </a:r>
          </a:p>
        </p:txBody>
      </p:sp>
      <p:grpSp>
        <p:nvGrpSpPr>
          <p:cNvPr id="9" name="Group 58"/>
          <p:cNvGrpSpPr>
            <a:grpSpLocks/>
          </p:cNvGrpSpPr>
          <p:nvPr/>
        </p:nvGrpSpPr>
        <p:grpSpPr bwMode="auto">
          <a:xfrm>
            <a:off x="1772197" y="5245863"/>
            <a:ext cx="2268056" cy="698500"/>
            <a:chOff x="1610" y="2990"/>
            <a:chExt cx="2132" cy="440"/>
          </a:xfrm>
          <a:noFill/>
        </p:grpSpPr>
        <p:sp>
          <p:nvSpPr>
            <p:cNvPr id="10" name="Text Box 46"/>
            <p:cNvSpPr txBox="1">
              <a:spLocks noChangeArrowheads="1"/>
            </p:cNvSpPr>
            <p:nvPr/>
          </p:nvSpPr>
          <p:spPr bwMode="auto">
            <a:xfrm>
              <a:off x="1989" y="2990"/>
              <a:ext cx="755" cy="33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加</a:t>
              </a:r>
              <a:r>
                <a:rPr lang="en-US" altLang="zh-CN" i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B</a:t>
              </a:r>
              <a:endParaRPr lang="zh-CN" altLang="en-US" i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" name="AutoShape 56"/>
            <p:cNvSpPr>
              <a:spLocks noChangeArrowheads="1"/>
            </p:cNvSpPr>
            <p:nvPr/>
          </p:nvSpPr>
          <p:spPr bwMode="auto">
            <a:xfrm>
              <a:off x="1610" y="3294"/>
              <a:ext cx="2132" cy="136"/>
            </a:xfrm>
            <a:prstGeom prst="rightArrow">
              <a:avLst>
                <a:gd name="adj1" fmla="val 50000"/>
                <a:gd name="adj2" fmla="val 391912"/>
              </a:avLst>
            </a:prstGeom>
            <a:grpFill/>
            <a:ln w="38100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1167153" y="4287705"/>
            <a:ext cx="147478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原来的消息</a:t>
            </a:r>
          </a:p>
        </p:txBody>
      </p:sp>
      <p:sp>
        <p:nvSpPr>
          <p:cNvPr id="13" name="AutoShape 6">
            <a:extLst>
              <a:ext uri="{FF2B5EF4-FFF2-40B4-BE49-F238E27FC236}">
                <a16:creationId xmlns:a16="http://schemas.microsoft.com/office/drawing/2014/main" id="{72FBD786-81D9-4602-A355-88301409E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3690" y="2880948"/>
            <a:ext cx="3240360" cy="792162"/>
          </a:xfrm>
          <a:prstGeom prst="curvedDownArrow">
            <a:avLst>
              <a:gd name="adj1" fmla="val 89098"/>
              <a:gd name="adj2" fmla="val 178196"/>
              <a:gd name="adj3" fmla="val 33333"/>
            </a:avLst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Rectangle 43">
            <a:extLst>
              <a:ext uri="{FF2B5EF4-FFF2-40B4-BE49-F238E27FC236}">
                <a16:creationId xmlns:a16="http://schemas.microsoft.com/office/drawing/2014/main" id="{4CF4B1A8-8957-4BCE-9181-09F071E45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0483" y="5382428"/>
            <a:ext cx="1223962" cy="863600"/>
          </a:xfrm>
          <a:prstGeom prst="rect">
            <a:avLst/>
          </a:prstGeom>
          <a:solidFill>
            <a:srgbClr val="99CC00"/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i="1" dirty="0">
                <a:solidFill>
                  <a:schemeClr val="accent2">
                    <a:lumMod val="75000"/>
                  </a:schemeClr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5" name="Rectangle 49">
            <a:extLst>
              <a:ext uri="{FF2B5EF4-FFF2-40B4-BE49-F238E27FC236}">
                <a16:creationId xmlns:a16="http://schemas.microsoft.com/office/drawing/2014/main" id="{DF7B05C1-515E-4992-8F82-BA5F43768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7202" y="5211433"/>
            <a:ext cx="1152525" cy="863600"/>
          </a:xfrm>
          <a:prstGeom prst="rect">
            <a:avLst/>
          </a:prstGeom>
          <a:solidFill>
            <a:srgbClr val="FFCC00"/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i="1" dirty="0">
                <a:solidFill>
                  <a:schemeClr val="accent2">
                    <a:lumMod val="75000"/>
                  </a:schemeClr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AX</a:t>
            </a:r>
          </a:p>
        </p:txBody>
      </p:sp>
      <p:grpSp>
        <p:nvGrpSpPr>
          <p:cNvPr id="16" name="Group 58">
            <a:extLst>
              <a:ext uri="{FF2B5EF4-FFF2-40B4-BE49-F238E27FC236}">
                <a16:creationId xmlns:a16="http://schemas.microsoft.com/office/drawing/2014/main" id="{7DC9B4DB-AEAA-416A-828B-CFFB7025E6C7}"/>
              </a:ext>
            </a:extLst>
          </p:cNvPr>
          <p:cNvGrpSpPr>
            <a:grpSpLocks/>
          </p:cNvGrpSpPr>
          <p:nvPr/>
        </p:nvGrpSpPr>
        <p:grpSpPr bwMode="auto">
          <a:xfrm>
            <a:off x="8220092" y="4905830"/>
            <a:ext cx="2541818" cy="917576"/>
            <a:chOff x="2092" y="2788"/>
            <a:chExt cx="1688" cy="578"/>
          </a:xfrm>
        </p:grpSpPr>
        <p:sp>
          <p:nvSpPr>
            <p:cNvPr id="17" name="Text Box 46">
              <a:extLst>
                <a:ext uri="{FF2B5EF4-FFF2-40B4-BE49-F238E27FC236}">
                  <a16:creationId xmlns:a16="http://schemas.microsoft.com/office/drawing/2014/main" id="{6A7B2CDD-C19C-46D1-AD0B-5B1C50524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9" y="2788"/>
              <a:ext cx="958" cy="330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左乘以</a:t>
              </a:r>
              <a:r>
                <a:rPr lang="en-US" altLang="zh-CN" sz="2800" i="1" dirty="0"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  <a:endParaRPr lang="zh-CN" altLang="en-US" sz="2800" i="1" dirty="0"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AutoShape 56">
              <a:extLst>
                <a:ext uri="{FF2B5EF4-FFF2-40B4-BE49-F238E27FC236}">
                  <a16:creationId xmlns:a16="http://schemas.microsoft.com/office/drawing/2014/main" id="{AFD21023-5A8E-4A0D-88EF-B39DC6046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2" y="3230"/>
              <a:ext cx="1688" cy="136"/>
            </a:xfrm>
            <a:prstGeom prst="rightArrow">
              <a:avLst>
                <a:gd name="adj1" fmla="val 50000"/>
                <a:gd name="adj2" fmla="val 391912"/>
              </a:avLst>
            </a:prstGeom>
            <a:solidFill>
              <a:schemeClr val="accent1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8A3F3C10-D27D-4C62-908B-011007D4A205}"/>
              </a:ext>
            </a:extLst>
          </p:cNvPr>
          <p:cNvSpPr/>
          <p:nvPr/>
        </p:nvSpPr>
        <p:spPr>
          <a:xfrm>
            <a:off x="7149817" y="932358"/>
            <a:ext cx="466686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r>
              <a:rPr lang="zh-CN" altLang="en-US" sz="40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乘法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4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密码学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中的应用</a:t>
            </a:r>
          </a:p>
        </p:txBody>
      </p:sp>
      <p:sp>
        <p:nvSpPr>
          <p:cNvPr id="20" name="矩形 19"/>
          <p:cNvSpPr/>
          <p:nvPr/>
        </p:nvSpPr>
        <p:spPr>
          <a:xfrm>
            <a:off x="7149817" y="4195544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原来的消息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9026599" y="2358189"/>
            <a:ext cx="91329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加密</a:t>
            </a:r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7599905" y="3670407"/>
            <a:ext cx="1250559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明文</a:t>
            </a:r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10100746" y="3951694"/>
            <a:ext cx="132232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密文</a:t>
            </a:r>
          </a:p>
        </p:txBody>
      </p:sp>
    </p:spTree>
    <p:extLst>
      <p:ext uri="{BB962C8B-B14F-4D97-AF65-F5344CB8AC3E}">
        <p14:creationId xmlns:p14="http://schemas.microsoft.com/office/powerpoint/2010/main" val="373881610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4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/>
      <p:bldP spid="7" grpId="0" animBg="1"/>
      <p:bldP spid="8" grpId="0" animBg="1"/>
      <p:bldP spid="12" grpId="0"/>
      <p:bldP spid="13" grpId="0" animBg="1"/>
      <p:bldP spid="14" grpId="0" animBg="1"/>
      <p:bldP spid="15" grpId="0" animBg="1"/>
      <p:bldP spid="19" grpId="0"/>
      <p:bldP spid="20" grpId="0"/>
      <p:bldP spid="21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xin_362100508104764026846135">
            <a:extLst>
              <a:ext uri="{FF2B5EF4-FFF2-40B4-BE49-F238E27FC236}">
                <a16:creationId xmlns:a16="http://schemas.microsoft.com/office/drawing/2014/main" id="{D21C89FF-F419-451B-938A-506DF5F05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9" y="825139"/>
            <a:ext cx="2082801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5">
            <a:extLst>
              <a:ext uri="{FF2B5EF4-FFF2-40B4-BE49-F238E27FC236}">
                <a16:creationId xmlns:a16="http://schemas.microsoft.com/office/drawing/2014/main" id="{B3B79417-5189-447E-BFC8-8E0DFD901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1776" y="823914"/>
            <a:ext cx="601466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把这个消息：</a:t>
            </a:r>
            <a:endParaRPr lang="en-US" altLang="zh-CN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eaLnBrk="1" hangingPunct="1"/>
            <a:r>
              <a:rPr lang="en-US" altLang="zh-CN" sz="2400" i="1" u="sng" dirty="0">
                <a:solidFill>
                  <a:schemeClr val="bg1"/>
                </a:solidFill>
                <a:latin typeface="+mn-lt"/>
                <a:ea typeface="楷体" panose="02010609060101010101" pitchFamily="49" charset="-122"/>
              </a:rPr>
              <a:t>ACCOMPLISH  THE TASK</a:t>
            </a:r>
            <a:r>
              <a:rPr lang="zh-CN" altLang="en-US" sz="2400" i="1" u="sng" dirty="0">
                <a:solidFill>
                  <a:schemeClr val="bg1"/>
                </a:solidFill>
                <a:latin typeface="+mn-lt"/>
                <a:ea typeface="楷体" panose="02010609060101010101" pitchFamily="49" charset="-122"/>
              </a:rPr>
              <a:t>。</a:t>
            </a:r>
            <a:endParaRPr lang="en-US" altLang="zh-CN" u="sng" dirty="0">
              <a:solidFill>
                <a:schemeClr val="bg1"/>
              </a:solidFill>
              <a:latin typeface="+mn-lt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按列写成</a:t>
            </a:r>
            <a:r>
              <a:rPr lang="en-US" altLang="zh-CN" dirty="0">
                <a:solidFill>
                  <a:schemeClr val="bg1"/>
                </a:solidFill>
                <a:latin typeface="+mn-lt"/>
                <a:ea typeface="楷体" panose="02010609060101010101" pitchFamily="49" charset="-122"/>
              </a:rPr>
              <a:t>4×5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矩阵</a:t>
            </a:r>
            <a:r>
              <a:rPr lang="en-US" altLang="zh-CN" i="1" dirty="0">
                <a:solidFill>
                  <a:schemeClr val="bg1"/>
                </a:solidFill>
                <a:latin typeface="+mn-lt"/>
                <a:ea typeface="楷体" panose="02010609060101010101" pitchFamily="49" charset="-122"/>
              </a:rPr>
              <a:t>X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C39F09E8-5BAC-48EB-95DD-75262859EC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283548"/>
              </p:ext>
            </p:extLst>
          </p:nvPr>
        </p:nvGraphicFramePr>
        <p:xfrm>
          <a:off x="5284788" y="2276475"/>
          <a:ext cx="3716337" cy="188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44640" imgH="1854000" progId="Equation.DSMT4">
                  <p:embed/>
                </p:oleObj>
              </mc:Choice>
              <mc:Fallback>
                <p:oleObj name="Equation" r:id="rId5" imgW="3644640" imgH="18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4788" y="2276475"/>
                        <a:ext cx="3716337" cy="188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>
            <a:extLst>
              <a:ext uri="{FF2B5EF4-FFF2-40B4-BE49-F238E27FC236}">
                <a16:creationId xmlns:a16="http://schemas.microsoft.com/office/drawing/2014/main" id="{EA66F05A-010C-4D5C-A3B0-BB3CC642E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3136" y="4440592"/>
            <a:ext cx="208280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然后加密：</a:t>
            </a:r>
          </a:p>
        </p:txBody>
      </p:sp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296AD494-D428-4EB3-B401-41A5839F8B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652049"/>
              </p:ext>
            </p:extLst>
          </p:nvPr>
        </p:nvGraphicFramePr>
        <p:xfrm>
          <a:off x="3065463" y="4343400"/>
          <a:ext cx="7285037" cy="195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908760" imgH="1854000" progId="Equation.DSMT4">
                  <p:embed/>
                </p:oleObj>
              </mc:Choice>
              <mc:Fallback>
                <p:oleObj name="Equation" r:id="rId7" imgW="6908760" imgH="18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463" y="4343400"/>
                        <a:ext cx="7285037" cy="195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7">
            <a:extLst>
              <a:ext uri="{FF2B5EF4-FFF2-40B4-BE49-F238E27FC236}">
                <a16:creationId xmlns:a16="http://schemas.microsoft.com/office/drawing/2014/main" id="{BBB8B80C-7EDC-4C08-A2DC-4D79B4F4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136" y="6116315"/>
            <a:ext cx="2451586" cy="563237"/>
          </a:xfrm>
          <a:prstGeom prst="wedgeRoundRectCallout">
            <a:avLst>
              <a:gd name="adj1" fmla="val -33149"/>
              <a:gd name="adj2" fmla="val 52323"/>
              <a:gd name="adj3" fmla="val 16667"/>
            </a:avLst>
          </a:prstGeom>
          <a:solidFill>
            <a:srgbClr val="FF0000"/>
          </a:solidFill>
          <a:ln w="38100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如何得到密文？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9598310"/>
      </p:ext>
    </p:extLst>
  </p:cSld>
  <p:clrMapOvr>
    <a:masterClrMapping/>
  </p:clrMapOvr>
  <p:transition advTm="40227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680017"/>
              </p:ext>
            </p:extLst>
          </p:nvPr>
        </p:nvGraphicFramePr>
        <p:xfrm>
          <a:off x="3576564" y="1456554"/>
          <a:ext cx="4883150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57304" imgH="828718" progId="Equation.3">
                  <p:embed/>
                </p:oleObj>
              </mc:Choice>
              <mc:Fallback>
                <p:oleObj name="公式" r:id="rId2" imgW="2057304" imgH="828718" progId="Equation.3">
                  <p:embed/>
                  <p:pic>
                    <p:nvPicPr>
                      <p:cNvPr id="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6564" y="1456554"/>
                        <a:ext cx="4883150" cy="2108200"/>
                      </a:xfrm>
                      <a:prstGeom prst="rect">
                        <a:avLst/>
                      </a:prstGeom>
                      <a:solidFill>
                        <a:srgbClr val="2626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412909"/>
              </p:ext>
            </p:extLst>
          </p:nvPr>
        </p:nvGraphicFramePr>
        <p:xfrm>
          <a:off x="3741663" y="3522670"/>
          <a:ext cx="4443413" cy="202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43052" imgH="828718" progId="Equation.3">
                  <p:embed/>
                </p:oleObj>
              </mc:Choice>
              <mc:Fallback>
                <p:oleObj name="公式" r:id="rId4" imgW="1943052" imgH="828718" progId="Equation.3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1663" y="3522670"/>
                        <a:ext cx="4443413" cy="2025650"/>
                      </a:xfrm>
                      <a:prstGeom prst="rect">
                        <a:avLst/>
                      </a:prstGeom>
                      <a:solidFill>
                        <a:srgbClr val="2626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532782"/>
              </p:ext>
            </p:extLst>
          </p:nvPr>
        </p:nvGraphicFramePr>
        <p:xfrm>
          <a:off x="3710806" y="5548222"/>
          <a:ext cx="6025769" cy="900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20960" imgH="431640" progId="Equation.DSMT4">
                  <p:embed/>
                </p:oleObj>
              </mc:Choice>
              <mc:Fallback>
                <p:oleObj name="Equation" r:id="rId6" imgW="3720960" imgH="431640" progId="Equation.DSMT4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0806" y="5548222"/>
                        <a:ext cx="6025769" cy="900951"/>
                      </a:xfrm>
                      <a:prstGeom prst="rect">
                        <a:avLst/>
                      </a:prstGeom>
                      <a:solidFill>
                        <a:srgbClr val="2626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316972"/>
              </p:ext>
            </p:extLst>
          </p:nvPr>
        </p:nvGraphicFramePr>
        <p:xfrm>
          <a:off x="5807968" y="6302705"/>
          <a:ext cx="32861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43037" imgH="85597" progId="Equation.3">
                  <p:embed/>
                </p:oleObj>
              </mc:Choice>
              <mc:Fallback>
                <p:oleObj name="公式" r:id="rId8" imgW="1343037" imgH="85597" progId="Equation.3">
                  <p:embed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7968" y="6302705"/>
                        <a:ext cx="3286125" cy="457200"/>
                      </a:xfrm>
                      <a:prstGeom prst="rect">
                        <a:avLst/>
                      </a:prstGeom>
                      <a:solidFill>
                        <a:srgbClr val="2626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5664126" y="1982016"/>
            <a:ext cx="2520950" cy="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b="0" kern="0">
              <a:solidFill>
                <a:sysClr val="windowText" lastClr="000000"/>
              </a:solidFill>
            </a:endParaRPr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5591944" y="3758108"/>
            <a:ext cx="0" cy="1728788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b="0" kern="0">
              <a:solidFill>
                <a:sysClr val="windowText" lastClr="000000"/>
              </a:solidFill>
            </a:endParaRPr>
          </a:p>
        </p:txBody>
      </p:sp>
      <p:sp>
        <p:nvSpPr>
          <p:cNvPr id="8" name="Line 11"/>
          <p:cNvSpPr>
            <a:spLocks noChangeShapeType="1"/>
          </p:cNvSpPr>
          <p:nvPr/>
        </p:nvSpPr>
        <p:spPr bwMode="auto">
          <a:xfrm>
            <a:off x="6312024" y="3783829"/>
            <a:ext cx="0" cy="1728787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b="0" kern="0">
              <a:solidFill>
                <a:sysClr val="windowText" lastClr="000000"/>
              </a:solidFill>
            </a:endParaRPr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>
            <a:off x="7608168" y="3748095"/>
            <a:ext cx="0" cy="1800225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b="0" kern="0">
              <a:solidFill>
                <a:sysClr val="windowText" lastClr="000000"/>
              </a:solidFill>
            </a:endParaRP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2982961" y="2762430"/>
            <a:ext cx="554037" cy="223202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400" b="0" kern="0" dirty="0">
                <a:solidFill>
                  <a:schemeClr val="bg1">
                    <a:lumMod val="95000"/>
                  </a:schemeClr>
                </a:solidFill>
                <a:latin typeface="Tahoma" pitchFamily="34" charset="0"/>
              </a:rPr>
              <a:t>左行乘右列法则</a:t>
            </a: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9614645" y="1372883"/>
            <a:ext cx="554037" cy="332105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400" b="0" kern="0" dirty="0">
                <a:solidFill>
                  <a:schemeClr val="bg1">
                    <a:lumMod val="95000"/>
                  </a:schemeClr>
                </a:solidFill>
                <a:latin typeface="Tahoma" pitchFamily="34" charset="0"/>
              </a:rPr>
              <a:t>两个矩阵能相乘的条件</a:t>
            </a:r>
            <a:r>
              <a:rPr kumimoji="0" lang="en-US" altLang="zh-CN" sz="2400" b="0" kern="0" dirty="0">
                <a:solidFill>
                  <a:schemeClr val="bg1">
                    <a:lumMod val="95000"/>
                  </a:schemeClr>
                </a:solidFill>
                <a:latin typeface="Tahoma" pitchFamily="34" charset="0"/>
              </a:rPr>
              <a:t>?</a:t>
            </a:r>
          </a:p>
        </p:txBody>
      </p:sp>
      <p:sp>
        <p:nvSpPr>
          <p:cNvPr id="12" name="矩形 11"/>
          <p:cNvSpPr/>
          <p:nvPr/>
        </p:nvSpPr>
        <p:spPr>
          <a:xfrm>
            <a:off x="2381970" y="567554"/>
            <a:ext cx="7272338" cy="7080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矩阵的乘法运算的定义和性质</a:t>
            </a:r>
          </a:p>
        </p:txBody>
      </p:sp>
      <p:sp>
        <p:nvSpPr>
          <p:cNvPr id="13" name="矩形 12"/>
          <p:cNvSpPr/>
          <p:nvPr/>
        </p:nvSpPr>
        <p:spPr>
          <a:xfrm>
            <a:off x="1610004" y="1611833"/>
            <a:ext cx="3299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CC"/>
              </a:buClr>
              <a:buSzPct val="70000"/>
              <a:defRPr/>
            </a:pPr>
            <a:r>
              <a:rPr kumimoji="0" lang="en-US" altLang="zh-CN" b="0" kern="0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/>
              </a:rPr>
              <a:t>Def</a:t>
            </a:r>
            <a:r>
              <a:rPr kumimoji="0" lang="en-US" altLang="zh-CN" b="0" kern="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/>
              </a:rPr>
              <a:t> 2.3 </a:t>
            </a:r>
            <a:r>
              <a:rPr kumimoji="0" lang="en-US" altLang="zh-CN" i="1" kern="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/>
              </a:rPr>
              <a:t>A</a:t>
            </a:r>
            <a:r>
              <a:rPr kumimoji="0" lang="en-US" altLang="zh-CN" i="1" kern="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/>
                <a:cs typeface="Tahoma" pitchFamily="34" charset="0"/>
              </a:rPr>
              <a:t>·B </a:t>
            </a:r>
            <a:r>
              <a:rPr kumimoji="0" lang="en-US" altLang="zh-CN" b="0" kern="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/>
                <a:cs typeface="Tahoma" pitchFamily="34" charset="0"/>
              </a:rPr>
              <a:t>=</a:t>
            </a:r>
            <a:r>
              <a:rPr kumimoji="0" lang="en-US" altLang="zh-CN" i="1" kern="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/>
                <a:cs typeface="Tahoma" pitchFamily="34" charset="0"/>
              </a:rPr>
              <a:t> AB</a:t>
            </a:r>
          </a:p>
        </p:txBody>
      </p:sp>
      <p:sp>
        <p:nvSpPr>
          <p:cNvPr id="14" name="矩形 13"/>
          <p:cNvSpPr/>
          <p:nvPr/>
        </p:nvSpPr>
        <p:spPr>
          <a:xfrm>
            <a:off x="8185076" y="4693933"/>
            <a:ext cx="3757760" cy="683264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defRPr/>
            </a:pPr>
            <a:r>
              <a:rPr kumimoji="0" lang="en-US" altLang="zh-CN" sz="3200" b="0" i="1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3200" b="0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3200" b="0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列数 </a:t>
            </a:r>
            <a:r>
              <a:rPr kumimoji="0" lang="en-US" altLang="zh-CN" sz="3200" b="0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en-US" altLang="zh-CN" sz="3200" b="0" i="1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B </a:t>
            </a:r>
            <a:r>
              <a:rPr kumimoji="0" lang="zh-CN" altLang="en-US" sz="3200" b="0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3200" b="0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行数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856" y="2544942"/>
            <a:ext cx="2609850" cy="2667000"/>
          </a:xfrm>
          <a:prstGeom prst="rect">
            <a:avLst/>
          </a:prstGeom>
        </p:spPr>
      </p:pic>
      <p:sp>
        <p:nvSpPr>
          <p:cNvPr id="16" name="Line 9"/>
          <p:cNvSpPr>
            <a:spLocks noChangeShapeType="1"/>
          </p:cNvSpPr>
          <p:nvPr/>
        </p:nvSpPr>
        <p:spPr bwMode="auto">
          <a:xfrm>
            <a:off x="5664126" y="2473370"/>
            <a:ext cx="2520950" cy="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b="0" kern="0">
              <a:solidFill>
                <a:sysClr val="windowText" lastClr="000000"/>
              </a:solidFill>
            </a:endParaRPr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>
            <a:off x="5664126" y="3494911"/>
            <a:ext cx="2520950" cy="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b="0" kern="0">
              <a:solidFill>
                <a:sysClr val="windowText" lastClr="000000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10042" y="2485358"/>
            <a:ext cx="2490790" cy="184257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3612" y="977972"/>
            <a:ext cx="2527220" cy="150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9237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151784" y="24928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88568"/>
              </p:ext>
            </p:extLst>
          </p:nvPr>
        </p:nvGraphicFramePr>
        <p:xfrm>
          <a:off x="2088966" y="764704"/>
          <a:ext cx="8014068" cy="5544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181253" imgH="2886223" progId="Visio.Drawing.15">
                  <p:embed/>
                </p:oleObj>
              </mc:Choice>
              <mc:Fallback>
                <p:oleObj name="Visio" r:id="rId2" imgW="4181253" imgH="2886223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8966" y="764704"/>
                        <a:ext cx="8014068" cy="55446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332656"/>
            <a:ext cx="7124700" cy="48196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848" y="279995"/>
            <a:ext cx="6705600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9422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659438"/>
              </p:ext>
            </p:extLst>
          </p:nvPr>
        </p:nvGraphicFramePr>
        <p:xfrm>
          <a:off x="1425477" y="-50790"/>
          <a:ext cx="5154612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78100" imgH="927100" progId="">
                  <p:embed/>
                </p:oleObj>
              </mc:Choice>
              <mc:Fallback>
                <p:oleObj name="Equation" r:id="rId2" imgW="2578100" imgH="927100" progId="">
                  <p:embed/>
                  <p:pic>
                    <p:nvPicPr>
                      <p:cNvPr id="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477" y="-50790"/>
                        <a:ext cx="5154612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42789" y="609610"/>
            <a:ext cx="11144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楷体_GB2312"/>
                <a:ea typeface="楷体_GB231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楷体_GB2312"/>
                <a:ea typeface="楷体_GB2312"/>
              </a:rPr>
              <a:t>1</a:t>
            </a:r>
            <a:r>
              <a:rPr kumimoji="1" lang="en-US" altLang="zh-CN" sz="2400" b="1" dirty="0">
                <a:solidFill>
                  <a:srgbClr val="0000FF"/>
                </a:solidFill>
                <a:latin typeface="楷体_GB2312"/>
                <a:ea typeface="楷体_GB2312"/>
              </a:rPr>
              <a:t> </a:t>
            </a:r>
            <a:r>
              <a:rPr kumimoji="1" lang="zh-CN" altLang="en-US" sz="2400" b="1" dirty="0">
                <a:solidFill>
                  <a:srgbClr val="00007D"/>
                </a:solidFill>
                <a:latin typeface="楷体_GB2312"/>
                <a:ea typeface="楷体_GB2312"/>
              </a:rPr>
              <a:t>设</a:t>
            </a:r>
          </a:p>
        </p:txBody>
      </p:sp>
      <p:graphicFrame>
        <p:nvGraphicFramePr>
          <p:cNvPr id="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194618"/>
              </p:ext>
            </p:extLst>
          </p:nvPr>
        </p:nvGraphicFramePr>
        <p:xfrm>
          <a:off x="661988" y="2116138"/>
          <a:ext cx="83629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76500" imgH="215900" progId="Equation.DSMT4">
                  <p:embed/>
                </p:oleObj>
              </mc:Choice>
              <mc:Fallback>
                <p:oleObj name="Equation" r:id="rId4" imgW="2476500" imgH="215900" progId="Equation.DSMT4">
                  <p:embed/>
                  <p:pic>
                    <p:nvPicPr>
                      <p:cNvPr id="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2116138"/>
                        <a:ext cx="83629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372412"/>
              </p:ext>
            </p:extLst>
          </p:nvPr>
        </p:nvGraphicFramePr>
        <p:xfrm>
          <a:off x="659037" y="2616298"/>
          <a:ext cx="781685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22500" imgH="215900" progId="Equation.3">
                  <p:embed/>
                </p:oleObj>
              </mc:Choice>
              <mc:Fallback>
                <p:oleObj name="公式" r:id="rId6" imgW="2222500" imgH="215900" progId="Equation.3">
                  <p:embed/>
                  <p:pic>
                    <p:nvPicPr>
                      <p:cNvPr id="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037" y="2616298"/>
                        <a:ext cx="781685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连接符 5"/>
          <p:cNvCxnSpPr>
            <a:cxnSpLocks noChangeShapeType="1"/>
          </p:cNvCxnSpPr>
          <p:nvPr/>
        </p:nvCxnSpPr>
        <p:spPr bwMode="auto">
          <a:xfrm>
            <a:off x="1755677" y="349260"/>
            <a:ext cx="2592387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直接连接符 6"/>
          <p:cNvCxnSpPr>
            <a:cxnSpLocks noChangeShapeType="1"/>
          </p:cNvCxnSpPr>
          <p:nvPr/>
        </p:nvCxnSpPr>
        <p:spPr bwMode="auto">
          <a:xfrm>
            <a:off x="1827114" y="781060"/>
            <a:ext cx="2592388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直接连接符 7"/>
          <p:cNvCxnSpPr>
            <a:cxnSpLocks noChangeShapeType="1"/>
          </p:cNvCxnSpPr>
          <p:nvPr/>
        </p:nvCxnSpPr>
        <p:spPr bwMode="auto">
          <a:xfrm>
            <a:off x="1827114" y="1285885"/>
            <a:ext cx="2592388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直接连接符 8"/>
          <p:cNvCxnSpPr>
            <a:cxnSpLocks noChangeShapeType="1"/>
          </p:cNvCxnSpPr>
          <p:nvPr/>
        </p:nvCxnSpPr>
        <p:spPr bwMode="auto">
          <a:xfrm>
            <a:off x="5159896" y="0"/>
            <a:ext cx="0" cy="1800225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直接连接符 9"/>
          <p:cNvCxnSpPr>
            <a:cxnSpLocks noChangeShapeType="1"/>
          </p:cNvCxnSpPr>
          <p:nvPr/>
        </p:nvCxnSpPr>
        <p:spPr bwMode="auto">
          <a:xfrm>
            <a:off x="5735960" y="0"/>
            <a:ext cx="0" cy="1800225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直接连接符 10"/>
          <p:cNvCxnSpPr>
            <a:cxnSpLocks noChangeShapeType="1"/>
          </p:cNvCxnSpPr>
          <p:nvPr/>
        </p:nvCxnSpPr>
        <p:spPr bwMode="auto">
          <a:xfrm>
            <a:off x="6240016" y="74413"/>
            <a:ext cx="0" cy="1800225"/>
          </a:xfrm>
          <a:prstGeom prst="line">
            <a:avLst/>
          </a:prstGeom>
          <a:noFill/>
          <a:ln w="28575" algn="ctr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456185"/>
              </p:ext>
            </p:extLst>
          </p:nvPr>
        </p:nvGraphicFramePr>
        <p:xfrm>
          <a:off x="601887" y="3120354"/>
          <a:ext cx="8396287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387600" imgH="228600" progId="Equation.3">
                  <p:embed/>
                </p:oleObj>
              </mc:Choice>
              <mc:Fallback>
                <p:oleObj name="公式" r:id="rId8" imgW="2387600" imgH="228600" progId="Equation.3">
                  <p:embed/>
                  <p:pic>
                    <p:nvPicPr>
                      <p:cNvPr id="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87" y="3120354"/>
                        <a:ext cx="8396287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6627714" y="709623"/>
            <a:ext cx="495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楷体_GB2312"/>
                <a:ea typeface="楷体_GB2312"/>
              </a:rPr>
              <a:t>求</a:t>
            </a:r>
            <a:endParaRPr kumimoji="1" lang="zh-CN" altLang="en-US" sz="2400" b="1">
              <a:solidFill>
                <a:srgbClr val="00007D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232691"/>
              </p:ext>
            </p:extLst>
          </p:nvPr>
        </p:nvGraphicFramePr>
        <p:xfrm>
          <a:off x="7189689" y="768360"/>
          <a:ext cx="94456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79158" imgH="177646" progId="Equation.3">
                  <p:embed/>
                </p:oleObj>
              </mc:Choice>
              <mc:Fallback>
                <p:oleObj name="公式" r:id="rId10" imgW="279158" imgH="177646" progId="Equation.3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9689" y="768360"/>
                        <a:ext cx="94456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47328" y="1607143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楷体_GB2312"/>
                <a:ea typeface="楷体_GB2312"/>
              </a:rPr>
              <a:t>解：</a:t>
            </a:r>
            <a:endParaRPr kumimoji="1" lang="zh-CN" altLang="en-US" sz="2400" b="1" dirty="0">
              <a:solidFill>
                <a:srgbClr val="00007D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1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638113"/>
              </p:ext>
            </p:extLst>
          </p:nvPr>
        </p:nvGraphicFramePr>
        <p:xfrm>
          <a:off x="612478" y="1657943"/>
          <a:ext cx="23193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85800" imgH="241300" progId="Equation.3">
                  <p:embed/>
                </p:oleObj>
              </mc:Choice>
              <mc:Fallback>
                <p:oleObj name="公式" r:id="rId12" imgW="685800" imgH="241300" progId="Equation.3">
                  <p:embed/>
                  <p:pic>
                    <p:nvPicPr>
                      <p:cNvPr id="1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478" y="1657943"/>
                        <a:ext cx="231933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2784178" y="1637305"/>
            <a:ext cx="4937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楷体_GB2312"/>
                <a:ea typeface="楷体_GB2312"/>
              </a:rPr>
              <a:t>则</a:t>
            </a:r>
          </a:p>
        </p:txBody>
      </p:sp>
      <p:graphicFrame>
        <p:nvGraphicFramePr>
          <p:cNvPr id="1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90301"/>
              </p:ext>
            </p:extLst>
          </p:nvPr>
        </p:nvGraphicFramePr>
        <p:xfrm>
          <a:off x="617762" y="3696418"/>
          <a:ext cx="830738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362200" imgH="215900" progId="Equation.3">
                  <p:embed/>
                </p:oleObj>
              </mc:Choice>
              <mc:Fallback>
                <p:oleObj name="公式" r:id="rId14" imgW="2362200" imgH="215900" progId="Equation.3">
                  <p:embed/>
                  <p:pic>
                    <p:nvPicPr>
                      <p:cNvPr id="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762" y="3696418"/>
                        <a:ext cx="830738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799094"/>
              </p:ext>
            </p:extLst>
          </p:nvPr>
        </p:nvGraphicFramePr>
        <p:xfrm>
          <a:off x="659037" y="4272482"/>
          <a:ext cx="74580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20900" imgH="215900" progId="Equation.DSMT4">
                  <p:embed/>
                </p:oleObj>
              </mc:Choice>
              <mc:Fallback>
                <p:oleObj name="Equation" r:id="rId16" imgW="2120900" imgH="215900" progId="Equation.DSMT4">
                  <p:embed/>
                  <p:pic>
                    <p:nvPicPr>
                      <p:cNvPr id="19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037" y="4272482"/>
                        <a:ext cx="745807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081887"/>
              </p:ext>
            </p:extLst>
          </p:nvPr>
        </p:nvGraphicFramePr>
        <p:xfrm>
          <a:off x="646337" y="4776538"/>
          <a:ext cx="83502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374900" imgH="228600" progId="Equation.3">
                  <p:embed/>
                </p:oleObj>
              </mc:Choice>
              <mc:Fallback>
                <p:oleObj name="公式" r:id="rId18" imgW="2374900" imgH="228600" progId="Equation.3">
                  <p:embed/>
                  <p:pic>
                    <p:nvPicPr>
                      <p:cNvPr id="2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337" y="4776538"/>
                        <a:ext cx="835025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304"/>
              </p:ext>
            </p:extLst>
          </p:nvPr>
        </p:nvGraphicFramePr>
        <p:xfrm>
          <a:off x="612478" y="5263729"/>
          <a:ext cx="87979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501900" imgH="228600" progId="Equation.3">
                  <p:embed/>
                </p:oleObj>
              </mc:Choice>
              <mc:Fallback>
                <p:oleObj name="公式" r:id="rId20" imgW="2501900" imgH="228600" progId="Equation.3">
                  <p:embed/>
                  <p:pic>
                    <p:nvPicPr>
                      <p:cNvPr id="2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478" y="5263729"/>
                        <a:ext cx="87979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339410"/>
              </p:ext>
            </p:extLst>
          </p:nvPr>
        </p:nvGraphicFramePr>
        <p:xfrm>
          <a:off x="546050" y="5856658"/>
          <a:ext cx="8126412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311400" imgH="228600" progId="Equation.3">
                  <p:embed/>
                </p:oleObj>
              </mc:Choice>
              <mc:Fallback>
                <p:oleObj name="公式" r:id="rId22" imgW="2311400" imgH="228600" progId="Equation.3">
                  <p:embed/>
                  <p:pic>
                    <p:nvPicPr>
                      <p:cNvPr id="2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050" y="5856658"/>
                        <a:ext cx="8126412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900384"/>
              </p:ext>
            </p:extLst>
          </p:nvPr>
        </p:nvGraphicFramePr>
        <p:xfrm>
          <a:off x="546050" y="6311803"/>
          <a:ext cx="87090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476500" imgH="228600" progId="Equation.3">
                  <p:embed/>
                </p:oleObj>
              </mc:Choice>
              <mc:Fallback>
                <p:oleObj name="公式" r:id="rId24" imgW="2476500" imgH="228600" progId="Equation.3">
                  <p:embed/>
                  <p:pic>
                    <p:nvPicPr>
                      <p:cNvPr id="2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050" y="6311803"/>
                        <a:ext cx="870902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14112"/>
              </p:ext>
            </p:extLst>
          </p:nvPr>
        </p:nvGraphicFramePr>
        <p:xfrm>
          <a:off x="8200927" y="-16659"/>
          <a:ext cx="3673475" cy="192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33500" imgH="698500" progId="Equation.DSMT4">
                  <p:embed/>
                </p:oleObj>
              </mc:Choice>
              <mc:Fallback>
                <p:oleObj name="Equation" r:id="rId26" imgW="1333500" imgH="698500" progId="Equation.DSMT4">
                  <p:embed/>
                  <p:pic>
                    <p:nvPicPr>
                      <p:cNvPr id="2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0927" y="-16659"/>
                        <a:ext cx="3673475" cy="192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图片 2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94141" y="1649164"/>
            <a:ext cx="3345041" cy="515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47849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49419EB6-D582-4DD1-BFA3-6853296E0FC2}"/>
              </a:ext>
            </a:extLst>
          </p:cNvPr>
          <p:cNvSpPr/>
          <p:nvPr/>
        </p:nvSpPr>
        <p:spPr>
          <a:xfrm>
            <a:off x="407368" y="2060848"/>
            <a:ext cx="11233248" cy="32316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514350" indent="-514350" algn="just" eaLnBrk="1" hangingPunct="1">
              <a:buFontTx/>
              <a:buAutoNum type="arabicParenBoth"/>
              <a:defRPr/>
            </a:pP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只有当左矩阵的</a:t>
            </a:r>
            <a:r>
              <a:rPr lang="zh-CN" altLang="en-US" sz="360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列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数等于右矩阵的</a:t>
            </a:r>
            <a:r>
              <a:rPr lang="zh-CN" altLang="en-US" sz="360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数时，两个矩阵才能相乘！！！</a:t>
            </a:r>
            <a:endParaRPr lang="en-US" altLang="zh-CN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14350" indent="-514350" algn="just" eaLnBrk="1" hangingPunct="1">
              <a:buFontTx/>
              <a:buAutoNum type="arabicParenBoth"/>
              <a:defRPr/>
            </a:pPr>
            <a:endParaRPr lang="en-US" altLang="zh-CN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14350" indent="-514350" algn="just" eaLnBrk="1" hangingPunct="1">
              <a:buFontTx/>
              <a:buAutoNum type="arabicParenBoth"/>
              <a:defRPr/>
            </a:pPr>
            <a:r>
              <a:rPr lang="zh-CN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两矩阵相乘时，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左矩阵</a:t>
            </a:r>
            <a:r>
              <a:rPr lang="zh-CN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每一行（如第i行）的各元素与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右矩阵</a:t>
            </a:r>
            <a:r>
              <a:rPr lang="zh-CN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每一列（如第j列）中顺次对应的各元素相乘再相加，从而得到乘积矩阵（第i行第j列）的元素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  <a:p>
            <a:pPr marL="514350" indent="-514350" algn="just" eaLnBrk="1" hangingPunct="1">
              <a:buFontTx/>
              <a:buAutoNum type="arabicParenBoth"/>
              <a:defRPr/>
            </a:pPr>
            <a:endParaRPr lang="en-US" altLang="zh-CN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14350" indent="-514350" algn="just" eaLnBrk="1" hangingPunct="1">
              <a:buFontTx/>
              <a:buAutoNum type="arabicParenBoth"/>
              <a:defRPr/>
            </a:pP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乘积矩阵的行数与左矩阵相同，乘积矩阵的列数与右矩阵相同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zh-CN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4A770A-9E5C-4434-9EBC-991F363E2DBB}"/>
              </a:ext>
            </a:extLst>
          </p:cNvPr>
          <p:cNvSpPr/>
          <p:nvPr/>
        </p:nvSpPr>
        <p:spPr>
          <a:xfrm>
            <a:off x="3997874" y="895420"/>
            <a:ext cx="43011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矩阵乘法注意事项</a:t>
            </a:r>
          </a:p>
        </p:txBody>
      </p:sp>
    </p:spTree>
    <p:custDataLst>
      <p:tags r:id="rId1"/>
    </p:custDataLst>
  </p:cSld>
  <p:clrMapOvr>
    <a:masterClrMapping/>
  </p:clrMapOvr>
  <p:transition advTm="49886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Object 2">
            <a:extLst>
              <a:ext uri="{FF2B5EF4-FFF2-40B4-BE49-F238E27FC236}">
                <a16:creationId xmlns:a16="http://schemas.microsoft.com/office/drawing/2014/main" id="{211BA4BB-9A32-4625-A9F2-41426A8332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046685"/>
              </p:ext>
            </p:extLst>
          </p:nvPr>
        </p:nvGraphicFramePr>
        <p:xfrm>
          <a:off x="3989033" y="2312736"/>
          <a:ext cx="2975198" cy="1542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711000" progId="Equation.DSMT4">
                  <p:embed/>
                </p:oleObj>
              </mc:Choice>
              <mc:Fallback>
                <p:oleObj name="Equation" r:id="rId4" imgW="1371600" imgH="711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9033" y="2312736"/>
                        <a:ext cx="2975198" cy="15426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3">
            <a:extLst>
              <a:ext uri="{FF2B5EF4-FFF2-40B4-BE49-F238E27FC236}">
                <a16:creationId xmlns:a16="http://schemas.microsoft.com/office/drawing/2014/main" id="{AD8B0B42-4D36-4EFB-B010-9F12E1721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743201"/>
            <a:ext cx="7120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endParaRPr lang="zh-CN" altLang="en-US" b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29" name="Object 4">
            <a:extLst>
              <a:ext uri="{FF2B5EF4-FFF2-40B4-BE49-F238E27FC236}">
                <a16:creationId xmlns:a16="http://schemas.microsoft.com/office/drawing/2014/main" id="{4604BE13-7897-4B10-B9A0-F741EA4B13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69048"/>
              </p:ext>
            </p:extLst>
          </p:nvPr>
        </p:nvGraphicFramePr>
        <p:xfrm>
          <a:off x="2730516" y="4385610"/>
          <a:ext cx="1893900" cy="1592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711000" progId="Equation.DSMT4">
                  <p:embed/>
                </p:oleObj>
              </mc:Choice>
              <mc:Fallback>
                <p:oleObj name="Equation" r:id="rId6" imgW="761760" imgH="711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16" y="4385610"/>
                        <a:ext cx="1893900" cy="15920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5">
            <a:extLst>
              <a:ext uri="{FF2B5EF4-FFF2-40B4-BE49-F238E27FC236}">
                <a16:creationId xmlns:a16="http://schemas.microsoft.com/office/drawing/2014/main" id="{FA166C6F-C86D-46DF-B4F0-2A0EF00F5E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692275"/>
              </p:ext>
            </p:extLst>
          </p:nvPr>
        </p:nvGraphicFramePr>
        <p:xfrm>
          <a:off x="4727849" y="4865222"/>
          <a:ext cx="3247535" cy="632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95280" imgH="253800" progId="Equation.DSMT4">
                  <p:embed/>
                </p:oleObj>
              </mc:Choice>
              <mc:Fallback>
                <p:oleObj name="Equation" r:id="rId8" imgW="1295280" imgH="253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849" y="4865222"/>
                        <a:ext cx="3247535" cy="6327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6">
            <a:extLst>
              <a:ext uri="{FF2B5EF4-FFF2-40B4-BE49-F238E27FC236}">
                <a16:creationId xmlns:a16="http://schemas.microsoft.com/office/drawing/2014/main" id="{306ECE67-889E-4451-B913-76EC74226A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544521"/>
              </p:ext>
            </p:extLst>
          </p:nvPr>
        </p:nvGraphicFramePr>
        <p:xfrm>
          <a:off x="8145463" y="4903788"/>
          <a:ext cx="998537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40" imgH="253800" progId="Equation.DSMT4">
                  <p:embed/>
                </p:oleObj>
              </mc:Choice>
              <mc:Fallback>
                <p:oleObj name="Equation" r:id="rId10" imgW="419040" imgH="253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5463" y="4903788"/>
                        <a:ext cx="998537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7">
            <a:extLst>
              <a:ext uri="{FF2B5EF4-FFF2-40B4-BE49-F238E27FC236}">
                <a16:creationId xmlns:a16="http://schemas.microsoft.com/office/drawing/2014/main" id="{C80C5D4F-3CE1-456F-BEB6-3A191ABFF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0" y="2824525"/>
            <a:ext cx="205857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乘积不存在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grpSp>
        <p:nvGrpSpPr>
          <p:cNvPr id="33" name="Group 8">
            <a:extLst>
              <a:ext uri="{FF2B5EF4-FFF2-40B4-BE49-F238E27FC236}">
                <a16:creationId xmlns:a16="http://schemas.microsoft.com/office/drawing/2014/main" id="{C30CE9D8-7142-4BC4-89A6-B162D2539F08}"/>
              </a:ext>
            </a:extLst>
          </p:cNvPr>
          <p:cNvGrpSpPr>
            <a:grpSpLocks/>
          </p:cNvGrpSpPr>
          <p:nvPr/>
        </p:nvGrpSpPr>
        <p:grpSpPr bwMode="auto">
          <a:xfrm>
            <a:off x="2795615" y="4356913"/>
            <a:ext cx="1524000" cy="1600200"/>
            <a:chOff x="1152" y="2640"/>
            <a:chExt cx="960" cy="1008"/>
          </a:xfrm>
        </p:grpSpPr>
        <p:sp>
          <p:nvSpPr>
            <p:cNvPr id="9227" name="Line 9">
              <a:extLst>
                <a:ext uri="{FF2B5EF4-FFF2-40B4-BE49-F238E27FC236}">
                  <a16:creationId xmlns:a16="http://schemas.microsoft.com/office/drawing/2014/main" id="{1B9C2BF5-E538-461C-8ED6-F20DCC64C9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168"/>
              <a:ext cx="76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9228" name="Line 10">
              <a:extLst>
                <a:ext uri="{FF2B5EF4-FFF2-40B4-BE49-F238E27FC236}">
                  <a16:creationId xmlns:a16="http://schemas.microsoft.com/office/drawing/2014/main" id="{6EF3E997-705E-43B8-8821-31FA1F360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640"/>
              <a:ext cx="0" cy="10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5201227B-D094-450D-B123-C3E82C5C814E}"/>
              </a:ext>
            </a:extLst>
          </p:cNvPr>
          <p:cNvSpPr/>
          <p:nvPr/>
        </p:nvSpPr>
        <p:spPr>
          <a:xfrm>
            <a:off x="3740585" y="895420"/>
            <a:ext cx="481574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矩阵与矩阵相乘举例</a:t>
            </a:r>
          </a:p>
        </p:txBody>
      </p:sp>
    </p:spTree>
    <p:custDataLst>
      <p:tags r:id="rId1"/>
    </p:custDataLst>
  </p:cSld>
  <p:clrMapOvr>
    <a:masterClrMapping/>
  </p:clrMapOvr>
  <p:transition advTm="55011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utoUpdateAnimBg="0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9" name="Object 7">
            <a:extLst>
              <a:ext uri="{FF2B5EF4-FFF2-40B4-BE49-F238E27FC236}">
                <a16:creationId xmlns:a16="http://schemas.microsoft.com/office/drawing/2014/main" id="{B5F2BC56-0BF2-460E-AA43-43296F2609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232208"/>
              </p:ext>
            </p:extLst>
          </p:nvPr>
        </p:nvGraphicFramePr>
        <p:xfrm>
          <a:off x="3442238" y="4284068"/>
          <a:ext cx="5596210" cy="231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17360" imgH="914400" progId="Equation.DSMT4">
                  <p:embed/>
                </p:oleObj>
              </mc:Choice>
              <mc:Fallback>
                <p:oleObj name="Equation" r:id="rId4" imgW="1917360" imgH="914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2238" y="4284068"/>
                        <a:ext cx="5596210" cy="231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4EBD52CC-31E1-411C-A25B-764FFEE6D45A}"/>
              </a:ext>
            </a:extLst>
          </p:cNvPr>
          <p:cNvSpPr/>
          <p:nvPr/>
        </p:nvSpPr>
        <p:spPr>
          <a:xfrm>
            <a:off x="3740585" y="895420"/>
            <a:ext cx="481574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矩阵与矩阵相乘举例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BEB444D-8E60-4F8B-B11C-84668A1F61E0}"/>
              </a:ext>
            </a:extLst>
          </p:cNvPr>
          <p:cNvGrpSpPr/>
          <p:nvPr/>
        </p:nvGrpSpPr>
        <p:grpSpPr>
          <a:xfrm>
            <a:off x="2355177" y="1731963"/>
            <a:ext cx="6444217" cy="2316162"/>
            <a:chOff x="831176" y="1731963"/>
            <a:chExt cx="6444217" cy="2316162"/>
          </a:xfrm>
        </p:grpSpPr>
        <p:graphicFrame>
          <p:nvGraphicFramePr>
            <p:cNvPr id="11267" name="Object 5">
              <a:extLst>
                <a:ext uri="{FF2B5EF4-FFF2-40B4-BE49-F238E27FC236}">
                  <a16:creationId xmlns:a16="http://schemas.microsoft.com/office/drawing/2014/main" id="{00317B2B-6C93-4EBB-B246-9B26D4C1E6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3283511"/>
                </p:ext>
              </p:extLst>
            </p:nvPr>
          </p:nvGraphicFramePr>
          <p:xfrm>
            <a:off x="1884362" y="1731963"/>
            <a:ext cx="2271712" cy="2316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01440" imgH="914400" progId="Equation.DSMT4">
                    <p:embed/>
                  </p:oleObj>
                </mc:Choice>
                <mc:Fallback>
                  <p:oleObj name="Equation" r:id="rId6" imgW="901440" imgH="9144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4362" y="1731963"/>
                          <a:ext cx="2271712" cy="2316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8" name="Object 6">
              <a:extLst>
                <a:ext uri="{FF2B5EF4-FFF2-40B4-BE49-F238E27FC236}">
                  <a16:creationId xmlns:a16="http://schemas.microsoft.com/office/drawing/2014/main" id="{09C1AB77-E5FE-4F49-A61D-16E26A3F45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4903855"/>
                </p:ext>
              </p:extLst>
            </p:nvPr>
          </p:nvGraphicFramePr>
          <p:xfrm>
            <a:off x="4716343" y="2235199"/>
            <a:ext cx="2559050" cy="1311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28520" imgH="457200" progId="Equation.DSMT4">
                    <p:embed/>
                  </p:oleObj>
                </mc:Choice>
                <mc:Fallback>
                  <p:oleObj name="Equation" r:id="rId8" imgW="1028520" imgH="4572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6343" y="2235199"/>
                          <a:ext cx="2559050" cy="1311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59A31CAC-8F7E-479E-80AD-3FE9DF81C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808" y="2300426"/>
              <a:ext cx="10795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800" b="0" kern="0">
                <a:solidFill>
                  <a:sysClr val="windowText" lastClr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" name="Line 9">
              <a:extLst>
                <a:ext uri="{FF2B5EF4-FFF2-40B4-BE49-F238E27FC236}">
                  <a16:creationId xmlns:a16="http://schemas.microsoft.com/office/drawing/2014/main" id="{5040A291-485D-40F7-8D35-0BDEA6AE07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8104" y="2494755"/>
              <a:ext cx="0" cy="79216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800" b="0" kern="0">
                <a:solidFill>
                  <a:sysClr val="windowText" lastClr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0" name="Line 10">
              <a:extLst>
                <a:ext uri="{FF2B5EF4-FFF2-40B4-BE49-F238E27FC236}">
                  <a16:creationId xmlns:a16="http://schemas.microsoft.com/office/drawing/2014/main" id="{9729AD27-D2C1-435E-8AC6-B126BBD824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6176" y="2494755"/>
              <a:ext cx="0" cy="792162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800" b="0" kern="0">
                <a:solidFill>
                  <a:sysClr val="windowText" lastClr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1" name="Line 11">
              <a:extLst>
                <a:ext uri="{FF2B5EF4-FFF2-40B4-BE49-F238E27FC236}">
                  <a16:creationId xmlns:a16="http://schemas.microsoft.com/office/drawing/2014/main" id="{45348D62-15BA-4DFF-B1F0-9FA76F64B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2240" y="2494755"/>
              <a:ext cx="0" cy="792162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800" b="0" kern="0">
                <a:solidFill>
                  <a:sysClr val="windowText" lastClr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2" name="Text Box 3">
              <a:extLst>
                <a:ext uri="{FF2B5EF4-FFF2-40B4-BE49-F238E27FC236}">
                  <a16:creationId xmlns:a16="http://schemas.microsoft.com/office/drawing/2014/main" id="{1DB3A4E6-4B12-4213-8F0C-264594F9E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1176" y="2568012"/>
              <a:ext cx="71205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例</a:t>
              </a:r>
              <a:r>
                <a:rPr lang="en-US" altLang="zh-CN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</a:t>
              </a:r>
              <a:endParaRPr lang="zh-CN" altLang="en-US" b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44759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3">
            <a:extLst>
              <a:ext uri="{FF2B5EF4-FFF2-40B4-BE49-F238E27FC236}">
                <a16:creationId xmlns:a16="http://schemas.microsoft.com/office/drawing/2014/main" id="{CF2FF2DB-327A-4105-8C33-1C6E64FB5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1116528"/>
            <a:ext cx="1116124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 矩阵的张量积是一种新的矩阵乘法，它将普通矩阵乘法推广到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左阵列数与右阵行数不等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的情况，可以方便地应用于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处理高维数组及非线性问题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，是一个便捷而有力的新的数学工具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456" y="3717032"/>
            <a:ext cx="3342545" cy="154952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912" y="3573016"/>
            <a:ext cx="5372100" cy="24193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63396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1029">
            <a:extLst>
              <a:ext uri="{FF2B5EF4-FFF2-40B4-BE49-F238E27FC236}">
                <a16:creationId xmlns:a16="http://schemas.microsoft.com/office/drawing/2014/main" id="{50B1A14B-2FAB-4278-9046-942E81B058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392067"/>
              </p:ext>
            </p:extLst>
          </p:nvPr>
        </p:nvGraphicFramePr>
        <p:xfrm>
          <a:off x="8802117" y="4076918"/>
          <a:ext cx="183038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5763" imgH="85597" progId="Equation.DSMT4">
                  <p:embed/>
                </p:oleObj>
              </mc:Choice>
              <mc:Fallback>
                <p:oleObj name="Equation" r:id="rId4" imgW="485763" imgH="85597" progId="Equation.DSMT4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2117" y="4076918"/>
                        <a:ext cx="1830387" cy="60325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32">
            <a:extLst>
              <a:ext uri="{FF2B5EF4-FFF2-40B4-BE49-F238E27FC236}">
                <a16:creationId xmlns:a16="http://schemas.microsoft.com/office/drawing/2014/main" id="{D8B8B7AF-5480-4D18-ABC7-C2563BADBA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96597"/>
              </p:ext>
            </p:extLst>
          </p:nvPr>
        </p:nvGraphicFramePr>
        <p:xfrm>
          <a:off x="5252450" y="2823156"/>
          <a:ext cx="1707646" cy="530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27000" imgH="253800" progId="Equation.DSMT4">
                  <p:embed/>
                </p:oleObj>
              </mc:Choice>
              <mc:Fallback>
                <p:oleObj name="Equation" r:id="rId6" imgW="927000" imgH="253800" progId="Equation.DSMT4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2450" y="2823156"/>
                        <a:ext cx="1707646" cy="530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33">
            <a:extLst>
              <a:ext uri="{FF2B5EF4-FFF2-40B4-BE49-F238E27FC236}">
                <a16:creationId xmlns:a16="http://schemas.microsoft.com/office/drawing/2014/main" id="{58E0D156-5CBF-4CE6-826E-4E26F8C510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774361"/>
              </p:ext>
            </p:extLst>
          </p:nvPr>
        </p:nvGraphicFramePr>
        <p:xfrm>
          <a:off x="2495600" y="2300191"/>
          <a:ext cx="1792261" cy="1500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85800" imgH="711000" progId="Equation.DSMT4">
                  <p:embed/>
                </p:oleObj>
              </mc:Choice>
              <mc:Fallback>
                <p:oleObj name="Equation" r:id="rId8" imgW="685800" imgH="711000" progId="Equation.DSMT4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2300191"/>
                        <a:ext cx="1792261" cy="15008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34">
            <a:extLst>
              <a:ext uri="{FF2B5EF4-FFF2-40B4-BE49-F238E27FC236}">
                <a16:creationId xmlns:a16="http://schemas.microsoft.com/office/drawing/2014/main" id="{F6600699-97C8-4AFF-AE57-51EBB6C98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8756" y="3508664"/>
            <a:ext cx="129711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并求</a:t>
            </a:r>
          </a:p>
        </p:txBody>
      </p:sp>
      <p:sp>
        <p:nvSpPr>
          <p:cNvPr id="13319" name="矩形 1">
            <a:extLst>
              <a:ext uri="{FF2B5EF4-FFF2-40B4-BE49-F238E27FC236}">
                <a16:creationId xmlns:a16="http://schemas.microsoft.com/office/drawing/2014/main" id="{A13A670D-67F7-4819-8693-AC14BA24C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950" y="1748679"/>
            <a:ext cx="92519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 b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b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计算下列矩阵的乘积，</a:t>
            </a:r>
            <a:r>
              <a:rPr lang="zh-CN" altLang="en-US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并观察结果，探讨性质 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682CF34-A756-437F-B2E7-10F1AD605F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109459"/>
              </p:ext>
            </p:extLst>
          </p:nvPr>
        </p:nvGraphicFramePr>
        <p:xfrm>
          <a:off x="2537056" y="3996221"/>
          <a:ext cx="2193089" cy="1063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30040" imgH="457200" progId="Equation.DSMT4">
                  <p:embed/>
                </p:oleObj>
              </mc:Choice>
              <mc:Fallback>
                <p:oleObj name="Equation" r:id="rId10" imgW="1130040" imgH="4572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056" y="3996221"/>
                        <a:ext cx="2193089" cy="10632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DBF458E-E20D-4218-8AC2-1241B5014C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232398"/>
              </p:ext>
            </p:extLst>
          </p:nvPr>
        </p:nvGraphicFramePr>
        <p:xfrm>
          <a:off x="5252450" y="3816105"/>
          <a:ext cx="2702402" cy="1423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41120" imgH="711000" progId="Equation.DSMT4">
                  <p:embed/>
                </p:oleObj>
              </mc:Choice>
              <mc:Fallback>
                <p:oleObj name="Equation" r:id="rId12" imgW="1041120" imgH="7110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2450" y="3816105"/>
                        <a:ext cx="2702402" cy="14235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494781D-9A9A-451C-99DE-2DB886A54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865221"/>
              </p:ext>
            </p:extLst>
          </p:nvPr>
        </p:nvGraphicFramePr>
        <p:xfrm>
          <a:off x="2556265" y="5462060"/>
          <a:ext cx="2154668" cy="1063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91880" imgH="457200" progId="Equation.DSMT4">
                  <p:embed/>
                </p:oleObj>
              </mc:Choice>
              <mc:Fallback>
                <p:oleObj name="Equation" r:id="rId14" imgW="1091880" imgH="4572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6265" y="5462060"/>
                        <a:ext cx="2154668" cy="10632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1063">
            <a:extLst>
              <a:ext uri="{FF2B5EF4-FFF2-40B4-BE49-F238E27FC236}">
                <a16:creationId xmlns:a16="http://schemas.microsoft.com/office/drawing/2014/main" id="{5F6D2357-A4F2-4A13-9737-6B8DC7438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2450" y="5487868"/>
            <a:ext cx="1956517" cy="104185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19DD9D58-6E4F-4C51-BF34-1CC2C99A54D1}"/>
              </a:ext>
            </a:extLst>
          </p:cNvPr>
          <p:cNvSpPr/>
          <p:nvPr/>
        </p:nvSpPr>
        <p:spPr>
          <a:xfrm>
            <a:off x="3740585" y="895420"/>
            <a:ext cx="481574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矩阵与矩阵相乘举例</a:t>
            </a:r>
          </a:p>
        </p:txBody>
      </p:sp>
    </p:spTree>
    <p:custDataLst>
      <p:tags r:id="rId1"/>
    </p:custDataLst>
  </p:cSld>
  <p:clrMapOvr>
    <a:masterClrMapping/>
  </p:clrMapOvr>
  <p:transition advTm="58153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0DA6F63-E18B-4639-9219-14456CBE23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7363530"/>
              </p:ext>
            </p:extLst>
          </p:nvPr>
        </p:nvGraphicFramePr>
        <p:xfrm>
          <a:off x="2173850" y="1552576"/>
          <a:ext cx="3605212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2904" imgH="590735" progId="Equation.DSMT4">
                  <p:embed/>
                </p:oleObj>
              </mc:Choice>
              <mc:Fallback>
                <p:oleObj name="Equation" r:id="rId3" imgW="1142904" imgH="590735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850" y="1552576"/>
                        <a:ext cx="3605212" cy="201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86AB9FC-910B-44AB-8C50-E6A2D5A3EE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626570"/>
              </p:ext>
            </p:extLst>
          </p:nvPr>
        </p:nvGraphicFramePr>
        <p:xfrm>
          <a:off x="5779062" y="1550847"/>
          <a:ext cx="4000500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85911" imgH="590735" progId="Equation.DSMT4">
                  <p:embed/>
                </p:oleObj>
              </mc:Choice>
              <mc:Fallback>
                <p:oleObj name="Equation" r:id="rId5" imgW="1285911" imgH="590735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9062" y="1550847"/>
                        <a:ext cx="4000500" cy="201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Text Box 1035">
            <a:extLst>
              <a:ext uri="{FF2B5EF4-FFF2-40B4-BE49-F238E27FC236}">
                <a16:creationId xmlns:a16="http://schemas.microsoft.com/office/drawing/2014/main" id="{24537BEB-A0CB-4B3D-80B3-54742B704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4238" y="836713"/>
            <a:ext cx="1295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解：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E6F5EDB-83B3-4FEB-B5A0-051483EF1D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029891"/>
              </p:ext>
            </p:extLst>
          </p:nvPr>
        </p:nvGraphicFramePr>
        <p:xfrm>
          <a:off x="5879976" y="3861048"/>
          <a:ext cx="2736850" cy="194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76444" imgH="590735" progId="Equation.DSMT4">
                  <p:embed/>
                </p:oleObj>
              </mc:Choice>
              <mc:Fallback>
                <p:oleObj name="Equation" r:id="rId7" imgW="876444" imgH="590735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9976" y="3861048"/>
                        <a:ext cx="2736850" cy="194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 advTm="14429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33EE9E6F-96A7-46EC-88CF-B14F664BE2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625010"/>
              </p:ext>
            </p:extLst>
          </p:nvPr>
        </p:nvGraphicFramePr>
        <p:xfrm>
          <a:off x="1377046" y="836712"/>
          <a:ext cx="695325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24148" imgH="599947" progId="Equation.DSMT4">
                  <p:embed/>
                </p:oleObj>
              </mc:Choice>
              <mc:Fallback>
                <p:oleObj name="Equation" r:id="rId3" imgW="2324148" imgH="59994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046" y="836712"/>
                        <a:ext cx="6953250" cy="20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059910CB-F189-4611-B946-05CC373C86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827315"/>
              </p:ext>
            </p:extLst>
          </p:nvPr>
        </p:nvGraphicFramePr>
        <p:xfrm>
          <a:off x="8357890" y="1552848"/>
          <a:ext cx="9064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0133" imgH="66789" progId="Equation.DSMT4">
                  <p:embed/>
                </p:oleObj>
              </mc:Choice>
              <mc:Fallback>
                <p:oleObj name="Equation" r:id="rId5" imgW="200133" imgH="6678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7890" y="1552848"/>
                        <a:ext cx="90646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7">
            <a:extLst>
              <a:ext uri="{FF2B5EF4-FFF2-40B4-BE49-F238E27FC236}">
                <a16:creationId xmlns:a16="http://schemas.microsoft.com/office/drawing/2014/main" id="{ED8FAB10-0A63-4D53-8576-0AA2F49009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627808"/>
              </p:ext>
            </p:extLst>
          </p:nvPr>
        </p:nvGraphicFramePr>
        <p:xfrm>
          <a:off x="2913859" y="3594899"/>
          <a:ext cx="1846262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33304" imgH="85597" progId="Equation.DSMT4">
                  <p:embed/>
                </p:oleObj>
              </mc:Choice>
              <mc:Fallback>
                <p:oleObj name="Equation" r:id="rId7" imgW="533304" imgH="8559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859" y="3594899"/>
                        <a:ext cx="1846262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8">
            <a:extLst>
              <a:ext uri="{FF2B5EF4-FFF2-40B4-BE49-F238E27FC236}">
                <a16:creationId xmlns:a16="http://schemas.microsoft.com/office/drawing/2014/main" id="{5E0B84A4-926B-43AF-BDA9-B009E1669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3573016"/>
            <a:ext cx="12954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显然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5FA63BA-B235-4A75-B00A-0F699FAD2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310" y="4428005"/>
            <a:ext cx="4291012" cy="1077913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AB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3200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BA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都有意义，但不同型，故</a:t>
            </a:r>
            <a:r>
              <a:rPr lang="en-US" altLang="zh-CN" sz="3200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AB</a:t>
            </a:r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≠</a:t>
            </a:r>
            <a:r>
              <a:rPr lang="en-US" altLang="zh-CN" sz="3200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BA</a:t>
            </a:r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BECD594-1F10-B137-A108-E0875960E9BA}"/>
              </a:ext>
            </a:extLst>
          </p:cNvPr>
          <p:cNvSpPr txBox="1"/>
          <p:nvPr/>
        </p:nvSpPr>
        <p:spPr>
          <a:xfrm>
            <a:off x="5735960" y="4081140"/>
            <a:ext cx="60698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0" dirty="0">
                <a:solidFill>
                  <a:srgbClr val="FFFF00"/>
                </a:solidFill>
                <a:latin typeface="+mn-lt"/>
                <a:ea typeface="楷体" panose="02010609060101010101" pitchFamily="49" charset="-122"/>
              </a:rPr>
              <a:t>思考：对于这例里面的</a:t>
            </a:r>
            <a:r>
              <a:rPr lang="en-US" altLang="zh-CN" sz="3200" b="0" i="1" dirty="0">
                <a:solidFill>
                  <a:srgbClr val="FFFF00"/>
                </a:solidFill>
                <a:latin typeface="+mn-lt"/>
                <a:ea typeface="楷体" panose="02010609060101010101" pitchFamily="49" charset="-122"/>
              </a:rPr>
              <a:t>A</a:t>
            </a:r>
            <a:r>
              <a:rPr lang="zh-CN" altLang="en-US" sz="3200" b="0" dirty="0">
                <a:solidFill>
                  <a:srgbClr val="FFFF00"/>
                </a:solidFill>
                <a:latin typeface="+mn-lt"/>
                <a:ea typeface="楷体" panose="02010609060101010101" pitchFamily="49" charset="-122"/>
              </a:rPr>
              <a:t>和</a:t>
            </a:r>
            <a:r>
              <a:rPr lang="en-US" altLang="zh-CN" sz="3200" b="0" i="1" dirty="0">
                <a:solidFill>
                  <a:srgbClr val="FFFF00"/>
                </a:solidFill>
                <a:latin typeface="+mn-lt"/>
                <a:ea typeface="楷体" panose="02010609060101010101" pitchFamily="49" charset="-122"/>
              </a:rPr>
              <a:t>B</a:t>
            </a:r>
            <a:r>
              <a:rPr lang="zh-CN" altLang="en-US" sz="3200" b="0" dirty="0">
                <a:solidFill>
                  <a:srgbClr val="FFFF00"/>
                </a:solidFill>
                <a:latin typeface="+mn-lt"/>
                <a:ea typeface="楷体" panose="02010609060101010101" pitchFamily="49" charset="-122"/>
              </a:rPr>
              <a:t>，</a:t>
            </a:r>
            <a:endParaRPr lang="en-US" altLang="zh-CN" sz="3200" b="0" dirty="0">
              <a:solidFill>
                <a:srgbClr val="FFFF00"/>
              </a:solidFill>
              <a:latin typeface="+mn-lt"/>
              <a:ea typeface="楷体" panose="02010609060101010101" pitchFamily="49" charset="-122"/>
            </a:endParaRPr>
          </a:p>
          <a:p>
            <a:r>
              <a:rPr lang="zh-CN" altLang="en-US" sz="3200" b="0" dirty="0">
                <a:solidFill>
                  <a:srgbClr val="FFFF00"/>
                </a:solidFill>
                <a:latin typeface="+mn-lt"/>
                <a:ea typeface="楷体" panose="02010609060101010101" pitchFamily="49" charset="-122"/>
              </a:rPr>
              <a:t>如果想计算</a:t>
            </a:r>
            <a:r>
              <a:rPr lang="en-US" altLang="zh-CN" sz="3200" b="0" i="1" dirty="0">
                <a:solidFill>
                  <a:srgbClr val="FFFF00"/>
                </a:solidFill>
                <a:latin typeface="+mn-lt"/>
                <a:ea typeface="楷体" panose="02010609060101010101" pitchFamily="49" charset="-122"/>
              </a:rPr>
              <a:t>ABABABAB……AB</a:t>
            </a:r>
            <a:r>
              <a:rPr lang="zh-CN" altLang="en-US" sz="3200" b="0" dirty="0">
                <a:solidFill>
                  <a:srgbClr val="FFFF00"/>
                </a:solidFill>
                <a:latin typeface="+mn-lt"/>
                <a:ea typeface="楷体" panose="02010609060101010101" pitchFamily="49" charset="-122"/>
              </a:rPr>
              <a:t>，怎么算最简便？</a:t>
            </a:r>
            <a:endParaRPr lang="zh-CN" altLang="en-US" sz="3200" b="0" i="1" dirty="0">
              <a:solidFill>
                <a:srgbClr val="FFFF00"/>
              </a:solidFill>
              <a:latin typeface="+mn-lt"/>
              <a:ea typeface="楷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 advTm="32739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nimBg="1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40704" y="6775450"/>
            <a:ext cx="12185650" cy="165100"/>
          </a:xfrm>
          <a:prstGeom prst="rect">
            <a:avLst/>
          </a:prstGeom>
          <a:solidFill>
            <a:srgbClr val="353F6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4095" y="82550"/>
            <a:ext cx="11895493" cy="962025"/>
            <a:chOff x="0" y="10"/>
            <a:chExt cx="19200" cy="1515"/>
          </a:xfrm>
        </p:grpSpPr>
        <p:sp>
          <p:nvSpPr>
            <p:cNvPr id="4" name="矩形 3"/>
            <p:cNvSpPr/>
            <p:nvPr/>
          </p:nvSpPr>
          <p:spPr>
            <a:xfrm>
              <a:off x="0" y="10"/>
              <a:ext cx="19200" cy="1515"/>
            </a:xfrm>
            <a:prstGeom prst="rect">
              <a:avLst/>
            </a:prstGeom>
            <a:solidFill>
              <a:srgbClr val="353F6C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/>
            <a:srcRect b="44115"/>
            <a:stretch>
              <a:fillRect/>
            </a:stretch>
          </p:blipFill>
          <p:spPr>
            <a:xfrm>
              <a:off x="13999" y="26"/>
              <a:ext cx="2951" cy="1377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rcRect t="55398"/>
            <a:stretch>
              <a:fillRect/>
            </a:stretch>
          </p:blipFill>
          <p:spPr>
            <a:xfrm>
              <a:off x="16121" y="235"/>
              <a:ext cx="2951" cy="1099"/>
            </a:xfrm>
            <a:prstGeom prst="rect">
              <a:avLst/>
            </a:prstGeom>
          </p:spPr>
        </p:pic>
      </p:grpSp>
      <p:sp>
        <p:nvSpPr>
          <p:cNvPr id="14" name="矩形 13"/>
          <p:cNvSpPr/>
          <p:nvPr/>
        </p:nvSpPr>
        <p:spPr>
          <a:xfrm>
            <a:off x="64096" y="6788671"/>
            <a:ext cx="12185650" cy="165100"/>
          </a:xfrm>
          <a:prstGeom prst="rect">
            <a:avLst/>
          </a:prstGeom>
          <a:solidFill>
            <a:srgbClr val="353F6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Text Box 1035">
            <a:extLst>
              <a:ext uri="{FF2B5EF4-FFF2-40B4-BE49-F238E27FC236}">
                <a16:creationId xmlns:a16="http://schemas.microsoft.com/office/drawing/2014/main" id="{24537BEB-A0CB-4B3D-80B3-54742B704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535" y="2827845"/>
            <a:ext cx="54280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0" dirty="0">
                <a:latin typeface="+mn-lt"/>
                <a:ea typeface="+mn-ea"/>
                <a:cs typeface="+mn-ea"/>
                <a:sym typeface="+mn-lt"/>
              </a:rPr>
              <a:t>解</a:t>
            </a:r>
            <a:r>
              <a:rPr lang="zh-CN" altLang="en-US" sz="3200" b="0" dirty="0">
                <a:solidFill>
                  <a:srgbClr val="FFFF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5FA63BA-B235-4A75-B00A-0F699FAD2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4452" y="4791355"/>
            <a:ext cx="4651053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lt"/>
              </a:rPr>
              <a:t>AB</a:t>
            </a:r>
            <a:r>
              <a:rPr lang="zh-CN" altLang="en-US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lt"/>
              </a:rPr>
              <a:t>和</a:t>
            </a:r>
            <a:r>
              <a:rPr lang="en-US" altLang="zh-CN" i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lt"/>
              </a:rPr>
              <a:t>BA</a:t>
            </a:r>
            <a:r>
              <a:rPr lang="zh-CN" altLang="en-US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lt"/>
              </a:rPr>
              <a:t>都有意义，但不同型，故</a:t>
            </a:r>
            <a:r>
              <a:rPr lang="en-US" altLang="zh-CN" i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lt"/>
              </a:rPr>
              <a:t>AB≠BA</a:t>
            </a:r>
            <a:r>
              <a:rPr lang="en-US" altLang="zh-CN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lt"/>
              </a:rPr>
              <a:t>.</a:t>
            </a:r>
          </a:p>
        </p:txBody>
      </p:sp>
      <p:sp>
        <p:nvSpPr>
          <p:cNvPr id="17" name="TextBox 1"/>
          <p:cNvSpPr txBox="1">
            <a:spLocks/>
          </p:cNvSpPr>
          <p:nvPr/>
        </p:nvSpPr>
        <p:spPr>
          <a:xfrm>
            <a:off x="5834452" y="2987472"/>
            <a:ext cx="4651053" cy="153888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cs typeface="+mn-ea"/>
                <a:sym typeface="+mn-lt"/>
              </a:rPr>
              <a:t>Tips</a:t>
            </a:r>
            <a:r>
              <a:rPr lang="zh-CN" altLang="en-US" sz="2000" dirty="0">
                <a:solidFill>
                  <a:srgbClr val="FF0000"/>
                </a:solidFill>
                <a:cs typeface="+mn-ea"/>
                <a:sym typeface="+mn-lt"/>
              </a:rPr>
              <a:t>（在保证能乘的前提下）</a:t>
            </a:r>
            <a:r>
              <a:rPr lang="zh-CN" altLang="en-US" sz="2000" dirty="0">
                <a:solidFill>
                  <a:schemeClr val="accent3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endParaRPr lang="en-US" altLang="zh-CN" sz="2000" dirty="0">
              <a:solidFill>
                <a:schemeClr val="accent3">
                  <a:lumMod val="50000"/>
                </a:schemeClr>
              </a:solidFill>
              <a:cs typeface="+mn-ea"/>
              <a:sym typeface="+mn-lt"/>
            </a:endParaRPr>
          </a:p>
          <a:p>
            <a:endParaRPr lang="en-US" altLang="zh-CN" sz="2000" dirty="0">
              <a:solidFill>
                <a:schemeClr val="accent3">
                  <a:lumMod val="50000"/>
                </a:schemeClr>
              </a:solidFill>
              <a:cs typeface="+mn-ea"/>
              <a:sym typeface="+mn-lt"/>
            </a:endParaRPr>
          </a:p>
          <a:p>
            <a:endParaRPr lang="en-US" altLang="zh-CN" sz="2000" dirty="0">
              <a:solidFill>
                <a:schemeClr val="accent3">
                  <a:lumMod val="50000"/>
                </a:schemeClr>
              </a:solidFill>
              <a:cs typeface="+mn-ea"/>
              <a:sym typeface="+mn-lt"/>
            </a:endParaRPr>
          </a:p>
          <a:p>
            <a:endParaRPr lang="en-US" altLang="zh-CN" sz="2000" dirty="0">
              <a:solidFill>
                <a:schemeClr val="accent3">
                  <a:lumMod val="50000"/>
                </a:schemeClr>
              </a:solidFill>
              <a:cs typeface="+mn-ea"/>
              <a:sym typeface="+mn-lt"/>
            </a:endParaRPr>
          </a:p>
          <a:p>
            <a:endParaRPr lang="zh-CN" altLang="en-US" sz="14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97459" y="1101596"/>
            <a:ext cx="35589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cs typeface="+mn-ea"/>
                <a:sym typeface="+mn-lt"/>
              </a:rPr>
              <a:t>例</a:t>
            </a:r>
            <a:r>
              <a:rPr lang="en-US" altLang="zh-CN" sz="2400" dirty="0">
                <a:cs typeface="+mn-ea"/>
                <a:sym typeface="+mn-lt"/>
              </a:rPr>
              <a:t>4(1)</a:t>
            </a:r>
            <a:r>
              <a:rPr lang="zh-CN" altLang="en-US" sz="2400" dirty="0">
                <a:cs typeface="+mn-ea"/>
                <a:sym typeface="+mn-lt"/>
              </a:rPr>
              <a:t> 结合下列矩阵，求</a:t>
            </a:r>
          </a:p>
        </p:txBody>
      </p:sp>
      <p:graphicFrame>
        <p:nvGraphicFramePr>
          <p:cNvPr id="19" name="Object 1029">
            <a:extLst>
              <a:ext uri="{FF2B5EF4-FFF2-40B4-BE49-F238E27FC236}">
                <a16:creationId xmlns:a16="http://schemas.microsoft.com/office/drawing/2014/main" id="{50B1A14B-2FAB-4278-9046-942E81B058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294172"/>
              </p:ext>
            </p:extLst>
          </p:nvPr>
        </p:nvGraphicFramePr>
        <p:xfrm>
          <a:off x="3473328" y="1012235"/>
          <a:ext cx="1513539" cy="694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9480" imgH="203040" progId="Equation.DSMT4">
                  <p:embed/>
                </p:oleObj>
              </mc:Choice>
              <mc:Fallback>
                <p:oleObj name="Equation" r:id="rId5" imgW="609480" imgH="203040" progId="Equation.DSMT4">
                  <p:embed/>
                  <p:pic>
                    <p:nvPicPr>
                      <p:cNvPr id="43" name="Object 1029">
                        <a:extLst>
                          <a:ext uri="{FF2B5EF4-FFF2-40B4-BE49-F238E27FC236}">
                            <a16:creationId xmlns:a16="http://schemas.microsoft.com/office/drawing/2014/main" id="{50B1A14B-2FAB-4278-9046-942E81B058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328" y="1012235"/>
                        <a:ext cx="1513539" cy="6946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5021697" y="1084803"/>
            <a:ext cx="36551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cs typeface="+mn-ea"/>
                <a:sym typeface="+mn-lt"/>
              </a:rPr>
              <a:t>并</a:t>
            </a:r>
            <a:r>
              <a:rPr lang="zh-CN" altLang="en-US" sz="2400" b="1" dirty="0">
                <a:solidFill>
                  <a:srgbClr val="FF0000"/>
                </a:solidFill>
                <a:cs typeface="+mn-ea"/>
                <a:sym typeface="+mn-lt"/>
              </a:rPr>
              <a:t>观察结果，探讨性质。 </a:t>
            </a:r>
          </a:p>
        </p:txBody>
      </p:sp>
      <p:graphicFrame>
        <p:nvGraphicFramePr>
          <p:cNvPr id="21" name="Object 9">
            <a:extLst>
              <a:ext uri="{FF2B5EF4-FFF2-40B4-BE49-F238E27FC236}">
                <a16:creationId xmlns:a16="http://schemas.microsoft.com/office/drawing/2014/main" id="{2606E7CA-CEA1-47DC-81BD-285B50E4A4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935209"/>
              </p:ext>
            </p:extLst>
          </p:nvPr>
        </p:nvGraphicFramePr>
        <p:xfrm>
          <a:off x="1076631" y="2728508"/>
          <a:ext cx="1657350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9720" imgH="711000" progId="Equation.DSMT4">
                  <p:embed/>
                </p:oleObj>
              </mc:Choice>
              <mc:Fallback>
                <p:oleObj name="Equation" r:id="rId7" imgW="1269720" imgH="711000" progId="Equation.DSMT4">
                  <p:embed/>
                  <p:pic>
                    <p:nvPicPr>
                      <p:cNvPr id="45" name="Object 9">
                        <a:extLst>
                          <a:ext uri="{FF2B5EF4-FFF2-40B4-BE49-F238E27FC236}">
                            <a16:creationId xmlns:a16="http://schemas.microsoft.com/office/drawing/2014/main" id="{2606E7CA-CEA1-47DC-81BD-285B50E4A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631" y="2728508"/>
                        <a:ext cx="1657350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9">
            <a:extLst>
              <a:ext uri="{FF2B5EF4-FFF2-40B4-BE49-F238E27FC236}">
                <a16:creationId xmlns:a16="http://schemas.microsoft.com/office/drawing/2014/main" id="{2606E7CA-CEA1-47DC-81BD-285B50E4A4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844969"/>
              </p:ext>
            </p:extLst>
          </p:nvPr>
        </p:nvGraphicFramePr>
        <p:xfrm>
          <a:off x="525726" y="1508845"/>
          <a:ext cx="1922258" cy="1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73120" imgH="711000" progId="Equation.DSMT4">
                  <p:embed/>
                </p:oleObj>
              </mc:Choice>
              <mc:Fallback>
                <p:oleObj name="Equation" r:id="rId9" imgW="1473120" imgH="711000" progId="Equation.DSMT4">
                  <p:embed/>
                  <p:pic>
                    <p:nvPicPr>
                      <p:cNvPr id="46" name="Object 9">
                        <a:extLst>
                          <a:ext uri="{FF2B5EF4-FFF2-40B4-BE49-F238E27FC236}">
                            <a16:creationId xmlns:a16="http://schemas.microsoft.com/office/drawing/2014/main" id="{2606E7CA-CEA1-47DC-81BD-285B50E4A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26" y="1508845"/>
                        <a:ext cx="1922258" cy="123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9">
            <a:extLst>
              <a:ext uri="{FF2B5EF4-FFF2-40B4-BE49-F238E27FC236}">
                <a16:creationId xmlns:a16="http://schemas.microsoft.com/office/drawing/2014/main" id="{2606E7CA-CEA1-47DC-81BD-285B50E4A4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350997"/>
              </p:ext>
            </p:extLst>
          </p:nvPr>
        </p:nvGraphicFramePr>
        <p:xfrm>
          <a:off x="3409359" y="2713459"/>
          <a:ext cx="1641475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57120" imgH="711000" progId="Equation.DSMT4">
                  <p:embed/>
                </p:oleObj>
              </mc:Choice>
              <mc:Fallback>
                <p:oleObj name="Equation" r:id="rId11" imgW="1257120" imgH="711000" progId="Equation.DSMT4">
                  <p:embed/>
                  <p:pic>
                    <p:nvPicPr>
                      <p:cNvPr id="47" name="Object 9">
                        <a:extLst>
                          <a:ext uri="{FF2B5EF4-FFF2-40B4-BE49-F238E27FC236}">
                            <a16:creationId xmlns:a16="http://schemas.microsoft.com/office/drawing/2014/main" id="{2606E7CA-CEA1-47DC-81BD-285B50E4A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359" y="2713459"/>
                        <a:ext cx="1641475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9">
            <a:extLst>
              <a:ext uri="{FF2B5EF4-FFF2-40B4-BE49-F238E27FC236}">
                <a16:creationId xmlns:a16="http://schemas.microsoft.com/office/drawing/2014/main" id="{2606E7CA-CEA1-47DC-81BD-285B50E4A4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476998"/>
              </p:ext>
            </p:extLst>
          </p:nvPr>
        </p:nvGraphicFramePr>
        <p:xfrm>
          <a:off x="1076631" y="4039102"/>
          <a:ext cx="1839912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09400" imgH="711000" progId="Equation.DSMT4">
                  <p:embed/>
                </p:oleObj>
              </mc:Choice>
              <mc:Fallback>
                <p:oleObj name="Equation" r:id="rId13" imgW="1409400" imgH="711000" progId="Equation.DSMT4">
                  <p:embed/>
                  <p:pic>
                    <p:nvPicPr>
                      <p:cNvPr id="48" name="Object 9">
                        <a:extLst>
                          <a:ext uri="{FF2B5EF4-FFF2-40B4-BE49-F238E27FC236}">
                            <a16:creationId xmlns:a16="http://schemas.microsoft.com/office/drawing/2014/main" id="{2606E7CA-CEA1-47DC-81BD-285B50E4A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631" y="4039102"/>
                        <a:ext cx="1839912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9">
            <a:extLst>
              <a:ext uri="{FF2B5EF4-FFF2-40B4-BE49-F238E27FC236}">
                <a16:creationId xmlns:a16="http://schemas.microsoft.com/office/drawing/2014/main" id="{2606E7CA-CEA1-47DC-81BD-285B50E4A4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799491"/>
              </p:ext>
            </p:extLst>
          </p:nvPr>
        </p:nvGraphicFramePr>
        <p:xfrm>
          <a:off x="1076630" y="5349695"/>
          <a:ext cx="1839911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02960" imgH="711000" progId="Equation.DSMT4">
                  <p:embed/>
                </p:oleObj>
              </mc:Choice>
              <mc:Fallback>
                <p:oleObj name="Equation" r:id="rId15" imgW="1002960" imgH="711000" progId="Equation.DSMT4">
                  <p:embed/>
                  <p:pic>
                    <p:nvPicPr>
                      <p:cNvPr id="49" name="Object 9">
                        <a:extLst>
                          <a:ext uri="{FF2B5EF4-FFF2-40B4-BE49-F238E27FC236}">
                            <a16:creationId xmlns:a16="http://schemas.microsoft.com/office/drawing/2014/main" id="{2606E7CA-CEA1-47DC-81BD-285B50E4A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630" y="5349695"/>
                        <a:ext cx="1839911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9">
            <a:extLst>
              <a:ext uri="{FF2B5EF4-FFF2-40B4-BE49-F238E27FC236}">
                <a16:creationId xmlns:a16="http://schemas.microsoft.com/office/drawing/2014/main" id="{2606E7CA-CEA1-47DC-81BD-285B50E4A4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620093"/>
              </p:ext>
            </p:extLst>
          </p:nvPr>
        </p:nvGraphicFramePr>
        <p:xfrm>
          <a:off x="3432348" y="4085377"/>
          <a:ext cx="1589349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06360" imgH="177480" progId="Equation.DSMT4">
                  <p:embed/>
                </p:oleObj>
              </mc:Choice>
              <mc:Fallback>
                <p:oleObj name="Equation" r:id="rId17" imgW="1206360" imgH="177480" progId="Equation.DSMT4">
                  <p:embed/>
                  <p:pic>
                    <p:nvPicPr>
                      <p:cNvPr id="50" name="Object 9">
                        <a:extLst>
                          <a:ext uri="{FF2B5EF4-FFF2-40B4-BE49-F238E27FC236}">
                            <a16:creationId xmlns:a16="http://schemas.microsoft.com/office/drawing/2014/main" id="{2606E7CA-CEA1-47DC-81BD-285B50E4A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348" y="4085377"/>
                        <a:ext cx="1589349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9">
            <a:extLst>
              <a:ext uri="{FF2B5EF4-FFF2-40B4-BE49-F238E27FC236}">
                <a16:creationId xmlns:a16="http://schemas.microsoft.com/office/drawing/2014/main" id="{2606E7CA-CEA1-47DC-81BD-285B50E4A4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840808"/>
              </p:ext>
            </p:extLst>
          </p:nvPr>
        </p:nvGraphicFramePr>
        <p:xfrm>
          <a:off x="3477533" y="4807795"/>
          <a:ext cx="414337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17160" imgH="177480" progId="Equation.DSMT4">
                  <p:embed/>
                </p:oleObj>
              </mc:Choice>
              <mc:Fallback>
                <p:oleObj name="Equation" r:id="rId19" imgW="317160" imgH="177480" progId="Equation.DSMT4">
                  <p:embed/>
                  <p:pic>
                    <p:nvPicPr>
                      <p:cNvPr id="51" name="Object 9">
                        <a:extLst>
                          <a:ext uri="{FF2B5EF4-FFF2-40B4-BE49-F238E27FC236}">
                            <a16:creationId xmlns:a16="http://schemas.microsoft.com/office/drawing/2014/main" id="{2606E7CA-CEA1-47DC-81BD-285B50E4A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7533" y="4807795"/>
                        <a:ext cx="414337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FEA22632-8E09-40A3-80D7-CB2EB4D1D273}"/>
              </a:ext>
            </a:extLst>
          </p:cNvPr>
          <p:cNvGrpSpPr/>
          <p:nvPr/>
        </p:nvGrpSpPr>
        <p:grpSpPr>
          <a:xfrm>
            <a:off x="3581470" y="3813115"/>
            <a:ext cx="8655837" cy="1676440"/>
            <a:chOff x="4014218" y="3714905"/>
            <a:chExt cx="8655837" cy="1676440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3047D65B-D85D-462B-908D-48C64FE95D38}"/>
                </a:ext>
              </a:extLst>
            </p:cNvPr>
            <p:cNvSpPr txBox="1"/>
            <p:nvPr/>
          </p:nvSpPr>
          <p:spPr>
            <a:xfrm>
              <a:off x="4014218" y="4991235"/>
              <a:ext cx="63224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cs typeface="+mn-ea"/>
                  <a:sym typeface="+mn-lt"/>
                </a:rPr>
                <a:t>数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CAF5CB26-298E-4526-B4F8-C5AB6793124F}"/>
                </a:ext>
              </a:extLst>
            </p:cNvPr>
            <p:cNvSpPr txBox="1"/>
            <p:nvPr/>
          </p:nvSpPr>
          <p:spPr>
            <a:xfrm>
              <a:off x="6347633" y="3714905"/>
              <a:ext cx="63224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rPr>
                <a:t>行矩阵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rPr>
                <a:t>乘以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rPr>
                <a:t>列矩阵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rPr>
                <a:t>，等于一个（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+mn-lt"/>
                </a:rPr>
                <a:t>数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rPr>
                <a:t>）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6C1EB75-D5EA-47C7-93C6-64E694CFA22D}"/>
              </a:ext>
            </a:extLst>
          </p:cNvPr>
          <p:cNvGrpSpPr/>
          <p:nvPr/>
        </p:nvGrpSpPr>
        <p:grpSpPr>
          <a:xfrm>
            <a:off x="1670640" y="3345847"/>
            <a:ext cx="10910523" cy="3483079"/>
            <a:chOff x="858742" y="4744397"/>
            <a:chExt cx="10910523" cy="3483079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AF2C203-EF72-4516-AE2C-5644E89B7A2F}"/>
                </a:ext>
              </a:extLst>
            </p:cNvPr>
            <p:cNvSpPr txBox="1"/>
            <p:nvPr/>
          </p:nvSpPr>
          <p:spPr>
            <a:xfrm>
              <a:off x="858742" y="7827366"/>
              <a:ext cx="63224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+mn-lt"/>
                </a:rPr>
                <a:t>矩阵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0A1A5A8-9BEA-435A-BA2F-EF186FF48187}"/>
                </a:ext>
              </a:extLst>
            </p:cNvPr>
            <p:cNvSpPr txBox="1"/>
            <p:nvPr/>
          </p:nvSpPr>
          <p:spPr>
            <a:xfrm>
              <a:off x="5051691" y="4744397"/>
              <a:ext cx="6717574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rPr>
                <a:t>列矩阵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rPr>
                <a:t>乘以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rPr>
                <a:t>行矩阵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rPr>
                <a:t>，等于一个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+mn-lt"/>
                </a:rPr>
                <a:t>矩阵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978608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7408" y="908720"/>
            <a:ext cx="523412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3"/>
                </a:solidFill>
              </a:rPr>
              <a:t>Tips</a:t>
            </a:r>
            <a:r>
              <a:rPr lang="zh-CN" altLang="en-US" dirty="0">
                <a:solidFill>
                  <a:schemeClr val="accent3"/>
                </a:solidFill>
              </a:rPr>
              <a:t>（在保证能乘的前提下）：</a:t>
            </a:r>
            <a:endParaRPr lang="en-US" altLang="zh-CN" dirty="0">
              <a:solidFill>
                <a:schemeClr val="accent3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一行乘以一列，等于一个（数）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00B0F0"/>
                </a:solidFill>
              </a:rPr>
              <a:t>一列乘以一行，等于一个矩阵</a:t>
            </a:r>
            <a:endParaRPr lang="en-US" altLang="zh-CN" dirty="0">
              <a:solidFill>
                <a:srgbClr val="00B0F0"/>
              </a:solidFill>
            </a:endParaRPr>
          </a:p>
          <a:p>
            <a:endParaRPr lang="zh-CN" altLang="en-US" dirty="0">
              <a:solidFill>
                <a:schemeClr val="accent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84032" y="1285163"/>
            <a:ext cx="5234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如何用汉字结构说明矩阵乘法？</a:t>
            </a:r>
          </a:p>
        </p:txBody>
      </p:sp>
    </p:spTree>
    <p:extLst>
      <p:ext uri="{BB962C8B-B14F-4D97-AF65-F5344CB8AC3E}">
        <p14:creationId xmlns:p14="http://schemas.microsoft.com/office/powerpoint/2010/main" val="330905980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4">
            <a:extLst>
              <a:ext uri="{FF2B5EF4-FFF2-40B4-BE49-F238E27FC236}">
                <a16:creationId xmlns:a16="http://schemas.microsoft.com/office/drawing/2014/main" id="{174BC121-650D-4420-9B8C-6205D5BA73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351546"/>
              </p:ext>
            </p:extLst>
          </p:nvPr>
        </p:nvGraphicFramePr>
        <p:xfrm>
          <a:off x="2697858" y="980291"/>
          <a:ext cx="2498725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38104" imgH="342772" progId="Equation.DSMT4">
                  <p:embed/>
                </p:oleObj>
              </mc:Choice>
              <mc:Fallback>
                <p:oleObj name="Equation" r:id="rId3" imgW="838104" imgH="34277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858" y="980291"/>
                        <a:ext cx="2498725" cy="131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5">
            <a:extLst>
              <a:ext uri="{FF2B5EF4-FFF2-40B4-BE49-F238E27FC236}">
                <a16:creationId xmlns:a16="http://schemas.microsoft.com/office/drawing/2014/main" id="{A124B94C-119F-4151-8DC6-B313EBFE4A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379799"/>
              </p:ext>
            </p:extLst>
          </p:nvPr>
        </p:nvGraphicFramePr>
        <p:xfrm>
          <a:off x="5533678" y="784689"/>
          <a:ext cx="2722562" cy="186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23985" imgH="599947" progId="Equation.DSMT4">
                  <p:embed/>
                </p:oleObj>
              </mc:Choice>
              <mc:Fallback>
                <p:oleObj name="Equation" r:id="rId5" imgW="923985" imgH="59994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3678" y="784689"/>
                        <a:ext cx="2722562" cy="186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8">
            <a:extLst>
              <a:ext uri="{FF2B5EF4-FFF2-40B4-BE49-F238E27FC236}">
                <a16:creationId xmlns:a16="http://schemas.microsoft.com/office/drawing/2014/main" id="{2F01AEC7-E656-4C33-B71D-341ADCD295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755921"/>
              </p:ext>
            </p:extLst>
          </p:nvPr>
        </p:nvGraphicFramePr>
        <p:xfrm>
          <a:off x="2697857" y="3179183"/>
          <a:ext cx="4406900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85793" imgH="599947" progId="Equation.DSMT4">
                  <p:embed/>
                </p:oleObj>
              </mc:Choice>
              <mc:Fallback>
                <p:oleObj name="Equation" r:id="rId7" imgW="1685793" imgH="59994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857" y="3179183"/>
                        <a:ext cx="4406900" cy="193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34">
            <a:extLst>
              <a:ext uri="{FF2B5EF4-FFF2-40B4-BE49-F238E27FC236}">
                <a16:creationId xmlns:a16="http://schemas.microsoft.com/office/drawing/2014/main" id="{16724B26-D384-435C-9307-5B197AA7240F}"/>
              </a:ext>
            </a:extLst>
          </p:cNvPr>
          <p:cNvGrpSpPr>
            <a:grpSpLocks/>
          </p:cNvGrpSpPr>
          <p:nvPr/>
        </p:nvGrpSpPr>
        <p:grpSpPr bwMode="auto">
          <a:xfrm>
            <a:off x="2639616" y="2530942"/>
            <a:ext cx="4852990" cy="523875"/>
            <a:chOff x="385" y="1525"/>
            <a:chExt cx="3057" cy="330"/>
          </a:xfrm>
        </p:grpSpPr>
        <p:sp>
          <p:nvSpPr>
            <p:cNvPr id="16396" name="Rectangle 19">
              <a:extLst>
                <a:ext uri="{FF2B5EF4-FFF2-40B4-BE49-F238E27FC236}">
                  <a16:creationId xmlns:a16="http://schemas.microsoft.com/office/drawing/2014/main" id="{79E34CBC-E2DA-4E20-B21B-A95E9F0B4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525"/>
              <a:ext cx="305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求      ，并问      是否有意义？</a:t>
              </a:r>
            </a:p>
          </p:txBody>
        </p:sp>
        <p:graphicFrame>
          <p:nvGraphicFramePr>
            <p:cNvPr id="16397" name="Object 6">
              <a:extLst>
                <a:ext uri="{FF2B5EF4-FFF2-40B4-BE49-F238E27FC236}">
                  <a16:creationId xmlns:a16="http://schemas.microsoft.com/office/drawing/2014/main" id="{5239FCEB-E905-4C2B-80FB-0F94AD61D5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8160657"/>
                </p:ext>
              </p:extLst>
            </p:nvPr>
          </p:nvGraphicFramePr>
          <p:xfrm>
            <a:off x="619" y="1545"/>
            <a:ext cx="446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43007" imgH="47597" progId="Equation.DSMT4">
                    <p:embed/>
                  </p:oleObj>
                </mc:Choice>
                <mc:Fallback>
                  <p:oleObj name="Equation" r:id="rId9" imgW="143007" imgH="47597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" y="1545"/>
                          <a:ext cx="446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8" name="Object 7">
              <a:extLst>
                <a:ext uri="{FF2B5EF4-FFF2-40B4-BE49-F238E27FC236}">
                  <a16:creationId xmlns:a16="http://schemas.microsoft.com/office/drawing/2014/main" id="{08232D12-E655-4D58-8C64-3A7972FB65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3689106"/>
                </p:ext>
              </p:extLst>
            </p:nvPr>
          </p:nvGraphicFramePr>
          <p:xfrm>
            <a:off x="1639" y="1529"/>
            <a:ext cx="424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23837" imgH="47597" progId="Equation.DSMT4">
                    <p:embed/>
                  </p:oleObj>
                </mc:Choice>
                <mc:Fallback>
                  <p:oleObj name="Equation" r:id="rId11" imgW="123837" imgH="47597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9" y="1529"/>
                          <a:ext cx="424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Rectangle 20">
            <a:extLst>
              <a:ext uri="{FF2B5EF4-FFF2-40B4-BE49-F238E27FC236}">
                <a16:creationId xmlns:a16="http://schemas.microsoft.com/office/drawing/2014/main" id="{42CA5BBD-9AEC-466E-9E22-8B56D547A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265" y="3268053"/>
            <a:ext cx="10054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解：</a:t>
            </a:r>
          </a:p>
        </p:txBody>
      </p:sp>
      <p:graphicFrame>
        <p:nvGraphicFramePr>
          <p:cNvPr id="35" name="Object 25">
            <a:extLst>
              <a:ext uri="{FF2B5EF4-FFF2-40B4-BE49-F238E27FC236}">
                <a16:creationId xmlns:a16="http://schemas.microsoft.com/office/drawing/2014/main" id="{D97A4376-CF0B-4431-8A66-ACDA95323F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396216"/>
              </p:ext>
            </p:extLst>
          </p:nvPr>
        </p:nvGraphicFramePr>
        <p:xfrm>
          <a:off x="7122815" y="3525258"/>
          <a:ext cx="2141537" cy="124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62192" imgH="342772" progId="Equation.DSMT4">
                  <p:embed/>
                </p:oleObj>
              </mc:Choice>
              <mc:Fallback>
                <p:oleObj name="Equation" r:id="rId13" imgW="762192" imgH="342772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2815" y="3525258"/>
                        <a:ext cx="2141537" cy="124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Group 32">
            <a:extLst>
              <a:ext uri="{FF2B5EF4-FFF2-40B4-BE49-F238E27FC236}">
                <a16:creationId xmlns:a16="http://schemas.microsoft.com/office/drawing/2014/main" id="{1705778D-F07D-46D7-8242-D7A2520E4155}"/>
              </a:ext>
            </a:extLst>
          </p:cNvPr>
          <p:cNvGrpSpPr>
            <a:grpSpLocks/>
          </p:cNvGrpSpPr>
          <p:nvPr/>
        </p:nvGrpSpPr>
        <p:grpSpPr bwMode="auto">
          <a:xfrm>
            <a:off x="2697857" y="5431831"/>
            <a:ext cx="2954338" cy="584200"/>
            <a:chOff x="3406" y="3425"/>
            <a:chExt cx="1861" cy="368"/>
          </a:xfrm>
        </p:grpSpPr>
        <p:sp>
          <p:nvSpPr>
            <p:cNvPr id="16394" name="Rectangle 27">
              <a:extLst>
                <a:ext uri="{FF2B5EF4-FFF2-40B4-BE49-F238E27FC236}">
                  <a16:creationId xmlns:a16="http://schemas.microsoft.com/office/drawing/2014/main" id="{9FE4B188-45EF-4752-A360-28A804B67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6" y="3425"/>
              <a:ext cx="1861" cy="368"/>
            </a:xfrm>
            <a:prstGeom prst="rect">
              <a:avLst/>
            </a:prstGeom>
            <a:noFill/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sz="3200" dirty="0">
                  <a:solidFill>
                    <a:srgbClr val="FFCC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显然      无意义</a:t>
              </a:r>
              <a:r>
                <a:rPr lang="zh-CN" altLang="en-US" sz="3200" b="0" dirty="0">
                  <a:solidFill>
                    <a:srgbClr val="FFCC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</a:p>
          </p:txBody>
        </p:sp>
        <p:graphicFrame>
          <p:nvGraphicFramePr>
            <p:cNvPr id="16395" name="Object 31">
              <a:extLst>
                <a:ext uri="{FF2B5EF4-FFF2-40B4-BE49-F238E27FC236}">
                  <a16:creationId xmlns:a16="http://schemas.microsoft.com/office/drawing/2014/main" id="{CD6705D3-F73A-45BA-B3C6-D4CCA95319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55" y="3454"/>
            <a:ext cx="454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23837" imgH="47597" progId="Equation.DSMT4">
                    <p:embed/>
                  </p:oleObj>
                </mc:Choice>
                <mc:Fallback>
                  <p:oleObj name="Equation" r:id="rId15" imgW="123837" imgH="47597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5" y="3454"/>
                          <a:ext cx="454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2A229812-9735-43E3-8827-A31E9E9B26EE}"/>
              </a:ext>
            </a:extLst>
          </p:cNvPr>
          <p:cNvSpPr/>
          <p:nvPr/>
        </p:nvSpPr>
        <p:spPr>
          <a:xfrm>
            <a:off x="1703512" y="1329869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 b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4(2)</a:t>
            </a:r>
            <a:r>
              <a:rPr lang="zh-CN" altLang="en-US" b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 bwMode="auto">
          <a:xfrm>
            <a:off x="9768408" y="2530942"/>
            <a:ext cx="1944216" cy="2128908"/>
          </a:xfrm>
          <a:prstGeom prst="round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zh-CN" altLang="en-US" sz="300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因此一定要注意</a:t>
            </a:r>
          </a:p>
          <a:p>
            <a:pPr algn="ctr" eaLnBrk="1" hangingPunct="1"/>
            <a:r>
              <a:rPr lang="zh-CN" altLang="en-US" sz="300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矩阵相乘的顺序！</a:t>
            </a:r>
          </a:p>
        </p:txBody>
      </p:sp>
    </p:spTree>
    <p:custDataLst>
      <p:tags r:id="rId1"/>
    </p:custDataLst>
  </p:cSld>
  <p:clrMapOvr>
    <a:masterClrMapping/>
  </p:clrMapOvr>
  <p:transition advTm="40855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7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utoUpdateAnimBg="0"/>
      <p:bldP spid="2" grpId="0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700" y="6692900"/>
            <a:ext cx="12185650" cy="165100"/>
          </a:xfrm>
          <a:prstGeom prst="rect">
            <a:avLst/>
          </a:prstGeom>
          <a:solidFill>
            <a:srgbClr val="353F6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248128" y="379885"/>
            <a:ext cx="1107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拓展作业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700" y="6692900"/>
            <a:ext cx="12185650" cy="165100"/>
          </a:xfrm>
          <a:prstGeom prst="rect">
            <a:avLst/>
          </a:prstGeom>
          <a:solidFill>
            <a:srgbClr val="353F6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90141650-DAC9-467F-B224-77ACA4A0A4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254620"/>
              </p:ext>
            </p:extLst>
          </p:nvPr>
        </p:nvGraphicFramePr>
        <p:xfrm>
          <a:off x="2060783" y="830562"/>
          <a:ext cx="1611653" cy="857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457200" progId="Equation.DSMT4">
                  <p:embed/>
                </p:oleObj>
              </mc:Choice>
              <mc:Fallback>
                <p:oleObj name="Equation" r:id="rId2" imgW="914400" imgH="457200" progId="Equation.DSMT4">
                  <p:embed/>
                  <p:pic>
                    <p:nvPicPr>
                      <p:cNvPr id="16" name="Object 5">
                        <a:extLst>
                          <a:ext uri="{FF2B5EF4-FFF2-40B4-BE49-F238E27FC236}">
                            <a16:creationId xmlns:a16="http://schemas.microsoft.com/office/drawing/2014/main" id="{90141650-DAC9-467F-B224-77ACA4A0A4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783" y="830562"/>
                        <a:ext cx="1611653" cy="8574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6E8DD5CB-532D-4D21-AD06-5B7DD57909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766740"/>
              </p:ext>
            </p:extLst>
          </p:nvPr>
        </p:nvGraphicFramePr>
        <p:xfrm>
          <a:off x="3794690" y="830562"/>
          <a:ext cx="1757962" cy="963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457200" progId="Equation.DSMT4">
                  <p:embed/>
                </p:oleObj>
              </mc:Choice>
              <mc:Fallback>
                <p:oleObj name="Equation" r:id="rId4" imgW="914400" imgH="457200" progId="Equation.DSMT4">
                  <p:embed/>
                  <p:pic>
                    <p:nvPicPr>
                      <p:cNvPr id="17" name="Object 6">
                        <a:extLst>
                          <a:ext uri="{FF2B5EF4-FFF2-40B4-BE49-F238E27FC236}">
                            <a16:creationId xmlns:a16="http://schemas.microsoft.com/office/drawing/2014/main" id="{6E8DD5CB-532D-4D21-AD06-5B7DD57909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690" y="830562"/>
                        <a:ext cx="1757962" cy="963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9">
            <a:extLst>
              <a:ext uri="{FF2B5EF4-FFF2-40B4-BE49-F238E27FC236}">
                <a16:creationId xmlns:a16="http://schemas.microsoft.com/office/drawing/2014/main" id="{2606E7CA-CEA1-47DC-81BD-285B50E4A4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874128"/>
              </p:ext>
            </p:extLst>
          </p:nvPr>
        </p:nvGraphicFramePr>
        <p:xfrm>
          <a:off x="989709" y="2304427"/>
          <a:ext cx="5530554" cy="1314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52400" imgH="457200" progId="Equation.DSMT4">
                  <p:embed/>
                </p:oleObj>
              </mc:Choice>
              <mc:Fallback>
                <p:oleObj name="Equation" r:id="rId6" imgW="2552400" imgH="457200" progId="Equation.DSMT4">
                  <p:embed/>
                  <p:pic>
                    <p:nvPicPr>
                      <p:cNvPr id="25" name="Object 9">
                        <a:extLst>
                          <a:ext uri="{FF2B5EF4-FFF2-40B4-BE49-F238E27FC236}">
                            <a16:creationId xmlns:a16="http://schemas.microsoft.com/office/drawing/2014/main" id="{2606E7CA-CEA1-47DC-81BD-285B50E4A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709" y="2304427"/>
                        <a:ext cx="5530554" cy="13148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27">
            <a:extLst>
              <a:ext uri="{FF2B5EF4-FFF2-40B4-BE49-F238E27FC236}">
                <a16:creationId xmlns:a16="http://schemas.microsoft.com/office/drawing/2014/main" id="{409FDAFA-C0CF-43C6-88A2-9CD2F865FC71}"/>
              </a:ext>
            </a:extLst>
          </p:cNvPr>
          <p:cNvGrpSpPr>
            <a:grpSpLocks/>
          </p:cNvGrpSpPr>
          <p:nvPr/>
        </p:nvGrpSpPr>
        <p:grpSpPr bwMode="auto">
          <a:xfrm>
            <a:off x="5663240" y="817338"/>
            <a:ext cx="2192971" cy="705295"/>
            <a:chOff x="485" y="1127"/>
            <a:chExt cx="1566" cy="525"/>
          </a:xfrm>
        </p:grpSpPr>
        <p:graphicFrame>
          <p:nvGraphicFramePr>
            <p:cNvPr id="19" name="Object 7">
              <a:extLst>
                <a:ext uri="{FF2B5EF4-FFF2-40B4-BE49-F238E27FC236}">
                  <a16:creationId xmlns:a16="http://schemas.microsoft.com/office/drawing/2014/main" id="{7E039E0C-375A-49C0-AEC7-04D3D9312C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7906663"/>
                </p:ext>
              </p:extLst>
            </p:nvPr>
          </p:nvGraphicFramePr>
          <p:xfrm>
            <a:off x="1506" y="1127"/>
            <a:ext cx="545" cy="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41200" imgH="164880" progId="Equation.DSMT4">
                    <p:embed/>
                  </p:oleObj>
                </mc:Choice>
                <mc:Fallback>
                  <p:oleObj name="Equation" r:id="rId8" imgW="241200" imgH="164880" progId="Equation.DSMT4">
                    <p:embed/>
                    <p:pic>
                      <p:nvPicPr>
                        <p:cNvPr id="27" name="Object 7">
                          <a:extLst>
                            <a:ext uri="{FF2B5EF4-FFF2-40B4-BE49-F238E27FC236}">
                              <a16:creationId xmlns:a16="http://schemas.microsoft.com/office/drawing/2014/main" id="{7E039E0C-375A-49C0-AEC7-04D3D9312C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6" y="1127"/>
                          <a:ext cx="545" cy="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8">
              <a:extLst>
                <a:ext uri="{FF2B5EF4-FFF2-40B4-BE49-F238E27FC236}">
                  <a16:creationId xmlns:a16="http://schemas.microsoft.com/office/drawing/2014/main" id="{6458C3AF-9B6B-40A5-BD16-011461CE4A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2223315"/>
                </p:ext>
              </p:extLst>
            </p:nvPr>
          </p:nvGraphicFramePr>
          <p:xfrm>
            <a:off x="485" y="1127"/>
            <a:ext cx="1048" cy="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57200" imgH="215640" progId="Equation.DSMT4">
                    <p:embed/>
                  </p:oleObj>
                </mc:Choice>
                <mc:Fallback>
                  <p:oleObj name="Equation" r:id="rId10" imgW="457200" imgH="215640" progId="Equation.DSMT4">
                    <p:embed/>
                    <p:pic>
                      <p:nvPicPr>
                        <p:cNvPr id="28" name="Object 8">
                          <a:extLst>
                            <a:ext uri="{FF2B5EF4-FFF2-40B4-BE49-F238E27FC236}">
                              <a16:creationId xmlns:a16="http://schemas.microsoft.com/office/drawing/2014/main" id="{6458C3AF-9B6B-40A5-BD16-011461CE4A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" y="1127"/>
                          <a:ext cx="1048" cy="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Rectangle 19">
            <a:extLst>
              <a:ext uri="{FF2B5EF4-FFF2-40B4-BE49-F238E27FC236}">
                <a16:creationId xmlns:a16="http://schemas.microsoft.com/office/drawing/2014/main" id="{2F73E1F8-189E-4FBC-A7A7-B651A5BF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885" y="2385219"/>
            <a:ext cx="10054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0" dirty="0">
                <a:latin typeface="+mn-lt"/>
                <a:ea typeface="+mn-ea"/>
                <a:cs typeface="+mn-ea"/>
                <a:sym typeface="+mn-lt"/>
              </a:rPr>
              <a:t>解：</a:t>
            </a:r>
          </a:p>
        </p:txBody>
      </p:sp>
      <p:graphicFrame>
        <p:nvGraphicFramePr>
          <p:cNvPr id="22" name="Object 23">
            <a:extLst>
              <a:ext uri="{FF2B5EF4-FFF2-40B4-BE49-F238E27FC236}">
                <a16:creationId xmlns:a16="http://schemas.microsoft.com/office/drawing/2014/main" id="{AB462297-91F0-4029-9D21-C7BB04AF1A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004027"/>
              </p:ext>
            </p:extLst>
          </p:nvPr>
        </p:nvGraphicFramePr>
        <p:xfrm>
          <a:off x="989709" y="4076134"/>
          <a:ext cx="5365454" cy="131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22280" imgH="457200" progId="Equation.DSMT4">
                  <p:embed/>
                </p:oleObj>
              </mc:Choice>
              <mc:Fallback>
                <p:oleObj name="Equation" r:id="rId12" imgW="2222280" imgH="457200" progId="Equation.DSMT4">
                  <p:embed/>
                  <p:pic>
                    <p:nvPicPr>
                      <p:cNvPr id="32" name="Object 23">
                        <a:extLst>
                          <a:ext uri="{FF2B5EF4-FFF2-40B4-BE49-F238E27FC236}">
                            <a16:creationId xmlns:a16="http://schemas.microsoft.com/office/drawing/2014/main" id="{AB462297-91F0-4029-9D21-C7BB04AF1A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709" y="4076134"/>
                        <a:ext cx="5365454" cy="1313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8">
            <a:extLst>
              <a:ext uri="{FF2B5EF4-FFF2-40B4-BE49-F238E27FC236}">
                <a16:creationId xmlns:a16="http://schemas.microsoft.com/office/drawing/2014/main" id="{C3A242D7-0C83-4A9B-B12A-B935AAAA2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296" y="5645616"/>
            <a:ext cx="11122329" cy="584775"/>
          </a:xfrm>
          <a:prstGeom prst="rect">
            <a:avLst/>
          </a:prstGeom>
          <a:solidFill>
            <a:schemeClr val="tx1"/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注意</a:t>
            </a:r>
            <a:r>
              <a:rPr lang="zh-CN" altLang="en-US" sz="3200" dirty="0">
                <a:solidFill>
                  <a:schemeClr val="bg1"/>
                </a:solidFill>
                <a:ea typeface="+mn-ea"/>
                <a:cs typeface="Times New Roman" panose="02020603050405020304" pitchFamily="18" charset="0"/>
                <a:sym typeface="+mn-lt"/>
              </a:rPr>
              <a:t>： 由</a:t>
            </a:r>
            <a:r>
              <a:rPr lang="en-US" altLang="zh-CN" sz="3200" i="1" dirty="0">
                <a:solidFill>
                  <a:schemeClr val="bg1"/>
                </a:solidFill>
                <a:ea typeface="+mn-ea"/>
                <a:cs typeface="Times New Roman" panose="02020603050405020304" pitchFamily="18" charset="0"/>
                <a:sym typeface="+mn-lt"/>
              </a:rPr>
              <a:t>AB</a:t>
            </a:r>
            <a:r>
              <a:rPr lang="en-US" altLang="zh-CN" sz="3200" dirty="0">
                <a:solidFill>
                  <a:schemeClr val="bg1"/>
                </a:solidFill>
                <a:ea typeface="+mn-ea"/>
                <a:cs typeface="Times New Roman" panose="02020603050405020304" pitchFamily="18" charset="0"/>
                <a:sym typeface="+mn-lt"/>
              </a:rPr>
              <a:t> = 0</a:t>
            </a:r>
            <a:r>
              <a:rPr lang="zh-CN" altLang="en-US" sz="3200" dirty="0">
                <a:solidFill>
                  <a:schemeClr val="bg1"/>
                </a:solidFill>
                <a:ea typeface="+mn-ea"/>
                <a:cs typeface="Times New Roman" panose="02020603050405020304" pitchFamily="18" charset="0"/>
                <a:sym typeface="+mn-lt"/>
              </a:rPr>
              <a:t>不能得出</a:t>
            </a:r>
            <a:r>
              <a:rPr lang="en-US" altLang="zh-CN" sz="3200" i="1" dirty="0">
                <a:solidFill>
                  <a:schemeClr val="bg1"/>
                </a:solidFill>
                <a:ea typeface="+mn-ea"/>
                <a:cs typeface="Times New Roman" panose="02020603050405020304" pitchFamily="18" charset="0"/>
                <a:sym typeface="+mn-lt"/>
              </a:rPr>
              <a:t>A</a:t>
            </a:r>
            <a:r>
              <a:rPr lang="en-US" altLang="zh-CN" sz="3200" dirty="0">
                <a:solidFill>
                  <a:schemeClr val="bg1"/>
                </a:solidFill>
                <a:ea typeface="+mn-ea"/>
                <a:cs typeface="Times New Roman" panose="02020603050405020304" pitchFamily="18" charset="0"/>
                <a:sym typeface="+mn-lt"/>
              </a:rPr>
              <a:t> = 0</a:t>
            </a:r>
            <a:r>
              <a:rPr lang="zh-CN" altLang="en-US" sz="3200" dirty="0">
                <a:solidFill>
                  <a:schemeClr val="bg1"/>
                </a:solidFill>
                <a:ea typeface="+mn-ea"/>
                <a:cs typeface="Times New Roman" panose="02020603050405020304" pitchFamily="18" charset="0"/>
                <a:sym typeface="+mn-lt"/>
              </a:rPr>
              <a:t>或</a:t>
            </a:r>
            <a:r>
              <a:rPr lang="en-US" altLang="zh-CN" sz="3200" i="1" dirty="0">
                <a:solidFill>
                  <a:schemeClr val="bg1"/>
                </a:solidFill>
                <a:ea typeface="+mn-ea"/>
                <a:cs typeface="Times New Roman" panose="02020603050405020304" pitchFamily="18" charset="0"/>
                <a:sym typeface="+mn-lt"/>
              </a:rPr>
              <a:t>B</a:t>
            </a:r>
            <a:r>
              <a:rPr lang="en-US" altLang="zh-CN" sz="3200" dirty="0">
                <a:solidFill>
                  <a:schemeClr val="bg1"/>
                </a:solidFill>
                <a:ea typeface="+mn-ea"/>
                <a:cs typeface="Times New Roman" panose="02020603050405020304" pitchFamily="18" charset="0"/>
                <a:sym typeface="+mn-lt"/>
              </a:rPr>
              <a:t> = 0</a:t>
            </a:r>
            <a:r>
              <a:rPr lang="zh-CN" altLang="en-US" sz="32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，即矩阵有</a:t>
            </a:r>
            <a:r>
              <a:rPr lang="zh-CN" altLang="en-US" sz="32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非零因子</a:t>
            </a:r>
            <a:r>
              <a:rPr lang="zh-CN" altLang="en-US" sz="32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。</a:t>
            </a:r>
            <a:endParaRPr lang="en-US" altLang="zh-CN" sz="32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3C4BA3-A9AD-45AD-B581-E91E31DD9C58}"/>
              </a:ext>
            </a:extLst>
          </p:cNvPr>
          <p:cNvSpPr/>
          <p:nvPr/>
        </p:nvSpPr>
        <p:spPr>
          <a:xfrm>
            <a:off x="70650" y="983923"/>
            <a:ext cx="20457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cs typeface="+mn-ea"/>
                <a:sym typeface="+mn-lt"/>
              </a:rPr>
              <a:t>例</a:t>
            </a:r>
            <a:r>
              <a:rPr lang="en-US" altLang="zh-CN" dirty="0">
                <a:cs typeface="+mn-ea"/>
                <a:sym typeface="+mn-lt"/>
              </a:rPr>
              <a:t>4(3)</a:t>
            </a:r>
            <a:r>
              <a:rPr kumimoji="1" lang="en-US" altLang="zh-CN" sz="2800" dirty="0">
                <a:cs typeface="+mn-ea"/>
                <a:sym typeface="+mn-lt"/>
              </a:rPr>
              <a:t> </a:t>
            </a:r>
            <a:r>
              <a:rPr kumimoji="1" lang="zh-CN" altLang="en-US" sz="2800" dirty="0">
                <a:cs typeface="+mn-ea"/>
                <a:sym typeface="+mn-lt"/>
              </a:rPr>
              <a:t>已知 </a:t>
            </a:r>
            <a:endParaRPr kumimoji="1" lang="zh-CN" altLang="en-US" sz="2800" b="1" dirty="0"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801270" y="831268"/>
            <a:ext cx="43357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FF0000"/>
                </a:solidFill>
                <a:cs typeface="+mn-ea"/>
                <a:sym typeface="+mn-lt"/>
              </a:rPr>
              <a:t>并观察结果，探讨性质。 </a:t>
            </a:r>
          </a:p>
        </p:txBody>
      </p:sp>
      <p:graphicFrame>
        <p:nvGraphicFramePr>
          <p:cNvPr id="26" name="Object 7">
            <a:extLst>
              <a:ext uri="{FF2B5EF4-FFF2-40B4-BE49-F238E27FC236}">
                <a16:creationId xmlns:a16="http://schemas.microsoft.com/office/drawing/2014/main" id="{ED8FAB10-0A63-4D53-8576-0AA2F49009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118543"/>
              </p:ext>
            </p:extLst>
          </p:nvPr>
        </p:nvGraphicFramePr>
        <p:xfrm>
          <a:off x="7046710" y="2953909"/>
          <a:ext cx="3669332" cy="1330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34680" imgH="203040" progId="Equation.DSMT4">
                  <p:embed/>
                </p:oleObj>
              </mc:Choice>
              <mc:Fallback>
                <p:oleObj name="Equation" r:id="rId14" imgW="634680" imgH="203040" progId="Equation.DSMT4">
                  <p:embed/>
                  <p:pic>
                    <p:nvPicPr>
                      <p:cNvPr id="37" name="Object 7">
                        <a:extLst>
                          <a:ext uri="{FF2B5EF4-FFF2-40B4-BE49-F238E27FC236}">
                            <a16:creationId xmlns:a16="http://schemas.microsoft.com/office/drawing/2014/main" id="{ED8FAB10-0A63-4D53-8576-0AA2F49009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710" y="2953909"/>
                        <a:ext cx="3669332" cy="1330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037924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  <p:bldP spid="23" grpId="0" animBg="1"/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700" y="6692900"/>
            <a:ext cx="12185650" cy="165100"/>
          </a:xfrm>
          <a:prstGeom prst="rect">
            <a:avLst/>
          </a:prstGeom>
          <a:solidFill>
            <a:srgbClr val="353F6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433667" y="210938"/>
            <a:ext cx="1107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拓展作业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534816" y="220108"/>
            <a:ext cx="1316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BB84QKD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700" y="6692900"/>
            <a:ext cx="12185650" cy="165100"/>
          </a:xfrm>
          <a:prstGeom prst="rect">
            <a:avLst/>
          </a:prstGeom>
          <a:solidFill>
            <a:srgbClr val="353F6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9865" y="6692900"/>
            <a:ext cx="12185650" cy="165100"/>
          </a:xfrm>
          <a:prstGeom prst="rect">
            <a:avLst/>
          </a:prstGeom>
          <a:solidFill>
            <a:srgbClr val="353F6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89865" y="6692900"/>
            <a:ext cx="12185650" cy="165100"/>
          </a:xfrm>
          <a:prstGeom prst="rect">
            <a:avLst/>
          </a:prstGeom>
          <a:solidFill>
            <a:srgbClr val="353F6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DB2AFF4C-7CBD-4A78-8A7F-34FC1BAC8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45503" y="5271367"/>
            <a:ext cx="4322756" cy="55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000" b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A4D4DD53-8FE8-443A-966E-EFC96AAC3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30" y="2637845"/>
            <a:ext cx="626462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000" b="0" dirty="0">
                <a:latin typeface="+mn-ea"/>
                <a:ea typeface="+mn-ea"/>
              </a:rPr>
              <a:t>即</a:t>
            </a:r>
            <a:r>
              <a:rPr lang="zh-CN" altLang="en-US" sz="3200" dirty="0">
                <a:latin typeface="+mn-ea"/>
                <a:ea typeface="+mn-ea"/>
              </a:rPr>
              <a:t>矩阵的乘法</a:t>
            </a:r>
            <a:r>
              <a:rPr lang="zh-CN" altLang="en-US" sz="3200" dirty="0">
                <a:solidFill>
                  <a:srgbClr val="FF0000"/>
                </a:solidFill>
                <a:latin typeface="+mn-ea"/>
                <a:ea typeface="+mn-ea"/>
              </a:rPr>
              <a:t>不满足</a:t>
            </a:r>
            <a:r>
              <a:rPr lang="zh-CN" altLang="en-US" sz="4000" dirty="0">
                <a:solidFill>
                  <a:srgbClr val="FF0000"/>
                </a:solidFill>
                <a:latin typeface="+mn-ea"/>
                <a:ea typeface="+mn-ea"/>
              </a:rPr>
              <a:t>交换律</a:t>
            </a:r>
            <a:r>
              <a:rPr lang="zh-CN" altLang="en-US" sz="3200" dirty="0">
                <a:solidFill>
                  <a:srgbClr val="FF0000"/>
                </a:solidFill>
                <a:latin typeface="+mn-ea"/>
                <a:ea typeface="+mn-ea"/>
              </a:rPr>
              <a:t>！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．</a:t>
            </a: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5E93FC18-F05B-45C6-8C99-97F918861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" y="1035035"/>
            <a:ext cx="6265586" cy="1323439"/>
          </a:xfrm>
          <a:prstGeom prst="rect">
            <a:avLst/>
          </a:prstGeom>
          <a:solidFill>
            <a:schemeClr val="bg1"/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对任意</a:t>
            </a:r>
            <a:r>
              <a:rPr lang="en-US" altLang="zh-CN" sz="2400" i="1" dirty="0" err="1"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400" i="1" baseline="-25000" dirty="0" err="1"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 err="1">
                <a:ea typeface="+mn-ea"/>
                <a:cs typeface="Times New Roman" panose="02020603050405020304" pitchFamily="18" charset="0"/>
              </a:rPr>
              <a:t>×</a:t>
            </a:r>
            <a:r>
              <a:rPr lang="en-US" altLang="zh-CN" sz="2400" i="1" baseline="-25000" dirty="0" err="1"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i="1" dirty="0" err="1">
                <a:ea typeface="+mn-ea"/>
                <a:cs typeface="Times New Roman" panose="02020603050405020304" pitchFamily="18" charset="0"/>
              </a:rPr>
              <a:t>B</a:t>
            </a:r>
            <a:r>
              <a:rPr lang="en-US" altLang="zh-CN" sz="2400" i="1" baseline="-25000" dirty="0" err="1"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en-US" sz="2400" baseline="-25000" dirty="0" err="1">
                <a:ea typeface="+mn-ea"/>
                <a:cs typeface="Times New Roman" panose="02020603050405020304" pitchFamily="18" charset="0"/>
              </a:rPr>
              <a:t>×</a:t>
            </a:r>
            <a:r>
              <a:rPr lang="en-US" altLang="zh-CN" sz="2400" i="1" baseline="-25000" dirty="0" err="1"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，当</a:t>
            </a:r>
            <a:r>
              <a:rPr lang="en-US" altLang="zh-CN" sz="2400" b="0" i="1" dirty="0" err="1"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sz="2400" dirty="0" err="1">
                <a:ea typeface="+mn-ea"/>
                <a:cs typeface="Times New Roman" panose="02020603050405020304" pitchFamily="18" charset="0"/>
              </a:rPr>
              <a:t>≠</a:t>
            </a:r>
            <a:r>
              <a:rPr lang="en-US" altLang="zh-CN" sz="2400" b="0" i="1" dirty="0" err="1"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时，</a:t>
            </a:r>
            <a:r>
              <a:rPr lang="en-US" altLang="zh-CN" sz="2400" i="1" dirty="0">
                <a:ea typeface="+mn-ea"/>
                <a:cs typeface="Times New Roman" panose="02020603050405020304" pitchFamily="18" charset="0"/>
              </a:rPr>
              <a:t>AB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 ≠ </a:t>
            </a:r>
            <a:r>
              <a:rPr lang="en-US" altLang="zh-CN" sz="2400" i="1" dirty="0">
                <a:ea typeface="+mn-ea"/>
                <a:cs typeface="Times New Roman" panose="02020603050405020304" pitchFamily="18" charset="0"/>
              </a:rPr>
              <a:t>BA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；但是当</a:t>
            </a:r>
            <a:r>
              <a:rPr lang="en-US" altLang="zh-CN" sz="2400" i="1" dirty="0"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时，仍有可能</a:t>
            </a:r>
            <a:r>
              <a:rPr lang="en-US" altLang="zh-CN" sz="2400" i="1" dirty="0">
                <a:ea typeface="+mn-ea"/>
                <a:cs typeface="Times New Roman" panose="02020603050405020304" pitchFamily="18" charset="0"/>
              </a:rPr>
              <a:t>AB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 ≠ </a:t>
            </a:r>
            <a:r>
              <a:rPr lang="en-US" altLang="zh-CN" sz="2400" i="1" dirty="0">
                <a:ea typeface="+mn-ea"/>
                <a:cs typeface="Times New Roman" panose="02020603050405020304" pitchFamily="18" charset="0"/>
              </a:rPr>
              <a:t>BA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。一般说来，</a:t>
            </a:r>
          </a:p>
          <a:p>
            <a:pPr eaLnBrk="1" hangingPunct="1"/>
            <a:endParaRPr lang="zh-CN" altLang="en-US" sz="3200" dirty="0">
              <a:solidFill>
                <a:srgbClr val="FF0000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6">
            <a:extLst>
              <a:ext uri="{FF2B5EF4-FFF2-40B4-BE49-F238E27FC236}">
                <a16:creationId xmlns:a16="http://schemas.microsoft.com/office/drawing/2014/main" id="{6CA4084D-5617-4A6F-A4C2-CCE0ED8CD2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083386"/>
              </p:ext>
            </p:extLst>
          </p:nvPr>
        </p:nvGraphicFramePr>
        <p:xfrm>
          <a:off x="2108966" y="1944572"/>
          <a:ext cx="1696458" cy="687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6880" imgH="164880" progId="Equation.DSMT4">
                  <p:embed/>
                </p:oleObj>
              </mc:Choice>
              <mc:Fallback>
                <p:oleObj name="Equation" r:id="rId3" imgW="596880" imgH="164880" progId="Equation.DSMT4">
                  <p:embed/>
                  <p:pic>
                    <p:nvPicPr>
                      <p:cNvPr id="42" name="Object 6">
                        <a:extLst>
                          <a:ext uri="{FF2B5EF4-FFF2-40B4-BE49-F238E27FC236}">
                            <a16:creationId xmlns:a16="http://schemas.microsoft.com/office/drawing/2014/main" id="{6CA4084D-5617-4A6F-A4C2-CCE0ED8CD2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966" y="1944572"/>
                        <a:ext cx="1696458" cy="687974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3">
                              <a:lumMod val="0"/>
                              <a:lumOff val="100000"/>
                            </a:schemeClr>
                          </a:gs>
                          <a:gs pos="35000">
                            <a:schemeClr val="accent3">
                              <a:lumMod val="0"/>
                              <a:lumOff val="100000"/>
                            </a:schemeClr>
                          </a:gs>
                          <a:gs pos="100000">
                            <a:schemeClr val="accent3">
                              <a:lumMod val="100000"/>
                            </a:schemeClr>
                          </a:gs>
                        </a:gsLst>
                        <a:path path="circle">
                          <a:fillToRect l="50000" t="-80000" r="50000" b="180000"/>
                        </a:path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/>
          <p:nvPr/>
        </p:nvSpPr>
        <p:spPr>
          <a:xfrm>
            <a:off x="218344" y="3502222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不过，在有些情况下，也可能有</a:t>
            </a:r>
          </a:p>
        </p:txBody>
      </p:sp>
      <p:graphicFrame>
        <p:nvGraphicFramePr>
          <p:cNvPr id="22" name="Object 7">
            <a:extLst>
              <a:ext uri="{FF2B5EF4-FFF2-40B4-BE49-F238E27FC236}">
                <a16:creationId xmlns:a16="http://schemas.microsoft.com/office/drawing/2014/main" id="{BDED08C9-1255-4CB0-BC52-1A68004DCB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079055"/>
              </p:ext>
            </p:extLst>
          </p:nvPr>
        </p:nvGraphicFramePr>
        <p:xfrm>
          <a:off x="2253800" y="4035974"/>
          <a:ext cx="1443037" cy="481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83920" imgH="164880" progId="Equation.DSMT4">
                  <p:embed/>
                </p:oleObj>
              </mc:Choice>
              <mc:Fallback>
                <p:oleObj name="Equation" r:id="rId5" imgW="583920" imgH="164880" progId="Equation.DSMT4">
                  <p:embed/>
                  <p:pic>
                    <p:nvPicPr>
                      <p:cNvPr id="44" name="Object 7">
                        <a:extLst>
                          <a:ext uri="{FF2B5EF4-FFF2-40B4-BE49-F238E27FC236}">
                            <a16:creationId xmlns:a16="http://schemas.microsoft.com/office/drawing/2014/main" id="{BDED08C9-1255-4CB0-BC52-1A68004DCB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3800" y="4035974"/>
                        <a:ext cx="1443037" cy="481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/>
          <p:cNvSpPr/>
          <p:nvPr/>
        </p:nvSpPr>
        <p:spPr>
          <a:xfrm>
            <a:off x="454052" y="4780625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例如：</a:t>
            </a:r>
          </a:p>
        </p:txBody>
      </p:sp>
      <p:graphicFrame>
        <p:nvGraphicFramePr>
          <p:cNvPr id="24" name="Object 8">
            <a:extLst>
              <a:ext uri="{FF2B5EF4-FFF2-40B4-BE49-F238E27FC236}">
                <a16:creationId xmlns:a16="http://schemas.microsoft.com/office/drawing/2014/main" id="{D08C9CF2-33E4-4435-813C-725D0D9989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967213"/>
              </p:ext>
            </p:extLst>
          </p:nvPr>
        </p:nvGraphicFramePr>
        <p:xfrm>
          <a:off x="1764692" y="4780625"/>
          <a:ext cx="978216" cy="706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11000" imgH="457200" progId="Equation.DSMT4">
                  <p:embed/>
                </p:oleObj>
              </mc:Choice>
              <mc:Fallback>
                <p:oleObj name="Equation" r:id="rId7" imgW="711000" imgH="457200" progId="Equation.DSMT4">
                  <p:embed/>
                  <p:pic>
                    <p:nvPicPr>
                      <p:cNvPr id="46" name="Object 8">
                        <a:extLst>
                          <a:ext uri="{FF2B5EF4-FFF2-40B4-BE49-F238E27FC236}">
                            <a16:creationId xmlns:a16="http://schemas.microsoft.com/office/drawing/2014/main" id="{D08C9CF2-33E4-4435-813C-725D0D9989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4692" y="4780625"/>
                        <a:ext cx="978216" cy="706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9">
            <a:extLst>
              <a:ext uri="{FF2B5EF4-FFF2-40B4-BE49-F238E27FC236}">
                <a16:creationId xmlns:a16="http://schemas.microsoft.com/office/drawing/2014/main" id="{06D14095-02ED-4EC3-A61D-1B338F688F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844095"/>
              </p:ext>
            </p:extLst>
          </p:nvPr>
        </p:nvGraphicFramePr>
        <p:xfrm>
          <a:off x="3225348" y="4780625"/>
          <a:ext cx="1160151" cy="737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50680" imgH="482400" progId="Equation.DSMT4">
                  <p:embed/>
                </p:oleObj>
              </mc:Choice>
              <mc:Fallback>
                <p:oleObj name="Equation" r:id="rId9" imgW="850680" imgH="482400" progId="Equation.DSMT4">
                  <p:embed/>
                  <p:pic>
                    <p:nvPicPr>
                      <p:cNvPr id="47" name="Object 9">
                        <a:extLst>
                          <a:ext uri="{FF2B5EF4-FFF2-40B4-BE49-F238E27FC236}">
                            <a16:creationId xmlns:a16="http://schemas.microsoft.com/office/drawing/2014/main" id="{06D14095-02ED-4EC3-A61D-1B338F688F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348" y="4780625"/>
                        <a:ext cx="1160151" cy="737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18">
            <a:extLst>
              <a:ext uri="{FF2B5EF4-FFF2-40B4-BE49-F238E27FC236}">
                <a16:creationId xmlns:a16="http://schemas.microsoft.com/office/drawing/2014/main" id="{2D74A6D3-8608-434D-B321-CE6E8D411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596" y="5746868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0" dirty="0">
                <a:latin typeface="+mn-ea"/>
                <a:ea typeface="+mn-ea"/>
              </a:rPr>
              <a:t>不难验证：</a:t>
            </a:r>
          </a:p>
        </p:txBody>
      </p:sp>
      <p:graphicFrame>
        <p:nvGraphicFramePr>
          <p:cNvPr id="27" name="Object 17">
            <a:extLst>
              <a:ext uri="{FF2B5EF4-FFF2-40B4-BE49-F238E27FC236}">
                <a16:creationId xmlns:a16="http://schemas.microsoft.com/office/drawing/2014/main" id="{0B3759B0-544F-417E-9953-E31EF0964A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093283"/>
              </p:ext>
            </p:extLst>
          </p:nvPr>
        </p:nvGraphicFramePr>
        <p:xfrm>
          <a:off x="2108966" y="5746868"/>
          <a:ext cx="2153920" cy="81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36480" imgH="482400" progId="Equation.DSMT4">
                  <p:embed/>
                </p:oleObj>
              </mc:Choice>
              <mc:Fallback>
                <p:oleObj name="Equation" r:id="rId11" imgW="1536480" imgH="482400" progId="Equation.DSMT4">
                  <p:embed/>
                  <p:pic>
                    <p:nvPicPr>
                      <p:cNvPr id="49" name="Object 17">
                        <a:extLst>
                          <a:ext uri="{FF2B5EF4-FFF2-40B4-BE49-F238E27FC236}">
                            <a16:creationId xmlns:a16="http://schemas.microsoft.com/office/drawing/2014/main" id="{0B3759B0-544F-417E-9953-E31EF0964A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966" y="5746868"/>
                        <a:ext cx="2153920" cy="81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" name="图片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59695" y="1076443"/>
            <a:ext cx="5324475" cy="4000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8410" y="97260"/>
            <a:ext cx="6026604" cy="659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63091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19" grpId="0" animBg="1"/>
      <p:bldP spid="21" grpId="0"/>
      <p:bldP spid="23" grpId="0"/>
      <p:bldP spid="2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4">
            <a:extLst>
              <a:ext uri="{FF2B5EF4-FFF2-40B4-BE49-F238E27FC236}">
                <a16:creationId xmlns:a16="http://schemas.microsoft.com/office/drawing/2014/main" id="{5F595AA0-D30D-476D-A34D-C00B545F2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289" y="1287345"/>
            <a:ext cx="923428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kumimoji="0" lang="zh-CN" altLang="en-US" sz="3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矩阵的乘法不满足消去律</a:t>
            </a:r>
            <a:r>
              <a:rPr kumimoji="0"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。一般地，</a:t>
            </a:r>
            <a:r>
              <a:rPr kumimoji="0" lang="en-US" altLang="zh-CN" sz="3200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AC</a:t>
            </a:r>
            <a:r>
              <a:rPr kumimoji="0"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kumimoji="0" lang="en-US" altLang="zh-CN" sz="3200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BC</a:t>
            </a:r>
          </a:p>
          <a:p>
            <a:pPr eaLnBrk="1" hangingPunct="1"/>
            <a:r>
              <a:rPr kumimoji="0"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且</a:t>
            </a:r>
            <a:r>
              <a:rPr kumimoji="0" lang="en-US" altLang="zh-CN" sz="3200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kumimoji="0"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不是零矩阵，不能推出</a:t>
            </a:r>
            <a:r>
              <a:rPr kumimoji="0" lang="en-US" altLang="zh-CN" sz="3200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kumimoji="0"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kumimoji="0" lang="en-US" altLang="zh-CN" sz="3200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kumimoji="0"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graphicFrame>
        <p:nvGraphicFramePr>
          <p:cNvPr id="22" name="Object 5">
            <a:extLst>
              <a:ext uri="{FF2B5EF4-FFF2-40B4-BE49-F238E27FC236}">
                <a16:creationId xmlns:a16="http://schemas.microsoft.com/office/drawing/2014/main" id="{D8E18D8E-7AC3-4318-AC49-32119F5C44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508479"/>
              </p:ext>
            </p:extLst>
          </p:nvPr>
        </p:nvGraphicFramePr>
        <p:xfrm>
          <a:off x="3431704" y="2838623"/>
          <a:ext cx="604996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89200" imgH="469900" progId="Equation.DSMT4">
                  <p:embed/>
                </p:oleObj>
              </mc:Choice>
              <mc:Fallback>
                <p:oleObj name="Equation" r:id="rId4" imgW="2489200" imgH="469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2838623"/>
                        <a:ext cx="604996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697F3795-77F3-4999-8DB8-8ECE2BD45717}"/>
              </a:ext>
            </a:extLst>
          </p:cNvPr>
          <p:cNvSpPr/>
          <p:nvPr/>
        </p:nvSpPr>
        <p:spPr>
          <a:xfrm>
            <a:off x="2046289" y="2924944"/>
            <a:ext cx="1208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zh-CN" altLang="en-US" sz="3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例如</a:t>
            </a:r>
            <a:r>
              <a:rPr kumimoji="0" lang="en-US" altLang="zh-CN" sz="3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endParaRPr lang="zh-CN" altLang="en-US" sz="3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5" name="Object 1034">
            <a:extLst>
              <a:ext uri="{FF2B5EF4-FFF2-40B4-BE49-F238E27FC236}">
                <a16:creationId xmlns:a16="http://schemas.microsoft.com/office/drawing/2014/main" id="{5FAD2C52-F82C-43F0-A0F2-BBC36A2A6C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629306"/>
              </p:ext>
            </p:extLst>
          </p:nvPr>
        </p:nvGraphicFramePr>
        <p:xfrm>
          <a:off x="3447302" y="4437112"/>
          <a:ext cx="2766839" cy="1109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8960" imgH="457200" progId="Equation.DSMT4">
                  <p:embed/>
                </p:oleObj>
              </mc:Choice>
              <mc:Fallback>
                <p:oleObj name="Equation" r:id="rId6" imgW="12189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7302" y="4437112"/>
                        <a:ext cx="2766839" cy="11098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 advTm="41148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1034">
            <a:extLst>
              <a:ext uri="{FF2B5EF4-FFF2-40B4-BE49-F238E27FC236}">
                <a16:creationId xmlns:a16="http://schemas.microsoft.com/office/drawing/2014/main" id="{5FAD2C52-F82C-43F0-A0F2-BBC36A2A6C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458322"/>
              </p:ext>
            </p:extLst>
          </p:nvPr>
        </p:nvGraphicFramePr>
        <p:xfrm>
          <a:off x="3647729" y="1772817"/>
          <a:ext cx="3367087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652" imgH="142790" progId="Equation.DSMT4">
                  <p:embed/>
                </p:oleObj>
              </mc:Choice>
              <mc:Fallback>
                <p:oleObj name="Equation" r:id="rId4" imgW="1028652" imgH="142790" progId="Equation.DSMT4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9" y="1772817"/>
                        <a:ext cx="3367087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35">
            <a:extLst>
              <a:ext uri="{FF2B5EF4-FFF2-40B4-BE49-F238E27FC236}">
                <a16:creationId xmlns:a16="http://schemas.microsoft.com/office/drawing/2014/main" id="{6A09A17C-3CA5-44C5-BA43-B0D1D88499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260808"/>
              </p:ext>
            </p:extLst>
          </p:nvPr>
        </p:nvGraphicFramePr>
        <p:xfrm>
          <a:off x="3647728" y="2382705"/>
          <a:ext cx="650398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644" imgH="142790" progId="Equation.DSMT4">
                  <p:embed/>
                </p:oleObj>
              </mc:Choice>
              <mc:Fallback>
                <p:oleObj name="Equation" r:id="rId6" imgW="2095644" imgH="142790" progId="Equation.DSMT4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2382705"/>
                        <a:ext cx="6503988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36">
            <a:extLst>
              <a:ext uri="{FF2B5EF4-FFF2-40B4-BE49-F238E27FC236}">
                <a16:creationId xmlns:a16="http://schemas.microsoft.com/office/drawing/2014/main" id="{F427C70E-A9FB-4B35-B3F1-447057AB4B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4989695"/>
              </p:ext>
            </p:extLst>
          </p:nvPr>
        </p:nvGraphicFramePr>
        <p:xfrm>
          <a:off x="3758854" y="3192330"/>
          <a:ext cx="40179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95496" imgH="142790" progId="Equation.DSMT4">
                  <p:embed/>
                </p:oleObj>
              </mc:Choice>
              <mc:Fallback>
                <p:oleObj name="Equation" r:id="rId8" imgW="1295496" imgH="142790" progId="Equation.DSMT4">
                  <p:embed/>
                  <p:pic>
                    <p:nvPicPr>
                      <p:cNvPr id="0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8854" y="3192330"/>
                        <a:ext cx="40179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38">
            <a:extLst>
              <a:ext uri="{FF2B5EF4-FFF2-40B4-BE49-F238E27FC236}">
                <a16:creationId xmlns:a16="http://schemas.microsoft.com/office/drawing/2014/main" id="{D8B46B21-621F-44C4-992F-C56F8B4540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863929"/>
              </p:ext>
            </p:extLst>
          </p:nvPr>
        </p:nvGraphicFramePr>
        <p:xfrm>
          <a:off x="3741392" y="3911469"/>
          <a:ext cx="403542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28785" imgH="142790" progId="Equation.DSMT4">
                  <p:embed/>
                </p:oleObj>
              </mc:Choice>
              <mc:Fallback>
                <p:oleObj name="Equation" r:id="rId10" imgW="1228785" imgH="142790" progId="Equation.DSMT4">
                  <p:embed/>
                  <p:pic>
                    <p:nvPicPr>
                      <p:cNvPr id="0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1392" y="3911469"/>
                        <a:ext cx="403542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042">
            <a:extLst>
              <a:ext uri="{FF2B5EF4-FFF2-40B4-BE49-F238E27FC236}">
                <a16:creationId xmlns:a16="http://schemas.microsoft.com/office/drawing/2014/main" id="{91C8449D-8FF5-4CB7-A802-7C4A57EEC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403" y="1810916"/>
            <a:ext cx="120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3200" b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3200" b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</a:p>
        </p:txBody>
      </p:sp>
      <p:sp>
        <p:nvSpPr>
          <p:cNvPr id="15" name="Rectangle 1043">
            <a:extLst>
              <a:ext uri="{FF2B5EF4-FFF2-40B4-BE49-F238E27FC236}">
                <a16:creationId xmlns:a16="http://schemas.microsoft.com/office/drawing/2014/main" id="{113FAA50-974A-40AF-B117-A304BC207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241" y="2457319"/>
            <a:ext cx="1200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3200" b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3200" b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</a:p>
        </p:txBody>
      </p:sp>
      <p:sp>
        <p:nvSpPr>
          <p:cNvPr id="16" name="Rectangle 1044">
            <a:extLst>
              <a:ext uri="{FF2B5EF4-FFF2-40B4-BE49-F238E27FC236}">
                <a16:creationId xmlns:a16="http://schemas.microsoft.com/office/drawing/2014/main" id="{3824B545-187E-4927-A9E2-038371A50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241" y="3192330"/>
            <a:ext cx="120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3200" b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3200" b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</a:p>
        </p:txBody>
      </p:sp>
      <p:graphicFrame>
        <p:nvGraphicFramePr>
          <p:cNvPr id="17" name="Object 1045">
            <a:extLst>
              <a:ext uri="{FF2B5EF4-FFF2-40B4-BE49-F238E27FC236}">
                <a16:creationId xmlns:a16="http://schemas.microsoft.com/office/drawing/2014/main" id="{698AE3E2-9C19-4AE6-AA21-556E6555C9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7472146"/>
              </p:ext>
            </p:extLst>
          </p:nvPr>
        </p:nvGraphicFramePr>
        <p:xfrm>
          <a:off x="2807544" y="4541705"/>
          <a:ext cx="665003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66889" imgH="114385" progId="Equation.DSMT4">
                  <p:embed/>
                </p:oleObj>
              </mc:Choice>
              <mc:Fallback>
                <p:oleObj name="Equation" r:id="rId12" imgW="2066889" imgH="114385" progId="Equation.DSMT4">
                  <p:embed/>
                  <p:pic>
                    <p:nvPicPr>
                      <p:cNvPr id="0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7544" y="4541705"/>
                        <a:ext cx="6650038" cy="593725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88A22A3B-13F1-4036-B9A3-E32549E19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545" y="5295767"/>
            <a:ext cx="485421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(5)</a:t>
            </a:r>
            <a:r>
              <a:rPr lang="en-US" altLang="zh-CN" sz="3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3600" b="0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 A</a:t>
            </a:r>
            <a:r>
              <a:rPr lang="en-US" altLang="zh-CN" sz="3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= </a:t>
            </a:r>
            <a:r>
              <a:rPr lang="en-US" altLang="zh-CN" sz="3600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</a:t>
            </a:r>
            <a:r>
              <a:rPr lang="zh-CN" altLang="en-US" sz="3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3600" b="0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 O</a:t>
            </a:r>
            <a:r>
              <a:rPr lang="en-US" altLang="zh-CN" sz="3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= </a:t>
            </a:r>
            <a:r>
              <a:rPr lang="en-US" altLang="zh-CN" sz="3600" i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1C99648-FBD1-4A05-A5AF-29E143E0C0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998239"/>
              </p:ext>
            </p:extLst>
          </p:nvPr>
        </p:nvGraphicFramePr>
        <p:xfrm>
          <a:off x="3647728" y="6039188"/>
          <a:ext cx="2448272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38104" imgH="104789" progId="Equation.DSMT4">
                  <p:embed/>
                </p:oleObj>
              </mc:Choice>
              <mc:Fallback>
                <p:oleObj name="Equation" r:id="rId14" imgW="838104" imgH="104789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6039188"/>
                        <a:ext cx="2448272" cy="663575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7F1A6BC7-F49C-4036-B473-DC1F7FB65C22}"/>
              </a:ext>
            </a:extLst>
          </p:cNvPr>
          <p:cNvSpPr/>
          <p:nvPr/>
        </p:nvSpPr>
        <p:spPr>
          <a:xfrm>
            <a:off x="2820641" y="6073966"/>
            <a:ext cx="7200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CC"/>
              </a:buClr>
              <a:buSzPct val="70000"/>
              <a:defRPr/>
            </a:pPr>
            <a:r>
              <a:rPr kumimoji="0" lang="en-US" altLang="zh-CN" sz="3200" b="0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(6) 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15013934-FDB6-4497-BF9B-9CDD766264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15078"/>
              </p:ext>
            </p:extLst>
          </p:nvPr>
        </p:nvGraphicFramePr>
        <p:xfrm>
          <a:off x="8040216" y="6039188"/>
          <a:ext cx="21717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838104" imgH="104789" progId="Equation.3">
                  <p:embed/>
                </p:oleObj>
              </mc:Choice>
              <mc:Fallback>
                <p:oleObj name="公式" r:id="rId16" imgW="838104" imgH="104789" progId="Equation.3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216" y="6039188"/>
                        <a:ext cx="21717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536D98D9-C93B-4CAE-AE5B-DDE7A4CB599D}"/>
              </a:ext>
            </a:extLst>
          </p:cNvPr>
          <p:cNvSpPr/>
          <p:nvPr/>
        </p:nvSpPr>
        <p:spPr>
          <a:xfrm>
            <a:off x="5284286" y="895420"/>
            <a:ext cx="17283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运算律</a:t>
            </a:r>
          </a:p>
        </p:txBody>
      </p:sp>
    </p:spTree>
    <p:custDataLst>
      <p:tags r:id="rId1"/>
    </p:custDataLst>
  </p:cSld>
  <p:clrMapOvr>
    <a:masterClrMapping/>
  </p:clrMapOvr>
  <p:transition advTm="119204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withGroup">
                            <p:stCondLst>
                              <p:cond delay="13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utoUpdateAnimBg="0"/>
      <p:bldP spid="16" grpId="0" autoUpdateAnimBg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764704"/>
            <a:ext cx="8334375" cy="952500"/>
          </a:xfrm>
          <a:prstGeom prst="rect">
            <a:avLst/>
          </a:prstGeom>
        </p:spPr>
      </p:pic>
      <p:sp>
        <p:nvSpPr>
          <p:cNvPr id="3" name="Rectangle 19">
            <a:extLst>
              <a:ext uri="{FF2B5EF4-FFF2-40B4-BE49-F238E27FC236}">
                <a16:creationId xmlns:a16="http://schemas.microsoft.com/office/drawing/2014/main" id="{AE2B6494-F70E-4C45-81F2-791A1DB4F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132856"/>
            <a:ext cx="10054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375" y="2082343"/>
            <a:ext cx="3543300" cy="685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960" y="2235313"/>
            <a:ext cx="4181475" cy="5048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1624" y="3029077"/>
            <a:ext cx="4010025" cy="5143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9587" y="4111738"/>
            <a:ext cx="3000375" cy="533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4788" y="1646068"/>
            <a:ext cx="9896475" cy="21431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8074" y="4855300"/>
            <a:ext cx="4343400" cy="1981200"/>
          </a:xfrm>
          <a:prstGeom prst="rect">
            <a:avLst/>
          </a:prstGeom>
        </p:spPr>
      </p:pic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593597C-913D-4EEA-A844-C764E3D7A7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096115"/>
              </p:ext>
            </p:extLst>
          </p:nvPr>
        </p:nvGraphicFramePr>
        <p:xfrm>
          <a:off x="7249993" y="4034909"/>
          <a:ext cx="84296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1960" imgH="164880" progId="Equation.DSMT4">
                  <p:embed/>
                </p:oleObj>
              </mc:Choice>
              <mc:Fallback>
                <p:oleObj name="Equation" r:id="rId9" imgW="29196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9993" y="4034909"/>
                        <a:ext cx="842962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398624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27284"/>
              </p:ext>
            </p:extLst>
          </p:nvPr>
        </p:nvGraphicFramePr>
        <p:xfrm>
          <a:off x="2540000" y="1780580"/>
          <a:ext cx="6096000" cy="287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977" imgH="904770" progId="Equation.DSMT4">
                  <p:embed/>
                </p:oleObj>
              </mc:Choice>
              <mc:Fallback>
                <p:oleObj name="Equation" r:id="rId2" imgW="1904977" imgH="9047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1780580"/>
                        <a:ext cx="6096000" cy="287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1908175" y="5228630"/>
            <a:ext cx="6875463" cy="1366837"/>
            <a:chOff x="409" y="3113"/>
            <a:chExt cx="4331" cy="861"/>
          </a:xfrm>
        </p:grpSpPr>
        <p:sp>
          <p:nvSpPr>
            <p:cNvPr id="4" name="Rectangle 25"/>
            <p:cNvSpPr>
              <a:spLocks noChangeArrowheads="1"/>
            </p:cNvSpPr>
            <p:nvPr/>
          </p:nvSpPr>
          <p:spPr bwMode="auto">
            <a:xfrm>
              <a:off x="409" y="3196"/>
              <a:ext cx="4331" cy="7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b="0"/>
                <a:t>上式称为从变量    ，   ，   ，   到变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zh-CN" altLang="en-US" b="0"/>
                <a:t>量     ，  ，   ，   的</a:t>
              </a:r>
              <a:r>
                <a:rPr lang="zh-CN" altLang="en-US" b="0">
                  <a:solidFill>
                    <a:srgbClr val="FFCC00"/>
                  </a:solidFill>
                  <a:ea typeface="黑体" panose="02010609060101010101" pitchFamily="49" charset="-122"/>
                </a:rPr>
                <a:t>线性变换</a:t>
              </a:r>
              <a:r>
                <a:rPr lang="en-US" altLang="zh-CN" b="0"/>
                <a:t>. </a:t>
              </a:r>
            </a:p>
          </p:txBody>
        </p:sp>
        <p:graphicFrame>
          <p:nvGraphicFramePr>
            <p:cNvPr id="5" name="Object 16"/>
            <p:cNvGraphicFramePr>
              <a:graphicFrameLocks noChangeAspect="1"/>
            </p:cNvGraphicFramePr>
            <p:nvPr/>
          </p:nvGraphicFramePr>
          <p:xfrm>
            <a:off x="2256" y="3113"/>
            <a:ext cx="310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4266" imgH="190620" progId="Equation.DSMT4">
                    <p:embed/>
                  </p:oleObj>
                </mc:Choice>
                <mc:Fallback>
                  <p:oleObj name="Equation" r:id="rId4" imgW="114266" imgH="1906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3113"/>
                          <a:ext cx="310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17"/>
            <p:cNvGraphicFramePr>
              <a:graphicFrameLocks noChangeAspect="1"/>
            </p:cNvGraphicFramePr>
            <p:nvPr/>
          </p:nvGraphicFramePr>
          <p:xfrm>
            <a:off x="2640" y="3113"/>
            <a:ext cx="336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3721" imgH="190620" progId="Equation.DSMT4">
                    <p:embed/>
                  </p:oleObj>
                </mc:Choice>
                <mc:Fallback>
                  <p:oleObj name="Equation" r:id="rId6" imgW="123721" imgH="1906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3113"/>
                          <a:ext cx="336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18"/>
            <p:cNvGraphicFramePr>
              <a:graphicFrameLocks noChangeAspect="1"/>
            </p:cNvGraphicFramePr>
            <p:nvPr/>
          </p:nvGraphicFramePr>
          <p:xfrm>
            <a:off x="3072" y="3257"/>
            <a:ext cx="362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42900" imgH="66690" progId="Equation.DSMT4">
                    <p:embed/>
                  </p:oleObj>
                </mc:Choice>
                <mc:Fallback>
                  <p:oleObj name="Equation" r:id="rId8" imgW="142900" imgH="666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3257"/>
                          <a:ext cx="362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9"/>
            <p:cNvGraphicFramePr>
              <a:graphicFrameLocks noChangeAspect="1"/>
            </p:cNvGraphicFramePr>
            <p:nvPr/>
          </p:nvGraphicFramePr>
          <p:xfrm>
            <a:off x="1536" y="3701"/>
            <a:ext cx="362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42900" imgH="66690" progId="Equation.DSMT4">
                    <p:embed/>
                  </p:oleObj>
                </mc:Choice>
                <mc:Fallback>
                  <p:oleObj name="Equation" r:id="rId10" imgW="142900" imgH="666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701"/>
                          <a:ext cx="362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20"/>
            <p:cNvGraphicFramePr>
              <a:graphicFrameLocks noChangeAspect="1"/>
            </p:cNvGraphicFramePr>
            <p:nvPr/>
          </p:nvGraphicFramePr>
          <p:xfrm>
            <a:off x="3552" y="3113"/>
            <a:ext cx="336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3721" imgH="190620" progId="Equation.DSMT4">
                    <p:embed/>
                  </p:oleObj>
                </mc:Choice>
                <mc:Fallback>
                  <p:oleObj name="Equation" r:id="rId12" imgW="123721" imgH="1906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3113"/>
                          <a:ext cx="336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21"/>
            <p:cNvGraphicFramePr>
              <a:graphicFrameLocks noChangeAspect="1"/>
            </p:cNvGraphicFramePr>
            <p:nvPr/>
          </p:nvGraphicFramePr>
          <p:xfrm>
            <a:off x="720" y="3509"/>
            <a:ext cx="336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3721" imgH="190620" progId="Equation.DSMT4">
                    <p:embed/>
                  </p:oleObj>
                </mc:Choice>
                <mc:Fallback>
                  <p:oleObj name="Equation" r:id="rId14" imgW="123721" imgH="1906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509"/>
                          <a:ext cx="336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22"/>
            <p:cNvGraphicFramePr>
              <a:graphicFrameLocks noChangeAspect="1"/>
            </p:cNvGraphicFramePr>
            <p:nvPr/>
          </p:nvGraphicFramePr>
          <p:xfrm>
            <a:off x="1104" y="3509"/>
            <a:ext cx="362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42900" imgH="190620" progId="Equation.DSMT4">
                    <p:embed/>
                  </p:oleObj>
                </mc:Choice>
                <mc:Fallback>
                  <p:oleObj name="Equation" r:id="rId16" imgW="142900" imgH="1906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3509"/>
                          <a:ext cx="362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3"/>
            <p:cNvGraphicFramePr>
              <a:graphicFrameLocks noChangeAspect="1"/>
            </p:cNvGraphicFramePr>
            <p:nvPr/>
          </p:nvGraphicFramePr>
          <p:xfrm>
            <a:off x="1968" y="3509"/>
            <a:ext cx="413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61810" imgH="190620" progId="Equation.DSMT4">
                    <p:embed/>
                  </p:oleObj>
                </mc:Choice>
                <mc:Fallback>
                  <p:oleObj name="Equation" r:id="rId18" imgW="161810" imgH="1906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3509"/>
                          <a:ext cx="413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22"/>
          <p:cNvGrpSpPr>
            <a:grpSpLocks/>
          </p:cNvGrpSpPr>
          <p:nvPr/>
        </p:nvGrpSpPr>
        <p:grpSpPr bwMode="auto">
          <a:xfrm>
            <a:off x="2671763" y="1196380"/>
            <a:ext cx="5332412" cy="738187"/>
            <a:chOff x="930" y="663"/>
            <a:chExt cx="3359" cy="465"/>
          </a:xfrm>
        </p:grpSpPr>
        <p:graphicFrame>
          <p:nvGraphicFramePr>
            <p:cNvPr id="14" name="Object 8"/>
            <p:cNvGraphicFramePr>
              <a:graphicFrameLocks noChangeAspect="1"/>
            </p:cNvGraphicFramePr>
            <p:nvPr/>
          </p:nvGraphicFramePr>
          <p:xfrm>
            <a:off x="930" y="663"/>
            <a:ext cx="1498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695322" imgH="190620" progId="Equation.DSMT4">
                    <p:embed/>
                  </p:oleObj>
                </mc:Choice>
                <mc:Fallback>
                  <p:oleObj name="Equation" r:id="rId20" imgW="695322" imgH="1906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663"/>
                          <a:ext cx="1498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2381" y="709"/>
              <a:ext cx="19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0">
                  <a:latin typeface="宋体" panose="02010600030101010101" pitchFamily="2" charset="-122"/>
                </a:rPr>
                <a:t>的线性函数，即</a:t>
              </a:r>
            </a:p>
          </p:txBody>
        </p:sp>
      </p:grpSp>
      <p:grpSp>
        <p:nvGrpSpPr>
          <p:cNvPr id="16" name="Group 21"/>
          <p:cNvGrpSpPr>
            <a:grpSpLocks/>
          </p:cNvGrpSpPr>
          <p:nvPr/>
        </p:nvGrpSpPr>
        <p:grpSpPr bwMode="auto">
          <a:xfrm>
            <a:off x="1487488" y="475655"/>
            <a:ext cx="8459787" cy="885824"/>
            <a:chOff x="249" y="209"/>
            <a:chExt cx="5329" cy="558"/>
          </a:xfrm>
        </p:grpSpPr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249" y="361"/>
              <a:ext cx="5329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b="0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b="0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r>
                <a:rPr lang="en-US" altLang="zh-CN" b="0" dirty="0"/>
                <a:t>    </a:t>
              </a:r>
              <a:r>
                <a:rPr lang="zh-CN" altLang="en-US" b="0" dirty="0">
                  <a:latin typeface="宋体" panose="02010600030101010101" pitchFamily="2" charset="-122"/>
                </a:rPr>
                <a:t>设变量             均可表示成变量</a:t>
              </a:r>
            </a:p>
          </p:txBody>
        </p:sp>
        <p:graphicFrame>
          <p:nvGraphicFramePr>
            <p:cNvPr id="18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3849403"/>
                </p:ext>
              </p:extLst>
            </p:nvPr>
          </p:nvGraphicFramePr>
          <p:xfrm>
            <a:off x="1714" y="209"/>
            <a:ext cx="1664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774360" imgH="228600" progId="Equation.DSMT4">
                    <p:embed/>
                  </p:oleObj>
                </mc:Choice>
                <mc:Fallback>
                  <p:oleObj name="Equation" r:id="rId22" imgW="7743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lum bright="10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4" y="209"/>
                          <a:ext cx="1664" cy="5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26"/>
          <p:cNvGrpSpPr>
            <a:grpSpLocks/>
          </p:cNvGrpSpPr>
          <p:nvPr/>
        </p:nvGrpSpPr>
        <p:grpSpPr bwMode="auto">
          <a:xfrm>
            <a:off x="1882775" y="4574580"/>
            <a:ext cx="8102600" cy="779462"/>
            <a:chOff x="393" y="2701"/>
            <a:chExt cx="5104" cy="491"/>
          </a:xfrm>
        </p:grpSpPr>
        <p:graphicFrame>
          <p:nvGraphicFramePr>
            <p:cNvPr id="20" name="Object 13"/>
            <p:cNvGraphicFramePr>
              <a:graphicFrameLocks noChangeAspect="1"/>
            </p:cNvGraphicFramePr>
            <p:nvPr/>
          </p:nvGraphicFramePr>
          <p:xfrm>
            <a:off x="960" y="2701"/>
            <a:ext cx="362" cy="4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42900" imgH="200070" progId="Equation.DSMT4">
                    <p:embed/>
                  </p:oleObj>
                </mc:Choice>
                <mc:Fallback>
                  <p:oleObj name="Equation" r:id="rId24" imgW="142900" imgH="20007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701"/>
                          <a:ext cx="362" cy="4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14"/>
            <p:cNvGraphicFramePr>
              <a:graphicFrameLocks noChangeAspect="1"/>
            </p:cNvGraphicFramePr>
            <p:nvPr/>
          </p:nvGraphicFramePr>
          <p:xfrm>
            <a:off x="2039" y="2750"/>
            <a:ext cx="3458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723988" imgH="162000" progId="Equation.DSMT4">
                    <p:embed/>
                  </p:oleObj>
                </mc:Choice>
                <mc:Fallback>
                  <p:oleObj name="Equation" r:id="rId26" imgW="1723988" imgH="162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9" y="2750"/>
                          <a:ext cx="3458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393" y="2750"/>
              <a:ext cx="171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b="0"/>
                <a:t>其中     为常数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441000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913403"/>
              </p:ext>
            </p:extLst>
          </p:nvPr>
        </p:nvGraphicFramePr>
        <p:xfrm>
          <a:off x="1671388" y="1993899"/>
          <a:ext cx="16383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3788" imgH="238140" progId="Equation.DSMT4">
                  <p:embed/>
                </p:oleObj>
              </mc:Choice>
              <mc:Fallback>
                <p:oleObj name="Equation" r:id="rId2" imgW="523788" imgH="2381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388" y="1993899"/>
                        <a:ext cx="163830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024703"/>
              </p:ext>
            </p:extLst>
          </p:nvPr>
        </p:nvGraphicFramePr>
        <p:xfrm>
          <a:off x="3503712" y="1374775"/>
          <a:ext cx="1712912" cy="205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83920" imgH="711000" progId="Equation.DSMT4">
                  <p:embed/>
                </p:oleObj>
              </mc:Choice>
              <mc:Fallback>
                <p:oleObj name="Equation" r:id="rId4" imgW="5839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1374775"/>
                        <a:ext cx="1712912" cy="205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327967"/>
              </p:ext>
            </p:extLst>
          </p:nvPr>
        </p:nvGraphicFramePr>
        <p:xfrm>
          <a:off x="5569668" y="1360338"/>
          <a:ext cx="1582737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480" imgH="711000" progId="Equation.DSMT4">
                  <p:embed/>
                </p:oleObj>
              </mc:Choice>
              <mc:Fallback>
                <p:oleObj name="Equation" r:id="rId6" imgW="6094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9668" y="1360338"/>
                        <a:ext cx="1582737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734763" y="2054224"/>
            <a:ext cx="719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/>
              <a:t>令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519260" y="3656048"/>
            <a:ext cx="100097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/>
              <a:t>利用矩阵的乘法，则上述线性变换可写成矩阵形式</a:t>
            </a:r>
            <a:r>
              <a:rPr lang="en-US" altLang="zh-CN" b="0" dirty="0"/>
              <a:t>:</a:t>
            </a:r>
          </a:p>
        </p:txBody>
      </p:sp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827339"/>
              </p:ext>
            </p:extLst>
          </p:nvPr>
        </p:nvGraphicFramePr>
        <p:xfrm>
          <a:off x="9880300" y="3532510"/>
          <a:ext cx="186848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33160" imgH="203040" progId="Equation.DSMT4">
                  <p:embed/>
                </p:oleObj>
              </mc:Choice>
              <mc:Fallback>
                <p:oleObj name="Equation" r:id="rId8" imgW="533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lum bright="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0300" y="3532510"/>
                        <a:ext cx="1868488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>
            <a:extLst>
              <a:ext uri="{FF2B5EF4-FFF2-40B4-BE49-F238E27FC236}">
                <a16:creationId xmlns:a16="http://schemas.microsoft.com/office/drawing/2014/main" id="{BDBD51E3-3234-FD5A-73F0-1C8CE95BF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805" y="4730382"/>
            <a:ext cx="113737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/>
              <a:t>同理，线性方程组可以表达为：</a:t>
            </a:r>
            <a:endParaRPr lang="en-US" altLang="zh-CN" b="0" dirty="0"/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707E2C83-E544-A6BA-ABCD-0862B735AC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622945"/>
              </p:ext>
            </p:extLst>
          </p:nvPr>
        </p:nvGraphicFramePr>
        <p:xfrm>
          <a:off x="6437956" y="4606845"/>
          <a:ext cx="164623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69800" imgH="203040" progId="Equation.DSMT4">
                  <p:embed/>
                </p:oleObj>
              </mc:Choice>
              <mc:Fallback>
                <p:oleObj name="Equation" r:id="rId10" imgW="469800" imgH="203040" progId="Equation.DSMT4">
                  <p:embed/>
                  <p:pic>
                    <p:nvPicPr>
                      <p:cNvPr id="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lum bright="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7956" y="4606845"/>
                        <a:ext cx="1646237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59C4555-E7F8-DBE1-1429-546D722745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0452154"/>
              </p:ext>
            </p:extLst>
          </p:nvPr>
        </p:nvGraphicFramePr>
        <p:xfrm>
          <a:off x="9168307" y="4615370"/>
          <a:ext cx="164623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69800" imgH="203040" progId="Equation.DSMT4">
                  <p:embed/>
                </p:oleObj>
              </mc:Choice>
              <mc:Fallback>
                <p:oleObj name="Equation" r:id="rId12" imgW="469800" imgH="203040" progId="Equation.DSMT4">
                  <p:embed/>
                  <p:pic>
                    <p:nvPicPr>
                      <p:cNvPr id="9" name="Object 9">
                        <a:extLst>
                          <a:ext uri="{FF2B5EF4-FFF2-40B4-BE49-F238E27FC236}">
                            <a16:creationId xmlns:a16="http://schemas.microsoft.com/office/drawing/2014/main" id="{707E2C83-E544-A6BA-ABCD-0862B735AC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lum bright="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8307" y="4615370"/>
                        <a:ext cx="1646237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59872D6-E7D8-B35E-DBEB-BE1C0EDF1BD5}"/>
              </a:ext>
            </a:extLst>
          </p:cNvPr>
          <p:cNvSpPr txBox="1"/>
          <p:nvPr/>
        </p:nvSpPr>
        <p:spPr>
          <a:xfrm>
            <a:off x="8262290" y="4739989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0" dirty="0">
                <a:solidFill>
                  <a:srgbClr val="FFFF00"/>
                </a:solidFill>
              </a:rPr>
              <a:t>或</a:t>
            </a:r>
          </a:p>
        </p:txBody>
      </p:sp>
    </p:spTree>
    <p:extLst>
      <p:ext uri="{BB962C8B-B14F-4D97-AF65-F5344CB8AC3E}">
        <p14:creationId xmlns:p14="http://schemas.microsoft.com/office/powerpoint/2010/main" val="140864929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8" grpId="0" autoUpdateAnimBg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848545" y="766341"/>
            <a:ext cx="83534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b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 </a:t>
            </a:r>
            <a:r>
              <a:rPr lang="zh-CN" altLang="en-US" dirty="0">
                <a:latin typeface="黑体" panose="02010609060101010101" pitchFamily="49" charset="-122"/>
              </a:rPr>
              <a:t>设某地有两个工厂</a:t>
            </a:r>
            <a:r>
              <a:rPr lang="en-US" altLang="zh-CN" dirty="0"/>
              <a:t>Ⅰ</a:t>
            </a:r>
            <a:r>
              <a:rPr lang="zh-CN" altLang="en-US" dirty="0"/>
              <a:t>和</a:t>
            </a:r>
            <a:r>
              <a:rPr lang="en-US" altLang="zh-CN" dirty="0"/>
              <a:t>Ⅱ</a:t>
            </a:r>
            <a:r>
              <a:rPr lang="zh-CN" altLang="en-US" dirty="0"/>
              <a:t>都生产甲乙丙三种产品，若以</a:t>
            </a: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03850"/>
              </p:ext>
            </p:extLst>
          </p:nvPr>
        </p:nvGraphicFramePr>
        <p:xfrm>
          <a:off x="1798638" y="1773238"/>
          <a:ext cx="3694112" cy="133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160" imgH="685800" progId="Equation.DSMT4">
                  <p:embed/>
                </p:oleObj>
              </mc:Choice>
              <mc:Fallback>
                <p:oleObj name="Equation" r:id="rId2" imgW="189216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638" y="1773238"/>
                        <a:ext cx="3694112" cy="1338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5736332" y="1844254"/>
            <a:ext cx="5921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Ⅰ</a:t>
            </a: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5736332" y="2493541"/>
            <a:ext cx="5921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Ⅱ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2783582" y="3212679"/>
            <a:ext cx="5921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甲</a:t>
            </a: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3791645" y="3212679"/>
            <a:ext cx="5921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乙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4728270" y="3212679"/>
            <a:ext cx="5921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丙</a:t>
            </a: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6744395" y="2422104"/>
            <a:ext cx="35655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表示一年中各厂生产产品的数量；</a:t>
            </a:r>
          </a:p>
        </p:txBody>
      </p:sp>
      <p:graphicFrame>
        <p:nvGraphicFramePr>
          <p:cNvPr id="1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137134"/>
              </p:ext>
            </p:extLst>
          </p:nvPr>
        </p:nvGraphicFramePr>
        <p:xfrm>
          <a:off x="2085975" y="4078288"/>
          <a:ext cx="2686050" cy="201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1028520" progId="Equation.DSMT4">
                  <p:embed/>
                </p:oleObj>
              </mc:Choice>
              <mc:Fallback>
                <p:oleObj name="Equation" r:id="rId4" imgW="1371600" imgH="1028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4078288"/>
                        <a:ext cx="2686050" cy="201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8"/>
          <p:cNvSpPr>
            <a:spLocks noChangeArrowheads="1"/>
          </p:cNvSpPr>
          <p:nvPr/>
        </p:nvSpPr>
        <p:spPr bwMode="auto">
          <a:xfrm>
            <a:off x="4944170" y="4077866"/>
            <a:ext cx="592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甲</a:t>
            </a:r>
          </a:p>
        </p:txBody>
      </p:sp>
      <p:sp>
        <p:nvSpPr>
          <p:cNvPr id="12" name="Rectangle 19"/>
          <p:cNvSpPr>
            <a:spLocks noChangeArrowheads="1"/>
          </p:cNvSpPr>
          <p:nvPr/>
        </p:nvSpPr>
        <p:spPr bwMode="auto">
          <a:xfrm>
            <a:off x="4944170" y="4725566"/>
            <a:ext cx="592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乙</a:t>
            </a:r>
          </a:p>
        </p:txBody>
      </p:sp>
      <p:sp>
        <p:nvSpPr>
          <p:cNvPr id="13" name="Rectangle 20"/>
          <p:cNvSpPr>
            <a:spLocks noChangeArrowheads="1"/>
          </p:cNvSpPr>
          <p:nvPr/>
        </p:nvSpPr>
        <p:spPr bwMode="auto">
          <a:xfrm>
            <a:off x="5015607" y="5373266"/>
            <a:ext cx="5921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丙</a:t>
            </a:r>
          </a:p>
        </p:txBody>
      </p:sp>
      <p:sp>
        <p:nvSpPr>
          <p:cNvPr id="14" name="Rectangle 21"/>
          <p:cNvSpPr>
            <a:spLocks noChangeArrowheads="1"/>
          </p:cNvSpPr>
          <p:nvPr/>
        </p:nvSpPr>
        <p:spPr bwMode="auto">
          <a:xfrm>
            <a:off x="2783582" y="6165429"/>
            <a:ext cx="996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价格</a:t>
            </a:r>
          </a:p>
        </p:txBody>
      </p:sp>
      <p:sp>
        <p:nvSpPr>
          <p:cNvPr id="15" name="Rectangle 22"/>
          <p:cNvSpPr>
            <a:spLocks noChangeArrowheads="1"/>
          </p:cNvSpPr>
          <p:nvPr/>
        </p:nvSpPr>
        <p:spPr bwMode="auto">
          <a:xfrm>
            <a:off x="3791645" y="6165429"/>
            <a:ext cx="996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利润</a:t>
            </a:r>
          </a:p>
        </p:txBody>
      </p:sp>
      <p:sp>
        <p:nvSpPr>
          <p:cNvPr id="16" name="Rectangle 23"/>
          <p:cNvSpPr>
            <a:spLocks noChangeArrowheads="1"/>
          </p:cNvSpPr>
          <p:nvPr/>
        </p:nvSpPr>
        <p:spPr bwMode="auto">
          <a:xfrm>
            <a:off x="1559620" y="4725566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以</a:t>
            </a:r>
          </a:p>
        </p:txBody>
      </p:sp>
      <p:sp>
        <p:nvSpPr>
          <p:cNvPr id="17" name="Rectangle 24"/>
          <p:cNvSpPr>
            <a:spLocks noChangeArrowheads="1"/>
          </p:cNvSpPr>
          <p:nvPr/>
        </p:nvSpPr>
        <p:spPr bwMode="auto">
          <a:xfrm>
            <a:off x="6239570" y="4293766"/>
            <a:ext cx="4103687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表示各产品的单位价格和单位利润，则</a:t>
            </a:r>
          </a:p>
        </p:txBody>
      </p:sp>
    </p:spTree>
    <p:extLst>
      <p:ext uri="{BB962C8B-B14F-4D97-AF65-F5344CB8AC3E}">
        <p14:creationId xmlns:p14="http://schemas.microsoft.com/office/powerpoint/2010/main" val="225722265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6"/>
          <p:cNvSpPr>
            <a:spLocks noChangeArrowheads="1"/>
          </p:cNvSpPr>
          <p:nvPr/>
        </p:nvSpPr>
        <p:spPr bwMode="auto">
          <a:xfrm>
            <a:off x="8039597" y="3572470"/>
            <a:ext cx="1403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年利润</a:t>
            </a:r>
          </a:p>
        </p:txBody>
      </p:sp>
      <p:sp>
        <p:nvSpPr>
          <p:cNvPr id="4" name="Rectangle 17"/>
          <p:cNvSpPr>
            <a:spLocks noChangeArrowheads="1"/>
          </p:cNvSpPr>
          <p:nvPr/>
        </p:nvSpPr>
        <p:spPr bwMode="auto">
          <a:xfrm>
            <a:off x="4078784" y="3572470"/>
            <a:ext cx="1403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年收入</a:t>
            </a:r>
          </a:p>
        </p:txBody>
      </p:sp>
      <p:sp>
        <p:nvSpPr>
          <p:cNvPr id="5" name="Rectangle 19"/>
          <p:cNvSpPr txBox="1">
            <a:spLocks noChangeArrowheads="1"/>
          </p:cNvSpPr>
          <p:nvPr/>
        </p:nvSpPr>
        <p:spPr>
          <a:xfrm>
            <a:off x="2567484" y="4580533"/>
            <a:ext cx="7772400" cy="87471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0" lang="zh-CN" altLang="en-US" sz="3200">
                <a:solidFill>
                  <a:schemeClr val="bg1"/>
                </a:solidFill>
              </a:rPr>
              <a:t>表示各厂的年收入和年利润。</a:t>
            </a: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auto">
          <a:xfrm>
            <a:off x="10416084" y="2277070"/>
            <a:ext cx="5921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Ⅰ</a:t>
            </a:r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10416084" y="2926358"/>
            <a:ext cx="5921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Ⅱ</a:t>
            </a:r>
          </a:p>
        </p:txBody>
      </p:sp>
      <p:graphicFrame>
        <p:nvGraphicFramePr>
          <p:cNvPr id="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590446"/>
              </p:ext>
            </p:extLst>
          </p:nvPr>
        </p:nvGraphicFramePr>
        <p:xfrm>
          <a:off x="2421434" y="1742083"/>
          <a:ext cx="8064500" cy="176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84700" imgH="1003300" progId="Equation.DSMT4">
                  <p:embed/>
                </p:oleObj>
              </mc:Choice>
              <mc:Fallback>
                <p:oleObj name="Equation" r:id="rId2" imgW="4584700" imgH="1003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1434" y="1742083"/>
                        <a:ext cx="8064500" cy="176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477089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62" y="692696"/>
            <a:ext cx="11948851" cy="553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007006"/>
      </p:ext>
    </p:extLst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7408" y="764704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0" dirty="0">
                <a:solidFill>
                  <a:schemeClr val="bg1"/>
                </a:solidFill>
                <a:latin typeface="CIDFont+F1"/>
              </a:rPr>
              <a:t>解 根据题意可得</a:t>
            </a:r>
            <a:r>
              <a:rPr lang="en-US" altLang="zh-CN" b="0" dirty="0">
                <a:solidFill>
                  <a:schemeClr val="bg1"/>
                </a:solidFill>
                <a:latin typeface="CIDFont+F3"/>
              </a:rPr>
              <a:t>:</a:t>
            </a:r>
            <a:endParaRPr lang="zh-CN" altLang="en-US" sz="1800" b="0" dirty="0">
              <a:solidFill>
                <a:schemeClr val="bg1"/>
              </a:solidFill>
              <a:latin typeface="CIDFont+F1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192" y="1980283"/>
            <a:ext cx="1752975" cy="65213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664" y="1410999"/>
            <a:ext cx="2457450" cy="1790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952" y="1980283"/>
            <a:ext cx="2857500" cy="438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44" y="4355604"/>
            <a:ext cx="11877301" cy="183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0423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548680"/>
            <a:ext cx="8705850" cy="54673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476672"/>
            <a:ext cx="11164858" cy="543000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67" y="116632"/>
            <a:ext cx="6877050" cy="2695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869" y="120367"/>
            <a:ext cx="7019925" cy="66198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5001" y="355347"/>
            <a:ext cx="6724650" cy="25622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9681" y="2675999"/>
            <a:ext cx="669607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2225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7583232" y="16554"/>
            <a:ext cx="1107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拓展作业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 flipV="1">
            <a:off x="5693943" y="1970962"/>
            <a:ext cx="1194641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52603" y="-2805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890889"/>
              </p:ext>
            </p:extLst>
          </p:nvPr>
        </p:nvGraphicFramePr>
        <p:xfrm>
          <a:off x="4917909" y="669805"/>
          <a:ext cx="7294899" cy="1294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629763" imgH="1723840" progId="Visio.Drawing.15">
                  <p:embed/>
                </p:oleObj>
              </mc:Choice>
              <mc:Fallback>
                <p:oleObj r:id="rId2" imgW="9629763" imgH="1723840" progId="Visio.Drawing.15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7909" y="669805"/>
                        <a:ext cx="7294899" cy="12940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300660" y="2345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740121"/>
              </p:ext>
            </p:extLst>
          </p:nvPr>
        </p:nvGraphicFramePr>
        <p:xfrm>
          <a:off x="5572539" y="1884664"/>
          <a:ext cx="6340198" cy="191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565680" imgH="1968480" progId="Equation.DSMT4">
                  <p:embed/>
                </p:oleObj>
              </mc:Choice>
              <mc:Fallback>
                <p:oleObj name="Equation" r:id="rId4" imgW="6565680" imgH="196848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539" y="1884664"/>
                        <a:ext cx="6340198" cy="19101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5398243" y="1842047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压缩的数学原理</a:t>
            </a:r>
          </a:p>
        </p:txBody>
      </p:sp>
      <p:sp>
        <p:nvSpPr>
          <p:cNvPr id="20" name="矩形 19"/>
          <p:cNvSpPr/>
          <p:nvPr/>
        </p:nvSpPr>
        <p:spPr>
          <a:xfrm>
            <a:off x="5380501" y="3365753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dirty="0">
                <a:solidFill>
                  <a:srgbClr val="FF0000"/>
                </a:solidFill>
                <a:latin typeface="微软雅黑"/>
              </a:rPr>
              <a:t>解压缩的数学原理</a:t>
            </a: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021015"/>
              </p:ext>
            </p:extLst>
          </p:nvPr>
        </p:nvGraphicFramePr>
        <p:xfrm>
          <a:off x="5964342" y="3886797"/>
          <a:ext cx="4859021" cy="1935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27320" imgH="1968480" progId="Equation.DSMT4">
                  <p:embed/>
                </p:oleObj>
              </mc:Choice>
              <mc:Fallback>
                <p:oleObj name="Equation" r:id="rId6" imgW="4927320" imgH="196848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4342" y="3886797"/>
                        <a:ext cx="4859021" cy="19354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/>
          <p:cNvSpPr/>
          <p:nvPr/>
        </p:nvSpPr>
        <p:spPr>
          <a:xfrm>
            <a:off x="6052925" y="5849699"/>
            <a:ext cx="5570756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lvl="0"/>
            <a:r>
              <a:rPr lang="zh-CN" altLang="en-US" sz="2800" dirty="0">
                <a:latin typeface="微软雅黑"/>
              </a:rPr>
              <a:t>矩阵乘法不满足交换律的扩展应用</a:t>
            </a:r>
          </a:p>
        </p:txBody>
      </p:sp>
      <p:graphicFrame>
        <p:nvGraphicFramePr>
          <p:cNvPr id="24" name="Object 6">
            <a:extLst>
              <a:ext uri="{FF2B5EF4-FFF2-40B4-BE49-F238E27FC236}">
                <a16:creationId xmlns:a16="http://schemas.microsoft.com/office/drawing/2014/main" id="{EE233211-0AB0-4312-AB5C-232B09EF29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7831640"/>
              </p:ext>
            </p:extLst>
          </p:nvPr>
        </p:nvGraphicFramePr>
        <p:xfrm>
          <a:off x="1492115" y="851112"/>
          <a:ext cx="1696458" cy="687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6880" imgH="164880" progId="Equation.DSMT4">
                  <p:embed/>
                </p:oleObj>
              </mc:Choice>
              <mc:Fallback>
                <p:oleObj name="Equation" r:id="rId8" imgW="596880" imgH="164880" progId="Equation.DSMT4">
                  <p:embed/>
                  <p:pic>
                    <p:nvPicPr>
                      <p:cNvPr id="31" name="Object 6">
                        <a:extLst>
                          <a:ext uri="{FF2B5EF4-FFF2-40B4-BE49-F238E27FC236}">
                            <a16:creationId xmlns:a16="http://schemas.microsoft.com/office/drawing/2014/main" id="{EE233211-0AB0-4312-AB5C-232B09EF29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115" y="851112"/>
                        <a:ext cx="1696458" cy="687974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3">
                              <a:lumMod val="0"/>
                              <a:lumOff val="100000"/>
                            </a:schemeClr>
                          </a:gs>
                          <a:gs pos="35000">
                            <a:schemeClr val="accent3">
                              <a:lumMod val="0"/>
                              <a:lumOff val="100000"/>
                            </a:schemeClr>
                          </a:gs>
                          <a:gs pos="100000">
                            <a:schemeClr val="accent3">
                              <a:lumMod val="100000"/>
                            </a:schemeClr>
                          </a:gs>
                        </a:gsLst>
                        <a:path path="circle">
                          <a:fillToRect l="50000" t="-80000" r="50000" b="180000"/>
                        </a:path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6">
            <a:extLst>
              <a:ext uri="{FF2B5EF4-FFF2-40B4-BE49-F238E27FC236}">
                <a16:creationId xmlns:a16="http://schemas.microsoft.com/office/drawing/2014/main" id="{8B0293B0-FE8D-4FED-8FAA-BFB0DB772A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289558"/>
              </p:ext>
            </p:extLst>
          </p:nvPr>
        </p:nvGraphicFramePr>
        <p:xfrm>
          <a:off x="934118" y="2233562"/>
          <a:ext cx="2930919" cy="690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44520" imgH="241200" progId="Equation.DSMT4">
                  <p:embed/>
                </p:oleObj>
              </mc:Choice>
              <mc:Fallback>
                <p:oleObj name="Equation" r:id="rId10" imgW="1244520" imgH="241200" progId="Equation.DSMT4">
                  <p:embed/>
                  <p:pic>
                    <p:nvPicPr>
                      <p:cNvPr id="32" name="Object 6">
                        <a:extLst>
                          <a:ext uri="{FF2B5EF4-FFF2-40B4-BE49-F238E27FC236}">
                            <a16:creationId xmlns:a16="http://schemas.microsoft.com/office/drawing/2014/main" id="{8B0293B0-FE8D-4FED-8FAA-BFB0DB772A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118" y="2233562"/>
                        <a:ext cx="2930919" cy="690692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3">
                              <a:lumMod val="0"/>
                              <a:lumOff val="100000"/>
                            </a:schemeClr>
                          </a:gs>
                          <a:gs pos="35000">
                            <a:schemeClr val="accent3">
                              <a:lumMod val="0"/>
                              <a:lumOff val="100000"/>
                            </a:schemeClr>
                          </a:gs>
                          <a:gs pos="100000">
                            <a:schemeClr val="accent3">
                              <a:lumMod val="100000"/>
                            </a:schemeClr>
                          </a:gs>
                        </a:gsLst>
                        <a:path path="circle">
                          <a:fillToRect l="50000" t="-80000" r="50000" b="180000"/>
                        </a:path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">
            <a:extLst>
              <a:ext uri="{FF2B5EF4-FFF2-40B4-BE49-F238E27FC236}">
                <a16:creationId xmlns:a16="http://schemas.microsoft.com/office/drawing/2014/main" id="{48A5DF3E-75E5-4F62-9820-336D395D3F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238332"/>
              </p:ext>
            </p:extLst>
          </p:nvPr>
        </p:nvGraphicFramePr>
        <p:xfrm>
          <a:off x="904814" y="3861705"/>
          <a:ext cx="3094117" cy="664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33440" imgH="253800" progId="Equation.DSMT4">
                  <p:embed/>
                </p:oleObj>
              </mc:Choice>
              <mc:Fallback>
                <p:oleObj name="Equation" r:id="rId12" imgW="1333440" imgH="253800" progId="Equation.DSMT4">
                  <p:embed/>
                  <p:pic>
                    <p:nvPicPr>
                      <p:cNvPr id="34" name="Object 6">
                        <a:extLst>
                          <a:ext uri="{FF2B5EF4-FFF2-40B4-BE49-F238E27FC236}">
                            <a16:creationId xmlns:a16="http://schemas.microsoft.com/office/drawing/2014/main" id="{48A5DF3E-75E5-4F62-9820-336D395D3F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14" y="3861705"/>
                        <a:ext cx="3094117" cy="664215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3">
                              <a:lumMod val="0"/>
                              <a:lumOff val="100000"/>
                            </a:schemeClr>
                          </a:gs>
                          <a:gs pos="35000">
                            <a:schemeClr val="accent3">
                              <a:lumMod val="0"/>
                              <a:lumOff val="100000"/>
                            </a:schemeClr>
                          </a:gs>
                          <a:gs pos="100000">
                            <a:schemeClr val="accent3">
                              <a:lumMod val="100000"/>
                            </a:schemeClr>
                          </a:gs>
                        </a:gsLst>
                        <a:path path="circle">
                          <a:fillToRect l="50000" t="-80000" r="50000" b="180000"/>
                        </a:path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6">
            <a:extLst>
              <a:ext uri="{FF2B5EF4-FFF2-40B4-BE49-F238E27FC236}">
                <a16:creationId xmlns:a16="http://schemas.microsoft.com/office/drawing/2014/main" id="{006B052C-B0CA-42E8-B794-33C59AE972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481449"/>
              </p:ext>
            </p:extLst>
          </p:nvPr>
        </p:nvGraphicFramePr>
        <p:xfrm>
          <a:off x="524878" y="5217571"/>
          <a:ext cx="2033328" cy="580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02960" imgH="253800" progId="Equation.DSMT4">
                  <p:embed/>
                </p:oleObj>
              </mc:Choice>
              <mc:Fallback>
                <p:oleObj name="Equation" r:id="rId14" imgW="1002960" imgH="253800" progId="Equation.DSMT4">
                  <p:embed/>
                  <p:pic>
                    <p:nvPicPr>
                      <p:cNvPr id="35" name="Object 6">
                        <a:extLst>
                          <a:ext uri="{FF2B5EF4-FFF2-40B4-BE49-F238E27FC236}">
                            <a16:creationId xmlns:a16="http://schemas.microsoft.com/office/drawing/2014/main" id="{006B052C-B0CA-42E8-B794-33C59AE972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878" y="5217571"/>
                        <a:ext cx="2033328" cy="580070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3">
                              <a:lumMod val="0"/>
                              <a:lumOff val="100000"/>
                            </a:schemeClr>
                          </a:gs>
                          <a:gs pos="35000">
                            <a:schemeClr val="accent3">
                              <a:lumMod val="0"/>
                              <a:lumOff val="100000"/>
                            </a:schemeClr>
                          </a:gs>
                          <a:gs pos="100000">
                            <a:schemeClr val="accent3">
                              <a:lumMod val="100000"/>
                            </a:schemeClr>
                          </a:gs>
                        </a:gsLst>
                        <a:path path="circle">
                          <a:fillToRect l="50000" t="-80000" r="50000" b="180000"/>
                        </a:path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6">
            <a:extLst>
              <a:ext uri="{FF2B5EF4-FFF2-40B4-BE49-F238E27FC236}">
                <a16:creationId xmlns:a16="http://schemas.microsoft.com/office/drawing/2014/main" id="{E1A912F2-C98F-4844-A96D-D93B0B02EC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559980"/>
              </p:ext>
            </p:extLst>
          </p:nvPr>
        </p:nvGraphicFramePr>
        <p:xfrm>
          <a:off x="3028712" y="5115372"/>
          <a:ext cx="2119713" cy="569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04840" imgH="253800" progId="Equation.DSMT4">
                  <p:embed/>
                </p:oleObj>
              </mc:Choice>
              <mc:Fallback>
                <p:oleObj name="Equation" r:id="rId16" imgW="1104840" imgH="253800" progId="Equation.DSMT4">
                  <p:embed/>
                  <p:pic>
                    <p:nvPicPr>
                      <p:cNvPr id="36" name="Object 6">
                        <a:extLst>
                          <a:ext uri="{FF2B5EF4-FFF2-40B4-BE49-F238E27FC236}">
                            <a16:creationId xmlns:a16="http://schemas.microsoft.com/office/drawing/2014/main" id="{E1A912F2-C98F-4844-A96D-D93B0B02EC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712" y="5115372"/>
                        <a:ext cx="2119713" cy="569045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3">
                              <a:lumMod val="0"/>
                              <a:lumOff val="100000"/>
                            </a:schemeClr>
                          </a:gs>
                          <a:gs pos="35000">
                            <a:schemeClr val="accent3">
                              <a:lumMod val="0"/>
                              <a:lumOff val="100000"/>
                            </a:schemeClr>
                          </a:gs>
                          <a:gs pos="100000">
                            <a:schemeClr val="accent3">
                              <a:lumMod val="100000"/>
                            </a:schemeClr>
                          </a:gs>
                        </a:gsLst>
                        <a:path path="circle">
                          <a:fillToRect l="50000" t="-80000" r="50000" b="180000"/>
                        </a:path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下箭头 43">
            <a:extLst>
              <a:ext uri="{FF2B5EF4-FFF2-40B4-BE49-F238E27FC236}">
                <a16:creationId xmlns:a16="http://schemas.microsoft.com/office/drawing/2014/main" id="{1E2D9BC4-FF8C-4480-8CEC-4E2810615A72}"/>
              </a:ext>
            </a:extLst>
          </p:cNvPr>
          <p:cNvSpPr/>
          <p:nvPr/>
        </p:nvSpPr>
        <p:spPr>
          <a:xfrm>
            <a:off x="2229288" y="1658672"/>
            <a:ext cx="222585" cy="477214"/>
          </a:xfrm>
          <a:prstGeom prst="downArrow">
            <a:avLst/>
          </a:prstGeom>
          <a:solidFill>
            <a:srgbClr val="FFC000"/>
          </a:solidFill>
          <a:ln w="155575" cap="flat" cmpd="sng" algn="ctr">
            <a:solidFill>
              <a:srgbClr val="F2BA0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0" name="下箭头 43">
            <a:extLst>
              <a:ext uri="{FF2B5EF4-FFF2-40B4-BE49-F238E27FC236}">
                <a16:creationId xmlns:a16="http://schemas.microsoft.com/office/drawing/2014/main" id="{9D818D63-5074-49A3-92E2-A2173A290409}"/>
              </a:ext>
            </a:extLst>
          </p:cNvPr>
          <p:cNvSpPr/>
          <p:nvPr/>
        </p:nvSpPr>
        <p:spPr>
          <a:xfrm>
            <a:off x="2220337" y="3132722"/>
            <a:ext cx="222585" cy="477214"/>
          </a:xfrm>
          <a:prstGeom prst="downArrow">
            <a:avLst/>
          </a:prstGeom>
          <a:solidFill>
            <a:srgbClr val="FFC000"/>
          </a:solidFill>
          <a:ln w="155575" cap="flat" cmpd="sng" algn="ctr">
            <a:solidFill>
              <a:srgbClr val="F2BA0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5436838-929E-47FA-97FD-6EE236987B7B}"/>
              </a:ext>
            </a:extLst>
          </p:cNvPr>
          <p:cNvCxnSpPr/>
          <p:nvPr/>
        </p:nvCxnSpPr>
        <p:spPr>
          <a:xfrm flipH="1">
            <a:off x="1436684" y="4605062"/>
            <a:ext cx="323959" cy="588929"/>
          </a:xfrm>
          <a:prstGeom prst="straightConnector1">
            <a:avLst/>
          </a:prstGeom>
          <a:ln w="857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C4C89DD-1A79-4678-AE6C-9DB4B6F051FB}"/>
              </a:ext>
            </a:extLst>
          </p:cNvPr>
          <p:cNvCxnSpPr>
            <a:cxnSpLocks/>
          </p:cNvCxnSpPr>
          <p:nvPr/>
        </p:nvCxnSpPr>
        <p:spPr>
          <a:xfrm>
            <a:off x="2844188" y="4558128"/>
            <a:ext cx="418176" cy="493928"/>
          </a:xfrm>
          <a:prstGeom prst="straightConnector1">
            <a:avLst/>
          </a:prstGeom>
          <a:ln w="857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C5545337-FF8A-4E25-8A84-C19233C55FBF}"/>
              </a:ext>
            </a:extLst>
          </p:cNvPr>
          <p:cNvSpPr/>
          <p:nvPr/>
        </p:nvSpPr>
        <p:spPr>
          <a:xfrm>
            <a:off x="134030" y="587047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压缩的数学原理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35BD936-9716-475F-8A3E-A5FB544E1C7E}"/>
              </a:ext>
            </a:extLst>
          </p:cNvPr>
          <p:cNvSpPr/>
          <p:nvPr/>
        </p:nvSpPr>
        <p:spPr>
          <a:xfrm>
            <a:off x="3146744" y="587443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dirty="0">
                <a:solidFill>
                  <a:srgbClr val="FF0000"/>
                </a:solidFill>
                <a:latin typeface="微软雅黑"/>
              </a:rPr>
              <a:t>解压缩的数学原理</a:t>
            </a:r>
          </a:p>
        </p:txBody>
      </p:sp>
      <p:pic>
        <p:nvPicPr>
          <p:cNvPr id="35" name="图片 34" descr="图片18"/>
          <p:cNvPicPr/>
          <p:nvPr/>
        </p:nvPicPr>
        <p:blipFill>
          <a:blip r:embed="rId18"/>
          <a:stretch>
            <a:fillRect/>
          </a:stretch>
        </p:blipFill>
        <p:spPr>
          <a:xfrm>
            <a:off x="113523" y="152879"/>
            <a:ext cx="4859020" cy="3827461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8FCEF700-D30E-43F7-8854-8615F1325053}"/>
              </a:ext>
            </a:extLst>
          </p:cNvPr>
          <p:cNvSpPr/>
          <p:nvPr/>
        </p:nvSpPr>
        <p:spPr>
          <a:xfrm>
            <a:off x="7226417" y="1391579"/>
            <a:ext cx="11325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/>
              </a:rPr>
              <a:t>多光子压缩为单光子</a:t>
            </a:r>
            <a:endParaRPr lang="zh-CN" altLang="en-US" sz="14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CD6638F-7E58-43F0-9943-2C3CC2D85A6E}"/>
              </a:ext>
            </a:extLst>
          </p:cNvPr>
          <p:cNvSpPr/>
          <p:nvPr/>
        </p:nvSpPr>
        <p:spPr>
          <a:xfrm>
            <a:off x="9342603" y="1362944"/>
            <a:ext cx="11325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400" dirty="0">
                <a:solidFill>
                  <a:srgbClr val="FF0000"/>
                </a:solidFill>
                <a:latin typeface="微软雅黑"/>
              </a:rPr>
              <a:t>单光子解压缩为多光子</a:t>
            </a:r>
            <a:endParaRPr lang="zh-CN" altLang="en-US" sz="1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38237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 animBg="1"/>
      <p:bldP spid="29" grpId="0" animBg="1"/>
      <p:bldP spid="30" grpId="0" animBg="1"/>
      <p:bldP spid="33" grpId="0"/>
      <p:bldP spid="34" grpId="0"/>
      <p:bldP spid="36" grpId="0"/>
      <p:bldP spid="3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567360" y="4078263"/>
            <a:ext cx="5759450" cy="106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b="0">
                <a:latin typeface="宋体" panose="02010600030101010101" pitchFamily="2" charset="-122"/>
              </a:rPr>
              <a:t>由于矩阵的乘法适合结合律，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b="0">
                <a:latin typeface="宋体" panose="02010600030101010101" pitchFamily="2" charset="-122"/>
              </a:rPr>
              <a:t>所以方阵的幂满足：</a:t>
            </a:r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692772" y="984496"/>
            <a:ext cx="4497388" cy="708024"/>
            <a:chOff x="646" y="588"/>
            <a:chExt cx="2833" cy="446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646" y="588"/>
              <a:ext cx="2833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0" dirty="0">
                  <a:latin typeface="宋体" panose="02010600030101010101" pitchFamily="2" charset="-122"/>
                </a:rPr>
                <a:t>设  是  阶</a:t>
              </a:r>
              <a:r>
                <a:rPr lang="zh-CN" altLang="en-US" sz="4000" dirty="0">
                  <a:solidFill>
                    <a:srgbClr val="FFC000"/>
                  </a:solidFill>
                  <a:latin typeface="宋体" panose="02010600030101010101" pitchFamily="2" charset="-122"/>
                </a:rPr>
                <a:t>方阵</a:t>
              </a:r>
              <a:r>
                <a:rPr lang="zh-CN" altLang="en-US" b="0" dirty="0">
                  <a:latin typeface="宋体" panose="02010600030101010101" pitchFamily="2" charset="-122"/>
                </a:rPr>
                <a:t>，定义</a:t>
              </a:r>
            </a:p>
          </p:txBody>
        </p:sp>
        <p:graphicFrame>
          <p:nvGraphicFramePr>
            <p:cNvPr id="5" name="Object 5"/>
            <p:cNvGraphicFramePr>
              <a:graphicFrameLocks noChangeAspect="1"/>
            </p:cNvGraphicFramePr>
            <p:nvPr/>
          </p:nvGraphicFramePr>
          <p:xfrm>
            <a:off x="930" y="663"/>
            <a:ext cx="31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4266" imgH="123930" progId="Equation.DSMT4">
                    <p:embed/>
                  </p:oleObj>
                </mc:Choice>
                <mc:Fallback>
                  <p:oleObj name="Equation" r:id="rId2" imgW="114266" imgH="1239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663"/>
                          <a:ext cx="31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6"/>
            <p:cNvGraphicFramePr>
              <a:graphicFrameLocks noChangeAspect="1"/>
            </p:cNvGraphicFramePr>
            <p:nvPr/>
          </p:nvGraphicFramePr>
          <p:xfrm>
            <a:off x="1458" y="735"/>
            <a:ext cx="258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85632" imgH="104760" progId="Equation.DSMT4">
                    <p:embed/>
                  </p:oleObj>
                </mc:Choice>
                <mc:Fallback>
                  <p:oleObj name="Equation" r:id="rId4" imgW="85632" imgH="1047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8" y="735"/>
                          <a:ext cx="258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919635"/>
              </p:ext>
            </p:extLst>
          </p:nvPr>
        </p:nvGraphicFramePr>
        <p:xfrm>
          <a:off x="2657847" y="1662088"/>
          <a:ext cx="1522413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6790" imgH="190620" progId="Equation.DSMT4">
                  <p:embed/>
                </p:oleObj>
              </mc:Choice>
              <mc:Fallback>
                <p:oleObj name="Equation" r:id="rId6" imgW="466790" imgH="1906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847" y="1662088"/>
                        <a:ext cx="1522413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60713"/>
              </p:ext>
            </p:extLst>
          </p:nvPr>
        </p:nvGraphicFramePr>
        <p:xfrm>
          <a:off x="4143747" y="1662088"/>
          <a:ext cx="2170113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85868" imgH="190620" progId="Equation.DSMT4">
                  <p:embed/>
                </p:oleObj>
              </mc:Choice>
              <mc:Fallback>
                <p:oleObj name="Equation" r:id="rId8" imgW="685868" imgH="1906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747" y="1662088"/>
                        <a:ext cx="2170113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926508"/>
              </p:ext>
            </p:extLst>
          </p:nvPr>
        </p:nvGraphicFramePr>
        <p:xfrm>
          <a:off x="6463085" y="1887513"/>
          <a:ext cx="738187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44" imgH="104760" progId="Equation.DSMT4">
                  <p:embed/>
                </p:oleObj>
              </mc:Choice>
              <mc:Fallback>
                <p:oleObj name="Equation" r:id="rId10" imgW="190444" imgH="104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3085" y="1887513"/>
                        <a:ext cx="738187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165199"/>
              </p:ext>
            </p:extLst>
          </p:nvPr>
        </p:nvGraphicFramePr>
        <p:xfrm>
          <a:off x="8112224" y="1579538"/>
          <a:ext cx="347345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04840" imgH="190440" progId="Equation.DSMT4">
                  <p:embed/>
                </p:oleObj>
              </mc:Choice>
              <mc:Fallback>
                <p:oleObj name="Equation" r:id="rId12" imgW="11048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lum bright="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224" y="1579538"/>
                        <a:ext cx="347345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2638797" y="2709838"/>
            <a:ext cx="4857750" cy="682625"/>
            <a:chOff x="612" y="1616"/>
            <a:chExt cx="3060" cy="430"/>
          </a:xfrm>
        </p:grpSpPr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612" y="1670"/>
              <a:ext cx="306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0"/>
                <a:t>显然，   就是   个    连乘．</a:t>
              </a:r>
            </a:p>
          </p:txBody>
        </p:sp>
        <p:graphicFrame>
          <p:nvGraphicFramePr>
            <p:cNvPr id="13" name="Object 13"/>
            <p:cNvGraphicFramePr>
              <a:graphicFrameLocks noChangeAspect="1"/>
            </p:cNvGraphicFramePr>
            <p:nvPr/>
          </p:nvGraphicFramePr>
          <p:xfrm>
            <a:off x="1247" y="1616"/>
            <a:ext cx="413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61810" imgH="152280" progId="Equation.DSMT4">
                    <p:embed/>
                  </p:oleObj>
                </mc:Choice>
                <mc:Fallback>
                  <p:oleObj name="Equation" r:id="rId14" imgW="161810" imgH="152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1616"/>
                          <a:ext cx="413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4"/>
            <p:cNvGraphicFramePr>
              <a:graphicFrameLocks noChangeAspect="1"/>
            </p:cNvGraphicFramePr>
            <p:nvPr/>
          </p:nvGraphicFramePr>
          <p:xfrm>
            <a:off x="2525" y="1661"/>
            <a:ext cx="31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14266" imgH="123930" progId="Equation.DSMT4">
                    <p:embed/>
                  </p:oleObj>
                </mc:Choice>
                <mc:Fallback>
                  <p:oleObj name="Equation" r:id="rId16" imgW="114266" imgH="1239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5" y="1661"/>
                          <a:ext cx="31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5"/>
            <p:cNvGraphicFramePr>
              <a:graphicFrameLocks noChangeAspect="1"/>
            </p:cNvGraphicFramePr>
            <p:nvPr/>
          </p:nvGraphicFramePr>
          <p:xfrm>
            <a:off x="2123" y="1684"/>
            <a:ext cx="258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85632" imgH="142830" progId="Equation.DSMT4">
                    <p:embed/>
                  </p:oleObj>
                </mc:Choice>
                <mc:Fallback>
                  <p:oleObj name="Equation" r:id="rId18" imgW="85632" imgH="1428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" y="1684"/>
                          <a:ext cx="258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654483"/>
              </p:ext>
            </p:extLst>
          </p:nvPr>
        </p:nvGraphicFramePr>
        <p:xfrm>
          <a:off x="4215185" y="5157763"/>
          <a:ext cx="22637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14502" imgH="152280" progId="Equation.DSMT4">
                  <p:embed/>
                </p:oleObj>
              </mc:Choice>
              <mc:Fallback>
                <p:oleObj name="Equation" r:id="rId20" imgW="714502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5185" y="5157763"/>
                        <a:ext cx="226377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495949"/>
              </p:ext>
            </p:extLst>
          </p:nvPr>
        </p:nvGraphicFramePr>
        <p:xfrm>
          <a:off x="4062785" y="5764188"/>
          <a:ext cx="4408487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62179" imgH="190620" progId="Equation.DSMT4">
                  <p:embed/>
                </p:oleObj>
              </mc:Choice>
              <mc:Fallback>
                <p:oleObj name="Equation" r:id="rId22" imgW="1562179" imgH="1906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785" y="5764188"/>
                        <a:ext cx="4408487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5566147" y="40342"/>
            <a:ext cx="18256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方阵的幂</a:t>
            </a:r>
          </a:p>
        </p:txBody>
      </p:sp>
      <p:grpSp>
        <p:nvGrpSpPr>
          <p:cNvPr id="19" name="Group 19"/>
          <p:cNvGrpSpPr>
            <a:grpSpLocks/>
          </p:cNvGrpSpPr>
          <p:nvPr/>
        </p:nvGrpSpPr>
        <p:grpSpPr bwMode="auto">
          <a:xfrm>
            <a:off x="2638797" y="2284388"/>
            <a:ext cx="3028950" cy="587375"/>
            <a:chOff x="612" y="1348"/>
            <a:chExt cx="1908" cy="370"/>
          </a:xfrm>
        </p:grpSpPr>
        <p:graphicFrame>
          <p:nvGraphicFramePr>
            <p:cNvPr id="20" name="Object 20"/>
            <p:cNvGraphicFramePr>
              <a:graphicFrameLocks noChangeAspect="1"/>
            </p:cNvGraphicFramePr>
            <p:nvPr/>
          </p:nvGraphicFramePr>
          <p:xfrm>
            <a:off x="1231" y="1348"/>
            <a:ext cx="258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85632" imgH="142830" progId="Equation.DSMT4">
                    <p:embed/>
                  </p:oleObj>
                </mc:Choice>
                <mc:Fallback>
                  <p:oleObj name="Equation" r:id="rId24" imgW="85632" imgH="1428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1" y="1348"/>
                          <a:ext cx="258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612" y="1353"/>
              <a:ext cx="19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0"/>
                <a:t>其中    为正整数</a:t>
              </a:r>
            </a:p>
          </p:txBody>
        </p:sp>
      </p:grpSp>
      <p:grpSp>
        <p:nvGrpSpPr>
          <p:cNvPr id="22" name="Group 22"/>
          <p:cNvGrpSpPr>
            <a:grpSpLocks/>
          </p:cNvGrpSpPr>
          <p:nvPr/>
        </p:nvGrpSpPr>
        <p:grpSpPr bwMode="auto">
          <a:xfrm>
            <a:off x="2567360" y="3428976"/>
            <a:ext cx="6767512" cy="584200"/>
            <a:chOff x="567" y="2069"/>
            <a:chExt cx="4263" cy="368"/>
          </a:xfrm>
        </p:grpSpPr>
        <p:graphicFrame>
          <p:nvGraphicFramePr>
            <p:cNvPr id="23" name="Object 23"/>
            <p:cNvGraphicFramePr>
              <a:graphicFrameLocks noChangeAspect="1"/>
            </p:cNvGraphicFramePr>
            <p:nvPr/>
          </p:nvGraphicFramePr>
          <p:xfrm>
            <a:off x="1111" y="2069"/>
            <a:ext cx="31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14266" imgH="123930" progId="Equation.DSMT4">
                    <p:embed/>
                  </p:oleObj>
                </mc:Choice>
                <mc:Fallback>
                  <p:oleObj name="Equation" r:id="rId26" imgW="114266" imgH="1239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2069"/>
                          <a:ext cx="31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567" y="2079"/>
              <a:ext cx="4263" cy="358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b="0">
                  <a:latin typeface="宋体" panose="02010600030101010101" pitchFamily="2" charset="-122"/>
                </a:rPr>
                <a:t>只有  是方阵时，它的幂才有意义．</a:t>
              </a:r>
            </a:p>
          </p:txBody>
        </p:sp>
      </p:grpSp>
      <p:sp>
        <p:nvSpPr>
          <p:cNvPr id="25" name="Rectangle 25"/>
          <p:cNvSpPr>
            <a:spLocks noChangeArrowheads="1"/>
          </p:cNvSpPr>
          <p:nvPr/>
        </p:nvSpPr>
        <p:spPr bwMode="auto">
          <a:xfrm>
            <a:off x="2854697" y="5229201"/>
            <a:ext cx="1200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/>
              <a:t>（</a:t>
            </a:r>
            <a:r>
              <a:rPr lang="en-US" altLang="zh-CN" b="0"/>
              <a:t>1</a:t>
            </a:r>
            <a:r>
              <a:rPr lang="zh-CN" altLang="en-US" b="0"/>
              <a:t>）</a:t>
            </a:r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2878510" y="5805463"/>
            <a:ext cx="120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/>
              <a:t>（</a:t>
            </a:r>
            <a:r>
              <a:rPr lang="en-US" altLang="zh-CN" b="0"/>
              <a:t>2</a:t>
            </a:r>
            <a:r>
              <a:rPr lang="zh-CN" altLang="en-US" b="0"/>
              <a:t>）</a:t>
            </a:r>
          </a:p>
        </p:txBody>
      </p:sp>
      <p:graphicFrame>
        <p:nvGraphicFramePr>
          <p:cNvPr id="2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592488"/>
              </p:ext>
            </p:extLst>
          </p:nvPr>
        </p:nvGraphicFramePr>
        <p:xfrm>
          <a:off x="3388097" y="3444851"/>
          <a:ext cx="4921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4266" imgH="123930" progId="Equation.DSMT4">
                  <p:embed/>
                </p:oleObj>
              </mc:Choice>
              <mc:Fallback>
                <p:oleObj name="Equation" r:id="rId28" imgW="114266" imgH="1239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8097" y="3444851"/>
                        <a:ext cx="4921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086522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18" grpId="0" autoUpdateAnimBg="0"/>
      <p:bldP spid="25" grpId="0" autoUpdateAnimBg="0"/>
      <p:bldP spid="2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79576" y="1196752"/>
            <a:ext cx="8280400" cy="1311275"/>
            <a:chOff x="295" y="346"/>
            <a:chExt cx="5216" cy="826"/>
          </a:xfrm>
        </p:grpSpPr>
        <p:sp>
          <p:nvSpPr>
            <p:cNvPr id="3" name="Text Box 3"/>
            <p:cNvSpPr txBox="1">
              <a:spLocks noChangeArrowheads="1"/>
            </p:cNvSpPr>
            <p:nvPr/>
          </p:nvSpPr>
          <p:spPr bwMode="auto">
            <a:xfrm>
              <a:off x="295" y="346"/>
              <a:ext cx="5216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0"/>
                <a:t>由于矩阵的乘法不满足交换律，所以对于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b="0"/>
                <a:t>同阶方阵     和      ，一般说来</a:t>
              </a:r>
            </a:p>
          </p:txBody>
        </p:sp>
        <p:graphicFrame>
          <p:nvGraphicFramePr>
            <p:cNvPr id="4" name="Object 4"/>
            <p:cNvGraphicFramePr>
              <a:graphicFrameLocks noChangeAspect="1"/>
            </p:cNvGraphicFramePr>
            <p:nvPr/>
          </p:nvGraphicFramePr>
          <p:xfrm>
            <a:off x="1383" y="799"/>
            <a:ext cx="295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4266" imgH="123930" progId="Equation.DSMT4">
                    <p:embed/>
                  </p:oleObj>
                </mc:Choice>
                <mc:Fallback>
                  <p:oleObj name="Equation" r:id="rId2" imgW="114266" imgH="1239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799"/>
                          <a:ext cx="295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5"/>
            <p:cNvGraphicFramePr>
              <a:graphicFrameLocks noChangeAspect="1"/>
            </p:cNvGraphicFramePr>
            <p:nvPr/>
          </p:nvGraphicFramePr>
          <p:xfrm>
            <a:off x="1973" y="799"/>
            <a:ext cx="295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4266" imgH="123930" progId="Equation.DSMT4">
                    <p:embed/>
                  </p:oleObj>
                </mc:Choice>
                <mc:Fallback>
                  <p:oleObj name="Equation" r:id="rId4" imgW="114266" imgH="1239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799"/>
                          <a:ext cx="295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606121"/>
              </p:ext>
            </p:extLst>
          </p:nvPr>
        </p:nvGraphicFramePr>
        <p:xfrm>
          <a:off x="4654476" y="2652489"/>
          <a:ext cx="273685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47677" imgH="190620" progId="Equation.DSMT4">
                  <p:embed/>
                </p:oleObj>
              </mc:Choice>
              <mc:Fallback>
                <p:oleObj name="Equation" r:id="rId6" imgW="847677" imgH="1906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476" y="2652489"/>
                        <a:ext cx="273685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2422451" y="4016152"/>
            <a:ext cx="8299450" cy="582612"/>
            <a:chOff x="385" y="2203"/>
            <a:chExt cx="5228" cy="367"/>
          </a:xfrm>
        </p:grpSpPr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2245" y="2205"/>
            <a:ext cx="296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4266" imgH="123930" progId="Equation.DSMT4">
                    <p:embed/>
                  </p:oleObj>
                </mc:Choice>
                <mc:Fallback>
                  <p:oleObj name="Equation" r:id="rId8" imgW="114266" imgH="1239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5" y="2205"/>
                          <a:ext cx="296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4480" y="2205"/>
            <a:ext cx="1133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42967" imgH="123930" progId="Equation.DSMT4">
                    <p:embed/>
                  </p:oleObj>
                </mc:Choice>
                <mc:Fallback>
                  <p:oleObj name="Equation" r:id="rId10" imgW="542967" imgH="1239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0" y="2205"/>
                          <a:ext cx="1133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2835" y="2208"/>
            <a:ext cx="296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4266" imgH="123930" progId="Equation.DSMT4">
                    <p:embed/>
                  </p:oleObj>
                </mc:Choice>
                <mc:Fallback>
                  <p:oleObj name="Equation" r:id="rId12" imgW="114266" imgH="1239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5" y="2208"/>
                          <a:ext cx="296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385" y="2205"/>
              <a:ext cx="195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0"/>
                <a:t>但是，如果方阵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2517" y="2205"/>
              <a:ext cx="4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0"/>
                <a:t>与</a:t>
              </a: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3152" y="2203"/>
              <a:ext cx="163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0"/>
                <a:t>可交换，即</a:t>
              </a:r>
            </a:p>
          </p:txBody>
        </p:sp>
      </p:grp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424038" y="4884514"/>
            <a:ext cx="1655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/>
              <a:t>则</a:t>
            </a: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476408"/>
              </p:ext>
            </p:extLst>
          </p:nvPr>
        </p:nvGraphicFramePr>
        <p:xfrm>
          <a:off x="4583038" y="5316314"/>
          <a:ext cx="2738438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47677" imgH="190620" progId="Equation.DSMT4">
                  <p:embed/>
                </p:oleObj>
              </mc:Choice>
              <mc:Fallback>
                <p:oleObj name="Equation" r:id="rId14" imgW="847677" imgH="1906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038" y="5316314"/>
                        <a:ext cx="2738438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937491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1198579" y="908720"/>
            <a:ext cx="75438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buClr>
                <a:srgbClr val="FFFFCC"/>
              </a:buClr>
              <a:defRPr/>
            </a:pPr>
            <a:endParaRPr kumimoji="0" lang="en-US" altLang="zh-CN" b="0" kern="0" dirty="0">
              <a:solidFill>
                <a:srgbClr val="FFFFFF"/>
              </a:solidFill>
              <a:latin typeface="Tahoma"/>
            </a:endParaRPr>
          </a:p>
          <a:p>
            <a:pPr>
              <a:buClr>
                <a:srgbClr val="FFFFCC"/>
              </a:buClr>
              <a:defRPr/>
            </a:pPr>
            <a:endParaRPr kumimoji="0" lang="en-US" altLang="zh-CN" b="0" kern="0" dirty="0">
              <a:solidFill>
                <a:srgbClr val="FFFFFF"/>
              </a:solidFill>
              <a:latin typeface="Tahoma"/>
            </a:endParaRPr>
          </a:p>
          <a:p>
            <a:pPr>
              <a:buClr>
                <a:srgbClr val="FFFFCC"/>
              </a:buClr>
              <a:defRPr/>
            </a:pPr>
            <a:endParaRPr kumimoji="0" lang="en-US" altLang="zh-CN" b="0" kern="0" dirty="0">
              <a:solidFill>
                <a:srgbClr val="FFFFFF"/>
              </a:solidFill>
              <a:latin typeface="Tahoma"/>
            </a:endParaRPr>
          </a:p>
          <a:p>
            <a:pPr>
              <a:buClr>
                <a:srgbClr val="FFFFCC"/>
              </a:buClr>
              <a:defRPr/>
            </a:pPr>
            <a:endParaRPr kumimoji="0" lang="en-US" altLang="zh-CN" b="0" kern="0" dirty="0">
              <a:solidFill>
                <a:srgbClr val="FFFFFF"/>
              </a:solidFill>
              <a:latin typeface="Tahoma"/>
            </a:endParaRPr>
          </a:p>
          <a:p>
            <a:pPr>
              <a:buClr>
                <a:srgbClr val="FFFFCC"/>
              </a:buClr>
              <a:defRPr/>
            </a:pPr>
            <a:endParaRPr kumimoji="0" lang="en-US" altLang="zh-CN" b="0" kern="0" dirty="0">
              <a:solidFill>
                <a:srgbClr val="FFFFFF"/>
              </a:solidFill>
              <a:latin typeface="Tahoma"/>
            </a:endParaRPr>
          </a:p>
          <a:p>
            <a:pPr>
              <a:buClr>
                <a:srgbClr val="FFFFCC"/>
              </a:buClr>
              <a:defRPr/>
            </a:pPr>
            <a:r>
              <a:rPr kumimoji="0" lang="en-US" altLang="zh-CN" b="0" kern="0" dirty="0">
                <a:solidFill>
                  <a:srgbClr val="FFFFFF"/>
                </a:solidFill>
              </a:rPr>
              <a:t>Remember:</a:t>
            </a: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791550"/>
              </p:ext>
            </p:extLst>
          </p:nvPr>
        </p:nvGraphicFramePr>
        <p:xfrm>
          <a:off x="1415480" y="1124744"/>
          <a:ext cx="9065816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990944" imgH="904770" progId="Equation.3">
                  <p:embed/>
                </p:oleObj>
              </mc:Choice>
              <mc:Fallback>
                <p:oleObj name="公式" r:id="rId2" imgW="3990944" imgH="9047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480" y="1124744"/>
                        <a:ext cx="9065816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020306"/>
              </p:ext>
            </p:extLst>
          </p:nvPr>
        </p:nvGraphicFramePr>
        <p:xfrm>
          <a:off x="4223792" y="4005064"/>
          <a:ext cx="6167314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76579" imgH="923940" progId="Equation.3">
                  <p:embed/>
                </p:oleObj>
              </mc:Choice>
              <mc:Fallback>
                <p:oleObj name="公式" r:id="rId4" imgW="2476579" imgH="9239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3792" y="4005064"/>
                        <a:ext cx="6167314" cy="21717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166436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0" y="836712"/>
            <a:ext cx="5695950" cy="20383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021" y="2780928"/>
            <a:ext cx="657225" cy="5905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999656" y="2875062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C000"/>
                </a:solidFill>
              </a:rPr>
              <a:t>？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246" y="2909202"/>
            <a:ext cx="6629400" cy="21621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1784" y="5517232"/>
            <a:ext cx="359092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2097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1847528" y="588796"/>
            <a:ext cx="8229600" cy="6334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3200" dirty="0">
                <a:solidFill>
                  <a:schemeClr val="bg1"/>
                </a:solidFill>
              </a:rPr>
              <a:t>学习是一个渐进和螺旋式上升的过程</a:t>
            </a:r>
          </a:p>
        </p:txBody>
      </p:sp>
      <p:pic>
        <p:nvPicPr>
          <p:cNvPr id="3" name="Picture 4" descr="rrdnyyy1-158x3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412" y="1222208"/>
            <a:ext cx="3024188" cy="5616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4943600" y="1413669"/>
            <a:ext cx="532923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pic>
        <p:nvPicPr>
          <p:cNvPr id="5" name="Picture 8" descr="y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912" y="1380399"/>
            <a:ext cx="5400675" cy="534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22473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9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9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9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9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05546"/>
              </p:ext>
            </p:extLst>
          </p:nvPr>
        </p:nvGraphicFramePr>
        <p:xfrm>
          <a:off x="3276402" y="1410941"/>
          <a:ext cx="61214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62144" imgH="676350" progId="Equation.DSMT4">
                  <p:embed/>
                </p:oleObj>
              </mc:Choice>
              <mc:Fallback>
                <p:oleObj name="Equation" r:id="rId2" imgW="2162144" imgH="67635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402" y="1410941"/>
                        <a:ext cx="61214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480132"/>
              </p:ext>
            </p:extLst>
          </p:nvPr>
        </p:nvGraphicFramePr>
        <p:xfrm>
          <a:off x="3749477" y="3800128"/>
          <a:ext cx="20193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68" imgH="190620" progId="Equation.DSMT4">
                  <p:embed/>
                </p:oleObj>
              </mc:Choice>
              <mc:Fallback>
                <p:oleObj name="Equation" r:id="rId4" imgW="685868" imgH="1906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9477" y="3800128"/>
                        <a:ext cx="2019300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595886"/>
              </p:ext>
            </p:extLst>
          </p:nvPr>
        </p:nvGraphicFramePr>
        <p:xfrm>
          <a:off x="3749477" y="4447828"/>
          <a:ext cx="3578225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47744" imgH="190620" progId="Equation.DSMT4">
                  <p:embed/>
                </p:oleObj>
              </mc:Choice>
              <mc:Fallback>
                <p:oleObj name="Equation" r:id="rId6" imgW="1247744" imgH="1906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9477" y="4447828"/>
                        <a:ext cx="3578225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213319"/>
              </p:ext>
            </p:extLst>
          </p:nvPr>
        </p:nvGraphicFramePr>
        <p:xfrm>
          <a:off x="3749477" y="5095528"/>
          <a:ext cx="47117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7811" imgH="190620" progId="Equation.DSMT4">
                  <p:embed/>
                </p:oleObj>
              </mc:Choice>
              <mc:Fallback>
                <p:oleObj name="Equation" r:id="rId8" imgW="1647811" imgH="1906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9477" y="5095528"/>
                        <a:ext cx="4711700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064900"/>
              </p:ext>
            </p:extLst>
          </p:nvPr>
        </p:nvGraphicFramePr>
        <p:xfrm>
          <a:off x="3832027" y="5671791"/>
          <a:ext cx="2763838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52489" imgH="190620" progId="Equation.DSMT4">
                  <p:embed/>
                </p:oleObj>
              </mc:Choice>
              <mc:Fallback>
                <p:oleObj name="Equation" r:id="rId10" imgW="952489" imgH="1906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027" y="5671791"/>
                        <a:ext cx="2763838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988940" y="2096741"/>
            <a:ext cx="1504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/>
              <a:t>例如 ：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052440" y="3139728"/>
            <a:ext cx="1403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rgbClr val="FFFF00"/>
                </a:solidFill>
                <a:ea typeface="黑体" panose="02010609060101010101" pitchFamily="49" charset="-122"/>
              </a:rPr>
              <a:t>性质</a:t>
            </a:r>
            <a:r>
              <a:rPr lang="zh-CN" altLang="en-US" b="0"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320727" y="3860453"/>
            <a:ext cx="120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/>
              <a:t>（</a:t>
            </a:r>
            <a:r>
              <a:rPr lang="en-US" altLang="zh-CN" b="0"/>
              <a:t>1</a:t>
            </a:r>
            <a:r>
              <a:rPr lang="zh-CN" altLang="en-US" b="0"/>
              <a:t>）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365177" y="4508153"/>
            <a:ext cx="120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/>
              <a:t>（</a:t>
            </a:r>
            <a:r>
              <a:rPr lang="en-US" altLang="zh-CN" b="0"/>
              <a:t>2</a:t>
            </a:r>
            <a:r>
              <a:rPr lang="zh-CN" altLang="en-US" b="0"/>
              <a:t>）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320727" y="5155853"/>
            <a:ext cx="120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/>
              <a:t>（</a:t>
            </a:r>
            <a:r>
              <a:rPr lang="en-US" altLang="zh-CN" b="0"/>
              <a:t>3</a:t>
            </a:r>
            <a:r>
              <a:rPr lang="zh-CN" altLang="en-US" b="0"/>
              <a:t>）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2320727" y="5732116"/>
            <a:ext cx="1200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/>
              <a:t>（</a:t>
            </a:r>
            <a:r>
              <a:rPr lang="en-US" altLang="zh-CN" b="0"/>
              <a:t>4</a:t>
            </a:r>
            <a:r>
              <a:rPr lang="zh-CN" altLang="en-US" b="0"/>
              <a:t>）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2063552" y="980728"/>
            <a:ext cx="18256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转置矩阵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88133" y="1684529"/>
            <a:ext cx="4734669" cy="395313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22802" y="1667356"/>
            <a:ext cx="3715724" cy="398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9085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-16836" y="433231"/>
            <a:ext cx="1189961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solidFill>
                  <a:srgbClr val="FFFF00"/>
                </a:solidFill>
                <a:ea typeface="黑体" panose="02010609060101010101" pitchFamily="49" charset="-122"/>
              </a:rPr>
              <a:t>证</a:t>
            </a:r>
            <a:r>
              <a:rPr lang="zh-CN" altLang="en-US" dirty="0">
                <a:solidFill>
                  <a:srgbClr val="FFFF00"/>
                </a:solidFill>
              </a:rPr>
              <a:t>     </a:t>
            </a:r>
            <a:endParaRPr lang="en-US" altLang="zh-CN" b="0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589687" y="446687"/>
            <a:ext cx="1403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/>
              <a:t>设</a:t>
            </a:r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658416"/>
              </p:ext>
            </p:extLst>
          </p:nvPr>
        </p:nvGraphicFramePr>
        <p:xfrm>
          <a:off x="1172300" y="314000"/>
          <a:ext cx="4824413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90" imgH="257310" progId="Equation.DSMT4">
                  <p:embed/>
                </p:oleObj>
              </mc:Choice>
              <mc:Fallback>
                <p:oleObj name="Equation" r:id="rId2" imgW="1524090" imgH="2573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2300" y="314000"/>
                        <a:ext cx="4824413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40856"/>
              </p:ext>
            </p:extLst>
          </p:nvPr>
        </p:nvGraphicFramePr>
        <p:xfrm>
          <a:off x="719510" y="1068987"/>
          <a:ext cx="7252993" cy="756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00401" imgH="218970" progId="Equation.DSMT4">
                  <p:embed/>
                </p:oleObj>
              </mc:Choice>
              <mc:Fallback>
                <p:oleObj name="Equation" r:id="rId4" imgW="2400401" imgH="2189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510" y="1068987"/>
                        <a:ext cx="7252993" cy="756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200326"/>
              </p:ext>
            </p:extLst>
          </p:nvPr>
        </p:nvGraphicFramePr>
        <p:xfrm>
          <a:off x="5128280" y="1416568"/>
          <a:ext cx="2979738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27000" imgH="431640" progId="Equation.DSMT4">
                  <p:embed/>
                </p:oleObj>
              </mc:Choice>
              <mc:Fallback>
                <p:oleObj name="Equation" r:id="rId6" imgW="927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8280" y="1416568"/>
                        <a:ext cx="2979738" cy="147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54374" y="1028239"/>
            <a:ext cx="9366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/>
              <a:t>记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-134114" y="1806958"/>
            <a:ext cx="53276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/>
              <a:t>于是按矩阵乘法的定义，有 </a:t>
            </a:r>
          </a:p>
        </p:txBody>
      </p:sp>
      <p:grpSp>
        <p:nvGrpSpPr>
          <p:cNvPr id="9" name="Group 25"/>
          <p:cNvGrpSpPr>
            <a:grpSpLocks/>
          </p:cNvGrpSpPr>
          <p:nvPr/>
        </p:nvGrpSpPr>
        <p:grpSpPr bwMode="auto">
          <a:xfrm>
            <a:off x="2312" y="4978435"/>
            <a:ext cx="5938838" cy="896938"/>
            <a:chOff x="538" y="2910"/>
            <a:chExt cx="3741" cy="565"/>
          </a:xfrm>
        </p:grpSpPr>
        <p:graphicFrame>
          <p:nvGraphicFramePr>
            <p:cNvPr id="10" name="Object 8"/>
            <p:cNvGraphicFramePr>
              <a:graphicFrameLocks noChangeAspect="1"/>
            </p:cNvGraphicFramePr>
            <p:nvPr/>
          </p:nvGraphicFramePr>
          <p:xfrm>
            <a:off x="855" y="2992"/>
            <a:ext cx="420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80989" imgH="152280" progId="Equation.DSMT4">
                    <p:embed/>
                  </p:oleObj>
                </mc:Choice>
                <mc:Fallback>
                  <p:oleObj name="Equation" r:id="rId8" imgW="180989" imgH="152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5" y="2992"/>
                          <a:ext cx="420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538" y="2976"/>
              <a:ext cx="45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0" dirty="0"/>
                <a:t>而</a:t>
              </a:r>
            </a:p>
          </p:txBody>
        </p:sp>
        <p:sp>
          <p:nvSpPr>
            <p:cNvPr id="12" name="Text Box 13"/>
            <p:cNvSpPr txBox="1">
              <a:spLocks noChangeArrowheads="1"/>
            </p:cNvSpPr>
            <p:nvPr/>
          </p:nvSpPr>
          <p:spPr bwMode="auto">
            <a:xfrm>
              <a:off x="1218" y="2976"/>
              <a:ext cx="72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0" dirty="0"/>
                <a:t>的第</a:t>
              </a:r>
            </a:p>
          </p:txBody>
        </p:sp>
        <p:graphicFrame>
          <p:nvGraphicFramePr>
            <p:cNvPr id="13" name="Object 14"/>
            <p:cNvGraphicFramePr>
              <a:graphicFrameLocks noChangeAspect="1"/>
            </p:cNvGraphicFramePr>
            <p:nvPr/>
          </p:nvGraphicFramePr>
          <p:xfrm>
            <a:off x="1792" y="3003"/>
            <a:ext cx="18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7543" imgH="123930" progId="Equation.DSMT4">
                    <p:embed/>
                  </p:oleObj>
                </mc:Choice>
                <mc:Fallback>
                  <p:oleObj name="Equation" r:id="rId10" imgW="47543" imgH="1239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2" y="3003"/>
                          <a:ext cx="181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2281045"/>
                </p:ext>
              </p:extLst>
            </p:nvPr>
          </p:nvGraphicFramePr>
          <p:xfrm>
            <a:off x="2538" y="2910"/>
            <a:ext cx="1741" cy="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850680" imgH="241200" progId="Equation.DSMT4">
                    <p:embed/>
                  </p:oleObj>
                </mc:Choice>
                <mc:Fallback>
                  <p:oleObj name="Equation" r:id="rId12" imgW="850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8" y="2910"/>
                          <a:ext cx="1741" cy="5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19"/>
            <p:cNvSpPr txBox="1">
              <a:spLocks noChangeArrowheads="1"/>
            </p:cNvSpPr>
            <p:nvPr/>
          </p:nvSpPr>
          <p:spPr bwMode="auto">
            <a:xfrm>
              <a:off x="1944" y="2976"/>
              <a:ext cx="72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0" dirty="0"/>
                <a:t>行为</a:t>
              </a:r>
            </a:p>
          </p:txBody>
        </p:sp>
      </p:grpSp>
      <p:grpSp>
        <p:nvGrpSpPr>
          <p:cNvPr id="16" name="Group 24"/>
          <p:cNvGrpSpPr>
            <a:grpSpLocks/>
          </p:cNvGrpSpPr>
          <p:nvPr/>
        </p:nvGrpSpPr>
        <p:grpSpPr bwMode="auto">
          <a:xfrm>
            <a:off x="5909706" y="4873876"/>
            <a:ext cx="5562601" cy="884238"/>
            <a:chOff x="872" y="3336"/>
            <a:chExt cx="3504" cy="557"/>
          </a:xfrm>
        </p:grpSpPr>
        <p:sp>
          <p:nvSpPr>
            <p:cNvPr id="17" name="Text Box 22"/>
            <p:cNvSpPr txBox="1">
              <a:spLocks noChangeArrowheads="1"/>
            </p:cNvSpPr>
            <p:nvPr/>
          </p:nvSpPr>
          <p:spPr bwMode="auto">
            <a:xfrm>
              <a:off x="1246" y="3505"/>
              <a:ext cx="68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0" dirty="0"/>
                <a:t>的第</a:t>
              </a:r>
            </a:p>
          </p:txBody>
        </p:sp>
        <p:graphicFrame>
          <p:nvGraphicFramePr>
            <p:cNvPr id="18" name="Object 16"/>
            <p:cNvGraphicFramePr>
              <a:graphicFrameLocks noChangeAspect="1"/>
            </p:cNvGraphicFramePr>
            <p:nvPr/>
          </p:nvGraphicFramePr>
          <p:xfrm>
            <a:off x="872" y="3475"/>
            <a:ext cx="420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80989" imgH="152280" progId="Equation.DSMT4">
                    <p:embed/>
                  </p:oleObj>
                </mc:Choice>
                <mc:Fallback>
                  <p:oleObj name="Equation" r:id="rId14" imgW="180989" imgH="152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2" y="3475"/>
                          <a:ext cx="420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7"/>
            <p:cNvGraphicFramePr>
              <a:graphicFrameLocks noChangeAspect="1"/>
            </p:cNvGraphicFramePr>
            <p:nvPr/>
          </p:nvGraphicFramePr>
          <p:xfrm>
            <a:off x="1760" y="3505"/>
            <a:ext cx="258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85632" imgH="152280" progId="Equation.DSMT4">
                    <p:embed/>
                  </p:oleObj>
                </mc:Choice>
                <mc:Fallback>
                  <p:oleObj name="Equation" r:id="rId16" imgW="85632" imgH="152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0" y="3505"/>
                          <a:ext cx="258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2819742"/>
                </p:ext>
              </p:extLst>
            </p:nvPr>
          </p:nvGraphicFramePr>
          <p:xfrm>
            <a:off x="2648" y="3336"/>
            <a:ext cx="1728" cy="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847677" imgH="218970" progId="Equation.DSMT4">
                    <p:embed/>
                  </p:oleObj>
                </mc:Choice>
                <mc:Fallback>
                  <p:oleObj name="Equation" r:id="rId18" imgW="847677" imgH="21897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8" y="3336"/>
                          <a:ext cx="1728" cy="4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1950" y="3505"/>
              <a:ext cx="70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0" dirty="0"/>
                <a:t>列为</a:t>
              </a:r>
            </a:p>
          </p:txBody>
        </p:sp>
      </p:grpSp>
      <p:grpSp>
        <p:nvGrpSpPr>
          <p:cNvPr id="24" name="Group 14"/>
          <p:cNvGrpSpPr>
            <a:grpSpLocks/>
          </p:cNvGrpSpPr>
          <p:nvPr/>
        </p:nvGrpSpPr>
        <p:grpSpPr bwMode="auto">
          <a:xfrm>
            <a:off x="3079750" y="5661529"/>
            <a:ext cx="5623612" cy="1186720"/>
            <a:chOff x="504" y="537"/>
            <a:chExt cx="3570" cy="861"/>
          </a:xfrm>
        </p:grpSpPr>
        <p:graphicFrame>
          <p:nvGraphicFramePr>
            <p:cNvPr id="25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5269619"/>
                </p:ext>
              </p:extLst>
            </p:nvPr>
          </p:nvGraphicFramePr>
          <p:xfrm>
            <a:off x="1308" y="537"/>
            <a:ext cx="2766" cy="8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498320" imgH="431640" progId="Equation.DSMT4">
                    <p:embed/>
                  </p:oleObj>
                </mc:Choice>
                <mc:Fallback>
                  <p:oleObj name="Equation" r:id="rId20" imgW="149832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8" y="537"/>
                          <a:ext cx="2766" cy="8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13"/>
            <p:cNvSpPr txBox="1">
              <a:spLocks noChangeArrowheads="1"/>
            </p:cNvSpPr>
            <p:nvPr/>
          </p:nvSpPr>
          <p:spPr bwMode="auto">
            <a:xfrm>
              <a:off x="504" y="818"/>
              <a:ext cx="127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0" dirty="0"/>
                <a:t>因此</a:t>
              </a:r>
            </a:p>
          </p:txBody>
        </p:sp>
      </p:grpSp>
      <p:sp>
        <p:nvSpPr>
          <p:cNvPr id="27" name="矩形 26"/>
          <p:cNvSpPr/>
          <p:nvPr/>
        </p:nvSpPr>
        <p:spPr>
          <a:xfrm>
            <a:off x="-37384" y="2696032"/>
            <a:ext cx="100012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dirty="0">
                <a:solidFill>
                  <a:schemeClr val="bg1"/>
                </a:solidFill>
              </a:rPr>
              <a:t>考虑</a:t>
            </a:r>
            <a:r>
              <a:rPr lang="en-US" altLang="zh-CN" b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altLang="zh-CN" b="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AB</a:t>
            </a:r>
            <a:r>
              <a:rPr lang="en-US" altLang="zh-CN" b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  <a:r>
              <a:rPr lang="en-US" altLang="zh-CN" b="0" baseline="3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</a:t>
            </a:r>
            <a:r>
              <a:rPr lang="zh-CN" altLang="en-US" b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的</a:t>
            </a:r>
            <a:r>
              <a:rPr lang="en-US" altLang="zh-CN" b="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</a:t>
            </a:r>
            <a:r>
              <a:rPr lang="zh-CN" altLang="en-US" b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行</a:t>
            </a:r>
            <a:r>
              <a:rPr lang="en-US" altLang="zh-CN" b="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</a:t>
            </a:r>
            <a:r>
              <a:rPr lang="zh-CN" altLang="en-US" b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列</a:t>
            </a:r>
            <a:r>
              <a:rPr lang="zh-CN" altLang="en-US" b="0" dirty="0">
                <a:solidFill>
                  <a:schemeClr val="bg1"/>
                </a:solidFill>
              </a:rPr>
              <a:t>元素，则其为</a:t>
            </a:r>
            <a:r>
              <a:rPr lang="en-US" altLang="zh-CN" b="0" i="1" dirty="0">
                <a:solidFill>
                  <a:srgbClr val="FF0000"/>
                </a:solidFill>
              </a:rPr>
              <a:t>AB</a:t>
            </a:r>
            <a:r>
              <a:rPr lang="zh-CN" altLang="en-US" b="0" dirty="0">
                <a:solidFill>
                  <a:srgbClr val="FF0000"/>
                </a:solidFill>
              </a:rPr>
              <a:t>的</a:t>
            </a:r>
            <a:r>
              <a:rPr lang="en-US" altLang="zh-CN" b="0" i="1" dirty="0">
                <a:solidFill>
                  <a:srgbClr val="FF0000"/>
                </a:solidFill>
              </a:rPr>
              <a:t>j</a:t>
            </a:r>
            <a:r>
              <a:rPr lang="zh-CN" altLang="en-US" b="0" dirty="0">
                <a:solidFill>
                  <a:srgbClr val="FF0000"/>
                </a:solidFill>
              </a:rPr>
              <a:t>行</a:t>
            </a:r>
            <a:r>
              <a:rPr lang="en-US" altLang="zh-CN" b="0" i="1" dirty="0" err="1">
                <a:solidFill>
                  <a:srgbClr val="FF0000"/>
                </a:solidFill>
              </a:rPr>
              <a:t>i</a:t>
            </a:r>
            <a:r>
              <a:rPr lang="zh-CN" altLang="en-US" b="0" dirty="0">
                <a:solidFill>
                  <a:srgbClr val="FF0000"/>
                </a:solidFill>
              </a:rPr>
              <a:t>列</a:t>
            </a:r>
            <a:r>
              <a:rPr lang="zh-CN" altLang="en-US" b="0" dirty="0">
                <a:solidFill>
                  <a:schemeClr val="bg1"/>
                </a:solidFill>
              </a:rPr>
              <a:t>元素；</a:t>
            </a:r>
            <a:endParaRPr lang="en-US" altLang="zh-CN" b="0" dirty="0">
              <a:solidFill>
                <a:schemeClr val="bg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-66268" y="3248849"/>
            <a:ext cx="1177177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chemeClr val="bg1"/>
                </a:solidFill>
              </a:rPr>
              <a:t>2.   </a:t>
            </a:r>
            <a:r>
              <a:rPr lang="zh-CN" altLang="en-US" b="0" dirty="0">
                <a:solidFill>
                  <a:schemeClr val="bg1"/>
                </a:solidFill>
              </a:rPr>
              <a:t>因此，这个元素是</a:t>
            </a:r>
            <a:r>
              <a:rPr lang="en-US" altLang="zh-CN" b="0" i="1" dirty="0">
                <a:solidFill>
                  <a:schemeClr val="bg1"/>
                </a:solidFill>
              </a:rPr>
              <a:t>A</a:t>
            </a:r>
            <a:r>
              <a:rPr lang="zh-CN" altLang="en-US" b="0" dirty="0">
                <a:solidFill>
                  <a:schemeClr val="bg1"/>
                </a:solidFill>
              </a:rPr>
              <a:t>的第</a:t>
            </a:r>
            <a:r>
              <a:rPr lang="en-US" altLang="zh-CN" b="0" i="1" dirty="0">
                <a:solidFill>
                  <a:schemeClr val="bg1"/>
                </a:solidFill>
              </a:rPr>
              <a:t>j</a:t>
            </a:r>
            <a:r>
              <a:rPr lang="zh-CN" altLang="en-US" b="0" dirty="0">
                <a:solidFill>
                  <a:schemeClr val="bg1"/>
                </a:solidFill>
              </a:rPr>
              <a:t>行和</a:t>
            </a:r>
            <a:r>
              <a:rPr lang="en-US" altLang="zh-CN" b="0" i="1" dirty="0">
                <a:solidFill>
                  <a:schemeClr val="bg1"/>
                </a:solidFill>
              </a:rPr>
              <a:t>B</a:t>
            </a:r>
            <a:r>
              <a:rPr lang="zh-CN" altLang="en-US" b="0" dirty="0">
                <a:solidFill>
                  <a:schemeClr val="bg1"/>
                </a:solidFill>
              </a:rPr>
              <a:t>的第</a:t>
            </a:r>
            <a:r>
              <a:rPr lang="en-US" altLang="zh-CN" b="0" i="1" dirty="0" err="1">
                <a:solidFill>
                  <a:schemeClr val="bg1"/>
                </a:solidFill>
              </a:rPr>
              <a:t>i</a:t>
            </a:r>
            <a:r>
              <a:rPr lang="zh-CN" altLang="en-US" b="0" dirty="0">
                <a:solidFill>
                  <a:schemeClr val="bg1"/>
                </a:solidFill>
              </a:rPr>
              <a:t>列依次相乘再求和得到的；</a:t>
            </a:r>
            <a:endParaRPr lang="en-US" altLang="zh-CN" b="0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-54332" y="3875598"/>
            <a:ext cx="1139107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rgbClr val="FF0000"/>
                </a:solidFill>
              </a:rPr>
              <a:t>3.  </a:t>
            </a:r>
            <a:r>
              <a:rPr lang="zh-CN" altLang="en-US" b="0" dirty="0">
                <a:solidFill>
                  <a:srgbClr val="FF0000"/>
                </a:solidFill>
              </a:rPr>
              <a:t>进一步，这个元素是</a:t>
            </a:r>
            <a:r>
              <a:rPr lang="en-US" altLang="zh-CN" b="0" i="1" dirty="0">
                <a:solidFill>
                  <a:srgbClr val="FF0000"/>
                </a:solidFill>
              </a:rPr>
              <a:t>A</a:t>
            </a:r>
            <a:r>
              <a:rPr lang="en-US" altLang="zh-CN" b="0" baseline="30000" dirty="0">
                <a:solidFill>
                  <a:srgbClr val="FF0000"/>
                </a:solidFill>
              </a:rPr>
              <a:t>T</a:t>
            </a:r>
            <a:r>
              <a:rPr lang="zh-CN" altLang="en-US" b="0" dirty="0">
                <a:solidFill>
                  <a:srgbClr val="FF0000"/>
                </a:solidFill>
              </a:rPr>
              <a:t>的第</a:t>
            </a:r>
            <a:r>
              <a:rPr lang="en-US" altLang="zh-CN" b="0" i="1" dirty="0">
                <a:solidFill>
                  <a:srgbClr val="FF0000"/>
                </a:solidFill>
              </a:rPr>
              <a:t>j</a:t>
            </a:r>
            <a:r>
              <a:rPr lang="zh-CN" altLang="en-US" b="0" dirty="0">
                <a:solidFill>
                  <a:srgbClr val="FF0000"/>
                </a:solidFill>
              </a:rPr>
              <a:t>列和</a:t>
            </a:r>
            <a:r>
              <a:rPr lang="en-US" altLang="zh-CN" b="0" i="1" dirty="0">
                <a:solidFill>
                  <a:srgbClr val="FF0000"/>
                </a:solidFill>
              </a:rPr>
              <a:t>B</a:t>
            </a:r>
            <a:r>
              <a:rPr lang="en-US" altLang="zh-CN" b="0" baseline="30000" dirty="0">
                <a:solidFill>
                  <a:srgbClr val="FF0000"/>
                </a:solidFill>
              </a:rPr>
              <a:t>T</a:t>
            </a:r>
            <a:r>
              <a:rPr lang="zh-CN" altLang="en-US" b="0" dirty="0">
                <a:solidFill>
                  <a:srgbClr val="FF0000"/>
                </a:solidFill>
              </a:rPr>
              <a:t>的第</a:t>
            </a:r>
            <a:r>
              <a:rPr lang="en-US" altLang="zh-CN" b="0" i="1" dirty="0" err="1">
                <a:solidFill>
                  <a:srgbClr val="FF0000"/>
                </a:solidFill>
              </a:rPr>
              <a:t>i</a:t>
            </a:r>
            <a:r>
              <a:rPr lang="zh-CN" altLang="en-US" b="0" dirty="0">
                <a:solidFill>
                  <a:srgbClr val="FF0000"/>
                </a:solidFill>
              </a:rPr>
              <a:t>行依次相乘再求和得到的</a:t>
            </a:r>
            <a:r>
              <a:rPr lang="zh-CN" altLang="en-US" b="0" dirty="0">
                <a:solidFill>
                  <a:schemeClr val="bg1"/>
                </a:solidFill>
              </a:rPr>
              <a:t>；</a:t>
            </a:r>
            <a:endParaRPr lang="en-US" altLang="zh-CN" b="0" dirty="0">
              <a:solidFill>
                <a:schemeClr val="bg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-66268" y="4454197"/>
            <a:ext cx="100807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chemeClr val="bg1"/>
                </a:solidFill>
              </a:rPr>
              <a:t>4.  </a:t>
            </a:r>
            <a:r>
              <a:rPr lang="zh-CN" altLang="en-US" b="0" dirty="0">
                <a:solidFill>
                  <a:schemeClr val="bg1"/>
                </a:solidFill>
              </a:rPr>
              <a:t>所以</a:t>
            </a:r>
            <a:r>
              <a:rPr lang="en-US" altLang="zh-CN" b="0">
                <a:solidFill>
                  <a:schemeClr val="bg1"/>
                </a:solidFill>
              </a:rPr>
              <a:t>0</a:t>
            </a:r>
            <a:r>
              <a:rPr lang="zh-CN" altLang="en-US" b="0">
                <a:solidFill>
                  <a:schemeClr val="bg1"/>
                </a:solidFill>
              </a:rPr>
              <a:t>，</a:t>
            </a:r>
            <a:r>
              <a:rPr lang="zh-CN" altLang="en-US" b="0" dirty="0">
                <a:solidFill>
                  <a:schemeClr val="bg1"/>
                </a:solidFill>
              </a:rPr>
              <a:t>它等于乘积矩阵</a:t>
            </a:r>
            <a:r>
              <a:rPr lang="en-US" altLang="zh-CN" b="0" i="1" dirty="0">
                <a:solidFill>
                  <a:schemeClr val="bg1"/>
                </a:solidFill>
              </a:rPr>
              <a:t>B</a:t>
            </a:r>
            <a:r>
              <a:rPr lang="en-US" altLang="zh-CN" b="0" baseline="30000" dirty="0">
                <a:solidFill>
                  <a:schemeClr val="bg1"/>
                </a:solidFill>
              </a:rPr>
              <a:t>T</a:t>
            </a:r>
            <a:r>
              <a:rPr lang="en-US" altLang="zh-CN" b="0" i="1" dirty="0">
                <a:solidFill>
                  <a:schemeClr val="bg1"/>
                </a:solidFill>
              </a:rPr>
              <a:t>A</a:t>
            </a:r>
            <a:r>
              <a:rPr lang="en-US" altLang="zh-CN" b="0" baseline="30000" dirty="0">
                <a:solidFill>
                  <a:schemeClr val="bg1"/>
                </a:solidFill>
              </a:rPr>
              <a:t>T</a:t>
            </a:r>
            <a:r>
              <a:rPr lang="zh-CN" altLang="en-US" b="0" dirty="0">
                <a:solidFill>
                  <a:schemeClr val="bg1"/>
                </a:solidFill>
              </a:rPr>
              <a:t>的第</a:t>
            </a:r>
            <a:r>
              <a:rPr lang="en-US" altLang="zh-CN" b="0" i="1" dirty="0" err="1">
                <a:solidFill>
                  <a:schemeClr val="bg1"/>
                </a:solidFill>
              </a:rPr>
              <a:t>i</a:t>
            </a:r>
            <a:r>
              <a:rPr lang="zh-CN" altLang="en-US" b="0" dirty="0">
                <a:solidFill>
                  <a:schemeClr val="bg1"/>
                </a:solidFill>
              </a:rPr>
              <a:t>行</a:t>
            </a:r>
            <a:r>
              <a:rPr lang="en-US" altLang="zh-CN" b="0" i="1" dirty="0">
                <a:solidFill>
                  <a:schemeClr val="bg1"/>
                </a:solidFill>
              </a:rPr>
              <a:t>j</a:t>
            </a:r>
            <a:r>
              <a:rPr lang="zh-CN" altLang="en-US" b="0" dirty="0">
                <a:solidFill>
                  <a:schemeClr val="bg1"/>
                </a:solidFill>
              </a:rPr>
              <a:t>列；</a:t>
            </a:r>
            <a:endParaRPr lang="en-US" altLang="zh-CN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39885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7" grpId="0" autoUpdateAnimBg="0"/>
      <p:bldP spid="8" grpId="0" autoUpdateAnimBg="0"/>
      <p:bldP spid="27" grpId="0"/>
      <p:bldP spid="28" grpId="0"/>
      <p:bldP spid="29" grpId="0"/>
      <p:bldP spid="3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226873" y="836712"/>
            <a:ext cx="8318500" cy="781050"/>
            <a:chOff x="340" y="1208"/>
            <a:chExt cx="5240" cy="492"/>
          </a:xfrm>
        </p:grpSpPr>
        <p:graphicFrame>
          <p:nvGraphicFramePr>
            <p:cNvPr id="3" name="Object 5"/>
            <p:cNvGraphicFramePr>
              <a:graphicFrameLocks noChangeAspect="1"/>
            </p:cNvGraphicFramePr>
            <p:nvPr/>
          </p:nvGraphicFramePr>
          <p:xfrm>
            <a:off x="993" y="1208"/>
            <a:ext cx="4587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219412" imgH="200070" progId="Equation.DSMT4">
                    <p:embed/>
                  </p:oleObj>
                </mc:Choice>
                <mc:Fallback>
                  <p:oleObj name="Equation" r:id="rId2" imgW="2219412" imgH="20007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3" y="1208"/>
                          <a:ext cx="4587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8"/>
            <p:cNvSpPr txBox="1">
              <a:spLocks noChangeArrowheads="1"/>
            </p:cNvSpPr>
            <p:nvPr/>
          </p:nvSpPr>
          <p:spPr bwMode="auto">
            <a:xfrm>
              <a:off x="340" y="1254"/>
              <a:ext cx="72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0"/>
                <a:t>所以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2774997" y="2029347"/>
            <a:ext cx="2838450" cy="825499"/>
            <a:chOff x="340" y="1745"/>
            <a:chExt cx="1788" cy="520"/>
          </a:xfrm>
        </p:grpSpPr>
        <p:graphicFrame>
          <p:nvGraphicFramePr>
            <p:cNvPr id="6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25072"/>
                </p:ext>
              </p:extLst>
            </p:nvPr>
          </p:nvGraphicFramePr>
          <p:xfrm>
            <a:off x="1073" y="1745"/>
            <a:ext cx="1055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82400" imgH="203040" progId="Equation.DSMT4">
                    <p:embed/>
                  </p:oleObj>
                </mc:Choice>
                <mc:Fallback>
                  <p:oleObj name="Equation" r:id="rId4" imgW="482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3" y="1745"/>
                          <a:ext cx="1055" cy="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340" y="1843"/>
              <a:ext cx="86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0"/>
                <a:t>即</a:t>
              </a:r>
            </a:p>
          </p:txBody>
        </p:sp>
      </p:grpSp>
      <p:grpSp>
        <p:nvGrpSpPr>
          <p:cNvPr id="8" name="Group 17"/>
          <p:cNvGrpSpPr>
            <a:grpSpLocks/>
          </p:cNvGrpSpPr>
          <p:nvPr/>
        </p:nvGrpSpPr>
        <p:grpSpPr bwMode="auto">
          <a:xfrm>
            <a:off x="2577511" y="3230227"/>
            <a:ext cx="4413250" cy="739775"/>
            <a:chOff x="340" y="2387"/>
            <a:chExt cx="2780" cy="466"/>
          </a:xfrm>
        </p:grpSpPr>
        <p:graphicFrame>
          <p:nvGraphicFramePr>
            <p:cNvPr id="9" name="Object 7"/>
            <p:cNvGraphicFramePr>
              <a:graphicFrameLocks noChangeAspect="1"/>
            </p:cNvGraphicFramePr>
            <p:nvPr/>
          </p:nvGraphicFramePr>
          <p:xfrm>
            <a:off x="1111" y="2387"/>
            <a:ext cx="2009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52489" imgH="190620" progId="Equation.DSMT4">
                    <p:embed/>
                  </p:oleObj>
                </mc:Choice>
                <mc:Fallback>
                  <p:oleObj name="Equation" r:id="rId6" imgW="952489" imgH="1906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2387"/>
                          <a:ext cx="2009" cy="4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340" y="2432"/>
              <a:ext cx="99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0"/>
                <a:t>亦即</a:t>
              </a:r>
            </a:p>
          </p:txBody>
        </p:sp>
      </p:grp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427437" y="4263262"/>
            <a:ext cx="57610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/>
              <a:t>由（</a:t>
            </a:r>
            <a:r>
              <a:rPr lang="en-US" altLang="zh-CN" b="0" dirty="0"/>
              <a:t>4</a:t>
            </a:r>
            <a:r>
              <a:rPr lang="zh-CN" altLang="en-US" b="0" dirty="0"/>
              <a:t>），根据数学归纳法可证</a:t>
            </a: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7182326"/>
              </p:ext>
            </p:extLst>
          </p:nvPr>
        </p:nvGraphicFramePr>
        <p:xfrm>
          <a:off x="2567931" y="5191148"/>
          <a:ext cx="5480050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66990" imgH="200070" progId="Equation.DSMT4">
                  <p:embed/>
                </p:oleObj>
              </mc:Choice>
              <mc:Fallback>
                <p:oleObj name="Equation" r:id="rId8" imgW="1666990" imgH="200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931" y="5191148"/>
                        <a:ext cx="5480050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8544272" y="5287986"/>
            <a:ext cx="2632075" cy="588962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若是相加呢？</a:t>
            </a:r>
          </a:p>
        </p:txBody>
      </p:sp>
    </p:spTree>
    <p:extLst>
      <p:ext uri="{BB962C8B-B14F-4D97-AF65-F5344CB8AC3E}">
        <p14:creationId xmlns:p14="http://schemas.microsoft.com/office/powerpoint/2010/main" val="89664064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4653211" y="2357091"/>
            <a:ext cx="4248150" cy="579437"/>
            <a:chOff x="1973" y="1251"/>
            <a:chExt cx="2676" cy="365"/>
          </a:xfrm>
        </p:grpSpPr>
        <p:sp>
          <p:nvSpPr>
            <p:cNvPr id="3" name="Rectangle 5"/>
            <p:cNvSpPr>
              <a:spLocks noChangeArrowheads="1"/>
            </p:cNvSpPr>
            <p:nvPr/>
          </p:nvSpPr>
          <p:spPr bwMode="auto">
            <a:xfrm>
              <a:off x="1973" y="1251"/>
              <a:ext cx="26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0">
                  <a:latin typeface="宋体" panose="02010600030101010101" pitchFamily="2" charset="-122"/>
                </a:rPr>
                <a:t>那么  称为</a:t>
              </a:r>
              <a:r>
                <a:rPr lang="zh-CN" altLang="en-US" b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对称矩阵</a:t>
              </a:r>
              <a:r>
                <a:rPr lang="zh-CN" altLang="en-US" b="0">
                  <a:latin typeface="宋体" panose="02010600030101010101" pitchFamily="2" charset="-122"/>
                </a:rPr>
                <a:t>；</a:t>
              </a:r>
            </a:p>
          </p:txBody>
        </p:sp>
        <p:graphicFrame>
          <p:nvGraphicFramePr>
            <p:cNvPr id="4" name="Object 7"/>
            <p:cNvGraphicFramePr>
              <a:graphicFrameLocks noChangeAspect="1"/>
            </p:cNvGraphicFramePr>
            <p:nvPr/>
          </p:nvGraphicFramePr>
          <p:xfrm>
            <a:off x="2502" y="1258"/>
            <a:ext cx="28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4266" imgH="123930" progId="Equation.DSMT4">
                    <p:embed/>
                  </p:oleObj>
                </mc:Choice>
                <mc:Fallback>
                  <p:oleObj name="Equation" r:id="rId2" imgW="114266" imgH="1239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2" y="1258"/>
                          <a:ext cx="288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4624636" y="2936528"/>
            <a:ext cx="4248150" cy="579438"/>
            <a:chOff x="2136" y="1616"/>
            <a:chExt cx="2676" cy="365"/>
          </a:xfrm>
        </p:grpSpPr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2136" y="1616"/>
              <a:ext cx="26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0">
                  <a:latin typeface="宋体" panose="02010600030101010101" pitchFamily="2" charset="-122"/>
                </a:rPr>
                <a:t>则称  为</a:t>
              </a:r>
              <a:r>
                <a:rPr lang="zh-CN" altLang="en-US" b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反对称矩阵</a:t>
              </a:r>
              <a:r>
                <a:rPr lang="zh-CN" altLang="en-US" b="0">
                  <a:latin typeface="宋体" panose="02010600030101010101" pitchFamily="2" charset="-122"/>
                </a:rPr>
                <a:t>．</a:t>
              </a:r>
            </a:p>
          </p:txBody>
        </p:sp>
        <p:graphicFrame>
          <p:nvGraphicFramePr>
            <p:cNvPr id="7" name="Object 9"/>
            <p:cNvGraphicFramePr>
              <a:graphicFrameLocks noChangeAspect="1"/>
            </p:cNvGraphicFramePr>
            <p:nvPr/>
          </p:nvGraphicFramePr>
          <p:xfrm>
            <a:off x="2683" y="1661"/>
            <a:ext cx="28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4266" imgH="123930" progId="Equation.DSMT4">
                    <p:embed/>
                  </p:oleObj>
                </mc:Choice>
                <mc:Fallback>
                  <p:oleObj name="Equation" r:id="rId4" imgW="114266" imgH="1239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3" y="1661"/>
                          <a:ext cx="288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1871911" y="1514128"/>
            <a:ext cx="4654550" cy="838200"/>
            <a:chOff x="340" y="720"/>
            <a:chExt cx="2932" cy="528"/>
          </a:xfrm>
        </p:grpSpPr>
        <p:graphicFrame>
          <p:nvGraphicFramePr>
            <p:cNvPr id="9" name="Object 4"/>
            <p:cNvGraphicFramePr>
              <a:graphicFrameLocks noChangeAspect="1"/>
            </p:cNvGraphicFramePr>
            <p:nvPr/>
          </p:nvGraphicFramePr>
          <p:xfrm>
            <a:off x="651" y="720"/>
            <a:ext cx="1056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23788" imgH="238140" progId="Equation.DSMT4">
                    <p:embed/>
                  </p:oleObj>
                </mc:Choice>
                <mc:Fallback>
                  <p:oleObj name="Equation" r:id="rId6" imgW="523788" imgH="2381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" y="720"/>
                          <a:ext cx="1056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5"/>
            <p:cNvGraphicFramePr>
              <a:graphicFrameLocks noChangeAspect="1"/>
            </p:cNvGraphicFramePr>
            <p:nvPr/>
          </p:nvGraphicFramePr>
          <p:xfrm>
            <a:off x="1947" y="864"/>
            <a:ext cx="24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5632" imgH="104760" progId="Equation.DSMT4">
                    <p:embed/>
                  </p:oleObj>
                </mc:Choice>
                <mc:Fallback>
                  <p:oleObj name="Equation" r:id="rId8" imgW="85632" imgH="1047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7" y="864"/>
                          <a:ext cx="240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340" y="754"/>
              <a:ext cx="29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0">
                  <a:latin typeface="宋体" panose="02010600030101010101" pitchFamily="2" charset="-122"/>
                </a:rPr>
                <a:t>设        为  阶方阵，</a:t>
              </a:r>
            </a:p>
          </p:txBody>
        </p:sp>
      </p:grpSp>
      <p:grpSp>
        <p:nvGrpSpPr>
          <p:cNvPr id="12" name="Group 21"/>
          <p:cNvGrpSpPr>
            <a:grpSpLocks/>
          </p:cNvGrpSpPr>
          <p:nvPr/>
        </p:nvGrpSpPr>
        <p:grpSpPr bwMode="auto">
          <a:xfrm>
            <a:off x="1844924" y="2863503"/>
            <a:ext cx="2736850" cy="620713"/>
            <a:chOff x="385" y="1570"/>
            <a:chExt cx="1724" cy="391"/>
          </a:xfrm>
        </p:grpSpPr>
        <p:graphicFrame>
          <p:nvGraphicFramePr>
            <p:cNvPr id="13" name="Object 8"/>
            <p:cNvGraphicFramePr>
              <a:graphicFrameLocks noChangeAspect="1"/>
            </p:cNvGraphicFramePr>
            <p:nvPr/>
          </p:nvGraphicFramePr>
          <p:xfrm>
            <a:off x="1029" y="1570"/>
            <a:ext cx="108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33513" imgH="152280" progId="Equation.DSMT4">
                    <p:embed/>
                  </p:oleObj>
                </mc:Choice>
                <mc:Fallback>
                  <p:oleObj name="Equation" r:id="rId10" imgW="533513" imgH="152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9" y="1570"/>
                          <a:ext cx="108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Rectangle 6"/>
            <p:cNvSpPr>
              <a:spLocks noChangeArrowheads="1"/>
            </p:cNvSpPr>
            <p:nvPr/>
          </p:nvSpPr>
          <p:spPr bwMode="auto">
            <a:xfrm>
              <a:off x="385" y="1596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0"/>
                <a:t>如果</a:t>
              </a:r>
            </a:p>
          </p:txBody>
        </p:sp>
      </p:grp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1844924" y="3439766"/>
            <a:ext cx="14081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特点</a:t>
            </a:r>
            <a:r>
              <a:rPr lang="zh-CN" altLang="en-US"/>
              <a:t>：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824286" y="4016028"/>
            <a:ext cx="8553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/>
              <a:t>对称矩阵的元素以主对角线为对称轴对应相等</a:t>
            </a:r>
          </a:p>
        </p:txBody>
      </p:sp>
      <p:grpSp>
        <p:nvGrpSpPr>
          <p:cNvPr id="17" name="Group 19"/>
          <p:cNvGrpSpPr>
            <a:grpSpLocks/>
          </p:cNvGrpSpPr>
          <p:nvPr/>
        </p:nvGrpSpPr>
        <p:grpSpPr bwMode="auto">
          <a:xfrm>
            <a:off x="1844924" y="4589116"/>
            <a:ext cx="7561262" cy="723900"/>
            <a:chOff x="385" y="2657"/>
            <a:chExt cx="4763" cy="456"/>
          </a:xfrm>
        </p:grpSpPr>
        <p:graphicFrame>
          <p:nvGraphicFramePr>
            <p:cNvPr id="18" name="Object 10"/>
            <p:cNvGraphicFramePr>
              <a:graphicFrameLocks noChangeAspect="1"/>
            </p:cNvGraphicFramePr>
            <p:nvPr/>
          </p:nvGraphicFramePr>
          <p:xfrm>
            <a:off x="2028" y="2657"/>
            <a:ext cx="3120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09722" imgH="200070" progId="Equation.DSMT4">
                    <p:embed/>
                  </p:oleObj>
                </mc:Choice>
                <mc:Fallback>
                  <p:oleObj name="Equation" r:id="rId12" imgW="1609722" imgH="20007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8" y="2657"/>
                          <a:ext cx="3120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>
              <a:off x="385" y="2704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0"/>
                <a:t>即有</a:t>
              </a:r>
            </a:p>
          </p:txBody>
        </p:sp>
      </p:grpSp>
      <p:grpSp>
        <p:nvGrpSpPr>
          <p:cNvPr id="20" name="Group 20"/>
          <p:cNvGrpSpPr>
            <a:grpSpLocks/>
          </p:cNvGrpSpPr>
          <p:nvPr/>
        </p:nvGrpSpPr>
        <p:grpSpPr bwMode="auto">
          <a:xfrm>
            <a:off x="1844924" y="5163791"/>
            <a:ext cx="7751762" cy="723900"/>
            <a:chOff x="385" y="3019"/>
            <a:chExt cx="4883" cy="456"/>
          </a:xfrm>
        </p:grpSpPr>
        <p:graphicFrame>
          <p:nvGraphicFramePr>
            <p:cNvPr id="21" name="Object 11"/>
            <p:cNvGraphicFramePr>
              <a:graphicFrameLocks noChangeAspect="1"/>
            </p:cNvGraphicFramePr>
            <p:nvPr/>
          </p:nvGraphicFramePr>
          <p:xfrm>
            <a:off x="2028" y="3019"/>
            <a:ext cx="3240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676445" imgH="200070" progId="Equation.DSMT4">
                    <p:embed/>
                  </p:oleObj>
                </mc:Choice>
                <mc:Fallback>
                  <p:oleObj name="Equation" r:id="rId14" imgW="1676445" imgH="20007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8" y="3019"/>
                          <a:ext cx="3240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12"/>
            <p:cNvSpPr>
              <a:spLocks noChangeArrowheads="1"/>
            </p:cNvSpPr>
            <p:nvPr/>
          </p:nvSpPr>
          <p:spPr bwMode="auto">
            <a:xfrm>
              <a:off x="385" y="3067"/>
              <a:ext cx="16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0"/>
                <a:t>反对称矩阵有</a:t>
              </a:r>
            </a:p>
          </p:txBody>
        </p:sp>
      </p:grpSp>
      <p:sp>
        <p:nvSpPr>
          <p:cNvPr id="23" name="Rectangle 13"/>
          <p:cNvSpPr>
            <a:spLocks noChangeArrowheads="1"/>
          </p:cNvSpPr>
          <p:nvPr/>
        </p:nvSpPr>
        <p:spPr bwMode="auto">
          <a:xfrm>
            <a:off x="1844924" y="5960716"/>
            <a:ext cx="5772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/>
              <a:t>该矩阵主对角线上的元素全为</a:t>
            </a:r>
            <a:r>
              <a:rPr lang="en-US" altLang="zh-CN" b="0"/>
              <a:t>0.</a:t>
            </a:r>
          </a:p>
        </p:txBody>
      </p:sp>
      <p:grpSp>
        <p:nvGrpSpPr>
          <p:cNvPr id="24" name="Group 16"/>
          <p:cNvGrpSpPr>
            <a:grpSpLocks/>
          </p:cNvGrpSpPr>
          <p:nvPr/>
        </p:nvGrpSpPr>
        <p:grpSpPr bwMode="auto">
          <a:xfrm>
            <a:off x="1844924" y="2287241"/>
            <a:ext cx="2447925" cy="650875"/>
            <a:chOff x="385" y="1207"/>
            <a:chExt cx="1542" cy="410"/>
          </a:xfrm>
        </p:grpSpPr>
        <p:graphicFrame>
          <p:nvGraphicFramePr>
            <p:cNvPr id="25" name="Object 6"/>
            <p:cNvGraphicFramePr>
              <a:graphicFrameLocks noChangeAspect="1"/>
            </p:cNvGraphicFramePr>
            <p:nvPr/>
          </p:nvGraphicFramePr>
          <p:xfrm>
            <a:off x="1015" y="1207"/>
            <a:ext cx="912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47610" imgH="152280" progId="Equation.DSMT4">
                    <p:embed/>
                  </p:oleObj>
                </mc:Choice>
                <mc:Fallback>
                  <p:oleObj name="Equation" r:id="rId16" imgW="447610" imgH="152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5" y="1207"/>
                          <a:ext cx="912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Rectangle 14"/>
            <p:cNvSpPr>
              <a:spLocks noChangeArrowheads="1"/>
            </p:cNvSpPr>
            <p:nvPr/>
          </p:nvSpPr>
          <p:spPr bwMode="auto">
            <a:xfrm>
              <a:off x="385" y="1252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0"/>
                <a:t>如果</a:t>
              </a:r>
            </a:p>
          </p:txBody>
        </p:sp>
      </p:grp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919536" y="980728"/>
            <a:ext cx="4287838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b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对称矩阵和反对称矩阵</a:t>
            </a:r>
          </a:p>
        </p:txBody>
      </p:sp>
    </p:spTree>
    <p:extLst>
      <p:ext uri="{BB962C8B-B14F-4D97-AF65-F5344CB8AC3E}">
        <p14:creationId xmlns:p14="http://schemas.microsoft.com/office/powerpoint/2010/main" val="138886062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utoUpdateAnimBg="0"/>
      <p:bldP spid="23" grpId="0" autoUpdateAnimBg="0"/>
      <p:bldP spid="27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0564541"/>
              </p:ext>
            </p:extLst>
          </p:nvPr>
        </p:nvGraphicFramePr>
        <p:xfrm>
          <a:off x="4629647" y="828328"/>
          <a:ext cx="3733800" cy="268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6923" imgH="904770" progId="Equation.DSMT4">
                  <p:embed/>
                </p:oleObj>
              </mc:Choice>
              <mc:Fallback>
                <p:oleObj name="Equation" r:id="rId2" imgW="1266923" imgH="9047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647" y="828328"/>
                        <a:ext cx="3733800" cy="268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5108996"/>
              </p:ext>
            </p:extLst>
          </p:nvPr>
        </p:nvGraphicFramePr>
        <p:xfrm>
          <a:off x="4640759" y="3715991"/>
          <a:ext cx="4321175" cy="273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913" imgH="904770" progId="Equation.DSMT4">
                  <p:embed/>
                </p:oleObj>
              </mc:Choice>
              <mc:Fallback>
                <p:oleObj name="Equation" r:id="rId4" imgW="1447913" imgH="9047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759" y="3715991"/>
                        <a:ext cx="4321175" cy="273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280147" y="4647853"/>
            <a:ext cx="2216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/>
              <a:t>反对称矩阵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327772" y="1915766"/>
            <a:ext cx="1809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/>
              <a:t>对称矩阵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351584" y="980728"/>
            <a:ext cx="1403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b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形式：</a:t>
            </a:r>
          </a:p>
        </p:txBody>
      </p:sp>
    </p:spTree>
    <p:extLst>
      <p:ext uri="{BB962C8B-B14F-4D97-AF65-F5344CB8AC3E}">
        <p14:creationId xmlns:p14="http://schemas.microsoft.com/office/powerpoint/2010/main" val="291735010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767408" y="1124744"/>
            <a:ext cx="10153128" cy="13795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0"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</a:t>
            </a:r>
            <a:r>
              <a:rPr kumimoji="0" lang="zh-CN" altLang="en-US" dirty="0">
                <a:solidFill>
                  <a:srgbClr val="FFFF00"/>
                </a:solidFill>
              </a:rPr>
              <a:t> </a:t>
            </a:r>
            <a:r>
              <a:rPr kumimoji="0" lang="zh-CN" altLang="en-US" sz="3600" dirty="0">
                <a:solidFill>
                  <a:schemeClr val="bg1"/>
                </a:solidFill>
              </a:rPr>
              <a:t>设</a:t>
            </a:r>
            <a:r>
              <a:rPr kumimoji="0" lang="en-US" altLang="zh-CN" sz="3600" i="1" dirty="0">
                <a:solidFill>
                  <a:schemeClr val="bg1"/>
                </a:solidFill>
              </a:rPr>
              <a:t>A</a:t>
            </a:r>
            <a:r>
              <a:rPr kumimoji="0" lang="zh-CN" altLang="en-US" sz="3600" dirty="0">
                <a:solidFill>
                  <a:schemeClr val="bg1"/>
                </a:solidFill>
              </a:rPr>
              <a:t>是</a:t>
            </a:r>
            <a:r>
              <a:rPr kumimoji="0" lang="en-US" altLang="zh-CN" sz="3600" i="1" dirty="0">
                <a:solidFill>
                  <a:schemeClr val="bg1"/>
                </a:solidFill>
              </a:rPr>
              <a:t>n</a:t>
            </a:r>
            <a:r>
              <a:rPr kumimoji="0" lang="zh-CN" altLang="en-US" sz="3600" dirty="0">
                <a:solidFill>
                  <a:schemeClr val="bg1"/>
                </a:solidFill>
              </a:rPr>
              <a:t>阶反对称矩阵，</a:t>
            </a:r>
            <a:r>
              <a:rPr kumimoji="0" lang="en-US" altLang="zh-CN" sz="3600" i="1" dirty="0">
                <a:solidFill>
                  <a:schemeClr val="bg1"/>
                </a:solidFill>
              </a:rPr>
              <a:t>B</a:t>
            </a:r>
            <a:r>
              <a:rPr kumimoji="0" lang="zh-CN" altLang="en-US" sz="3600" dirty="0">
                <a:solidFill>
                  <a:schemeClr val="bg1"/>
                </a:solidFill>
              </a:rPr>
              <a:t>是</a:t>
            </a:r>
            <a:r>
              <a:rPr kumimoji="0" lang="en-US" altLang="zh-CN" sz="3600" i="1" dirty="0">
                <a:solidFill>
                  <a:schemeClr val="bg1"/>
                </a:solidFill>
              </a:rPr>
              <a:t>n</a:t>
            </a:r>
            <a:r>
              <a:rPr kumimoji="0" lang="zh-CN" altLang="en-US" sz="3600" dirty="0">
                <a:solidFill>
                  <a:schemeClr val="bg1"/>
                </a:solidFill>
              </a:rPr>
              <a:t>阶对称矩阵，则</a:t>
            </a:r>
            <a:r>
              <a:rPr kumimoji="0" lang="en-US" altLang="zh-CN" sz="3600" i="1" dirty="0">
                <a:solidFill>
                  <a:schemeClr val="bg1"/>
                </a:solidFill>
              </a:rPr>
              <a:t>AB</a:t>
            </a:r>
            <a:r>
              <a:rPr kumimoji="0" lang="en-US" altLang="zh-CN" sz="3600" dirty="0">
                <a:solidFill>
                  <a:schemeClr val="bg1"/>
                </a:solidFill>
              </a:rPr>
              <a:t>+</a:t>
            </a:r>
            <a:r>
              <a:rPr kumimoji="0" lang="en-US" altLang="zh-CN" sz="3600" i="1" dirty="0">
                <a:solidFill>
                  <a:schemeClr val="bg1"/>
                </a:solidFill>
              </a:rPr>
              <a:t>BA</a:t>
            </a:r>
            <a:r>
              <a:rPr kumimoji="0" lang="zh-CN" altLang="en-US" sz="3600" dirty="0">
                <a:solidFill>
                  <a:schemeClr val="bg1"/>
                </a:solidFill>
              </a:rPr>
              <a:t>是</a:t>
            </a:r>
            <a:r>
              <a:rPr kumimoji="0" lang="en-US" altLang="zh-CN" sz="3600" i="1" dirty="0">
                <a:solidFill>
                  <a:schemeClr val="bg1"/>
                </a:solidFill>
              </a:rPr>
              <a:t>n</a:t>
            </a:r>
            <a:r>
              <a:rPr kumimoji="0" lang="zh-CN" altLang="en-US" sz="3600" dirty="0">
                <a:solidFill>
                  <a:schemeClr val="bg1"/>
                </a:solidFill>
              </a:rPr>
              <a:t>阶反对称矩阵。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351584" y="2648744"/>
            <a:ext cx="717550" cy="6477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kumimoji="0" lang="zh-CN" altLang="en-US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142159" y="2648744"/>
            <a:ext cx="68405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因为</a:t>
            </a:r>
            <a:r>
              <a:rPr lang="en-US" altLang="zh-CN" dirty="0"/>
              <a:t>(</a:t>
            </a:r>
            <a:r>
              <a:rPr lang="en-US" altLang="zh-CN" i="1" dirty="0"/>
              <a:t>AB</a:t>
            </a:r>
            <a:r>
              <a:rPr lang="en-US" altLang="zh-CN" dirty="0"/>
              <a:t>+</a:t>
            </a:r>
            <a:r>
              <a:rPr lang="en-US" altLang="zh-CN" i="1" dirty="0"/>
              <a:t>BA</a:t>
            </a:r>
            <a:r>
              <a:rPr lang="en-US" altLang="zh-CN" dirty="0"/>
              <a:t>)</a:t>
            </a:r>
            <a:r>
              <a:rPr lang="en-US" altLang="zh-CN" baseline="30000" dirty="0"/>
              <a:t>T</a:t>
            </a:r>
            <a:r>
              <a:rPr lang="en-US" altLang="zh-CN" dirty="0"/>
              <a:t>=(</a:t>
            </a:r>
            <a:r>
              <a:rPr lang="en-US" altLang="zh-CN" i="1" dirty="0"/>
              <a:t>AB</a:t>
            </a:r>
            <a:r>
              <a:rPr lang="en-US" altLang="zh-CN" dirty="0"/>
              <a:t>)</a:t>
            </a:r>
            <a:r>
              <a:rPr lang="en-US" altLang="zh-CN" baseline="30000" dirty="0"/>
              <a:t>T</a:t>
            </a:r>
            <a:r>
              <a:rPr lang="en-US" altLang="zh-CN" dirty="0"/>
              <a:t>+(</a:t>
            </a:r>
            <a:r>
              <a:rPr lang="en-US" altLang="zh-CN" i="1" dirty="0"/>
              <a:t>BA</a:t>
            </a:r>
            <a:r>
              <a:rPr lang="en-US" altLang="zh-CN" dirty="0"/>
              <a:t>)</a:t>
            </a:r>
            <a:r>
              <a:rPr lang="en-US" altLang="zh-CN" baseline="30000" dirty="0"/>
              <a:t>T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005759" y="3512344"/>
            <a:ext cx="2489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en-US" altLang="zh-CN" baseline="30000" dirty="0"/>
              <a:t>T</a:t>
            </a:r>
            <a:r>
              <a:rPr lang="en-US" altLang="zh-CN" i="1" dirty="0"/>
              <a:t>A</a:t>
            </a:r>
            <a:r>
              <a:rPr lang="en-US" altLang="zh-CN" baseline="30000" dirty="0"/>
              <a:t>T</a:t>
            </a:r>
            <a:r>
              <a:rPr lang="en-US" altLang="zh-CN" dirty="0"/>
              <a:t>+</a:t>
            </a:r>
            <a:r>
              <a:rPr lang="en-US" altLang="zh-CN" i="1" dirty="0"/>
              <a:t>A</a:t>
            </a:r>
            <a:r>
              <a:rPr lang="en-US" altLang="zh-CN" baseline="30000" dirty="0"/>
              <a:t>T</a:t>
            </a:r>
            <a:r>
              <a:rPr lang="en-US" altLang="zh-CN" i="1" dirty="0"/>
              <a:t>B</a:t>
            </a:r>
            <a:r>
              <a:rPr lang="en-US" altLang="zh-CN" baseline="30000" dirty="0"/>
              <a:t>T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005759" y="4304507"/>
            <a:ext cx="25876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en-US" altLang="zh-CN" dirty="0"/>
              <a:t>(-</a:t>
            </a:r>
            <a:r>
              <a:rPr lang="en-US" altLang="zh-CN" i="1" dirty="0"/>
              <a:t>A</a:t>
            </a:r>
            <a:r>
              <a:rPr lang="en-US" altLang="zh-CN" dirty="0"/>
              <a:t>)+(-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en-US" altLang="zh-CN" i="1" dirty="0"/>
              <a:t>B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4005759" y="5096669"/>
            <a:ext cx="22844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= -(</a:t>
            </a:r>
            <a:r>
              <a:rPr lang="en-US" altLang="zh-CN" i="1" dirty="0"/>
              <a:t>AB</a:t>
            </a:r>
            <a:r>
              <a:rPr lang="en-US" altLang="zh-CN" dirty="0"/>
              <a:t>+</a:t>
            </a:r>
            <a:r>
              <a:rPr lang="en-US" altLang="zh-CN" i="1" dirty="0"/>
              <a:t>BA</a:t>
            </a:r>
            <a:r>
              <a:rPr lang="en-US" altLang="zh-CN" dirty="0"/>
              <a:t>)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285034" y="5888832"/>
            <a:ext cx="58356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所以</a:t>
            </a:r>
            <a:r>
              <a:rPr lang="en-US" altLang="zh-CN" i="1" dirty="0"/>
              <a:t>AB</a:t>
            </a:r>
            <a:r>
              <a:rPr lang="en-US" altLang="zh-CN" dirty="0"/>
              <a:t>+</a:t>
            </a:r>
            <a:r>
              <a:rPr lang="en-US" altLang="zh-CN" i="1" dirty="0"/>
              <a:t>BA</a:t>
            </a:r>
            <a:r>
              <a:rPr lang="zh-CN" altLang="en-US" dirty="0"/>
              <a:t>是</a:t>
            </a:r>
            <a:r>
              <a:rPr lang="en-US" altLang="zh-CN" i="1" dirty="0"/>
              <a:t>n</a:t>
            </a:r>
            <a:r>
              <a:rPr lang="zh-CN" altLang="en-US" dirty="0"/>
              <a:t>阶反对称矩阵。</a:t>
            </a:r>
          </a:p>
        </p:txBody>
      </p:sp>
    </p:spTree>
    <p:extLst>
      <p:ext uri="{BB962C8B-B14F-4D97-AF65-F5344CB8AC3E}">
        <p14:creationId xmlns:p14="http://schemas.microsoft.com/office/powerpoint/2010/main" val="411432709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6B59575B-8EE0-4D33-ADC3-56ECBA540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6582" y="3573016"/>
            <a:ext cx="6563015" cy="78483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342900" indent="-342900">
              <a:spcBef>
                <a:spcPct val="20000"/>
              </a:spcBef>
              <a:buClr>
                <a:srgbClr val="E3E3FF"/>
              </a:buClr>
              <a:buFontTx/>
              <a:buNone/>
              <a:defRPr sz="4000" kern="0">
                <a:solidFill>
                  <a:srgbClr val="FFC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45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见书</a:t>
            </a:r>
            <a:r>
              <a:rPr lang="en-US" altLang="zh-CN" sz="45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p107  7</a:t>
            </a:r>
            <a:r>
              <a:rPr lang="zh-CN" altLang="en-US" sz="45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45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zh-CN" altLang="en-US" sz="45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45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,8,9,10,12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E72FA0-540A-4CA0-999A-499E559AEC54}"/>
              </a:ext>
            </a:extLst>
          </p:cNvPr>
          <p:cNvSpPr/>
          <p:nvPr/>
        </p:nvSpPr>
        <p:spPr>
          <a:xfrm>
            <a:off x="4194088" y="2420888"/>
            <a:ext cx="324800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400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作业   </a:t>
            </a:r>
            <a:r>
              <a:rPr lang="en-US" altLang="zh-CN" sz="4400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A</a:t>
            </a:r>
            <a:r>
              <a:rPr lang="zh-CN" altLang="en-US" sz="4400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类题</a:t>
            </a:r>
          </a:p>
        </p:txBody>
      </p:sp>
    </p:spTree>
    <p:extLst>
      <p:ext uri="{BB962C8B-B14F-4D97-AF65-F5344CB8AC3E}">
        <p14:creationId xmlns:p14="http://schemas.microsoft.com/office/powerpoint/2010/main" val="1203256272"/>
      </p:ext>
    </p:extLst>
  </p:cSld>
  <p:clrMapOvr>
    <a:masterClrMapping/>
  </p:clrMapOvr>
  <p:transition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1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2.4|2.1|21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0.4|26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9.8|4.4|19.7|1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28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25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|1.6|1.6|1.1|37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1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0.8|2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3.1|4.9|11.4|14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21.1|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3.8|16|7.1|36.2|15.8"/>
</p:tagLst>
</file>

<file path=ppt/theme/theme1.xml><?xml version="1.0" encoding="utf-8"?>
<a:theme xmlns:a="http://schemas.openxmlformats.org/drawingml/2006/main" name="1_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B2B2B2"/>
      </a:folHlink>
    </a:clrScheme>
    <a:fontScheme name="1_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stealth" w="lg" len="lg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stealth" w="lg" len="lg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16109</TotalTime>
  <Words>1539</Words>
  <Application>Microsoft Office PowerPoint</Application>
  <PresentationFormat>宽屏</PresentationFormat>
  <Paragraphs>227</Paragraphs>
  <Slides>42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42</vt:i4>
      </vt:variant>
    </vt:vector>
  </HeadingPairs>
  <TitlesOfParts>
    <vt:vector size="59" baseType="lpstr">
      <vt:lpstr>CIDFont+F1</vt:lpstr>
      <vt:lpstr>CIDFont+F3</vt:lpstr>
      <vt:lpstr>黑体</vt:lpstr>
      <vt:lpstr>华文楷体</vt:lpstr>
      <vt:lpstr>华文新魏</vt:lpstr>
      <vt:lpstr>楷体</vt:lpstr>
      <vt:lpstr>楷体_GB2312</vt:lpstr>
      <vt:lpstr>宋体</vt:lpstr>
      <vt:lpstr>微软雅黑</vt:lpstr>
      <vt:lpstr>Arial</vt:lpstr>
      <vt:lpstr>Tahoma</vt:lpstr>
      <vt:lpstr>Times New Roman</vt:lpstr>
      <vt:lpstr>1_模板</vt:lpstr>
      <vt:lpstr>Equation</vt:lpstr>
      <vt:lpstr>公式</vt:lpstr>
      <vt:lpstr>Visio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西安通信学院数学教研室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hlai</dc:creator>
  <cp:lastModifiedBy>huihui</cp:lastModifiedBy>
  <cp:revision>390</cp:revision>
  <dcterms:created xsi:type="dcterms:W3CDTF">2000-09-19T09:57:13Z</dcterms:created>
  <dcterms:modified xsi:type="dcterms:W3CDTF">2024-09-18T11:20:43Z</dcterms:modified>
</cp:coreProperties>
</file>