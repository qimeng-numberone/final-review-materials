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8"/>
  </p:notesMasterIdLst>
  <p:handoutMasterIdLst>
    <p:handoutMasterId r:id="rId49"/>
  </p:handoutMasterIdLst>
  <p:sldIdLst>
    <p:sldId id="853" r:id="rId2"/>
    <p:sldId id="849" r:id="rId3"/>
    <p:sldId id="850" r:id="rId4"/>
    <p:sldId id="851" r:id="rId5"/>
    <p:sldId id="852" r:id="rId6"/>
    <p:sldId id="856" r:id="rId7"/>
    <p:sldId id="854" r:id="rId8"/>
    <p:sldId id="855" r:id="rId9"/>
    <p:sldId id="699" r:id="rId10"/>
    <p:sldId id="888" r:id="rId11"/>
    <p:sldId id="884" r:id="rId12"/>
    <p:sldId id="885" r:id="rId13"/>
    <p:sldId id="889" r:id="rId14"/>
    <p:sldId id="890" r:id="rId15"/>
    <p:sldId id="858" r:id="rId16"/>
    <p:sldId id="857" r:id="rId17"/>
    <p:sldId id="859" r:id="rId18"/>
    <p:sldId id="860" r:id="rId19"/>
    <p:sldId id="861" r:id="rId20"/>
    <p:sldId id="862" r:id="rId21"/>
    <p:sldId id="863" r:id="rId22"/>
    <p:sldId id="864" r:id="rId23"/>
    <p:sldId id="865" r:id="rId24"/>
    <p:sldId id="867" r:id="rId25"/>
    <p:sldId id="754" r:id="rId26"/>
    <p:sldId id="756" r:id="rId27"/>
    <p:sldId id="757" r:id="rId28"/>
    <p:sldId id="758" r:id="rId29"/>
    <p:sldId id="866" r:id="rId30"/>
    <p:sldId id="869" r:id="rId31"/>
    <p:sldId id="868" r:id="rId32"/>
    <p:sldId id="871" r:id="rId33"/>
    <p:sldId id="883" r:id="rId34"/>
    <p:sldId id="870" r:id="rId35"/>
    <p:sldId id="873" r:id="rId36"/>
    <p:sldId id="872" r:id="rId37"/>
    <p:sldId id="887" r:id="rId38"/>
    <p:sldId id="874" r:id="rId39"/>
    <p:sldId id="876" r:id="rId40"/>
    <p:sldId id="875" r:id="rId41"/>
    <p:sldId id="877" r:id="rId42"/>
    <p:sldId id="878" r:id="rId43"/>
    <p:sldId id="879" r:id="rId44"/>
    <p:sldId id="880" r:id="rId45"/>
    <p:sldId id="881" r:id="rId46"/>
    <p:sldId id="882" r:id="rId47"/>
  </p:sldIdLst>
  <p:sldSz cx="12192000" cy="6858000"/>
  <p:notesSz cx="6889750" cy="100187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 userDrawn="1">
          <p15:clr>
            <a:srgbClr val="A4A3A4"/>
          </p15:clr>
        </p15:guide>
        <p15:guide id="2" pos="1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8000"/>
    <a:srgbClr val="0000FF"/>
    <a:srgbClr val="FF0000"/>
    <a:srgbClr val="0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1069" autoAdjust="0"/>
  </p:normalViewPr>
  <p:slideViewPr>
    <p:cSldViewPr>
      <p:cViewPr varScale="1">
        <p:scale>
          <a:sx n="86" d="100"/>
          <a:sy n="86" d="100"/>
        </p:scale>
        <p:origin x="126" y="528"/>
      </p:cViewPr>
      <p:guideLst>
        <p:guide orient="horz" pos="3312"/>
        <p:guide pos="1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5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Relationship Id="rId1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7.wmf"/><Relationship Id="rId7" Type="http://schemas.openxmlformats.org/officeDocument/2006/relationships/image" Target="../media/image3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35.wmf"/><Relationship Id="rId5" Type="http://schemas.openxmlformats.org/officeDocument/2006/relationships/image" Target="../media/image9.wmf"/><Relationship Id="rId10" Type="http://schemas.openxmlformats.org/officeDocument/2006/relationships/image" Target="../media/image39.wmf"/><Relationship Id="rId4" Type="http://schemas.openxmlformats.org/officeDocument/2006/relationships/image" Target="../media/image8.wmf"/><Relationship Id="rId9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6.wmf"/><Relationship Id="rId1" Type="http://schemas.openxmlformats.org/officeDocument/2006/relationships/image" Target="../media/image43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6.wmf"/><Relationship Id="rId1" Type="http://schemas.openxmlformats.org/officeDocument/2006/relationships/image" Target="../media/image55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38.wmf"/><Relationship Id="rId7" Type="http://schemas.openxmlformats.org/officeDocument/2006/relationships/image" Target="../media/image60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10" Type="http://schemas.openxmlformats.org/officeDocument/2006/relationships/image" Target="../media/image67.wmf"/><Relationship Id="rId4" Type="http://schemas.openxmlformats.org/officeDocument/2006/relationships/image" Target="../media/image48.wmf"/><Relationship Id="rId9" Type="http://schemas.openxmlformats.org/officeDocument/2006/relationships/image" Target="../media/image6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9.wmf"/><Relationship Id="rId7" Type="http://schemas.openxmlformats.org/officeDocument/2006/relationships/image" Target="../media/image72.emf"/><Relationship Id="rId2" Type="http://schemas.openxmlformats.org/officeDocument/2006/relationships/image" Target="../media/image68.wmf"/><Relationship Id="rId1" Type="http://schemas.openxmlformats.org/officeDocument/2006/relationships/image" Target="../media/image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3.wmf"/><Relationship Id="rId9" Type="http://schemas.openxmlformats.org/officeDocument/2006/relationships/image" Target="../media/image7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4" Type="http://schemas.openxmlformats.org/officeDocument/2006/relationships/image" Target="../media/image9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4" Type="http://schemas.openxmlformats.org/officeDocument/2006/relationships/image" Target="../media/image114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4" Type="http://schemas.openxmlformats.org/officeDocument/2006/relationships/image" Target="../media/image121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153.emf"/><Relationship Id="rId1" Type="http://schemas.openxmlformats.org/officeDocument/2006/relationships/image" Target="../media/image152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emf"/><Relationship Id="rId1" Type="http://schemas.openxmlformats.org/officeDocument/2006/relationships/image" Target="../media/image15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3E508524-BC49-4A87-AAD0-0B992815F064}" type="datetimeFigureOut">
              <a:rPr lang="zh-CN" altLang="en-US" smtClean="0"/>
              <a:t>2022/10/2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02597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CB4F83A0-4505-4F2F-A8BE-6D9EE9E0F8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802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="" xmlns:a16="http://schemas.microsoft.com/office/drawing/2014/main" id="{CDA8BF4E-EAEE-49F4-97F3-AAA0824920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5558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9747" name="Rectangle 3">
            <a:extLst>
              <a:ext uri="{FF2B5EF4-FFF2-40B4-BE49-F238E27FC236}">
                <a16:creationId xmlns="" xmlns:a16="http://schemas.microsoft.com/office/drawing/2014/main" id="{0F59ECDA-FEC6-475D-B19E-D5C94D17D55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2597" y="0"/>
            <a:ext cx="2985558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DA5580BF-FAA4-417C-BB77-8EB68AB04FB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775" y="750888"/>
            <a:ext cx="6680200" cy="3757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9749" name="Rectangle 5">
            <a:extLst>
              <a:ext uri="{FF2B5EF4-FFF2-40B4-BE49-F238E27FC236}">
                <a16:creationId xmlns="" xmlns:a16="http://schemas.microsoft.com/office/drawing/2014/main" id="{93B7CC23-768C-474F-AC50-34CBDEAE11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58889"/>
            <a:ext cx="5511800" cy="450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9750" name="Rectangle 6">
            <a:extLst>
              <a:ext uri="{FF2B5EF4-FFF2-40B4-BE49-F238E27FC236}">
                <a16:creationId xmlns="" xmlns:a16="http://schemas.microsoft.com/office/drawing/2014/main" id="{EA0D39E5-111A-45E3-AE83-626CF195DB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6038"/>
            <a:ext cx="2985558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9751" name="Rectangle 7">
            <a:extLst>
              <a:ext uri="{FF2B5EF4-FFF2-40B4-BE49-F238E27FC236}">
                <a16:creationId xmlns="" xmlns:a16="http://schemas.microsoft.com/office/drawing/2014/main" id="{353AB398-CF51-4F28-ACB4-DA9FE03D95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2597" y="9516038"/>
            <a:ext cx="2985558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C8F9CAD-3276-43D9-B974-1E2747851F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14453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今天我抽到的讲课</a:t>
            </a:r>
            <a:r>
              <a:rPr lang="zh-CN" altLang="en-US" smtClean="0"/>
              <a:t>题目是余子式与代数余子式。</a:t>
            </a:r>
            <a:r>
              <a:rPr lang="zh-CN" altLang="en-US" dirty="0" smtClean="0"/>
              <a:t>同学们有去过艾菲尔铁塔的吗？有（木有），去看过的同学们有木有注意到艾菲尔铁塔的这个地方镌刻着</a:t>
            </a:r>
            <a:r>
              <a:rPr lang="en-US" altLang="zh-CN" dirty="0" smtClean="0"/>
              <a:t>72</a:t>
            </a:r>
            <a:r>
              <a:rPr lang="zh-CN" altLang="en-US" dirty="0" smtClean="0"/>
              <a:t>位法国科学家、工程师，这里面就包括被誉为法国科学家的拉普拉斯。拉普拉斯在数学上做出了巨大的贡献，其中就包括他在</a:t>
            </a:r>
            <a:r>
              <a:rPr lang="en-US" altLang="zh-CN" dirty="0" smtClean="0"/>
              <a:t>1772</a:t>
            </a:r>
            <a:r>
              <a:rPr lang="zh-CN" altLang="en-US" dirty="0" smtClean="0"/>
              <a:t>年的论文中给出了行列式展开的一般形式，现在称为拉普拉斯定理。主要是用来简化行列式的计算。不过，首先我们得学余子式与代数余子式。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21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首先我们来看三阶行列式怎样通过二阶行列式来表示。像这种去掉某一行某一列所剩下的</a:t>
            </a:r>
            <a:r>
              <a:rPr lang="en-US" altLang="zh-CN" dirty="0" smtClean="0"/>
              <a:t>n-1</a:t>
            </a:r>
            <a:r>
              <a:rPr lang="zh-CN" altLang="en-US" dirty="0" smtClean="0"/>
              <a:t>阶行列，我们给取名为余子式。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639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好好板书余子式和代数余子式（已被总结时用）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6176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接下里思考余子式和代数余子式之间的关系。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652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="" xmlns:a16="http://schemas.microsoft.com/office/drawing/2014/main" id="{52EE48DB-65B5-4B94-AAA9-9F79A07069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5001" indent="-301923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7694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90771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3849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56926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40004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23081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06159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482297-889C-44DF-A630-A19FD440914F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="" xmlns:a16="http://schemas.microsoft.com/office/drawing/2014/main" id="{57F5181D-B6D1-4091-BDC1-022EDC10DC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775" y="750888"/>
            <a:ext cx="6680200" cy="3757612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="" xmlns:a16="http://schemas.microsoft.com/office/drawing/2014/main" id="{7235A476-9621-43F4-90A6-9DCDA1C5C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2988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首先我们来看三阶行列式怎样通过二阶行列式来表示。像这种去掉某一行某一列所剩下的</a:t>
            </a:r>
            <a:r>
              <a:rPr lang="en-US" altLang="zh-CN" dirty="0" smtClean="0"/>
              <a:t>n-1</a:t>
            </a:r>
            <a:r>
              <a:rPr lang="zh-CN" altLang="en-US" dirty="0" smtClean="0"/>
              <a:t>阶行列，我们给取名为余子式。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4527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举个例子来说明引理的意思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4619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稍事轻松一下，我们来聊聊拉普拉斯。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8F9CAD-3276-43D9-B974-1E2747851FDA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30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="" xmlns:a16="http://schemas.microsoft.com/office/drawing/2014/main" id="{515BDF3E-4FD9-48A3-8BAF-4487709A06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5001" indent="-301923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7694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90771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3849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56926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40004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23081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06159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57BC95-5502-4139-8EDD-CE8548B1EE92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="" xmlns:a16="http://schemas.microsoft.com/office/drawing/2014/main" id="{F5AF6062-8F81-4902-B8A5-D09DD5B4CC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775" y="750888"/>
            <a:ext cx="6680200" cy="3757612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="" xmlns:a16="http://schemas.microsoft.com/office/drawing/2014/main" id="{1892EEAA-56B4-44F3-A8B8-3CED47A1D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Char char="•"/>
            </a:pPr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2888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="" xmlns:a16="http://schemas.microsoft.com/office/drawing/2014/main" id="{379AF869-02ED-4D4F-860F-E6500BF653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5001" indent="-301923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7694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90771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3849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56926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40004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23081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06159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52794F3-4933-4D65-9F50-96CB25D5645E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="" xmlns:a16="http://schemas.microsoft.com/office/drawing/2014/main" id="{41BDD37F-0A91-4906-AA7A-FE07FFDC6A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775" y="750888"/>
            <a:ext cx="6680200" cy="3757612"/>
          </a:xfrm>
          <a:ln/>
        </p:spPr>
      </p:sp>
      <p:sp>
        <p:nvSpPr>
          <p:cNvPr id="27652" name="Rectangle 3">
            <a:extLst>
              <a:ext uri="{FF2B5EF4-FFF2-40B4-BE49-F238E27FC236}">
                <a16:creationId xmlns="" xmlns:a16="http://schemas.microsoft.com/office/drawing/2014/main" id="{968DDE16-D517-4DD8-84A2-F9BEBC25D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GB" dirty="0">
                <a:ea typeface="宋体" panose="02010600030101010101" pitchFamily="2" charset="-122"/>
              </a:rPr>
              <a:t> 数学物理方程</a:t>
            </a:r>
            <a:r>
              <a:rPr lang="zh-CN" altLang="en-GB" dirty="0" smtClean="0">
                <a:ea typeface="宋体" panose="02010600030101010101" pitchFamily="2" charset="-122"/>
              </a:rPr>
              <a:t>。</a:t>
            </a:r>
            <a:r>
              <a:rPr lang="zh-CN" altLang="en-US" dirty="0" smtClean="0">
                <a:ea typeface="宋体" panose="02010600030101010101" pitchFamily="2" charset="-122"/>
              </a:rPr>
              <a:t>同时也把这句话送给同学们，做一名好学的谦虚学生。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5386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="" xmlns:a16="http://schemas.microsoft.com/office/drawing/2014/main" id="{F9378B30-9897-45F0-A2EC-853D5AA93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5001" indent="-301923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7694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90771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3849" indent="-241539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56926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40004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23081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06159" indent="-241539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6A7CE7-E4A8-4809-AD00-4B3511B3FF24}" type="slidenum">
              <a:rPr lang="en-US" altLang="zh-CN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="" xmlns:a16="http://schemas.microsoft.com/office/drawing/2014/main" id="{89F7C165-CE58-4810-A541-F9E4937EE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775" y="750888"/>
            <a:ext cx="6680200" cy="37576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="" xmlns:a16="http://schemas.microsoft.com/office/drawing/2014/main" id="{E26C1ABE-3B72-46F7-8C7B-D31D963A8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GB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256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="" xmlns:a16="http://schemas.microsoft.com/office/drawing/2014/main" id="{677005EC-39A7-4A82-9893-846BF71AD4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68008" y="116632"/>
            <a:ext cx="55922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000" smtClean="0">
                <a:solidFill>
                  <a:schemeClr val="bg1"/>
                </a:solidFill>
              </a:rPr>
              <a:t>第六讲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78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74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8" r:id="rId2"/>
    <p:sldLayoutId id="2147483739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hyperlink" Target="http://en.wikipedia.org/wiki/File:Eiffel_Tower_(72_names).jpg" TargetMode="Externa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9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29" Type="http://schemas.openxmlformats.org/officeDocument/2006/relationships/image" Target="../media/image23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20.bin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8.wmf"/><Relationship Id="rId31" Type="http://schemas.openxmlformats.org/officeDocument/2006/relationships/image" Target="../media/image24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2.wmf"/><Relationship Id="rId30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39.bin"/><Relationship Id="rId26" Type="http://schemas.openxmlformats.org/officeDocument/2006/relationships/image" Target="../media/image42.emf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38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36.wmf"/><Relationship Id="rId25" Type="http://schemas.openxmlformats.org/officeDocument/2006/relationships/image" Target="../media/image41.e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8.wmf"/><Relationship Id="rId24" Type="http://schemas.openxmlformats.org/officeDocument/2006/relationships/image" Target="../media/image40.emf"/><Relationship Id="rId5" Type="http://schemas.openxmlformats.org/officeDocument/2006/relationships/image" Target="../media/image5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37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9.bin"/><Relationship Id="rId25" Type="http://schemas.openxmlformats.org/officeDocument/2006/relationships/image" Target="../media/image5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3.e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image" Target="../media/image52.emf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0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61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59.bin"/><Relationship Id="rId25" Type="http://schemas.openxmlformats.org/officeDocument/2006/relationships/image" Target="../media/image66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6.bin"/><Relationship Id="rId24" Type="http://schemas.openxmlformats.org/officeDocument/2006/relationships/image" Target="../media/image65.emf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23" Type="http://schemas.openxmlformats.org/officeDocument/2006/relationships/image" Target="../media/image64.e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9.wmf"/><Relationship Id="rId22" Type="http://schemas.openxmlformats.org/officeDocument/2006/relationships/image" Target="../media/image6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8.wmf"/><Relationship Id="rId18" Type="http://schemas.openxmlformats.org/officeDocument/2006/relationships/image" Target="../media/image52.emf"/><Relationship Id="rId26" Type="http://schemas.openxmlformats.org/officeDocument/2006/relationships/image" Target="../media/image62.w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4.bin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50.wmf"/><Relationship Id="rId25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7.bin"/><Relationship Id="rId20" Type="http://schemas.openxmlformats.org/officeDocument/2006/relationships/image" Target="../media/image54.emf"/><Relationship Id="rId29" Type="http://schemas.openxmlformats.org/officeDocument/2006/relationships/image" Target="../media/image66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11" Type="http://schemas.openxmlformats.org/officeDocument/2006/relationships/image" Target="../media/image42.emf"/><Relationship Id="rId24" Type="http://schemas.openxmlformats.org/officeDocument/2006/relationships/image" Target="../media/image61.wmf"/><Relationship Id="rId5" Type="http://schemas.openxmlformats.org/officeDocument/2006/relationships/oleObject" Target="../embeddings/oleObject63.bin"/><Relationship Id="rId15" Type="http://schemas.openxmlformats.org/officeDocument/2006/relationships/image" Target="../media/image49.wmf"/><Relationship Id="rId23" Type="http://schemas.openxmlformats.org/officeDocument/2006/relationships/oleObject" Target="../embeddings/oleObject69.bin"/><Relationship Id="rId28" Type="http://schemas.openxmlformats.org/officeDocument/2006/relationships/image" Target="../media/image65.emf"/><Relationship Id="rId10" Type="http://schemas.openxmlformats.org/officeDocument/2006/relationships/image" Target="../media/image41.emf"/><Relationship Id="rId19" Type="http://schemas.openxmlformats.org/officeDocument/2006/relationships/image" Target="../media/image53.emf"/><Relationship Id="rId31" Type="http://schemas.openxmlformats.org/officeDocument/2006/relationships/image" Target="../media/image67.wmf"/><Relationship Id="rId4" Type="http://schemas.openxmlformats.org/officeDocument/2006/relationships/image" Target="../media/image36.wmf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66.bin"/><Relationship Id="rId22" Type="http://schemas.openxmlformats.org/officeDocument/2006/relationships/image" Target="../media/image60.wmf"/><Relationship Id="rId27" Type="http://schemas.openxmlformats.org/officeDocument/2006/relationships/image" Target="../media/image64.emf"/><Relationship Id="rId30" Type="http://schemas.openxmlformats.org/officeDocument/2006/relationships/oleObject" Target="../embeddings/oleObject7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2.e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7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8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8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8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8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95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0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0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e/e3/Pierre-Simon_Laplace.jp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1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11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2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1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1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7" Type="http://schemas.openxmlformats.org/officeDocument/2006/relationships/image" Target="../media/image1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2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3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3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50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5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7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0.e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49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53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52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55.e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5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>
            <a:extLst>
              <a:ext uri="{FF2B5EF4-FFF2-40B4-BE49-F238E27FC236}">
                <a16:creationId xmlns="" xmlns:a16="http://schemas.microsoft.com/office/drawing/2014/main" id="{4C7F15C1-2D22-4BCC-9D14-FF4E742DE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227" y="3063418"/>
            <a:ext cx="2736304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余子式</a:t>
            </a:r>
            <a:r>
              <a:rPr lang="zh-CN" altLang="en-US" sz="4000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endParaRPr lang="en-US" altLang="zh-CN" sz="4000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4000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代数余子式</a:t>
            </a:r>
            <a:endParaRPr lang="zh-CN" altLang="en-US" sz="4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341323"/>
              </p:ext>
            </p:extLst>
          </p:nvPr>
        </p:nvGraphicFramePr>
        <p:xfrm>
          <a:off x="335360" y="969830"/>
          <a:ext cx="5832648" cy="482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4" name="Equation" r:id="rId4" imgW="4089240" imgH="3682800" progId="Equation.DSMT4">
                  <p:embed/>
                </p:oleObj>
              </mc:Choice>
              <mc:Fallback>
                <p:oleObj name="Equation" r:id="rId4" imgW="4089240" imgH="368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60" y="969830"/>
                        <a:ext cx="5832648" cy="4826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3" descr="Eiffel Tower (72 names).jpg">
            <a:hlinkClick r:id="rId6"/>
            <a:extLst>
              <a:ext uri="{FF2B5EF4-FFF2-40B4-BE49-F238E27FC236}">
                <a16:creationId xmlns="" xmlns:a16="http://schemas.microsoft.com/office/drawing/2014/main" id="{5A7AC240-E576-435A-BA1E-A62F9AE8A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692696"/>
            <a:ext cx="7657269" cy="585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A96A9090-5651-4CF4-8B6C-B9F722D42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608" y="4524962"/>
            <a:ext cx="3168352" cy="34419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EB2E482B-0C0D-4F75-91E8-443E3383BBF7}"/>
              </a:ext>
            </a:extLst>
          </p:cNvPr>
          <p:cNvSpPr/>
          <p:nvPr/>
        </p:nvSpPr>
        <p:spPr>
          <a:xfrm>
            <a:off x="5112856" y="2882110"/>
            <a:ext cx="2423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kern="0" dirty="0">
                <a:solidFill>
                  <a:srgbClr val="F8FDFE"/>
                </a:solidFill>
                <a:latin typeface="宋体" panose="02010600030101010101" pitchFamily="2" charset="-122"/>
                <a:cs typeface="+mj-cs"/>
                <a:sym typeface="+mn-ea"/>
              </a:rPr>
              <a:t>镌刻着</a:t>
            </a:r>
            <a:r>
              <a:rPr lang="en-US" altLang="zh-CN" kern="0" dirty="0">
                <a:solidFill>
                  <a:srgbClr val="F8FDFE"/>
                </a:solidFill>
                <a:latin typeface="宋体" panose="02010600030101010101" pitchFamily="2" charset="-122"/>
                <a:cs typeface="+mj-cs"/>
                <a:sym typeface="+mn-ea"/>
              </a:rPr>
              <a:t>72</a:t>
            </a:r>
            <a:r>
              <a:rPr lang="zh-CN" altLang="en-US" kern="0" dirty="0">
                <a:solidFill>
                  <a:srgbClr val="F8FDFE"/>
                </a:solidFill>
                <a:latin typeface="宋体" panose="02010600030101010101" pitchFamily="2" charset="-122"/>
                <a:cs typeface="+mj-cs"/>
                <a:sym typeface="+mn-ea"/>
              </a:rPr>
              <a:t>位法国科学家、工程师的艾菲尔铁塔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027">
            <a:extLst>
              <a:ext uri="{FF2B5EF4-FFF2-40B4-BE49-F238E27FC236}">
                <a16:creationId xmlns="" xmlns:a16="http://schemas.microsoft.com/office/drawing/2014/main" id="{037B8C38-4423-4CB3-81BC-BF79C0A46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86886"/>
              </p:ext>
            </p:extLst>
          </p:nvPr>
        </p:nvGraphicFramePr>
        <p:xfrm>
          <a:off x="4887152" y="948648"/>
          <a:ext cx="5277562" cy="970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Equation" r:id="rId4" imgW="3314520" imgH="609480" progId="Equation.DSMT4">
                  <p:embed/>
                </p:oleObj>
              </mc:Choice>
              <mc:Fallback>
                <p:oleObj name="Equation" r:id="rId4" imgW="3314520" imgH="609480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152" y="948648"/>
                        <a:ext cx="5277562" cy="970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53937"/>
              </p:ext>
            </p:extLst>
          </p:nvPr>
        </p:nvGraphicFramePr>
        <p:xfrm>
          <a:off x="2403583" y="719219"/>
          <a:ext cx="2185278" cy="1676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9" name="Equation" r:id="rId6" imgW="927000" imgH="711000" progId="Equation.DSMT4">
                  <p:embed/>
                </p:oleObj>
              </mc:Choice>
              <mc:Fallback>
                <p:oleObj name="Equation" r:id="rId6" imgW="927000" imgH="711000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583" y="719219"/>
                        <a:ext cx="2185278" cy="1676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30">
            <a:extLst>
              <a:ext uri="{FF2B5EF4-FFF2-40B4-BE49-F238E27FC236}">
                <a16:creationId xmlns="" xmlns:a16="http://schemas.microsoft.com/office/drawing/2014/main" id="{0136B654-165A-460A-AB56-789134DB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370" y="885664"/>
            <a:ext cx="2232225" cy="43043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Line 1031">
            <a:extLst>
              <a:ext uri="{FF2B5EF4-FFF2-40B4-BE49-F238E27FC236}">
                <a16:creationId xmlns="" xmlns:a16="http://schemas.microsoft.com/office/drawing/2014/main" id="{A31C1DEE-A2E0-4932-8FA7-1E9AFD42B6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6128" y="1418465"/>
            <a:ext cx="1427993" cy="1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1032">
            <a:extLst>
              <a:ext uri="{FF2B5EF4-FFF2-40B4-BE49-F238E27FC236}">
                <a16:creationId xmlns="" xmlns:a16="http://schemas.microsoft.com/office/drawing/2014/main" id="{864611FD-A61A-4AAF-B276-618038AC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7878" y="1947331"/>
            <a:ext cx="1372116" cy="4536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Line 1033">
            <a:extLst>
              <a:ext uri="{FF2B5EF4-FFF2-40B4-BE49-F238E27FC236}">
                <a16:creationId xmlns="" xmlns:a16="http://schemas.microsoft.com/office/drawing/2014/main" id="{FC9DDACB-522B-432C-BDB3-2CA90D84B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497" y="1418467"/>
            <a:ext cx="1322022" cy="1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Line 1034">
            <a:extLst>
              <a:ext uri="{FF2B5EF4-FFF2-40B4-BE49-F238E27FC236}">
                <a16:creationId xmlns="" xmlns:a16="http://schemas.microsoft.com/office/drawing/2014/main" id="{6469BFF9-76DE-484A-BB8B-602A1AC87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016" y="1947331"/>
            <a:ext cx="1372116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Line 1035">
            <a:extLst>
              <a:ext uri="{FF2B5EF4-FFF2-40B4-BE49-F238E27FC236}">
                <a16:creationId xmlns="" xmlns:a16="http://schemas.microsoft.com/office/drawing/2014/main" id="{388DDF36-1EF5-40F2-899B-C81216AAB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5319" y="1418467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Line 1036">
            <a:extLst>
              <a:ext uri="{FF2B5EF4-FFF2-40B4-BE49-F238E27FC236}">
                <a16:creationId xmlns="" xmlns:a16="http://schemas.microsoft.com/office/drawing/2014/main" id="{90549FF7-FEE7-4D48-B696-7FB419D68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37719" y="1947331"/>
            <a:ext cx="1361593" cy="45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4" name="Object 1037">
            <a:extLst>
              <a:ext uri="{FF2B5EF4-FFF2-40B4-BE49-F238E27FC236}">
                <a16:creationId xmlns="" xmlns:a16="http://schemas.microsoft.com/office/drawing/2014/main" id="{A9406ECD-C5F7-46C1-A58B-E12DB8097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533996"/>
              </p:ext>
            </p:extLst>
          </p:nvPr>
        </p:nvGraphicFramePr>
        <p:xfrm>
          <a:off x="4979730" y="2141637"/>
          <a:ext cx="264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0" name="Equation" r:id="rId8" imgW="2641320" imgH="444240" progId="Equation.DSMT4">
                  <p:embed/>
                </p:oleObj>
              </mc:Choice>
              <mc:Fallback>
                <p:oleObj name="Equation" r:id="rId8" imgW="2641320" imgH="444240" progId="Equation.DSMT4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730" y="2141637"/>
                        <a:ext cx="264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38">
            <a:extLst>
              <a:ext uri="{FF2B5EF4-FFF2-40B4-BE49-F238E27FC236}">
                <a16:creationId xmlns="" xmlns:a16="http://schemas.microsoft.com/office/drawing/2014/main" id="{95D949B5-3F41-4A28-B05B-2A60D23E1B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903255"/>
              </p:ext>
            </p:extLst>
          </p:nvPr>
        </p:nvGraphicFramePr>
        <p:xfrm>
          <a:off x="7658607" y="2167743"/>
          <a:ext cx="256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1" name="Equation" r:id="rId10" imgW="2565360" imgH="444240" progId="Equation.DSMT4">
                  <p:embed/>
                </p:oleObj>
              </mc:Choice>
              <mc:Fallback>
                <p:oleObj name="Equation" r:id="rId10" imgW="2565360" imgH="444240" progId="Equation.DSMT4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8607" y="2167743"/>
                        <a:ext cx="2565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39">
            <a:extLst>
              <a:ext uri="{FF2B5EF4-FFF2-40B4-BE49-F238E27FC236}">
                <a16:creationId xmlns="" xmlns:a16="http://schemas.microsoft.com/office/drawing/2014/main" id="{F1590F3C-0590-4058-9F3F-446A297C7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845498"/>
              </p:ext>
            </p:extLst>
          </p:nvPr>
        </p:nvGraphicFramePr>
        <p:xfrm>
          <a:off x="5272823" y="2671417"/>
          <a:ext cx="2578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2" name="Equation" r:id="rId12" imgW="2577960" imgH="444240" progId="Equation.DSMT4">
                  <p:embed/>
                </p:oleObj>
              </mc:Choice>
              <mc:Fallback>
                <p:oleObj name="Equation" r:id="rId12" imgW="2577960" imgH="444240" progId="Equation.DSMT4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823" y="2671417"/>
                        <a:ext cx="2578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993768"/>
              </p:ext>
            </p:extLst>
          </p:nvPr>
        </p:nvGraphicFramePr>
        <p:xfrm>
          <a:off x="5164397" y="3722320"/>
          <a:ext cx="5782519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3" name="Equation" r:id="rId14" imgW="4851360" imgH="914400" progId="Equation.DSMT4">
                  <p:embed/>
                </p:oleObj>
              </mc:Choice>
              <mc:Fallback>
                <p:oleObj name="Equation" r:id="rId14" imgW="4851360" imgH="914400" progId="Equation.DSMT4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397" y="3722320"/>
                        <a:ext cx="5782519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041">
            <a:extLst>
              <a:ext uri="{FF2B5EF4-FFF2-40B4-BE49-F238E27FC236}">
                <a16:creationId xmlns="" xmlns:a16="http://schemas.microsoft.com/office/drawing/2014/main" id="{11542C69-F9CB-489F-BC41-AB04DF6A7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1874" y="728109"/>
            <a:ext cx="0" cy="1600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Line 1042">
            <a:extLst>
              <a:ext uri="{FF2B5EF4-FFF2-40B4-BE49-F238E27FC236}">
                <a16:creationId xmlns="" xmlns:a16="http://schemas.microsoft.com/office/drawing/2014/main" id="{0290D355-008C-4E11-A60D-88F43CB8F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696" y="732498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Line 1043">
            <a:extLst>
              <a:ext uri="{FF2B5EF4-FFF2-40B4-BE49-F238E27FC236}">
                <a16:creationId xmlns="" xmlns:a16="http://schemas.microsoft.com/office/drawing/2014/main" id="{D0B16F86-415E-4CC0-8ADA-1FB933432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800" y="783633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58AED3EC-DA1E-4DA2-A39A-A0F56A8D50D9}"/>
              </a:ext>
            </a:extLst>
          </p:cNvPr>
          <p:cNvSpPr/>
          <p:nvPr/>
        </p:nvSpPr>
        <p:spPr>
          <a:xfrm>
            <a:off x="6061156" y="-5082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b="1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引例</a:t>
            </a:r>
          </a:p>
        </p:txBody>
      </p:sp>
      <p:sp>
        <p:nvSpPr>
          <p:cNvPr id="2" name="右箭头 1"/>
          <p:cNvSpPr/>
          <p:nvPr/>
        </p:nvSpPr>
        <p:spPr bwMode="auto">
          <a:xfrm rot="2407435">
            <a:off x="2207937" y="3245176"/>
            <a:ext cx="3106550" cy="479293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E4307694-7C6E-4DB8-885F-AFFEC5C8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542" y="2524447"/>
            <a:ext cx="1824471" cy="15696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可见，三阶行列式可通过二阶行列式来表示．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7">
            <a:extLst>
              <a:ext uri="{FF2B5EF4-FFF2-40B4-BE49-F238E27FC236}">
                <a16:creationId xmlns="" xmlns:a16="http://schemas.microsoft.com/office/drawing/2014/main" id="{613D77D1-D466-4FBD-93FE-14F1A5B81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718" y="3884722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</a:t>
            </a:r>
            <a:endParaRPr lang="zh-CN" altLang="en-US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0" name="Object 18">
            <a:extLst>
              <a:ext uri="{FF2B5EF4-FFF2-40B4-BE49-F238E27FC236}">
                <a16:creationId xmlns="" xmlns:a16="http://schemas.microsoft.com/office/drawing/2014/main" id="{3949FB58-B920-49E2-80B1-AB5EDF546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191370"/>
              </p:ext>
            </p:extLst>
          </p:nvPr>
        </p:nvGraphicFramePr>
        <p:xfrm>
          <a:off x="2721803" y="3837003"/>
          <a:ext cx="3758706" cy="228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4" name="Equation" r:id="rId4" imgW="3073320" imgH="1866600" progId="Equation.DSMT4">
                  <p:embed/>
                </p:oleObj>
              </mc:Choice>
              <mc:Fallback>
                <p:oleObj name="Equation" r:id="rId4" imgW="3073320" imgH="1866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803" y="3837003"/>
                        <a:ext cx="3758706" cy="2283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>
            <a:extLst>
              <a:ext uri="{FF2B5EF4-FFF2-40B4-BE49-F238E27FC236}">
                <a16:creationId xmlns="" xmlns:a16="http://schemas.microsoft.com/office/drawing/2014/main" id="{8793C46E-300D-4C45-8035-04B7571B1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319335"/>
              </p:ext>
            </p:extLst>
          </p:nvPr>
        </p:nvGraphicFramePr>
        <p:xfrm>
          <a:off x="6804783" y="4171170"/>
          <a:ext cx="3164478" cy="164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5" name="Equation" r:id="rId6" imgW="2679480" imgH="1396800" progId="Equation.DSMT4">
                  <p:embed/>
                </p:oleObj>
              </mc:Choice>
              <mc:Fallback>
                <p:oleObj name="Equation" r:id="rId6" imgW="2679480" imgH="1396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783" y="4171170"/>
                        <a:ext cx="3164478" cy="1649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7">
            <a:extLst>
              <a:ext uri="{FF2B5EF4-FFF2-40B4-BE49-F238E27FC236}">
                <a16:creationId xmlns="" xmlns:a16="http://schemas.microsoft.com/office/drawing/2014/main" id="{731EBB46-1D96-4BFE-98F0-08229465FA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466500"/>
              </p:ext>
            </p:extLst>
          </p:nvPr>
        </p:nvGraphicFramePr>
        <p:xfrm>
          <a:off x="2665413" y="6235700"/>
          <a:ext cx="2578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6" name="Equation" r:id="rId8" imgW="2577960" imgH="647640" progId="Equation.DSMT4">
                  <p:embed/>
                </p:oleObj>
              </mc:Choice>
              <mc:Fallback>
                <p:oleObj name="Equation" r:id="rId8" imgW="2577960" imgH="6476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6235700"/>
                        <a:ext cx="2578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8">
            <a:extLst>
              <a:ext uri="{FF2B5EF4-FFF2-40B4-BE49-F238E27FC236}">
                <a16:creationId xmlns="" xmlns:a16="http://schemas.microsoft.com/office/drawing/2014/main" id="{A7262C52-28CC-4559-8C60-279B1F12DD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266088"/>
              </p:ext>
            </p:extLst>
          </p:nvPr>
        </p:nvGraphicFramePr>
        <p:xfrm>
          <a:off x="5357813" y="6356350"/>
          <a:ext cx="116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7" name="Equation" r:id="rId10" imgW="1168200" imgH="482400" progId="Equation.DSMT4">
                  <p:embed/>
                </p:oleObj>
              </mc:Choice>
              <mc:Fallback>
                <p:oleObj name="Equation" r:id="rId10" imgW="1168200" imgH="4824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6356350"/>
                        <a:ext cx="1168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D3402109-8A40-4A50-BE7A-871AB2FD9282}"/>
              </a:ext>
            </a:extLst>
          </p:cNvPr>
          <p:cNvGrpSpPr/>
          <p:nvPr/>
        </p:nvGrpSpPr>
        <p:grpSpPr>
          <a:xfrm>
            <a:off x="1809139" y="1377407"/>
            <a:ext cx="8287222" cy="2125699"/>
            <a:chOff x="91697" y="733427"/>
            <a:chExt cx="8579234" cy="2125699"/>
          </a:xfrm>
        </p:grpSpPr>
        <p:grpSp>
          <p:nvGrpSpPr>
            <p:cNvPr id="6146" name="Group 2">
              <a:extLst>
                <a:ext uri="{FF2B5EF4-FFF2-40B4-BE49-F238E27FC236}">
                  <a16:creationId xmlns="" xmlns:a16="http://schemas.microsoft.com/office/drawing/2014/main" id="{F223D716-FAA8-4C13-9A8D-A94643096B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500" y="733427"/>
              <a:ext cx="7696200" cy="1373188"/>
              <a:chOff x="600" y="2419"/>
              <a:chExt cx="4848" cy="865"/>
            </a:xfrm>
          </p:grpSpPr>
          <p:sp>
            <p:nvSpPr>
              <p:cNvPr id="5" name="Text Box 3">
                <a:extLst>
                  <a:ext uri="{FF2B5EF4-FFF2-40B4-BE49-F238E27FC236}">
                    <a16:creationId xmlns="" xmlns:a16="http://schemas.microsoft.com/office/drawing/2014/main" id="{4FF4A8DF-0EEA-4AF2-8491-6536BD2BC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" y="2419"/>
                <a:ext cx="4848" cy="8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  阶行列式中，把元素   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所在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的第  行和第    列划去后，留下来的     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阶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行列式叫做元素      的余子式，记作</a:t>
                </a:r>
              </a:p>
            </p:txBody>
          </p:sp>
          <p:graphicFrame>
            <p:nvGraphicFramePr>
              <p:cNvPr id="6162" name="Object 4">
                <a:extLst>
                  <a:ext uri="{FF2B5EF4-FFF2-40B4-BE49-F238E27FC236}">
                    <a16:creationId xmlns="" xmlns:a16="http://schemas.microsoft.com/office/drawing/2014/main" id="{9412C54E-9A3F-4DCA-8091-F45D58714F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1898856"/>
                  </p:ext>
                </p:extLst>
              </p:nvPr>
            </p:nvGraphicFramePr>
            <p:xfrm>
              <a:off x="905" y="2542"/>
              <a:ext cx="127" cy="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38" name="Equation" r:id="rId12" imgW="203040" imgH="215640" progId="Equation.DSMT4">
                      <p:embed/>
                    </p:oleObj>
                  </mc:Choice>
                  <mc:Fallback>
                    <p:oleObj name="Equation" r:id="rId12" imgW="203040" imgH="215640" progId="Equation.DSMT4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5" y="2542"/>
                            <a:ext cx="127" cy="135"/>
                          </a:xfrm>
                          <a:prstGeom prst="rect">
                            <a:avLst/>
                          </a:prstGeom>
                          <a:solidFill>
                            <a:srgbClr val="FFC000"/>
                          </a:solidFill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3" name="Object 5">
                <a:extLst>
                  <a:ext uri="{FF2B5EF4-FFF2-40B4-BE49-F238E27FC236}">
                    <a16:creationId xmlns="" xmlns:a16="http://schemas.microsoft.com/office/drawing/2014/main" id="{8ED2F91B-82ED-4037-BD86-00425A54431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033267"/>
                  </p:ext>
                </p:extLst>
              </p:nvPr>
            </p:nvGraphicFramePr>
            <p:xfrm>
              <a:off x="3092" y="2481"/>
              <a:ext cx="247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39" name="Equation" r:id="rId14" imgW="304560" imgH="431640" progId="Equation.DSMT4">
                      <p:embed/>
                    </p:oleObj>
                  </mc:Choice>
                  <mc:Fallback>
                    <p:oleObj name="Equation" r:id="rId14" imgW="304560" imgH="43164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2" y="2481"/>
                            <a:ext cx="247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4" name="Object 6">
                <a:extLst>
                  <a:ext uri="{FF2B5EF4-FFF2-40B4-BE49-F238E27FC236}">
                    <a16:creationId xmlns="" xmlns:a16="http://schemas.microsoft.com/office/drawing/2014/main" id="{E5517037-A61A-47FF-A08B-2635F5027B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6800999"/>
                  </p:ext>
                </p:extLst>
              </p:nvPr>
            </p:nvGraphicFramePr>
            <p:xfrm>
              <a:off x="4237" y="2505"/>
              <a:ext cx="8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40" name="Equation" r:id="rId16" imgW="126720" imgH="266400" progId="Equation.DSMT4">
                      <p:embed/>
                    </p:oleObj>
                  </mc:Choice>
                  <mc:Fallback>
                    <p:oleObj name="Equation" r:id="rId16" imgW="126720" imgH="26640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7" y="2505"/>
                            <a:ext cx="80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5" name="Object 7">
                <a:extLst>
                  <a:ext uri="{FF2B5EF4-FFF2-40B4-BE49-F238E27FC236}">
                    <a16:creationId xmlns="" xmlns:a16="http://schemas.microsoft.com/office/drawing/2014/main" id="{DAED06C3-BB32-4860-AAD7-C9259C14322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6606371"/>
                  </p:ext>
                </p:extLst>
              </p:nvPr>
            </p:nvGraphicFramePr>
            <p:xfrm>
              <a:off x="5006" y="2490"/>
              <a:ext cx="128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41" name="Equation" r:id="rId18" imgW="203040" imgH="330120" progId="Equation.DSMT4">
                      <p:embed/>
                    </p:oleObj>
                  </mc:Choice>
                  <mc:Fallback>
                    <p:oleObj name="Equation" r:id="rId18" imgW="203040" imgH="33012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6" y="2490"/>
                            <a:ext cx="128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6" name="Object 8">
                <a:extLst>
                  <a:ext uri="{FF2B5EF4-FFF2-40B4-BE49-F238E27FC236}">
                    <a16:creationId xmlns="" xmlns:a16="http://schemas.microsoft.com/office/drawing/2014/main" id="{DD67978E-3092-4FBF-ABD6-14825F14FB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897548"/>
                  </p:ext>
                </p:extLst>
              </p:nvPr>
            </p:nvGraphicFramePr>
            <p:xfrm>
              <a:off x="2794" y="2756"/>
              <a:ext cx="376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42" name="Equation" r:id="rId20" imgW="596880" imgH="291960" progId="Equation.DSMT4">
                      <p:embed/>
                    </p:oleObj>
                  </mc:Choice>
                  <mc:Fallback>
                    <p:oleObj name="Equation" r:id="rId20" imgW="596880" imgH="291960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4" y="2756"/>
                            <a:ext cx="376" cy="184"/>
                          </a:xfrm>
                          <a:prstGeom prst="rect">
                            <a:avLst/>
                          </a:prstGeom>
                          <a:solidFill>
                            <a:srgbClr val="C00000"/>
                          </a:solidFill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7" name="Object 9">
                <a:extLst>
                  <a:ext uri="{FF2B5EF4-FFF2-40B4-BE49-F238E27FC236}">
                    <a16:creationId xmlns="" xmlns:a16="http://schemas.microsoft.com/office/drawing/2014/main" id="{F524A5B0-0500-4743-9244-B70B38DD27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6864949"/>
                  </p:ext>
                </p:extLst>
              </p:nvPr>
            </p:nvGraphicFramePr>
            <p:xfrm>
              <a:off x="5095" y="2716"/>
              <a:ext cx="247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43" name="Equation" r:id="rId22" imgW="304560" imgH="431640" progId="Equation.DSMT4">
                      <p:embed/>
                    </p:oleObj>
                  </mc:Choice>
                  <mc:Fallback>
                    <p:oleObj name="Equation" r:id="rId22" imgW="304560" imgH="43164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95" y="2716"/>
                            <a:ext cx="247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8" name="Object 10">
                <a:extLst>
                  <a:ext uri="{FF2B5EF4-FFF2-40B4-BE49-F238E27FC236}">
                    <a16:creationId xmlns="" xmlns:a16="http://schemas.microsoft.com/office/drawing/2014/main" id="{EE18D37E-979E-4CD2-98AD-B96C67BDF9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75573773"/>
                  </p:ext>
                </p:extLst>
              </p:nvPr>
            </p:nvGraphicFramePr>
            <p:xfrm>
              <a:off x="2312" y="3009"/>
              <a:ext cx="335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44" name="Equation" r:id="rId24" imgW="533160" imgH="431640" progId="Equation.DSMT4">
                      <p:embed/>
                    </p:oleObj>
                  </mc:Choice>
                  <mc:Fallback>
                    <p:oleObj name="Equation" r:id="rId24" imgW="533160" imgH="43164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12" y="3009"/>
                            <a:ext cx="335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9" name="Line 11">
                <a:extLst>
                  <a:ext uri="{FF2B5EF4-FFF2-40B4-BE49-F238E27FC236}">
                    <a16:creationId xmlns="" xmlns:a16="http://schemas.microsoft.com/office/drawing/2014/main" id="{6D91B24F-6D8D-4308-BB19-6E4DFE9095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5" y="3281"/>
                <a:ext cx="720" cy="0"/>
              </a:xfrm>
              <a:prstGeom prst="line">
                <a:avLst/>
              </a:prstGeom>
              <a:noFill/>
              <a:ln w="476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5" name="Group 13">
              <a:extLst>
                <a:ext uri="{FF2B5EF4-FFF2-40B4-BE49-F238E27FC236}">
                  <a16:creationId xmlns="" xmlns:a16="http://schemas.microsoft.com/office/drawing/2014/main" id="{B885BD11-64BD-486C-ABAF-E6D872023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499" y="2265357"/>
              <a:ext cx="7718432" cy="523875"/>
              <a:chOff x="-918" y="3663"/>
              <a:chExt cx="4862" cy="330"/>
            </a:xfrm>
          </p:grpSpPr>
          <p:sp>
            <p:nvSpPr>
              <p:cNvPr id="16" name="Text Box 14">
                <a:extLst>
                  <a:ext uri="{FF2B5EF4-FFF2-40B4-BE49-F238E27FC236}">
                    <a16:creationId xmlns="" xmlns:a16="http://schemas.microsoft.com/office/drawing/2014/main" id="{8F7F67C2-7A03-4F6D-9FBB-C06A151284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18" y="3663"/>
                <a:ext cx="486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记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    ，    叫做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元素    的代数余子式．</a:t>
                </a:r>
                <a:endPara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graphicFrame>
            <p:nvGraphicFramePr>
              <p:cNvPr id="6160" name="Object 15">
                <a:extLst>
                  <a:ext uri="{FF2B5EF4-FFF2-40B4-BE49-F238E27FC236}">
                    <a16:creationId xmlns="" xmlns:a16="http://schemas.microsoft.com/office/drawing/2014/main" id="{678F935D-7560-4772-BE4B-FE65632328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2340850"/>
                  </p:ext>
                </p:extLst>
              </p:nvPr>
            </p:nvGraphicFramePr>
            <p:xfrm>
              <a:off x="2005" y="3692"/>
              <a:ext cx="288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445" name="Equation" r:id="rId26" imgW="304560" imgH="431640" progId="Equation.DSMT4">
                      <p:embed/>
                    </p:oleObj>
                  </mc:Choice>
                  <mc:Fallback>
                    <p:oleObj name="Equation" r:id="rId26" imgW="304560" imgH="431640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5" y="3692"/>
                            <a:ext cx="288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" name="Line 16">
              <a:extLst>
                <a:ext uri="{FF2B5EF4-FFF2-40B4-BE49-F238E27FC236}">
                  <a16:creationId xmlns="" xmlns:a16="http://schemas.microsoft.com/office/drawing/2014/main" id="{39EF3AFD-8266-4569-A164-14DC3BFD8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9075" y="2787519"/>
              <a:ext cx="1676400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158" name="矩形 2">
              <a:extLst>
                <a:ext uri="{FF2B5EF4-FFF2-40B4-BE49-F238E27FC236}">
                  <a16:creationId xmlns="" xmlns:a16="http://schemas.microsoft.com/office/drawing/2014/main" id="{C8EE2F31-625E-4B71-8818-23279F2D1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97" y="749302"/>
              <a:ext cx="9064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定义</a:t>
              </a:r>
            </a:p>
          </p:txBody>
        </p:sp>
        <p:graphicFrame>
          <p:nvGraphicFramePr>
            <p:cNvPr id="14" name="Object 12">
              <a:extLst>
                <a:ext uri="{FF2B5EF4-FFF2-40B4-BE49-F238E27FC236}">
                  <a16:creationId xmlns="" xmlns:a16="http://schemas.microsoft.com/office/drawing/2014/main" id="{89C8E7DC-6E88-4946-98ED-945A22CD24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7085367"/>
                </p:ext>
              </p:extLst>
            </p:nvPr>
          </p:nvGraphicFramePr>
          <p:xfrm>
            <a:off x="1436688" y="2338426"/>
            <a:ext cx="19939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46" name="Equation" r:id="rId28" imgW="1993680" imgH="520560" progId="Equation.DSMT4">
                    <p:embed/>
                  </p:oleObj>
                </mc:Choice>
                <mc:Fallback>
                  <p:oleObj name="Equation" r:id="rId28" imgW="1993680" imgH="52056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688" y="2338426"/>
                          <a:ext cx="19939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28324122-799A-4AAD-8698-2D2519265802}"/>
              </a:ext>
            </a:extLst>
          </p:cNvPr>
          <p:cNvSpPr/>
          <p:nvPr/>
        </p:nvSpPr>
        <p:spPr>
          <a:xfrm>
            <a:off x="3838364" y="572775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余子式、代数余子式</a:t>
            </a:r>
          </a:p>
        </p:txBody>
      </p:sp>
      <p:graphicFrame>
        <p:nvGraphicFramePr>
          <p:cNvPr id="28" name="Object 10">
            <a:extLst>
              <a:ext uri="{FF2B5EF4-FFF2-40B4-BE49-F238E27FC236}">
                <a16:creationId xmlns="" xmlns:a16="http://schemas.microsoft.com/office/drawing/2014/main" id="{EE18D37E-979E-4CD2-98AD-B96C67BDF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016170"/>
              </p:ext>
            </p:extLst>
          </p:nvPr>
        </p:nvGraphicFramePr>
        <p:xfrm>
          <a:off x="5262775" y="2959013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7" name="Equation" r:id="rId30" imgW="342720" imgH="431640" progId="Equation.DSMT4">
                  <p:embed/>
                </p:oleObj>
              </mc:Choice>
              <mc:Fallback>
                <p:oleObj name="Equation" r:id="rId30" imgW="342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2775" y="2959013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3">
            <a:extLst>
              <a:ext uri="{FF2B5EF4-FFF2-40B4-BE49-F238E27FC236}">
                <a16:creationId xmlns="" xmlns:a16="http://schemas.microsoft.com/office/drawing/2014/main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992" y="4515043"/>
            <a:ext cx="2996049" cy="463550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Rectangle 14">
            <a:extLst>
              <a:ext uri="{FF2B5EF4-FFF2-40B4-BE49-F238E27FC236}">
                <a16:creationId xmlns="" xmlns:a16="http://schemas.microsoft.com/office/drawing/2014/main" id="{2AF43E4E-2306-449F-8CDF-2E526967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644" y="3978907"/>
            <a:ext cx="576262" cy="2138710"/>
          </a:xfrm>
          <a:prstGeom prst="rect">
            <a:avLst/>
          </a:prstGeom>
          <a:solidFill>
            <a:schemeClr val="tx1">
              <a:lumMod val="40000"/>
              <a:lumOff val="60000"/>
              <a:alpha val="40000"/>
            </a:scheme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="" xmlns:a16="http://schemas.microsoft.com/office/drawing/2014/main" id="{51ABAB56-D4F0-487E-A97F-BD4F33A6D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671608"/>
              </p:ext>
            </p:extLst>
          </p:nvPr>
        </p:nvGraphicFramePr>
        <p:xfrm>
          <a:off x="2626698" y="819150"/>
          <a:ext cx="3545503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9" name="Equation" r:id="rId4" imgW="3187440" imgH="1866600" progId="Equation.DSMT4">
                  <p:embed/>
                </p:oleObj>
              </mc:Choice>
              <mc:Fallback>
                <p:oleObj name="Equation" r:id="rId4" imgW="3187440" imgH="1866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698" y="819150"/>
                        <a:ext cx="3545503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="" xmlns:a16="http://schemas.microsoft.com/office/drawing/2014/main" id="{1142F0B2-E6E9-4C94-87BD-D4E5499F9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497556"/>
              </p:ext>
            </p:extLst>
          </p:nvPr>
        </p:nvGraphicFramePr>
        <p:xfrm>
          <a:off x="6623297" y="1029432"/>
          <a:ext cx="3275210" cy="1652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0" name="Equation" r:id="rId6" imgW="2768400" imgH="1396800" progId="Equation.DSMT4">
                  <p:embed/>
                </p:oleObj>
              </mc:Choice>
              <mc:Fallback>
                <p:oleObj name="Equation" r:id="rId6" imgW="2768400" imgH="139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297" y="1029432"/>
                        <a:ext cx="3275210" cy="1652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EFDF871-202E-473B-8F51-6DCFBB487E28}"/>
              </a:ext>
            </a:extLst>
          </p:cNvPr>
          <p:cNvSpPr txBox="1"/>
          <p:nvPr/>
        </p:nvSpPr>
        <p:spPr>
          <a:xfrm>
            <a:off x="1703512" y="5657671"/>
            <a:ext cx="9419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3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行列式的每个元素分别对应着一个余子式和一个代数余子式。</a:t>
            </a:r>
          </a:p>
        </p:txBody>
      </p:sp>
      <p:graphicFrame>
        <p:nvGraphicFramePr>
          <p:cNvPr id="16" name="Object 6">
            <a:extLst>
              <a:ext uri="{FF2B5EF4-FFF2-40B4-BE49-F238E27FC236}">
                <a16:creationId xmlns="" xmlns:a16="http://schemas.microsoft.com/office/drawing/2014/main" id="{6C85A6D5-BE99-48F1-90A4-E26FF874B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55000"/>
              </p:ext>
            </p:extLst>
          </p:nvPr>
        </p:nvGraphicFramePr>
        <p:xfrm>
          <a:off x="2667000" y="3062288"/>
          <a:ext cx="39147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1" name="Equation" r:id="rId8" imgW="3098520" imgH="507960" progId="Equation.DSMT4">
                  <p:embed/>
                </p:oleObj>
              </mc:Choice>
              <mc:Fallback>
                <p:oleObj name="Equation" r:id="rId8" imgW="3098520" imgH="507960" progId="Equation.DSMT4">
                  <p:embed/>
                  <p:pic>
                    <p:nvPicPr>
                      <p:cNvPr id="15" name="Object 6">
                        <a:extLst>
                          <a:ext uri="{FF2B5EF4-FFF2-40B4-BE49-F238E27FC236}">
                            <a16:creationId xmlns="" xmlns:a16="http://schemas.microsoft.com/office/drawing/2014/main" id="{BF355F3F-825E-4974-A583-B84754D62B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62288"/>
                        <a:ext cx="39147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="" xmlns:a16="http://schemas.microsoft.com/office/drawing/2014/main" id="{80BC3C7F-8F7E-478E-80A5-1B04AD3D52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405675"/>
              </p:ext>
            </p:extLst>
          </p:nvPr>
        </p:nvGraphicFramePr>
        <p:xfrm>
          <a:off x="2671763" y="4013200"/>
          <a:ext cx="59436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2" name="Equation" r:id="rId10" imgW="5943600" imgH="1396800" progId="Equation.DSMT4">
                  <p:embed/>
                </p:oleObj>
              </mc:Choice>
              <mc:Fallback>
                <p:oleObj name="Equation" r:id="rId10" imgW="5943600" imgH="139680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="" xmlns:a16="http://schemas.microsoft.com/office/drawing/2014/main" id="{D343AA9B-A921-465F-A0D3-BBA8AB3075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4013200"/>
                        <a:ext cx="59436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>
            <a:extLst>
              <a:ext uri="{FF2B5EF4-FFF2-40B4-BE49-F238E27FC236}">
                <a16:creationId xmlns="" xmlns:a16="http://schemas.microsoft.com/office/drawing/2014/main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440" y="924926"/>
            <a:ext cx="2996049" cy="463550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="" xmlns:a16="http://schemas.microsoft.com/office/drawing/2014/main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502" y="2430607"/>
            <a:ext cx="2996049" cy="46355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="" xmlns:a16="http://schemas.microsoft.com/office/drawing/2014/main" id="{2AF43E4E-2306-449F-8CDF-2E526967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9145" y="786391"/>
            <a:ext cx="576262" cy="2138710"/>
          </a:xfrm>
          <a:prstGeom prst="rect">
            <a:avLst/>
          </a:prstGeom>
          <a:solidFill>
            <a:schemeClr val="tx1">
              <a:lumMod val="40000"/>
              <a:lumOff val="60000"/>
              <a:alpha val="40000"/>
            </a:scheme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2AF43E4E-2306-449F-8CDF-2E526967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062" y="816714"/>
            <a:ext cx="576262" cy="2138710"/>
          </a:xfrm>
          <a:prstGeom prst="rect">
            <a:avLst/>
          </a:prstGeom>
          <a:solidFill>
            <a:srgbClr val="0000FF">
              <a:alpha val="40000"/>
            </a:srgb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="" xmlns:a16="http://schemas.microsoft.com/office/drawing/2014/main" id="{1E318F97-6C7A-45B5-9A88-63D7A0EDD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11637"/>
              </p:ext>
            </p:extLst>
          </p:nvPr>
        </p:nvGraphicFramePr>
        <p:xfrm>
          <a:off x="2450630" y="1012164"/>
          <a:ext cx="5719763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2" name="Equation" r:id="rId3" imgW="5130720" imgH="977760" progId="Equation.DSMT4">
                  <p:embed/>
                </p:oleObj>
              </mc:Choice>
              <mc:Fallback>
                <p:oleObj name="Equation" r:id="rId3" imgW="5130720" imgH="97776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630" y="1012164"/>
                        <a:ext cx="5719763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F1EA9D1F-0CE9-4397-BEEB-CBE8634BA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23" y="2673177"/>
            <a:ext cx="47513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代数余子式添加</a:t>
            </a:r>
            <a:endParaRPr lang="en-US" altLang="zh-CN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的符号：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="" xmlns:a16="http://schemas.microsoft.com/office/drawing/2014/main" id="{0A26D57C-3724-45DF-8BE2-369F9936C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9944"/>
              </p:ext>
            </p:extLst>
          </p:nvPr>
        </p:nvGraphicFramePr>
        <p:xfrm>
          <a:off x="5447929" y="2673177"/>
          <a:ext cx="4099189" cy="3948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3" name="Equation" r:id="rId5" imgW="2425680" imgH="2336760" progId="Equation.DSMT4">
                  <p:embed/>
                </p:oleObj>
              </mc:Choice>
              <mc:Fallback>
                <p:oleObj name="Equation" r:id="rId5" imgW="2425680" imgH="23367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9" y="2673177"/>
                        <a:ext cx="4099189" cy="3948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4">
            <a:extLst>
              <a:ext uri="{FF2B5EF4-FFF2-40B4-BE49-F238E27FC236}">
                <a16:creationId xmlns="" xmlns:a16="http://schemas.microsoft.com/office/drawing/2014/main" id="{80E8786D-51A4-4A0D-81C1-E32FCA1BF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961" y="2924944"/>
            <a:ext cx="3668713" cy="351155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="" xmlns:a16="http://schemas.microsoft.com/office/drawing/2014/main" id="{321227C7-1E7A-42F4-B1B0-0A5421F1B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7111" y="2909069"/>
            <a:ext cx="2087563" cy="2087562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="" xmlns:a16="http://schemas.microsoft.com/office/drawing/2014/main" id="{329131D7-A117-42C3-9DDB-F13465518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1198" y="4444182"/>
            <a:ext cx="2087562" cy="2087563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="" xmlns:a16="http://schemas.microsoft.com/office/drawing/2014/main" id="{12173164-E1D3-47B8-804B-C82284B60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2873" y="2924945"/>
            <a:ext cx="431800" cy="503237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="" xmlns:a16="http://schemas.microsoft.com/office/drawing/2014/main" id="{CD91A7E6-BFF3-4712-998F-C1B7CCF05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960" y="6028506"/>
            <a:ext cx="431800" cy="503238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6706ABD-3901-41C0-BB3C-3CF61DFE9178}"/>
              </a:ext>
            </a:extLst>
          </p:cNvPr>
          <p:cNvSpPr txBox="1"/>
          <p:nvPr/>
        </p:nvSpPr>
        <p:spPr>
          <a:xfrm>
            <a:off x="2135560" y="1916832"/>
            <a:ext cx="7920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行列式、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余子式、代数余子式是数或公式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，不要与矩阵的子阵搞混了；</a:t>
            </a:r>
            <a:endParaRPr lang="en-US" altLang="zh-CN" sz="2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在有多个行列式的情况下，使用</a:t>
            </a: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符号时要特别指明时针对哪一个行列式；</a:t>
            </a:r>
            <a:endParaRPr lang="en-US" altLang="zh-CN" sz="2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i.j</a:t>
            </a: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元余子式、代数余子式只与第</a:t>
            </a:r>
            <a:r>
              <a:rPr lang="en-US" altLang="zh-CN" sz="28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行，第</a:t>
            </a: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列以外的元素有关，与第</a:t>
            </a:r>
            <a:r>
              <a:rPr lang="en-US" altLang="zh-CN" sz="28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行，第</a:t>
            </a: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列元素的取值、变化无关。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02C4C9E9-C930-4E0B-B5CE-1A0D603C1421}"/>
              </a:ext>
            </a:extLst>
          </p:cNvPr>
          <p:cNvSpPr/>
          <p:nvPr/>
        </p:nvSpPr>
        <p:spPr>
          <a:xfrm>
            <a:off x="5633727" y="1014273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注意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8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8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CDDCED8-D62E-4820-8CFB-DB64EFC19FD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67214" y="2492376"/>
            <a:ext cx="3457575" cy="1223963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6000" b="1" kern="1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伴随矩阵</a:t>
            </a:r>
          </a:p>
          <a:p>
            <a:pPr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="" xmlns:a16="http://schemas.microsoft.com/office/drawing/2014/main" id="{50C2C33D-06A3-4A37-B695-21E11CE50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109" y="1722159"/>
            <a:ext cx="100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  <p:grpSp>
        <p:nvGrpSpPr>
          <p:cNvPr id="11268" name="Group 3">
            <a:extLst>
              <a:ext uri="{FF2B5EF4-FFF2-40B4-BE49-F238E27FC236}">
                <a16:creationId xmlns="" xmlns:a16="http://schemas.microsoft.com/office/drawing/2014/main" id="{D779DC6E-34D3-4380-A91D-C8E5EEF8CA36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1763715"/>
            <a:ext cx="6596064" cy="1016001"/>
            <a:chOff x="360" y="975"/>
            <a:chExt cx="4155" cy="640"/>
          </a:xfrm>
        </p:grpSpPr>
        <p:sp>
          <p:nvSpPr>
            <p:cNvPr id="7" name="Text Box 4">
              <a:extLst>
                <a:ext uri="{FF2B5EF4-FFF2-40B4-BE49-F238E27FC236}">
                  <a16:creationId xmlns="" xmlns:a16="http://schemas.microsoft.com/office/drawing/2014/main" id="{5DEE61AF-20C1-47F4-9485-36F80F7A9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" y="975"/>
              <a:ext cx="415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行列式  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的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各个元素的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代数余子式   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所</a:t>
              </a:r>
              <a:endPara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构成的如下矩阵</a:t>
              </a:r>
            </a:p>
          </p:txBody>
        </p:sp>
        <p:graphicFrame>
          <p:nvGraphicFramePr>
            <p:cNvPr id="11276" name="Object 5">
              <a:extLst>
                <a:ext uri="{FF2B5EF4-FFF2-40B4-BE49-F238E27FC236}">
                  <a16:creationId xmlns="" xmlns:a16="http://schemas.microsoft.com/office/drawing/2014/main" id="{4AC8ADE6-6F88-44F1-BF55-A58B473E05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2901930"/>
                </p:ext>
              </p:extLst>
            </p:nvPr>
          </p:nvGraphicFramePr>
          <p:xfrm>
            <a:off x="1135" y="993"/>
            <a:ext cx="2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6" name="Equation" r:id="rId3" imgW="355320" imgH="444240" progId="Equation.DSMT4">
                    <p:embed/>
                  </p:oleObj>
                </mc:Choice>
                <mc:Fallback>
                  <p:oleObj name="Equation" r:id="rId3" imgW="355320" imgH="4442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5" y="993"/>
                          <a:ext cx="2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Object 6">
              <a:extLst>
                <a:ext uri="{FF2B5EF4-FFF2-40B4-BE49-F238E27FC236}">
                  <a16:creationId xmlns="" xmlns:a16="http://schemas.microsoft.com/office/drawing/2014/main" id="{12C5E0B9-3FAE-4CDB-AA68-53BFC83269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00630"/>
                </p:ext>
              </p:extLst>
            </p:nvPr>
          </p:nvGraphicFramePr>
          <p:xfrm>
            <a:off x="3944" y="1024"/>
            <a:ext cx="21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7" name="Equation" r:id="rId5" imgW="342720" imgH="431640" progId="Equation.DSMT4">
                    <p:embed/>
                  </p:oleObj>
                </mc:Choice>
                <mc:Fallback>
                  <p:oleObj name="Equation" r:id="rId5" imgW="342720" imgH="4316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4" y="1024"/>
                          <a:ext cx="21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7">
            <a:extLst>
              <a:ext uri="{FF2B5EF4-FFF2-40B4-BE49-F238E27FC236}">
                <a16:creationId xmlns="" xmlns:a16="http://schemas.microsoft.com/office/drawing/2014/main" id="{3791BF07-F1E9-4DB8-B547-903AC2BBE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378507"/>
              </p:ext>
            </p:extLst>
          </p:nvPr>
        </p:nvGraphicFramePr>
        <p:xfrm>
          <a:off x="3363256" y="3032832"/>
          <a:ext cx="3994022" cy="219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8" name="Equation" r:id="rId7" imgW="3403440" imgH="1866600" progId="Equation.DSMT4">
                  <p:embed/>
                </p:oleObj>
              </mc:Choice>
              <mc:Fallback>
                <p:oleObj name="Equation" r:id="rId7" imgW="3403440" imgH="1866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256" y="3032832"/>
                        <a:ext cx="3994022" cy="2190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9">
            <a:extLst>
              <a:ext uri="{FF2B5EF4-FFF2-40B4-BE49-F238E27FC236}">
                <a16:creationId xmlns="" xmlns:a16="http://schemas.microsoft.com/office/drawing/2014/main" id="{ECCB8137-08FA-4BBD-B87E-1965E24676CC}"/>
              </a:ext>
            </a:extLst>
          </p:cNvPr>
          <p:cNvGrpSpPr>
            <a:grpSpLocks/>
          </p:cNvGrpSpPr>
          <p:nvPr/>
        </p:nvGrpSpPr>
        <p:grpSpPr bwMode="auto">
          <a:xfrm>
            <a:off x="3131273" y="5674879"/>
            <a:ext cx="5400675" cy="519113"/>
            <a:chOff x="977" y="3090"/>
            <a:chExt cx="3402" cy="327"/>
          </a:xfrm>
        </p:grpSpPr>
        <p:sp>
          <p:nvSpPr>
            <p:cNvPr id="12" name="Text Box 17">
              <a:extLst>
                <a:ext uri="{FF2B5EF4-FFF2-40B4-BE49-F238E27FC236}">
                  <a16:creationId xmlns="" xmlns:a16="http://schemas.microsoft.com/office/drawing/2014/main" id="{81196330-87A5-495B-A716-FCA8DB8D6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" y="3090"/>
              <a:ext cx="3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称为矩阵  的伴随矩阵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graphicFrame>
          <p:nvGraphicFramePr>
            <p:cNvPr id="11274" name="Object 18">
              <a:extLst>
                <a:ext uri="{FF2B5EF4-FFF2-40B4-BE49-F238E27FC236}">
                  <a16:creationId xmlns="" xmlns:a16="http://schemas.microsoft.com/office/drawing/2014/main" id="{1072EB88-643F-4625-9F5D-A266AFDD04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9099811"/>
                </p:ext>
              </p:extLst>
            </p:nvPr>
          </p:nvGraphicFramePr>
          <p:xfrm>
            <a:off x="1871" y="3165"/>
            <a:ext cx="19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49" name="Equation" r:id="rId9" imgW="253800" imgH="279360" progId="Equation.DSMT4">
                    <p:embed/>
                  </p:oleObj>
                </mc:Choice>
                <mc:Fallback>
                  <p:oleObj name="Equation" r:id="rId9" imgW="253800" imgH="27936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1" y="3165"/>
                          <a:ext cx="19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1" name="Text Box 20">
            <a:extLst>
              <a:ext uri="{FF2B5EF4-FFF2-40B4-BE49-F238E27FC236}">
                <a16:creationId xmlns="" xmlns:a16="http://schemas.microsoft.com/office/drawing/2014/main" id="{EFC5637E-A940-4139-815E-719BBDC49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163" y="6929438"/>
            <a:ext cx="647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13" name="Rectangle 14">
            <a:extLst>
              <a:ext uri="{FF2B5EF4-FFF2-40B4-BE49-F238E27FC236}">
                <a16:creationId xmlns="" xmlns:a16="http://schemas.microsoft.com/office/drawing/2014/main" id="{2AF43E4E-2306-449F-8CDF-2E526967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139" y="3084872"/>
            <a:ext cx="576262" cy="2138710"/>
          </a:xfrm>
          <a:prstGeom prst="rect">
            <a:avLst/>
          </a:prstGeom>
          <a:solidFill>
            <a:srgbClr val="00CC00">
              <a:alpha val="40000"/>
            </a:srgb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E1AFB80-D2F7-4D23-AEFC-4C9AB904341F}"/>
              </a:ext>
            </a:extLst>
          </p:cNvPr>
          <p:cNvSpPr/>
          <p:nvPr/>
        </p:nvSpPr>
        <p:spPr>
          <a:xfrm>
            <a:off x="5120768" y="1014273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伴随矩阵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="" xmlns:a16="http://schemas.microsoft.com/office/drawing/2014/main" id="{514F5B9B-CEEF-483A-9FC2-1A68B3AA1790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847850" y="3141664"/>
            <a:ext cx="8540750" cy="73183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5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行列式按行</a:t>
            </a:r>
            <a:r>
              <a:rPr lang="en-US" altLang="zh-CN" sz="5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5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en-US" altLang="zh-CN" sz="5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5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展开定理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027">
            <a:extLst>
              <a:ext uri="{FF2B5EF4-FFF2-40B4-BE49-F238E27FC236}">
                <a16:creationId xmlns="" xmlns:a16="http://schemas.microsoft.com/office/drawing/2014/main" id="{037B8C38-4423-4CB3-81BC-BF79C0A46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86886"/>
              </p:ext>
            </p:extLst>
          </p:nvPr>
        </p:nvGraphicFramePr>
        <p:xfrm>
          <a:off x="4887152" y="948648"/>
          <a:ext cx="5277562" cy="970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3" name="Equation" r:id="rId4" imgW="3314520" imgH="609480" progId="Equation.DSMT4">
                  <p:embed/>
                </p:oleObj>
              </mc:Choice>
              <mc:Fallback>
                <p:oleObj name="Equation" r:id="rId4" imgW="33145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152" y="948648"/>
                        <a:ext cx="5277562" cy="970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53937"/>
              </p:ext>
            </p:extLst>
          </p:nvPr>
        </p:nvGraphicFramePr>
        <p:xfrm>
          <a:off x="2403583" y="719219"/>
          <a:ext cx="2185278" cy="1676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4" name="Equation" r:id="rId6" imgW="927000" imgH="711000" progId="Equation.DSMT4">
                  <p:embed/>
                </p:oleObj>
              </mc:Choice>
              <mc:Fallback>
                <p:oleObj name="Equation" r:id="rId6" imgW="9270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583" y="719219"/>
                        <a:ext cx="2185278" cy="1676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30">
            <a:extLst>
              <a:ext uri="{FF2B5EF4-FFF2-40B4-BE49-F238E27FC236}">
                <a16:creationId xmlns="" xmlns:a16="http://schemas.microsoft.com/office/drawing/2014/main" id="{0136B654-165A-460A-AB56-789134DB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370" y="885664"/>
            <a:ext cx="2232225" cy="43043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Line 1031">
            <a:extLst>
              <a:ext uri="{FF2B5EF4-FFF2-40B4-BE49-F238E27FC236}">
                <a16:creationId xmlns="" xmlns:a16="http://schemas.microsoft.com/office/drawing/2014/main" id="{A31C1DEE-A2E0-4932-8FA7-1E9AFD42B6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6128" y="1418465"/>
            <a:ext cx="1427993" cy="1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1032">
            <a:extLst>
              <a:ext uri="{FF2B5EF4-FFF2-40B4-BE49-F238E27FC236}">
                <a16:creationId xmlns="" xmlns:a16="http://schemas.microsoft.com/office/drawing/2014/main" id="{864611FD-A61A-4AAF-B276-618038AC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7878" y="1947331"/>
            <a:ext cx="1372116" cy="4536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Line 1033">
            <a:extLst>
              <a:ext uri="{FF2B5EF4-FFF2-40B4-BE49-F238E27FC236}">
                <a16:creationId xmlns="" xmlns:a16="http://schemas.microsoft.com/office/drawing/2014/main" id="{FC9DDACB-522B-432C-BDB3-2CA90D84B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497" y="1418467"/>
            <a:ext cx="1322022" cy="1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Line 1034">
            <a:extLst>
              <a:ext uri="{FF2B5EF4-FFF2-40B4-BE49-F238E27FC236}">
                <a16:creationId xmlns="" xmlns:a16="http://schemas.microsoft.com/office/drawing/2014/main" id="{6469BFF9-76DE-484A-BB8B-602A1AC87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016" y="1947331"/>
            <a:ext cx="1372116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Line 1035">
            <a:extLst>
              <a:ext uri="{FF2B5EF4-FFF2-40B4-BE49-F238E27FC236}">
                <a16:creationId xmlns="" xmlns:a16="http://schemas.microsoft.com/office/drawing/2014/main" id="{388DDF36-1EF5-40F2-899B-C81216AAB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5319" y="1418467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Line 1036">
            <a:extLst>
              <a:ext uri="{FF2B5EF4-FFF2-40B4-BE49-F238E27FC236}">
                <a16:creationId xmlns="" xmlns:a16="http://schemas.microsoft.com/office/drawing/2014/main" id="{90549FF7-FEE7-4D48-B696-7FB419D68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37719" y="1947331"/>
            <a:ext cx="1361593" cy="45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4" name="Object 1037">
            <a:extLst>
              <a:ext uri="{FF2B5EF4-FFF2-40B4-BE49-F238E27FC236}">
                <a16:creationId xmlns="" xmlns:a16="http://schemas.microsoft.com/office/drawing/2014/main" id="{A9406ECD-C5F7-46C1-A58B-E12DB8097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533996"/>
              </p:ext>
            </p:extLst>
          </p:nvPr>
        </p:nvGraphicFramePr>
        <p:xfrm>
          <a:off x="4979730" y="2141637"/>
          <a:ext cx="264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5" name="Equation" r:id="rId8" imgW="2641320" imgH="444240" progId="Equation.DSMT4">
                  <p:embed/>
                </p:oleObj>
              </mc:Choice>
              <mc:Fallback>
                <p:oleObj name="Equation" r:id="rId8" imgW="2641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730" y="2141637"/>
                        <a:ext cx="264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38">
            <a:extLst>
              <a:ext uri="{FF2B5EF4-FFF2-40B4-BE49-F238E27FC236}">
                <a16:creationId xmlns="" xmlns:a16="http://schemas.microsoft.com/office/drawing/2014/main" id="{95D949B5-3F41-4A28-B05B-2A60D23E1B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903255"/>
              </p:ext>
            </p:extLst>
          </p:nvPr>
        </p:nvGraphicFramePr>
        <p:xfrm>
          <a:off x="7658607" y="2167743"/>
          <a:ext cx="256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6" name="Equation" r:id="rId10" imgW="2565360" imgH="444240" progId="Equation.DSMT4">
                  <p:embed/>
                </p:oleObj>
              </mc:Choice>
              <mc:Fallback>
                <p:oleObj name="Equation" r:id="rId10" imgW="2565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8607" y="2167743"/>
                        <a:ext cx="2565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39">
            <a:extLst>
              <a:ext uri="{FF2B5EF4-FFF2-40B4-BE49-F238E27FC236}">
                <a16:creationId xmlns="" xmlns:a16="http://schemas.microsoft.com/office/drawing/2014/main" id="{F1590F3C-0590-4058-9F3F-446A297C7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845498"/>
              </p:ext>
            </p:extLst>
          </p:nvPr>
        </p:nvGraphicFramePr>
        <p:xfrm>
          <a:off x="5272823" y="2671417"/>
          <a:ext cx="2578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7" name="Equation" r:id="rId12" imgW="2577960" imgH="444240" progId="Equation.DSMT4">
                  <p:embed/>
                </p:oleObj>
              </mc:Choice>
              <mc:Fallback>
                <p:oleObj name="Equation" r:id="rId12" imgW="2577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823" y="2671417"/>
                        <a:ext cx="2578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765204"/>
              </p:ext>
            </p:extLst>
          </p:nvPr>
        </p:nvGraphicFramePr>
        <p:xfrm>
          <a:off x="4302185" y="3152192"/>
          <a:ext cx="77374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8" name="Equation" r:id="rId14" imgW="6489360" imgH="1117440" progId="Equation.DSMT4">
                  <p:embed/>
                </p:oleObj>
              </mc:Choice>
              <mc:Fallback>
                <p:oleObj name="Equation" r:id="rId14" imgW="6489360" imgH="1117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85" y="3152192"/>
                        <a:ext cx="773747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041">
            <a:extLst>
              <a:ext uri="{FF2B5EF4-FFF2-40B4-BE49-F238E27FC236}">
                <a16:creationId xmlns="" xmlns:a16="http://schemas.microsoft.com/office/drawing/2014/main" id="{11542C69-F9CB-489F-BC41-AB04DF6A7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1874" y="728109"/>
            <a:ext cx="0" cy="1600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Line 1042">
            <a:extLst>
              <a:ext uri="{FF2B5EF4-FFF2-40B4-BE49-F238E27FC236}">
                <a16:creationId xmlns="" xmlns:a16="http://schemas.microsoft.com/office/drawing/2014/main" id="{0290D355-008C-4E11-A60D-88F43CB8F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696" y="732498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Line 1043">
            <a:extLst>
              <a:ext uri="{FF2B5EF4-FFF2-40B4-BE49-F238E27FC236}">
                <a16:creationId xmlns="" xmlns:a16="http://schemas.microsoft.com/office/drawing/2014/main" id="{D0B16F86-415E-4CC0-8ADA-1FB933432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800" y="783633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58AED3EC-DA1E-4DA2-A39A-A0F56A8D50D9}"/>
              </a:ext>
            </a:extLst>
          </p:cNvPr>
          <p:cNvSpPr/>
          <p:nvPr/>
        </p:nvSpPr>
        <p:spPr>
          <a:xfrm>
            <a:off x="6061156" y="-5082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引例</a:t>
            </a:r>
          </a:p>
        </p:txBody>
      </p:sp>
      <p:graphicFrame>
        <p:nvGraphicFramePr>
          <p:cNvPr id="23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058309"/>
              </p:ext>
            </p:extLst>
          </p:nvPr>
        </p:nvGraphicFramePr>
        <p:xfrm>
          <a:off x="482600" y="5084763"/>
          <a:ext cx="24241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9" name="Equation" r:id="rId16" imgW="1028520" imgH="711000" progId="Equation.DSMT4">
                  <p:embed/>
                </p:oleObj>
              </mc:Choice>
              <mc:Fallback>
                <p:oleObj name="Equation" r:id="rId16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5084763"/>
                        <a:ext cx="24241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100034"/>
              </p:ext>
            </p:extLst>
          </p:nvPr>
        </p:nvGraphicFramePr>
        <p:xfrm>
          <a:off x="4561022" y="5121171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0" name="Equation" r:id="rId18" imgW="1028520" imgH="711000" progId="Equation.DSMT4">
                  <p:embed/>
                </p:oleObj>
              </mc:Choice>
              <mc:Fallback>
                <p:oleObj name="Equation" r:id="rId18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022" y="5121171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72408"/>
              </p:ext>
            </p:extLst>
          </p:nvPr>
        </p:nvGraphicFramePr>
        <p:xfrm>
          <a:off x="8641031" y="5125301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1" name="Equation" r:id="rId20" imgW="1028520" imgH="711000" progId="Equation.DSMT4">
                  <p:embed/>
                </p:oleObj>
              </mc:Choice>
              <mc:Fallback>
                <p:oleObj name="Equation" r:id="rId20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1031" y="5125301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箭头 1"/>
          <p:cNvSpPr/>
          <p:nvPr/>
        </p:nvSpPr>
        <p:spPr bwMode="auto">
          <a:xfrm rot="2407435">
            <a:off x="2291400" y="3016634"/>
            <a:ext cx="2397280" cy="479293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E4307694-7C6E-4DB8-885F-AFFEC5C8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881" y="2490584"/>
            <a:ext cx="1824471" cy="15696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可见，三阶行列式可通过二阶行列式来表示．</a:t>
            </a:r>
          </a:p>
        </p:txBody>
      </p:sp>
      <p:graphicFrame>
        <p:nvGraphicFramePr>
          <p:cNvPr id="30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466931"/>
              </p:ext>
            </p:extLst>
          </p:nvPr>
        </p:nvGraphicFramePr>
        <p:xfrm>
          <a:off x="4295800" y="4422231"/>
          <a:ext cx="4566561" cy="46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2" name="Equation" r:id="rId22" imgW="2743200" imgH="330120" progId="Equation.DSMT4">
                  <p:embed/>
                </p:oleObj>
              </mc:Choice>
              <mc:Fallback>
                <p:oleObj name="Equation" r:id="rId22" imgW="2743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4422231"/>
                        <a:ext cx="4566561" cy="46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图片 3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36345" y="5793342"/>
            <a:ext cx="859759" cy="44702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54016" y="5701771"/>
            <a:ext cx="938880" cy="44238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208568" y="5793342"/>
            <a:ext cx="777045" cy="39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8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7">
            <a:extLst>
              <a:ext uri="{FF2B5EF4-FFF2-40B4-BE49-F238E27FC236}">
                <a16:creationId xmlns="" xmlns:a16="http://schemas.microsoft.com/office/drawing/2014/main" id="{037B8C38-4423-4CB3-81BC-BF79C0A46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53243"/>
              </p:ext>
            </p:extLst>
          </p:nvPr>
        </p:nvGraphicFramePr>
        <p:xfrm>
          <a:off x="4943559" y="1190665"/>
          <a:ext cx="5277562" cy="970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0" name="Equation" r:id="rId3" imgW="3314520" imgH="609480" progId="Equation.DSMT4">
                  <p:embed/>
                </p:oleObj>
              </mc:Choice>
              <mc:Fallback>
                <p:oleObj name="Equation" r:id="rId3" imgW="33145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559" y="1190665"/>
                        <a:ext cx="5277562" cy="970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167991"/>
              </p:ext>
            </p:extLst>
          </p:nvPr>
        </p:nvGraphicFramePr>
        <p:xfrm>
          <a:off x="2711334" y="752574"/>
          <a:ext cx="2185278" cy="1676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1" name="Equation" r:id="rId5" imgW="927000" imgH="711000" progId="Equation.DSMT4">
                  <p:embed/>
                </p:oleObj>
              </mc:Choice>
              <mc:Fallback>
                <p:oleObj name="Equation" r:id="rId5" imgW="9270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334" y="752574"/>
                        <a:ext cx="2185278" cy="1676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030">
            <a:extLst>
              <a:ext uri="{FF2B5EF4-FFF2-40B4-BE49-F238E27FC236}">
                <a16:creationId xmlns="" xmlns:a16="http://schemas.microsoft.com/office/drawing/2014/main" id="{0136B654-165A-460A-AB56-789134DB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719" y="1362835"/>
            <a:ext cx="2232225" cy="43043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Line 1031">
            <a:extLst>
              <a:ext uri="{FF2B5EF4-FFF2-40B4-BE49-F238E27FC236}">
                <a16:creationId xmlns="" xmlns:a16="http://schemas.microsoft.com/office/drawing/2014/main" id="{A31C1DEE-A2E0-4932-8FA7-1E9AFD42B6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7937" y="1632385"/>
            <a:ext cx="1427993" cy="1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Line 1032">
            <a:extLst>
              <a:ext uri="{FF2B5EF4-FFF2-40B4-BE49-F238E27FC236}">
                <a16:creationId xmlns="" xmlns:a16="http://schemas.microsoft.com/office/drawing/2014/main" id="{864611FD-A61A-4AAF-B276-618038AC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9687" y="2161251"/>
            <a:ext cx="1372116" cy="4536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Line 1033">
            <a:extLst>
              <a:ext uri="{FF2B5EF4-FFF2-40B4-BE49-F238E27FC236}">
                <a16:creationId xmlns="" xmlns:a16="http://schemas.microsoft.com/office/drawing/2014/main" id="{FC9DDACB-522B-432C-BDB3-2CA90D84B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306" y="1632387"/>
            <a:ext cx="1322022" cy="1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Line 1034">
            <a:extLst>
              <a:ext uri="{FF2B5EF4-FFF2-40B4-BE49-F238E27FC236}">
                <a16:creationId xmlns="" xmlns:a16="http://schemas.microsoft.com/office/drawing/2014/main" id="{6469BFF9-76DE-484A-BB8B-602A1AC87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825" y="2161251"/>
            <a:ext cx="1372116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1035">
            <a:extLst>
              <a:ext uri="{FF2B5EF4-FFF2-40B4-BE49-F238E27FC236}">
                <a16:creationId xmlns="" xmlns:a16="http://schemas.microsoft.com/office/drawing/2014/main" id="{388DDF36-1EF5-40F2-899B-C81216AAB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7128" y="1632387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Line 1036">
            <a:extLst>
              <a:ext uri="{FF2B5EF4-FFF2-40B4-BE49-F238E27FC236}">
                <a16:creationId xmlns="" xmlns:a16="http://schemas.microsoft.com/office/drawing/2014/main" id="{90549FF7-FEE7-4D48-B696-7FB419D68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59528" y="2161251"/>
            <a:ext cx="1361593" cy="45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1" name="Object 1037">
            <a:extLst>
              <a:ext uri="{FF2B5EF4-FFF2-40B4-BE49-F238E27FC236}">
                <a16:creationId xmlns="" xmlns:a16="http://schemas.microsoft.com/office/drawing/2014/main" id="{A9406ECD-C5F7-46C1-A58B-E12DB8097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857491"/>
              </p:ext>
            </p:extLst>
          </p:nvPr>
        </p:nvGraphicFramePr>
        <p:xfrm>
          <a:off x="4956451" y="2543647"/>
          <a:ext cx="2616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2" name="Equation" r:id="rId7" imgW="2616120" imgH="444240" progId="Equation.DSMT4">
                  <p:embed/>
                </p:oleObj>
              </mc:Choice>
              <mc:Fallback>
                <p:oleObj name="Equation" r:id="rId7" imgW="2616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451" y="2543647"/>
                        <a:ext cx="2616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8">
            <a:extLst>
              <a:ext uri="{FF2B5EF4-FFF2-40B4-BE49-F238E27FC236}">
                <a16:creationId xmlns="" xmlns:a16="http://schemas.microsoft.com/office/drawing/2014/main" id="{95D949B5-3F41-4A28-B05B-2A60D23E1B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468801"/>
              </p:ext>
            </p:extLst>
          </p:nvPr>
        </p:nvGraphicFramePr>
        <p:xfrm>
          <a:off x="7728226" y="2543647"/>
          <a:ext cx="255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3" name="Equation" r:id="rId9" imgW="2552400" imgH="444240" progId="Equation.DSMT4">
                  <p:embed/>
                </p:oleObj>
              </mc:Choice>
              <mc:Fallback>
                <p:oleObj name="Equation" r:id="rId9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8226" y="2543647"/>
                        <a:ext cx="2552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39">
            <a:extLst>
              <a:ext uri="{FF2B5EF4-FFF2-40B4-BE49-F238E27FC236}">
                <a16:creationId xmlns="" xmlns:a16="http://schemas.microsoft.com/office/drawing/2014/main" id="{F1590F3C-0590-4058-9F3F-446A297C7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133854"/>
              </p:ext>
            </p:extLst>
          </p:nvPr>
        </p:nvGraphicFramePr>
        <p:xfrm>
          <a:off x="5329513" y="3119910"/>
          <a:ext cx="255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4" name="Equation" r:id="rId11" imgW="2552400" imgH="444240" progId="Equation.DSMT4">
                  <p:embed/>
                </p:oleObj>
              </mc:Choice>
              <mc:Fallback>
                <p:oleObj name="Equation" r:id="rId11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513" y="3119910"/>
                        <a:ext cx="2552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206888"/>
              </p:ext>
            </p:extLst>
          </p:nvPr>
        </p:nvGraphicFramePr>
        <p:xfrm>
          <a:off x="4811713" y="3719513"/>
          <a:ext cx="59499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5" name="Equation" r:id="rId13" imgW="4991040" imgH="1117440" progId="Equation.DSMT4">
                  <p:embed/>
                </p:oleObj>
              </mc:Choice>
              <mc:Fallback>
                <p:oleObj name="Equation" r:id="rId13" imgW="4991040" imgH="1117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713" y="3719513"/>
                        <a:ext cx="59499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041">
            <a:extLst>
              <a:ext uri="{FF2B5EF4-FFF2-40B4-BE49-F238E27FC236}">
                <a16:creationId xmlns="" xmlns:a16="http://schemas.microsoft.com/office/drawing/2014/main" id="{11542C69-F9CB-489F-BC41-AB04DF6A7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737" y="777952"/>
            <a:ext cx="0" cy="1600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Line 1042">
            <a:extLst>
              <a:ext uri="{FF2B5EF4-FFF2-40B4-BE49-F238E27FC236}">
                <a16:creationId xmlns="" xmlns:a16="http://schemas.microsoft.com/office/drawing/2014/main" id="{0290D355-008C-4E11-A60D-88F43CB8F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3937" y="701752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Line 1043">
            <a:extLst>
              <a:ext uri="{FF2B5EF4-FFF2-40B4-BE49-F238E27FC236}">
                <a16:creationId xmlns="" xmlns:a16="http://schemas.microsoft.com/office/drawing/2014/main" id="{D0B16F86-415E-4CC0-8ADA-1FB933432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5937" y="701752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58AED3EC-DA1E-4DA2-A39A-A0F56A8D50D9}"/>
              </a:ext>
            </a:extLst>
          </p:cNvPr>
          <p:cNvSpPr/>
          <p:nvPr/>
        </p:nvSpPr>
        <p:spPr>
          <a:xfrm>
            <a:off x="6403299" y="45866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b="1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引例</a:t>
            </a:r>
          </a:p>
        </p:txBody>
      </p:sp>
      <p:sp>
        <p:nvSpPr>
          <p:cNvPr id="20" name="右箭头 19"/>
          <p:cNvSpPr/>
          <p:nvPr/>
        </p:nvSpPr>
        <p:spPr bwMode="auto">
          <a:xfrm rot="2407435">
            <a:off x="2329374" y="3074676"/>
            <a:ext cx="2674297" cy="479293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E4307694-7C6E-4DB8-885F-AFFEC5C8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002" y="2409211"/>
            <a:ext cx="1824471" cy="15696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可见，三阶行列式可通过二阶行列式来表示．</a:t>
            </a:r>
          </a:p>
        </p:txBody>
      </p:sp>
      <p:graphicFrame>
        <p:nvGraphicFramePr>
          <p:cNvPr id="22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04003"/>
              </p:ext>
            </p:extLst>
          </p:nvPr>
        </p:nvGraphicFramePr>
        <p:xfrm>
          <a:off x="408276" y="4977442"/>
          <a:ext cx="24241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6" name="Equation" r:id="rId15" imgW="1028520" imgH="711000" progId="Equation.DSMT4">
                  <p:embed/>
                </p:oleObj>
              </mc:Choice>
              <mc:Fallback>
                <p:oleObj name="Equation" r:id="rId15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76" y="4977442"/>
                        <a:ext cx="24241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230671"/>
              </p:ext>
            </p:extLst>
          </p:nvPr>
        </p:nvGraphicFramePr>
        <p:xfrm>
          <a:off x="4313689" y="4977442"/>
          <a:ext cx="242252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7" name="Equation" r:id="rId17" imgW="1028520" imgH="711000" progId="Equation.DSMT4">
                  <p:embed/>
                </p:oleObj>
              </mc:Choice>
              <mc:Fallback>
                <p:oleObj name="Equation" r:id="rId17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689" y="4977442"/>
                        <a:ext cx="242252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487814"/>
              </p:ext>
            </p:extLst>
          </p:nvPr>
        </p:nvGraphicFramePr>
        <p:xfrm>
          <a:off x="8105775" y="5045075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8" name="Equation" r:id="rId19" imgW="1028520" imgH="711000" progId="Equation.DSMT4">
                  <p:embed/>
                </p:oleObj>
              </mc:Choice>
              <mc:Fallback>
                <p:oleObj name="Equation" r:id="rId19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775" y="5045075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049491"/>
              </p:ext>
            </p:extLst>
          </p:nvPr>
        </p:nvGraphicFramePr>
        <p:xfrm>
          <a:off x="4783671" y="4662297"/>
          <a:ext cx="47339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9" name="Equation" r:id="rId21" imgW="2844720" imgH="330120" progId="Equation.DSMT4">
                  <p:embed/>
                </p:oleObj>
              </mc:Choice>
              <mc:Fallback>
                <p:oleObj name="Equation" r:id="rId21" imgW="2844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671" y="4662297"/>
                        <a:ext cx="47339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图片 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64226" y="5606429"/>
            <a:ext cx="946605" cy="47275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82504" y="5586020"/>
            <a:ext cx="908851" cy="43666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31475" y="5663281"/>
            <a:ext cx="868845" cy="4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3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7">
            <a:extLst>
              <a:ext uri="{FF2B5EF4-FFF2-40B4-BE49-F238E27FC236}">
                <a16:creationId xmlns="" xmlns:a16="http://schemas.microsoft.com/office/drawing/2014/main" id="{037B8C38-4423-4CB3-81BC-BF79C0A46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88514"/>
              </p:ext>
            </p:extLst>
          </p:nvPr>
        </p:nvGraphicFramePr>
        <p:xfrm>
          <a:off x="4839474" y="1396656"/>
          <a:ext cx="52768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4" name="Equation" r:id="rId3" imgW="3314520" imgH="583920" progId="Equation.DSMT4">
                  <p:embed/>
                </p:oleObj>
              </mc:Choice>
              <mc:Fallback>
                <p:oleObj name="Equation" r:id="rId3" imgW="331452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9474" y="1396656"/>
                        <a:ext cx="52768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850124"/>
              </p:ext>
            </p:extLst>
          </p:nvPr>
        </p:nvGraphicFramePr>
        <p:xfrm>
          <a:off x="2631237" y="774825"/>
          <a:ext cx="2185278" cy="1676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5" name="Equation" r:id="rId5" imgW="927000" imgH="711000" progId="Equation.DSMT4">
                  <p:embed/>
                </p:oleObj>
              </mc:Choice>
              <mc:Fallback>
                <p:oleObj name="Equation" r:id="rId5" imgW="9270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237" y="774825"/>
                        <a:ext cx="2185278" cy="1676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030">
            <a:extLst>
              <a:ext uri="{FF2B5EF4-FFF2-40B4-BE49-F238E27FC236}">
                <a16:creationId xmlns="" xmlns:a16="http://schemas.microsoft.com/office/drawing/2014/main" id="{0136B654-165A-460A-AB56-789134DB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753" y="1950713"/>
            <a:ext cx="2232225" cy="43043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Line 1031">
            <a:extLst>
              <a:ext uri="{FF2B5EF4-FFF2-40B4-BE49-F238E27FC236}">
                <a16:creationId xmlns="" xmlns:a16="http://schemas.microsoft.com/office/drawing/2014/main" id="{A31C1DEE-A2E0-4932-8FA7-1E9AFD42B6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5121" y="1856078"/>
            <a:ext cx="1427993" cy="1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Line 1032">
            <a:extLst>
              <a:ext uri="{FF2B5EF4-FFF2-40B4-BE49-F238E27FC236}">
                <a16:creationId xmlns="" xmlns:a16="http://schemas.microsoft.com/office/drawing/2014/main" id="{864611FD-A61A-4AAF-B276-618038AC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2699" y="2275374"/>
            <a:ext cx="1372116" cy="4536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Line 1033">
            <a:extLst>
              <a:ext uri="{FF2B5EF4-FFF2-40B4-BE49-F238E27FC236}">
                <a16:creationId xmlns="" xmlns:a16="http://schemas.microsoft.com/office/drawing/2014/main" id="{FC9DDACB-522B-432C-BDB3-2CA90D84B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6159" y="1865694"/>
            <a:ext cx="1322022" cy="1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Line 1034">
            <a:extLst>
              <a:ext uri="{FF2B5EF4-FFF2-40B4-BE49-F238E27FC236}">
                <a16:creationId xmlns="" xmlns:a16="http://schemas.microsoft.com/office/drawing/2014/main" id="{6469BFF9-76DE-484A-BB8B-602A1AC87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2408" y="2289525"/>
            <a:ext cx="1372116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1035">
            <a:extLst>
              <a:ext uri="{FF2B5EF4-FFF2-40B4-BE49-F238E27FC236}">
                <a16:creationId xmlns="" xmlns:a16="http://schemas.microsoft.com/office/drawing/2014/main" id="{388DDF36-1EF5-40F2-899B-C81216AAB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3988" y="1856078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Line 1036">
            <a:extLst>
              <a:ext uri="{FF2B5EF4-FFF2-40B4-BE49-F238E27FC236}">
                <a16:creationId xmlns="" xmlns:a16="http://schemas.microsoft.com/office/drawing/2014/main" id="{90549FF7-FEE7-4D48-B696-7FB419D68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1872" y="2318670"/>
            <a:ext cx="1361593" cy="45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1" name="Object 1037">
            <a:extLst>
              <a:ext uri="{FF2B5EF4-FFF2-40B4-BE49-F238E27FC236}">
                <a16:creationId xmlns="" xmlns:a16="http://schemas.microsoft.com/office/drawing/2014/main" id="{A9406ECD-C5F7-46C1-A58B-E12DB8097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533314"/>
              </p:ext>
            </p:extLst>
          </p:nvPr>
        </p:nvGraphicFramePr>
        <p:xfrm>
          <a:off x="4870004" y="2565898"/>
          <a:ext cx="262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6" name="Equation" r:id="rId7" imgW="2628720" imgH="444240" progId="Equation.DSMT4">
                  <p:embed/>
                </p:oleObj>
              </mc:Choice>
              <mc:Fallback>
                <p:oleObj name="Equation" r:id="rId7" imgW="2628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004" y="2565898"/>
                        <a:ext cx="262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8">
            <a:extLst>
              <a:ext uri="{FF2B5EF4-FFF2-40B4-BE49-F238E27FC236}">
                <a16:creationId xmlns="" xmlns:a16="http://schemas.microsoft.com/office/drawing/2014/main" id="{95D949B5-3F41-4A28-B05B-2A60D23E1B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86131"/>
              </p:ext>
            </p:extLst>
          </p:nvPr>
        </p:nvGraphicFramePr>
        <p:xfrm>
          <a:off x="7648129" y="2565898"/>
          <a:ext cx="255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7" name="Equation" r:id="rId9" imgW="2552400" imgH="444240" progId="Equation.DSMT4">
                  <p:embed/>
                </p:oleObj>
              </mc:Choice>
              <mc:Fallback>
                <p:oleObj name="Equation" r:id="rId9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129" y="2565898"/>
                        <a:ext cx="2552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39">
            <a:extLst>
              <a:ext uri="{FF2B5EF4-FFF2-40B4-BE49-F238E27FC236}">
                <a16:creationId xmlns="" xmlns:a16="http://schemas.microsoft.com/office/drawing/2014/main" id="{F1590F3C-0590-4058-9F3F-446A297C7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764182"/>
              </p:ext>
            </p:extLst>
          </p:nvPr>
        </p:nvGraphicFramePr>
        <p:xfrm>
          <a:off x="5243066" y="3142161"/>
          <a:ext cx="256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8" name="Equation" r:id="rId11" imgW="2565360" imgH="444240" progId="Equation.DSMT4">
                  <p:embed/>
                </p:oleObj>
              </mc:Choice>
              <mc:Fallback>
                <p:oleObj name="Equation" r:id="rId11" imgW="2565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3066" y="3142161"/>
                        <a:ext cx="2565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960836"/>
              </p:ext>
            </p:extLst>
          </p:nvPr>
        </p:nvGraphicFramePr>
        <p:xfrm>
          <a:off x="4779516" y="3843836"/>
          <a:ext cx="58578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9" name="Equation" r:id="rId13" imgW="4914720" imgH="914400" progId="Equation.DSMT4">
                  <p:embed/>
                </p:oleObj>
              </mc:Choice>
              <mc:Fallback>
                <p:oleObj name="Equation" r:id="rId13" imgW="491472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516" y="3843836"/>
                        <a:ext cx="58578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041">
            <a:extLst>
              <a:ext uri="{FF2B5EF4-FFF2-40B4-BE49-F238E27FC236}">
                <a16:creationId xmlns="" xmlns:a16="http://schemas.microsoft.com/office/drawing/2014/main" id="{11542C69-F9CB-489F-BC41-AB04DF6A7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640" y="800203"/>
            <a:ext cx="0" cy="1600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Line 1042">
            <a:extLst>
              <a:ext uri="{FF2B5EF4-FFF2-40B4-BE49-F238E27FC236}">
                <a16:creationId xmlns="" xmlns:a16="http://schemas.microsoft.com/office/drawing/2014/main" id="{0290D355-008C-4E11-A60D-88F43CB8F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3840" y="724003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Line 1043">
            <a:extLst>
              <a:ext uri="{FF2B5EF4-FFF2-40B4-BE49-F238E27FC236}">
                <a16:creationId xmlns="" xmlns:a16="http://schemas.microsoft.com/office/drawing/2014/main" id="{D0B16F86-415E-4CC0-8ADA-1FB933432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5840" y="724003"/>
            <a:ext cx="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58AED3EC-DA1E-4DA2-A39A-A0F56A8D50D9}"/>
              </a:ext>
            </a:extLst>
          </p:cNvPr>
          <p:cNvSpPr/>
          <p:nvPr/>
        </p:nvSpPr>
        <p:spPr>
          <a:xfrm>
            <a:off x="6659400" y="9231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引例</a:t>
            </a:r>
          </a:p>
        </p:txBody>
      </p:sp>
      <p:sp>
        <p:nvSpPr>
          <p:cNvPr id="20" name="右箭头 19"/>
          <p:cNvSpPr/>
          <p:nvPr/>
        </p:nvSpPr>
        <p:spPr bwMode="auto">
          <a:xfrm rot="2407435">
            <a:off x="2329374" y="3074676"/>
            <a:ext cx="2674297" cy="479293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E4307694-7C6E-4DB8-885F-AFFEC5C8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369" y="2547870"/>
            <a:ext cx="1824471" cy="15696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可见，三阶行列式可通过二阶行列式来表示．</a:t>
            </a:r>
          </a:p>
        </p:txBody>
      </p:sp>
      <p:graphicFrame>
        <p:nvGraphicFramePr>
          <p:cNvPr id="22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771566"/>
              </p:ext>
            </p:extLst>
          </p:nvPr>
        </p:nvGraphicFramePr>
        <p:xfrm>
          <a:off x="211138" y="5238750"/>
          <a:ext cx="242411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0" name="Equation" r:id="rId15" imgW="1028520" imgH="711000" progId="Equation.DSMT4">
                  <p:embed/>
                </p:oleObj>
              </mc:Choice>
              <mc:Fallback>
                <p:oleObj name="Equation" r:id="rId15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5238750"/>
                        <a:ext cx="2424112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555592"/>
              </p:ext>
            </p:extLst>
          </p:nvPr>
        </p:nvGraphicFramePr>
        <p:xfrm>
          <a:off x="4005263" y="5207000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1" name="Equation" r:id="rId17" imgW="1028520" imgH="711000" progId="Equation.DSMT4">
                  <p:embed/>
                </p:oleObj>
              </mc:Choice>
              <mc:Fallback>
                <p:oleObj name="Equation" r:id="rId17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5207000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509444"/>
              </p:ext>
            </p:extLst>
          </p:nvPr>
        </p:nvGraphicFramePr>
        <p:xfrm>
          <a:off x="8134350" y="5145576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2" name="Equation" r:id="rId19" imgW="1028520" imgH="711000" progId="Equation.DSMT4">
                  <p:embed/>
                </p:oleObj>
              </mc:Choice>
              <mc:Fallback>
                <p:oleObj name="Equation" r:id="rId19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145576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460298"/>
              </p:ext>
            </p:extLst>
          </p:nvPr>
        </p:nvGraphicFramePr>
        <p:xfrm>
          <a:off x="4654550" y="4746625"/>
          <a:ext cx="46926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3" name="Equation" r:id="rId21" imgW="2819160" imgH="330120" progId="Equation.DSMT4">
                  <p:embed/>
                </p:oleObj>
              </mc:Choice>
              <mc:Fallback>
                <p:oleObj name="Equation" r:id="rId21" imgW="2819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4746625"/>
                        <a:ext cx="46926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74753" y="5782580"/>
            <a:ext cx="1019087" cy="56767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5017" y="5873433"/>
            <a:ext cx="983887" cy="47271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94147" y="5846587"/>
            <a:ext cx="1046470" cy="50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0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127475"/>
              </p:ext>
            </p:extLst>
          </p:nvPr>
        </p:nvGraphicFramePr>
        <p:xfrm>
          <a:off x="675667" y="728296"/>
          <a:ext cx="24241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2" name="Equation" r:id="rId3" imgW="1028520" imgH="711000" progId="Equation.DSMT4">
                  <p:embed/>
                </p:oleObj>
              </mc:Choice>
              <mc:Fallback>
                <p:oleObj name="Equation" r:id="rId3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67" y="728296"/>
                        <a:ext cx="24241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17691"/>
              </p:ext>
            </p:extLst>
          </p:nvPr>
        </p:nvGraphicFramePr>
        <p:xfrm>
          <a:off x="4754089" y="764704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name="Equation" r:id="rId5" imgW="1028520" imgH="711000" progId="Equation.DSMT4">
                  <p:embed/>
                </p:oleObj>
              </mc:Choice>
              <mc:Fallback>
                <p:oleObj name="Equation" r:id="rId5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089" y="764704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074722"/>
              </p:ext>
            </p:extLst>
          </p:nvPr>
        </p:nvGraphicFramePr>
        <p:xfrm>
          <a:off x="8834098" y="768834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4" name="Equation" r:id="rId7" imgW="1028520" imgH="711000" progId="Equation.DSMT4">
                  <p:embed/>
                </p:oleObj>
              </mc:Choice>
              <mc:Fallback>
                <p:oleObj name="Equation" r:id="rId7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098" y="768834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9412" y="1436875"/>
            <a:ext cx="859759" cy="4470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7083" y="1345304"/>
            <a:ext cx="938880" cy="4423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01635" y="1436875"/>
            <a:ext cx="777045" cy="393245"/>
          </a:xfrm>
          <a:prstGeom prst="rect">
            <a:avLst/>
          </a:prstGeom>
        </p:spPr>
      </p:pic>
      <p:graphicFrame>
        <p:nvGraphicFramePr>
          <p:cNvPr id="8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59822"/>
              </p:ext>
            </p:extLst>
          </p:nvPr>
        </p:nvGraphicFramePr>
        <p:xfrm>
          <a:off x="767408" y="2708920"/>
          <a:ext cx="24241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5" name="Equation" r:id="rId12" imgW="1028520" imgH="711000" progId="Equation.DSMT4">
                  <p:embed/>
                </p:oleObj>
              </mc:Choice>
              <mc:Fallback>
                <p:oleObj name="Equation" r:id="rId12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2708920"/>
                        <a:ext cx="24241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299319"/>
              </p:ext>
            </p:extLst>
          </p:nvPr>
        </p:nvGraphicFramePr>
        <p:xfrm>
          <a:off x="4672821" y="2708920"/>
          <a:ext cx="242252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6" name="Equation" r:id="rId14" imgW="1028520" imgH="711000" progId="Equation.DSMT4">
                  <p:embed/>
                </p:oleObj>
              </mc:Choice>
              <mc:Fallback>
                <p:oleObj name="Equation" r:id="rId14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821" y="2708920"/>
                        <a:ext cx="242252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024031"/>
              </p:ext>
            </p:extLst>
          </p:nvPr>
        </p:nvGraphicFramePr>
        <p:xfrm>
          <a:off x="8464907" y="2776553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7" name="Equation" r:id="rId16" imgW="1028520" imgH="711000" progId="Equation.DSMT4">
                  <p:embed/>
                </p:oleObj>
              </mc:Choice>
              <mc:Fallback>
                <p:oleObj name="Equation" r:id="rId16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907" y="2776553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3358" y="3337907"/>
            <a:ext cx="946605" cy="47275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1636" y="3317498"/>
            <a:ext cx="908851" cy="4366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90607" y="3394759"/>
            <a:ext cx="868845" cy="417439"/>
          </a:xfrm>
          <a:prstGeom prst="rect">
            <a:avLst/>
          </a:prstGeom>
        </p:spPr>
      </p:pic>
      <p:graphicFrame>
        <p:nvGraphicFramePr>
          <p:cNvPr id="14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010229"/>
              </p:ext>
            </p:extLst>
          </p:nvPr>
        </p:nvGraphicFramePr>
        <p:xfrm>
          <a:off x="731626" y="4831745"/>
          <a:ext cx="242411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8" name="Equation" r:id="rId21" imgW="1028520" imgH="711000" progId="Equation.DSMT4">
                  <p:embed/>
                </p:oleObj>
              </mc:Choice>
              <mc:Fallback>
                <p:oleObj name="Equation" r:id="rId21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626" y="4831745"/>
                        <a:ext cx="2424112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695389"/>
              </p:ext>
            </p:extLst>
          </p:nvPr>
        </p:nvGraphicFramePr>
        <p:xfrm>
          <a:off x="4525751" y="4799995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9" name="Equation" r:id="rId23" imgW="1028520" imgH="711000" progId="Equation.DSMT4">
                  <p:embed/>
                </p:oleObj>
              </mc:Choice>
              <mc:Fallback>
                <p:oleObj name="Equation" r:id="rId23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751" y="4799995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553266"/>
              </p:ext>
            </p:extLst>
          </p:nvPr>
        </p:nvGraphicFramePr>
        <p:xfrm>
          <a:off x="8654838" y="4738571"/>
          <a:ext cx="24257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0" name="Equation" r:id="rId25" imgW="1028520" imgH="711000" progId="Equation.DSMT4">
                  <p:embed/>
                </p:oleObj>
              </mc:Choice>
              <mc:Fallback>
                <p:oleObj name="Equation" r:id="rId25" imgW="1028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4838" y="4738571"/>
                        <a:ext cx="24257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95241" y="5375575"/>
            <a:ext cx="1019087" cy="56767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035505" y="5466428"/>
            <a:ext cx="983887" cy="47271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114635" y="5439582"/>
            <a:ext cx="1046470" cy="509225"/>
          </a:xfrm>
          <a:prstGeom prst="rect">
            <a:avLst/>
          </a:prstGeom>
        </p:spPr>
      </p:pic>
      <p:graphicFrame>
        <p:nvGraphicFramePr>
          <p:cNvPr id="20" name="对象 19">
            <a:extLst>
              <a:ext uri="{FF2B5EF4-FFF2-40B4-BE49-F238E27FC236}">
                <a16:creationId xmlns="" xmlns:a16="http://schemas.microsoft.com/office/drawing/2014/main" id="{B59F56C8-AACB-472B-9DB6-E7B3DBA66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339178"/>
              </p:ext>
            </p:extLst>
          </p:nvPr>
        </p:nvGraphicFramePr>
        <p:xfrm>
          <a:off x="1478992" y="2368184"/>
          <a:ext cx="9087548" cy="2578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1" name="Equation" r:id="rId30" imgW="6578280" imgH="1866600" progId="Equation.DSMT4">
                  <p:embed/>
                </p:oleObj>
              </mc:Choice>
              <mc:Fallback>
                <p:oleObj name="Equation" r:id="rId30" imgW="6578280" imgH="186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992" y="2368184"/>
                        <a:ext cx="9087548" cy="2578899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654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8">
            <a:extLst>
              <a:ext uri="{FF2B5EF4-FFF2-40B4-BE49-F238E27FC236}">
                <a16:creationId xmlns="" xmlns:a16="http://schemas.microsoft.com/office/drawing/2014/main" id="{E373CAB4-0DBE-4B36-BECD-E3E30DB0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578639"/>
              </p:ext>
            </p:extLst>
          </p:nvPr>
        </p:nvGraphicFramePr>
        <p:xfrm>
          <a:off x="767408" y="980728"/>
          <a:ext cx="2185278" cy="1676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1" name="Equation" r:id="rId3" imgW="927000" imgH="711000" progId="Equation.DSMT4">
                  <p:embed/>
                </p:oleObj>
              </mc:Choice>
              <mc:Fallback>
                <p:oleObj name="Equation" r:id="rId3" imgW="9270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980728"/>
                        <a:ext cx="2185278" cy="1676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850783"/>
              </p:ext>
            </p:extLst>
          </p:nvPr>
        </p:nvGraphicFramePr>
        <p:xfrm>
          <a:off x="3105150" y="1700213"/>
          <a:ext cx="44624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2" name="Equation" r:id="rId5" imgW="2679480" imgH="330120" progId="Equation.DSMT4">
                  <p:embed/>
                </p:oleObj>
              </mc:Choice>
              <mc:Fallback>
                <p:oleObj name="Equation" r:id="rId5" imgW="2679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1700213"/>
                        <a:ext cx="446246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773142"/>
              </p:ext>
            </p:extLst>
          </p:nvPr>
        </p:nvGraphicFramePr>
        <p:xfrm>
          <a:off x="7532688" y="1792288"/>
          <a:ext cx="46275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name="Equation" r:id="rId7" imgW="2781000" imgH="330120" progId="Equation.DSMT4">
                  <p:embed/>
                </p:oleObj>
              </mc:Choice>
              <mc:Fallback>
                <p:oleObj name="Equation" r:id="rId7" imgW="2781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688" y="1792288"/>
                        <a:ext cx="46275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40">
            <a:extLst>
              <a:ext uri="{FF2B5EF4-FFF2-40B4-BE49-F238E27FC236}">
                <a16:creationId xmlns="" xmlns:a16="http://schemas.microsoft.com/office/drawing/2014/main" id="{4F7640FA-1221-4E6D-9E78-4F90CD7B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951057"/>
              </p:ext>
            </p:extLst>
          </p:nvPr>
        </p:nvGraphicFramePr>
        <p:xfrm>
          <a:off x="3126714" y="2366832"/>
          <a:ext cx="46926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9" imgW="2819160" imgH="330120" progId="Equation.DSMT4">
                  <p:embed/>
                </p:oleObj>
              </mc:Choice>
              <mc:Fallback>
                <p:oleObj name="Equation" r:id="rId9" imgW="2819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714" y="2366832"/>
                        <a:ext cx="46926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="" xmlns:a16="http://schemas.microsoft.com/office/drawing/2014/main" id="{4F73A549-0B63-48FF-95D1-E2E58D55F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194326"/>
              </p:ext>
            </p:extLst>
          </p:nvPr>
        </p:nvGraphicFramePr>
        <p:xfrm>
          <a:off x="767408" y="3124648"/>
          <a:ext cx="69850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11" imgW="6984720" imgH="1257120" progId="Equation.DSMT4">
                  <p:embed/>
                </p:oleObj>
              </mc:Choice>
              <mc:Fallback>
                <p:oleObj name="Equation" r:id="rId11" imgW="6984720" imgH="1257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3124648"/>
                        <a:ext cx="69850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="" xmlns:a16="http://schemas.microsoft.com/office/drawing/2014/main" id="{C1F2D1DD-18E8-417F-94F1-F878A903E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800704"/>
              </p:ext>
            </p:extLst>
          </p:nvPr>
        </p:nvGraphicFramePr>
        <p:xfrm>
          <a:off x="8328248" y="3586610"/>
          <a:ext cx="122713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13" imgW="1358640" imgH="368280" progId="Equation.DSMT4">
                  <p:embed/>
                </p:oleObj>
              </mc:Choice>
              <mc:Fallback>
                <p:oleObj name="Equation" r:id="rId13" imgW="13586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3586610"/>
                        <a:ext cx="1227137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14814"/>
              </p:ext>
            </p:extLst>
          </p:nvPr>
        </p:nvGraphicFramePr>
        <p:xfrm>
          <a:off x="407368" y="4668817"/>
          <a:ext cx="3398838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Equation" r:id="rId15" imgW="1495245" imgH="923911" progId="Equation.DSMT4">
                  <p:embed/>
                </p:oleObj>
              </mc:Choice>
              <mc:Fallback>
                <p:oleObj name="Equation" r:id="rId15" imgW="1495245" imgH="92391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68" y="4668817"/>
                        <a:ext cx="3398838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="" xmlns:a16="http://schemas.microsoft.com/office/drawing/2014/main" id="{4F73A549-0B63-48FF-95D1-E2E58D55F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878704"/>
              </p:ext>
            </p:extLst>
          </p:nvPr>
        </p:nvGraphicFramePr>
        <p:xfrm>
          <a:off x="3835926" y="5157192"/>
          <a:ext cx="5740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Equation" r:id="rId17" imgW="5740200" imgH="952200" progId="Equation.DSMT4">
                  <p:embed/>
                </p:oleObj>
              </mc:Choice>
              <mc:Fallback>
                <p:oleObj name="Equation" r:id="rId17" imgW="5740200" imgH="952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926" y="5157192"/>
                        <a:ext cx="5740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="" xmlns:a16="http://schemas.microsoft.com/office/drawing/2014/main" id="{C1F2D1DD-18E8-417F-94F1-F878A903E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324516"/>
              </p:ext>
            </p:extLst>
          </p:nvPr>
        </p:nvGraphicFramePr>
        <p:xfrm>
          <a:off x="9846469" y="5466754"/>
          <a:ext cx="15954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name="Equation" r:id="rId19" imgW="1765080" imgH="368280" progId="Equation.DSMT4">
                  <p:embed/>
                </p:oleObj>
              </mc:Choice>
              <mc:Fallback>
                <p:oleObj name="Equation" r:id="rId19" imgW="17650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6469" y="5466754"/>
                        <a:ext cx="159543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627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="" xmlns:a16="http://schemas.microsoft.com/office/drawing/2014/main" id="{CF31D221-9DF5-46A3-A80B-F01F5EAFE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092" y="1003640"/>
            <a:ext cx="1223963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引理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97C4FF3-0D61-4775-9A4B-75BAAE17B782}"/>
              </a:ext>
            </a:extLst>
          </p:cNvPr>
          <p:cNvGrpSpPr>
            <a:grpSpLocks/>
          </p:cNvGrpSpPr>
          <p:nvPr/>
        </p:nvGrpSpPr>
        <p:grpSpPr bwMode="auto">
          <a:xfrm>
            <a:off x="3180514" y="1668805"/>
            <a:ext cx="6480175" cy="519113"/>
            <a:chOff x="839" y="1933"/>
            <a:chExt cx="4082" cy="327"/>
          </a:xfrm>
        </p:grpSpPr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8494862B-CF4E-43D5-9DE5-EBC1CF720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933"/>
              <a:ext cx="40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元素除  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外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都为 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itchFamily="18" charset="0"/>
                </a:rPr>
                <a:t>0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，则</a:t>
              </a:r>
            </a:p>
          </p:txBody>
        </p:sp>
        <p:graphicFrame>
          <p:nvGraphicFramePr>
            <p:cNvPr id="14349" name="Object 5">
              <a:extLst>
                <a:ext uri="{FF2B5EF4-FFF2-40B4-BE49-F238E27FC236}">
                  <a16:creationId xmlns="" xmlns:a16="http://schemas.microsoft.com/office/drawing/2014/main" id="{FC393391-274E-453F-A877-ADC6247D96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247471"/>
                </p:ext>
              </p:extLst>
            </p:nvPr>
          </p:nvGraphicFramePr>
          <p:xfrm>
            <a:off x="1587" y="1956"/>
            <a:ext cx="22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19" name="Equation" r:id="rId4" imgW="355320" imgH="482400" progId="Equation.DSMT4">
                    <p:embed/>
                  </p:oleObj>
                </mc:Choice>
                <mc:Fallback>
                  <p:oleObj name="Equation" r:id="rId4" imgW="355320" imgH="482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7" y="1956"/>
                          <a:ext cx="22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6">
            <a:extLst>
              <a:ext uri="{FF2B5EF4-FFF2-40B4-BE49-F238E27FC236}">
                <a16:creationId xmlns="" xmlns:a16="http://schemas.microsoft.com/office/drawing/2014/main" id="{BFD5E2B1-EF95-481A-B4F6-153E00A35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133439"/>
              </p:ext>
            </p:extLst>
          </p:nvPr>
        </p:nvGraphicFramePr>
        <p:xfrm>
          <a:off x="7176120" y="1768812"/>
          <a:ext cx="1511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0" name="Equation" r:id="rId6" imgW="1511280" imgH="482400" progId="Equation.DSMT4">
                  <p:embed/>
                </p:oleObj>
              </mc:Choice>
              <mc:Fallback>
                <p:oleObj name="Equation" r:id="rId6" imgW="151128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1768812"/>
                        <a:ext cx="1511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9">
            <a:extLst>
              <a:ext uri="{FF2B5EF4-FFF2-40B4-BE49-F238E27FC236}">
                <a16:creationId xmlns="" xmlns:a16="http://schemas.microsoft.com/office/drawing/2014/main" id="{4872B46F-7630-4746-9CE5-86E3BA8039F7}"/>
              </a:ext>
            </a:extLst>
          </p:cNvPr>
          <p:cNvGrpSpPr>
            <a:grpSpLocks/>
          </p:cNvGrpSpPr>
          <p:nvPr/>
        </p:nvGrpSpPr>
        <p:grpSpPr bwMode="auto">
          <a:xfrm>
            <a:off x="3234488" y="1067142"/>
            <a:ext cx="9505950" cy="536576"/>
            <a:chOff x="748" y="1026"/>
            <a:chExt cx="5988" cy="338"/>
          </a:xfrm>
        </p:grpSpPr>
        <p:sp>
          <p:nvSpPr>
            <p:cNvPr id="9" name="Rectangle 10">
              <a:extLst>
                <a:ext uri="{FF2B5EF4-FFF2-40B4-BE49-F238E27FC236}">
                  <a16:creationId xmlns="" xmlns:a16="http://schemas.microsoft.com/office/drawing/2014/main" id="{85BDB3DA-8259-4D68-A593-125AB8055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026"/>
              <a:ext cx="59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b="1" i="1" dirty="0">
                  <a:solidFill>
                    <a:schemeClr val="bg1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solidFill>
                    <a:schemeClr val="bg1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阶行列式 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D =              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中的第</a:t>
              </a:r>
              <a:r>
                <a:rPr lang="en-US" altLang="zh-CN" sz="2800" b="1" i="1" dirty="0" err="1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行所有</a:t>
              </a:r>
            </a:p>
          </p:txBody>
        </p:sp>
        <p:graphicFrame>
          <p:nvGraphicFramePr>
            <p:cNvPr id="14347" name="Object 11">
              <a:extLst>
                <a:ext uri="{FF2B5EF4-FFF2-40B4-BE49-F238E27FC236}">
                  <a16:creationId xmlns="" xmlns:a16="http://schemas.microsoft.com/office/drawing/2014/main" id="{60B45D94-6B7B-4D94-B2B9-7DDC624C80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562740"/>
                </p:ext>
              </p:extLst>
            </p:nvPr>
          </p:nvGraphicFramePr>
          <p:xfrm>
            <a:off x="2641" y="1060"/>
            <a:ext cx="6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1" name="Equation" r:id="rId8" imgW="1091880" imgH="482400" progId="Equation.DSMT4">
                    <p:embed/>
                  </p:oleObj>
                </mc:Choice>
                <mc:Fallback>
                  <p:oleObj name="Equation" r:id="rId8" imgW="1091880" imgH="482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1" y="1060"/>
                          <a:ext cx="68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="" xmlns:a16="http://schemas.microsoft.com/office/drawing/2014/main" id="{D151C1C5-5352-4955-AA47-D2D50B9026C4}"/>
              </a:ext>
            </a:extLst>
          </p:cNvPr>
          <p:cNvGrpSpPr>
            <a:grpSpLocks/>
          </p:cNvGrpSpPr>
          <p:nvPr/>
        </p:nvGrpSpPr>
        <p:grpSpPr bwMode="auto">
          <a:xfrm>
            <a:off x="2423593" y="1196751"/>
            <a:ext cx="4927599" cy="523874"/>
            <a:chOff x="597" y="542"/>
            <a:chExt cx="3104" cy="330"/>
          </a:xfrm>
        </p:grpSpPr>
        <p:sp>
          <p:nvSpPr>
            <p:cNvPr id="15376" name="Text Box 3">
              <a:extLst>
                <a:ext uri="{FF2B5EF4-FFF2-40B4-BE49-F238E27FC236}">
                  <a16:creationId xmlns="" xmlns:a16="http://schemas.microsoft.com/office/drawing/2014/main" id="{56B28420-B876-4708-8953-A2050EA03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542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证</a:t>
              </a:r>
              <a:endParaRPr lang="zh-CN" altLang="en-US" sz="24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4" name="Text Box 4">
              <a:extLst>
                <a:ext uri="{FF2B5EF4-FFF2-40B4-BE49-F238E27FC236}">
                  <a16:creationId xmlns="" xmlns:a16="http://schemas.microsoft.com/office/drawing/2014/main" id="{8F7BA5E8-47E2-4B0E-AC61-6EE52C5D4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542"/>
              <a:ext cx="259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当   位于第一行第一列时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,</a:t>
              </a:r>
              <a:endPara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5378" name="Object 5">
              <a:extLst>
                <a:ext uri="{FF2B5EF4-FFF2-40B4-BE49-F238E27FC236}">
                  <a16:creationId xmlns="" xmlns:a16="http://schemas.microsoft.com/office/drawing/2014/main" id="{E127270F-35D9-4808-AD1C-210893DC69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2015492"/>
                </p:ext>
              </p:extLst>
            </p:nvPr>
          </p:nvGraphicFramePr>
          <p:xfrm>
            <a:off x="1413" y="569"/>
            <a:ext cx="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22" name="Equation" r:id="rId3" imgW="304560" imgH="431640" progId="Equation.DSMT4">
                    <p:embed/>
                  </p:oleObj>
                </mc:Choice>
                <mc:Fallback>
                  <p:oleObj name="Equation" r:id="rId3" imgW="304560" imgH="431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569"/>
                          <a:ext cx="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6">
            <a:extLst>
              <a:ext uri="{FF2B5EF4-FFF2-40B4-BE49-F238E27FC236}">
                <a16:creationId xmlns="" xmlns:a16="http://schemas.microsoft.com/office/drawing/2014/main" id="{F8CFA9A9-D14C-4F88-9C6B-1744AA092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726241"/>
              </p:ext>
            </p:extLst>
          </p:nvPr>
        </p:nvGraphicFramePr>
        <p:xfrm>
          <a:off x="3778474" y="1917861"/>
          <a:ext cx="3466827" cy="2150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3" name="Equation" r:id="rId5" imgW="3009600" imgH="1866600" progId="Equation.DSMT4">
                  <p:embed/>
                </p:oleObj>
              </mc:Choice>
              <mc:Fallback>
                <p:oleObj name="Equation" r:id="rId5" imgW="3009600" imgH="1866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474" y="1917861"/>
                        <a:ext cx="3466827" cy="2150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="" xmlns:a16="http://schemas.microsoft.com/office/drawing/2014/main" id="{F0523062-EBBA-4E30-BFCC-BC700474F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7954" y="4305077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即有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="" xmlns:a16="http://schemas.microsoft.com/office/drawing/2014/main" id="{96B3DBA1-6FA5-4B27-A732-C19DCEB45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26766"/>
              </p:ext>
            </p:extLst>
          </p:nvPr>
        </p:nvGraphicFramePr>
        <p:xfrm>
          <a:off x="3503712" y="4404099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4" name="Equation" r:id="rId7" imgW="1460160" imgH="393480" progId="Equation.DSMT4">
                  <p:embed/>
                </p:oleObj>
              </mc:Choice>
              <mc:Fallback>
                <p:oleObj name="Equation" r:id="rId7" imgW="146016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404099"/>
                        <a:ext cx="1460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="" xmlns:a16="http://schemas.microsoft.com/office/drawing/2014/main" id="{77CA5DC0-B66B-4479-8516-BEF4EE62C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243" y="498611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又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="" xmlns:a16="http://schemas.microsoft.com/office/drawing/2014/main" id="{C498D411-15F1-4AFB-8392-EC1DD5663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41810"/>
              </p:ext>
            </p:extLst>
          </p:nvPr>
        </p:nvGraphicFramePr>
        <p:xfrm>
          <a:off x="3017317" y="4979764"/>
          <a:ext cx="294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5" name="Equation" r:id="rId9" imgW="2946240" imgH="507960" progId="Equation.DSMT4">
                  <p:embed/>
                </p:oleObj>
              </mc:Choice>
              <mc:Fallback>
                <p:oleObj name="Equation" r:id="rId9" imgW="2946240" imgH="507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317" y="4979764"/>
                        <a:ext cx="2946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>
            <a:extLst>
              <a:ext uri="{FF2B5EF4-FFF2-40B4-BE49-F238E27FC236}">
                <a16:creationId xmlns="" xmlns:a16="http://schemas.microsoft.com/office/drawing/2014/main" id="{6FCDAED8-EE56-4C67-9A59-531ACDC39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2642" y="5015333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从而</a:t>
            </a:r>
          </a:p>
        </p:txBody>
      </p:sp>
      <p:graphicFrame>
        <p:nvGraphicFramePr>
          <p:cNvPr id="13" name="Object 13">
            <a:extLst>
              <a:ext uri="{FF2B5EF4-FFF2-40B4-BE49-F238E27FC236}">
                <a16:creationId xmlns="" xmlns:a16="http://schemas.microsoft.com/office/drawing/2014/main" id="{401FC9E2-05F1-459F-88DE-548B27FF2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252"/>
              </p:ext>
            </p:extLst>
          </p:nvPr>
        </p:nvGraphicFramePr>
        <p:xfrm>
          <a:off x="7154342" y="5104225"/>
          <a:ext cx="134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6" name="Equation" r:id="rId11" imgW="1346040" imgH="393480" progId="Equation.DSMT4">
                  <p:embed/>
                </p:oleObj>
              </mc:Choice>
              <mc:Fallback>
                <p:oleObj name="Equation" r:id="rId11" imgW="134604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342" y="5104225"/>
                        <a:ext cx="1346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>
            <a:extLst>
              <a:ext uri="{FF2B5EF4-FFF2-40B4-BE49-F238E27FC236}">
                <a16:creationId xmlns="" xmlns:a16="http://schemas.microsoft.com/office/drawing/2014/main" id="{66AA903C-7CD2-422B-817B-065CE7D62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750" y="5669729"/>
            <a:ext cx="3416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再证一般情形，此时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="" xmlns:a16="http://schemas.microsoft.com/office/drawing/2014/main" id="{71939937-B594-4F31-8E69-36B9176EA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896" y="2471225"/>
            <a:ext cx="1994446" cy="1552865"/>
          </a:xfrm>
          <a:prstGeom prst="rect">
            <a:avLst/>
          </a:prstGeom>
          <a:solidFill>
            <a:srgbClr val="FF9900">
              <a:alpha val="39999"/>
            </a:srgbClr>
          </a:solidFill>
          <a:ln w="349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="" xmlns:a16="http://schemas.microsoft.com/office/drawing/2014/main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518" y="1976214"/>
            <a:ext cx="2663825" cy="463550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="" xmlns:a16="http://schemas.microsoft.com/office/drawing/2014/main" id="{6B0E12D0-13D5-492C-96CA-CFB4D7A8A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517" y="1974627"/>
            <a:ext cx="576262" cy="2049462"/>
          </a:xfrm>
          <a:prstGeom prst="rect">
            <a:avLst/>
          </a:prstGeom>
          <a:solidFill>
            <a:srgbClr val="3366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75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withGroup">
                            <p:stCondLst>
                              <p:cond delay="1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  <p:bldP spid="12" grpId="0" autoUpdateAnimBg="0"/>
      <p:bldP spid="14" grpId="0" autoUpdateAnimBg="0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extLst>
              <a:ext uri="{FF2B5EF4-FFF2-40B4-BE49-F238E27FC236}">
                <a16:creationId xmlns="" xmlns:a16="http://schemas.microsoft.com/office/drawing/2014/main" id="{3A4A677D-4107-4869-AF49-6A008D46D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784854"/>
              </p:ext>
            </p:extLst>
          </p:nvPr>
        </p:nvGraphicFramePr>
        <p:xfrm>
          <a:off x="3863752" y="885800"/>
          <a:ext cx="35179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0" name="Equation" r:id="rId3" imgW="3517560" imgH="2387520" progId="Equation.DSMT4">
                  <p:embed/>
                </p:oleObj>
              </mc:Choice>
              <mc:Fallback>
                <p:oleObj name="Equation" r:id="rId3" imgW="3517560" imgH="23875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885800"/>
                        <a:ext cx="35179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="" xmlns:a16="http://schemas.microsoft.com/office/drawing/2014/main" id="{A5A3CD77-8507-40EF-9E14-1DB098341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6054" y="4941169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得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="" xmlns:a16="http://schemas.microsoft.com/office/drawing/2014/main" id="{4C715629-D229-408C-A71B-0D8019E8C6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493922"/>
              </p:ext>
            </p:extLst>
          </p:nvPr>
        </p:nvGraphicFramePr>
        <p:xfrm>
          <a:off x="3000375" y="4076701"/>
          <a:ext cx="4999038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1" name="Equation" r:id="rId5" imgW="4978080" imgH="2387520" progId="Equation.DSMT4">
                  <p:embed/>
                </p:oleObj>
              </mc:Choice>
              <mc:Fallback>
                <p:oleObj name="Equation" r:id="rId5" imgW="4978080" imgH="23875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076701"/>
                        <a:ext cx="4999038" cy="239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0FF09038-8865-4E8A-9252-ABD4C3931208}"/>
              </a:ext>
            </a:extLst>
          </p:cNvPr>
          <p:cNvSpPr txBox="1"/>
          <p:nvPr/>
        </p:nvSpPr>
        <p:spPr>
          <a:xfrm>
            <a:off x="2265316" y="3387403"/>
            <a:ext cx="73532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的第</a:t>
            </a:r>
            <a:r>
              <a:rPr lang="en-US" altLang="zh-CN" sz="26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行依次与第</a:t>
            </a:r>
            <a:r>
              <a:rPr lang="en-US" altLang="zh-CN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i-1</a:t>
            </a:r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行，第</a:t>
            </a:r>
            <a:r>
              <a:rPr lang="en-US" altLang="zh-CN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i-2</a:t>
            </a:r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行，第</a:t>
            </a:r>
            <a:r>
              <a:rPr lang="en-US" altLang="zh-CN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行对调</a:t>
            </a:r>
            <a:r>
              <a:rPr lang="zh-CN" altLang="en-US" sz="2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="" xmlns:a16="http://schemas.microsoft.com/office/drawing/2014/main" id="{5762DB6D-59D6-42CB-9308-AE52402FA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600" y="1196753"/>
            <a:ext cx="684076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再把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的第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列依次与第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j-1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列，第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j-2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列，第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列对调，得到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="" xmlns:a16="http://schemas.microsoft.com/office/drawing/2014/main" id="{ED36D206-FD5D-4410-8A2F-151DA6CE2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470008"/>
              </p:ext>
            </p:extLst>
          </p:nvPr>
        </p:nvGraphicFramePr>
        <p:xfrm>
          <a:off x="2804480" y="2996952"/>
          <a:ext cx="62230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8" name="Equation" r:id="rId3" imgW="6222960" imgH="2387520" progId="Equation.DSMT4">
                  <p:embed/>
                </p:oleObj>
              </mc:Choice>
              <mc:Fallback>
                <p:oleObj name="Equation" r:id="rId3" imgW="6222960" imgH="23875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480" y="2996952"/>
                        <a:ext cx="62230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="" xmlns:a16="http://schemas.microsoft.com/office/drawing/2014/main" id="{358C29D3-A152-450A-8CD1-572556F02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251099"/>
              </p:ext>
            </p:extLst>
          </p:nvPr>
        </p:nvGraphicFramePr>
        <p:xfrm>
          <a:off x="3071664" y="3789040"/>
          <a:ext cx="49149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6" name="Equation" r:id="rId3" imgW="4914720" imgH="2387520" progId="Equation.DSMT4">
                  <p:embed/>
                </p:oleObj>
              </mc:Choice>
              <mc:Fallback>
                <p:oleObj name="Equation" r:id="rId3" imgW="4914720" imgH="238752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3789040"/>
                        <a:ext cx="49149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="" xmlns:a16="http://schemas.microsoft.com/office/drawing/2014/main" id="{C7651A71-171D-4D4E-924B-7EB733382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401942"/>
              </p:ext>
            </p:extLst>
          </p:nvPr>
        </p:nvGraphicFramePr>
        <p:xfrm>
          <a:off x="2711624" y="908720"/>
          <a:ext cx="51308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7" name="Equation" r:id="rId5" imgW="5130720" imgH="2387520" progId="Equation.DSMT4">
                  <p:embed/>
                </p:oleObj>
              </mc:Choice>
              <mc:Fallback>
                <p:oleObj name="Equation" r:id="rId5" imgW="5130720" imgH="2387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="" xmlns:a16="http://schemas.microsoft.com/office/drawing/2014/main" id="{358C29D3-A152-450A-8CD1-572556F027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908720"/>
                        <a:ext cx="51308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="" xmlns:a16="http://schemas.microsoft.com/office/drawing/2014/main" id="{8C0E1AB3-1D8C-4F96-B6BF-A201AC642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504442"/>
              </p:ext>
            </p:extLst>
          </p:nvPr>
        </p:nvGraphicFramePr>
        <p:xfrm>
          <a:off x="2587515" y="3959225"/>
          <a:ext cx="35179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" name="Equation" r:id="rId3" imgW="3517560" imgH="2387520" progId="Equation.DSMT4">
                  <p:embed/>
                </p:oleObj>
              </mc:Choice>
              <mc:Fallback>
                <p:oleObj name="Equation" r:id="rId3" imgW="3517560" imgH="23875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515" y="3959225"/>
                        <a:ext cx="35179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4ADE23BA-E520-4137-B7BB-B4754F0B91E5}"/>
              </a:ext>
            </a:extLst>
          </p:cNvPr>
          <p:cNvGrpSpPr>
            <a:grpSpLocks/>
          </p:cNvGrpSpPr>
          <p:nvPr/>
        </p:nvGrpSpPr>
        <p:grpSpPr bwMode="auto">
          <a:xfrm>
            <a:off x="6456040" y="4891088"/>
            <a:ext cx="2444750" cy="523875"/>
            <a:chOff x="528" y="480"/>
            <a:chExt cx="1540" cy="330"/>
          </a:xfrm>
        </p:grpSpPr>
        <p:sp>
          <p:nvSpPr>
            <p:cNvPr id="19464" name="Text Box 4">
              <a:extLst>
                <a:ext uri="{FF2B5EF4-FFF2-40B4-BE49-F238E27FC236}">
                  <a16:creationId xmlns="" xmlns:a16="http://schemas.microsoft.com/office/drawing/2014/main" id="{6B662F42-0040-4DF9-BC2A-A3644A63F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480"/>
              <a:ext cx="12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中的余子式</a:t>
              </a:r>
            </a:p>
          </p:txBody>
        </p:sp>
        <p:graphicFrame>
          <p:nvGraphicFramePr>
            <p:cNvPr id="19465" name="Object 5">
              <a:extLst>
                <a:ext uri="{FF2B5EF4-FFF2-40B4-BE49-F238E27FC236}">
                  <a16:creationId xmlns="" xmlns:a16="http://schemas.microsoft.com/office/drawing/2014/main" id="{E2F6592C-5776-45B5-83C7-8EBB6BF797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8021628"/>
                </p:ext>
              </p:extLst>
            </p:nvPr>
          </p:nvGraphicFramePr>
          <p:xfrm>
            <a:off x="1780" y="538"/>
            <a:ext cx="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1" name="Equation" r:id="rId5" imgW="457200" imgH="431640" progId="Equation.DSMT4">
                    <p:embed/>
                  </p:oleObj>
                </mc:Choice>
                <mc:Fallback>
                  <p:oleObj name="Equation" r:id="rId5" imgW="457200" imgH="431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0" y="538"/>
                          <a:ext cx="2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62" name="Object 7">
            <a:extLst>
              <a:ext uri="{FF2B5EF4-FFF2-40B4-BE49-F238E27FC236}">
                <a16:creationId xmlns="" xmlns:a16="http://schemas.microsoft.com/office/drawing/2014/main" id="{7131924A-A270-4C52-AEED-FA200AB3D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767409"/>
              </p:ext>
            </p:extLst>
          </p:nvPr>
        </p:nvGraphicFramePr>
        <p:xfrm>
          <a:off x="2567609" y="980729"/>
          <a:ext cx="6759575" cy="281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2" name="Equation" r:id="rId7" imgW="6603840" imgH="2920680" progId="Equation.DSMT4">
                  <p:embed/>
                </p:oleObj>
              </mc:Choice>
              <mc:Fallback>
                <p:oleObj name="Equation" r:id="rId7" imgW="6603840" imgH="29206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980729"/>
                        <a:ext cx="6759575" cy="281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7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C2D9D12E-202C-4DBB-8DFB-79D464B9E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928" y="4653137"/>
            <a:ext cx="1501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故得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="" xmlns:a16="http://schemas.microsoft.com/office/drawing/2014/main" id="{C4D4D92D-D3BB-44FD-ADAB-B224854EBA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478203"/>
              </p:ext>
            </p:extLst>
          </p:nvPr>
        </p:nvGraphicFramePr>
        <p:xfrm>
          <a:off x="2622550" y="3778250"/>
          <a:ext cx="7902575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5" name="Equation" r:id="rId3" imgW="8140680" imgH="2387520" progId="Equation.DSMT4">
                  <p:embed/>
                </p:oleObj>
              </mc:Choice>
              <mc:Fallback>
                <p:oleObj name="Equation" r:id="rId3" imgW="8140680" imgH="23875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3778250"/>
                        <a:ext cx="7902575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5" name="Group 5">
            <a:extLst>
              <a:ext uri="{FF2B5EF4-FFF2-40B4-BE49-F238E27FC236}">
                <a16:creationId xmlns="" xmlns:a16="http://schemas.microsoft.com/office/drawing/2014/main" id="{929DF258-F3EE-4FA9-AECB-414B8BE5546E}"/>
              </a:ext>
            </a:extLst>
          </p:cNvPr>
          <p:cNvGrpSpPr>
            <a:grpSpLocks/>
          </p:cNvGrpSpPr>
          <p:nvPr/>
        </p:nvGrpSpPr>
        <p:grpSpPr bwMode="auto">
          <a:xfrm>
            <a:off x="1888927" y="909096"/>
            <a:ext cx="6718300" cy="2387600"/>
            <a:chOff x="120" y="508"/>
            <a:chExt cx="4232" cy="1504"/>
          </a:xfrm>
        </p:grpSpPr>
        <p:sp>
          <p:nvSpPr>
            <p:cNvPr id="20487" name="Text Box 6">
              <a:extLst>
                <a:ext uri="{FF2B5EF4-FFF2-40B4-BE49-F238E27FC236}">
                  <a16:creationId xmlns="" xmlns:a16="http://schemas.microsoft.com/office/drawing/2014/main" id="{705B024F-9E77-4E84-B1F5-6A3FA7E9D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" y="1052"/>
              <a:ext cx="7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于是有</a:t>
              </a:r>
            </a:p>
          </p:txBody>
        </p:sp>
        <p:graphicFrame>
          <p:nvGraphicFramePr>
            <p:cNvPr id="20488" name="Object 7">
              <a:extLst>
                <a:ext uri="{FF2B5EF4-FFF2-40B4-BE49-F238E27FC236}">
                  <a16:creationId xmlns="" xmlns:a16="http://schemas.microsoft.com/office/drawing/2014/main" id="{5100D4F6-A503-483E-B137-907611B413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7752029"/>
                </p:ext>
              </p:extLst>
            </p:nvPr>
          </p:nvGraphicFramePr>
          <p:xfrm>
            <a:off x="1280" y="508"/>
            <a:ext cx="3072" cy="1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6" name="Equation" r:id="rId5" imgW="4876560" imgH="2387520" progId="Equation.DSMT4">
                    <p:embed/>
                  </p:oleObj>
                </mc:Choice>
                <mc:Fallback>
                  <p:oleObj name="Equation" r:id="rId5" imgW="4876560" imgH="238752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0" y="508"/>
                          <a:ext cx="3072" cy="1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1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="" xmlns:a16="http://schemas.microsoft.com/office/drawing/2014/main" id="{B69E2B6B-FCD7-4662-9B0E-EDC44DC6B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2145338"/>
            <a:ext cx="84249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定理 </a:t>
            </a:r>
            <a:r>
              <a:rPr lang="zh-CN" altLang="en-US" sz="2800" b="1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行列式 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等于它的任一行（列）的各元素与其对应的代数余子式乘积之和，即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="" xmlns:a16="http://schemas.microsoft.com/office/drawing/2014/main" id="{48F9CD24-9887-4BC0-B1B9-F8E9289D7C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74082"/>
              </p:ext>
            </p:extLst>
          </p:nvPr>
        </p:nvGraphicFramePr>
        <p:xfrm>
          <a:off x="3001814" y="5085184"/>
          <a:ext cx="6299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2" name="Equation" r:id="rId3" imgW="6298920" imgH="952200" progId="Equation.DSMT4">
                  <p:embed/>
                </p:oleObj>
              </mc:Choice>
              <mc:Fallback>
                <p:oleObj name="Equation" r:id="rId3" imgW="6298920" imgH="952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814" y="5085184"/>
                        <a:ext cx="6299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="" xmlns:a16="http://schemas.microsoft.com/office/drawing/2014/main" id="{4F73A549-0B63-48FF-95D1-E2E58D55F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581099"/>
              </p:ext>
            </p:extLst>
          </p:nvPr>
        </p:nvGraphicFramePr>
        <p:xfrm>
          <a:off x="3071664" y="3479626"/>
          <a:ext cx="6159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3" name="Equation" r:id="rId5" imgW="6159240" imgH="952200" progId="Equation.DSMT4">
                  <p:embed/>
                </p:oleObj>
              </mc:Choice>
              <mc:Fallback>
                <p:oleObj name="Equation" r:id="rId5" imgW="6159240" imgH="952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3479626"/>
                        <a:ext cx="6159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="" xmlns:a16="http://schemas.microsoft.com/office/drawing/2014/main" id="{C1F2D1DD-18E8-417F-94F1-F878A903E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150136"/>
              </p:ext>
            </p:extLst>
          </p:nvPr>
        </p:nvGraphicFramePr>
        <p:xfrm>
          <a:off x="7584926" y="4455530"/>
          <a:ext cx="15954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4" name="Equation" r:id="rId7" imgW="1765080" imgH="368280" progId="Equation.DSMT4">
                  <p:embed/>
                </p:oleObj>
              </mc:Choice>
              <mc:Fallback>
                <p:oleObj name="Equation" r:id="rId7" imgW="1765080" imgH="368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4926" y="4455530"/>
                        <a:ext cx="159543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="" xmlns:a16="http://schemas.microsoft.com/office/drawing/2014/main" id="{474B032C-6338-4A7D-B66B-BF6EC139E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592489"/>
              </p:ext>
            </p:extLst>
          </p:nvPr>
        </p:nvGraphicFramePr>
        <p:xfrm>
          <a:off x="7583488" y="6137101"/>
          <a:ext cx="16684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5" name="Equation" r:id="rId9" imgW="1815840" imgH="393480" progId="Equation.DSMT4">
                  <p:embed/>
                </p:oleObj>
              </mc:Choice>
              <mc:Fallback>
                <p:oleObj name="Equation" r:id="rId9" imgW="181584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488" y="6137101"/>
                        <a:ext cx="16684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>
            <a:extLst>
              <a:ext uri="{FF2B5EF4-FFF2-40B4-BE49-F238E27FC236}">
                <a16:creationId xmlns="" xmlns:a16="http://schemas.microsoft.com/office/drawing/2014/main" id="{E4322D81-59D3-4C52-A1A5-65ADEAF57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70" y="5298499"/>
            <a:ext cx="581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72865F98-58EB-4D99-8A5B-EE5C8EAD8232}"/>
              </a:ext>
            </a:extLst>
          </p:cNvPr>
          <p:cNvSpPr/>
          <p:nvPr/>
        </p:nvSpPr>
        <p:spPr>
          <a:xfrm>
            <a:off x="3325405" y="1014273"/>
            <a:ext cx="5827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行列式按行</a:t>
            </a: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</a:t>
            </a: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列</a:t>
            </a: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)</a:t>
            </a: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展开法则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="" xmlns:a16="http://schemas.microsoft.com/office/drawing/2014/main" id="{DA1ECED5-AE34-4844-A49A-DCF22FC44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131" y="909637"/>
            <a:ext cx="345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证： 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="" xmlns:a16="http://schemas.microsoft.com/office/drawing/2014/main" id="{2BF18819-A551-4E49-8D9B-0BFCA11BBC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909219"/>
              </p:ext>
            </p:extLst>
          </p:nvPr>
        </p:nvGraphicFramePr>
        <p:xfrm>
          <a:off x="2063751" y="1321378"/>
          <a:ext cx="7694613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3" name="Equation" r:id="rId3" imgW="7924680" imgH="1968480" progId="Equation.DSMT4">
                  <p:embed/>
                </p:oleObj>
              </mc:Choice>
              <mc:Fallback>
                <p:oleObj name="Equation" r:id="rId3" imgW="7924680" imgH="1968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321378"/>
                        <a:ext cx="7694613" cy="191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="" xmlns:a16="http://schemas.microsoft.com/office/drawing/2014/main" id="{F2854564-23A3-46C4-A663-AEDAB2B7D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127641"/>
              </p:ext>
            </p:extLst>
          </p:nvPr>
        </p:nvGraphicFramePr>
        <p:xfrm>
          <a:off x="2013470" y="5547368"/>
          <a:ext cx="4037910" cy="460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4" name="Equation" r:id="rId5" imgW="3454200" imgH="393480" progId="Equation.DSMT4">
                  <p:embed/>
                </p:oleObj>
              </mc:Choice>
              <mc:Fallback>
                <p:oleObj name="Equation" r:id="rId5" imgW="345420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470" y="5547368"/>
                        <a:ext cx="4037910" cy="460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="" xmlns:a16="http://schemas.microsoft.com/office/drawing/2014/main" id="{01B3F6D2-0535-4F7F-93DF-B003F1A709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792230"/>
              </p:ext>
            </p:extLst>
          </p:nvPr>
        </p:nvGraphicFramePr>
        <p:xfrm>
          <a:off x="2006601" y="3305175"/>
          <a:ext cx="8253413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5" name="Equation" r:id="rId7" imgW="8673840" imgH="1968480" progId="Equation.DSMT4">
                  <p:embed/>
                </p:oleObj>
              </mc:Choice>
              <mc:Fallback>
                <p:oleObj name="Equation" r:id="rId7" imgW="8673840" imgH="1968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1" y="3305175"/>
                        <a:ext cx="8253413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="" xmlns:a16="http://schemas.microsoft.com/office/drawing/2014/main" id="{5BA6BC31-5AB5-4803-A30F-20ED1D96F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03314"/>
              </p:ext>
            </p:extLst>
          </p:nvPr>
        </p:nvGraphicFramePr>
        <p:xfrm>
          <a:off x="6672064" y="5567918"/>
          <a:ext cx="16446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6" name="Equation" r:id="rId9" imgW="1739880" imgH="444240" progId="Equation.DSMT4">
                  <p:embed/>
                </p:oleObj>
              </mc:Choice>
              <mc:Fallback>
                <p:oleObj name="Equation" r:id="rId9" imgW="173988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5567918"/>
                        <a:ext cx="16446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551CEF8-8BED-4A6A-BF25-FF64303E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958" y="2121478"/>
            <a:ext cx="6985744" cy="360363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624F68ED-8351-4F18-95B8-09AB2B654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585" y="4081536"/>
            <a:ext cx="2087563" cy="358775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2FDD3C07-C0FC-4D45-9554-839223793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4079948"/>
            <a:ext cx="2087562" cy="360362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="" xmlns:a16="http://schemas.microsoft.com/office/drawing/2014/main" id="{2B386850-17B3-4424-B017-F1845773C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6390" y="4081536"/>
            <a:ext cx="2160587" cy="358775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400299" y="1196322"/>
            <a:ext cx="31781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  </a:t>
            </a:r>
            <a:r>
              <a:rPr lang="zh-CN" altLang="en-US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计算行列式</a:t>
            </a:r>
            <a:endParaRPr lang="zh-CN" altLang="en-US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472526"/>
              </p:ext>
            </p:extLst>
          </p:nvPr>
        </p:nvGraphicFramePr>
        <p:xfrm>
          <a:off x="5578474" y="574877"/>
          <a:ext cx="2557510" cy="1763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6" name="Equation" r:id="rId3" imgW="2501640" imgH="1625400" progId="Equation.DSMT4">
                  <p:embed/>
                </p:oleObj>
              </mc:Choice>
              <mc:Fallback>
                <p:oleObj name="Equation" r:id="rId3" imgW="2501640" imgH="1625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4" y="574877"/>
                        <a:ext cx="2557510" cy="1763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403395" y="2527695"/>
            <a:ext cx="6222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lang="en-US" altLang="zh-CN" sz="28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061920"/>
              </p:ext>
            </p:extLst>
          </p:nvPr>
        </p:nvGraphicFramePr>
        <p:xfrm>
          <a:off x="3025681" y="3230813"/>
          <a:ext cx="224472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7" name="Equation" r:id="rId5" imgW="2247840" imgH="1015920" progId="Equation.DSMT4">
                  <p:embed/>
                </p:oleObj>
              </mc:Choice>
              <mc:Fallback>
                <p:oleObj name="Equation" r:id="rId5" imgW="224784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681" y="3230813"/>
                        <a:ext cx="224472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51981"/>
              </p:ext>
            </p:extLst>
          </p:nvPr>
        </p:nvGraphicFramePr>
        <p:xfrm>
          <a:off x="8666242" y="3438522"/>
          <a:ext cx="972791" cy="40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8" name="Equation" r:id="rId7" imgW="838080" imgH="304560" progId="Equation.DSMT4">
                  <p:embed/>
                </p:oleObj>
              </mc:Choice>
              <mc:Fallback>
                <p:oleObj name="Equation" r:id="rId7" imgW="838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6242" y="3438522"/>
                        <a:ext cx="972791" cy="40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012753" y="2531563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按第一行展开，得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16866"/>
              </p:ext>
            </p:extLst>
          </p:nvPr>
        </p:nvGraphicFramePr>
        <p:xfrm>
          <a:off x="5416457" y="3219969"/>
          <a:ext cx="1693019" cy="946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9" name="Equation" r:id="rId9" imgW="1257120" imgH="1015920" progId="Equation.DSMT4">
                  <p:embed/>
                </p:oleObj>
              </mc:Choice>
              <mc:Fallback>
                <p:oleObj name="Equation" r:id="rId9" imgW="125712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457" y="3219969"/>
                        <a:ext cx="1693019" cy="946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790992"/>
              </p:ext>
            </p:extLst>
          </p:nvPr>
        </p:nvGraphicFramePr>
        <p:xfrm>
          <a:off x="7218839" y="3219969"/>
          <a:ext cx="1447402" cy="975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0" name="Equation" r:id="rId11" imgW="1434960" imgH="1015920" progId="Equation.DSMT4">
                  <p:embed/>
                </p:oleObj>
              </mc:Choice>
              <mc:Fallback>
                <p:oleObj name="Equation" r:id="rId11" imgW="143496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839" y="3219969"/>
                        <a:ext cx="1447402" cy="975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81252"/>
              </p:ext>
            </p:extLst>
          </p:nvPr>
        </p:nvGraphicFramePr>
        <p:xfrm>
          <a:off x="3012753" y="4953632"/>
          <a:ext cx="2016224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1" name="Equation" r:id="rId13" imgW="2095200" imgH="1015920" progId="Equation.DSMT4">
                  <p:embed/>
                </p:oleObj>
              </mc:Choice>
              <mc:Fallback>
                <p:oleObj name="Equation" r:id="rId13" imgW="209520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2753" y="4953632"/>
                        <a:ext cx="2016224" cy="115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012753" y="4285286"/>
            <a:ext cx="3886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按第二行展开，得</a:t>
            </a:r>
          </a:p>
        </p:txBody>
      </p:sp>
      <p:graphicFrame>
        <p:nvGraphicFramePr>
          <p:cNvPr id="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543675"/>
              </p:ext>
            </p:extLst>
          </p:nvPr>
        </p:nvGraphicFramePr>
        <p:xfrm>
          <a:off x="5284459" y="4943574"/>
          <a:ext cx="1403351" cy="116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2" name="Equation" r:id="rId15" imgW="1295280" imgH="1015920" progId="Equation.DSMT4">
                  <p:embed/>
                </p:oleObj>
              </mc:Choice>
              <mc:Fallback>
                <p:oleObj name="Equation" r:id="rId15" imgW="129528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459" y="4943574"/>
                        <a:ext cx="1403351" cy="116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00096"/>
              </p:ext>
            </p:extLst>
          </p:nvPr>
        </p:nvGraphicFramePr>
        <p:xfrm>
          <a:off x="6807616" y="4943574"/>
          <a:ext cx="1880892" cy="114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3" name="Equation" r:id="rId17" imgW="1917360" imgH="1015920" progId="Equation.DSMT4">
                  <p:embed/>
                </p:oleObj>
              </mc:Choice>
              <mc:Fallback>
                <p:oleObj name="Equation" r:id="rId17" imgW="191736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616" y="4943574"/>
                        <a:ext cx="1880892" cy="114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202471"/>
              </p:ext>
            </p:extLst>
          </p:nvPr>
        </p:nvGraphicFramePr>
        <p:xfrm>
          <a:off x="8688508" y="5326896"/>
          <a:ext cx="900782" cy="373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4" name="Equation" r:id="rId19" imgW="838080" imgH="304560" progId="Equation.DSMT4">
                  <p:embed/>
                </p:oleObj>
              </mc:Choice>
              <mc:Fallback>
                <p:oleObj name="Equation" r:id="rId19" imgW="838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508" y="5326896"/>
                        <a:ext cx="900782" cy="373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954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7" grpId="0" autoUpdateAnimBg="0"/>
      <p:bldP spid="1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="" xmlns:a16="http://schemas.microsoft.com/office/drawing/2014/main" id="{92E7F815-4478-44AE-B1DE-D686071EA266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919536" y="2492896"/>
            <a:ext cx="8713788" cy="194468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是谁发明了</a:t>
            </a:r>
            <a:br>
              <a:rPr lang="zh-CN" altLang="en-US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行列式按行 </a:t>
            </a:r>
            <a:r>
              <a:rPr lang="en-US" altLang="zh-CN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en-US" altLang="zh-CN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4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展开定理？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="" xmlns:a16="http://schemas.microsoft.com/office/drawing/2014/main" id="{382A0CDA-6E0D-4831-BF13-9EDF62A52824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945543" y="5733256"/>
            <a:ext cx="4537075" cy="7826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zh-CN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P-S, Laplace (1749-1827), </a:t>
            </a:r>
            <a:r>
              <a:rPr lang="zh-CN" altLang="en-GB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法国应用数学家与理论物理学家</a:t>
            </a:r>
            <a:endParaRPr lang="zh-CN" altLang="en-US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579" name="Picture 3" descr="File:Pierre-Simon Laplace.jpg">
            <a:hlinkClick r:id="rId3"/>
            <a:extLst>
              <a:ext uri="{FF2B5EF4-FFF2-40B4-BE49-F238E27FC236}">
                <a16:creationId xmlns="" xmlns:a16="http://schemas.microsoft.com/office/drawing/2014/main" id="{566FD38D-CAED-476A-B9E4-13AD89554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162" y="980728"/>
            <a:ext cx="3763838" cy="4541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矩形 3">
            <a:extLst>
              <a:ext uri="{FF2B5EF4-FFF2-40B4-BE49-F238E27FC236}">
                <a16:creationId xmlns="" xmlns:a16="http://schemas.microsoft.com/office/drawing/2014/main" id="{1A2FAF41-BCEE-4F0D-9CEE-26576A9F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170" y="2097198"/>
            <a:ext cx="324036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拉普拉斯曾任</a:t>
            </a:r>
            <a:r>
              <a:rPr lang="zh-CN" altLang="en-US" sz="3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拿破仑</a:t>
            </a:r>
            <a:r>
              <a:rPr lang="zh-CN" altLang="en-US" sz="36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的老师，所以和拿破仑结下不解之缘</a:t>
            </a:r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>
            <a:extLst>
              <a:ext uri="{FF2B5EF4-FFF2-40B4-BE49-F238E27FC236}">
                <a16:creationId xmlns="" xmlns:a16="http://schemas.microsoft.com/office/drawing/2014/main" id="{5BFF972C-95F0-4BE3-86E0-3AB709FF6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552" y="1988840"/>
            <a:ext cx="82089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“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法国的牛顿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French Newton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，有史以来最伟大的科学家之一。</a:t>
            </a:r>
          </a:p>
        </p:txBody>
      </p:sp>
      <p:sp>
        <p:nvSpPr>
          <p:cNvPr id="753668" name="Rectangle 4">
            <a:extLst>
              <a:ext uri="{FF2B5EF4-FFF2-40B4-BE49-F238E27FC236}">
                <a16:creationId xmlns="" xmlns:a16="http://schemas.microsoft.com/office/drawing/2014/main" id="{5EB78EBC-1C82-46B5-8096-0A4950546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553" y="3163590"/>
            <a:ext cx="813593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数学：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拉普拉斯等式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拉普拉斯变换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拉普拉斯微分算子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，等等。</a:t>
            </a:r>
          </a:p>
        </p:txBody>
      </p:sp>
      <p:sp>
        <p:nvSpPr>
          <p:cNvPr id="753669" name="Rectangle 5">
            <a:extLst>
              <a:ext uri="{FF2B5EF4-FFF2-40B4-BE49-F238E27FC236}">
                <a16:creationId xmlns="" xmlns:a16="http://schemas.microsoft.com/office/drawing/2014/main" id="{505E9C0A-41B1-4AAC-AD5E-7D8D42A7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553" y="4335526"/>
            <a:ext cx="7273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统计学理论奠基人，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e.g. 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贝叶斯概率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FF8DA866-ACE1-45BD-BEB3-59B4EA57DA1B}"/>
              </a:ext>
            </a:extLst>
          </p:cNvPr>
          <p:cNvSpPr/>
          <p:nvPr/>
        </p:nvSpPr>
        <p:spPr>
          <a:xfrm>
            <a:off x="3602724" y="1014273"/>
            <a:ext cx="52725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P-S, Laplace (1749-1827)</a:t>
            </a: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7" grpId="0"/>
      <p:bldP spid="753668" grpId="0"/>
      <p:bldP spid="75366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5" name="Rectangle 3">
            <a:extLst>
              <a:ext uri="{FF2B5EF4-FFF2-40B4-BE49-F238E27FC236}">
                <a16:creationId xmlns="" xmlns:a16="http://schemas.microsoft.com/office/drawing/2014/main" id="{3B5F76ED-D17F-4FB2-B4E3-6E75C5B3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366" y="1628800"/>
            <a:ext cx="82804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天文学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论证了太阳系的稳定性，提出了太阳系起源的“星云说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/nebula”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。是“黑洞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/black holes”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存在理论以及“重力塌陷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/gravitational collapse”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理论的奠基人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755716" name="Rectangle 4">
            <a:extLst>
              <a:ext uri="{FF2B5EF4-FFF2-40B4-BE49-F238E27FC236}">
                <a16:creationId xmlns="" xmlns:a16="http://schemas.microsoft.com/office/drawing/2014/main" id="{9DFC392E-72C6-41BE-9094-3143EDCDE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468" y="3903451"/>
            <a:ext cx="770485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小行星以他命名；艾菲尔铁塔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[1887-89]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上镌刻的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72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位法国科学家、工程师之一。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3BFD37D-DDA6-446A-B52D-7C2ADD48D273}"/>
              </a:ext>
            </a:extLst>
          </p:cNvPr>
          <p:cNvSpPr/>
          <p:nvPr/>
        </p:nvSpPr>
        <p:spPr>
          <a:xfrm>
            <a:off x="3647728" y="717494"/>
            <a:ext cx="52725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P-S, Laplace (1749-1827)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D2BD9EAC-B3F5-4721-A55E-03E718A48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366" y="5349895"/>
            <a:ext cx="799211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临终遗言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last words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我们所知者甚少，所不知者甚广。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en-US" altLang="zh-CN" sz="2000" b="1" i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What we know is not much. What we do not know is immense.</a:t>
            </a:r>
            <a:r>
              <a:rPr lang="en-US" altLang="zh-CN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15" grpId="0"/>
      <p:bldP spid="755716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633217"/>
              </p:ext>
            </p:extLst>
          </p:nvPr>
        </p:nvGraphicFramePr>
        <p:xfrm>
          <a:off x="2495600" y="692696"/>
          <a:ext cx="7704856" cy="5762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name="Equation" r:id="rId3" imgW="4089240" imgH="3682800" progId="Equation.DSMT4">
                  <p:embed/>
                </p:oleObj>
              </mc:Choice>
              <mc:Fallback>
                <p:oleObj name="Equation" r:id="rId3" imgW="4089240" imgH="368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692696"/>
                        <a:ext cx="7704856" cy="5762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18207" y="1268760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 smtClean="0">
                <a:solidFill>
                  <a:schemeClr val="bg1"/>
                </a:solidFill>
                <a:latin typeface="+mj-ea"/>
                <a:sym typeface="+mn-ea"/>
              </a:rPr>
              <a:t>提问</a:t>
            </a:r>
            <a:endParaRPr lang="zh-CN" altLang="en-US" sz="4000" kern="0" dirty="0">
              <a:solidFill>
                <a:schemeClr val="bg1"/>
              </a:solidFill>
              <a:latin typeface="+mj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811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158638"/>
              </p:ext>
            </p:extLst>
          </p:nvPr>
        </p:nvGraphicFramePr>
        <p:xfrm>
          <a:off x="1979613" y="1268413"/>
          <a:ext cx="4464050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0" name="Equation" r:id="rId3" imgW="4089240" imgH="3682800" progId="Equation.DSMT4">
                  <p:embed/>
                </p:oleObj>
              </mc:Choice>
              <mc:Fallback>
                <p:oleObj name="Equation" r:id="rId3" imgW="4089240" imgH="368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268413"/>
                        <a:ext cx="4464050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979613" y="1268413"/>
            <a:ext cx="577850" cy="4392612"/>
          </a:xfrm>
          <a:prstGeom prst="rect">
            <a:avLst/>
          </a:prstGeom>
          <a:solidFill>
            <a:srgbClr val="FFCC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51051" y="1267618"/>
            <a:ext cx="577850" cy="576262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557463" y="1844675"/>
            <a:ext cx="3889375" cy="3816350"/>
          </a:xfrm>
          <a:prstGeom prst="rect">
            <a:avLst/>
          </a:prstGeom>
          <a:solidFill>
            <a:srgbClr val="008000">
              <a:alpha val="39999"/>
            </a:srgbClr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700339" y="2060574"/>
            <a:ext cx="3539678" cy="345665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 rot="16200000">
            <a:off x="4211639" y="-386557"/>
            <a:ext cx="577850" cy="3886202"/>
          </a:xfrm>
          <a:prstGeom prst="rect">
            <a:avLst/>
          </a:prstGeom>
          <a:solidFill>
            <a:srgbClr val="FFCC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74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134168"/>
              </p:ext>
            </p:extLst>
          </p:nvPr>
        </p:nvGraphicFramePr>
        <p:xfrm>
          <a:off x="1979613" y="1268413"/>
          <a:ext cx="4464050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4" name="Equation" r:id="rId3" imgW="4089240" imgH="3682800" progId="Equation.DSMT4">
                  <p:embed/>
                </p:oleObj>
              </mc:Choice>
              <mc:Fallback>
                <p:oleObj name="Equation" r:id="rId3" imgW="4089240" imgH="368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268413"/>
                        <a:ext cx="4464050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35559" y="1412775"/>
            <a:ext cx="421903" cy="4248249"/>
          </a:xfrm>
          <a:prstGeom prst="rect">
            <a:avLst/>
          </a:prstGeom>
          <a:solidFill>
            <a:srgbClr val="FFCC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35559" y="5084763"/>
            <a:ext cx="451546" cy="576262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581052" y="1412776"/>
            <a:ext cx="3714527" cy="3671987"/>
          </a:xfrm>
          <a:prstGeom prst="rect">
            <a:avLst/>
          </a:prstGeom>
          <a:solidFill>
            <a:schemeClr val="tx1">
              <a:lumMod val="60000"/>
              <a:lumOff val="40000"/>
              <a:alpha val="39999"/>
            </a:schemeClr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755901" y="1412776"/>
            <a:ext cx="3539678" cy="345665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 rot="16200000">
            <a:off x="4130184" y="3496424"/>
            <a:ext cx="577850" cy="3752940"/>
          </a:xfrm>
          <a:prstGeom prst="rect">
            <a:avLst/>
          </a:prstGeom>
          <a:solidFill>
            <a:srgbClr val="FFCC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46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739578" y="1121370"/>
            <a:ext cx="14398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183828"/>
              </p:ext>
            </p:extLst>
          </p:nvPr>
        </p:nvGraphicFramePr>
        <p:xfrm>
          <a:off x="1841500" y="1700213"/>
          <a:ext cx="3900488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2" name="Equation" r:id="rId3" imgW="3962160" imgH="1968480" progId="Equation.DSMT4">
                  <p:embed/>
                </p:oleObj>
              </mc:Choice>
              <mc:Fallback>
                <p:oleObj name="Equation" r:id="rId3" imgW="3962160" imgH="1968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1700213"/>
                        <a:ext cx="3900488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588938"/>
              </p:ext>
            </p:extLst>
          </p:nvPr>
        </p:nvGraphicFramePr>
        <p:xfrm>
          <a:off x="2303463" y="4367213"/>
          <a:ext cx="36242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3" name="Equation" r:id="rId5" imgW="3797280" imgH="469800" progId="Equation.DSMT4">
                  <p:embed/>
                </p:oleObj>
              </mc:Choice>
              <mc:Fallback>
                <p:oleObj name="Equation" r:id="rId5" imgW="3797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4367213"/>
                        <a:ext cx="36242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442760"/>
              </p:ext>
            </p:extLst>
          </p:nvPr>
        </p:nvGraphicFramePr>
        <p:xfrm>
          <a:off x="2381250" y="5449888"/>
          <a:ext cx="28225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4" name="Equation" r:id="rId7" imgW="2489040" imgH="469800" progId="Equation.DSMT4">
                  <p:embed/>
                </p:oleObj>
              </mc:Choice>
              <mc:Fallback>
                <p:oleObj name="Equation" r:id="rId7" imgW="2489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5449888"/>
                        <a:ext cx="28225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162864"/>
              </p:ext>
            </p:extLst>
          </p:nvPr>
        </p:nvGraphicFramePr>
        <p:xfrm>
          <a:off x="5555928" y="1700808"/>
          <a:ext cx="4464050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5" name="Equation" r:id="rId9" imgW="4470120" imgH="1968480" progId="Equation.DSMT4">
                  <p:embed/>
                </p:oleObj>
              </mc:Choice>
              <mc:Fallback>
                <p:oleObj name="Equation" r:id="rId9" imgW="4470120" imgH="1968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5928" y="1700808"/>
                        <a:ext cx="4464050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471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79576" y="1052736"/>
            <a:ext cx="480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127176" y="2021111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计算行列式</a:t>
            </a: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990254"/>
              </p:ext>
            </p:extLst>
          </p:nvPr>
        </p:nvGraphicFramePr>
        <p:xfrm>
          <a:off x="1271464" y="5156026"/>
          <a:ext cx="89328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2" name="Equation" r:id="rId3" imgW="6108480" imgH="469800" progId="Equation.DSMT4">
                  <p:embed/>
                </p:oleObj>
              </mc:Choice>
              <mc:Fallback>
                <p:oleObj name="Equation" r:id="rId3" imgW="6108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5156026"/>
                        <a:ext cx="8932862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240645"/>
              </p:ext>
            </p:extLst>
          </p:nvPr>
        </p:nvGraphicFramePr>
        <p:xfrm>
          <a:off x="4699867" y="1628800"/>
          <a:ext cx="4337050" cy="329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3" name="Equation" r:id="rId5" imgW="4025880" imgH="3682800" progId="Equation.DSMT4">
                  <p:embed/>
                </p:oleObj>
              </mc:Choice>
              <mc:Fallback>
                <p:oleObj name="Equation" r:id="rId5" imgW="4025880" imgH="368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867" y="1628800"/>
                        <a:ext cx="4337050" cy="329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27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5684" y="837034"/>
            <a:ext cx="7562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chemeClr val="bg1"/>
                </a:solidFill>
                <a:latin typeface="SimSun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chemeClr val="bg1"/>
                </a:solidFill>
                <a:latin typeface="SimSun" panose="02010600030101010101" pitchFamily="2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imSun" panose="02010600030101010101" pitchFamily="2" charset="-122"/>
              </a:rPr>
              <a:t>证明范德蒙行列式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105179"/>
              </p:ext>
            </p:extLst>
          </p:nvPr>
        </p:nvGraphicFramePr>
        <p:xfrm>
          <a:off x="2430463" y="1628775"/>
          <a:ext cx="7269162" cy="337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3" imgW="7137360" imgH="3314520" progId="Equation.DSMT4">
                  <p:embed/>
                </p:oleObj>
              </mc:Choice>
              <mc:Fallback>
                <p:oleObj name="Equation" r:id="rId3" imgW="7137360" imgH="3314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1628775"/>
                        <a:ext cx="7269162" cy="337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351584" y="5085184"/>
            <a:ext cx="7561262" cy="1584325"/>
          </a:xfrm>
          <a:prstGeom prst="wedgeRoundRectCallout">
            <a:avLst>
              <a:gd name="adj1" fmla="val 3644"/>
              <a:gd name="adj2" fmla="val -7134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特点：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第一行都是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。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第二行是基本元素行。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从第一行开始每一行是第二行的幂形式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8107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207568" y="1268760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215630" y="1268760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用数学归纳法</a:t>
            </a: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909038"/>
              </p:ext>
            </p:extLst>
          </p:nvPr>
        </p:nvGraphicFramePr>
        <p:xfrm>
          <a:off x="1862931" y="1952936"/>
          <a:ext cx="180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6" name="Equation" r:id="rId3" imgW="1803240" imgH="850680" progId="Equation.DSMT4">
                  <p:embed/>
                </p:oleObj>
              </mc:Choice>
              <mc:Fallback>
                <p:oleObj name="Equation" r:id="rId3" imgW="18032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931" y="1952936"/>
                        <a:ext cx="180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441490"/>
              </p:ext>
            </p:extLst>
          </p:nvPr>
        </p:nvGraphicFramePr>
        <p:xfrm>
          <a:off x="1862931" y="3006378"/>
          <a:ext cx="138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7" name="Equation" r:id="rId5" imgW="1384300" imgH="419100" progId="Equation.DSMT4">
                  <p:embed/>
                </p:oleObj>
              </mc:Choice>
              <mc:Fallback>
                <p:oleObj name="Equation" r:id="rId5" imgW="1384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931" y="3006378"/>
                        <a:ext cx="1384300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791769"/>
              </p:ext>
            </p:extLst>
          </p:nvPr>
        </p:nvGraphicFramePr>
        <p:xfrm>
          <a:off x="1775520" y="3789040"/>
          <a:ext cx="22225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8" name="Equation" r:id="rId7" imgW="2387600" imgH="762000" progId="Equation.DSMT4">
                  <p:embed/>
                </p:oleObj>
              </mc:Choice>
              <mc:Fallback>
                <p:oleObj name="Equation" r:id="rId7" imgW="23876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3789040"/>
                        <a:ext cx="2222500" cy="709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343682"/>
              </p:ext>
            </p:extLst>
          </p:nvPr>
        </p:nvGraphicFramePr>
        <p:xfrm>
          <a:off x="1514475" y="4980086"/>
          <a:ext cx="419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9" name="Equation" r:id="rId9" imgW="4191000" imgH="431800" progId="Equation.DSMT4">
                  <p:embed/>
                </p:oleObj>
              </mc:Choice>
              <mc:Fallback>
                <p:oleObj name="Equation" r:id="rId9" imgW="4191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4980086"/>
                        <a:ext cx="41910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270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28872"/>
              </p:ext>
            </p:extLst>
          </p:nvPr>
        </p:nvGraphicFramePr>
        <p:xfrm>
          <a:off x="2063552" y="1196752"/>
          <a:ext cx="687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2" name="Equation" r:id="rId3" imgW="6870700" imgH="444500" progId="Equation.DSMT4">
                  <p:embed/>
                </p:oleObj>
              </mc:Choice>
              <mc:Fallback>
                <p:oleObj name="Equation" r:id="rId3" imgW="68707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196752"/>
                        <a:ext cx="6870700" cy="444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60" y="2132856"/>
            <a:ext cx="6940464" cy="201622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79376" y="4409851"/>
            <a:ext cx="4032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考虑</a:t>
            </a:r>
            <a:r>
              <a:rPr lang="en-US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阶范德蒙行列式的情形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5760" y="4901089"/>
            <a:ext cx="3799481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5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406613"/>
              </p:ext>
            </p:extLst>
          </p:nvPr>
        </p:nvGraphicFramePr>
        <p:xfrm>
          <a:off x="2423592" y="1914022"/>
          <a:ext cx="7707313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1" name="Equation" r:id="rId3" imgW="8280400" imgH="3136900" progId="Equation.3">
                  <p:embed/>
                </p:oleObj>
              </mc:Choice>
              <mc:Fallback>
                <p:oleObj name="Equation" r:id="rId3" imgW="8280400" imgH="313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914022"/>
                        <a:ext cx="7707313" cy="2919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836194"/>
              </p:ext>
            </p:extLst>
          </p:nvPr>
        </p:nvGraphicFramePr>
        <p:xfrm>
          <a:off x="551384" y="5445224"/>
          <a:ext cx="7683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2" name="Equation" r:id="rId5" imgW="7531100" imgH="952500" progId="Equation.3">
                  <p:embed/>
                </p:oleObj>
              </mc:Choice>
              <mc:Fallback>
                <p:oleObj name="Equation" r:id="rId5" imgW="7531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84" y="5445224"/>
                        <a:ext cx="7683500" cy="952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08" y="1052736"/>
            <a:ext cx="5880831" cy="43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1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00395"/>
              </p:ext>
            </p:extLst>
          </p:nvPr>
        </p:nvGraphicFramePr>
        <p:xfrm>
          <a:off x="1991544" y="4380384"/>
          <a:ext cx="72596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3" name="Equation" r:id="rId3" imgW="7797800" imgH="762000" progId="Equation.3">
                  <p:embed/>
                </p:oleObj>
              </mc:Choice>
              <mc:Fallback>
                <p:oleObj name="Equation" r:id="rId3" imgW="77978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4380384"/>
                        <a:ext cx="7259638" cy="709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247019"/>
              </p:ext>
            </p:extLst>
          </p:nvPr>
        </p:nvGraphicFramePr>
        <p:xfrm>
          <a:off x="3134544" y="5447184"/>
          <a:ext cx="22240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4" name="Equation" r:id="rId5" imgW="2387600" imgH="762000" progId="Equation.DSMT4">
                  <p:embed/>
                </p:oleObj>
              </mc:Choice>
              <mc:Fallback>
                <p:oleObj name="Equation" r:id="rId5" imgW="23876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544" y="5447184"/>
                        <a:ext cx="2224088" cy="709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994424"/>
              </p:ext>
            </p:extLst>
          </p:nvPr>
        </p:nvGraphicFramePr>
        <p:xfrm>
          <a:off x="1991544" y="1484784"/>
          <a:ext cx="7529513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" name="Equation" r:id="rId7" imgW="8089900" imgH="2057400" progId="Equation.3">
                  <p:embed/>
                </p:oleObj>
              </mc:Choice>
              <mc:Fallback>
                <p:oleObj name="Equation" r:id="rId7" imgW="808990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1484784"/>
                        <a:ext cx="7529513" cy="1914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991544" y="3313584"/>
            <a:ext cx="4114800" cy="609600"/>
          </a:xfrm>
          <a:prstGeom prst="wedgeRoundRectCallout">
            <a:avLst>
              <a:gd name="adj1" fmla="val 59875"/>
              <a:gd name="adj2" fmla="val -113542"/>
              <a:gd name="adj3" fmla="val 16667"/>
            </a:avLst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n-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阶范德蒙德行列式</a:t>
            </a:r>
          </a:p>
        </p:txBody>
      </p:sp>
    </p:spTree>
    <p:extLst>
      <p:ext uri="{BB962C8B-B14F-4D97-AF65-F5344CB8AC3E}">
        <p14:creationId xmlns:p14="http://schemas.microsoft.com/office/powerpoint/2010/main" val="254340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38200" y="990600"/>
            <a:ext cx="1806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　计算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08728"/>
              </p:ext>
            </p:extLst>
          </p:nvPr>
        </p:nvGraphicFramePr>
        <p:xfrm>
          <a:off x="3048000" y="609600"/>
          <a:ext cx="2133600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8" name="Equation" r:id="rId3" imgW="1028700" imgH="939800" progId="Equation.DSMT4">
                  <p:embed/>
                </p:oleObj>
              </mc:Choice>
              <mc:Fallback>
                <p:oleObj name="Equation" r:id="rId3" imgW="10287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609600"/>
                        <a:ext cx="2133600" cy="1947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148248"/>
              </p:ext>
            </p:extLst>
          </p:nvPr>
        </p:nvGraphicFramePr>
        <p:xfrm>
          <a:off x="2209800" y="2667000"/>
          <a:ext cx="30480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9" name="Equation" r:id="rId5" imgW="1435100" imgH="939800" progId="Equation.3">
                  <p:embed/>
                </p:oleObj>
              </mc:Choice>
              <mc:Fallback>
                <p:oleObj name="Equation" r:id="rId5" imgW="14351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3048000" cy="199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169688"/>
              </p:ext>
            </p:extLst>
          </p:nvPr>
        </p:nvGraphicFramePr>
        <p:xfrm>
          <a:off x="5257800" y="2667000"/>
          <a:ext cx="28956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0" name="Equation" r:id="rId7" imgW="1358900" imgH="939800" progId="Equation.3">
                  <p:embed/>
                </p:oleObj>
              </mc:Choice>
              <mc:Fallback>
                <p:oleObj name="Equation" r:id="rId7" imgW="13589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667000"/>
                        <a:ext cx="2895600" cy="2000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652341"/>
              </p:ext>
            </p:extLst>
          </p:nvPr>
        </p:nvGraphicFramePr>
        <p:xfrm>
          <a:off x="1676400" y="4683125"/>
          <a:ext cx="27432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1" name="Equation" r:id="rId9" imgW="1269449" imgH="583947" progId="Equation.3">
                  <p:embed/>
                </p:oleObj>
              </mc:Choice>
              <mc:Fallback>
                <p:oleObj name="Equation" r:id="rId9" imgW="1269449" imgH="5839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83125"/>
                        <a:ext cx="2743200" cy="1090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244328"/>
              </p:ext>
            </p:extLst>
          </p:nvPr>
        </p:nvGraphicFramePr>
        <p:xfrm>
          <a:off x="1559496" y="5800771"/>
          <a:ext cx="10226352" cy="1056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2" name="Equation" r:id="rId11" imgW="5537160" imgH="660240" progId="Equation.DSMT4">
                  <p:embed/>
                </p:oleObj>
              </mc:Choice>
              <mc:Fallback>
                <p:oleObj name="Equation" r:id="rId11" imgW="55371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5800771"/>
                        <a:ext cx="10226352" cy="10563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914400" y="32766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326342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1919536" y="1844452"/>
            <a:ext cx="7561262" cy="3384550"/>
          </a:xfrm>
          <a:prstGeom prst="flowChartAlternateProcess">
            <a:avLst/>
          </a:prstGeom>
          <a:solidFill>
            <a:schemeClr val="bg1">
              <a:alpha val="30000"/>
            </a:schemeClr>
          </a:solidFill>
          <a:ln w="25400" cap="rnd">
            <a:solidFill>
              <a:srgbClr val="CC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919536" y="1196752"/>
            <a:ext cx="2232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推论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35436" y="2060352"/>
            <a:ext cx="8567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C000"/>
                </a:solidFill>
                <a:latin typeface="SimSun" panose="02010600030101010101" pitchFamily="2" charset="-122"/>
              </a:rPr>
              <a:t>行列式任一行（列）的元素与另一行（列）的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19536" y="2708052"/>
            <a:ext cx="924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C000"/>
                </a:solidFill>
                <a:latin typeface="SimSun" panose="02010600030101010101" pitchFamily="2" charset="-122"/>
              </a:rPr>
              <a:t>对应元素的代数余子式乘积之和等于零，即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74050"/>
              </p:ext>
            </p:extLst>
          </p:nvPr>
        </p:nvGraphicFramePr>
        <p:xfrm>
          <a:off x="2495798" y="4508277"/>
          <a:ext cx="5575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4" name="Equation" r:id="rId3" imgW="5575300" imgH="482600" progId="Equation.DSMT4">
                  <p:embed/>
                </p:oleObj>
              </mc:Choice>
              <mc:Fallback>
                <p:oleObj name="Equation" r:id="rId3" imgW="55753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798" y="4508277"/>
                        <a:ext cx="5575300" cy="482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86241"/>
              </p:ext>
            </p:extLst>
          </p:nvPr>
        </p:nvGraphicFramePr>
        <p:xfrm>
          <a:off x="2495798" y="3644677"/>
          <a:ext cx="558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5" name="Equation" r:id="rId5" imgW="5588000" imgH="482600" progId="Equation.DSMT4">
                  <p:embed/>
                </p:oleObj>
              </mc:Choice>
              <mc:Fallback>
                <p:oleObj name="Equation" r:id="rId5" imgW="55880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798" y="3644677"/>
                        <a:ext cx="5588000" cy="482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163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949138"/>
              </p:ext>
            </p:extLst>
          </p:nvPr>
        </p:nvGraphicFramePr>
        <p:xfrm>
          <a:off x="3156248" y="2407245"/>
          <a:ext cx="5622925" cy="288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8" name="Equation" r:id="rId3" imgW="5410200" imgH="3657600" progId="Equation.3">
                  <p:embed/>
                </p:oleObj>
              </mc:Choice>
              <mc:Fallback>
                <p:oleObj name="Equation" r:id="rId3" imgW="54102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6248" y="2407245"/>
                        <a:ext cx="5622925" cy="2884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41848" y="161984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62883"/>
              </p:ext>
            </p:extLst>
          </p:nvPr>
        </p:nvGraphicFramePr>
        <p:xfrm>
          <a:off x="2927648" y="1700808"/>
          <a:ext cx="6273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9" name="Equation" r:id="rId5" imgW="6273800" imgH="495300" progId="Equation.3">
                  <p:embed/>
                </p:oleObj>
              </mc:Choice>
              <mc:Fallback>
                <p:oleObj name="Equation" r:id="rId5" imgW="6273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1700808"/>
                        <a:ext cx="6273800" cy="495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90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290364"/>
              </p:ext>
            </p:extLst>
          </p:nvPr>
        </p:nvGraphicFramePr>
        <p:xfrm>
          <a:off x="2427784" y="1734344"/>
          <a:ext cx="4857750" cy="296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7" name="Equation" r:id="rId3" imgW="5334000" imgH="3657600" progId="Equation.3">
                  <p:embed/>
                </p:oleObj>
              </mc:Choice>
              <mc:Fallback>
                <p:oleObj name="Equation" r:id="rId3" imgW="53340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784" y="1734344"/>
                        <a:ext cx="4857750" cy="2960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266473"/>
              </p:ext>
            </p:extLst>
          </p:nvPr>
        </p:nvGraphicFramePr>
        <p:xfrm>
          <a:off x="2351584" y="1124744"/>
          <a:ext cx="494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8" name="Equation" r:id="rId5" imgW="4940300" imgH="482600" progId="Equation.3">
                  <p:embed/>
                </p:oleObj>
              </mc:Choice>
              <mc:Fallback>
                <p:oleObj name="Equation" r:id="rId5" imgW="4940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1124744"/>
                        <a:ext cx="4940300" cy="482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7685584" y="3410744"/>
            <a:ext cx="1143000" cy="457200"/>
            <a:chOff x="3888" y="1968"/>
            <a:chExt cx="720" cy="288"/>
          </a:xfrm>
        </p:grpSpPr>
        <p:graphicFrame>
          <p:nvGraphicFramePr>
            <p:cNvPr id="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9375841"/>
                </p:ext>
              </p:extLst>
            </p:nvPr>
          </p:nvGraphicFramePr>
          <p:xfrm>
            <a:off x="3968" y="2023"/>
            <a:ext cx="55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79" name="Equation" r:id="rId7" imgW="1091726" imgH="444307" progId="Equation.3">
                    <p:embed/>
                  </p:oleObj>
                </mc:Choice>
                <mc:Fallback>
                  <p:oleObj name="Equation" r:id="rId7" imgW="1091726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8" y="2023"/>
                          <a:ext cx="554" cy="2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3888" y="1968"/>
              <a:ext cx="720" cy="288"/>
            </a:xfrm>
            <a:prstGeom prst="wedgeRoundRectCallout">
              <a:avLst>
                <a:gd name="adj1" fmla="val -101944"/>
                <a:gd name="adj2" fmla="val 15625"/>
                <a:gd name="adj3" fmla="val 16667"/>
              </a:avLst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7685584" y="2572544"/>
            <a:ext cx="1143000" cy="457200"/>
            <a:chOff x="3888" y="1440"/>
            <a:chExt cx="720" cy="288"/>
          </a:xfrm>
        </p:grpSpPr>
        <p:graphicFrame>
          <p:nvGraphicFramePr>
            <p:cNvPr id="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9322959"/>
                </p:ext>
              </p:extLst>
            </p:nvPr>
          </p:nvGraphicFramePr>
          <p:xfrm>
            <a:off x="4032" y="1495"/>
            <a:ext cx="52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0" name="Equation" r:id="rId9" imgW="1040948" imgH="444307" progId="Equation.3">
                    <p:embed/>
                  </p:oleObj>
                </mc:Choice>
                <mc:Fallback>
                  <p:oleObj name="Equation" r:id="rId9" imgW="1040948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495"/>
                          <a:ext cx="528" cy="2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3888" y="1440"/>
              <a:ext cx="720" cy="288"/>
            </a:xfrm>
            <a:prstGeom prst="wedgeRoundRectCallout">
              <a:avLst>
                <a:gd name="adj1" fmla="val -101944"/>
                <a:gd name="adj2" fmla="val 15625"/>
                <a:gd name="adj3" fmla="val 16667"/>
              </a:avLst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494494"/>
              </p:ext>
            </p:extLst>
          </p:nvPr>
        </p:nvGraphicFramePr>
        <p:xfrm>
          <a:off x="2275384" y="4677569"/>
          <a:ext cx="163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1" name="Equation" r:id="rId11" imgW="1637589" imgH="431613" progId="Equation.3">
                  <p:embed/>
                </p:oleObj>
              </mc:Choice>
              <mc:Fallback>
                <p:oleObj name="Equation" r:id="rId11" imgW="163758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384" y="4677569"/>
                        <a:ext cx="16383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13070"/>
              </p:ext>
            </p:extLst>
          </p:nvPr>
        </p:nvGraphicFramePr>
        <p:xfrm>
          <a:off x="2884984" y="5239544"/>
          <a:ext cx="6400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2" name="Equation" r:id="rId13" imgW="6172200" imgH="469900" progId="Equation.3">
                  <p:embed/>
                </p:oleObj>
              </mc:Choice>
              <mc:Fallback>
                <p:oleObj name="Equation" r:id="rId13" imgW="6172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984" y="5239544"/>
                        <a:ext cx="6400800" cy="4333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199184" y="5863432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同理</a:t>
            </a: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979562"/>
              </p:ext>
            </p:extLst>
          </p:nvPr>
        </p:nvGraphicFramePr>
        <p:xfrm>
          <a:off x="3285034" y="5944394"/>
          <a:ext cx="58277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3" name="Equation" r:id="rId15" imgW="6159500" imgH="469900" progId="Equation.3">
                  <p:embed/>
                </p:oleObj>
              </mc:Choice>
              <mc:Fallback>
                <p:oleObj name="Equation" r:id="rId15" imgW="6159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034" y="5944394"/>
                        <a:ext cx="5827713" cy="444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9"/>
          <p:cNvGrpSpPr>
            <a:grpSpLocks/>
          </p:cNvGrpSpPr>
          <p:nvPr/>
        </p:nvGrpSpPr>
        <p:grpSpPr bwMode="auto">
          <a:xfrm>
            <a:off x="8828584" y="2801144"/>
            <a:ext cx="1058863" cy="762000"/>
            <a:chOff x="4752" y="1584"/>
            <a:chExt cx="667" cy="480"/>
          </a:xfrm>
        </p:grpSpPr>
        <p:grpSp>
          <p:nvGrpSpPr>
            <p:cNvPr id="15" name="Group 20"/>
            <p:cNvGrpSpPr>
              <a:grpSpLocks/>
            </p:cNvGrpSpPr>
            <p:nvPr/>
          </p:nvGrpSpPr>
          <p:grpSpPr bwMode="auto">
            <a:xfrm>
              <a:off x="4752" y="1584"/>
              <a:ext cx="144" cy="480"/>
              <a:chOff x="4752" y="1584"/>
              <a:chExt cx="144" cy="480"/>
            </a:xfrm>
          </p:grpSpPr>
          <p:sp>
            <p:nvSpPr>
              <p:cNvPr id="17" name="Line 21"/>
              <p:cNvSpPr>
                <a:spLocks noChangeShapeType="1"/>
              </p:cNvSpPr>
              <p:nvPr/>
            </p:nvSpPr>
            <p:spPr bwMode="auto">
              <a:xfrm>
                <a:off x="4752" y="1584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" name="Line 22"/>
              <p:cNvSpPr>
                <a:spLocks noChangeShapeType="1"/>
              </p:cNvSpPr>
              <p:nvPr/>
            </p:nvSpPr>
            <p:spPr bwMode="auto">
              <a:xfrm flipV="1">
                <a:off x="4752" y="1776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4848" y="1632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相同</a:t>
              </a:r>
            </a:p>
          </p:txBody>
        </p:sp>
      </p:grpSp>
      <p:sp>
        <p:nvSpPr>
          <p:cNvPr id="19" name="Line 24"/>
          <p:cNvSpPr>
            <a:spLocks noChangeShapeType="1"/>
          </p:cNvSpPr>
          <p:nvPr/>
        </p:nvSpPr>
        <p:spPr bwMode="auto">
          <a:xfrm>
            <a:off x="5475784" y="3867944"/>
            <a:ext cx="1600200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4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79576" y="1196752"/>
            <a:ext cx="5099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关于代数余子式的重要性质</a:t>
            </a:r>
          </a:p>
        </p:txBody>
      </p:sp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142637"/>
              </p:ext>
            </p:extLst>
          </p:nvPr>
        </p:nvGraphicFramePr>
        <p:xfrm>
          <a:off x="2616126" y="2357214"/>
          <a:ext cx="63246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2" name="Equation" r:id="rId3" imgW="2552700" imgH="457200" progId="Equation.3">
                  <p:embed/>
                </p:oleObj>
              </mc:Choice>
              <mc:Fallback>
                <p:oleObj name="Equation" r:id="rId3" imgW="2552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126" y="2357214"/>
                        <a:ext cx="6324600" cy="1133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620206"/>
              </p:ext>
            </p:extLst>
          </p:nvPr>
        </p:nvGraphicFramePr>
        <p:xfrm>
          <a:off x="2616126" y="4186014"/>
          <a:ext cx="63246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3" name="Equation" r:id="rId5" imgW="2552700" imgH="457200" progId="Equation.3">
                  <p:embed/>
                </p:oleObj>
              </mc:Choice>
              <mc:Fallback>
                <p:oleObj name="Equation" r:id="rId5" imgW="2552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126" y="4186014"/>
                        <a:ext cx="6324600" cy="1133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994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2086099" y="952599"/>
            <a:ext cx="75438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680811"/>
              </p:ext>
            </p:extLst>
          </p:nvPr>
        </p:nvGraphicFramePr>
        <p:xfrm>
          <a:off x="2875087" y="2189362"/>
          <a:ext cx="6172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2" name="公式" r:id="rId3" imgW="2724030" imgH="895506" progId="Equation.3">
                  <p:embed/>
                </p:oleObj>
              </mc:Choice>
              <mc:Fallback>
                <p:oleObj name="公式" r:id="rId3" imgW="2724030" imgH="8955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087" y="2189362"/>
                        <a:ext cx="6172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942793"/>
              </p:ext>
            </p:extLst>
          </p:nvPr>
        </p:nvGraphicFramePr>
        <p:xfrm>
          <a:off x="2241674" y="4437162"/>
          <a:ext cx="3627438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3" name="Equation" r:id="rId5" imgW="1590711" imgH="923911" progId="Equation.DSMT4">
                  <p:embed/>
                </p:oleObj>
              </mc:Choice>
              <mc:Fallback>
                <p:oleObj name="Equation" r:id="rId5" imgW="1590711" imgH="92391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674" y="4437162"/>
                        <a:ext cx="3627438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180895"/>
              </p:ext>
            </p:extLst>
          </p:nvPr>
        </p:nvGraphicFramePr>
        <p:xfrm>
          <a:off x="6167562" y="4364137"/>
          <a:ext cx="3770312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4" name="公式" r:id="rId7" imgW="1657422" imgH="923911" progId="Equation.3">
                  <p:embed/>
                </p:oleObj>
              </mc:Choice>
              <mc:Fallback>
                <p:oleObj name="公式" r:id="rId7" imgW="1657422" imgH="9239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562" y="4364137"/>
                        <a:ext cx="3770312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703512" y="836712"/>
            <a:ext cx="7343775" cy="1174750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kumimoji="0"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对于伴随矩阵</a:t>
            </a:r>
            <a:r>
              <a:rPr kumimoji="0" lang="en-US" altLang="zh-CN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,</a:t>
            </a:r>
            <a:r>
              <a:rPr kumimoji="0"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有</a:t>
            </a:r>
          </a:p>
          <a:p>
            <a:pPr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kumimoji="0" lang="en-US" altLang="zh-CN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Theorem 2.5 </a:t>
            </a:r>
            <a:r>
              <a:rPr kumimoji="0"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设</a:t>
            </a:r>
            <a:r>
              <a:rPr kumimoji="0" lang="en-US" altLang="zh-CN" sz="3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kumimoji="0"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是</a:t>
            </a:r>
            <a:r>
              <a:rPr kumimoji="0" lang="en-US" altLang="zh-CN" sz="3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kumimoji="0"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阶方阵</a:t>
            </a:r>
            <a:r>
              <a:rPr kumimoji="0" lang="en-US" altLang="zh-CN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kumimoji="0"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则 </a:t>
            </a:r>
            <a:endParaRPr kumimoji="0" lang="zh-CN" altLang="en-US" sz="32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3938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2272655" y="808509"/>
            <a:ext cx="75438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>
              <a:solidFill>
                <a:schemeClr val="tx2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>
              <a:solidFill>
                <a:schemeClr val="tx2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>
              <a:solidFill>
                <a:schemeClr val="tx2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81788"/>
              </p:ext>
            </p:extLst>
          </p:nvPr>
        </p:nvGraphicFramePr>
        <p:xfrm>
          <a:off x="2207568" y="1484784"/>
          <a:ext cx="391318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3" name="公式" r:id="rId3" imgW="1724133" imgH="923911" progId="Equation.3">
                  <p:embed/>
                </p:oleObj>
              </mc:Choice>
              <mc:Fallback>
                <p:oleObj name="公式" r:id="rId3" imgW="1724133" imgH="9239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484784"/>
                        <a:ext cx="3913187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457324"/>
              </p:ext>
            </p:extLst>
          </p:nvPr>
        </p:nvGraphicFramePr>
        <p:xfrm>
          <a:off x="6209655" y="1484784"/>
          <a:ext cx="3055938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4" name="公式" r:id="rId5" imgW="1343037" imgH="923911" progId="Equation.3">
                  <p:embed/>
                </p:oleObj>
              </mc:Choice>
              <mc:Fallback>
                <p:oleObj name="公式" r:id="rId5" imgW="1343037" imgH="9239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655" y="1484784"/>
                        <a:ext cx="3055938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3474393" y="2061047"/>
            <a:ext cx="23034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425555" y="1772122"/>
            <a:ext cx="0" cy="15843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238290"/>
              </p:ext>
            </p:extLst>
          </p:nvPr>
        </p:nvGraphicFramePr>
        <p:xfrm>
          <a:off x="4523730" y="4364509"/>
          <a:ext cx="3398838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5" name="Equation" r:id="rId7" imgW="1495245" imgH="923911" progId="Equation.DSMT4">
                  <p:embed/>
                </p:oleObj>
              </mc:Choice>
              <mc:Fallback>
                <p:oleObj name="Equation" r:id="rId7" imgW="1495245" imgH="92391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3730" y="4364509"/>
                        <a:ext cx="3398838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990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302818" y="707355"/>
            <a:ext cx="75438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kumimoji="0" lang="en-US" altLang="zh-CN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kumimoji="0" lang="en-US" altLang="zh-CN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kumimoji="0" lang="en-US" altLang="zh-CN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kumimoji="0" lang="en-US" altLang="zh-CN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630218"/>
              </p:ext>
            </p:extLst>
          </p:nvPr>
        </p:nvGraphicFramePr>
        <p:xfrm>
          <a:off x="2207568" y="807368"/>
          <a:ext cx="6856413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7" name="公式" r:id="rId3" imgW="3028830" imgH="923911" progId="Equation.3">
                  <p:embed/>
                </p:oleObj>
              </mc:Choice>
              <mc:Fallback>
                <p:oleObj name="公式" r:id="rId3" imgW="3028830" imgH="9239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807368"/>
                        <a:ext cx="6856413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3504556" y="1310605"/>
            <a:ext cx="23034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6816081" y="1094705"/>
            <a:ext cx="0" cy="1584325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934522"/>
              </p:ext>
            </p:extLst>
          </p:nvPr>
        </p:nvGraphicFramePr>
        <p:xfrm>
          <a:off x="4152256" y="3039393"/>
          <a:ext cx="339883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8" name="公式" r:id="rId5" imgW="1495245" imgH="923911" progId="Equation.3">
                  <p:embed/>
                </p:oleObj>
              </mc:Choice>
              <mc:Fallback>
                <p:oleObj name="公式" r:id="rId5" imgW="1495245" imgH="9239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256" y="3039393"/>
                        <a:ext cx="3398837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53579"/>
              </p:ext>
            </p:extLst>
          </p:nvPr>
        </p:nvGraphicFramePr>
        <p:xfrm>
          <a:off x="4007768" y="5428579"/>
          <a:ext cx="3455988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9" name="Equation" r:id="rId7" imgW="2044700" imgH="965200" progId="Equation.DSMT4">
                  <p:embed/>
                </p:oleObj>
              </mc:Choice>
              <mc:Fallback>
                <p:oleObj name="Equation" r:id="rId7" imgW="2044700" imgH="96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5428579"/>
                        <a:ext cx="3455988" cy="13573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590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16052</TotalTime>
  <Words>937</Words>
  <Application>Microsoft Office PowerPoint</Application>
  <PresentationFormat>宽屏</PresentationFormat>
  <Paragraphs>116</Paragraphs>
  <Slides>46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黑体</vt:lpstr>
      <vt:lpstr>华文楷体</vt:lpstr>
      <vt:lpstr>宋体</vt:lpstr>
      <vt:lpstr>宋体</vt:lpstr>
      <vt:lpstr>微软雅黑</vt:lpstr>
      <vt:lpstr>Arial</vt:lpstr>
      <vt:lpstr>Symbol</vt:lpstr>
      <vt:lpstr>Tahoma</vt:lpstr>
      <vt:lpstr>Times New Roman</vt:lpstr>
      <vt:lpstr>Wingdings</vt:lpstr>
      <vt:lpstr>诗情画意</vt:lpstr>
      <vt:lpstr>Equation</vt:lpstr>
      <vt:lpstr>MathType 6.0 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行列式按行(列)展开定理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是谁发明了 行列式按行 (列)展开定理？</vt:lpstr>
      <vt:lpstr>P-S, Laplace (1749-1827), 法国应用数学家与理论物理学家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</dc:title>
  <dc:creator>Chunchao SHI</dc:creator>
  <cp:lastModifiedBy>Windows 用户</cp:lastModifiedBy>
  <cp:revision>898</cp:revision>
  <cp:lastPrinted>2018-06-24T10:27:57Z</cp:lastPrinted>
  <dcterms:created xsi:type="dcterms:W3CDTF">2000-09-19T09:57:13Z</dcterms:created>
  <dcterms:modified xsi:type="dcterms:W3CDTF">2022-10-03T13:17:47Z</dcterms:modified>
</cp:coreProperties>
</file>