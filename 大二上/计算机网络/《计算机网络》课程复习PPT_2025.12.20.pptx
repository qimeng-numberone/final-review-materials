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bookmarkIdSeed="3">
  <p:sldMasterIdLst>
    <p:sldMasterId id="2147483648" r:id="rId1"/>
    <p:sldMasterId id="2147483663" r:id="rId2"/>
    <p:sldMasterId id="2147483677" r:id="rId3"/>
  </p:sldMasterIdLst>
  <p:notesMasterIdLst>
    <p:notesMasterId r:id="rId39"/>
  </p:notesMasterIdLst>
  <p:sldIdLst>
    <p:sldId id="571" r:id="rId4"/>
    <p:sldId id="583" r:id="rId5"/>
    <p:sldId id="609" r:id="rId6"/>
    <p:sldId id="611" r:id="rId7"/>
    <p:sldId id="599" r:id="rId8"/>
    <p:sldId id="612" r:id="rId9"/>
    <p:sldId id="601" r:id="rId10"/>
    <p:sldId id="616" r:id="rId11"/>
    <p:sldId id="597" r:id="rId12"/>
    <p:sldId id="600" r:id="rId13"/>
    <p:sldId id="598" r:id="rId14"/>
    <p:sldId id="582" r:id="rId15"/>
    <p:sldId id="608" r:id="rId16"/>
    <p:sldId id="584" r:id="rId17"/>
    <p:sldId id="575" r:id="rId18"/>
    <p:sldId id="585" r:id="rId19"/>
    <p:sldId id="617" r:id="rId20"/>
    <p:sldId id="573" r:id="rId21"/>
    <p:sldId id="586" r:id="rId22"/>
    <p:sldId id="590" r:id="rId23"/>
    <p:sldId id="592" r:id="rId24"/>
    <p:sldId id="613" r:id="rId25"/>
    <p:sldId id="591" r:id="rId26"/>
    <p:sldId id="589" r:id="rId27"/>
    <p:sldId id="593" r:id="rId28"/>
    <p:sldId id="588" r:id="rId29"/>
    <p:sldId id="594" r:id="rId30"/>
    <p:sldId id="607" r:id="rId31"/>
    <p:sldId id="587" r:id="rId32"/>
    <p:sldId id="595" r:id="rId33"/>
    <p:sldId id="614" r:id="rId34"/>
    <p:sldId id="596" r:id="rId35"/>
    <p:sldId id="605" r:id="rId36"/>
    <p:sldId id="602" r:id="rId37"/>
    <p:sldId id="606" r:id="rId38"/>
  </p:sldIdLst>
  <p:sldSz cx="12192000" cy="6858000"/>
  <p:notesSz cx="6858000" cy="9144000"/>
  <p:embeddedFontLst>
    <p:embeddedFont>
      <p:font typeface="等线" panose="02010600030101010101" pitchFamily="2" charset="-122"/>
      <p:regular r:id="rId40"/>
      <p:bold r:id="rId41"/>
    </p:embeddedFont>
    <p:embeddedFont>
      <p:font typeface="方正公文小标宋" panose="02010600030101010101" charset="-122"/>
      <p:regular r:id="rId42"/>
    </p:embeddedFont>
    <p:embeddedFont>
      <p:font typeface="微软雅黑" panose="020B0503020204020204" pitchFamily="34" charset="-122"/>
      <p:regular r:id="rId43"/>
      <p:bold r:id="rId44"/>
    </p:embeddedFont>
  </p:embeddedFontLst>
  <p:custDataLst>
    <p:tags r:id="rId4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03">
          <p15:clr>
            <a:srgbClr val="A4A3A4"/>
          </p15:clr>
        </p15:guide>
        <p15:guide id="2" pos="3833">
          <p15:clr>
            <a:srgbClr val="A4A3A4"/>
          </p15:clr>
        </p15:guide>
        <p15:guide id="3" pos="412">
          <p15:clr>
            <a:srgbClr val="A4A3A4"/>
          </p15:clr>
        </p15:guide>
        <p15:guide id="4" pos="7216">
          <p15:clr>
            <a:srgbClr val="A4A3A4"/>
          </p15:clr>
        </p15:guide>
        <p15:guide id="5" orient="horz" pos="39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5959"/>
    <a:srgbClr val="DAE3F3"/>
    <a:srgbClr val="CCD5E4"/>
    <a:srgbClr val="2E75B6"/>
    <a:srgbClr val="E6846A"/>
    <a:srgbClr val="ED6663"/>
    <a:srgbClr val="1898BD"/>
    <a:srgbClr val="404040"/>
    <a:srgbClr val="FF9D6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A9B5AE9-B70D-4B7E-A76B-77F15CF73BA1}" styleName="{762a0fe7-0b57-4572-a0f4-d8431226f2b7}">
    <a:wholeTbl>
      <a:tcTxStyle>
        <a:fontRef idx="none">
          <a:prstClr val="black"/>
        </a:fontRef>
      </a:tcTxStyle>
      <a:tcStyle>
        <a:tcBdr>
          <a:left>
            <a:ln w="6350" cmpd="sng">
              <a:solidFill>
                <a:srgbClr val="808080"/>
              </a:solidFill>
            </a:ln>
          </a:left>
          <a:right>
            <a:ln w="6350" cmpd="sng">
              <a:solidFill>
                <a:srgbClr val="808080"/>
              </a:solidFill>
            </a:ln>
          </a:right>
          <a:top>
            <a:ln w="6350" cmpd="sng">
              <a:solidFill>
                <a:srgbClr val="808080"/>
              </a:solidFill>
            </a:ln>
          </a:top>
          <a:bottom>
            <a:ln w="6350" cmpd="sng">
              <a:solidFill>
                <a:srgbClr val="808080"/>
              </a:solidFill>
            </a:ln>
          </a:bottom>
          <a:insideH>
            <a:ln w="6350" cmpd="sng">
              <a:solidFill>
                <a:srgbClr val="808080"/>
              </a:solidFill>
            </a:ln>
          </a:insideH>
          <a:insideV>
            <a:ln w="6350" cmpd="sng">
              <a:solidFill>
                <a:srgbClr val="808080"/>
              </a:solidFill>
            </a:ln>
          </a:insideV>
        </a:tcBdr>
        <a:fill>
          <a:solidFill>
            <a:srgbClr val="FFFFFF"/>
          </a:solidFill>
        </a:fill>
      </a:tcStyle>
    </a:wholeTbl>
    <a:lastRow>
      <a:tcTxStyle>
        <a:fontRef idx="none">
          <a:prstClr val="black"/>
        </a:fontRef>
      </a:tcTxStyle>
      <a:tcStyle>
        <a:tcBdr/>
        <a:fill>
          <a:solidFill>
            <a:srgbClr val="99D3D9"/>
          </a:solidFill>
        </a:fill>
      </a:tcStyle>
    </a:lastRow>
    <a:firstRow>
      <a:tcTxStyle>
        <a:fontRef idx="none">
          <a:prstClr val="black"/>
        </a:fontRef>
      </a:tcTxStyle>
      <a:tcStyle>
        <a:tcBdr/>
        <a:fill>
          <a:solidFill>
            <a:srgbClr val="99D3D9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18" autoAdjust="0"/>
    <p:restoredTop sz="93883" autoAdjust="0"/>
  </p:normalViewPr>
  <p:slideViewPr>
    <p:cSldViewPr snapToGrid="0" showGuides="1">
      <p:cViewPr varScale="1">
        <p:scale>
          <a:sx n="77" d="100"/>
          <a:sy n="77" d="100"/>
        </p:scale>
        <p:origin x="859" y="43"/>
      </p:cViewPr>
      <p:guideLst>
        <p:guide orient="horz" pos="1003"/>
        <p:guide pos="3833"/>
        <p:guide pos="412"/>
        <p:guide pos="7216"/>
        <p:guide orient="horz" pos="39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font" Target="fonts/font3.fntdata"/><Relationship Id="rId47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font" Target="fonts/font1.fntdata"/><Relationship Id="rId45" Type="http://schemas.openxmlformats.org/officeDocument/2006/relationships/tags" Target="tags/tag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font" Target="fonts/font5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font" Target="fonts/font4.fntdata"/><Relationship Id="rId48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CAF20A-2DF4-465D-B67D-1DDCB25BFBC5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8A6A4F-55AE-419F-BDBA-4549D9B28FF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A6A4F-55AE-419F-BDBA-4549D9B28FF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80072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1DAC9-D798-040E-0B82-AD94C5025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1FB0E23-8AD8-0483-390F-AF4CD46251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5E11A24-F54C-967E-39C3-8C722F38FD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314415-ACE4-F4F9-F18B-CAAACF0FD8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A6A4F-55AE-419F-BDBA-4549D9B28FF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26728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FD599-21E3-9B79-3F52-CA9B7E480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E00729D-5067-99CE-D3A0-586E7BF416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CD46460-7F4F-4C07-CC08-43AD243733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1F36E0-82E7-09B5-5D73-4B868C1A4B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A6A4F-55AE-419F-BDBA-4549D9B28FF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274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A6A4F-55AE-419F-BDBA-4549D9B28FF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36003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C5337-9F22-EA9C-C928-AE710C99D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E566A6-CD16-4CAD-EBAA-63D05DD2C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407150D-BB8B-0246-165D-C32AD99EB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76A8B2-D4CC-DF1E-AA59-51EAF7A06A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A6A4F-55AE-419F-BDBA-4549D9B28FF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16359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A6A4F-55AE-419F-BDBA-4549D9B28FF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3572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ED6CD-A2CF-2F1B-8413-19C95A9CD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9D6AD9-3C91-9D09-D616-9FED4ABE10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0F119DE-A24F-9204-F019-CCE44D95B9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D045E5-5F90-1B2F-F60A-FE95B8D4DD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A6A4F-55AE-419F-BDBA-4549D9B28FF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43042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A6A4F-55AE-419F-BDBA-4549D9B28FF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90971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A6A4F-55AE-419F-BDBA-4549D9B28FF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88321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A6A4F-55AE-419F-BDBA-4549D9B28FF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0980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A6A4F-55AE-419F-BDBA-4549D9B28FF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78606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A6A4F-55AE-419F-BDBA-4549D9B28FF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93404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A6A4F-55AE-419F-BDBA-4549D9B28FF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30079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A6A4F-55AE-419F-BDBA-4549D9B28FF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56122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A6A4F-55AE-419F-BDBA-4549D9B28FF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03201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C5337-9F22-EA9C-C928-AE710C99D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E566A6-CD16-4CAD-EBAA-63D05DD2C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407150D-BB8B-0246-165D-C32AD99EB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76A8B2-D4CC-DF1E-AA59-51EAF7A06A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A6A4F-55AE-419F-BDBA-4549D9B28FF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16359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A6A4F-55AE-419F-BDBA-4549D9B28FF5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9898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A6A4F-55AE-419F-BDBA-4549D9B28FF5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17902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A6A4F-55AE-419F-BDBA-4549D9B28FF5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96268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A6A4F-55AE-419F-BDBA-4549D9B28FF5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46016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A4120-5AE3-C9D2-3D38-A3093EA0A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EADD212-8FCB-F977-E8E5-AD32E1223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B2D2686-50FE-29ED-E7C7-6702A29294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86573A-FEAA-7548-0D73-52F2C83006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A6A4F-55AE-419F-BDBA-4549D9B28FF5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38965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A6A4F-55AE-419F-BDBA-4549D9B28FF5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41681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A6A4F-55AE-419F-BDBA-4549D9B28FF5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16047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A6A4F-55AE-419F-BDBA-4549D9B28FF5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78122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A6A4F-55AE-419F-BDBA-4549D9B28FF5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8748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A6A4F-55AE-419F-BDBA-4549D9B28FF5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82803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A6A4F-55AE-419F-BDBA-4549D9B28FF5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07492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A6A4F-55AE-419F-BDBA-4549D9B28FF5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68704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A6A4F-55AE-419F-BDBA-4549D9B28FF5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737792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B6F51-F9FE-A5FA-B00B-25CFE924D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DE4F03-EC85-387C-238C-0C52498B5D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19535CB-F9E7-BEA1-5213-1568081C21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AFB0E7-7BAD-FFBB-D547-CC1CA9BD4B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A6A4F-55AE-419F-BDBA-4549D9B28FF5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008775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A6A4F-55AE-419F-BDBA-4549D9B28FF5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874998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A6A4F-55AE-419F-BDBA-4549D9B28FF5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771333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A6A4F-55AE-419F-BDBA-4549D9B28FF5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300418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A6A4F-55AE-419F-BDBA-4549D9B28FF5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3256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8.xml"/><Relationship Id="rId4" Type="http://schemas.openxmlformats.org/officeDocument/2006/relationships/tags" Target="../tags/tag7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13.xml"/><Relationship Id="rId4" Type="http://schemas.openxmlformats.org/officeDocument/2006/relationships/tags" Target="../tags/tag1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18.xml"/><Relationship Id="rId4" Type="http://schemas.openxmlformats.org/officeDocument/2006/relationships/tags" Target="../tags/tag17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3" Type="http://schemas.openxmlformats.org/officeDocument/2006/relationships/tags" Target="../tags/tag27.xml"/><Relationship Id="rId7" Type="http://schemas.openxmlformats.org/officeDocument/2006/relationships/tags" Target="../tags/tag31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9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36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4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54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59.xml"/><Relationship Id="rId4" Type="http://schemas.openxmlformats.org/officeDocument/2006/relationships/tags" Target="../tags/tag58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60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/>
          <p:cNvSpPr/>
          <p:nvPr userDrawn="1"/>
        </p:nvSpPr>
        <p:spPr>
          <a:xfrm>
            <a:off x="177800" y="177800"/>
            <a:ext cx="11921490" cy="563245"/>
          </a:xfrm>
          <a:prstGeom prst="roundRect">
            <a:avLst>
              <a:gd name="adj" fmla="val 50000"/>
            </a:avLst>
          </a:prstGeom>
          <a:gradFill>
            <a:gsLst>
              <a:gs pos="22000">
                <a:schemeClr val="bg1">
                  <a:alpha val="0"/>
                </a:schemeClr>
              </a:gs>
              <a:gs pos="58000">
                <a:schemeClr val="bg1">
                  <a:lumMod val="9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r"/>
            <a:endParaRPr lang="zh-CN" altLang="en-US" sz="2000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11092656" y="262813"/>
            <a:ext cx="886960" cy="412057"/>
            <a:chOff x="9700408" y="29222"/>
            <a:chExt cx="2036683" cy="946188"/>
          </a:xfrm>
        </p:grpSpPr>
        <p:pic>
          <p:nvPicPr>
            <p:cNvPr id="9" name="图片 8"/>
            <p:cNvPicPr/>
            <p:nvPr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6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00408" y="29222"/>
              <a:ext cx="983902" cy="946188"/>
            </a:xfrm>
            <a:prstGeom prst="rect">
              <a:avLst/>
            </a:prstGeom>
          </p:spPr>
        </p:pic>
        <p:pic>
          <p:nvPicPr>
            <p:cNvPr id="10" name="图片 9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566" t="6426" r="6960" b="7099"/>
            <a:stretch>
              <a:fillRect/>
            </a:stretch>
          </p:blipFill>
          <p:spPr>
            <a:xfrm>
              <a:off x="10825912" y="29222"/>
              <a:ext cx="911179" cy="903896"/>
            </a:xfrm>
            <a:custGeom>
              <a:avLst/>
              <a:gdLst>
                <a:gd name="connsiteX0" fmla="*/ 2965201 w 5930402"/>
                <a:gd name="connsiteY0" fmla="*/ 0 h 5930402"/>
                <a:gd name="connsiteX1" fmla="*/ 5930402 w 5930402"/>
                <a:gd name="connsiteY1" fmla="*/ 2965201 h 5930402"/>
                <a:gd name="connsiteX2" fmla="*/ 2965201 w 5930402"/>
                <a:gd name="connsiteY2" fmla="*/ 5930402 h 5930402"/>
                <a:gd name="connsiteX3" fmla="*/ 0 w 5930402"/>
                <a:gd name="connsiteY3" fmla="*/ 2965201 h 5930402"/>
                <a:gd name="connsiteX4" fmla="*/ 2965201 w 5930402"/>
                <a:gd name="connsiteY4" fmla="*/ 0 h 5930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30402" h="5930402">
                  <a:moveTo>
                    <a:pt x="2965201" y="0"/>
                  </a:moveTo>
                  <a:cubicBezTo>
                    <a:pt x="4602836" y="0"/>
                    <a:pt x="5930402" y="1327566"/>
                    <a:pt x="5930402" y="2965201"/>
                  </a:cubicBezTo>
                  <a:cubicBezTo>
                    <a:pt x="5930402" y="4602836"/>
                    <a:pt x="4602836" y="5930402"/>
                    <a:pt x="2965201" y="5930402"/>
                  </a:cubicBezTo>
                  <a:cubicBezTo>
                    <a:pt x="1327566" y="5930402"/>
                    <a:pt x="0" y="4602836"/>
                    <a:pt x="0" y="2965201"/>
                  </a:cubicBezTo>
                  <a:cubicBezTo>
                    <a:pt x="0" y="1327566"/>
                    <a:pt x="1327566" y="0"/>
                    <a:pt x="2965201" y="0"/>
                  </a:cubicBezTo>
                  <a:close/>
                </a:path>
              </a:pathLst>
            </a:custGeom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/>
          <p:cNvSpPr/>
          <p:nvPr userDrawn="1"/>
        </p:nvSpPr>
        <p:spPr>
          <a:xfrm flipH="1">
            <a:off x="0" y="12700"/>
            <a:ext cx="11921490" cy="664210"/>
          </a:xfrm>
          <a:prstGeom prst="rect">
            <a:avLst/>
          </a:prstGeom>
          <a:gradFill>
            <a:gsLst>
              <a:gs pos="22000">
                <a:schemeClr val="bg1">
                  <a:alpha val="0"/>
                </a:schemeClr>
              </a:gs>
              <a:gs pos="58000">
                <a:schemeClr val="bg1">
                  <a:lumMod val="9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r"/>
            <a:endParaRPr lang="zh-CN" altLang="en-US" sz="2000"/>
          </a:p>
        </p:txBody>
      </p:sp>
      <p:pic>
        <p:nvPicPr>
          <p:cNvPr id="10" name="图片 9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66" t="6426" r="6960" b="7099"/>
          <a:stretch>
            <a:fillRect/>
          </a:stretch>
        </p:blipFill>
        <p:spPr>
          <a:xfrm>
            <a:off x="90170" y="85090"/>
            <a:ext cx="523240" cy="519430"/>
          </a:xfrm>
          <a:custGeom>
            <a:avLst/>
            <a:gdLst>
              <a:gd name="connsiteX0" fmla="*/ 2965201 w 5930402"/>
              <a:gd name="connsiteY0" fmla="*/ 0 h 5930402"/>
              <a:gd name="connsiteX1" fmla="*/ 5930402 w 5930402"/>
              <a:gd name="connsiteY1" fmla="*/ 2965201 h 5930402"/>
              <a:gd name="connsiteX2" fmla="*/ 2965201 w 5930402"/>
              <a:gd name="connsiteY2" fmla="*/ 5930402 h 5930402"/>
              <a:gd name="connsiteX3" fmla="*/ 0 w 5930402"/>
              <a:gd name="connsiteY3" fmla="*/ 2965201 h 5930402"/>
              <a:gd name="connsiteX4" fmla="*/ 2965201 w 5930402"/>
              <a:gd name="connsiteY4" fmla="*/ 0 h 5930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30402" h="5930402">
                <a:moveTo>
                  <a:pt x="2965201" y="0"/>
                </a:moveTo>
                <a:cubicBezTo>
                  <a:pt x="4602836" y="0"/>
                  <a:pt x="5930402" y="1327566"/>
                  <a:pt x="5930402" y="2965201"/>
                </a:cubicBezTo>
                <a:cubicBezTo>
                  <a:pt x="5930402" y="4602836"/>
                  <a:pt x="4602836" y="5930402"/>
                  <a:pt x="2965201" y="5930402"/>
                </a:cubicBezTo>
                <a:cubicBezTo>
                  <a:pt x="1327566" y="5930402"/>
                  <a:pt x="0" y="4602836"/>
                  <a:pt x="0" y="2965201"/>
                </a:cubicBezTo>
                <a:cubicBezTo>
                  <a:pt x="0" y="1327566"/>
                  <a:pt x="1327566" y="0"/>
                  <a:pt x="2965201" y="0"/>
                </a:cubicBezTo>
                <a:close/>
              </a:path>
            </a:pathLst>
          </a:custGeom>
        </p:spPr>
      </p:pic>
      <p:sp>
        <p:nvSpPr>
          <p:cNvPr id="38" name="矩形 37"/>
          <p:cNvSpPr/>
          <p:nvPr userDrawn="1"/>
        </p:nvSpPr>
        <p:spPr>
          <a:xfrm>
            <a:off x="0" y="6496050"/>
            <a:ext cx="12192635" cy="36195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图片 38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2160" y="6342380"/>
            <a:ext cx="1688465" cy="712470"/>
          </a:xfrm>
          <a:prstGeom prst="rect">
            <a:avLst/>
          </a:prstGeom>
        </p:spPr>
      </p:pic>
      <p:sp>
        <p:nvSpPr>
          <p:cNvPr id="40" name="文本框 39"/>
          <p:cNvSpPr txBox="1"/>
          <p:nvPr userDrawn="1"/>
        </p:nvSpPr>
        <p:spPr>
          <a:xfrm>
            <a:off x="9752965" y="6545580"/>
            <a:ext cx="24390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计算机与信息科学学院</a:t>
            </a:r>
            <a:r>
              <a:rPr lang="en-US" altLang="zh-CN" sz="1200" dirty="0">
                <a:solidFill>
                  <a:schemeClr val="bg1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  </a:t>
            </a:r>
            <a:r>
              <a:rPr lang="zh-CN" altLang="en-US" sz="1200" dirty="0">
                <a:solidFill>
                  <a:schemeClr val="bg1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软件学院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70633-D020-418F-91EA-D24A24100B43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F624-F1C7-4D1E-BC55-D585AAF40E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70633-D020-418F-91EA-D24A24100B43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F624-F1C7-4D1E-BC55-D585AAF40E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70633-D020-418F-91EA-D24A24100B43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F624-F1C7-4D1E-BC55-D585AAF40E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70633-D020-418F-91EA-D24A24100B43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F624-F1C7-4D1E-BC55-D585AAF40E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70633-D020-418F-91EA-D24A24100B43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F624-F1C7-4D1E-BC55-D585AAF40E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70633-D020-418F-91EA-D24A24100B43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F624-F1C7-4D1E-BC55-D585AAF40E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70633-D020-418F-91EA-D24A24100B43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F624-F1C7-4D1E-BC55-D585AAF40E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70633-D020-418F-91EA-D24A24100B43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F624-F1C7-4D1E-BC55-D585AAF40E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70633-D020-418F-91EA-D24A24100B43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F624-F1C7-4D1E-BC55-D585AAF40E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70633-D020-418F-91EA-D24A24100B43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F624-F1C7-4D1E-BC55-D585AAF40E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70633-D020-418F-91EA-D24A24100B43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F624-F1C7-4D1E-BC55-D585AAF40E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图片占位符 12"/>
          <p:cNvSpPr>
            <a:spLocks noGrp="1"/>
          </p:cNvSpPr>
          <p:nvPr>
            <p:ph type="pic" sz="quarter" idx="14"/>
          </p:nvPr>
        </p:nvSpPr>
        <p:spPr>
          <a:xfrm>
            <a:off x="748085" y="130155"/>
            <a:ext cx="11234364" cy="4000848"/>
          </a:xfrm>
          <a:custGeom>
            <a:avLst/>
            <a:gdLst>
              <a:gd name="connsiteX0" fmla="*/ 6649561 w 11234364"/>
              <a:gd name="connsiteY0" fmla="*/ 1455566 h 4000848"/>
              <a:gd name="connsiteX1" fmla="*/ 7947745 w 11234364"/>
              <a:gd name="connsiteY1" fmla="*/ 1741766 h 4000848"/>
              <a:gd name="connsiteX2" fmla="*/ 11234364 w 11234364"/>
              <a:gd name="connsiteY2" fmla="*/ 1741766 h 4000848"/>
              <a:gd name="connsiteX3" fmla="*/ 2782514 w 11234364"/>
              <a:gd name="connsiteY3" fmla="*/ 2955997 h 4000848"/>
              <a:gd name="connsiteX4" fmla="*/ 6649561 w 11234364"/>
              <a:gd name="connsiteY4" fmla="*/ 1455566 h 4000848"/>
              <a:gd name="connsiteX5" fmla="*/ 9390735 w 11234364"/>
              <a:gd name="connsiteY5" fmla="*/ 596028 h 4000848"/>
              <a:gd name="connsiteX6" fmla="*/ 11234363 w 11234364"/>
              <a:gd name="connsiteY6" fmla="*/ 1420457 h 4000848"/>
              <a:gd name="connsiteX7" fmla="*/ 7540250 w 11234364"/>
              <a:gd name="connsiteY7" fmla="*/ 1198878 h 4000848"/>
              <a:gd name="connsiteX8" fmla="*/ 9390735 w 11234364"/>
              <a:gd name="connsiteY8" fmla="*/ 596028 h 4000848"/>
              <a:gd name="connsiteX9" fmla="*/ 2568648 w 11234364"/>
              <a:gd name="connsiteY9" fmla="*/ 529 h 4000848"/>
              <a:gd name="connsiteX10" fmla="*/ 2893233 w 11234364"/>
              <a:gd name="connsiteY10" fmla="*/ 22003 h 4000848"/>
              <a:gd name="connsiteX11" fmla="*/ 4865550 w 11234364"/>
              <a:gd name="connsiteY11" fmla="*/ 813559 h 4000848"/>
              <a:gd name="connsiteX12" fmla="*/ 2392214 w 11234364"/>
              <a:gd name="connsiteY12" fmla="*/ 1330262 h 4000848"/>
              <a:gd name="connsiteX13" fmla="*/ 0 w 11234364"/>
              <a:gd name="connsiteY13" fmla="*/ 1081294 h 4000848"/>
              <a:gd name="connsiteX14" fmla="*/ 2568648 w 11234364"/>
              <a:gd name="connsiteY14" fmla="*/ 529 h 4000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234364" h="4000848">
                <a:moveTo>
                  <a:pt x="6649561" y="1455566"/>
                </a:moveTo>
                <a:cubicBezTo>
                  <a:pt x="7107633" y="1469291"/>
                  <a:pt x="7549064" y="1559308"/>
                  <a:pt x="7947745" y="1741766"/>
                </a:cubicBezTo>
                <a:cubicBezTo>
                  <a:pt x="9542470" y="2469443"/>
                  <a:pt x="11234364" y="1741766"/>
                  <a:pt x="11234364" y="1741766"/>
                </a:cubicBezTo>
                <a:cubicBezTo>
                  <a:pt x="7219926" y="5978656"/>
                  <a:pt x="2782514" y="2955997"/>
                  <a:pt x="2782514" y="2955997"/>
                </a:cubicBezTo>
                <a:cubicBezTo>
                  <a:pt x="3751352" y="2059856"/>
                  <a:pt x="5275343" y="1414392"/>
                  <a:pt x="6649561" y="1455566"/>
                </a:cubicBezTo>
                <a:close/>
                <a:moveTo>
                  <a:pt x="9390735" y="596028"/>
                </a:moveTo>
                <a:cubicBezTo>
                  <a:pt x="9995104" y="584690"/>
                  <a:pt x="10658544" y="776771"/>
                  <a:pt x="11234363" y="1420457"/>
                </a:cubicBezTo>
                <a:cubicBezTo>
                  <a:pt x="11234363" y="1420457"/>
                  <a:pt x="9595351" y="2658342"/>
                  <a:pt x="7540250" y="1198878"/>
                </a:cubicBezTo>
                <a:cubicBezTo>
                  <a:pt x="7540250" y="1198878"/>
                  <a:pt x="8383452" y="614927"/>
                  <a:pt x="9390735" y="596028"/>
                </a:cubicBezTo>
                <a:close/>
                <a:moveTo>
                  <a:pt x="2568648" y="529"/>
                </a:moveTo>
                <a:cubicBezTo>
                  <a:pt x="2674221" y="2411"/>
                  <a:pt x="2782454" y="9347"/>
                  <a:pt x="2893233" y="22003"/>
                </a:cubicBezTo>
                <a:cubicBezTo>
                  <a:pt x="3484053" y="89502"/>
                  <a:pt x="4147284" y="319699"/>
                  <a:pt x="4865550" y="813559"/>
                </a:cubicBezTo>
                <a:cubicBezTo>
                  <a:pt x="4865550" y="813559"/>
                  <a:pt x="3679991" y="1581133"/>
                  <a:pt x="2392214" y="1330262"/>
                </a:cubicBezTo>
                <a:cubicBezTo>
                  <a:pt x="1104437" y="1079390"/>
                  <a:pt x="1283252" y="740967"/>
                  <a:pt x="0" y="1081294"/>
                </a:cubicBezTo>
                <a:cubicBezTo>
                  <a:pt x="0" y="1081294"/>
                  <a:pt x="985054" y="-27699"/>
                  <a:pt x="2568648" y="529"/>
                </a:cubicBezTo>
                <a:close/>
              </a:path>
            </a:pathLst>
          </a:custGeom>
          <a:pattFill prst="wd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vert="horz" wrap="square" lIns="91440" tIns="45720" rIns="91440" bIns="45720" rtlCol="0">
            <a:noAutofit/>
          </a:bodyPr>
          <a:lstStyle>
            <a:lvl1pPr>
              <a:defRPr lang="zh-CN" altLang="en-US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zh-CN" altLang="en-US"/>
              <a:t>单击图标添加图片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70633-D020-418F-91EA-D24A24100B43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F624-F1C7-4D1E-BC55-D585AAF40E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70633-D020-418F-91EA-D24A24100B43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F624-F1C7-4D1E-BC55-D585AAF40E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70633-D020-418F-91EA-D24A24100B43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F624-F1C7-4D1E-BC55-D585AAF40E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70633-D020-418F-91EA-D24A24100B43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F624-F1C7-4D1E-BC55-D585AAF40E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70633-D020-418F-91EA-D24A24100B43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F624-F1C7-4D1E-BC55-D585AAF40E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70633-D020-418F-91EA-D24A24100B43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F624-F1C7-4D1E-BC55-D585AAF40E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70633-D020-418F-91EA-D24A24100B43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F624-F1C7-4D1E-BC55-D585AAF40E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70633-D020-418F-91EA-D24A24100B43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F624-F1C7-4D1E-BC55-D585AAF40E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70633-D020-418F-91EA-D24A24100B43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F624-F1C7-4D1E-BC55-D585AAF40E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70633-D020-418F-91EA-D24A24100B43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F624-F1C7-4D1E-BC55-D585AAF40E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70633-D020-418F-91EA-D24A24100B43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F624-F1C7-4D1E-BC55-D585AAF40E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图片占位符 12"/>
          <p:cNvSpPr>
            <a:spLocks noGrp="1"/>
          </p:cNvSpPr>
          <p:nvPr>
            <p:ph type="pic" sz="quarter" idx="14"/>
          </p:nvPr>
        </p:nvSpPr>
        <p:spPr>
          <a:xfrm>
            <a:off x="748085" y="130155"/>
            <a:ext cx="11234364" cy="4000848"/>
          </a:xfrm>
          <a:custGeom>
            <a:avLst/>
            <a:gdLst>
              <a:gd name="connsiteX0" fmla="*/ 6649561 w 11234364"/>
              <a:gd name="connsiteY0" fmla="*/ 1455566 h 4000848"/>
              <a:gd name="connsiteX1" fmla="*/ 7947745 w 11234364"/>
              <a:gd name="connsiteY1" fmla="*/ 1741766 h 4000848"/>
              <a:gd name="connsiteX2" fmla="*/ 11234364 w 11234364"/>
              <a:gd name="connsiteY2" fmla="*/ 1741766 h 4000848"/>
              <a:gd name="connsiteX3" fmla="*/ 2782514 w 11234364"/>
              <a:gd name="connsiteY3" fmla="*/ 2955997 h 4000848"/>
              <a:gd name="connsiteX4" fmla="*/ 6649561 w 11234364"/>
              <a:gd name="connsiteY4" fmla="*/ 1455566 h 4000848"/>
              <a:gd name="connsiteX5" fmla="*/ 9390735 w 11234364"/>
              <a:gd name="connsiteY5" fmla="*/ 596028 h 4000848"/>
              <a:gd name="connsiteX6" fmla="*/ 11234363 w 11234364"/>
              <a:gd name="connsiteY6" fmla="*/ 1420457 h 4000848"/>
              <a:gd name="connsiteX7" fmla="*/ 7540250 w 11234364"/>
              <a:gd name="connsiteY7" fmla="*/ 1198878 h 4000848"/>
              <a:gd name="connsiteX8" fmla="*/ 9390735 w 11234364"/>
              <a:gd name="connsiteY8" fmla="*/ 596028 h 4000848"/>
              <a:gd name="connsiteX9" fmla="*/ 2568648 w 11234364"/>
              <a:gd name="connsiteY9" fmla="*/ 529 h 4000848"/>
              <a:gd name="connsiteX10" fmla="*/ 2893233 w 11234364"/>
              <a:gd name="connsiteY10" fmla="*/ 22003 h 4000848"/>
              <a:gd name="connsiteX11" fmla="*/ 4865550 w 11234364"/>
              <a:gd name="connsiteY11" fmla="*/ 813559 h 4000848"/>
              <a:gd name="connsiteX12" fmla="*/ 2392214 w 11234364"/>
              <a:gd name="connsiteY12" fmla="*/ 1330262 h 4000848"/>
              <a:gd name="connsiteX13" fmla="*/ 0 w 11234364"/>
              <a:gd name="connsiteY13" fmla="*/ 1081294 h 4000848"/>
              <a:gd name="connsiteX14" fmla="*/ 2568648 w 11234364"/>
              <a:gd name="connsiteY14" fmla="*/ 529 h 4000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234364" h="4000848">
                <a:moveTo>
                  <a:pt x="6649561" y="1455566"/>
                </a:moveTo>
                <a:cubicBezTo>
                  <a:pt x="7107633" y="1469291"/>
                  <a:pt x="7549064" y="1559308"/>
                  <a:pt x="7947745" y="1741766"/>
                </a:cubicBezTo>
                <a:cubicBezTo>
                  <a:pt x="9542470" y="2469443"/>
                  <a:pt x="11234364" y="1741766"/>
                  <a:pt x="11234364" y="1741766"/>
                </a:cubicBezTo>
                <a:cubicBezTo>
                  <a:pt x="7219926" y="5978656"/>
                  <a:pt x="2782514" y="2955997"/>
                  <a:pt x="2782514" y="2955997"/>
                </a:cubicBezTo>
                <a:cubicBezTo>
                  <a:pt x="3751352" y="2059856"/>
                  <a:pt x="5275343" y="1414392"/>
                  <a:pt x="6649561" y="1455566"/>
                </a:cubicBezTo>
                <a:close/>
                <a:moveTo>
                  <a:pt x="9390735" y="596028"/>
                </a:moveTo>
                <a:cubicBezTo>
                  <a:pt x="9995104" y="584690"/>
                  <a:pt x="10658544" y="776771"/>
                  <a:pt x="11234363" y="1420457"/>
                </a:cubicBezTo>
                <a:cubicBezTo>
                  <a:pt x="11234363" y="1420457"/>
                  <a:pt x="9595351" y="2658342"/>
                  <a:pt x="7540250" y="1198878"/>
                </a:cubicBezTo>
                <a:cubicBezTo>
                  <a:pt x="7540250" y="1198878"/>
                  <a:pt x="8383452" y="614927"/>
                  <a:pt x="9390735" y="596028"/>
                </a:cubicBezTo>
                <a:close/>
                <a:moveTo>
                  <a:pt x="2568648" y="529"/>
                </a:moveTo>
                <a:cubicBezTo>
                  <a:pt x="2674221" y="2411"/>
                  <a:pt x="2782454" y="9347"/>
                  <a:pt x="2893233" y="22003"/>
                </a:cubicBezTo>
                <a:cubicBezTo>
                  <a:pt x="3484053" y="89502"/>
                  <a:pt x="4147284" y="319699"/>
                  <a:pt x="4865550" y="813559"/>
                </a:cubicBezTo>
                <a:cubicBezTo>
                  <a:pt x="4865550" y="813559"/>
                  <a:pt x="3679991" y="1581133"/>
                  <a:pt x="2392214" y="1330262"/>
                </a:cubicBezTo>
                <a:cubicBezTo>
                  <a:pt x="1104437" y="1079390"/>
                  <a:pt x="1283252" y="740967"/>
                  <a:pt x="0" y="1081294"/>
                </a:cubicBezTo>
                <a:cubicBezTo>
                  <a:pt x="0" y="1081294"/>
                  <a:pt x="985054" y="-27699"/>
                  <a:pt x="2568648" y="529"/>
                </a:cubicBezTo>
                <a:close/>
              </a:path>
            </a:pathLst>
          </a:custGeom>
          <a:pattFill prst="wd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vert="horz" wrap="square" lIns="91440" tIns="45720" rIns="91440" bIns="45720" rtlCol="0">
            <a:noAutofit/>
          </a:bodyPr>
          <a:lstStyle>
            <a:lvl1pPr>
              <a:defRPr lang="zh-CN" altLang="en-US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zh-CN" altLang="en-US"/>
              <a:t>单击图标添加图片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  <a:t>2025/6/9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/>
          <p:cNvSpPr/>
          <p:nvPr userDrawn="1"/>
        </p:nvSpPr>
        <p:spPr>
          <a:xfrm flipH="1">
            <a:off x="0" y="12700"/>
            <a:ext cx="11921490" cy="664210"/>
          </a:xfrm>
          <a:prstGeom prst="rect">
            <a:avLst/>
          </a:prstGeom>
          <a:gradFill>
            <a:gsLst>
              <a:gs pos="22000">
                <a:schemeClr val="bg1">
                  <a:alpha val="0"/>
                </a:schemeClr>
              </a:gs>
              <a:gs pos="58000">
                <a:schemeClr val="bg1">
                  <a:lumMod val="9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r"/>
            <a:endParaRPr lang="zh-CN" altLang="en-US" sz="2000"/>
          </a:p>
        </p:txBody>
      </p:sp>
      <p:pic>
        <p:nvPicPr>
          <p:cNvPr id="10" name="图片 9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66" t="6426" r="6960" b="7099"/>
          <a:stretch>
            <a:fillRect/>
          </a:stretch>
        </p:blipFill>
        <p:spPr>
          <a:xfrm>
            <a:off x="90170" y="85090"/>
            <a:ext cx="523240" cy="519430"/>
          </a:xfrm>
          <a:custGeom>
            <a:avLst/>
            <a:gdLst>
              <a:gd name="connsiteX0" fmla="*/ 2965201 w 5930402"/>
              <a:gd name="connsiteY0" fmla="*/ 0 h 5930402"/>
              <a:gd name="connsiteX1" fmla="*/ 5930402 w 5930402"/>
              <a:gd name="connsiteY1" fmla="*/ 2965201 h 5930402"/>
              <a:gd name="connsiteX2" fmla="*/ 2965201 w 5930402"/>
              <a:gd name="connsiteY2" fmla="*/ 5930402 h 5930402"/>
              <a:gd name="connsiteX3" fmla="*/ 0 w 5930402"/>
              <a:gd name="connsiteY3" fmla="*/ 2965201 h 5930402"/>
              <a:gd name="connsiteX4" fmla="*/ 2965201 w 5930402"/>
              <a:gd name="connsiteY4" fmla="*/ 0 h 5930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30402" h="5930402">
                <a:moveTo>
                  <a:pt x="2965201" y="0"/>
                </a:moveTo>
                <a:cubicBezTo>
                  <a:pt x="4602836" y="0"/>
                  <a:pt x="5930402" y="1327566"/>
                  <a:pt x="5930402" y="2965201"/>
                </a:cubicBezTo>
                <a:cubicBezTo>
                  <a:pt x="5930402" y="4602836"/>
                  <a:pt x="4602836" y="5930402"/>
                  <a:pt x="2965201" y="5930402"/>
                </a:cubicBezTo>
                <a:cubicBezTo>
                  <a:pt x="1327566" y="5930402"/>
                  <a:pt x="0" y="4602836"/>
                  <a:pt x="0" y="2965201"/>
                </a:cubicBezTo>
                <a:cubicBezTo>
                  <a:pt x="0" y="1327566"/>
                  <a:pt x="1327566" y="0"/>
                  <a:pt x="2965201" y="0"/>
                </a:cubicBezTo>
                <a:close/>
              </a:path>
            </a:pathLst>
          </a:custGeom>
        </p:spPr>
      </p:pic>
      <p:sp>
        <p:nvSpPr>
          <p:cNvPr id="38" name="矩形 37"/>
          <p:cNvSpPr/>
          <p:nvPr userDrawn="1"/>
        </p:nvSpPr>
        <p:spPr>
          <a:xfrm>
            <a:off x="0" y="6496050"/>
            <a:ext cx="12192635" cy="36195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图片 38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2160" y="6342380"/>
            <a:ext cx="1688465" cy="712470"/>
          </a:xfrm>
          <a:prstGeom prst="rect">
            <a:avLst/>
          </a:prstGeom>
        </p:spPr>
      </p:pic>
      <p:sp>
        <p:nvSpPr>
          <p:cNvPr id="40" name="文本框 39"/>
          <p:cNvSpPr txBox="1"/>
          <p:nvPr userDrawn="1"/>
        </p:nvSpPr>
        <p:spPr>
          <a:xfrm>
            <a:off x="9752965" y="6545580"/>
            <a:ext cx="24390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计算机与信息科学学院</a:t>
            </a:r>
            <a:r>
              <a:rPr lang="en-US" altLang="zh-CN" sz="1200" dirty="0">
                <a:solidFill>
                  <a:schemeClr val="bg1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  </a:t>
            </a:r>
            <a:r>
              <a:rPr lang="zh-CN" altLang="en-US" sz="1200" dirty="0">
                <a:solidFill>
                  <a:schemeClr val="bg1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软件学院</a:t>
            </a:r>
          </a:p>
        </p:txBody>
      </p:sp>
    </p:spTree>
    <p:extLst>
      <p:ext uri="{BB962C8B-B14F-4D97-AF65-F5344CB8AC3E}">
        <p14:creationId xmlns:p14="http://schemas.microsoft.com/office/powerpoint/2010/main" val="3321137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16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270633-D020-418F-91EA-D24A24100B43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5DF624-F1C7-4D1E-BC55-D585AAF40E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270633-D020-418F-91EA-D24A24100B43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5DF624-F1C7-4D1E-BC55-D585AAF40ED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: 圆角 6"/>
          <p:cNvSpPr/>
          <p:nvPr userDrawn="1"/>
        </p:nvSpPr>
        <p:spPr>
          <a:xfrm>
            <a:off x="635" y="219075"/>
            <a:ext cx="11921490" cy="563245"/>
          </a:xfrm>
          <a:prstGeom prst="roundRect">
            <a:avLst>
              <a:gd name="adj" fmla="val 50000"/>
            </a:avLst>
          </a:prstGeom>
          <a:gradFill>
            <a:gsLst>
              <a:gs pos="22000">
                <a:schemeClr val="bg1">
                  <a:alpha val="0"/>
                </a:schemeClr>
              </a:gs>
              <a:gs pos="58000">
                <a:schemeClr val="bg1">
                  <a:lumMod val="9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r"/>
            <a:endParaRPr lang="zh-CN" altLang="en-US" sz="2000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10914856" y="300913"/>
            <a:ext cx="886960" cy="412057"/>
            <a:chOff x="9700408" y="29222"/>
            <a:chExt cx="2036683" cy="946188"/>
          </a:xfrm>
        </p:grpSpPr>
        <p:pic>
          <p:nvPicPr>
            <p:cNvPr id="9" name="图片 8"/>
            <p:cNvPicPr/>
            <p:nvPr/>
          </p:nvPicPr>
          <p:blipFill>
            <a:blip r:embed="rId15" cstate="print">
              <a:extLst>
                <a:ext uri="{BEBA8EAE-BF5A-486C-A8C5-ECC9F3942E4B}">
                  <a14:imgProps xmlns:a14="http://schemas.microsoft.com/office/drawing/2010/main">
                    <a14:imgLayer r:embed="rId16">
                      <a14:imgEffect>
                        <a14:saturation sat="6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00408" y="29222"/>
              <a:ext cx="983902" cy="946188"/>
            </a:xfrm>
            <a:prstGeom prst="rect">
              <a:avLst/>
            </a:prstGeom>
          </p:spPr>
        </p:pic>
        <p:pic>
          <p:nvPicPr>
            <p:cNvPr id="10" name="图片 9"/>
            <p:cNvPicPr/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566" t="6426" r="6960" b="7099"/>
            <a:stretch>
              <a:fillRect/>
            </a:stretch>
          </p:blipFill>
          <p:spPr>
            <a:xfrm>
              <a:off x="10825912" y="29222"/>
              <a:ext cx="911179" cy="903896"/>
            </a:xfrm>
            <a:custGeom>
              <a:avLst/>
              <a:gdLst>
                <a:gd name="connsiteX0" fmla="*/ 2965201 w 5930402"/>
                <a:gd name="connsiteY0" fmla="*/ 0 h 5930402"/>
                <a:gd name="connsiteX1" fmla="*/ 5930402 w 5930402"/>
                <a:gd name="connsiteY1" fmla="*/ 2965201 h 5930402"/>
                <a:gd name="connsiteX2" fmla="*/ 2965201 w 5930402"/>
                <a:gd name="connsiteY2" fmla="*/ 5930402 h 5930402"/>
                <a:gd name="connsiteX3" fmla="*/ 0 w 5930402"/>
                <a:gd name="connsiteY3" fmla="*/ 2965201 h 5930402"/>
                <a:gd name="connsiteX4" fmla="*/ 2965201 w 5930402"/>
                <a:gd name="connsiteY4" fmla="*/ 0 h 5930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30402" h="5930402">
                  <a:moveTo>
                    <a:pt x="2965201" y="0"/>
                  </a:moveTo>
                  <a:cubicBezTo>
                    <a:pt x="4602836" y="0"/>
                    <a:pt x="5930402" y="1327566"/>
                    <a:pt x="5930402" y="2965201"/>
                  </a:cubicBezTo>
                  <a:cubicBezTo>
                    <a:pt x="5930402" y="4602836"/>
                    <a:pt x="4602836" y="5930402"/>
                    <a:pt x="2965201" y="5930402"/>
                  </a:cubicBezTo>
                  <a:cubicBezTo>
                    <a:pt x="1327566" y="5930402"/>
                    <a:pt x="0" y="4602836"/>
                    <a:pt x="0" y="2965201"/>
                  </a:cubicBezTo>
                  <a:cubicBezTo>
                    <a:pt x="0" y="1327566"/>
                    <a:pt x="1327566" y="0"/>
                    <a:pt x="2965201" y="0"/>
                  </a:cubicBezTo>
                  <a:close/>
                </a:path>
              </a:pathLst>
            </a:cu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9.xml"/><Relationship Id="rId4" Type="http://schemas.openxmlformats.org/officeDocument/2006/relationships/image" Target="../media/image1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9.xml"/><Relationship Id="rId4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9.xml"/><Relationship Id="rId4" Type="http://schemas.openxmlformats.org/officeDocument/2006/relationships/image" Target="../media/image16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4233545" y="51435"/>
            <a:ext cx="7952105" cy="952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2035175"/>
            <a:ext cx="12192635" cy="2437130"/>
          </a:xfrm>
          <a:prstGeom prst="rect">
            <a:avLst/>
          </a:prstGeom>
          <a:gradFill flip="none" rotWithShape="1">
            <a:gsLst>
              <a:gs pos="28000">
                <a:schemeClr val="accent1"/>
              </a:gs>
              <a:gs pos="0">
                <a:schemeClr val="accent1"/>
              </a:gs>
              <a:gs pos="0">
                <a:schemeClr val="accent1">
                  <a:lumMod val="75000"/>
                </a:schemeClr>
              </a:gs>
              <a:gs pos="100000">
                <a:srgbClr val="1898BD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标题 1"/>
          <p:cNvSpPr>
            <a:spLocks noGrp="1"/>
          </p:cNvSpPr>
          <p:nvPr/>
        </p:nvSpPr>
        <p:spPr>
          <a:xfrm>
            <a:off x="2190750" y="2533650"/>
            <a:ext cx="8726170" cy="14401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4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《</a:t>
            </a:r>
            <a:r>
              <a:rPr lang="zh-CN" altLang="en-US" sz="4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计算机网络</a:t>
            </a:r>
            <a:r>
              <a:rPr lang="en-US" altLang="zh-CN" sz="4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》</a:t>
            </a:r>
            <a:r>
              <a:rPr lang="zh-CN" altLang="en-US" sz="4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课程知识体系梳理与知识点关联回顾讲解</a:t>
            </a:r>
          </a:p>
        </p:txBody>
      </p:sp>
      <p:sp>
        <p:nvSpPr>
          <p:cNvPr id="10" name="矩形 9"/>
          <p:cNvSpPr/>
          <p:nvPr/>
        </p:nvSpPr>
        <p:spPr>
          <a:xfrm>
            <a:off x="635" y="4562478"/>
            <a:ext cx="12191365" cy="1955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spcBef>
                <a:spcPts val="1000"/>
              </a:spcBef>
              <a:defRPr/>
            </a:pPr>
            <a:endParaRPr lang="zh-CN" altLang="en-US" sz="2000" dirty="0"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ctr">
              <a:lnSpc>
                <a:spcPct val="150000"/>
              </a:lnSpc>
              <a:spcBef>
                <a:spcPts val="1000"/>
              </a:spcBef>
              <a:defRPr/>
            </a:pP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盛泳潘</a:t>
            </a:r>
            <a:endParaRPr lang="en-US" altLang="zh-CN" sz="3200" b="1" dirty="0">
              <a:solidFill>
                <a:schemeClr val="tx1">
                  <a:lumMod val="95000"/>
                  <a:lumOff val="5000"/>
                </a:schemeClr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ctr">
              <a:lnSpc>
                <a:spcPct val="150000"/>
              </a:lnSpc>
              <a:spcBef>
                <a:spcPts val="1000"/>
              </a:spcBef>
              <a:defRPr/>
            </a:pPr>
            <a:r>
              <a:rPr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2025</a:t>
            </a:r>
            <a:r>
              <a:rPr 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年</a:t>
            </a:r>
            <a:r>
              <a:rPr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06</a:t>
            </a:r>
            <a:r>
              <a:rPr 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月</a:t>
            </a:r>
            <a:r>
              <a:rPr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09</a:t>
            </a: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日</a:t>
            </a:r>
            <a:endParaRPr lang="zh-CN" altLang="en-US" sz="2000" dirty="0">
              <a:solidFill>
                <a:schemeClr val="tx1">
                  <a:lumMod val="95000"/>
                  <a:lumOff val="5000"/>
                </a:schemeClr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4896" y="469359"/>
            <a:ext cx="2421291" cy="646113"/>
          </a:xfrm>
          <a:prstGeom prst="rect">
            <a:avLst/>
          </a:prstGeom>
        </p:spPr>
      </p:pic>
      <p:pic>
        <p:nvPicPr>
          <p:cNvPr id="2" name="图片 1" descr="/private/var/folders/p0/kfpgtncx6472bg0h79jqpprm0000gn/T/com.kingsoft.wpsoffice.mac/kaimatting/20220719181136/output_aiMatting_20220719181226.pngoutput_aiMatting_20220719181226"/>
          <p:cNvPicPr>
            <a:picLocks noChangeAspect="1"/>
          </p:cNvPicPr>
          <p:nvPr/>
        </p:nvPicPr>
        <p:blipFill>
          <a:blip r:embed="rId4">
            <a:alphaModFix amt="88000"/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6415" y="2339340"/>
            <a:ext cx="1828800" cy="1828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/>
          <p:cNvSpPr/>
          <p:nvPr/>
        </p:nvSpPr>
        <p:spPr>
          <a:xfrm>
            <a:off x="1687195" y="142875"/>
            <a:ext cx="1330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rgbClr val="1898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考试题型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1898B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739775" y="396240"/>
            <a:ext cx="998855" cy="137795"/>
            <a:chOff x="408225" y="655896"/>
            <a:chExt cx="1080000" cy="251459"/>
          </a:xfrm>
          <a:solidFill>
            <a:schemeClr val="bg1">
              <a:lumMod val="75000"/>
            </a:schemeClr>
          </a:solidFill>
        </p:grpSpPr>
        <p:sp>
          <p:nvSpPr>
            <p:cNvPr id="57" name="矩形: 圆角 44"/>
            <p:cNvSpPr/>
            <p:nvPr/>
          </p:nvSpPr>
          <p:spPr>
            <a:xfrm>
              <a:off x="408225" y="655896"/>
              <a:ext cx="108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8" name="矩形: 圆角 45"/>
            <p:cNvSpPr/>
            <p:nvPr/>
          </p:nvSpPr>
          <p:spPr>
            <a:xfrm>
              <a:off x="408225" y="758766"/>
              <a:ext cx="72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0" name="矩形: 圆角 46"/>
            <p:cNvSpPr/>
            <p:nvPr/>
          </p:nvSpPr>
          <p:spPr>
            <a:xfrm>
              <a:off x="408225" y="861636"/>
              <a:ext cx="36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61" name="矩形 60"/>
          <p:cNvSpPr/>
          <p:nvPr/>
        </p:nvSpPr>
        <p:spPr>
          <a:xfrm>
            <a:off x="654050" y="89535"/>
            <a:ext cx="117157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PART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ONE</a:t>
            </a:r>
          </a:p>
        </p:txBody>
      </p:sp>
      <p:cxnSp>
        <p:nvCxnSpPr>
          <p:cNvPr id="63" name="直接连接符 62"/>
          <p:cNvCxnSpPr/>
          <p:nvPr/>
        </p:nvCxnSpPr>
        <p:spPr>
          <a:xfrm>
            <a:off x="3004466" y="213375"/>
            <a:ext cx="0" cy="25841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14">
            <a:extLst>
              <a:ext uri="{FF2B5EF4-FFF2-40B4-BE49-F238E27FC236}">
                <a16:creationId xmlns:a16="http://schemas.microsoft.com/office/drawing/2014/main" id="{DCFF2CAC-679B-0BF0-9873-39B53FF3A4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050" y="750738"/>
            <a:ext cx="10801350" cy="550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【2023-2024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学年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】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考试题型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一、计算题（共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题，每题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5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分，总计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分）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二、简答题（共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8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题，每题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5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分，总计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40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分）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三、综合题（共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题，每题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10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分，总计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40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分）</a:t>
            </a:r>
            <a:endParaRPr lang="zh-CN" altLang="zh-CN" sz="36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zh-CN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/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3874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2D6A9-320B-13A0-4ECA-6E9DB0260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>
            <a:extLst>
              <a:ext uri="{FF2B5EF4-FFF2-40B4-BE49-F238E27FC236}">
                <a16:creationId xmlns:a16="http://schemas.microsoft.com/office/drawing/2014/main" id="{16BFE3CD-3401-4ACD-D1B3-7101E88E921F}"/>
              </a:ext>
            </a:extLst>
          </p:cNvPr>
          <p:cNvSpPr/>
          <p:nvPr/>
        </p:nvSpPr>
        <p:spPr>
          <a:xfrm>
            <a:off x="1687195" y="142875"/>
            <a:ext cx="1330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rgbClr val="1898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考试题型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1898B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970DBE0A-DAB8-A884-4ACA-80EBACB9AADA}"/>
              </a:ext>
            </a:extLst>
          </p:cNvPr>
          <p:cNvGrpSpPr/>
          <p:nvPr/>
        </p:nvGrpSpPr>
        <p:grpSpPr>
          <a:xfrm>
            <a:off x="739775" y="396240"/>
            <a:ext cx="998855" cy="137795"/>
            <a:chOff x="408225" y="655896"/>
            <a:chExt cx="1080000" cy="251459"/>
          </a:xfrm>
          <a:solidFill>
            <a:schemeClr val="bg1">
              <a:lumMod val="75000"/>
            </a:schemeClr>
          </a:solidFill>
        </p:grpSpPr>
        <p:sp>
          <p:nvSpPr>
            <p:cNvPr id="57" name="矩形: 圆角 44">
              <a:extLst>
                <a:ext uri="{FF2B5EF4-FFF2-40B4-BE49-F238E27FC236}">
                  <a16:creationId xmlns:a16="http://schemas.microsoft.com/office/drawing/2014/main" id="{ED04F4D8-8D14-0DEF-8E72-61F258B37A15}"/>
                </a:ext>
              </a:extLst>
            </p:cNvPr>
            <p:cNvSpPr/>
            <p:nvPr/>
          </p:nvSpPr>
          <p:spPr>
            <a:xfrm>
              <a:off x="408225" y="655896"/>
              <a:ext cx="108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8" name="矩形: 圆角 45">
              <a:extLst>
                <a:ext uri="{FF2B5EF4-FFF2-40B4-BE49-F238E27FC236}">
                  <a16:creationId xmlns:a16="http://schemas.microsoft.com/office/drawing/2014/main" id="{155EA4DC-A925-5246-A783-758D89843A44}"/>
                </a:ext>
              </a:extLst>
            </p:cNvPr>
            <p:cNvSpPr/>
            <p:nvPr/>
          </p:nvSpPr>
          <p:spPr>
            <a:xfrm>
              <a:off x="408225" y="758766"/>
              <a:ext cx="72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0" name="矩形: 圆角 46">
              <a:extLst>
                <a:ext uri="{FF2B5EF4-FFF2-40B4-BE49-F238E27FC236}">
                  <a16:creationId xmlns:a16="http://schemas.microsoft.com/office/drawing/2014/main" id="{3674F3A8-E788-2782-619B-8B778DD51B7C}"/>
                </a:ext>
              </a:extLst>
            </p:cNvPr>
            <p:cNvSpPr/>
            <p:nvPr/>
          </p:nvSpPr>
          <p:spPr>
            <a:xfrm>
              <a:off x="408225" y="861636"/>
              <a:ext cx="36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61" name="矩形 60">
            <a:extLst>
              <a:ext uri="{FF2B5EF4-FFF2-40B4-BE49-F238E27FC236}">
                <a16:creationId xmlns:a16="http://schemas.microsoft.com/office/drawing/2014/main" id="{414CD351-307C-988F-E95F-55715C74B22E}"/>
              </a:ext>
            </a:extLst>
          </p:cNvPr>
          <p:cNvSpPr/>
          <p:nvPr/>
        </p:nvSpPr>
        <p:spPr>
          <a:xfrm>
            <a:off x="654050" y="89535"/>
            <a:ext cx="117157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PART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ONE</a:t>
            </a:r>
          </a:p>
        </p:txBody>
      </p: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9D780188-7D1E-C5FA-8C4E-617256951379}"/>
              </a:ext>
            </a:extLst>
          </p:cNvPr>
          <p:cNvCxnSpPr/>
          <p:nvPr/>
        </p:nvCxnSpPr>
        <p:spPr>
          <a:xfrm>
            <a:off x="3004466" y="213375"/>
            <a:ext cx="0" cy="25841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14">
            <a:extLst>
              <a:ext uri="{FF2B5EF4-FFF2-40B4-BE49-F238E27FC236}">
                <a16:creationId xmlns:a16="http://schemas.microsoft.com/office/drawing/2014/main" id="{F6C22F51-83B9-576D-DCFB-5CDF08A5D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050" y="681165"/>
            <a:ext cx="10801350" cy="5878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【2024-2025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学年第二学期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】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考试题型（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别想了，就是这学期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一、选择题（共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10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题，每题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分，总计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分）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二、判断题（共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5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题，每题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分，总计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10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分）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三、简答题（共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6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题，每题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5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分，总计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30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分）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四、计算题（共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题，每题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6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分，总计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24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分）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五、综合题（共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题，每题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8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分，总计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16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分）</a:t>
            </a:r>
            <a:endParaRPr lang="zh-CN" altLang="zh-CN" sz="36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2769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0D03D-B840-B29B-E349-8C7092364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>
            <a:extLst>
              <a:ext uri="{FF2B5EF4-FFF2-40B4-BE49-F238E27FC236}">
                <a16:creationId xmlns:a16="http://schemas.microsoft.com/office/drawing/2014/main" id="{00A40792-653B-15F9-25CA-ED7879D28D99}"/>
              </a:ext>
            </a:extLst>
          </p:cNvPr>
          <p:cNvSpPr/>
          <p:nvPr/>
        </p:nvSpPr>
        <p:spPr>
          <a:xfrm>
            <a:off x="1687195" y="142875"/>
            <a:ext cx="1330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rgbClr val="1898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考试题型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1898B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C1202210-B62A-8214-4763-CD9D42278280}"/>
              </a:ext>
            </a:extLst>
          </p:cNvPr>
          <p:cNvGrpSpPr/>
          <p:nvPr/>
        </p:nvGrpSpPr>
        <p:grpSpPr>
          <a:xfrm>
            <a:off x="739775" y="396240"/>
            <a:ext cx="998855" cy="137795"/>
            <a:chOff x="408225" y="655896"/>
            <a:chExt cx="1080000" cy="251459"/>
          </a:xfrm>
          <a:solidFill>
            <a:schemeClr val="bg1">
              <a:lumMod val="75000"/>
            </a:schemeClr>
          </a:solidFill>
        </p:grpSpPr>
        <p:sp>
          <p:nvSpPr>
            <p:cNvPr id="57" name="矩形: 圆角 44">
              <a:extLst>
                <a:ext uri="{FF2B5EF4-FFF2-40B4-BE49-F238E27FC236}">
                  <a16:creationId xmlns:a16="http://schemas.microsoft.com/office/drawing/2014/main" id="{22759D38-C338-56BA-102C-7C367979ED85}"/>
                </a:ext>
              </a:extLst>
            </p:cNvPr>
            <p:cNvSpPr/>
            <p:nvPr/>
          </p:nvSpPr>
          <p:spPr>
            <a:xfrm>
              <a:off x="408225" y="655896"/>
              <a:ext cx="108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8" name="矩形: 圆角 45">
              <a:extLst>
                <a:ext uri="{FF2B5EF4-FFF2-40B4-BE49-F238E27FC236}">
                  <a16:creationId xmlns:a16="http://schemas.microsoft.com/office/drawing/2014/main" id="{75423292-3E11-33E9-A309-7CC4D427DD9D}"/>
                </a:ext>
              </a:extLst>
            </p:cNvPr>
            <p:cNvSpPr/>
            <p:nvPr/>
          </p:nvSpPr>
          <p:spPr>
            <a:xfrm>
              <a:off x="408225" y="758766"/>
              <a:ext cx="72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0" name="矩形: 圆角 46">
              <a:extLst>
                <a:ext uri="{FF2B5EF4-FFF2-40B4-BE49-F238E27FC236}">
                  <a16:creationId xmlns:a16="http://schemas.microsoft.com/office/drawing/2014/main" id="{93B723D1-3E31-8E44-FCB9-2F5A5897982F}"/>
                </a:ext>
              </a:extLst>
            </p:cNvPr>
            <p:cNvSpPr/>
            <p:nvPr/>
          </p:nvSpPr>
          <p:spPr>
            <a:xfrm>
              <a:off x="408225" y="861636"/>
              <a:ext cx="36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61" name="矩形 60">
            <a:extLst>
              <a:ext uri="{FF2B5EF4-FFF2-40B4-BE49-F238E27FC236}">
                <a16:creationId xmlns:a16="http://schemas.microsoft.com/office/drawing/2014/main" id="{2CAD9A63-8706-589C-7EE1-1E797F0152C6}"/>
              </a:ext>
            </a:extLst>
          </p:cNvPr>
          <p:cNvSpPr/>
          <p:nvPr/>
        </p:nvSpPr>
        <p:spPr>
          <a:xfrm>
            <a:off x="654050" y="89535"/>
            <a:ext cx="117157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PART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ONE</a:t>
            </a:r>
          </a:p>
        </p:txBody>
      </p: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0B008381-19FC-5F57-B0F6-EE9740FDB293}"/>
              </a:ext>
            </a:extLst>
          </p:cNvPr>
          <p:cNvCxnSpPr/>
          <p:nvPr/>
        </p:nvCxnSpPr>
        <p:spPr>
          <a:xfrm>
            <a:off x="3004466" y="213375"/>
            <a:ext cx="0" cy="25841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14">
            <a:extLst>
              <a:ext uri="{FF2B5EF4-FFF2-40B4-BE49-F238E27FC236}">
                <a16:creationId xmlns:a16="http://schemas.microsoft.com/office/drawing/2014/main" id="{83150DD4-B92D-7A23-8B97-F7AA8890EF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050" y="681165"/>
            <a:ext cx="108013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指标体系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A13F7E2-5AB7-0BC9-A1BE-CD836198DD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4937" y="4128912"/>
            <a:ext cx="6734175" cy="22479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469E66B-8921-03C9-3801-C6675F2B23CC}"/>
              </a:ext>
            </a:extLst>
          </p:cNvPr>
          <p:cNvSpPr txBox="1"/>
          <p:nvPr/>
        </p:nvSpPr>
        <p:spPr>
          <a:xfrm>
            <a:off x="504825" y="1143289"/>
            <a:ext cx="11277599" cy="3362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77825" algn="just">
              <a:lnSpc>
                <a:spcPct val="150000"/>
              </a:lnSpc>
              <a:buNone/>
            </a:pPr>
            <a:r>
              <a:rPr lang="zh-CN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通过本课程的学习，使学生达到以下目标：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zh-CN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课程目标</a:t>
            </a:r>
            <a:r>
              <a:rPr lang="en-US" altLang="zh-CN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1</a:t>
            </a:r>
            <a:r>
              <a:rPr lang="zh-CN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：掌握计算机网络的基本原理和方法，对网络模型有深刻理解，拥有模型化、模块化等专业核心意识，拥有对复杂网络系统进行分析和设计的能力，了解影响网络系统运行的各种因素，并能进行形式化描述。</a:t>
            </a:r>
            <a:endParaRPr lang="en-US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课程目标</a:t>
            </a:r>
            <a:r>
              <a:rPr lang="en-US" altLang="zh-CN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2</a:t>
            </a:r>
            <a:r>
              <a:rPr lang="zh-CN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：掌握计算机网络核心技术，全面了解影响网络系统设计目标、技术方案和产品质量的各种因素，能够搭建服务器，具有对复杂网络系统进行测试与运行维护的能力。</a:t>
            </a:r>
            <a:endParaRPr lang="en-US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课程目标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3</a:t>
            </a:r>
            <a:r>
              <a:rPr lang="zh-CN" altLang="zh-CN" sz="1800" kern="1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：理解并掌握工程管理原理与经济决策方法，可以使用计算机网络项目管理的基本方法、技术和工具，对项目的成本决策进行管理。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01532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/>
          <p:cNvSpPr/>
          <p:nvPr/>
        </p:nvSpPr>
        <p:spPr>
          <a:xfrm>
            <a:off x="1687195" y="142875"/>
            <a:ext cx="1330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rgbClr val="1898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1898B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739775" y="396240"/>
            <a:ext cx="998855" cy="137795"/>
            <a:chOff x="408225" y="655896"/>
            <a:chExt cx="1080000" cy="251459"/>
          </a:xfrm>
          <a:solidFill>
            <a:schemeClr val="bg1">
              <a:lumMod val="75000"/>
            </a:schemeClr>
          </a:solidFill>
        </p:grpSpPr>
        <p:sp>
          <p:nvSpPr>
            <p:cNvPr id="57" name="矩形: 圆角 44"/>
            <p:cNvSpPr/>
            <p:nvPr/>
          </p:nvSpPr>
          <p:spPr>
            <a:xfrm>
              <a:off x="408225" y="655896"/>
              <a:ext cx="108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8" name="矩形: 圆角 45"/>
            <p:cNvSpPr/>
            <p:nvPr/>
          </p:nvSpPr>
          <p:spPr>
            <a:xfrm>
              <a:off x="408225" y="758766"/>
              <a:ext cx="72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0" name="矩形: 圆角 46"/>
            <p:cNvSpPr/>
            <p:nvPr/>
          </p:nvSpPr>
          <p:spPr>
            <a:xfrm>
              <a:off x="408225" y="861636"/>
              <a:ext cx="36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61" name="矩形 60"/>
          <p:cNvSpPr/>
          <p:nvPr/>
        </p:nvSpPr>
        <p:spPr>
          <a:xfrm>
            <a:off x="654050" y="89535"/>
            <a:ext cx="117157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PART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ONE</a:t>
            </a:r>
          </a:p>
        </p:txBody>
      </p:sp>
      <p:cxnSp>
        <p:nvCxnSpPr>
          <p:cNvPr id="63" name="直接连接符 62"/>
          <p:cNvCxnSpPr/>
          <p:nvPr/>
        </p:nvCxnSpPr>
        <p:spPr>
          <a:xfrm>
            <a:off x="3004466" y="213375"/>
            <a:ext cx="0" cy="25841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14">
            <a:extLst>
              <a:ext uri="{FF2B5EF4-FFF2-40B4-BE49-F238E27FC236}">
                <a16:creationId xmlns:a16="http://schemas.microsoft.com/office/drawing/2014/main" id="{DCFF2CAC-679B-0BF0-9873-39B53FF3A4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050" y="710982"/>
            <a:ext cx="10801350" cy="4801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第一章 计算机网络和因特网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网络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VS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计算机网络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VS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互联网（因特网）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VS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计算机网络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VS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社交网络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VS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知识图谱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什么是因特网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具体构成（从网络构成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结构的观点），服务描述，什么是协议，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ISP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结构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网络性能指标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时延、丢包和吞吐量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网络协议层次与服务模型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协议层次，网络服务模型（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TCP/IP 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层模型，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OSI 7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层模型）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5916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78864-9526-5274-E28F-347BDBB15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>
            <a:extLst>
              <a:ext uri="{FF2B5EF4-FFF2-40B4-BE49-F238E27FC236}">
                <a16:creationId xmlns:a16="http://schemas.microsoft.com/office/drawing/2014/main" id="{B4AD3312-7A9D-2E66-539B-52F5DBED73E8}"/>
              </a:ext>
            </a:extLst>
          </p:cNvPr>
          <p:cNvSpPr/>
          <p:nvPr/>
        </p:nvSpPr>
        <p:spPr>
          <a:xfrm>
            <a:off x="1687195" y="142875"/>
            <a:ext cx="1330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rgbClr val="1898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1898B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39ED5D70-AF53-5A10-E3EC-A610020E14FE}"/>
              </a:ext>
            </a:extLst>
          </p:cNvPr>
          <p:cNvGrpSpPr/>
          <p:nvPr/>
        </p:nvGrpSpPr>
        <p:grpSpPr>
          <a:xfrm>
            <a:off x="739775" y="396240"/>
            <a:ext cx="998855" cy="137795"/>
            <a:chOff x="408225" y="655896"/>
            <a:chExt cx="1080000" cy="251459"/>
          </a:xfrm>
          <a:solidFill>
            <a:schemeClr val="bg1">
              <a:lumMod val="75000"/>
            </a:schemeClr>
          </a:solidFill>
        </p:grpSpPr>
        <p:sp>
          <p:nvSpPr>
            <p:cNvPr id="57" name="矩形: 圆角 44">
              <a:extLst>
                <a:ext uri="{FF2B5EF4-FFF2-40B4-BE49-F238E27FC236}">
                  <a16:creationId xmlns:a16="http://schemas.microsoft.com/office/drawing/2014/main" id="{7F02E93D-976B-BED4-2507-A95556CC8444}"/>
                </a:ext>
              </a:extLst>
            </p:cNvPr>
            <p:cNvSpPr/>
            <p:nvPr/>
          </p:nvSpPr>
          <p:spPr>
            <a:xfrm>
              <a:off x="408225" y="655896"/>
              <a:ext cx="108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8" name="矩形: 圆角 45">
              <a:extLst>
                <a:ext uri="{FF2B5EF4-FFF2-40B4-BE49-F238E27FC236}">
                  <a16:creationId xmlns:a16="http://schemas.microsoft.com/office/drawing/2014/main" id="{587008D8-59F8-5BD1-FE45-77C56B95B480}"/>
                </a:ext>
              </a:extLst>
            </p:cNvPr>
            <p:cNvSpPr/>
            <p:nvPr/>
          </p:nvSpPr>
          <p:spPr>
            <a:xfrm>
              <a:off x="408225" y="758766"/>
              <a:ext cx="72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0" name="矩形: 圆角 46">
              <a:extLst>
                <a:ext uri="{FF2B5EF4-FFF2-40B4-BE49-F238E27FC236}">
                  <a16:creationId xmlns:a16="http://schemas.microsoft.com/office/drawing/2014/main" id="{804B6CCB-E064-497F-BC5A-E05961DBEE02}"/>
                </a:ext>
              </a:extLst>
            </p:cNvPr>
            <p:cNvSpPr/>
            <p:nvPr/>
          </p:nvSpPr>
          <p:spPr>
            <a:xfrm>
              <a:off x="408225" y="861636"/>
              <a:ext cx="36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61" name="矩形 60">
            <a:extLst>
              <a:ext uri="{FF2B5EF4-FFF2-40B4-BE49-F238E27FC236}">
                <a16:creationId xmlns:a16="http://schemas.microsoft.com/office/drawing/2014/main" id="{A834E5DB-D22E-C90F-A109-C26A7FF161BA}"/>
              </a:ext>
            </a:extLst>
          </p:cNvPr>
          <p:cNvSpPr/>
          <p:nvPr/>
        </p:nvSpPr>
        <p:spPr>
          <a:xfrm>
            <a:off x="654050" y="89535"/>
            <a:ext cx="117157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PART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ONE</a:t>
            </a:r>
          </a:p>
        </p:txBody>
      </p: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6DCA46EC-08F2-55AE-4E9A-3C76790E1519}"/>
              </a:ext>
            </a:extLst>
          </p:cNvPr>
          <p:cNvCxnSpPr/>
          <p:nvPr/>
        </p:nvCxnSpPr>
        <p:spPr>
          <a:xfrm>
            <a:off x="3004466" y="213375"/>
            <a:ext cx="0" cy="25841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14">
            <a:extLst>
              <a:ext uri="{FF2B5EF4-FFF2-40B4-BE49-F238E27FC236}">
                <a16:creationId xmlns:a16="http://schemas.microsoft.com/office/drawing/2014/main" id="{55E9A37F-7FF3-C243-B8BE-A338EDE62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050" y="710982"/>
            <a:ext cx="10801350" cy="517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第一章 计算机网络和因特网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考试题型：选择题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OSI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参考模型中，为实现有效、无差错数据传输，必须对传输操作进行严格的控制和管理。完成这项工作的层次是（）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A.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传输层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B.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网络层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C.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数据链路层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D.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物理层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报文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-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包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-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帧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-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比特流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-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应用数据是主机内数据封装过程（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×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349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/>
          <p:cNvSpPr/>
          <p:nvPr/>
        </p:nvSpPr>
        <p:spPr>
          <a:xfrm>
            <a:off x="1687195" y="142875"/>
            <a:ext cx="1330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rgbClr val="1898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1898B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739775" y="396240"/>
            <a:ext cx="998855" cy="137795"/>
            <a:chOff x="408225" y="655896"/>
            <a:chExt cx="1080000" cy="251459"/>
          </a:xfrm>
          <a:solidFill>
            <a:schemeClr val="bg1">
              <a:lumMod val="75000"/>
            </a:schemeClr>
          </a:solidFill>
        </p:grpSpPr>
        <p:sp>
          <p:nvSpPr>
            <p:cNvPr id="57" name="矩形: 圆角 44"/>
            <p:cNvSpPr/>
            <p:nvPr/>
          </p:nvSpPr>
          <p:spPr>
            <a:xfrm>
              <a:off x="408225" y="655896"/>
              <a:ext cx="108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8" name="矩形: 圆角 45"/>
            <p:cNvSpPr/>
            <p:nvPr/>
          </p:nvSpPr>
          <p:spPr>
            <a:xfrm>
              <a:off x="408225" y="758766"/>
              <a:ext cx="72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0" name="矩形: 圆角 46"/>
            <p:cNvSpPr/>
            <p:nvPr/>
          </p:nvSpPr>
          <p:spPr>
            <a:xfrm>
              <a:off x="408225" y="861636"/>
              <a:ext cx="36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61" name="矩形 60"/>
          <p:cNvSpPr/>
          <p:nvPr/>
        </p:nvSpPr>
        <p:spPr>
          <a:xfrm>
            <a:off x="654050" y="89535"/>
            <a:ext cx="117157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PART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ONE</a:t>
            </a:r>
          </a:p>
        </p:txBody>
      </p:sp>
      <p:cxnSp>
        <p:nvCxnSpPr>
          <p:cNvPr id="63" name="直接连接符 62"/>
          <p:cNvCxnSpPr/>
          <p:nvPr/>
        </p:nvCxnSpPr>
        <p:spPr>
          <a:xfrm>
            <a:off x="3004466" y="213375"/>
            <a:ext cx="0" cy="25841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14">
            <a:extLst>
              <a:ext uri="{FF2B5EF4-FFF2-40B4-BE49-F238E27FC236}">
                <a16:creationId xmlns:a16="http://schemas.microsoft.com/office/drawing/2014/main" id="{DCFF2CAC-679B-0BF0-9873-39B53FF3A4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050" y="750738"/>
            <a:ext cx="10801350" cy="5632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第一章 计算机网络和因特网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电路交换和分组交换有什么区别？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收发两端之间的传输距离为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1000km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，信号在媒体上的传播速率为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×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108m/s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。试计算以下两种情况的发送时延和传播时延：</a:t>
            </a:r>
          </a:p>
          <a:p>
            <a:pPr algn="just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）数据长度为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107bit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，数据发送速度为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100 kbit/s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</a:p>
          <a:p>
            <a:pPr algn="just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）数据长度为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103bit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，数据发送速度为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 Gbit/s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/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假设信号在媒体上的传播速率为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2.3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×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10</a:t>
            </a:r>
            <a:r>
              <a:rPr lang="en-US" altLang="zh-CN" sz="2800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8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m/s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。媒体长度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L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分别为：</a:t>
            </a:r>
          </a:p>
          <a:p>
            <a:pPr algn="just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10cm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网卡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100m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局域网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100km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城域网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5000km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广域网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试计算当数据率为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Mb/s1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10Gb/s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时在以上媒体中正在传播的比特数。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2155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8AEEA-BCA2-7A62-BF87-D145E1F9D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>
            <a:extLst>
              <a:ext uri="{FF2B5EF4-FFF2-40B4-BE49-F238E27FC236}">
                <a16:creationId xmlns:a16="http://schemas.microsoft.com/office/drawing/2014/main" id="{97101BAB-CB7E-73E7-AF64-C10E57424524}"/>
              </a:ext>
            </a:extLst>
          </p:cNvPr>
          <p:cNvSpPr/>
          <p:nvPr/>
        </p:nvSpPr>
        <p:spPr>
          <a:xfrm>
            <a:off x="1687195" y="142875"/>
            <a:ext cx="1330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rgbClr val="1898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1898B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ED5E1191-42E3-E202-C833-BB168447CD63}"/>
              </a:ext>
            </a:extLst>
          </p:cNvPr>
          <p:cNvGrpSpPr/>
          <p:nvPr/>
        </p:nvGrpSpPr>
        <p:grpSpPr>
          <a:xfrm>
            <a:off x="739775" y="396240"/>
            <a:ext cx="998855" cy="137795"/>
            <a:chOff x="408225" y="655896"/>
            <a:chExt cx="1080000" cy="251459"/>
          </a:xfrm>
          <a:solidFill>
            <a:schemeClr val="bg1">
              <a:lumMod val="75000"/>
            </a:schemeClr>
          </a:solidFill>
        </p:grpSpPr>
        <p:sp>
          <p:nvSpPr>
            <p:cNvPr id="57" name="矩形: 圆角 44">
              <a:extLst>
                <a:ext uri="{FF2B5EF4-FFF2-40B4-BE49-F238E27FC236}">
                  <a16:creationId xmlns:a16="http://schemas.microsoft.com/office/drawing/2014/main" id="{820AD677-257E-CE0C-BE45-BBE15763089B}"/>
                </a:ext>
              </a:extLst>
            </p:cNvPr>
            <p:cNvSpPr/>
            <p:nvPr/>
          </p:nvSpPr>
          <p:spPr>
            <a:xfrm>
              <a:off x="408225" y="655896"/>
              <a:ext cx="108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8" name="矩形: 圆角 45">
              <a:extLst>
                <a:ext uri="{FF2B5EF4-FFF2-40B4-BE49-F238E27FC236}">
                  <a16:creationId xmlns:a16="http://schemas.microsoft.com/office/drawing/2014/main" id="{BB6511CC-0B3C-888D-E6C0-EA688A598B27}"/>
                </a:ext>
              </a:extLst>
            </p:cNvPr>
            <p:cNvSpPr/>
            <p:nvPr/>
          </p:nvSpPr>
          <p:spPr>
            <a:xfrm>
              <a:off x="408225" y="758766"/>
              <a:ext cx="72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0" name="矩形: 圆角 46">
              <a:extLst>
                <a:ext uri="{FF2B5EF4-FFF2-40B4-BE49-F238E27FC236}">
                  <a16:creationId xmlns:a16="http://schemas.microsoft.com/office/drawing/2014/main" id="{41385350-B16C-3E33-6386-ADD0E7079247}"/>
                </a:ext>
              </a:extLst>
            </p:cNvPr>
            <p:cNvSpPr/>
            <p:nvPr/>
          </p:nvSpPr>
          <p:spPr>
            <a:xfrm>
              <a:off x="408225" y="861636"/>
              <a:ext cx="36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61" name="矩形 60">
            <a:extLst>
              <a:ext uri="{FF2B5EF4-FFF2-40B4-BE49-F238E27FC236}">
                <a16:creationId xmlns:a16="http://schemas.microsoft.com/office/drawing/2014/main" id="{564A641D-35A6-ABAD-3BCD-B24F6924F90F}"/>
              </a:ext>
            </a:extLst>
          </p:cNvPr>
          <p:cNvSpPr/>
          <p:nvPr/>
        </p:nvSpPr>
        <p:spPr>
          <a:xfrm>
            <a:off x="654050" y="89535"/>
            <a:ext cx="117157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PART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ONE</a:t>
            </a:r>
          </a:p>
        </p:txBody>
      </p: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DA7D5088-0243-65E5-E35D-D3C9205409FC}"/>
              </a:ext>
            </a:extLst>
          </p:cNvPr>
          <p:cNvCxnSpPr/>
          <p:nvPr/>
        </p:nvCxnSpPr>
        <p:spPr>
          <a:xfrm>
            <a:off x="3004466" y="213375"/>
            <a:ext cx="0" cy="25841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14">
            <a:extLst>
              <a:ext uri="{FF2B5EF4-FFF2-40B4-BE49-F238E27FC236}">
                <a16:creationId xmlns:a16="http://schemas.microsoft.com/office/drawing/2014/main" id="{909E7414-9220-01DA-BB19-A77F1B9EF5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050" y="710982"/>
            <a:ext cx="10801350" cy="44319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第一章 计算机网络和因特网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考试题型：选择题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OSI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参考模型中，为实现有效、无差错数据传输，必须对传输操作进行严格的控制和管理。完成这项工作的层次是（）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A.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传输层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B.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网络层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C.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数据链路层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D.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物理层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0894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/>
          <p:cNvSpPr/>
          <p:nvPr/>
        </p:nvSpPr>
        <p:spPr>
          <a:xfrm>
            <a:off x="1687195" y="142875"/>
            <a:ext cx="1330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rgbClr val="1898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1898B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739775" y="396240"/>
            <a:ext cx="998855" cy="137795"/>
            <a:chOff x="408225" y="655896"/>
            <a:chExt cx="1080000" cy="251459"/>
          </a:xfrm>
          <a:solidFill>
            <a:schemeClr val="bg1">
              <a:lumMod val="75000"/>
            </a:schemeClr>
          </a:solidFill>
        </p:grpSpPr>
        <p:sp>
          <p:nvSpPr>
            <p:cNvPr id="57" name="矩形: 圆角 44"/>
            <p:cNvSpPr/>
            <p:nvPr/>
          </p:nvSpPr>
          <p:spPr>
            <a:xfrm>
              <a:off x="408225" y="655896"/>
              <a:ext cx="108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8" name="矩形: 圆角 45"/>
            <p:cNvSpPr/>
            <p:nvPr/>
          </p:nvSpPr>
          <p:spPr>
            <a:xfrm>
              <a:off x="408225" y="758766"/>
              <a:ext cx="72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0" name="矩形: 圆角 46"/>
            <p:cNvSpPr/>
            <p:nvPr/>
          </p:nvSpPr>
          <p:spPr>
            <a:xfrm>
              <a:off x="408225" y="861636"/>
              <a:ext cx="36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61" name="矩形 60"/>
          <p:cNvSpPr/>
          <p:nvPr/>
        </p:nvSpPr>
        <p:spPr>
          <a:xfrm>
            <a:off x="654050" y="89535"/>
            <a:ext cx="117157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PART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ONE</a:t>
            </a:r>
          </a:p>
        </p:txBody>
      </p:sp>
      <p:cxnSp>
        <p:nvCxnSpPr>
          <p:cNvPr id="63" name="直接连接符 62"/>
          <p:cNvCxnSpPr/>
          <p:nvPr/>
        </p:nvCxnSpPr>
        <p:spPr>
          <a:xfrm>
            <a:off x="3004466" y="213375"/>
            <a:ext cx="0" cy="25841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14">
            <a:extLst>
              <a:ext uri="{FF2B5EF4-FFF2-40B4-BE49-F238E27FC236}">
                <a16:creationId xmlns:a16="http://schemas.microsoft.com/office/drawing/2014/main" id="{DCFF2CAC-679B-0BF0-9873-39B53FF3A4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050" y="710982"/>
            <a:ext cx="10801350" cy="5724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第二章 应用层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应用层的工作原理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应用层的体系结构（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C/S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结构，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B/S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结构，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P2P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结构）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Web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HTTP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Web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相关概念，非持续和持续连接，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HTTP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报文格式，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Cookie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Web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缓存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FTP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协议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Email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协议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“推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拉”服务（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SMTP-POP3/IMAP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），邮件服务器队列，用户代理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DNS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协议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分布式、层次数据库，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DNS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缓存，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DNS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记录和报文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递归查询（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recursive query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）和迭代查询（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iterative query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DNS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缓存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337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/>
          <p:cNvSpPr/>
          <p:nvPr/>
        </p:nvSpPr>
        <p:spPr>
          <a:xfrm>
            <a:off x="1687195" y="142875"/>
            <a:ext cx="1330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rgbClr val="1898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1898B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739775" y="396240"/>
            <a:ext cx="998855" cy="137795"/>
            <a:chOff x="408225" y="655896"/>
            <a:chExt cx="1080000" cy="251459"/>
          </a:xfrm>
          <a:solidFill>
            <a:schemeClr val="bg1">
              <a:lumMod val="75000"/>
            </a:schemeClr>
          </a:solidFill>
        </p:grpSpPr>
        <p:sp>
          <p:nvSpPr>
            <p:cNvPr id="57" name="矩形: 圆角 44"/>
            <p:cNvSpPr/>
            <p:nvPr/>
          </p:nvSpPr>
          <p:spPr>
            <a:xfrm>
              <a:off x="408225" y="655896"/>
              <a:ext cx="108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8" name="矩形: 圆角 45"/>
            <p:cNvSpPr/>
            <p:nvPr/>
          </p:nvSpPr>
          <p:spPr>
            <a:xfrm>
              <a:off x="408225" y="758766"/>
              <a:ext cx="72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0" name="矩形: 圆角 46"/>
            <p:cNvSpPr/>
            <p:nvPr/>
          </p:nvSpPr>
          <p:spPr>
            <a:xfrm>
              <a:off x="408225" y="861636"/>
              <a:ext cx="36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61" name="矩形 60"/>
          <p:cNvSpPr/>
          <p:nvPr/>
        </p:nvSpPr>
        <p:spPr>
          <a:xfrm>
            <a:off x="654050" y="89535"/>
            <a:ext cx="117157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PART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ONE</a:t>
            </a:r>
          </a:p>
        </p:txBody>
      </p:sp>
      <p:cxnSp>
        <p:nvCxnSpPr>
          <p:cNvPr id="63" name="直接连接符 62"/>
          <p:cNvCxnSpPr/>
          <p:nvPr/>
        </p:nvCxnSpPr>
        <p:spPr>
          <a:xfrm>
            <a:off x="3004466" y="213375"/>
            <a:ext cx="0" cy="25841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4">
            <a:extLst>
              <a:ext uri="{FF2B5EF4-FFF2-40B4-BE49-F238E27FC236}">
                <a16:creationId xmlns:a16="http://schemas.microsoft.com/office/drawing/2014/main" id="{B0A1D768-F51D-38F3-92B5-117347A548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050" y="750738"/>
            <a:ext cx="10801350" cy="5632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第二章 应用层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什么是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B/S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结构？什么是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C/S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结构？它们之间有什么区别与联系？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文件传送协议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FTP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的主要工作过程是怎样的？为什么说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FTP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是带外传送控制信息？主进程和从属进程各起什么作用？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试述邮局协议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POP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的工作过程。在电子邮件中，为什么需要使用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POP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SMTP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这两个协议？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IMAP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POP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有何区别？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举例说明域名转换的过程。域名服务器中的高速缓存的作用是什么？</a:t>
            </a:r>
          </a:p>
          <a:p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193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/>
          <p:cNvSpPr/>
          <p:nvPr/>
        </p:nvSpPr>
        <p:spPr>
          <a:xfrm>
            <a:off x="1687195" y="142875"/>
            <a:ext cx="1330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rgbClr val="1898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1898B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739775" y="396240"/>
            <a:ext cx="998855" cy="137795"/>
            <a:chOff x="408225" y="655896"/>
            <a:chExt cx="1080000" cy="251459"/>
          </a:xfrm>
          <a:solidFill>
            <a:schemeClr val="bg1">
              <a:lumMod val="75000"/>
            </a:schemeClr>
          </a:solidFill>
        </p:grpSpPr>
        <p:sp>
          <p:nvSpPr>
            <p:cNvPr id="57" name="矩形: 圆角 44"/>
            <p:cNvSpPr/>
            <p:nvPr/>
          </p:nvSpPr>
          <p:spPr>
            <a:xfrm>
              <a:off x="408225" y="655896"/>
              <a:ext cx="108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8" name="矩形: 圆角 45"/>
            <p:cNvSpPr/>
            <p:nvPr/>
          </p:nvSpPr>
          <p:spPr>
            <a:xfrm>
              <a:off x="408225" y="758766"/>
              <a:ext cx="72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0" name="矩形: 圆角 46"/>
            <p:cNvSpPr/>
            <p:nvPr/>
          </p:nvSpPr>
          <p:spPr>
            <a:xfrm>
              <a:off x="408225" y="861636"/>
              <a:ext cx="36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61" name="矩形 60"/>
          <p:cNvSpPr/>
          <p:nvPr/>
        </p:nvSpPr>
        <p:spPr>
          <a:xfrm>
            <a:off x="654050" y="89535"/>
            <a:ext cx="117157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PART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ONE</a:t>
            </a:r>
          </a:p>
        </p:txBody>
      </p:sp>
      <p:cxnSp>
        <p:nvCxnSpPr>
          <p:cNvPr id="63" name="直接连接符 62"/>
          <p:cNvCxnSpPr/>
          <p:nvPr/>
        </p:nvCxnSpPr>
        <p:spPr>
          <a:xfrm>
            <a:off x="3004466" y="213375"/>
            <a:ext cx="0" cy="25841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14">
            <a:extLst>
              <a:ext uri="{FF2B5EF4-FFF2-40B4-BE49-F238E27FC236}">
                <a16:creationId xmlns:a16="http://schemas.microsoft.com/office/drawing/2014/main" id="{DCFF2CAC-679B-0BF0-9873-39B53FF3A4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050" y="750738"/>
            <a:ext cx="10801350" cy="5693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第二章 应用层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收发两端之间的传输距离为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1000km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，信号在媒体上的传播速率为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×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108m/s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。试计算以下两种情况的发送时延和传播时延：</a:t>
            </a:r>
          </a:p>
          <a:p>
            <a:pPr algn="just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）数据长度为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107bit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，数据发送速度为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100 kbit/s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</a:p>
          <a:p>
            <a:pPr algn="just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）数据长度为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103bit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，数据发送速度为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 Gbit/s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/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/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假设信号在媒体上的传播速率为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2.3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×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10</a:t>
            </a:r>
            <a:r>
              <a:rPr lang="en-US" altLang="zh-CN" sz="2800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8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m/s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。媒体长度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L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分别为：</a:t>
            </a:r>
          </a:p>
          <a:p>
            <a:pPr algn="just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10cm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网卡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100m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局域网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100km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城域网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5000km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广域网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试计算当数据率为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Mb/s1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10Gb/s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时在以上媒体中正在传播的比特数。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8380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/>
          <p:cNvSpPr/>
          <p:nvPr/>
        </p:nvSpPr>
        <p:spPr>
          <a:xfrm>
            <a:off x="1687195" y="142875"/>
            <a:ext cx="1330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rgbClr val="1898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1898B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739775" y="396240"/>
            <a:ext cx="998855" cy="137795"/>
            <a:chOff x="408225" y="655896"/>
            <a:chExt cx="1080000" cy="251459"/>
          </a:xfrm>
          <a:solidFill>
            <a:schemeClr val="bg1">
              <a:lumMod val="75000"/>
            </a:schemeClr>
          </a:solidFill>
        </p:grpSpPr>
        <p:sp>
          <p:nvSpPr>
            <p:cNvPr id="57" name="矩形: 圆角 44"/>
            <p:cNvSpPr/>
            <p:nvPr/>
          </p:nvSpPr>
          <p:spPr>
            <a:xfrm>
              <a:off x="408225" y="655896"/>
              <a:ext cx="108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8" name="矩形: 圆角 45"/>
            <p:cNvSpPr/>
            <p:nvPr/>
          </p:nvSpPr>
          <p:spPr>
            <a:xfrm>
              <a:off x="408225" y="758766"/>
              <a:ext cx="72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0" name="矩形: 圆角 46"/>
            <p:cNvSpPr/>
            <p:nvPr/>
          </p:nvSpPr>
          <p:spPr>
            <a:xfrm>
              <a:off x="408225" y="861636"/>
              <a:ext cx="36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61" name="矩形 60"/>
          <p:cNvSpPr/>
          <p:nvPr/>
        </p:nvSpPr>
        <p:spPr>
          <a:xfrm>
            <a:off x="654050" y="89535"/>
            <a:ext cx="117157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PART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ONE</a:t>
            </a:r>
          </a:p>
        </p:txBody>
      </p:sp>
      <p:cxnSp>
        <p:nvCxnSpPr>
          <p:cNvPr id="63" name="直接连接符 62"/>
          <p:cNvCxnSpPr/>
          <p:nvPr/>
        </p:nvCxnSpPr>
        <p:spPr>
          <a:xfrm>
            <a:off x="3004466" y="213375"/>
            <a:ext cx="0" cy="25841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14">
            <a:extLst>
              <a:ext uri="{FF2B5EF4-FFF2-40B4-BE49-F238E27FC236}">
                <a16:creationId xmlns:a16="http://schemas.microsoft.com/office/drawing/2014/main" id="{DCFF2CAC-679B-0BF0-9873-39B53FF3A4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050" y="710982"/>
            <a:ext cx="10801350" cy="369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第二章 应用层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长度为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100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字节的应用层数据交给运输层传送，需加上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字节的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TCP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首部。再交给网络层传送，需加上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字节的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IP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首部。最后交给数据链路层的以太网传送，加上首部和尾部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18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字节。试求数据的传输效率。 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若应用层数据长度为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1000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字节，数据的传输效率是多少？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3158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/>
          <p:cNvSpPr/>
          <p:nvPr/>
        </p:nvSpPr>
        <p:spPr>
          <a:xfrm>
            <a:off x="1687195" y="142875"/>
            <a:ext cx="1330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rgbClr val="1898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第三章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1898B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739775" y="396240"/>
            <a:ext cx="998855" cy="137795"/>
            <a:chOff x="408225" y="655896"/>
            <a:chExt cx="1080000" cy="251459"/>
          </a:xfrm>
          <a:solidFill>
            <a:schemeClr val="bg1">
              <a:lumMod val="75000"/>
            </a:schemeClr>
          </a:solidFill>
        </p:grpSpPr>
        <p:sp>
          <p:nvSpPr>
            <p:cNvPr id="57" name="矩形: 圆角 44"/>
            <p:cNvSpPr/>
            <p:nvPr/>
          </p:nvSpPr>
          <p:spPr>
            <a:xfrm>
              <a:off x="408225" y="655896"/>
              <a:ext cx="108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8" name="矩形: 圆角 45"/>
            <p:cNvSpPr/>
            <p:nvPr/>
          </p:nvSpPr>
          <p:spPr>
            <a:xfrm>
              <a:off x="408225" y="758766"/>
              <a:ext cx="72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0" name="矩形: 圆角 46"/>
            <p:cNvSpPr/>
            <p:nvPr/>
          </p:nvSpPr>
          <p:spPr>
            <a:xfrm>
              <a:off x="408225" y="861636"/>
              <a:ext cx="36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61" name="矩形 60"/>
          <p:cNvSpPr/>
          <p:nvPr/>
        </p:nvSpPr>
        <p:spPr>
          <a:xfrm>
            <a:off x="654050" y="89535"/>
            <a:ext cx="117157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PART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ONE</a:t>
            </a:r>
          </a:p>
        </p:txBody>
      </p:sp>
      <p:cxnSp>
        <p:nvCxnSpPr>
          <p:cNvPr id="63" name="直接连接符 62"/>
          <p:cNvCxnSpPr/>
          <p:nvPr/>
        </p:nvCxnSpPr>
        <p:spPr>
          <a:xfrm>
            <a:off x="3004466" y="213375"/>
            <a:ext cx="0" cy="25841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14">
            <a:extLst>
              <a:ext uri="{FF2B5EF4-FFF2-40B4-BE49-F238E27FC236}">
                <a16:creationId xmlns:a16="http://schemas.microsoft.com/office/drawing/2014/main" id="{DCFF2CAC-679B-0BF0-9873-39B53FF3A4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050" y="710982"/>
            <a:ext cx="10801350" cy="5816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第三章 传输层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传输层的工作原理（进程到进程）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多路复用与解复用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无连接的多路复用与多路分解，面向连接的多路复用与多路分解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无连接传输：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UDP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“尽力而为”的服务，报文段可能丢失、乱序、错误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UDP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检验和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可靠数据传输（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rdt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）的原理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序号、确认、定时器、流量控制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rdt1.0-&gt;rdt2.0-&gt;rdt2.1-&gt;rdt2.2-&gt;rdt3.0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等操作）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提高链路利用率（流水线协议）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2045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/>
          <p:cNvSpPr/>
          <p:nvPr/>
        </p:nvSpPr>
        <p:spPr>
          <a:xfrm>
            <a:off x="1687195" y="142875"/>
            <a:ext cx="1330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rgbClr val="1898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第三章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1898B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739775" y="396240"/>
            <a:ext cx="998855" cy="137795"/>
            <a:chOff x="408225" y="655896"/>
            <a:chExt cx="1080000" cy="251459"/>
          </a:xfrm>
          <a:solidFill>
            <a:schemeClr val="bg1">
              <a:lumMod val="75000"/>
            </a:schemeClr>
          </a:solidFill>
        </p:grpSpPr>
        <p:sp>
          <p:nvSpPr>
            <p:cNvPr id="57" name="矩形: 圆角 44"/>
            <p:cNvSpPr/>
            <p:nvPr/>
          </p:nvSpPr>
          <p:spPr>
            <a:xfrm>
              <a:off x="408225" y="655896"/>
              <a:ext cx="108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8" name="矩形: 圆角 45"/>
            <p:cNvSpPr/>
            <p:nvPr/>
          </p:nvSpPr>
          <p:spPr>
            <a:xfrm>
              <a:off x="408225" y="758766"/>
              <a:ext cx="72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0" name="矩形: 圆角 46"/>
            <p:cNvSpPr/>
            <p:nvPr/>
          </p:nvSpPr>
          <p:spPr>
            <a:xfrm>
              <a:off x="408225" y="861636"/>
              <a:ext cx="36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61" name="矩形 60"/>
          <p:cNvSpPr/>
          <p:nvPr/>
        </p:nvSpPr>
        <p:spPr>
          <a:xfrm>
            <a:off x="654050" y="89535"/>
            <a:ext cx="117157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PART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ONE</a:t>
            </a:r>
          </a:p>
        </p:txBody>
      </p:sp>
      <p:cxnSp>
        <p:nvCxnSpPr>
          <p:cNvPr id="63" name="直接连接符 62"/>
          <p:cNvCxnSpPr/>
          <p:nvPr/>
        </p:nvCxnSpPr>
        <p:spPr>
          <a:xfrm>
            <a:off x="3004466" y="213375"/>
            <a:ext cx="0" cy="25841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14">
            <a:extLst>
              <a:ext uri="{FF2B5EF4-FFF2-40B4-BE49-F238E27FC236}">
                <a16:creationId xmlns:a16="http://schemas.microsoft.com/office/drawing/2014/main" id="{DCFF2CAC-679B-0BF0-9873-39B53FF3A4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050" y="750738"/>
            <a:ext cx="10801350" cy="5447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第三章 传输层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面向连接的传输（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TCP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点对点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可靠的、按顺序的字节流：段结构、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TCP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序号和确认号、定时器（重传机制）、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TCP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往返延时（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RTT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）和超时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GBN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的混合体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发送和接收缓存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全双工数据：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面向连接（连接管理）：连接建立（三次握手）、连接关闭（双向关闭）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有流量控制：捎带确认技术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有拥塞控制：慢开始（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slow-start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）、拥塞避免（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congestion avoidance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）、快重传（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fast retransmit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）和快恢复（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fast recovery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/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/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TCP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的吞吐量和公平性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/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15433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/>
          <p:cNvSpPr/>
          <p:nvPr/>
        </p:nvSpPr>
        <p:spPr>
          <a:xfrm>
            <a:off x="1687195" y="142875"/>
            <a:ext cx="1330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rgbClr val="1898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第三章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1898B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739775" y="396240"/>
            <a:ext cx="998855" cy="137795"/>
            <a:chOff x="408225" y="655896"/>
            <a:chExt cx="1080000" cy="251459"/>
          </a:xfrm>
          <a:solidFill>
            <a:schemeClr val="bg1">
              <a:lumMod val="75000"/>
            </a:schemeClr>
          </a:solidFill>
        </p:grpSpPr>
        <p:sp>
          <p:nvSpPr>
            <p:cNvPr id="57" name="矩形: 圆角 44"/>
            <p:cNvSpPr/>
            <p:nvPr/>
          </p:nvSpPr>
          <p:spPr>
            <a:xfrm>
              <a:off x="408225" y="655896"/>
              <a:ext cx="108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8" name="矩形: 圆角 45"/>
            <p:cNvSpPr/>
            <p:nvPr/>
          </p:nvSpPr>
          <p:spPr>
            <a:xfrm>
              <a:off x="408225" y="758766"/>
              <a:ext cx="72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0" name="矩形: 圆角 46"/>
            <p:cNvSpPr/>
            <p:nvPr/>
          </p:nvSpPr>
          <p:spPr>
            <a:xfrm>
              <a:off x="408225" y="861636"/>
              <a:ext cx="36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61" name="矩形 60"/>
          <p:cNvSpPr/>
          <p:nvPr/>
        </p:nvSpPr>
        <p:spPr>
          <a:xfrm>
            <a:off x="654050" y="89535"/>
            <a:ext cx="117157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PART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ONE</a:t>
            </a:r>
          </a:p>
        </p:txBody>
      </p:sp>
      <p:cxnSp>
        <p:nvCxnSpPr>
          <p:cNvPr id="63" name="直接连接符 62"/>
          <p:cNvCxnSpPr/>
          <p:nvPr/>
        </p:nvCxnSpPr>
        <p:spPr>
          <a:xfrm>
            <a:off x="3004466" y="213375"/>
            <a:ext cx="0" cy="25841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4">
            <a:extLst>
              <a:ext uri="{FF2B5EF4-FFF2-40B4-BE49-F238E27FC236}">
                <a16:creationId xmlns:a16="http://schemas.microsoft.com/office/drawing/2014/main" id="{B0A1D768-F51D-38F3-92B5-117347A548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050" y="750738"/>
            <a:ext cx="10801350" cy="5632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第三章 传输层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试说明传输层在协议栈中的地位和作用，传输层的通信和网络层的通信有什么重要区别？为什么传输层是必不可少的？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如何计算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UDP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检验和？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在传输层中可以通过后退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N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帧（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Go-Back-N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）和选择重传（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Selective Repeat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SR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）协议解决流水线的差错恢复问题，请简述以上两种协议的工作原理，以及它们之间的区别与联系。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TCP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连接建立与关闭的过程，有什么道理？</a:t>
            </a:r>
            <a:endParaRPr lang="zh-CN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726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/>
          <p:cNvSpPr/>
          <p:nvPr/>
        </p:nvSpPr>
        <p:spPr>
          <a:xfrm>
            <a:off x="1687195" y="142875"/>
            <a:ext cx="1330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rgbClr val="1898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第三章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1898B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739775" y="396240"/>
            <a:ext cx="998855" cy="137795"/>
            <a:chOff x="408225" y="655896"/>
            <a:chExt cx="1080000" cy="251459"/>
          </a:xfrm>
          <a:solidFill>
            <a:schemeClr val="bg1">
              <a:lumMod val="75000"/>
            </a:schemeClr>
          </a:solidFill>
        </p:grpSpPr>
        <p:sp>
          <p:nvSpPr>
            <p:cNvPr id="57" name="矩形: 圆角 44"/>
            <p:cNvSpPr/>
            <p:nvPr/>
          </p:nvSpPr>
          <p:spPr>
            <a:xfrm>
              <a:off x="408225" y="655896"/>
              <a:ext cx="108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8" name="矩形: 圆角 45"/>
            <p:cNvSpPr/>
            <p:nvPr/>
          </p:nvSpPr>
          <p:spPr>
            <a:xfrm>
              <a:off x="408225" y="758766"/>
              <a:ext cx="72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0" name="矩形: 圆角 46"/>
            <p:cNvSpPr/>
            <p:nvPr/>
          </p:nvSpPr>
          <p:spPr>
            <a:xfrm>
              <a:off x="408225" y="861636"/>
              <a:ext cx="36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61" name="矩形 60"/>
          <p:cNvSpPr/>
          <p:nvPr/>
        </p:nvSpPr>
        <p:spPr>
          <a:xfrm>
            <a:off x="654050" y="89535"/>
            <a:ext cx="117157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PART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ONE</a:t>
            </a:r>
          </a:p>
        </p:txBody>
      </p:sp>
      <p:cxnSp>
        <p:nvCxnSpPr>
          <p:cNvPr id="63" name="直接连接符 62"/>
          <p:cNvCxnSpPr/>
          <p:nvPr/>
        </p:nvCxnSpPr>
        <p:spPr>
          <a:xfrm>
            <a:off x="3004466" y="213375"/>
            <a:ext cx="0" cy="25841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4">
            <a:extLst>
              <a:ext uri="{FF2B5EF4-FFF2-40B4-BE49-F238E27FC236}">
                <a16:creationId xmlns:a16="http://schemas.microsoft.com/office/drawing/2014/main" id="{B0A1D768-F51D-38F3-92B5-117347A548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050" y="750738"/>
            <a:ext cx="10801350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第三章 传输层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什么是稍等确认（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Piggybacking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TCP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的拥塞控制中，慢开始（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slow-start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）、拥塞避免（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congestion avoidance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）、快重传（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fast retransmit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）和快恢复（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fast recovery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）各是如何工作的？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/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/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/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89462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78864-9526-5274-E28F-347BDBB15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组合 53">
            <a:extLst>
              <a:ext uri="{FF2B5EF4-FFF2-40B4-BE49-F238E27FC236}">
                <a16:creationId xmlns:a16="http://schemas.microsoft.com/office/drawing/2014/main" id="{39ED5D70-AF53-5A10-E3EC-A610020E14FE}"/>
              </a:ext>
            </a:extLst>
          </p:cNvPr>
          <p:cNvGrpSpPr/>
          <p:nvPr/>
        </p:nvGrpSpPr>
        <p:grpSpPr>
          <a:xfrm>
            <a:off x="739775" y="396240"/>
            <a:ext cx="998855" cy="137795"/>
            <a:chOff x="408225" y="655896"/>
            <a:chExt cx="1080000" cy="251459"/>
          </a:xfrm>
          <a:solidFill>
            <a:schemeClr val="bg1">
              <a:lumMod val="75000"/>
            </a:schemeClr>
          </a:solidFill>
        </p:grpSpPr>
        <p:sp>
          <p:nvSpPr>
            <p:cNvPr id="57" name="矩形: 圆角 44">
              <a:extLst>
                <a:ext uri="{FF2B5EF4-FFF2-40B4-BE49-F238E27FC236}">
                  <a16:creationId xmlns:a16="http://schemas.microsoft.com/office/drawing/2014/main" id="{7F02E93D-976B-BED4-2507-A95556CC8444}"/>
                </a:ext>
              </a:extLst>
            </p:cNvPr>
            <p:cNvSpPr/>
            <p:nvPr/>
          </p:nvSpPr>
          <p:spPr>
            <a:xfrm>
              <a:off x="408225" y="655896"/>
              <a:ext cx="108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8" name="矩形: 圆角 45">
              <a:extLst>
                <a:ext uri="{FF2B5EF4-FFF2-40B4-BE49-F238E27FC236}">
                  <a16:creationId xmlns:a16="http://schemas.microsoft.com/office/drawing/2014/main" id="{587008D8-59F8-5BD1-FE45-77C56B95B480}"/>
                </a:ext>
              </a:extLst>
            </p:cNvPr>
            <p:cNvSpPr/>
            <p:nvPr/>
          </p:nvSpPr>
          <p:spPr>
            <a:xfrm>
              <a:off x="408225" y="758766"/>
              <a:ext cx="72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0" name="矩形: 圆角 46">
              <a:extLst>
                <a:ext uri="{FF2B5EF4-FFF2-40B4-BE49-F238E27FC236}">
                  <a16:creationId xmlns:a16="http://schemas.microsoft.com/office/drawing/2014/main" id="{804B6CCB-E064-497F-BC5A-E05961DBEE02}"/>
                </a:ext>
              </a:extLst>
            </p:cNvPr>
            <p:cNvSpPr/>
            <p:nvPr/>
          </p:nvSpPr>
          <p:spPr>
            <a:xfrm>
              <a:off x="408225" y="861636"/>
              <a:ext cx="36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61" name="矩形 60">
            <a:extLst>
              <a:ext uri="{FF2B5EF4-FFF2-40B4-BE49-F238E27FC236}">
                <a16:creationId xmlns:a16="http://schemas.microsoft.com/office/drawing/2014/main" id="{A834E5DB-D22E-C90F-A109-C26A7FF161BA}"/>
              </a:ext>
            </a:extLst>
          </p:cNvPr>
          <p:cNvSpPr/>
          <p:nvPr/>
        </p:nvSpPr>
        <p:spPr>
          <a:xfrm>
            <a:off x="654050" y="89535"/>
            <a:ext cx="117157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PART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ONE</a:t>
            </a:r>
          </a:p>
        </p:txBody>
      </p: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6DCA46EC-08F2-55AE-4E9A-3C76790E1519}"/>
              </a:ext>
            </a:extLst>
          </p:cNvPr>
          <p:cNvCxnSpPr/>
          <p:nvPr/>
        </p:nvCxnSpPr>
        <p:spPr>
          <a:xfrm>
            <a:off x="3004466" y="213375"/>
            <a:ext cx="0" cy="25841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14">
            <a:extLst>
              <a:ext uri="{FF2B5EF4-FFF2-40B4-BE49-F238E27FC236}">
                <a16:creationId xmlns:a16="http://schemas.microsoft.com/office/drawing/2014/main" id="{55E9A37F-7FF3-C243-B8BE-A338EDE62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050" y="710982"/>
            <a:ext cx="10801350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第三章 传输层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考试题型：判断题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报文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-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包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-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帧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-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比特流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-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应用数据是主机内数据封装过程（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×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D1B533D-39BD-A334-BB98-EA59A1B49E52}"/>
              </a:ext>
            </a:extLst>
          </p:cNvPr>
          <p:cNvSpPr/>
          <p:nvPr/>
        </p:nvSpPr>
        <p:spPr>
          <a:xfrm>
            <a:off x="1687195" y="142875"/>
            <a:ext cx="1330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rgbClr val="1898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第三章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1898B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00168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/>
          <p:cNvSpPr/>
          <p:nvPr/>
        </p:nvSpPr>
        <p:spPr>
          <a:xfrm>
            <a:off x="1687195" y="142875"/>
            <a:ext cx="1330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rgbClr val="1898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第三章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1898B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739775" y="396240"/>
            <a:ext cx="998855" cy="137795"/>
            <a:chOff x="408225" y="655896"/>
            <a:chExt cx="1080000" cy="251459"/>
          </a:xfrm>
          <a:solidFill>
            <a:schemeClr val="bg1">
              <a:lumMod val="75000"/>
            </a:schemeClr>
          </a:solidFill>
        </p:grpSpPr>
        <p:sp>
          <p:nvSpPr>
            <p:cNvPr id="57" name="矩形: 圆角 44"/>
            <p:cNvSpPr/>
            <p:nvPr/>
          </p:nvSpPr>
          <p:spPr>
            <a:xfrm>
              <a:off x="408225" y="655896"/>
              <a:ext cx="108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8" name="矩形: 圆角 45"/>
            <p:cNvSpPr/>
            <p:nvPr/>
          </p:nvSpPr>
          <p:spPr>
            <a:xfrm>
              <a:off x="408225" y="758766"/>
              <a:ext cx="72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0" name="矩形: 圆角 46"/>
            <p:cNvSpPr/>
            <p:nvPr/>
          </p:nvSpPr>
          <p:spPr>
            <a:xfrm>
              <a:off x="408225" y="861636"/>
              <a:ext cx="36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61" name="矩形 60"/>
          <p:cNvSpPr/>
          <p:nvPr/>
        </p:nvSpPr>
        <p:spPr>
          <a:xfrm>
            <a:off x="654050" y="89535"/>
            <a:ext cx="117157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PART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ONE</a:t>
            </a:r>
          </a:p>
        </p:txBody>
      </p:sp>
      <p:cxnSp>
        <p:nvCxnSpPr>
          <p:cNvPr id="63" name="直接连接符 62"/>
          <p:cNvCxnSpPr/>
          <p:nvPr/>
        </p:nvCxnSpPr>
        <p:spPr>
          <a:xfrm>
            <a:off x="3004466" y="213375"/>
            <a:ext cx="0" cy="25841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5" name="图片 1" descr="图表, 折线图&#10;&#10;描述已自动生成">
            <a:extLst>
              <a:ext uri="{FF2B5EF4-FFF2-40B4-BE49-F238E27FC236}">
                <a16:creationId xmlns:a16="http://schemas.microsoft.com/office/drawing/2014/main" id="{D8AC4998-A0BB-6972-6F8F-E2BA055649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8183" y="142875"/>
            <a:ext cx="5267738" cy="4154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0D341D86-1576-C6E7-C148-DD518CA0FB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80119"/>
            <a:ext cx="10188265" cy="5386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第三章 传输层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R="0" lv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zh-CN" sz="2000" dirty="0" bmk="_Hlk136777442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R="0" lv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en-US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请回答以下问题：</a:t>
            </a:r>
            <a:endParaRPr lang="en-US" altLang="zh-CN" sz="2000" dirty="0" bmk="_Hlk136777442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R="0" lv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en-US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zh-CN" altLang="en-US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）指出</a:t>
            </a:r>
            <a:r>
              <a:rPr lang="en-US" altLang="zh-CN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TCP</a:t>
            </a:r>
            <a:r>
              <a:rPr lang="zh-CN" altLang="en-US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慢启动运行时的时间间隔。</a:t>
            </a:r>
          </a:p>
          <a:p>
            <a:pPr marR="0" lv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en-US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en-US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）指出</a:t>
            </a:r>
            <a:r>
              <a:rPr lang="en-US" altLang="zh-CN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TCP</a:t>
            </a:r>
            <a:r>
              <a:rPr lang="zh-CN" altLang="en-US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拥塞避免运行时的时间间隔。</a:t>
            </a:r>
          </a:p>
          <a:p>
            <a:pPr marR="0" lv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en-US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zh-CN" altLang="en-US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）在第</a:t>
            </a:r>
            <a:r>
              <a:rPr lang="en-US" altLang="zh-CN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16</a:t>
            </a:r>
            <a:r>
              <a:rPr lang="zh-CN" altLang="en-US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个传输轮回后，</a:t>
            </a:r>
            <a:endParaRPr lang="en-US" altLang="zh-CN" sz="2000" dirty="0" bmk="_Hlk136777442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R="0" lv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en-US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报文段的丢失是根据</a:t>
            </a:r>
            <a:r>
              <a:rPr lang="en-US" altLang="zh-CN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zh-CN" altLang="en-US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个冗余</a:t>
            </a:r>
            <a:r>
              <a:rPr lang="en-US" altLang="zh-CN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ACK</a:t>
            </a:r>
            <a:r>
              <a:rPr lang="zh-CN" altLang="en-US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还是根据超时检测出来的？</a:t>
            </a:r>
          </a:p>
          <a:p>
            <a:pPr marR="0" lv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en-US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r>
              <a:rPr lang="zh-CN" altLang="en-US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）在第</a:t>
            </a:r>
            <a:r>
              <a:rPr lang="en-US" altLang="zh-CN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22</a:t>
            </a:r>
            <a:r>
              <a:rPr lang="zh-CN" altLang="en-US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个传输轮回后，</a:t>
            </a:r>
            <a:endParaRPr lang="en-US" altLang="zh-CN" sz="2000" dirty="0" bmk="_Hlk136777442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R="0" lv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en-US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报文段的丢失是根据</a:t>
            </a:r>
            <a:r>
              <a:rPr lang="en-US" altLang="zh-CN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zh-CN" altLang="en-US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个冗余</a:t>
            </a:r>
            <a:r>
              <a:rPr lang="en-US" altLang="zh-CN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ACK</a:t>
            </a:r>
            <a:r>
              <a:rPr lang="zh-CN" altLang="en-US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还是根据超时检测出来的？</a:t>
            </a:r>
          </a:p>
          <a:p>
            <a:pPr marR="0" lv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en-US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5</a:t>
            </a:r>
            <a:r>
              <a:rPr lang="zh-CN" altLang="en-US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）在第</a:t>
            </a:r>
            <a:r>
              <a:rPr lang="en-US" altLang="zh-CN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zh-CN" altLang="en-US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个传输轮回里，</a:t>
            </a:r>
            <a:r>
              <a:rPr lang="en-US" altLang="zh-CN" sz="2000" dirty="0" err="1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ssthresh</a:t>
            </a:r>
            <a:r>
              <a:rPr lang="zh-CN" altLang="en-US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的初始值设置为多少？</a:t>
            </a:r>
          </a:p>
          <a:p>
            <a:pPr marR="0" lv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en-US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6</a:t>
            </a:r>
            <a:r>
              <a:rPr lang="zh-CN" altLang="en-US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）在第</a:t>
            </a:r>
            <a:r>
              <a:rPr lang="en-US" altLang="zh-CN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18</a:t>
            </a:r>
            <a:r>
              <a:rPr lang="zh-CN" altLang="en-US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个传输轮回里，</a:t>
            </a:r>
            <a:r>
              <a:rPr lang="en-US" altLang="zh-CN" sz="2000" dirty="0" err="1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ssthresh</a:t>
            </a:r>
            <a:r>
              <a:rPr lang="zh-CN" altLang="en-US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的初始值设置为多少？</a:t>
            </a:r>
          </a:p>
          <a:p>
            <a:pPr marR="0" lv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en-US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7</a:t>
            </a:r>
            <a:r>
              <a:rPr lang="zh-CN" altLang="en-US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）在第</a:t>
            </a:r>
            <a:r>
              <a:rPr lang="en-US" altLang="zh-CN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24</a:t>
            </a:r>
            <a:r>
              <a:rPr lang="zh-CN" altLang="en-US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个传输轮回里，</a:t>
            </a:r>
            <a:r>
              <a:rPr lang="en-US" altLang="zh-CN" sz="2000" dirty="0" err="1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ssthresh</a:t>
            </a:r>
            <a:r>
              <a:rPr lang="zh-CN" altLang="en-US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的初始值设置为多少？</a:t>
            </a:r>
          </a:p>
          <a:p>
            <a:pPr marR="0" lv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en-US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8</a:t>
            </a:r>
            <a:r>
              <a:rPr lang="zh-CN" altLang="en-US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）在哪个传输轮回内发送第</a:t>
            </a:r>
            <a:r>
              <a:rPr lang="en-US" altLang="zh-CN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70</a:t>
            </a:r>
            <a:r>
              <a:rPr lang="zh-CN" altLang="en-US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个报文段？</a:t>
            </a:r>
          </a:p>
          <a:p>
            <a:pPr marR="0" lv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en-US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9</a:t>
            </a:r>
            <a:r>
              <a:rPr lang="zh-CN" altLang="en-US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）假定在第</a:t>
            </a:r>
            <a:r>
              <a:rPr lang="en-US" altLang="zh-CN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26</a:t>
            </a:r>
            <a:r>
              <a:rPr lang="zh-CN" altLang="en-US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个传输轮回后，通过收到</a:t>
            </a:r>
            <a:r>
              <a:rPr lang="en-US" altLang="zh-CN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zh-CN" altLang="en-US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个冗余</a:t>
            </a:r>
            <a:r>
              <a:rPr lang="en-US" altLang="zh-CN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ACK</a:t>
            </a:r>
            <a:r>
              <a:rPr lang="zh-CN" altLang="en-US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检测出分组丢失，拥塞的窗口长度和</a:t>
            </a:r>
            <a:r>
              <a:rPr lang="en-US" altLang="zh-CN" sz="2000" dirty="0" err="1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ssthresh</a:t>
            </a:r>
            <a:r>
              <a:rPr lang="zh-CN" altLang="en-US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的值应当是多少？</a:t>
            </a:r>
          </a:p>
          <a:p>
            <a:pPr marR="0" lv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en-US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10</a:t>
            </a:r>
            <a:r>
              <a:rPr lang="zh-CN" altLang="en-US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）假定使用</a:t>
            </a:r>
            <a:r>
              <a:rPr lang="en-US" altLang="zh-CN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TCP Tahoe</a:t>
            </a:r>
            <a:r>
              <a:rPr lang="zh-CN" altLang="en-US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（而不是</a:t>
            </a:r>
            <a:r>
              <a:rPr lang="en-US" altLang="zh-CN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TCP Reno</a:t>
            </a:r>
            <a:r>
              <a:rPr lang="zh-CN" altLang="en-US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），并假定在第</a:t>
            </a:r>
            <a:r>
              <a:rPr lang="en-US" altLang="zh-CN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16</a:t>
            </a:r>
            <a:r>
              <a:rPr lang="zh-CN" altLang="en-US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个传输轮回收到</a:t>
            </a:r>
            <a:r>
              <a:rPr lang="en-US" altLang="zh-CN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zh-CN" altLang="en-US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个冗余</a:t>
            </a:r>
            <a:r>
              <a:rPr lang="en-US" altLang="zh-CN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ACK</a:t>
            </a:r>
            <a:r>
              <a:rPr lang="zh-CN" altLang="en-US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。在第</a:t>
            </a:r>
            <a:r>
              <a:rPr lang="en-US" altLang="zh-CN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19</a:t>
            </a:r>
            <a:r>
              <a:rPr lang="zh-CN" altLang="en-US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个传输轮回，</a:t>
            </a:r>
            <a:r>
              <a:rPr lang="en-US" altLang="zh-CN" sz="2000" dirty="0" err="1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ssthresh</a:t>
            </a:r>
            <a:r>
              <a:rPr lang="zh-CN" altLang="en-US" sz="2000" dirty="0" bmk="_Hlk136777442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和拥塞窗口长度是什么？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2985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/>
          <p:cNvSpPr/>
          <p:nvPr/>
        </p:nvSpPr>
        <p:spPr>
          <a:xfrm>
            <a:off x="1687195" y="142875"/>
            <a:ext cx="1330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rgbClr val="1898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第四章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1898B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739775" y="396240"/>
            <a:ext cx="998855" cy="137795"/>
            <a:chOff x="408225" y="655896"/>
            <a:chExt cx="1080000" cy="251459"/>
          </a:xfrm>
          <a:solidFill>
            <a:schemeClr val="bg1">
              <a:lumMod val="75000"/>
            </a:schemeClr>
          </a:solidFill>
        </p:grpSpPr>
        <p:sp>
          <p:nvSpPr>
            <p:cNvPr id="57" name="矩形: 圆角 44"/>
            <p:cNvSpPr/>
            <p:nvPr/>
          </p:nvSpPr>
          <p:spPr>
            <a:xfrm>
              <a:off x="408225" y="655896"/>
              <a:ext cx="108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8" name="矩形: 圆角 45"/>
            <p:cNvSpPr/>
            <p:nvPr/>
          </p:nvSpPr>
          <p:spPr>
            <a:xfrm>
              <a:off x="408225" y="758766"/>
              <a:ext cx="72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0" name="矩形: 圆角 46"/>
            <p:cNvSpPr/>
            <p:nvPr/>
          </p:nvSpPr>
          <p:spPr>
            <a:xfrm>
              <a:off x="408225" y="861636"/>
              <a:ext cx="36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61" name="矩形 60"/>
          <p:cNvSpPr/>
          <p:nvPr/>
        </p:nvSpPr>
        <p:spPr>
          <a:xfrm>
            <a:off x="654050" y="89535"/>
            <a:ext cx="117157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PART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ONE</a:t>
            </a:r>
          </a:p>
        </p:txBody>
      </p:sp>
      <p:cxnSp>
        <p:nvCxnSpPr>
          <p:cNvPr id="63" name="直接连接符 62"/>
          <p:cNvCxnSpPr/>
          <p:nvPr/>
        </p:nvCxnSpPr>
        <p:spPr>
          <a:xfrm>
            <a:off x="3004466" y="213375"/>
            <a:ext cx="0" cy="25841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14">
            <a:extLst>
              <a:ext uri="{FF2B5EF4-FFF2-40B4-BE49-F238E27FC236}">
                <a16:creationId xmlns:a16="http://schemas.microsoft.com/office/drawing/2014/main" id="{DCFF2CAC-679B-0BF0-9873-39B53FF3A4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050" y="710982"/>
            <a:ext cx="10801350" cy="5447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第四章 网络层：数据平面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概述和网络层服务（主机到主机）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数据平面和控制平面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路由器的组成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路由器的总体结构与交换结构（路由、转发，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memory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bus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crossbar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），输入和输出端口，基于目标的转发（路由表），最长前缀匹配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协议（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Internet Protocol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编址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分片与重组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子网划分（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Subnets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地址分类（传统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VS CIDR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如何获得一个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地址（地址块划分、路由聚集）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网络地址转换（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NAT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675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/>
          <p:cNvSpPr/>
          <p:nvPr/>
        </p:nvSpPr>
        <p:spPr>
          <a:xfrm>
            <a:off x="1687195" y="142875"/>
            <a:ext cx="1330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rgbClr val="1898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第四章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1898B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739775" y="396240"/>
            <a:ext cx="998855" cy="137795"/>
            <a:chOff x="408225" y="655896"/>
            <a:chExt cx="1080000" cy="251459"/>
          </a:xfrm>
          <a:solidFill>
            <a:schemeClr val="bg1">
              <a:lumMod val="75000"/>
            </a:schemeClr>
          </a:solidFill>
        </p:grpSpPr>
        <p:sp>
          <p:nvSpPr>
            <p:cNvPr id="57" name="矩形: 圆角 44"/>
            <p:cNvSpPr/>
            <p:nvPr/>
          </p:nvSpPr>
          <p:spPr>
            <a:xfrm>
              <a:off x="408225" y="655896"/>
              <a:ext cx="108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8" name="矩形: 圆角 45"/>
            <p:cNvSpPr/>
            <p:nvPr/>
          </p:nvSpPr>
          <p:spPr>
            <a:xfrm>
              <a:off x="408225" y="758766"/>
              <a:ext cx="72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0" name="矩形: 圆角 46"/>
            <p:cNvSpPr/>
            <p:nvPr/>
          </p:nvSpPr>
          <p:spPr>
            <a:xfrm>
              <a:off x="408225" y="861636"/>
              <a:ext cx="36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61" name="矩形 60"/>
          <p:cNvSpPr/>
          <p:nvPr/>
        </p:nvSpPr>
        <p:spPr>
          <a:xfrm>
            <a:off x="654050" y="89535"/>
            <a:ext cx="117157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PART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ONE</a:t>
            </a:r>
          </a:p>
        </p:txBody>
      </p:sp>
      <p:cxnSp>
        <p:nvCxnSpPr>
          <p:cNvPr id="63" name="直接连接符 62"/>
          <p:cNvCxnSpPr/>
          <p:nvPr/>
        </p:nvCxnSpPr>
        <p:spPr>
          <a:xfrm>
            <a:off x="3004466" y="213375"/>
            <a:ext cx="0" cy="25841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14">
            <a:extLst>
              <a:ext uri="{FF2B5EF4-FFF2-40B4-BE49-F238E27FC236}">
                <a16:creationId xmlns:a16="http://schemas.microsoft.com/office/drawing/2014/main" id="{DCFF2CAC-679B-0BF0-9873-39B53FF3A4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050" y="710982"/>
            <a:ext cx="10801350" cy="2215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第四章 网络层：数据平面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通用转发和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SDN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匹配、行动，流表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23807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/>
          <p:cNvSpPr/>
          <p:nvPr/>
        </p:nvSpPr>
        <p:spPr>
          <a:xfrm>
            <a:off x="1687195" y="142875"/>
            <a:ext cx="1330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rgbClr val="1898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第四章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1898B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739775" y="396240"/>
            <a:ext cx="998855" cy="137795"/>
            <a:chOff x="408225" y="655896"/>
            <a:chExt cx="1080000" cy="251459"/>
          </a:xfrm>
          <a:solidFill>
            <a:schemeClr val="bg1">
              <a:lumMod val="75000"/>
            </a:schemeClr>
          </a:solidFill>
        </p:grpSpPr>
        <p:sp>
          <p:nvSpPr>
            <p:cNvPr id="57" name="矩形: 圆角 44"/>
            <p:cNvSpPr/>
            <p:nvPr/>
          </p:nvSpPr>
          <p:spPr>
            <a:xfrm>
              <a:off x="408225" y="655896"/>
              <a:ext cx="108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8" name="矩形: 圆角 45"/>
            <p:cNvSpPr/>
            <p:nvPr/>
          </p:nvSpPr>
          <p:spPr>
            <a:xfrm>
              <a:off x="408225" y="758766"/>
              <a:ext cx="72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0" name="矩形: 圆角 46"/>
            <p:cNvSpPr/>
            <p:nvPr/>
          </p:nvSpPr>
          <p:spPr>
            <a:xfrm>
              <a:off x="408225" y="861636"/>
              <a:ext cx="36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61" name="矩形 60"/>
          <p:cNvSpPr/>
          <p:nvPr/>
        </p:nvSpPr>
        <p:spPr>
          <a:xfrm>
            <a:off x="654050" y="89535"/>
            <a:ext cx="117157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PART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ONE</a:t>
            </a:r>
          </a:p>
        </p:txBody>
      </p:sp>
      <p:cxnSp>
        <p:nvCxnSpPr>
          <p:cNvPr id="63" name="直接连接符 62"/>
          <p:cNvCxnSpPr/>
          <p:nvPr/>
        </p:nvCxnSpPr>
        <p:spPr>
          <a:xfrm>
            <a:off x="3004466" y="213375"/>
            <a:ext cx="0" cy="25841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4">
            <a:extLst>
              <a:ext uri="{FF2B5EF4-FFF2-40B4-BE49-F238E27FC236}">
                <a16:creationId xmlns:a16="http://schemas.microsoft.com/office/drawing/2014/main" id="{B0A1D768-F51D-38F3-92B5-117347A548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050" y="750738"/>
            <a:ext cx="10801350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第四章 网络层：数据平面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试分析路由器的交换结构（路由、转发，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memory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bus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crossbar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 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什么是网络地址转换（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NAT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一个子网的前缀是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128.119.40.128/26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给出一个可以分配给该网络的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地址的例子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（形式为：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a.b.c.d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）。（书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pp.239 P11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B3BBB25-640B-724F-01AC-C34515B73F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7756" y="2481347"/>
            <a:ext cx="5206723" cy="3385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625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E697D-D215-7F12-F8D4-BD2DE1786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>
            <a:extLst>
              <a:ext uri="{FF2B5EF4-FFF2-40B4-BE49-F238E27FC236}">
                <a16:creationId xmlns:a16="http://schemas.microsoft.com/office/drawing/2014/main" id="{B8FFF9C1-AA49-D3E0-65D8-8AF5DD567900}"/>
              </a:ext>
            </a:extLst>
          </p:cNvPr>
          <p:cNvSpPr/>
          <p:nvPr/>
        </p:nvSpPr>
        <p:spPr>
          <a:xfrm>
            <a:off x="1687195" y="142875"/>
            <a:ext cx="1330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rgbClr val="1898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第四章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1898B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B1FA26B1-BC6D-BBDD-8452-50B13BC6187E}"/>
              </a:ext>
            </a:extLst>
          </p:cNvPr>
          <p:cNvGrpSpPr/>
          <p:nvPr/>
        </p:nvGrpSpPr>
        <p:grpSpPr>
          <a:xfrm>
            <a:off x="739775" y="396240"/>
            <a:ext cx="998855" cy="137795"/>
            <a:chOff x="408225" y="655896"/>
            <a:chExt cx="1080000" cy="251459"/>
          </a:xfrm>
          <a:solidFill>
            <a:schemeClr val="bg1">
              <a:lumMod val="75000"/>
            </a:schemeClr>
          </a:solidFill>
        </p:grpSpPr>
        <p:sp>
          <p:nvSpPr>
            <p:cNvPr id="57" name="矩形: 圆角 44">
              <a:extLst>
                <a:ext uri="{FF2B5EF4-FFF2-40B4-BE49-F238E27FC236}">
                  <a16:creationId xmlns:a16="http://schemas.microsoft.com/office/drawing/2014/main" id="{4650FE34-BDB4-FA13-7457-D2425E6B4E00}"/>
                </a:ext>
              </a:extLst>
            </p:cNvPr>
            <p:cNvSpPr/>
            <p:nvPr/>
          </p:nvSpPr>
          <p:spPr>
            <a:xfrm>
              <a:off x="408225" y="655896"/>
              <a:ext cx="108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8" name="矩形: 圆角 45">
              <a:extLst>
                <a:ext uri="{FF2B5EF4-FFF2-40B4-BE49-F238E27FC236}">
                  <a16:creationId xmlns:a16="http://schemas.microsoft.com/office/drawing/2014/main" id="{9440914F-542A-0CE9-7C5A-CEC37CE24EEC}"/>
                </a:ext>
              </a:extLst>
            </p:cNvPr>
            <p:cNvSpPr/>
            <p:nvPr/>
          </p:nvSpPr>
          <p:spPr>
            <a:xfrm>
              <a:off x="408225" y="758766"/>
              <a:ext cx="72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0" name="矩形: 圆角 46">
              <a:extLst>
                <a:ext uri="{FF2B5EF4-FFF2-40B4-BE49-F238E27FC236}">
                  <a16:creationId xmlns:a16="http://schemas.microsoft.com/office/drawing/2014/main" id="{2F2AF7E2-1344-177E-9AAB-65155DACEFE0}"/>
                </a:ext>
              </a:extLst>
            </p:cNvPr>
            <p:cNvSpPr/>
            <p:nvPr/>
          </p:nvSpPr>
          <p:spPr>
            <a:xfrm>
              <a:off x="408225" y="861636"/>
              <a:ext cx="36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61" name="矩形 60">
            <a:extLst>
              <a:ext uri="{FF2B5EF4-FFF2-40B4-BE49-F238E27FC236}">
                <a16:creationId xmlns:a16="http://schemas.microsoft.com/office/drawing/2014/main" id="{50E3CC51-A1A4-ADE5-2CEF-4B5C0B052D2B}"/>
              </a:ext>
            </a:extLst>
          </p:cNvPr>
          <p:cNvSpPr/>
          <p:nvPr/>
        </p:nvSpPr>
        <p:spPr>
          <a:xfrm>
            <a:off x="654050" y="89535"/>
            <a:ext cx="117157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PART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ONE</a:t>
            </a:r>
          </a:p>
        </p:txBody>
      </p: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F4B11B22-0B7B-B084-7F49-4344AD3CDEB8}"/>
              </a:ext>
            </a:extLst>
          </p:cNvPr>
          <p:cNvCxnSpPr/>
          <p:nvPr/>
        </p:nvCxnSpPr>
        <p:spPr>
          <a:xfrm>
            <a:off x="3004466" y="213375"/>
            <a:ext cx="0" cy="25841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4">
            <a:extLst>
              <a:ext uri="{FF2B5EF4-FFF2-40B4-BE49-F238E27FC236}">
                <a16:creationId xmlns:a16="http://schemas.microsoft.com/office/drawing/2014/main" id="{9DA9DC89-BF32-60EE-A173-045F3E38B5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050" y="750738"/>
            <a:ext cx="10801350" cy="6001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第四章 网络层：数据平面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假设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ISP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拥有地址块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128.119.40.64/26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，想要从这个地址块划分出来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个子网，并且每个子网包含相同的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地址数量，这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个子网的前缀（形式为：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a.b.c.d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/x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）是什么？（书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pp.239 P11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将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CIDR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前缀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139.179.0.0/17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的网络中划分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/20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子网，给出每个子网的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CIDR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形式。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/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/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/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36452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/>
          <p:cNvSpPr/>
          <p:nvPr/>
        </p:nvSpPr>
        <p:spPr>
          <a:xfrm>
            <a:off x="1687195" y="142875"/>
            <a:ext cx="1330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rgbClr val="1898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第四章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1898B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739775" y="396240"/>
            <a:ext cx="998855" cy="137795"/>
            <a:chOff x="408225" y="655896"/>
            <a:chExt cx="1080000" cy="251459"/>
          </a:xfrm>
          <a:solidFill>
            <a:schemeClr val="bg1">
              <a:lumMod val="75000"/>
            </a:schemeClr>
          </a:solidFill>
        </p:grpSpPr>
        <p:sp>
          <p:nvSpPr>
            <p:cNvPr id="57" name="矩形: 圆角 44"/>
            <p:cNvSpPr/>
            <p:nvPr/>
          </p:nvSpPr>
          <p:spPr>
            <a:xfrm>
              <a:off x="408225" y="655896"/>
              <a:ext cx="108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8" name="矩形: 圆角 45"/>
            <p:cNvSpPr/>
            <p:nvPr/>
          </p:nvSpPr>
          <p:spPr>
            <a:xfrm>
              <a:off x="408225" y="758766"/>
              <a:ext cx="72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0" name="矩形: 圆角 46"/>
            <p:cNvSpPr/>
            <p:nvPr/>
          </p:nvSpPr>
          <p:spPr>
            <a:xfrm>
              <a:off x="408225" y="861636"/>
              <a:ext cx="36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61" name="矩形 60"/>
          <p:cNvSpPr/>
          <p:nvPr/>
        </p:nvSpPr>
        <p:spPr>
          <a:xfrm>
            <a:off x="654050" y="89535"/>
            <a:ext cx="117157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PART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ONE</a:t>
            </a:r>
          </a:p>
        </p:txBody>
      </p:sp>
      <p:cxnSp>
        <p:nvCxnSpPr>
          <p:cNvPr id="63" name="直接连接符 62"/>
          <p:cNvCxnSpPr/>
          <p:nvPr/>
        </p:nvCxnSpPr>
        <p:spPr>
          <a:xfrm>
            <a:off x="3004466" y="213375"/>
            <a:ext cx="0" cy="25841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4">
            <a:extLst>
              <a:ext uri="{FF2B5EF4-FFF2-40B4-BE49-F238E27FC236}">
                <a16:creationId xmlns:a16="http://schemas.microsoft.com/office/drawing/2014/main" id="{B0A1D768-F51D-38F3-92B5-117347A548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050" y="750738"/>
            <a:ext cx="10801350" cy="5632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第四章 网络层：数据平面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2023-2024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第二学期考试真题，简答题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在因特网中将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IP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数据报分片传送的数据报在最后的目的主机进行组装。还可以有另一种做法，即数据报片通过一个网络就进行一次组装。试比较这两种方法的优劣。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试用具体例子说明为什么在运输连接建立时要使用“三次握手”？如果改为“两次握手”，可能会出现什么情况？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2023-2024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第二学期考试真题，计算题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试辨认以下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IP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地址的网络类别。其中是否有私网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IP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，如存在，请做指明。</a:t>
            </a:r>
          </a:p>
          <a:p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128.36.199.3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21.12.240.17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183.194.76.253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192.12.69.248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98264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/>
          <p:cNvSpPr/>
          <p:nvPr/>
        </p:nvSpPr>
        <p:spPr>
          <a:xfrm>
            <a:off x="1687195" y="142875"/>
            <a:ext cx="1330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rgbClr val="1898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第四章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1898B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739775" y="396240"/>
            <a:ext cx="998855" cy="137795"/>
            <a:chOff x="408225" y="655896"/>
            <a:chExt cx="1080000" cy="251459"/>
          </a:xfrm>
          <a:solidFill>
            <a:schemeClr val="bg1">
              <a:lumMod val="75000"/>
            </a:schemeClr>
          </a:solidFill>
        </p:grpSpPr>
        <p:sp>
          <p:nvSpPr>
            <p:cNvPr id="57" name="矩形: 圆角 44"/>
            <p:cNvSpPr/>
            <p:nvPr/>
          </p:nvSpPr>
          <p:spPr>
            <a:xfrm>
              <a:off x="408225" y="655896"/>
              <a:ext cx="108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8" name="矩形: 圆角 45"/>
            <p:cNvSpPr/>
            <p:nvPr/>
          </p:nvSpPr>
          <p:spPr>
            <a:xfrm>
              <a:off x="408225" y="758766"/>
              <a:ext cx="72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0" name="矩形: 圆角 46"/>
            <p:cNvSpPr/>
            <p:nvPr/>
          </p:nvSpPr>
          <p:spPr>
            <a:xfrm>
              <a:off x="408225" y="861636"/>
              <a:ext cx="36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61" name="矩形 60"/>
          <p:cNvSpPr/>
          <p:nvPr/>
        </p:nvSpPr>
        <p:spPr>
          <a:xfrm>
            <a:off x="654050" y="89535"/>
            <a:ext cx="117157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PART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ONE</a:t>
            </a:r>
          </a:p>
        </p:txBody>
      </p:sp>
      <p:cxnSp>
        <p:nvCxnSpPr>
          <p:cNvPr id="63" name="直接连接符 62"/>
          <p:cNvCxnSpPr/>
          <p:nvPr/>
        </p:nvCxnSpPr>
        <p:spPr>
          <a:xfrm>
            <a:off x="3004466" y="213375"/>
            <a:ext cx="0" cy="25841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4">
            <a:extLst>
              <a:ext uri="{FF2B5EF4-FFF2-40B4-BE49-F238E27FC236}">
                <a16:creationId xmlns:a16="http://schemas.microsoft.com/office/drawing/2014/main" id="{B0A1D768-F51D-38F3-92B5-117347A548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050" y="750738"/>
            <a:ext cx="10801350" cy="415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第四章 网络层：数据平面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分片与重组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/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/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/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356B2F4-D7E3-6DB7-CFBA-55DA72A5D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8398" y="1219792"/>
            <a:ext cx="7831167" cy="4887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8778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/>
          <p:cNvSpPr/>
          <p:nvPr/>
        </p:nvSpPr>
        <p:spPr>
          <a:xfrm>
            <a:off x="1687195" y="142875"/>
            <a:ext cx="1330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rgbClr val="1898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第四章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1898B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739775" y="396240"/>
            <a:ext cx="998855" cy="137795"/>
            <a:chOff x="408225" y="655896"/>
            <a:chExt cx="1080000" cy="251459"/>
          </a:xfrm>
          <a:solidFill>
            <a:schemeClr val="bg1">
              <a:lumMod val="75000"/>
            </a:schemeClr>
          </a:solidFill>
        </p:grpSpPr>
        <p:sp>
          <p:nvSpPr>
            <p:cNvPr id="57" name="矩形: 圆角 44"/>
            <p:cNvSpPr/>
            <p:nvPr/>
          </p:nvSpPr>
          <p:spPr>
            <a:xfrm>
              <a:off x="408225" y="655896"/>
              <a:ext cx="108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8" name="矩形: 圆角 45"/>
            <p:cNvSpPr/>
            <p:nvPr/>
          </p:nvSpPr>
          <p:spPr>
            <a:xfrm>
              <a:off x="408225" y="758766"/>
              <a:ext cx="72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0" name="矩形: 圆角 46"/>
            <p:cNvSpPr/>
            <p:nvPr/>
          </p:nvSpPr>
          <p:spPr>
            <a:xfrm>
              <a:off x="408225" y="861636"/>
              <a:ext cx="36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61" name="矩形 60"/>
          <p:cNvSpPr/>
          <p:nvPr/>
        </p:nvSpPr>
        <p:spPr>
          <a:xfrm>
            <a:off x="654050" y="89535"/>
            <a:ext cx="117157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PART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ONE</a:t>
            </a:r>
          </a:p>
        </p:txBody>
      </p:sp>
      <p:cxnSp>
        <p:nvCxnSpPr>
          <p:cNvPr id="63" name="直接连接符 62"/>
          <p:cNvCxnSpPr/>
          <p:nvPr/>
        </p:nvCxnSpPr>
        <p:spPr>
          <a:xfrm>
            <a:off x="3004466" y="213375"/>
            <a:ext cx="0" cy="25841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4">
            <a:extLst>
              <a:ext uri="{FF2B5EF4-FFF2-40B4-BE49-F238E27FC236}">
                <a16:creationId xmlns:a16="http://schemas.microsoft.com/office/drawing/2014/main" id="{B0A1D768-F51D-38F3-92B5-117347A548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050" y="591165"/>
            <a:ext cx="10801350" cy="6001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第四章 网络层：数据平面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假定网络中的路由器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的路由表有如下项目（这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列分别表示“目的网络”、“距离”和“下一跳路由器”）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               N1         7           A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               N2         2           C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               N6         8           F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               N8         4           E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               N9         4           F</a:t>
            </a: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现在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收到从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发来的路由信息（这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列分别表示“目的网络”和“距离”）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               N2         4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               N3         8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               N6         4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               N8         3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               N9         5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试求出路由器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更新后的路由表（详细说明每一个步骤）。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33575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/>
          <p:cNvSpPr/>
          <p:nvPr/>
        </p:nvSpPr>
        <p:spPr>
          <a:xfrm>
            <a:off x="1687195" y="142875"/>
            <a:ext cx="1330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rgbClr val="1898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第五章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1898B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739775" y="396240"/>
            <a:ext cx="998855" cy="137795"/>
            <a:chOff x="408225" y="655896"/>
            <a:chExt cx="1080000" cy="251459"/>
          </a:xfrm>
          <a:solidFill>
            <a:schemeClr val="bg1">
              <a:lumMod val="75000"/>
            </a:schemeClr>
          </a:solidFill>
        </p:grpSpPr>
        <p:sp>
          <p:nvSpPr>
            <p:cNvPr id="57" name="矩形: 圆角 44"/>
            <p:cNvSpPr/>
            <p:nvPr/>
          </p:nvSpPr>
          <p:spPr>
            <a:xfrm>
              <a:off x="408225" y="655896"/>
              <a:ext cx="108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8" name="矩形: 圆角 45"/>
            <p:cNvSpPr/>
            <p:nvPr/>
          </p:nvSpPr>
          <p:spPr>
            <a:xfrm>
              <a:off x="408225" y="758766"/>
              <a:ext cx="72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0" name="矩形: 圆角 46"/>
            <p:cNvSpPr/>
            <p:nvPr/>
          </p:nvSpPr>
          <p:spPr>
            <a:xfrm>
              <a:off x="408225" y="861636"/>
              <a:ext cx="36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61" name="矩形 60"/>
          <p:cNvSpPr/>
          <p:nvPr/>
        </p:nvSpPr>
        <p:spPr>
          <a:xfrm>
            <a:off x="654050" y="89535"/>
            <a:ext cx="117157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PART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ONE</a:t>
            </a:r>
          </a:p>
        </p:txBody>
      </p:sp>
      <p:cxnSp>
        <p:nvCxnSpPr>
          <p:cNvPr id="63" name="直接连接符 62"/>
          <p:cNvCxnSpPr/>
          <p:nvPr/>
        </p:nvCxnSpPr>
        <p:spPr>
          <a:xfrm>
            <a:off x="3004466" y="213375"/>
            <a:ext cx="0" cy="25841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14">
            <a:extLst>
              <a:ext uri="{FF2B5EF4-FFF2-40B4-BE49-F238E27FC236}">
                <a16:creationId xmlns:a16="http://schemas.microsoft.com/office/drawing/2014/main" id="{DCFF2CAC-679B-0BF0-9873-39B53FF3A4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050" y="710982"/>
            <a:ext cx="10801350" cy="5447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第五章 网络层：控制平面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路由选择算法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链路状态、距离矢量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因特网中自治系统内部的路由选择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RIP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协议、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OSPF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协议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因特网中自治系统之间的路由选择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BGP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eBGP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iBGP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ICMP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协议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ping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命令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94166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/>
          <p:cNvSpPr/>
          <p:nvPr/>
        </p:nvSpPr>
        <p:spPr>
          <a:xfrm>
            <a:off x="1687195" y="142875"/>
            <a:ext cx="1330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rgbClr val="1898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第五章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1898B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739775" y="396240"/>
            <a:ext cx="998855" cy="137795"/>
            <a:chOff x="408225" y="655896"/>
            <a:chExt cx="1080000" cy="251459"/>
          </a:xfrm>
          <a:solidFill>
            <a:schemeClr val="bg1">
              <a:lumMod val="75000"/>
            </a:schemeClr>
          </a:solidFill>
        </p:grpSpPr>
        <p:sp>
          <p:nvSpPr>
            <p:cNvPr id="57" name="矩形: 圆角 44"/>
            <p:cNvSpPr/>
            <p:nvPr/>
          </p:nvSpPr>
          <p:spPr>
            <a:xfrm>
              <a:off x="408225" y="655896"/>
              <a:ext cx="108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8" name="矩形: 圆角 45"/>
            <p:cNvSpPr/>
            <p:nvPr/>
          </p:nvSpPr>
          <p:spPr>
            <a:xfrm>
              <a:off x="408225" y="758766"/>
              <a:ext cx="72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0" name="矩形: 圆角 46"/>
            <p:cNvSpPr/>
            <p:nvPr/>
          </p:nvSpPr>
          <p:spPr>
            <a:xfrm>
              <a:off x="408225" y="861636"/>
              <a:ext cx="36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61" name="矩形 60"/>
          <p:cNvSpPr/>
          <p:nvPr/>
        </p:nvSpPr>
        <p:spPr>
          <a:xfrm>
            <a:off x="654050" y="89535"/>
            <a:ext cx="117157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PART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ONE</a:t>
            </a:r>
          </a:p>
        </p:txBody>
      </p:sp>
      <p:cxnSp>
        <p:nvCxnSpPr>
          <p:cNvPr id="63" name="直接连接符 62"/>
          <p:cNvCxnSpPr/>
          <p:nvPr/>
        </p:nvCxnSpPr>
        <p:spPr>
          <a:xfrm>
            <a:off x="3004466" y="213375"/>
            <a:ext cx="0" cy="25841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14">
            <a:extLst>
              <a:ext uri="{FF2B5EF4-FFF2-40B4-BE49-F238E27FC236}">
                <a16:creationId xmlns:a16="http://schemas.microsoft.com/office/drawing/2014/main" id="{DCFF2CAC-679B-0BF0-9873-39B53FF3A4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050" y="710982"/>
            <a:ext cx="10801350" cy="2215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第五章 网络层：控制平面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网络管理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网络管理的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大功能、网络管理架构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32548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/>
          <p:cNvSpPr/>
          <p:nvPr/>
        </p:nvSpPr>
        <p:spPr>
          <a:xfrm>
            <a:off x="1687195" y="142875"/>
            <a:ext cx="1330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rgbClr val="1898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第五章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1898B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739775" y="396240"/>
            <a:ext cx="998855" cy="137795"/>
            <a:chOff x="408225" y="655896"/>
            <a:chExt cx="1080000" cy="251459"/>
          </a:xfrm>
          <a:solidFill>
            <a:schemeClr val="bg1">
              <a:lumMod val="75000"/>
            </a:schemeClr>
          </a:solidFill>
        </p:grpSpPr>
        <p:sp>
          <p:nvSpPr>
            <p:cNvPr id="57" name="矩形: 圆角 44"/>
            <p:cNvSpPr/>
            <p:nvPr/>
          </p:nvSpPr>
          <p:spPr>
            <a:xfrm>
              <a:off x="408225" y="655896"/>
              <a:ext cx="108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8" name="矩形: 圆角 45"/>
            <p:cNvSpPr/>
            <p:nvPr/>
          </p:nvSpPr>
          <p:spPr>
            <a:xfrm>
              <a:off x="408225" y="758766"/>
              <a:ext cx="72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0" name="矩形: 圆角 46"/>
            <p:cNvSpPr/>
            <p:nvPr/>
          </p:nvSpPr>
          <p:spPr>
            <a:xfrm>
              <a:off x="408225" y="861636"/>
              <a:ext cx="36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61" name="矩形 60"/>
          <p:cNvSpPr/>
          <p:nvPr/>
        </p:nvSpPr>
        <p:spPr>
          <a:xfrm>
            <a:off x="654050" y="89535"/>
            <a:ext cx="117157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PART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ONE</a:t>
            </a:r>
          </a:p>
        </p:txBody>
      </p:sp>
      <p:cxnSp>
        <p:nvCxnSpPr>
          <p:cNvPr id="63" name="直接连接符 62"/>
          <p:cNvCxnSpPr/>
          <p:nvPr/>
        </p:nvCxnSpPr>
        <p:spPr>
          <a:xfrm>
            <a:off x="3004466" y="213375"/>
            <a:ext cx="0" cy="25841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14">
            <a:extLst>
              <a:ext uri="{FF2B5EF4-FFF2-40B4-BE49-F238E27FC236}">
                <a16:creationId xmlns:a16="http://schemas.microsoft.com/office/drawing/2014/main" id="{DCFF2CAC-679B-0BF0-9873-39B53FF3A4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050" y="710982"/>
            <a:ext cx="10801350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第五章 网络层：控制平面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RIP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协议和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OSPF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协议的工作原理是什么？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在自治系统间的路由中，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eBGP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iBGP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是如何进行协作的？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66076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/>
          <p:cNvSpPr/>
          <p:nvPr/>
        </p:nvSpPr>
        <p:spPr>
          <a:xfrm>
            <a:off x="1687195" y="142875"/>
            <a:ext cx="1330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898B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第五章</a:t>
            </a:r>
          </a:p>
        </p:txBody>
      </p:sp>
      <p:grpSp>
        <p:nvGrpSpPr>
          <p:cNvPr id="54" name="组合 53"/>
          <p:cNvGrpSpPr/>
          <p:nvPr/>
        </p:nvGrpSpPr>
        <p:grpSpPr>
          <a:xfrm>
            <a:off x="739775" y="396240"/>
            <a:ext cx="998855" cy="137795"/>
            <a:chOff x="408225" y="655896"/>
            <a:chExt cx="1080000" cy="251459"/>
          </a:xfrm>
          <a:solidFill>
            <a:schemeClr val="bg1">
              <a:lumMod val="75000"/>
            </a:schemeClr>
          </a:solidFill>
        </p:grpSpPr>
        <p:sp>
          <p:nvSpPr>
            <p:cNvPr id="57" name="矩形: 圆角 44"/>
            <p:cNvSpPr/>
            <p:nvPr/>
          </p:nvSpPr>
          <p:spPr>
            <a:xfrm>
              <a:off x="408225" y="655896"/>
              <a:ext cx="108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8" name="矩形: 圆角 45"/>
            <p:cNvSpPr/>
            <p:nvPr/>
          </p:nvSpPr>
          <p:spPr>
            <a:xfrm>
              <a:off x="408225" y="758766"/>
              <a:ext cx="72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0" name="矩形: 圆角 46"/>
            <p:cNvSpPr/>
            <p:nvPr/>
          </p:nvSpPr>
          <p:spPr>
            <a:xfrm>
              <a:off x="408225" y="861636"/>
              <a:ext cx="36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61" name="矩形 60"/>
          <p:cNvSpPr/>
          <p:nvPr/>
        </p:nvSpPr>
        <p:spPr>
          <a:xfrm>
            <a:off x="654050" y="89535"/>
            <a:ext cx="117157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PART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ONE</a:t>
            </a:r>
          </a:p>
        </p:txBody>
      </p:sp>
      <p:cxnSp>
        <p:nvCxnSpPr>
          <p:cNvPr id="63" name="直接连接符 62"/>
          <p:cNvCxnSpPr/>
          <p:nvPr/>
        </p:nvCxnSpPr>
        <p:spPr>
          <a:xfrm>
            <a:off x="3004466" y="213375"/>
            <a:ext cx="0" cy="25841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14">
            <a:extLst>
              <a:ext uri="{FF2B5EF4-FFF2-40B4-BE49-F238E27FC236}">
                <a16:creationId xmlns:a16="http://schemas.microsoft.com/office/drawing/2014/main" id="{DCFF2CAC-679B-0BF0-9873-39B53FF3A4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050" y="710982"/>
            <a:ext cx="1080135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第五章 网络层：控制平面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77043DA-8CF7-CEA9-9DF3-BCF7F8D2B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287" y="1331729"/>
            <a:ext cx="6058425" cy="453429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322EF8B-9B63-0BF1-313C-AA354889FB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331729"/>
            <a:ext cx="6016319" cy="4433077"/>
          </a:xfrm>
          <a:prstGeom prst="rect">
            <a:avLst/>
          </a:prstGeom>
        </p:spPr>
      </p:pic>
      <p:sp>
        <p:nvSpPr>
          <p:cNvPr id="6" name="文本框 14">
            <a:extLst>
              <a:ext uri="{FF2B5EF4-FFF2-40B4-BE49-F238E27FC236}">
                <a16:creationId xmlns:a16="http://schemas.microsoft.com/office/drawing/2014/main" id="{4DB73EA1-2C1F-7AFE-D02E-5AB53D3839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7937" y="991978"/>
            <a:ext cx="3535183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如何得到最小生成树？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08260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/>
          <p:cNvSpPr/>
          <p:nvPr/>
        </p:nvSpPr>
        <p:spPr>
          <a:xfrm>
            <a:off x="1687195" y="142875"/>
            <a:ext cx="1330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rgbClr val="1898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第五章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1898B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739775" y="396240"/>
            <a:ext cx="998855" cy="137795"/>
            <a:chOff x="408225" y="655896"/>
            <a:chExt cx="1080000" cy="251459"/>
          </a:xfrm>
          <a:solidFill>
            <a:schemeClr val="bg1">
              <a:lumMod val="75000"/>
            </a:schemeClr>
          </a:solidFill>
        </p:grpSpPr>
        <p:sp>
          <p:nvSpPr>
            <p:cNvPr id="57" name="矩形: 圆角 44"/>
            <p:cNvSpPr/>
            <p:nvPr/>
          </p:nvSpPr>
          <p:spPr>
            <a:xfrm>
              <a:off x="408225" y="655896"/>
              <a:ext cx="108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8" name="矩形: 圆角 45"/>
            <p:cNvSpPr/>
            <p:nvPr/>
          </p:nvSpPr>
          <p:spPr>
            <a:xfrm>
              <a:off x="408225" y="758766"/>
              <a:ext cx="72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0" name="矩形: 圆角 46"/>
            <p:cNvSpPr/>
            <p:nvPr/>
          </p:nvSpPr>
          <p:spPr>
            <a:xfrm>
              <a:off x="408225" y="861636"/>
              <a:ext cx="36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61" name="矩形 60"/>
          <p:cNvSpPr/>
          <p:nvPr/>
        </p:nvSpPr>
        <p:spPr>
          <a:xfrm>
            <a:off x="654050" y="89535"/>
            <a:ext cx="117157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PART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ONE</a:t>
            </a:r>
          </a:p>
        </p:txBody>
      </p:sp>
      <p:cxnSp>
        <p:nvCxnSpPr>
          <p:cNvPr id="63" name="直接连接符 62"/>
          <p:cNvCxnSpPr/>
          <p:nvPr/>
        </p:nvCxnSpPr>
        <p:spPr>
          <a:xfrm>
            <a:off x="3004466" y="213375"/>
            <a:ext cx="0" cy="25841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14">
            <a:extLst>
              <a:ext uri="{FF2B5EF4-FFF2-40B4-BE49-F238E27FC236}">
                <a16:creationId xmlns:a16="http://schemas.microsoft.com/office/drawing/2014/main" id="{DCFF2CAC-679B-0BF0-9873-39B53FF3A4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050" y="710982"/>
            <a:ext cx="1080135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第五章 网络层：控制平面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B746289-A9E7-DC2D-DFC5-C9D9050214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4026" y="1399765"/>
            <a:ext cx="6317974" cy="405847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46E8280-B548-7862-9BE5-9730B653EE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50" y="1436572"/>
            <a:ext cx="5844000" cy="3984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0046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7334B-30C1-9745-1173-901640862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>
            <a:extLst>
              <a:ext uri="{FF2B5EF4-FFF2-40B4-BE49-F238E27FC236}">
                <a16:creationId xmlns:a16="http://schemas.microsoft.com/office/drawing/2014/main" id="{0E2E990E-081D-9B0C-93DA-F7DEB407035D}"/>
              </a:ext>
            </a:extLst>
          </p:cNvPr>
          <p:cNvSpPr/>
          <p:nvPr/>
        </p:nvSpPr>
        <p:spPr>
          <a:xfrm>
            <a:off x="1687195" y="142875"/>
            <a:ext cx="1330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rgbClr val="1898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第四章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1898B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87352EFB-C771-A180-4FF7-0C251DE437EF}"/>
              </a:ext>
            </a:extLst>
          </p:cNvPr>
          <p:cNvGrpSpPr/>
          <p:nvPr/>
        </p:nvGrpSpPr>
        <p:grpSpPr>
          <a:xfrm>
            <a:off x="739775" y="396240"/>
            <a:ext cx="998855" cy="137795"/>
            <a:chOff x="408225" y="655896"/>
            <a:chExt cx="1080000" cy="251459"/>
          </a:xfrm>
          <a:solidFill>
            <a:schemeClr val="bg1">
              <a:lumMod val="75000"/>
            </a:schemeClr>
          </a:solidFill>
        </p:grpSpPr>
        <p:sp>
          <p:nvSpPr>
            <p:cNvPr id="57" name="矩形: 圆角 44">
              <a:extLst>
                <a:ext uri="{FF2B5EF4-FFF2-40B4-BE49-F238E27FC236}">
                  <a16:creationId xmlns:a16="http://schemas.microsoft.com/office/drawing/2014/main" id="{4ADCF2F5-A588-30D5-8E2F-D8DE0E4386A9}"/>
                </a:ext>
              </a:extLst>
            </p:cNvPr>
            <p:cNvSpPr/>
            <p:nvPr/>
          </p:nvSpPr>
          <p:spPr>
            <a:xfrm>
              <a:off x="408225" y="655896"/>
              <a:ext cx="108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8" name="矩形: 圆角 45">
              <a:extLst>
                <a:ext uri="{FF2B5EF4-FFF2-40B4-BE49-F238E27FC236}">
                  <a16:creationId xmlns:a16="http://schemas.microsoft.com/office/drawing/2014/main" id="{EEC4E87F-BA93-1F36-7A88-6201BEFAAB86}"/>
                </a:ext>
              </a:extLst>
            </p:cNvPr>
            <p:cNvSpPr/>
            <p:nvPr/>
          </p:nvSpPr>
          <p:spPr>
            <a:xfrm>
              <a:off x="408225" y="758766"/>
              <a:ext cx="72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0" name="矩形: 圆角 46">
              <a:extLst>
                <a:ext uri="{FF2B5EF4-FFF2-40B4-BE49-F238E27FC236}">
                  <a16:creationId xmlns:a16="http://schemas.microsoft.com/office/drawing/2014/main" id="{2D7FAC84-01A3-32B0-C48F-178150508F24}"/>
                </a:ext>
              </a:extLst>
            </p:cNvPr>
            <p:cNvSpPr/>
            <p:nvPr/>
          </p:nvSpPr>
          <p:spPr>
            <a:xfrm>
              <a:off x="408225" y="861636"/>
              <a:ext cx="36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61" name="矩形 60">
            <a:extLst>
              <a:ext uri="{FF2B5EF4-FFF2-40B4-BE49-F238E27FC236}">
                <a16:creationId xmlns:a16="http://schemas.microsoft.com/office/drawing/2014/main" id="{D2F43846-215F-8007-8513-882FCEDBD5DD}"/>
              </a:ext>
            </a:extLst>
          </p:cNvPr>
          <p:cNvSpPr/>
          <p:nvPr/>
        </p:nvSpPr>
        <p:spPr>
          <a:xfrm>
            <a:off x="654050" y="89535"/>
            <a:ext cx="117157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PART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ONE</a:t>
            </a:r>
          </a:p>
        </p:txBody>
      </p: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51355BCA-3BD0-D8E3-9F29-A7CAC46867DF}"/>
              </a:ext>
            </a:extLst>
          </p:cNvPr>
          <p:cNvCxnSpPr/>
          <p:nvPr/>
        </p:nvCxnSpPr>
        <p:spPr>
          <a:xfrm>
            <a:off x="3004466" y="213375"/>
            <a:ext cx="0" cy="25841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4">
            <a:extLst>
              <a:ext uri="{FF2B5EF4-FFF2-40B4-BE49-F238E27FC236}">
                <a16:creationId xmlns:a16="http://schemas.microsoft.com/office/drawing/2014/main" id="{B89D24CD-129F-EBE4-71E0-8EF6A47CE0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050" y="750738"/>
            <a:ext cx="10801350" cy="4708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第五章 网络层：控制平面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2023-2024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第二学期考试真题，综合题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zh-CN" altLang="zh-CN" dirty="0"/>
              <a:t>在网络的节点传递数据包时，数据包经过路由器的转发前进到达目的地。一般情况下，路由器转发的次数越多，其数据传输成本越高，因此在工程设计时，尽量设计转发次数少的路径作为最佳路径，以达到节省费用的效果。以下由</a:t>
            </a:r>
            <a:r>
              <a:rPr lang="en-US" altLang="zh-CN" dirty="0"/>
              <a:t>6</a:t>
            </a:r>
            <a:r>
              <a:rPr lang="zh-CN" altLang="zh-CN" dirty="0"/>
              <a:t>台路由器构成的网状拓扑图。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zh-CN" dirty="0"/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027" name="图片 1" descr="图示&#10;&#10;描述已自动生成">
            <a:extLst>
              <a:ext uri="{FF2B5EF4-FFF2-40B4-BE49-F238E27FC236}">
                <a16:creationId xmlns:a16="http://schemas.microsoft.com/office/drawing/2014/main" id="{964C0A4F-9912-9722-61E0-2674C6447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4700" y="3126929"/>
            <a:ext cx="4867275" cy="2972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28332125-ED5A-1C85-BF92-748774F275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3228975"/>
            <a:ext cx="6797675" cy="704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2289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/>
          <p:cNvSpPr/>
          <p:nvPr/>
        </p:nvSpPr>
        <p:spPr>
          <a:xfrm>
            <a:off x="1687195" y="142875"/>
            <a:ext cx="1330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rgbClr val="1898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1898B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739775" y="396240"/>
            <a:ext cx="998855" cy="137795"/>
            <a:chOff x="408225" y="655896"/>
            <a:chExt cx="1080000" cy="251459"/>
          </a:xfrm>
          <a:solidFill>
            <a:schemeClr val="bg1">
              <a:lumMod val="75000"/>
            </a:schemeClr>
          </a:solidFill>
        </p:grpSpPr>
        <p:sp>
          <p:nvSpPr>
            <p:cNvPr id="57" name="矩形: 圆角 44"/>
            <p:cNvSpPr/>
            <p:nvPr/>
          </p:nvSpPr>
          <p:spPr>
            <a:xfrm>
              <a:off x="408225" y="655896"/>
              <a:ext cx="108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8" name="矩形: 圆角 45"/>
            <p:cNvSpPr/>
            <p:nvPr/>
          </p:nvSpPr>
          <p:spPr>
            <a:xfrm>
              <a:off x="408225" y="758766"/>
              <a:ext cx="72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0" name="矩形: 圆角 46"/>
            <p:cNvSpPr/>
            <p:nvPr/>
          </p:nvSpPr>
          <p:spPr>
            <a:xfrm>
              <a:off x="408225" y="861636"/>
              <a:ext cx="36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61" name="矩形 60"/>
          <p:cNvSpPr/>
          <p:nvPr/>
        </p:nvSpPr>
        <p:spPr>
          <a:xfrm>
            <a:off x="654050" y="89535"/>
            <a:ext cx="117157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PART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ONE</a:t>
            </a:r>
          </a:p>
        </p:txBody>
      </p:sp>
      <p:cxnSp>
        <p:nvCxnSpPr>
          <p:cNvPr id="63" name="直接连接符 62"/>
          <p:cNvCxnSpPr/>
          <p:nvPr/>
        </p:nvCxnSpPr>
        <p:spPr>
          <a:xfrm>
            <a:off x="3004466" y="213375"/>
            <a:ext cx="0" cy="25841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14">
            <a:extLst>
              <a:ext uri="{FF2B5EF4-FFF2-40B4-BE49-F238E27FC236}">
                <a16:creationId xmlns:a16="http://schemas.microsoft.com/office/drawing/2014/main" id="{DCFF2CAC-679B-0BF0-9873-39B53FF3A4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050" y="710982"/>
            <a:ext cx="10801350" cy="5539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第六章 链路层和局域网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概述和链路层服务（点到点）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点到点连接，多点连接（共享型介质、通过交换机）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检错与纠错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奇偶校验，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CRC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校验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共享广播信道：多点接入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MAC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信道划分（时间、频率、编码），随机访问（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ALOHA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、时隙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ALOHA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CSMA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CSMA/CD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CSMA/CA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）、乱序等，检验和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以太网（无连接、不可靠的服务）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以太网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CSMA/CD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算法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集线器，交换机（级联）和路由器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流水线协议，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SW&gt;1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RW=1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GBN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）；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SW&gt;1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SW&gt;1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1338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/>
          <p:cNvSpPr/>
          <p:nvPr/>
        </p:nvSpPr>
        <p:spPr>
          <a:xfrm>
            <a:off x="1687195" y="142875"/>
            <a:ext cx="1330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898B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第六章</a:t>
            </a:r>
          </a:p>
        </p:txBody>
      </p:sp>
      <p:grpSp>
        <p:nvGrpSpPr>
          <p:cNvPr id="54" name="组合 53"/>
          <p:cNvGrpSpPr/>
          <p:nvPr/>
        </p:nvGrpSpPr>
        <p:grpSpPr>
          <a:xfrm>
            <a:off x="739775" y="396240"/>
            <a:ext cx="998855" cy="137795"/>
            <a:chOff x="408225" y="655896"/>
            <a:chExt cx="1080000" cy="251459"/>
          </a:xfrm>
          <a:solidFill>
            <a:schemeClr val="bg1">
              <a:lumMod val="75000"/>
            </a:schemeClr>
          </a:solidFill>
        </p:grpSpPr>
        <p:sp>
          <p:nvSpPr>
            <p:cNvPr id="57" name="矩形: 圆角 44"/>
            <p:cNvSpPr/>
            <p:nvPr/>
          </p:nvSpPr>
          <p:spPr>
            <a:xfrm>
              <a:off x="408225" y="655896"/>
              <a:ext cx="108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8" name="矩形: 圆角 45"/>
            <p:cNvSpPr/>
            <p:nvPr/>
          </p:nvSpPr>
          <p:spPr>
            <a:xfrm>
              <a:off x="408225" y="758766"/>
              <a:ext cx="72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0" name="矩形: 圆角 46"/>
            <p:cNvSpPr/>
            <p:nvPr/>
          </p:nvSpPr>
          <p:spPr>
            <a:xfrm>
              <a:off x="408225" y="861636"/>
              <a:ext cx="36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61" name="矩形 60"/>
          <p:cNvSpPr/>
          <p:nvPr/>
        </p:nvSpPr>
        <p:spPr>
          <a:xfrm>
            <a:off x="654050" y="89535"/>
            <a:ext cx="117157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PART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ONE</a:t>
            </a:r>
          </a:p>
        </p:txBody>
      </p:sp>
      <p:cxnSp>
        <p:nvCxnSpPr>
          <p:cNvPr id="63" name="直接连接符 62"/>
          <p:cNvCxnSpPr/>
          <p:nvPr/>
        </p:nvCxnSpPr>
        <p:spPr>
          <a:xfrm>
            <a:off x="3004466" y="213375"/>
            <a:ext cx="0" cy="25841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14">
            <a:extLst>
              <a:ext uri="{FF2B5EF4-FFF2-40B4-BE49-F238E27FC236}">
                <a16:creationId xmlns:a16="http://schemas.microsoft.com/office/drawing/2014/main" id="{DCFF2CAC-679B-0BF0-9873-39B53FF3A4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050" y="710982"/>
            <a:ext cx="10801350" cy="5816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第六章 链路层和局域网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CRC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校验的原理是什么？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如何进行计算？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不同多点接入方式的区别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是什么？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如何理解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地址和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MAC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地址？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交换机的交换表是如何通过自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学习的方式获得的？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D0333A8-F97C-0173-895C-2DEF0CB51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9715" y="1398367"/>
            <a:ext cx="6439458" cy="437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6698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/>
          <p:cNvSpPr/>
          <p:nvPr/>
        </p:nvSpPr>
        <p:spPr>
          <a:xfrm>
            <a:off x="1687195" y="142875"/>
            <a:ext cx="1330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898B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第六章</a:t>
            </a:r>
          </a:p>
        </p:txBody>
      </p:sp>
      <p:grpSp>
        <p:nvGrpSpPr>
          <p:cNvPr id="54" name="组合 53"/>
          <p:cNvGrpSpPr/>
          <p:nvPr/>
        </p:nvGrpSpPr>
        <p:grpSpPr>
          <a:xfrm>
            <a:off x="739775" y="396240"/>
            <a:ext cx="998855" cy="137795"/>
            <a:chOff x="408225" y="655896"/>
            <a:chExt cx="1080000" cy="251459"/>
          </a:xfrm>
          <a:solidFill>
            <a:schemeClr val="bg1">
              <a:lumMod val="75000"/>
            </a:schemeClr>
          </a:solidFill>
        </p:grpSpPr>
        <p:sp>
          <p:nvSpPr>
            <p:cNvPr id="57" name="矩形: 圆角 44"/>
            <p:cNvSpPr/>
            <p:nvPr/>
          </p:nvSpPr>
          <p:spPr>
            <a:xfrm>
              <a:off x="408225" y="655896"/>
              <a:ext cx="108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8" name="矩形: 圆角 45"/>
            <p:cNvSpPr/>
            <p:nvPr/>
          </p:nvSpPr>
          <p:spPr>
            <a:xfrm>
              <a:off x="408225" y="758766"/>
              <a:ext cx="72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0" name="矩形: 圆角 46"/>
            <p:cNvSpPr/>
            <p:nvPr/>
          </p:nvSpPr>
          <p:spPr>
            <a:xfrm>
              <a:off x="408225" y="861636"/>
              <a:ext cx="36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61" name="矩形 60"/>
          <p:cNvSpPr/>
          <p:nvPr/>
        </p:nvSpPr>
        <p:spPr>
          <a:xfrm>
            <a:off x="654050" y="89535"/>
            <a:ext cx="117157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PART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ONE</a:t>
            </a:r>
          </a:p>
        </p:txBody>
      </p:sp>
      <p:cxnSp>
        <p:nvCxnSpPr>
          <p:cNvPr id="63" name="直接连接符 62"/>
          <p:cNvCxnSpPr/>
          <p:nvPr/>
        </p:nvCxnSpPr>
        <p:spPr>
          <a:xfrm>
            <a:off x="3004466" y="213375"/>
            <a:ext cx="0" cy="25841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4">
            <a:extLst>
              <a:ext uri="{FF2B5EF4-FFF2-40B4-BE49-F238E27FC236}">
                <a16:creationId xmlns:a16="http://schemas.microsoft.com/office/drawing/2014/main" id="{B0A1D768-F51D-38F3-92B5-117347A548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050" y="750738"/>
            <a:ext cx="10801350" cy="5632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第六章 链路层和局域网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ARP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的解析请求会被封装到广播帧中，在链路层中是如何根据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MAC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地址进行工作的？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CSMA/CD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协议的工作原理是什么？</a:t>
            </a:r>
            <a:r>
              <a:rPr lang="zh-CN" altLang="en-US" sz="2400" i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计算过程</a:t>
            </a:r>
            <a:endParaRPr lang="en-US" altLang="zh-CN" sz="2400" i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CSMA/CA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协议的工作原理是什么？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/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/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为什么以太网提供的是无连接、不可靠的服务？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/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7368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/>
          <p:cNvSpPr/>
          <p:nvPr/>
        </p:nvSpPr>
        <p:spPr>
          <a:xfrm>
            <a:off x="1687195" y="142875"/>
            <a:ext cx="1330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rgbClr val="1898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1898B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739775" y="396240"/>
            <a:ext cx="998855" cy="137795"/>
            <a:chOff x="408225" y="655896"/>
            <a:chExt cx="1080000" cy="251459"/>
          </a:xfrm>
          <a:solidFill>
            <a:schemeClr val="bg1">
              <a:lumMod val="75000"/>
            </a:schemeClr>
          </a:solidFill>
        </p:grpSpPr>
        <p:sp>
          <p:nvSpPr>
            <p:cNvPr id="57" name="矩形: 圆角 44"/>
            <p:cNvSpPr/>
            <p:nvPr/>
          </p:nvSpPr>
          <p:spPr>
            <a:xfrm>
              <a:off x="408225" y="655896"/>
              <a:ext cx="108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8" name="矩形: 圆角 45"/>
            <p:cNvSpPr/>
            <p:nvPr/>
          </p:nvSpPr>
          <p:spPr>
            <a:xfrm>
              <a:off x="408225" y="758766"/>
              <a:ext cx="72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0" name="矩形: 圆角 46"/>
            <p:cNvSpPr/>
            <p:nvPr/>
          </p:nvSpPr>
          <p:spPr>
            <a:xfrm>
              <a:off x="408225" y="861636"/>
              <a:ext cx="360000" cy="4571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C569A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61" name="矩形 60"/>
          <p:cNvSpPr/>
          <p:nvPr/>
        </p:nvSpPr>
        <p:spPr>
          <a:xfrm>
            <a:off x="654050" y="89535"/>
            <a:ext cx="117157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PART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ONE</a:t>
            </a:r>
          </a:p>
        </p:txBody>
      </p:sp>
      <p:cxnSp>
        <p:nvCxnSpPr>
          <p:cNvPr id="63" name="直接连接符 62"/>
          <p:cNvCxnSpPr/>
          <p:nvPr/>
        </p:nvCxnSpPr>
        <p:spPr>
          <a:xfrm>
            <a:off x="3004466" y="213375"/>
            <a:ext cx="0" cy="25841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4">
            <a:extLst>
              <a:ext uri="{FF2B5EF4-FFF2-40B4-BE49-F238E27FC236}">
                <a16:creationId xmlns:a16="http://schemas.microsoft.com/office/drawing/2014/main" id="{B0A1D768-F51D-38F3-92B5-117347A548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050" y="750738"/>
            <a:ext cx="10801350" cy="415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第六章 链路层和局域网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VLAN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是什么？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MPLS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是什么？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为什么说防火墙是一种有效的访问控制技术？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/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70711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mQ5OTNjZGRkNDZjNTBkYzkyNDM2OWY1ZGNmZWNlNjIifQ=="/>
  <p:tag name="KSO_WPP_MARK_KEY" val="b8dc9c91-14c7-4550-9083-f1e65456bb0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122,&quot;width&quot;:2659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122,&quot;width&quot;:2659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设计专用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1">
              <a:lumMod val="5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设计专用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1">
              <a:lumMod val="5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定义设计方案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28823</TotalTime>
  <Words>2885</Words>
  <Application>Microsoft Office PowerPoint</Application>
  <PresentationFormat>宽屏</PresentationFormat>
  <Paragraphs>473</Paragraphs>
  <Slides>35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35</vt:i4>
      </vt:variant>
    </vt:vector>
  </HeadingPairs>
  <TitlesOfParts>
    <vt:vector size="46" baseType="lpstr">
      <vt:lpstr>Wingdings</vt:lpstr>
      <vt:lpstr>方正公文小标宋</vt:lpstr>
      <vt:lpstr>微软雅黑</vt:lpstr>
      <vt:lpstr>等线</vt:lpstr>
      <vt:lpstr>Arial</vt:lpstr>
      <vt:lpstr>Times New Roman</vt:lpstr>
      <vt:lpstr>宋体</vt:lpstr>
      <vt:lpstr>Calibri</vt:lpstr>
      <vt:lpstr>Office 主题​​</vt:lpstr>
      <vt:lpstr>1_Office 主题​​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汝德 杨</dc:creator>
  <cp:lastModifiedBy>a81194</cp:lastModifiedBy>
  <cp:revision>471</cp:revision>
  <dcterms:created xsi:type="dcterms:W3CDTF">2022-07-19T11:49:16Z</dcterms:created>
  <dcterms:modified xsi:type="dcterms:W3CDTF">2025-06-09T07:57:59Z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FCEFE73E9A2B62F05784D662398104DE</vt:lpwstr>
  </property>
  <property fmtid="{D5CDD505-2E9C-101B-9397-08002B2CF9AE}" pid="3" name="KSOProductBuildVer">
    <vt:lpwstr>2052-4.4.1.7360</vt:lpwstr>
  </property>
</Properties>
</file>