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2.svg" ContentType="image/svg+xml"/>
  <Override PartName="/ppt/media/image25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8288000" cy="10287000"/>
  <p:notesSz cx="6858000" cy="9144000"/>
  <p:embeddedFontLst>
    <p:embeddedFont>
      <p:font typeface="字由点字倔强黑" panose="00020600040101010101" charset="-122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6.png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image" Target="../media/image13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7.xml"/><Relationship Id="rId10" Type="http://schemas.openxmlformats.org/officeDocument/2006/relationships/hyperlink" Target="https://link.zhihu.com/?target=https%3A//en.wikipedia.org/wiki/Jargon_File" TargetMode="Externa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svg"/><Relationship Id="rId7" Type="http://schemas.openxmlformats.org/officeDocument/2006/relationships/image" Target="../media/image5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9.jpe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1.jpeg"/><Relationship Id="rId7" Type="http://schemas.openxmlformats.org/officeDocument/2006/relationships/image" Target="../media/image20.jpe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12.png"/><Relationship Id="rId4" Type="http://schemas.openxmlformats.org/officeDocument/2006/relationships/image" Target="../media/image10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2.png"/><Relationship Id="rId7" Type="http://schemas.openxmlformats.org/officeDocument/2006/relationships/image" Target="../media/image1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8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1036" y="1223394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382131" y="357555"/>
            <a:ext cx="4332673" cy="2371154"/>
          </a:xfrm>
          <a:custGeom>
            <a:avLst/>
            <a:gdLst/>
            <a:ahLst/>
            <a:cxnLst/>
            <a:rect l="l" t="t" r="r" b="b"/>
            <a:pathLst>
              <a:path w="4332673" h="2371154">
                <a:moveTo>
                  <a:pt x="0" y="0"/>
                </a:moveTo>
                <a:lnTo>
                  <a:pt x="4332674" y="0"/>
                </a:lnTo>
                <a:lnTo>
                  <a:pt x="4332674" y="2371154"/>
                </a:lnTo>
                <a:lnTo>
                  <a:pt x="0" y="23711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34826" y="6797097"/>
            <a:ext cx="3539556" cy="3489903"/>
          </a:xfrm>
          <a:custGeom>
            <a:avLst/>
            <a:gdLst/>
            <a:ahLst/>
            <a:cxnLst/>
            <a:rect l="l" t="t" r="r" b="b"/>
            <a:pathLst>
              <a:path w="3539556" h="3489903">
                <a:moveTo>
                  <a:pt x="0" y="0"/>
                </a:moveTo>
                <a:lnTo>
                  <a:pt x="3539556" y="0"/>
                </a:lnTo>
                <a:lnTo>
                  <a:pt x="3539556" y="3489903"/>
                </a:lnTo>
                <a:lnTo>
                  <a:pt x="0" y="348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41913" y="3701241"/>
            <a:ext cx="14004174" cy="217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0"/>
              </a:lnSpc>
              <a:spcBef>
                <a:spcPct val="0"/>
              </a:spcBef>
            </a:pPr>
            <a:r>
              <a:rPr lang="en-US" sz="12640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科学导论分享</a:t>
            </a:r>
            <a:endParaRPr lang="en-US" sz="12640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578401" y="2108854"/>
            <a:ext cx="11131198" cy="1902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580"/>
              </a:lnSpc>
              <a:spcBef>
                <a:spcPct val="0"/>
              </a:spcBef>
            </a:pPr>
            <a:r>
              <a:rPr lang="en-US" sz="11125">
                <a:solidFill>
                  <a:srgbClr val="FFAAEE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软件工程</a:t>
            </a:r>
            <a:endParaRPr lang="en-US" sz="11125">
              <a:solidFill>
                <a:srgbClr val="FFAAEE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 rot="-5400000">
            <a:off x="9314972" y="87562"/>
            <a:ext cx="318134" cy="1188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spc="426">
                <a:solidFill>
                  <a:srgbClr val="000000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INTRODUCTION TO THE SCIENCE OF SOFTWARE ENGINEERING</a:t>
            </a:r>
            <a:endParaRPr lang="en-US" sz="2100" spc="426">
              <a:solidFill>
                <a:srgbClr val="000000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6648381" y="7125510"/>
            <a:ext cx="4991238" cy="1040205"/>
            <a:chOff x="0" y="0"/>
            <a:chExt cx="6654983" cy="1386940"/>
          </a:xfrm>
        </p:grpSpPr>
        <p:sp>
          <p:nvSpPr>
            <p:cNvPr id="11" name="Freeform 11"/>
            <p:cNvSpPr/>
            <p:nvPr/>
          </p:nvSpPr>
          <p:spPr>
            <a:xfrm>
              <a:off x="488103" y="0"/>
              <a:ext cx="5678777" cy="1375648"/>
            </a:xfrm>
            <a:custGeom>
              <a:avLst/>
              <a:gdLst/>
              <a:ahLst/>
              <a:cxnLst/>
              <a:rect l="l" t="t" r="r" b="b"/>
              <a:pathLst>
                <a:path w="5678777" h="1375648">
                  <a:moveTo>
                    <a:pt x="0" y="0"/>
                  </a:moveTo>
                  <a:lnTo>
                    <a:pt x="5678777" y="0"/>
                  </a:lnTo>
                  <a:lnTo>
                    <a:pt x="5678777" y="1375648"/>
                  </a:lnTo>
                  <a:lnTo>
                    <a:pt x="0" y="137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11292"/>
              <a:ext cx="488103" cy="1375648"/>
            </a:xfrm>
            <a:custGeom>
              <a:avLst/>
              <a:gdLst/>
              <a:ahLst/>
              <a:cxnLst/>
              <a:rect l="l" t="t" r="r" b="b"/>
              <a:pathLst>
                <a:path w="488103" h="1375648">
                  <a:moveTo>
                    <a:pt x="0" y="0"/>
                  </a:moveTo>
                  <a:lnTo>
                    <a:pt x="488103" y="0"/>
                  </a:lnTo>
                  <a:lnTo>
                    <a:pt x="488103" y="1375648"/>
                  </a:lnTo>
                  <a:lnTo>
                    <a:pt x="0" y="137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13" name="Freeform 13"/>
            <p:cNvSpPr/>
            <p:nvPr/>
          </p:nvSpPr>
          <p:spPr>
            <a:xfrm flipH="1">
              <a:off x="6166880" y="11292"/>
              <a:ext cx="488103" cy="1375648"/>
            </a:xfrm>
            <a:custGeom>
              <a:avLst/>
              <a:gdLst/>
              <a:ahLst/>
              <a:cxnLst/>
              <a:rect l="l" t="t" r="r" b="b"/>
              <a:pathLst>
                <a:path w="488103" h="1375648">
                  <a:moveTo>
                    <a:pt x="488103" y="0"/>
                  </a:moveTo>
                  <a:lnTo>
                    <a:pt x="0" y="0"/>
                  </a:lnTo>
                  <a:lnTo>
                    <a:pt x="0" y="1375648"/>
                  </a:lnTo>
                  <a:lnTo>
                    <a:pt x="488103" y="1375648"/>
                  </a:lnTo>
                  <a:lnTo>
                    <a:pt x="488103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6920250" y="7235096"/>
            <a:ext cx="4447501" cy="73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5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演讲人：杜佳颖</a:t>
            </a:r>
            <a:endParaRPr lang="en-US" sz="425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5" name="Group 15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16" name="Group 16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21" name="Group 21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25" name="Freeform 25"/>
          <p:cNvSpPr/>
          <p:nvPr/>
        </p:nvSpPr>
        <p:spPr>
          <a:xfrm>
            <a:off x="1063559" y="5871757"/>
            <a:ext cx="2590191" cy="3265148"/>
          </a:xfrm>
          <a:custGeom>
            <a:avLst/>
            <a:gdLst/>
            <a:ahLst/>
            <a:cxnLst/>
            <a:rect l="l" t="t" r="r" b="b"/>
            <a:pathLst>
              <a:path w="2590191" h="3265148">
                <a:moveTo>
                  <a:pt x="0" y="0"/>
                </a:moveTo>
                <a:lnTo>
                  <a:pt x="2590191" y="0"/>
                </a:lnTo>
                <a:lnTo>
                  <a:pt x="2590191" y="3265148"/>
                </a:lnTo>
                <a:lnTo>
                  <a:pt x="0" y="32651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1036" y="1223394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49210" y="419445"/>
            <a:ext cx="3788578" cy="2073385"/>
          </a:xfrm>
          <a:custGeom>
            <a:avLst/>
            <a:gdLst/>
            <a:ahLst/>
            <a:cxnLst/>
            <a:rect l="l" t="t" r="r" b="b"/>
            <a:pathLst>
              <a:path w="3788578" h="2073385">
                <a:moveTo>
                  <a:pt x="0" y="0"/>
                </a:moveTo>
                <a:lnTo>
                  <a:pt x="3788578" y="0"/>
                </a:lnTo>
                <a:lnTo>
                  <a:pt x="3788578" y="2073385"/>
                </a:lnTo>
                <a:lnTo>
                  <a:pt x="0" y="207338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61819" y="7218945"/>
            <a:ext cx="3048936" cy="3006166"/>
          </a:xfrm>
          <a:custGeom>
            <a:avLst/>
            <a:gdLst/>
            <a:ahLst/>
            <a:cxnLst/>
            <a:rect l="l" t="t" r="r" b="b"/>
            <a:pathLst>
              <a:path w="3048936" h="3006166">
                <a:moveTo>
                  <a:pt x="0" y="0"/>
                </a:moveTo>
                <a:lnTo>
                  <a:pt x="3048937" y="0"/>
                </a:lnTo>
                <a:lnTo>
                  <a:pt x="3048937" y="3006166"/>
                </a:lnTo>
                <a:lnTo>
                  <a:pt x="0" y="3006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12594" y="1688933"/>
            <a:ext cx="3862811" cy="177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95"/>
              </a:lnSpc>
              <a:spcBef>
                <a:spcPct val="0"/>
              </a:spcBef>
            </a:pPr>
            <a:r>
              <a:rPr lang="en-US" sz="1035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目录</a:t>
            </a:r>
            <a:endParaRPr lang="en-US" sz="1035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 rot="-5400000">
            <a:off x="8855247" y="1583721"/>
            <a:ext cx="501306" cy="4304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spc="670">
                <a:solidFill>
                  <a:srgbClr val="000000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CONTENTS</a:t>
            </a:r>
            <a:endParaRPr lang="en-US" sz="3300" spc="670">
              <a:solidFill>
                <a:srgbClr val="000000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15" name="Group 15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8521" y="5997040"/>
            <a:ext cx="2482623" cy="3129550"/>
          </a:xfrm>
          <a:custGeom>
            <a:avLst/>
            <a:gdLst/>
            <a:ahLst/>
            <a:cxnLst/>
            <a:rect l="l" t="t" r="r" b="b"/>
            <a:pathLst>
              <a:path w="2482623" h="3129550">
                <a:moveTo>
                  <a:pt x="0" y="0"/>
                </a:moveTo>
                <a:lnTo>
                  <a:pt x="2482623" y="0"/>
                </a:lnTo>
                <a:lnTo>
                  <a:pt x="2482623" y="3129550"/>
                </a:lnTo>
                <a:lnTo>
                  <a:pt x="0" y="3129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3444999" y="4749086"/>
            <a:ext cx="4546390" cy="947496"/>
            <a:chOff x="0" y="0"/>
            <a:chExt cx="6061853" cy="1263328"/>
          </a:xfrm>
        </p:grpSpPr>
        <p:sp>
          <p:nvSpPr>
            <p:cNvPr id="21" name="Freeform 21"/>
            <p:cNvSpPr/>
            <p:nvPr/>
          </p:nvSpPr>
          <p:spPr>
            <a:xfrm>
              <a:off x="444601" y="0"/>
              <a:ext cx="5172651" cy="1253042"/>
            </a:xfrm>
            <a:custGeom>
              <a:avLst/>
              <a:gdLst/>
              <a:ahLst/>
              <a:cxnLst/>
              <a:rect l="l" t="t" r="r" b="b"/>
              <a:pathLst>
                <a:path w="5172651" h="1253042">
                  <a:moveTo>
                    <a:pt x="0" y="0"/>
                  </a:moveTo>
                  <a:lnTo>
                    <a:pt x="5172651" y="0"/>
                  </a:lnTo>
                  <a:lnTo>
                    <a:pt x="517265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0" y="0"/>
                  </a:moveTo>
                  <a:lnTo>
                    <a:pt x="444601" y="0"/>
                  </a:lnTo>
                  <a:lnTo>
                    <a:pt x="44460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 flipH="1">
              <a:off x="5617252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444601" y="0"/>
                  </a:moveTo>
                  <a:lnTo>
                    <a:pt x="0" y="0"/>
                  </a:lnTo>
                  <a:lnTo>
                    <a:pt x="0" y="1253042"/>
                  </a:lnTo>
                  <a:lnTo>
                    <a:pt x="444601" y="1253042"/>
                  </a:lnTo>
                  <a:lnTo>
                    <a:pt x="44460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0296612" y="4749086"/>
            <a:ext cx="4546390" cy="947496"/>
            <a:chOff x="0" y="0"/>
            <a:chExt cx="6061853" cy="1263328"/>
          </a:xfrm>
        </p:grpSpPr>
        <p:sp>
          <p:nvSpPr>
            <p:cNvPr id="25" name="Freeform 25"/>
            <p:cNvSpPr/>
            <p:nvPr/>
          </p:nvSpPr>
          <p:spPr>
            <a:xfrm>
              <a:off x="444601" y="0"/>
              <a:ext cx="5172651" cy="1253042"/>
            </a:xfrm>
            <a:custGeom>
              <a:avLst/>
              <a:gdLst/>
              <a:ahLst/>
              <a:cxnLst/>
              <a:rect l="l" t="t" r="r" b="b"/>
              <a:pathLst>
                <a:path w="5172651" h="1253042">
                  <a:moveTo>
                    <a:pt x="0" y="0"/>
                  </a:moveTo>
                  <a:lnTo>
                    <a:pt x="5172651" y="0"/>
                  </a:lnTo>
                  <a:lnTo>
                    <a:pt x="517265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373" r="-12596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6" name="Freeform 26"/>
            <p:cNvSpPr/>
            <p:nvPr/>
          </p:nvSpPr>
          <p:spPr>
            <a:xfrm>
              <a:off x="0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0" y="0"/>
                  </a:moveTo>
                  <a:lnTo>
                    <a:pt x="444601" y="0"/>
                  </a:lnTo>
                  <a:lnTo>
                    <a:pt x="44460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7" name="Freeform 27"/>
            <p:cNvSpPr/>
            <p:nvPr/>
          </p:nvSpPr>
          <p:spPr>
            <a:xfrm flipH="1">
              <a:off x="5617252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444601" y="0"/>
                  </a:moveTo>
                  <a:lnTo>
                    <a:pt x="0" y="0"/>
                  </a:lnTo>
                  <a:lnTo>
                    <a:pt x="0" y="1253042"/>
                  </a:lnTo>
                  <a:lnTo>
                    <a:pt x="444601" y="1253042"/>
                  </a:lnTo>
                  <a:lnTo>
                    <a:pt x="44460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 rot="0">
            <a:off x="3444999" y="6622614"/>
            <a:ext cx="4546390" cy="947496"/>
            <a:chOff x="0" y="0"/>
            <a:chExt cx="6061853" cy="1263328"/>
          </a:xfrm>
        </p:grpSpPr>
        <p:sp>
          <p:nvSpPr>
            <p:cNvPr id="29" name="Freeform 29"/>
            <p:cNvSpPr/>
            <p:nvPr/>
          </p:nvSpPr>
          <p:spPr>
            <a:xfrm>
              <a:off x="444601" y="0"/>
              <a:ext cx="5172651" cy="1253042"/>
            </a:xfrm>
            <a:custGeom>
              <a:avLst/>
              <a:gdLst/>
              <a:ahLst/>
              <a:cxnLst/>
              <a:rect l="l" t="t" r="r" b="b"/>
              <a:pathLst>
                <a:path w="5172651" h="1253042">
                  <a:moveTo>
                    <a:pt x="0" y="0"/>
                  </a:moveTo>
                  <a:lnTo>
                    <a:pt x="5172651" y="0"/>
                  </a:lnTo>
                  <a:lnTo>
                    <a:pt x="517265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373" r="-12596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0" name="Freeform 30"/>
            <p:cNvSpPr/>
            <p:nvPr/>
          </p:nvSpPr>
          <p:spPr>
            <a:xfrm>
              <a:off x="0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0" y="0"/>
                  </a:moveTo>
                  <a:lnTo>
                    <a:pt x="444601" y="0"/>
                  </a:lnTo>
                  <a:lnTo>
                    <a:pt x="44460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1" name="Freeform 31"/>
            <p:cNvSpPr/>
            <p:nvPr/>
          </p:nvSpPr>
          <p:spPr>
            <a:xfrm flipH="1">
              <a:off x="5617252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444601" y="0"/>
                  </a:moveTo>
                  <a:lnTo>
                    <a:pt x="0" y="0"/>
                  </a:lnTo>
                  <a:lnTo>
                    <a:pt x="0" y="1253042"/>
                  </a:lnTo>
                  <a:lnTo>
                    <a:pt x="444601" y="1253042"/>
                  </a:lnTo>
                  <a:lnTo>
                    <a:pt x="44460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 rot="0">
            <a:off x="10296612" y="6622614"/>
            <a:ext cx="4546390" cy="947496"/>
            <a:chOff x="0" y="0"/>
            <a:chExt cx="6061853" cy="1263328"/>
          </a:xfrm>
        </p:grpSpPr>
        <p:sp>
          <p:nvSpPr>
            <p:cNvPr id="33" name="Freeform 33"/>
            <p:cNvSpPr/>
            <p:nvPr/>
          </p:nvSpPr>
          <p:spPr>
            <a:xfrm>
              <a:off x="444601" y="0"/>
              <a:ext cx="5172651" cy="1253042"/>
            </a:xfrm>
            <a:custGeom>
              <a:avLst/>
              <a:gdLst/>
              <a:ahLst/>
              <a:cxnLst/>
              <a:rect l="l" t="t" r="r" b="b"/>
              <a:pathLst>
                <a:path w="5172651" h="1253042">
                  <a:moveTo>
                    <a:pt x="0" y="0"/>
                  </a:moveTo>
                  <a:lnTo>
                    <a:pt x="5172651" y="0"/>
                  </a:lnTo>
                  <a:lnTo>
                    <a:pt x="517265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373" r="-12596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4" name="Freeform 34"/>
            <p:cNvSpPr/>
            <p:nvPr/>
          </p:nvSpPr>
          <p:spPr>
            <a:xfrm>
              <a:off x="0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0" y="0"/>
                  </a:moveTo>
                  <a:lnTo>
                    <a:pt x="444601" y="0"/>
                  </a:lnTo>
                  <a:lnTo>
                    <a:pt x="444601" y="1253042"/>
                  </a:lnTo>
                  <a:lnTo>
                    <a:pt x="0" y="1253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5" name="Freeform 35"/>
            <p:cNvSpPr/>
            <p:nvPr/>
          </p:nvSpPr>
          <p:spPr>
            <a:xfrm flipH="1">
              <a:off x="5617252" y="10286"/>
              <a:ext cx="444601" cy="1253042"/>
            </a:xfrm>
            <a:custGeom>
              <a:avLst/>
              <a:gdLst/>
              <a:ahLst/>
              <a:cxnLst/>
              <a:rect l="l" t="t" r="r" b="b"/>
              <a:pathLst>
                <a:path w="444601" h="1253042">
                  <a:moveTo>
                    <a:pt x="444601" y="0"/>
                  </a:moveTo>
                  <a:lnTo>
                    <a:pt x="0" y="0"/>
                  </a:lnTo>
                  <a:lnTo>
                    <a:pt x="0" y="1253042"/>
                  </a:lnTo>
                  <a:lnTo>
                    <a:pt x="444601" y="1253042"/>
                  </a:lnTo>
                  <a:lnTo>
                    <a:pt x="444601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36" name="TextBox 36"/>
          <p:cNvSpPr txBox="1"/>
          <p:nvPr/>
        </p:nvSpPr>
        <p:spPr>
          <a:xfrm>
            <a:off x="4350432" y="4749316"/>
            <a:ext cx="2735524" cy="87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sz="511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课程概述</a:t>
            </a:r>
            <a:endParaRPr lang="en-US" sz="511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1202045" y="4749316"/>
            <a:ext cx="2735524" cy="87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sz="511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考试准备</a:t>
            </a:r>
            <a:endParaRPr lang="en-US" sz="511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258260" y="6628313"/>
            <a:ext cx="2735524" cy="87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sz="511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经验分享</a:t>
            </a:r>
            <a:endParaRPr lang="en-US" sz="511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4337788" y="6628313"/>
            <a:ext cx="2735524" cy="87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0"/>
              </a:lnSpc>
              <a:spcBef>
                <a:spcPct val="0"/>
              </a:spcBef>
            </a:pPr>
            <a:r>
              <a:rPr lang="en-US" sz="511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例题讲解</a:t>
            </a:r>
            <a:endParaRPr lang="en-US" sz="511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827121" y="4013269"/>
            <a:ext cx="1782146" cy="83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5"/>
              </a:lnSpc>
              <a:spcBef>
                <a:spcPct val="0"/>
              </a:spcBef>
            </a:pPr>
            <a:r>
              <a:rPr lang="en-US" sz="477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01</a:t>
            </a:r>
            <a:endParaRPr lang="en-US" sz="477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678734" y="4013269"/>
            <a:ext cx="1782146" cy="83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5"/>
              </a:lnSpc>
              <a:spcBef>
                <a:spcPct val="0"/>
              </a:spcBef>
            </a:pPr>
            <a:r>
              <a:rPr lang="en-US" sz="477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02</a:t>
            </a:r>
            <a:endParaRPr lang="en-US" sz="477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4827121" y="5892265"/>
            <a:ext cx="1782146" cy="83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5"/>
              </a:lnSpc>
              <a:spcBef>
                <a:spcPct val="0"/>
              </a:spcBef>
            </a:pPr>
            <a:r>
              <a:rPr lang="en-US" sz="477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03</a:t>
            </a:r>
            <a:endParaRPr lang="en-US" sz="477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678734" y="5892265"/>
            <a:ext cx="1782146" cy="83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85"/>
              </a:lnSpc>
              <a:spcBef>
                <a:spcPct val="0"/>
              </a:spcBef>
            </a:pPr>
            <a:r>
              <a:rPr lang="en-US" sz="477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04</a:t>
            </a:r>
            <a:endParaRPr lang="en-US" sz="477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1036" y="1223394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49210" y="419445"/>
            <a:ext cx="3788578" cy="2073385"/>
          </a:xfrm>
          <a:custGeom>
            <a:avLst/>
            <a:gdLst/>
            <a:ahLst/>
            <a:cxnLst/>
            <a:rect l="l" t="t" r="r" b="b"/>
            <a:pathLst>
              <a:path w="3788578" h="2073385">
                <a:moveTo>
                  <a:pt x="0" y="0"/>
                </a:moveTo>
                <a:lnTo>
                  <a:pt x="3788578" y="0"/>
                </a:lnTo>
                <a:lnTo>
                  <a:pt x="3788578" y="2073385"/>
                </a:lnTo>
                <a:lnTo>
                  <a:pt x="0" y="207338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66569" y="7247520"/>
            <a:ext cx="3048936" cy="3006166"/>
          </a:xfrm>
          <a:custGeom>
            <a:avLst/>
            <a:gdLst/>
            <a:ahLst/>
            <a:cxnLst/>
            <a:rect l="l" t="t" r="r" b="b"/>
            <a:pathLst>
              <a:path w="3048936" h="3006166">
                <a:moveTo>
                  <a:pt x="0" y="0"/>
                </a:moveTo>
                <a:lnTo>
                  <a:pt x="3048937" y="0"/>
                </a:lnTo>
                <a:lnTo>
                  <a:pt x="3048937" y="3006166"/>
                </a:lnTo>
                <a:lnTo>
                  <a:pt x="0" y="3006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3137" y="2264230"/>
            <a:ext cx="4761726" cy="219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5"/>
              </a:lnSpc>
              <a:spcBef>
                <a:spcPct val="0"/>
              </a:spcBef>
            </a:pPr>
            <a:r>
              <a:rPr lang="en-US" sz="12760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01</a:t>
            </a:r>
            <a:endParaRPr lang="en-US" sz="12760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3" name="Group 13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14" name="Group 14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98521" y="5997040"/>
            <a:ext cx="2482623" cy="3129550"/>
          </a:xfrm>
          <a:custGeom>
            <a:avLst/>
            <a:gdLst/>
            <a:ahLst/>
            <a:cxnLst/>
            <a:rect l="l" t="t" r="r" b="b"/>
            <a:pathLst>
              <a:path w="2482623" h="3129550">
                <a:moveTo>
                  <a:pt x="0" y="0"/>
                </a:moveTo>
                <a:lnTo>
                  <a:pt x="2482623" y="0"/>
                </a:lnTo>
                <a:lnTo>
                  <a:pt x="2482623" y="3129550"/>
                </a:lnTo>
                <a:lnTo>
                  <a:pt x="0" y="3129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4889824" y="4560212"/>
            <a:ext cx="8508353" cy="1773193"/>
            <a:chOff x="0" y="0"/>
            <a:chExt cx="11344470" cy="2364258"/>
          </a:xfrm>
        </p:grpSpPr>
        <p:sp>
          <p:nvSpPr>
            <p:cNvPr id="20" name="Freeform 20"/>
            <p:cNvSpPr/>
            <p:nvPr/>
          </p:nvSpPr>
          <p:spPr>
            <a:xfrm>
              <a:off x="832049" y="0"/>
              <a:ext cx="9680372" cy="2345008"/>
            </a:xfrm>
            <a:custGeom>
              <a:avLst/>
              <a:gdLst/>
              <a:ahLst/>
              <a:cxnLst/>
              <a:rect l="l" t="t" r="r" b="b"/>
              <a:pathLst>
                <a:path w="9680372" h="2345008">
                  <a:moveTo>
                    <a:pt x="0" y="0"/>
                  </a:moveTo>
                  <a:lnTo>
                    <a:pt x="9680372" y="0"/>
                  </a:lnTo>
                  <a:lnTo>
                    <a:pt x="9680372" y="2345008"/>
                  </a:lnTo>
                  <a:lnTo>
                    <a:pt x="0" y="234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0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0" y="0"/>
                  </a:moveTo>
                  <a:lnTo>
                    <a:pt x="832049" y="0"/>
                  </a:lnTo>
                  <a:lnTo>
                    <a:pt x="832049" y="2345009"/>
                  </a:lnTo>
                  <a:lnTo>
                    <a:pt x="0" y="2345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2" name="Freeform 22"/>
            <p:cNvSpPr/>
            <p:nvPr/>
          </p:nvSpPr>
          <p:spPr>
            <a:xfrm flipH="1">
              <a:off x="10512421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832049" y="0"/>
                  </a:moveTo>
                  <a:lnTo>
                    <a:pt x="0" y="0"/>
                  </a:lnTo>
                  <a:lnTo>
                    <a:pt x="0" y="2345009"/>
                  </a:lnTo>
                  <a:lnTo>
                    <a:pt x="832049" y="2345009"/>
                  </a:lnTo>
                  <a:lnTo>
                    <a:pt x="832049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6584298" y="4548399"/>
            <a:ext cx="5119403" cy="164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5"/>
              </a:lnSpc>
              <a:spcBef>
                <a:spcPct val="0"/>
              </a:spcBef>
            </a:pPr>
            <a:r>
              <a:rPr lang="en-US" sz="9575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课程概述</a:t>
            </a:r>
            <a:endParaRPr lang="en-US" sz="9575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 rot="-5400000">
            <a:off x="8741146" y="2077298"/>
            <a:ext cx="700932" cy="99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5"/>
              </a:lnSpc>
              <a:spcBef>
                <a:spcPct val="0"/>
              </a:spcBef>
            </a:pPr>
            <a:r>
              <a:rPr lang="en-US" sz="4655" spc="944">
                <a:solidFill>
                  <a:srgbClr val="F5DC68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COURSE OVERVIEW</a:t>
            </a:r>
            <a:endParaRPr lang="en-US" sz="4655" spc="944">
              <a:solidFill>
                <a:srgbClr val="F5DC68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760730" y="537456"/>
            <a:ext cx="11317445" cy="9212089"/>
            <a:chOff x="0" y="0"/>
            <a:chExt cx="2980726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80726" cy="2426229"/>
            </a:xfrm>
            <a:custGeom>
              <a:avLst/>
              <a:gdLst/>
              <a:ahLst/>
              <a:cxnLst/>
              <a:rect l="l" t="t" r="r" b="b"/>
              <a:pathLst>
                <a:path w="2980726" h="2426229">
                  <a:moveTo>
                    <a:pt x="68407" y="0"/>
                  </a:moveTo>
                  <a:lnTo>
                    <a:pt x="2912320" y="0"/>
                  </a:lnTo>
                  <a:cubicBezTo>
                    <a:pt x="2950100" y="0"/>
                    <a:pt x="2980726" y="30627"/>
                    <a:pt x="2980726" y="68407"/>
                  </a:cubicBezTo>
                  <a:lnTo>
                    <a:pt x="2980726" y="2357822"/>
                  </a:lnTo>
                  <a:cubicBezTo>
                    <a:pt x="2980726" y="2395602"/>
                    <a:pt x="2950100" y="2426229"/>
                    <a:pt x="2912320" y="2426229"/>
                  </a:cubicBezTo>
                  <a:lnTo>
                    <a:pt x="68407" y="2426229"/>
                  </a:lnTo>
                  <a:cubicBezTo>
                    <a:pt x="50264" y="2426229"/>
                    <a:pt x="32865" y="2419022"/>
                    <a:pt x="20036" y="2406193"/>
                  </a:cubicBezTo>
                  <a:cubicBezTo>
                    <a:pt x="7207" y="2393365"/>
                    <a:pt x="0" y="2375965"/>
                    <a:pt x="0" y="2357822"/>
                  </a:cubicBezTo>
                  <a:lnTo>
                    <a:pt x="0" y="68407"/>
                  </a:lnTo>
                  <a:cubicBezTo>
                    <a:pt x="0" y="30627"/>
                    <a:pt x="30627" y="0"/>
                    <a:pt x="68407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2980726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1676337" y="4009008"/>
            <a:ext cx="5885881" cy="5590468"/>
            <a:chOff x="0" y="0"/>
            <a:chExt cx="7847842" cy="7453957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1"/>
            <a:srcRect l="23204" r="23204"/>
            <a:stretch>
              <a:fillRect/>
            </a:stretch>
          </p:blipFill>
          <p:spPr>
            <a:xfrm>
              <a:off x="0" y="0"/>
              <a:ext cx="7847842" cy="7453957"/>
            </a:xfrm>
            <a:prstGeom prst="rect">
              <a:avLst/>
            </a:prstGeom>
          </p:spPr>
        </p:pic>
      </p:grpSp>
      <p:sp>
        <p:nvSpPr>
          <p:cNvPr id="7" name="Freeform 7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10" name="Group 10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5" name="Group 15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3620598" y="1147072"/>
            <a:ext cx="3886074" cy="941377"/>
          </a:xfrm>
          <a:custGeom>
            <a:avLst/>
            <a:gdLst/>
            <a:ahLst/>
            <a:cxnLst/>
            <a:rect l="l" t="t" r="r" b="b"/>
            <a:pathLst>
              <a:path w="3886074" h="941377">
                <a:moveTo>
                  <a:pt x="0" y="0"/>
                </a:moveTo>
                <a:lnTo>
                  <a:pt x="3886074" y="0"/>
                </a:lnTo>
                <a:lnTo>
                  <a:pt x="3886074" y="941377"/>
                </a:lnTo>
                <a:lnTo>
                  <a:pt x="0" y="941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373" r="-125961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286581" y="1147072"/>
            <a:ext cx="334017" cy="941377"/>
          </a:xfrm>
          <a:custGeom>
            <a:avLst/>
            <a:gdLst/>
            <a:ahLst/>
            <a:cxnLst/>
            <a:rect l="l" t="t" r="r" b="b"/>
            <a:pathLst>
              <a:path w="334017" h="941377">
                <a:moveTo>
                  <a:pt x="0" y="0"/>
                </a:moveTo>
                <a:lnTo>
                  <a:pt x="334017" y="0"/>
                </a:lnTo>
                <a:lnTo>
                  <a:pt x="334017" y="941377"/>
                </a:lnTo>
                <a:lnTo>
                  <a:pt x="0" y="941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2649612"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21"/>
          <p:cNvSpPr/>
          <p:nvPr/>
        </p:nvSpPr>
        <p:spPr>
          <a:xfrm flipH="1">
            <a:off x="7506672" y="1147072"/>
            <a:ext cx="334017" cy="941377"/>
          </a:xfrm>
          <a:custGeom>
            <a:avLst/>
            <a:gdLst/>
            <a:ahLst/>
            <a:cxnLst/>
            <a:rect l="l" t="t" r="r" b="b"/>
            <a:pathLst>
              <a:path w="334017" h="941377">
                <a:moveTo>
                  <a:pt x="334016" y="0"/>
                </a:moveTo>
                <a:lnTo>
                  <a:pt x="0" y="0"/>
                </a:lnTo>
                <a:lnTo>
                  <a:pt x="0" y="941377"/>
                </a:lnTo>
                <a:lnTo>
                  <a:pt x="334016" y="941377"/>
                </a:lnTo>
                <a:lnTo>
                  <a:pt x="33401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2649612"/>
            </a:stretch>
          </a:blipFill>
          <a:ln cap="sq">
            <a:noFill/>
            <a:prstDash val="solid"/>
            <a:miter/>
          </a:ln>
        </p:spPr>
      </p:sp>
      <p:grpSp>
        <p:nvGrpSpPr>
          <p:cNvPr id="22" name="Group 22"/>
          <p:cNvGrpSpPr/>
          <p:nvPr/>
        </p:nvGrpSpPr>
        <p:grpSpPr>
          <a:xfrm rot="0">
            <a:off x="3159597" y="3413290"/>
            <a:ext cx="749206" cy="2059682"/>
            <a:chOff x="0" y="0"/>
            <a:chExt cx="812800" cy="22345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2234511"/>
            </a:xfrm>
            <a:custGeom>
              <a:avLst/>
              <a:gdLst/>
              <a:ahLst/>
              <a:cxnLst/>
              <a:rect l="l" t="t" r="r" b="b"/>
              <a:pathLst>
                <a:path w="812800" h="2234511">
                  <a:moveTo>
                    <a:pt x="406400" y="2234511"/>
                  </a:moveTo>
                  <a:lnTo>
                    <a:pt x="0" y="1828111"/>
                  </a:lnTo>
                  <a:lnTo>
                    <a:pt x="203200" y="1828111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1828111"/>
                  </a:lnTo>
                  <a:lnTo>
                    <a:pt x="812800" y="1828111"/>
                  </a:lnTo>
                  <a:lnTo>
                    <a:pt x="406400" y="2234511"/>
                  </a:lnTo>
                  <a:close/>
                </a:path>
              </a:pathLst>
            </a:custGeom>
            <a:solidFill>
              <a:srgbClr val="478EEA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203200" y="-123825"/>
              <a:ext cx="406400" cy="2256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7843541" y="3978553"/>
            <a:ext cx="2059682" cy="929157"/>
            <a:chOff x="0" y="0"/>
            <a:chExt cx="1517935" cy="68476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17935" cy="684766"/>
            </a:xfrm>
            <a:custGeom>
              <a:avLst/>
              <a:gdLst/>
              <a:ahLst/>
              <a:cxnLst/>
              <a:rect l="l" t="t" r="r" b="b"/>
              <a:pathLst>
                <a:path w="1517935" h="684766">
                  <a:moveTo>
                    <a:pt x="1517935" y="342383"/>
                  </a:moveTo>
                  <a:lnTo>
                    <a:pt x="1111535" y="0"/>
                  </a:lnTo>
                  <a:lnTo>
                    <a:pt x="1111535" y="203200"/>
                  </a:lnTo>
                  <a:lnTo>
                    <a:pt x="0" y="203200"/>
                  </a:lnTo>
                  <a:lnTo>
                    <a:pt x="0" y="481566"/>
                  </a:lnTo>
                  <a:lnTo>
                    <a:pt x="1111535" y="481566"/>
                  </a:lnTo>
                  <a:lnTo>
                    <a:pt x="1111535" y="684766"/>
                  </a:lnTo>
                  <a:lnTo>
                    <a:pt x="1517935" y="342383"/>
                  </a:lnTo>
                  <a:close/>
                </a:path>
              </a:pathLst>
            </a:custGeom>
            <a:solidFill>
              <a:srgbClr val="FFAAEE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79375"/>
              <a:ext cx="1416335" cy="4021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52858" y="2410827"/>
            <a:ext cx="992348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478EEA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50%编程思想    </a:t>
            </a:r>
            <a:r>
              <a:rPr lang="en-US" sz="3600">
                <a:solidFill>
                  <a:srgbClr val="000000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+    </a:t>
            </a:r>
            <a:r>
              <a:rPr lang="en-US" sz="3600">
                <a:solidFill>
                  <a:srgbClr val="FFAAEE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50%计算机基础知识</a:t>
            </a:r>
            <a:endParaRPr lang="en-US" sz="3600">
              <a:solidFill>
                <a:srgbClr val="FFAAEE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499476" y="1294228"/>
            <a:ext cx="431756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97B2"/>
                </a:solidFill>
                <a:latin typeface="字由点字倔强黑" panose="00020600040101010101" charset="-122"/>
                <a:ea typeface="字由点字倔强黑" panose="00020600040101010101" charset="-122"/>
                <a:cs typeface="字由点字倔强黑" panose="00020600040101010101" charset="-122"/>
                <a:sym typeface="字由点字倔强黑" panose="00020600040101010101" charset="-122"/>
              </a:rPr>
              <a:t>这到底是一门什么课？</a:t>
            </a:r>
            <a:endParaRPr lang="en-US" sz="3400">
              <a:solidFill>
                <a:srgbClr val="0097B2"/>
              </a:solidFill>
              <a:latin typeface="字由点字倔强黑" panose="00020600040101010101" charset="-122"/>
              <a:ea typeface="字由点字倔强黑" panose="00020600040101010101" charset="-122"/>
              <a:cs typeface="字由点字倔强黑" panose="00020600040101010101" charset="-122"/>
              <a:sym typeface="字由点字倔强黑" panose="00020600040101010101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39258" y="6023067"/>
            <a:ext cx="4823757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使用简洁方便并且容易上手的SCHEME语言对进行大家初步的编程思想的教学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4760"/>
              </a:lnSpc>
            </a:pPr>
          </a:p>
        </p:txBody>
      </p:sp>
      <p:sp>
        <p:nvSpPr>
          <p:cNvPr id="31" name="TextBox 31"/>
          <p:cNvSpPr txBox="1"/>
          <p:nvPr/>
        </p:nvSpPr>
        <p:spPr>
          <a:xfrm>
            <a:off x="6419453" y="6030703"/>
            <a:ext cx="4823757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对计算机知识进行简单的了解（这部分在课上涉及较少）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36509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099349" y="1139737"/>
            <a:ext cx="3877403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scheme语言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1752858" y="2088449"/>
            <a:ext cx="3592890" cy="748780"/>
            <a:chOff x="0" y="0"/>
            <a:chExt cx="4790520" cy="998374"/>
          </a:xfrm>
        </p:grpSpPr>
        <p:sp>
          <p:nvSpPr>
            <p:cNvPr id="23" name="Freeform 23"/>
            <p:cNvSpPr/>
            <p:nvPr/>
          </p:nvSpPr>
          <p:spPr>
            <a:xfrm>
              <a:off x="351356" y="0"/>
              <a:ext cx="4087808" cy="990245"/>
            </a:xfrm>
            <a:custGeom>
              <a:avLst/>
              <a:gdLst/>
              <a:ahLst/>
              <a:cxnLst/>
              <a:rect l="l" t="t" r="r" b="b"/>
              <a:pathLst>
                <a:path w="4087808" h="990245">
                  <a:moveTo>
                    <a:pt x="0" y="0"/>
                  </a:moveTo>
                  <a:lnTo>
                    <a:pt x="4087808" y="0"/>
                  </a:lnTo>
                  <a:lnTo>
                    <a:pt x="4087808" y="990245"/>
                  </a:lnTo>
                  <a:lnTo>
                    <a:pt x="0" y="99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0" y="8128"/>
              <a:ext cx="351356" cy="990245"/>
            </a:xfrm>
            <a:custGeom>
              <a:avLst/>
              <a:gdLst/>
              <a:ahLst/>
              <a:cxnLst/>
              <a:rect l="l" t="t" r="r" b="b"/>
              <a:pathLst>
                <a:path w="351356" h="990245">
                  <a:moveTo>
                    <a:pt x="0" y="0"/>
                  </a:moveTo>
                  <a:lnTo>
                    <a:pt x="351356" y="0"/>
                  </a:lnTo>
                  <a:lnTo>
                    <a:pt x="351356" y="990246"/>
                  </a:lnTo>
                  <a:lnTo>
                    <a:pt x="0" y="990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flipH="1">
              <a:off x="4439164" y="8128"/>
              <a:ext cx="351356" cy="990245"/>
            </a:xfrm>
            <a:custGeom>
              <a:avLst/>
              <a:gdLst/>
              <a:ahLst/>
              <a:cxnLst/>
              <a:rect l="l" t="t" r="r" b="b"/>
              <a:pathLst>
                <a:path w="351356" h="990245">
                  <a:moveTo>
                    <a:pt x="351356" y="0"/>
                  </a:moveTo>
                  <a:lnTo>
                    <a:pt x="0" y="0"/>
                  </a:lnTo>
                  <a:lnTo>
                    <a:pt x="0" y="990246"/>
                  </a:lnTo>
                  <a:lnTo>
                    <a:pt x="351356" y="990246"/>
                  </a:lnTo>
                  <a:lnTo>
                    <a:pt x="351356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 rot="2814960">
              <a:off x="4109735" y="346112"/>
              <a:ext cx="323192" cy="306151"/>
            </a:xfrm>
            <a:custGeom>
              <a:avLst/>
              <a:gdLst/>
              <a:ahLst/>
              <a:cxnLst/>
              <a:rect l="l" t="t" r="r" b="b"/>
              <a:pathLst>
                <a:path w="323192" h="306151">
                  <a:moveTo>
                    <a:pt x="0" y="0"/>
                  </a:moveTo>
                  <a:lnTo>
                    <a:pt x="323192" y="0"/>
                  </a:lnTo>
                  <a:lnTo>
                    <a:pt x="323192" y="306150"/>
                  </a:lnTo>
                  <a:lnTo>
                    <a:pt x="0" y="30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 rot="2814960">
              <a:off x="4187692" y="419958"/>
              <a:ext cx="167277" cy="158457"/>
            </a:xfrm>
            <a:custGeom>
              <a:avLst/>
              <a:gdLst/>
              <a:ahLst/>
              <a:cxnLst/>
              <a:rect l="l" t="t" r="r" b="b"/>
              <a:pathLst>
                <a:path w="167277" h="158457">
                  <a:moveTo>
                    <a:pt x="0" y="0"/>
                  </a:moveTo>
                  <a:lnTo>
                    <a:pt x="167277" y="0"/>
                  </a:lnTo>
                  <a:lnTo>
                    <a:pt x="167277" y="158458"/>
                  </a:lnTo>
                  <a:lnTo>
                    <a:pt x="0" y="158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 rot="1587560">
              <a:off x="358983" y="346112"/>
              <a:ext cx="323192" cy="306151"/>
            </a:xfrm>
            <a:custGeom>
              <a:avLst/>
              <a:gdLst/>
              <a:ahLst/>
              <a:cxnLst/>
              <a:rect l="l" t="t" r="r" b="b"/>
              <a:pathLst>
                <a:path w="323192" h="306151">
                  <a:moveTo>
                    <a:pt x="0" y="0"/>
                  </a:moveTo>
                  <a:lnTo>
                    <a:pt x="323192" y="0"/>
                  </a:lnTo>
                  <a:lnTo>
                    <a:pt x="323192" y="306150"/>
                  </a:lnTo>
                  <a:lnTo>
                    <a:pt x="0" y="30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 rot="1587560">
              <a:off x="436941" y="419958"/>
              <a:ext cx="167277" cy="158457"/>
            </a:xfrm>
            <a:custGeom>
              <a:avLst/>
              <a:gdLst/>
              <a:ahLst/>
              <a:cxnLst/>
              <a:rect l="l" t="t" r="r" b="b"/>
              <a:pathLst>
                <a:path w="167277" h="158457">
                  <a:moveTo>
                    <a:pt x="0" y="0"/>
                  </a:moveTo>
                  <a:lnTo>
                    <a:pt x="167277" y="0"/>
                  </a:lnTo>
                  <a:lnTo>
                    <a:pt x="167277" y="158458"/>
                  </a:lnTo>
                  <a:lnTo>
                    <a:pt x="0" y="158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885621" y="28801"/>
              <a:ext cx="3019278" cy="855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r>
                <a:rPr lang="en-US" sz="3800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容易上手</a:t>
              </a:r>
              <a:endParaRPr lang="en-US" sz="3800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31" name="Freeform 31"/>
          <p:cNvSpPr/>
          <p:nvPr/>
        </p:nvSpPr>
        <p:spPr>
          <a:xfrm>
            <a:off x="9144000" y="785620"/>
            <a:ext cx="2616985" cy="486159"/>
          </a:xfrm>
          <a:custGeom>
            <a:avLst/>
            <a:gdLst/>
            <a:ahLst/>
            <a:cxnLst/>
            <a:rect l="l" t="t" r="r" b="b"/>
            <a:pathLst>
              <a:path w="2616985" h="486159">
                <a:moveTo>
                  <a:pt x="0" y="0"/>
                </a:moveTo>
                <a:lnTo>
                  <a:pt x="2616985" y="0"/>
                </a:lnTo>
                <a:lnTo>
                  <a:pt x="2616985" y="486160"/>
                </a:lnTo>
                <a:lnTo>
                  <a:pt x="0" y="4861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2141550" y="4629732"/>
            <a:ext cx="11301259" cy="4873668"/>
          </a:xfrm>
          <a:custGeom>
            <a:avLst/>
            <a:gdLst/>
            <a:ahLst/>
            <a:cxnLst/>
            <a:rect l="l" t="t" r="r" b="b"/>
            <a:pathLst>
              <a:path w="11301259" h="4873668">
                <a:moveTo>
                  <a:pt x="0" y="0"/>
                </a:moveTo>
                <a:lnTo>
                  <a:pt x="11301259" y="0"/>
                </a:lnTo>
                <a:lnTo>
                  <a:pt x="11301259" y="4873668"/>
                </a:lnTo>
                <a:lnTo>
                  <a:pt x="0" y="4873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141550" y="2999154"/>
            <a:ext cx="14193115" cy="152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相比于我们后续要学习的很多编程语言：java,lisp,c++,这门语言是最简单容易上手的，DrRacket没有繁琐的配置环境的步骤，同样这门语言和数学定义十分相似，很适合大一新生入门学习了解编程思想。</a:t>
            </a:r>
            <a:endParaRPr lang="en-US" sz="29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19134" y="496522"/>
            <a:ext cx="17667161" cy="9293956"/>
            <a:chOff x="0" y="0"/>
            <a:chExt cx="4653080" cy="2447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53080" cy="2447791"/>
            </a:xfrm>
            <a:custGeom>
              <a:avLst/>
              <a:gdLst/>
              <a:ahLst/>
              <a:cxnLst/>
              <a:rect l="l" t="t" r="r" b="b"/>
              <a:pathLst>
                <a:path w="4653080" h="2447791">
                  <a:moveTo>
                    <a:pt x="43821" y="0"/>
                  </a:moveTo>
                  <a:lnTo>
                    <a:pt x="4609259" y="0"/>
                  </a:lnTo>
                  <a:cubicBezTo>
                    <a:pt x="4633460" y="0"/>
                    <a:pt x="4653080" y="19619"/>
                    <a:pt x="4653080" y="43821"/>
                  </a:cubicBezTo>
                  <a:lnTo>
                    <a:pt x="4653080" y="2403970"/>
                  </a:lnTo>
                  <a:cubicBezTo>
                    <a:pt x="4653080" y="2428172"/>
                    <a:pt x="4633460" y="2447791"/>
                    <a:pt x="4609259" y="2447791"/>
                  </a:cubicBezTo>
                  <a:lnTo>
                    <a:pt x="43821" y="2447791"/>
                  </a:lnTo>
                  <a:cubicBezTo>
                    <a:pt x="19619" y="2447791"/>
                    <a:pt x="0" y="2428172"/>
                    <a:pt x="0" y="2403970"/>
                  </a:cubicBezTo>
                  <a:lnTo>
                    <a:pt x="0" y="43821"/>
                  </a:lnTo>
                  <a:cubicBezTo>
                    <a:pt x="0" y="19619"/>
                    <a:pt x="19619" y="0"/>
                    <a:pt x="438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653080" cy="2571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099349" y="1139737"/>
            <a:ext cx="3877403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scheme语言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144000" y="785620"/>
            <a:ext cx="2616985" cy="486159"/>
          </a:xfrm>
          <a:custGeom>
            <a:avLst/>
            <a:gdLst/>
            <a:ahLst/>
            <a:cxnLst/>
            <a:rect l="l" t="t" r="r" b="b"/>
            <a:pathLst>
              <a:path w="2616985" h="486159">
                <a:moveTo>
                  <a:pt x="0" y="0"/>
                </a:moveTo>
                <a:lnTo>
                  <a:pt x="2616985" y="0"/>
                </a:lnTo>
                <a:lnTo>
                  <a:pt x="2616985" y="486160"/>
                </a:lnTo>
                <a:lnTo>
                  <a:pt x="0" y="486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013119" y="7022015"/>
            <a:ext cx="7526474" cy="2481384"/>
          </a:xfrm>
          <a:custGeom>
            <a:avLst/>
            <a:gdLst/>
            <a:ahLst/>
            <a:cxnLst/>
            <a:rect l="l" t="t" r="r" b="b"/>
            <a:pathLst>
              <a:path w="7526474" h="2481384">
                <a:moveTo>
                  <a:pt x="0" y="0"/>
                </a:moveTo>
                <a:lnTo>
                  <a:pt x="7526473" y="0"/>
                </a:lnTo>
                <a:lnTo>
                  <a:pt x="7526473" y="2481385"/>
                </a:lnTo>
                <a:lnTo>
                  <a:pt x="0" y="24813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014108" y="2352210"/>
            <a:ext cx="1450506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Lisp是世界上第二古老的高级编程语言，1958年发明于麻省理工学院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91189" y="3199300"/>
            <a:ext cx="15493724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Lisp 诞生二十年后，它成了著名的《 </a:t>
            </a:r>
            <a:r>
              <a:rPr lang="en-US" sz="3400" u="sng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  <a:hlinkClick r:id="rId10" tooltip="https://link.zhihu.com/?target=https%3A//en.wikipedia.org/wiki/Jargon_File"/>
              </a:rPr>
              <a:t>黑客词典</a:t>
            </a: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(Hacker’s Dictionary)》中所说的，人工智能研究的“母语”。Lisp 在此之前传播迅速，多半是托了语法规律的福 —— 不管在怎么样的电脑上，实现 Lisp 都是一件相对简单直白的事。而学者们之后坚持使用它乃是因为 Lisp 在处理符号表达式这方面有巨大的优势；在那个时代，人工智能很大程度上就意味着符号，于是这一点就显得十分重要。在许多重要的人工智能项目中都能见到 Lisp 的身影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01704" y="496522"/>
            <a:ext cx="17484591" cy="9293956"/>
            <a:chOff x="0" y="0"/>
            <a:chExt cx="4604995" cy="2447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04995" cy="2447791"/>
            </a:xfrm>
            <a:custGeom>
              <a:avLst/>
              <a:gdLst/>
              <a:ahLst/>
              <a:cxnLst/>
              <a:rect l="l" t="t" r="r" b="b"/>
              <a:pathLst>
                <a:path w="4604995" h="2447791">
                  <a:moveTo>
                    <a:pt x="44279" y="0"/>
                  </a:moveTo>
                  <a:lnTo>
                    <a:pt x="4560717" y="0"/>
                  </a:lnTo>
                  <a:cubicBezTo>
                    <a:pt x="4585171" y="0"/>
                    <a:pt x="4604995" y="19824"/>
                    <a:pt x="4604995" y="44279"/>
                  </a:cubicBezTo>
                  <a:lnTo>
                    <a:pt x="4604995" y="2403512"/>
                  </a:lnTo>
                  <a:cubicBezTo>
                    <a:pt x="4604995" y="2427967"/>
                    <a:pt x="4585171" y="2447791"/>
                    <a:pt x="4560717" y="2447791"/>
                  </a:cubicBezTo>
                  <a:lnTo>
                    <a:pt x="44279" y="2447791"/>
                  </a:lnTo>
                  <a:cubicBezTo>
                    <a:pt x="19824" y="2447791"/>
                    <a:pt x="0" y="2427967"/>
                    <a:pt x="0" y="2403512"/>
                  </a:cubicBezTo>
                  <a:lnTo>
                    <a:pt x="0" y="44279"/>
                  </a:lnTo>
                  <a:cubicBezTo>
                    <a:pt x="0" y="19824"/>
                    <a:pt x="19824" y="0"/>
                    <a:pt x="4427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604995" cy="25716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099349" y="1139737"/>
            <a:ext cx="3877403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scheme语言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9144000" y="785620"/>
            <a:ext cx="2616985" cy="486159"/>
          </a:xfrm>
          <a:custGeom>
            <a:avLst/>
            <a:gdLst/>
            <a:ahLst/>
            <a:cxnLst/>
            <a:rect l="l" t="t" r="r" b="b"/>
            <a:pathLst>
              <a:path w="2616985" h="486159">
                <a:moveTo>
                  <a:pt x="0" y="0"/>
                </a:moveTo>
                <a:lnTo>
                  <a:pt x="2616985" y="0"/>
                </a:lnTo>
                <a:lnTo>
                  <a:pt x="2616985" y="486160"/>
                </a:lnTo>
                <a:lnTo>
                  <a:pt x="0" y="486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255677" y="3610202"/>
            <a:ext cx="11564748" cy="5893197"/>
          </a:xfrm>
          <a:custGeom>
            <a:avLst/>
            <a:gdLst/>
            <a:ahLst/>
            <a:cxnLst/>
            <a:rect l="l" t="t" r="r" b="b"/>
            <a:pathLst>
              <a:path w="11564748" h="5893197">
                <a:moveTo>
                  <a:pt x="0" y="0"/>
                </a:moveTo>
                <a:lnTo>
                  <a:pt x="11564748" y="0"/>
                </a:lnTo>
                <a:lnTo>
                  <a:pt x="11564748" y="5893198"/>
                </a:lnTo>
                <a:lnTo>
                  <a:pt x="0" y="58931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692627" y="2380982"/>
            <a:ext cx="14690848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ctr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LISP非常方便扩展自身，每一种扩展就是一种lisp方言,例如Common Lisp以及我们在课堂上学习的Scheme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60561" y="1223394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49210" y="419445"/>
            <a:ext cx="3788578" cy="2073385"/>
          </a:xfrm>
          <a:custGeom>
            <a:avLst/>
            <a:gdLst/>
            <a:ahLst/>
            <a:cxnLst/>
            <a:rect l="l" t="t" r="r" b="b"/>
            <a:pathLst>
              <a:path w="3788578" h="2073385">
                <a:moveTo>
                  <a:pt x="0" y="0"/>
                </a:moveTo>
                <a:lnTo>
                  <a:pt x="3788578" y="0"/>
                </a:lnTo>
                <a:lnTo>
                  <a:pt x="3788578" y="2073385"/>
                </a:lnTo>
                <a:lnTo>
                  <a:pt x="0" y="207338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66569" y="7247520"/>
            <a:ext cx="3048936" cy="3006166"/>
          </a:xfrm>
          <a:custGeom>
            <a:avLst/>
            <a:gdLst/>
            <a:ahLst/>
            <a:cxnLst/>
            <a:rect l="l" t="t" r="r" b="b"/>
            <a:pathLst>
              <a:path w="3048936" h="3006166">
                <a:moveTo>
                  <a:pt x="0" y="0"/>
                </a:moveTo>
                <a:lnTo>
                  <a:pt x="3048937" y="0"/>
                </a:lnTo>
                <a:lnTo>
                  <a:pt x="3048937" y="3006166"/>
                </a:lnTo>
                <a:lnTo>
                  <a:pt x="0" y="3006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3137" y="2264230"/>
            <a:ext cx="4761726" cy="219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5"/>
              </a:lnSpc>
              <a:spcBef>
                <a:spcPct val="0"/>
              </a:spcBef>
            </a:pPr>
            <a:r>
              <a:rPr lang="en-US" sz="12760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02</a:t>
            </a:r>
            <a:endParaRPr lang="en-US" sz="12760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 rot="-5400000">
            <a:off x="8738188" y="1964851"/>
            <a:ext cx="706847" cy="99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5"/>
              </a:lnSpc>
              <a:spcBef>
                <a:spcPct val="0"/>
              </a:spcBef>
            </a:pPr>
            <a:r>
              <a:rPr lang="en-US" sz="4655" spc="944">
                <a:solidFill>
                  <a:srgbClr val="000000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EXAM PREPARATION</a:t>
            </a:r>
            <a:endParaRPr lang="en-US" sz="4655" spc="944">
              <a:solidFill>
                <a:srgbClr val="000000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15" name="Group 15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8521" y="5997040"/>
            <a:ext cx="2482623" cy="3129550"/>
          </a:xfrm>
          <a:custGeom>
            <a:avLst/>
            <a:gdLst/>
            <a:ahLst/>
            <a:cxnLst/>
            <a:rect l="l" t="t" r="r" b="b"/>
            <a:pathLst>
              <a:path w="2482623" h="3129550">
                <a:moveTo>
                  <a:pt x="0" y="0"/>
                </a:moveTo>
                <a:lnTo>
                  <a:pt x="2482623" y="0"/>
                </a:lnTo>
                <a:lnTo>
                  <a:pt x="2482623" y="3129550"/>
                </a:lnTo>
                <a:lnTo>
                  <a:pt x="0" y="3129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4889824" y="4560212"/>
            <a:ext cx="8508353" cy="1773193"/>
            <a:chOff x="0" y="0"/>
            <a:chExt cx="11344470" cy="2364258"/>
          </a:xfrm>
        </p:grpSpPr>
        <p:sp>
          <p:nvSpPr>
            <p:cNvPr id="21" name="Freeform 21"/>
            <p:cNvSpPr/>
            <p:nvPr/>
          </p:nvSpPr>
          <p:spPr>
            <a:xfrm>
              <a:off x="832049" y="0"/>
              <a:ext cx="9680372" cy="2345008"/>
            </a:xfrm>
            <a:custGeom>
              <a:avLst/>
              <a:gdLst/>
              <a:ahLst/>
              <a:cxnLst/>
              <a:rect l="l" t="t" r="r" b="b"/>
              <a:pathLst>
                <a:path w="9680372" h="2345008">
                  <a:moveTo>
                    <a:pt x="0" y="0"/>
                  </a:moveTo>
                  <a:lnTo>
                    <a:pt x="9680372" y="0"/>
                  </a:lnTo>
                  <a:lnTo>
                    <a:pt x="9680372" y="2345008"/>
                  </a:lnTo>
                  <a:lnTo>
                    <a:pt x="0" y="234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0" y="0"/>
                  </a:moveTo>
                  <a:lnTo>
                    <a:pt x="832049" y="0"/>
                  </a:lnTo>
                  <a:lnTo>
                    <a:pt x="832049" y="2345009"/>
                  </a:lnTo>
                  <a:lnTo>
                    <a:pt x="0" y="2345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 flipH="1">
              <a:off x="10512421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832049" y="0"/>
                  </a:moveTo>
                  <a:lnTo>
                    <a:pt x="0" y="0"/>
                  </a:lnTo>
                  <a:lnTo>
                    <a:pt x="0" y="2345009"/>
                  </a:lnTo>
                  <a:lnTo>
                    <a:pt x="832049" y="2345009"/>
                  </a:lnTo>
                  <a:lnTo>
                    <a:pt x="832049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584298" y="4548399"/>
            <a:ext cx="5119403" cy="164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5"/>
              </a:lnSpc>
              <a:spcBef>
                <a:spcPct val="0"/>
              </a:spcBef>
            </a:pPr>
            <a:r>
              <a:rPr lang="en-US" sz="957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考试准备</a:t>
            </a:r>
            <a:endParaRPr lang="en-US" sz="957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42458" y="718621"/>
            <a:ext cx="17003083" cy="9030923"/>
            <a:chOff x="0" y="0"/>
            <a:chExt cx="4478178" cy="2378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378515"/>
            </a:xfrm>
            <a:custGeom>
              <a:avLst/>
              <a:gdLst/>
              <a:ahLst/>
              <a:cxnLst/>
              <a:rect l="l" t="t" r="r" b="b"/>
              <a:pathLst>
                <a:path w="4478178" h="2378515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32982"/>
                  </a:lnTo>
                  <a:cubicBezTo>
                    <a:pt x="4478178" y="2358129"/>
                    <a:pt x="4457793" y="2378515"/>
                    <a:pt x="4432646" y="2378515"/>
                  </a:cubicBezTo>
                  <a:lnTo>
                    <a:pt x="45532" y="2378515"/>
                  </a:lnTo>
                  <a:cubicBezTo>
                    <a:pt x="20386" y="2378515"/>
                    <a:pt x="0" y="2358129"/>
                    <a:pt x="0" y="2332982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02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>
            <a:off x="11421054" y="2740517"/>
            <a:ext cx="5204760" cy="6356958"/>
          </a:xfrm>
          <a:custGeom>
            <a:avLst/>
            <a:gdLst/>
            <a:ahLst/>
            <a:cxnLst/>
            <a:rect l="l" t="t" r="r" b="b"/>
            <a:pathLst>
              <a:path w="5204760" h="6356958">
                <a:moveTo>
                  <a:pt x="0" y="0"/>
                </a:moveTo>
                <a:lnTo>
                  <a:pt x="5204759" y="0"/>
                </a:lnTo>
                <a:lnTo>
                  <a:pt x="520475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期末准备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752858" y="2405074"/>
            <a:ext cx="2973110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1.期末分数占比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1028700" y="3146135"/>
            <a:ext cx="9943012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478EEA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平时分（40%）：</a:t>
            </a:r>
            <a:endParaRPr lang="en-US" sz="3400">
              <a:solidFill>
                <a:srgbClr val="478EEA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（1）平时课后一定要趁着课间问王超老师问题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老师还是非常厉害负责的，但是线上就有可能看不到所以不仅为了平时分，也是为了当堂问题当堂解决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（2）认真完成每一次作业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6277610"/>
            <a:ext cx="994301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478EEA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期末考试（60%）：</a:t>
            </a:r>
            <a:endParaRPr lang="en-US" sz="3400">
              <a:solidFill>
                <a:srgbClr val="478EEA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（1）一张卷子：50%文档知识+50%代码设计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1508" y="718621"/>
            <a:ext cx="17003083" cy="9030923"/>
            <a:chOff x="0" y="0"/>
            <a:chExt cx="4478178" cy="2378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378515"/>
            </a:xfrm>
            <a:custGeom>
              <a:avLst/>
              <a:gdLst/>
              <a:ahLst/>
              <a:cxnLst/>
              <a:rect l="l" t="t" r="r" b="b"/>
              <a:pathLst>
                <a:path w="4478178" h="2378515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32982"/>
                  </a:lnTo>
                  <a:cubicBezTo>
                    <a:pt x="4478178" y="2358129"/>
                    <a:pt x="4457793" y="2378515"/>
                    <a:pt x="4432646" y="2378515"/>
                  </a:cubicBezTo>
                  <a:lnTo>
                    <a:pt x="45532" y="2378515"/>
                  </a:lnTo>
                  <a:cubicBezTo>
                    <a:pt x="20386" y="2378515"/>
                    <a:pt x="0" y="2358129"/>
                    <a:pt x="0" y="2332982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02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>
            <a:off x="1552363" y="2901342"/>
            <a:ext cx="4775665" cy="6356958"/>
          </a:xfrm>
          <a:custGeom>
            <a:avLst/>
            <a:gdLst/>
            <a:ahLst/>
            <a:cxnLst/>
            <a:rect l="l" t="t" r="r" b="b"/>
            <a:pathLst>
              <a:path w="4775665" h="6356958">
                <a:moveTo>
                  <a:pt x="0" y="0"/>
                </a:moveTo>
                <a:lnTo>
                  <a:pt x="4775665" y="0"/>
                </a:lnTo>
                <a:lnTo>
                  <a:pt x="4775665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328028" y="3574887"/>
            <a:ext cx="6596398" cy="5928512"/>
          </a:xfrm>
          <a:custGeom>
            <a:avLst/>
            <a:gdLst/>
            <a:ahLst/>
            <a:cxnLst/>
            <a:rect l="l" t="t" r="r" b="b"/>
            <a:pathLst>
              <a:path w="6596398" h="5928512">
                <a:moveTo>
                  <a:pt x="0" y="0"/>
                </a:moveTo>
                <a:lnTo>
                  <a:pt x="6596398" y="0"/>
                </a:lnTo>
                <a:lnTo>
                  <a:pt x="6596398" y="5928513"/>
                </a:lnTo>
                <a:lnTo>
                  <a:pt x="0" y="59285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文档知识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739344" y="2834667"/>
            <a:ext cx="4034384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1.想考高分就要全部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完整背诵下来，考试有大题有填空判断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911674" y="5076825"/>
            <a:ext cx="3849302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2.要记得背</a:t>
            </a:r>
            <a:r>
              <a:rPr lang="en-US" sz="3400">
                <a:solidFill>
                  <a:srgbClr val="478EEA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英文缩写</a:t>
            </a: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（去年考过）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937177" y="6770990"/>
            <a:ext cx="3836551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3.分数占比很大的一个模块，反复多背word文档！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552363" y="2061171"/>
            <a:ext cx="21095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1.背诵内容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42458" y="718621"/>
            <a:ext cx="17003083" cy="9030923"/>
            <a:chOff x="0" y="0"/>
            <a:chExt cx="4478178" cy="2378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378515"/>
            </a:xfrm>
            <a:custGeom>
              <a:avLst/>
              <a:gdLst/>
              <a:ahLst/>
              <a:cxnLst/>
              <a:rect l="l" t="t" r="r" b="b"/>
              <a:pathLst>
                <a:path w="4478178" h="2378515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32982"/>
                  </a:lnTo>
                  <a:cubicBezTo>
                    <a:pt x="4478178" y="2358129"/>
                    <a:pt x="4457793" y="2378515"/>
                    <a:pt x="4432646" y="2378515"/>
                  </a:cubicBezTo>
                  <a:lnTo>
                    <a:pt x="45532" y="2378515"/>
                  </a:lnTo>
                  <a:cubicBezTo>
                    <a:pt x="20386" y="2378515"/>
                    <a:pt x="0" y="2358129"/>
                    <a:pt x="0" y="2332982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02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>
            <a:off x="1862129" y="3669626"/>
            <a:ext cx="6891289" cy="5108168"/>
          </a:xfrm>
          <a:custGeom>
            <a:avLst/>
            <a:gdLst/>
            <a:ahLst/>
            <a:cxnLst/>
            <a:rect l="l" t="t" r="r" b="b"/>
            <a:pathLst>
              <a:path w="6891289" h="5108168">
                <a:moveTo>
                  <a:pt x="0" y="0"/>
                </a:moveTo>
                <a:lnTo>
                  <a:pt x="6891288" y="0"/>
                </a:lnTo>
                <a:lnTo>
                  <a:pt x="6891288" y="5108168"/>
                </a:lnTo>
                <a:lnTo>
                  <a:pt x="0" y="5108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968406" y="3669626"/>
            <a:ext cx="6814618" cy="5279931"/>
          </a:xfrm>
          <a:custGeom>
            <a:avLst/>
            <a:gdLst/>
            <a:ahLst/>
            <a:cxnLst/>
            <a:rect l="l" t="t" r="r" b="b"/>
            <a:pathLst>
              <a:path w="6814618" h="5279931">
                <a:moveTo>
                  <a:pt x="0" y="0"/>
                </a:moveTo>
                <a:lnTo>
                  <a:pt x="6814618" y="0"/>
                </a:lnTo>
                <a:lnTo>
                  <a:pt x="6814618" y="5279931"/>
                </a:lnTo>
                <a:lnTo>
                  <a:pt x="0" y="5279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253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文档知识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552363" y="2061171"/>
            <a:ext cx="210954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2.知识应用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016052" y="2832061"/>
            <a:ext cx="329172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（1）进制的转换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071529" y="2832061"/>
            <a:ext cx="415516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（2）原码补码的计算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42458" y="839079"/>
            <a:ext cx="17003083" cy="9030923"/>
            <a:chOff x="0" y="0"/>
            <a:chExt cx="4478178" cy="2378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378515"/>
            </a:xfrm>
            <a:custGeom>
              <a:avLst/>
              <a:gdLst/>
              <a:ahLst/>
              <a:cxnLst/>
              <a:rect l="l" t="t" r="r" b="b"/>
              <a:pathLst>
                <a:path w="4478178" h="2378515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32982"/>
                  </a:lnTo>
                  <a:cubicBezTo>
                    <a:pt x="4478178" y="2358129"/>
                    <a:pt x="4457793" y="2378515"/>
                    <a:pt x="4432646" y="2378515"/>
                  </a:cubicBezTo>
                  <a:lnTo>
                    <a:pt x="45532" y="2378515"/>
                  </a:lnTo>
                  <a:cubicBezTo>
                    <a:pt x="20386" y="2378515"/>
                    <a:pt x="0" y="2358129"/>
                    <a:pt x="0" y="2332982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02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编程设计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922466" y="2332799"/>
            <a:ext cx="12443068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1.读代码（30分）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在这个版块，包括与编程相关的知识+运行结果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例如给你一段scheme代码，让你判断输出结果，去年涉及的部分有</a:t>
            </a:r>
            <a:r>
              <a:rPr lang="en-US" sz="3400">
                <a:solidFill>
                  <a:srgbClr val="FF3131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表list、递归大</a:t>
            </a: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部分都是非常简单的内容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13491" y="5180139"/>
            <a:ext cx="12443068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2.编写代码（20分）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ctr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去年考的是两道大题，一道十分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手写代码就十分考验大家的严谨认真，比如</a:t>
            </a:r>
            <a:r>
              <a:rPr lang="en-US" sz="3400">
                <a:solidFill>
                  <a:srgbClr val="FF3131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括号是否对应完整，英文函数是否出错</a:t>
            </a: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，不仅要保证代码正确，更重要的是这些细枝末节的方面！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1036" y="1223394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49210" y="419445"/>
            <a:ext cx="3788578" cy="2073385"/>
          </a:xfrm>
          <a:custGeom>
            <a:avLst/>
            <a:gdLst/>
            <a:ahLst/>
            <a:cxnLst/>
            <a:rect l="l" t="t" r="r" b="b"/>
            <a:pathLst>
              <a:path w="3788578" h="2073385">
                <a:moveTo>
                  <a:pt x="0" y="0"/>
                </a:moveTo>
                <a:lnTo>
                  <a:pt x="3788578" y="0"/>
                </a:lnTo>
                <a:lnTo>
                  <a:pt x="3788578" y="2073385"/>
                </a:lnTo>
                <a:lnTo>
                  <a:pt x="0" y="207338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66569" y="7247520"/>
            <a:ext cx="3048936" cy="3006166"/>
          </a:xfrm>
          <a:custGeom>
            <a:avLst/>
            <a:gdLst/>
            <a:ahLst/>
            <a:cxnLst/>
            <a:rect l="l" t="t" r="r" b="b"/>
            <a:pathLst>
              <a:path w="3048936" h="3006166">
                <a:moveTo>
                  <a:pt x="0" y="0"/>
                </a:moveTo>
                <a:lnTo>
                  <a:pt x="3048937" y="0"/>
                </a:lnTo>
                <a:lnTo>
                  <a:pt x="3048937" y="3006166"/>
                </a:lnTo>
                <a:lnTo>
                  <a:pt x="0" y="300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3137" y="2264230"/>
            <a:ext cx="4761726" cy="219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5"/>
              </a:lnSpc>
              <a:spcBef>
                <a:spcPct val="0"/>
              </a:spcBef>
            </a:pPr>
            <a:r>
              <a:rPr lang="en-US" sz="12760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03</a:t>
            </a:r>
            <a:endParaRPr lang="en-US" sz="12760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 rot="-5400000">
            <a:off x="8738188" y="2080256"/>
            <a:ext cx="706847" cy="99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5"/>
              </a:lnSpc>
              <a:spcBef>
                <a:spcPct val="0"/>
              </a:spcBef>
            </a:pPr>
            <a:r>
              <a:rPr lang="en-US" sz="4655" spc="944">
                <a:solidFill>
                  <a:srgbClr val="000000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EXAMPLE EXPLANATION</a:t>
            </a:r>
            <a:endParaRPr lang="en-US" sz="4655" spc="944">
              <a:solidFill>
                <a:srgbClr val="000000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15" name="Group 15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8521" y="5997040"/>
            <a:ext cx="2482623" cy="3129550"/>
          </a:xfrm>
          <a:custGeom>
            <a:avLst/>
            <a:gdLst/>
            <a:ahLst/>
            <a:cxnLst/>
            <a:rect l="l" t="t" r="r" b="b"/>
            <a:pathLst>
              <a:path w="2482623" h="3129550">
                <a:moveTo>
                  <a:pt x="0" y="0"/>
                </a:moveTo>
                <a:lnTo>
                  <a:pt x="2482623" y="0"/>
                </a:lnTo>
                <a:lnTo>
                  <a:pt x="2482623" y="3129550"/>
                </a:lnTo>
                <a:lnTo>
                  <a:pt x="0" y="3129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4889824" y="4560212"/>
            <a:ext cx="8508353" cy="1773193"/>
            <a:chOff x="0" y="0"/>
            <a:chExt cx="11344470" cy="2364258"/>
          </a:xfrm>
        </p:grpSpPr>
        <p:sp>
          <p:nvSpPr>
            <p:cNvPr id="21" name="Freeform 21"/>
            <p:cNvSpPr/>
            <p:nvPr/>
          </p:nvSpPr>
          <p:spPr>
            <a:xfrm>
              <a:off x="832049" y="0"/>
              <a:ext cx="9680372" cy="2345008"/>
            </a:xfrm>
            <a:custGeom>
              <a:avLst/>
              <a:gdLst/>
              <a:ahLst/>
              <a:cxnLst/>
              <a:rect l="l" t="t" r="r" b="b"/>
              <a:pathLst>
                <a:path w="9680372" h="2345008">
                  <a:moveTo>
                    <a:pt x="0" y="0"/>
                  </a:moveTo>
                  <a:lnTo>
                    <a:pt x="9680372" y="0"/>
                  </a:lnTo>
                  <a:lnTo>
                    <a:pt x="9680372" y="2345008"/>
                  </a:lnTo>
                  <a:lnTo>
                    <a:pt x="0" y="234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73" r="-12596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0" y="0"/>
                  </a:moveTo>
                  <a:lnTo>
                    <a:pt x="832049" y="0"/>
                  </a:lnTo>
                  <a:lnTo>
                    <a:pt x="832049" y="2345009"/>
                  </a:lnTo>
                  <a:lnTo>
                    <a:pt x="0" y="2345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 flipH="1">
              <a:off x="10512421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832049" y="0"/>
                  </a:moveTo>
                  <a:lnTo>
                    <a:pt x="0" y="0"/>
                  </a:lnTo>
                  <a:lnTo>
                    <a:pt x="0" y="2345009"/>
                  </a:lnTo>
                  <a:lnTo>
                    <a:pt x="832049" y="2345009"/>
                  </a:lnTo>
                  <a:lnTo>
                    <a:pt x="832049" y="0"/>
                  </a:lnTo>
                  <a:close/>
                </a:path>
              </a:pathLst>
            </a:custGeom>
            <a:blipFill>
              <a:blip r:embed="rId4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584298" y="4548399"/>
            <a:ext cx="5119403" cy="164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5"/>
              </a:lnSpc>
              <a:spcBef>
                <a:spcPct val="0"/>
              </a:spcBef>
            </a:pPr>
            <a:r>
              <a:rPr lang="en-US" sz="957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例题讲解</a:t>
            </a:r>
            <a:endParaRPr lang="en-US" sz="957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00464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例题讲解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38176" y="1624738"/>
            <a:ext cx="2821730" cy="1943467"/>
          </a:xfrm>
          <a:custGeom>
            <a:avLst/>
            <a:gdLst/>
            <a:ahLst/>
            <a:cxnLst/>
            <a:rect l="l" t="t" r="r" b="b"/>
            <a:pathLst>
              <a:path w="2821730" h="1943467">
                <a:moveTo>
                  <a:pt x="0" y="0"/>
                </a:moveTo>
                <a:lnTo>
                  <a:pt x="2821730" y="0"/>
                </a:lnTo>
                <a:lnTo>
                  <a:pt x="2821730" y="1943467"/>
                </a:lnTo>
                <a:lnTo>
                  <a:pt x="0" y="1943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5045241" y="1917701"/>
            <a:ext cx="4098759" cy="793089"/>
            <a:chOff x="0" y="0"/>
            <a:chExt cx="5465012" cy="1057453"/>
          </a:xfrm>
        </p:grpSpPr>
        <p:sp>
          <p:nvSpPr>
            <p:cNvPr id="24" name="Freeform 24"/>
            <p:cNvSpPr/>
            <p:nvPr/>
          </p:nvSpPr>
          <p:spPr>
            <a:xfrm rot="2814960">
              <a:off x="5191984" y="419825"/>
              <a:ext cx="229927" cy="217803"/>
            </a:xfrm>
            <a:custGeom>
              <a:avLst/>
              <a:gdLst/>
              <a:ahLst/>
              <a:cxnLst/>
              <a:rect l="l" t="t" r="r" b="b"/>
              <a:pathLst>
                <a:path w="229927" h="217803">
                  <a:moveTo>
                    <a:pt x="0" y="0"/>
                  </a:moveTo>
                  <a:lnTo>
                    <a:pt x="229927" y="0"/>
                  </a:lnTo>
                  <a:lnTo>
                    <a:pt x="229927" y="217803"/>
                  </a:lnTo>
                  <a:lnTo>
                    <a:pt x="0" y="21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1587560">
              <a:off x="36480" y="419825"/>
              <a:ext cx="229927" cy="217803"/>
            </a:xfrm>
            <a:custGeom>
              <a:avLst/>
              <a:gdLst/>
              <a:ahLst/>
              <a:cxnLst/>
              <a:rect l="l" t="t" r="r" b="b"/>
              <a:pathLst>
                <a:path w="229927" h="217803">
                  <a:moveTo>
                    <a:pt x="0" y="0"/>
                  </a:moveTo>
                  <a:lnTo>
                    <a:pt x="229927" y="0"/>
                  </a:lnTo>
                  <a:lnTo>
                    <a:pt x="229927" y="217803"/>
                  </a:lnTo>
                  <a:lnTo>
                    <a:pt x="0" y="21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653202" y="-104775"/>
              <a:ext cx="4150075" cy="1162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1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3482062" y="2710790"/>
            <a:ext cx="12928945" cy="2432710"/>
            <a:chOff x="0" y="0"/>
            <a:chExt cx="3405154" cy="64071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05154" cy="640714"/>
            </a:xfrm>
            <a:custGeom>
              <a:avLst/>
              <a:gdLst/>
              <a:ahLst/>
              <a:cxnLst/>
              <a:rect l="l" t="t" r="r" b="b"/>
              <a:pathLst>
                <a:path w="3405154" h="640714">
                  <a:moveTo>
                    <a:pt x="30539" y="0"/>
                  </a:moveTo>
                  <a:lnTo>
                    <a:pt x="3374615" y="0"/>
                  </a:lnTo>
                  <a:cubicBezTo>
                    <a:pt x="3382714" y="0"/>
                    <a:pt x="3390482" y="3217"/>
                    <a:pt x="3396209" y="8945"/>
                  </a:cubicBezTo>
                  <a:cubicBezTo>
                    <a:pt x="3401937" y="14672"/>
                    <a:pt x="3405154" y="22440"/>
                    <a:pt x="3405154" y="30539"/>
                  </a:cubicBezTo>
                  <a:lnTo>
                    <a:pt x="3405154" y="610175"/>
                  </a:lnTo>
                  <a:cubicBezTo>
                    <a:pt x="3405154" y="618274"/>
                    <a:pt x="3401937" y="626042"/>
                    <a:pt x="3396209" y="631769"/>
                  </a:cubicBezTo>
                  <a:cubicBezTo>
                    <a:pt x="3390482" y="637496"/>
                    <a:pt x="3382714" y="640714"/>
                    <a:pt x="3374615" y="640714"/>
                  </a:cubicBezTo>
                  <a:lnTo>
                    <a:pt x="30539" y="640714"/>
                  </a:lnTo>
                  <a:cubicBezTo>
                    <a:pt x="22440" y="640714"/>
                    <a:pt x="14672" y="637496"/>
                    <a:pt x="8945" y="631769"/>
                  </a:cubicBezTo>
                  <a:cubicBezTo>
                    <a:pt x="3217" y="626042"/>
                    <a:pt x="0" y="618274"/>
                    <a:pt x="0" y="610175"/>
                  </a:cubicBezTo>
                  <a:lnTo>
                    <a:pt x="0" y="30539"/>
                  </a:lnTo>
                  <a:cubicBezTo>
                    <a:pt x="0" y="22440"/>
                    <a:pt x="3217" y="14672"/>
                    <a:pt x="8945" y="8945"/>
                  </a:cubicBezTo>
                  <a:cubicBezTo>
                    <a:pt x="14672" y="3217"/>
                    <a:pt x="22440" y="0"/>
                    <a:pt x="30539" y="0"/>
                  </a:cubicBezTo>
                  <a:close/>
                </a:path>
              </a:pathLst>
            </a:custGeom>
            <a:solidFill>
              <a:srgbClr val="FFAAE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23825"/>
              <a:ext cx="3405154" cy="7645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03340" y="2122471"/>
            <a:ext cx="1078722" cy="8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01</a:t>
            </a:r>
            <a:endParaRPr lang="en-US" sz="501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851835" y="2529796"/>
            <a:ext cx="12786153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闰年的规则为：如果年份能被4整除但不能被100整除，则是闰年。如果年份能被400整除，也是闰年。要求设计一个scheme代码，找到一段时间内的所有闰年，用序列的形式进行输出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</a:p>
        </p:txBody>
      </p:sp>
      <p:sp>
        <p:nvSpPr>
          <p:cNvPr id="32" name="Freeform 32"/>
          <p:cNvSpPr/>
          <p:nvPr/>
        </p:nvSpPr>
        <p:spPr>
          <a:xfrm>
            <a:off x="1338176" y="5198337"/>
            <a:ext cx="2821730" cy="1943467"/>
          </a:xfrm>
          <a:custGeom>
            <a:avLst/>
            <a:gdLst/>
            <a:ahLst/>
            <a:cxnLst/>
            <a:rect l="l" t="t" r="r" b="b"/>
            <a:pathLst>
              <a:path w="2821730" h="1943467">
                <a:moveTo>
                  <a:pt x="0" y="0"/>
                </a:moveTo>
                <a:lnTo>
                  <a:pt x="2821730" y="0"/>
                </a:lnTo>
                <a:lnTo>
                  <a:pt x="2821730" y="1943467"/>
                </a:lnTo>
                <a:lnTo>
                  <a:pt x="0" y="1943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2403340" y="5696071"/>
            <a:ext cx="1078722" cy="8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02</a:t>
            </a:r>
            <a:endParaRPr lang="en-US" sz="501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3482062" y="6170071"/>
            <a:ext cx="12928945" cy="3297588"/>
            <a:chOff x="0" y="0"/>
            <a:chExt cx="3405154" cy="86850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05154" cy="868501"/>
            </a:xfrm>
            <a:custGeom>
              <a:avLst/>
              <a:gdLst/>
              <a:ahLst/>
              <a:cxnLst/>
              <a:rect l="l" t="t" r="r" b="b"/>
              <a:pathLst>
                <a:path w="3405154" h="868501">
                  <a:moveTo>
                    <a:pt x="30539" y="0"/>
                  </a:moveTo>
                  <a:lnTo>
                    <a:pt x="3374615" y="0"/>
                  </a:lnTo>
                  <a:cubicBezTo>
                    <a:pt x="3382714" y="0"/>
                    <a:pt x="3390482" y="3217"/>
                    <a:pt x="3396209" y="8945"/>
                  </a:cubicBezTo>
                  <a:cubicBezTo>
                    <a:pt x="3401937" y="14672"/>
                    <a:pt x="3405154" y="22440"/>
                    <a:pt x="3405154" y="30539"/>
                  </a:cubicBezTo>
                  <a:lnTo>
                    <a:pt x="3405154" y="837962"/>
                  </a:lnTo>
                  <a:cubicBezTo>
                    <a:pt x="3405154" y="846061"/>
                    <a:pt x="3401937" y="853829"/>
                    <a:pt x="3396209" y="859556"/>
                  </a:cubicBezTo>
                  <a:cubicBezTo>
                    <a:pt x="3390482" y="865283"/>
                    <a:pt x="3382714" y="868501"/>
                    <a:pt x="3374615" y="868501"/>
                  </a:cubicBezTo>
                  <a:lnTo>
                    <a:pt x="30539" y="868501"/>
                  </a:lnTo>
                  <a:cubicBezTo>
                    <a:pt x="13673" y="868501"/>
                    <a:pt x="0" y="854828"/>
                    <a:pt x="0" y="837962"/>
                  </a:cubicBezTo>
                  <a:lnTo>
                    <a:pt x="0" y="30539"/>
                  </a:lnTo>
                  <a:cubicBezTo>
                    <a:pt x="0" y="22440"/>
                    <a:pt x="3217" y="14672"/>
                    <a:pt x="8945" y="8945"/>
                  </a:cubicBezTo>
                  <a:cubicBezTo>
                    <a:pt x="14672" y="3217"/>
                    <a:pt x="22440" y="0"/>
                    <a:pt x="30539" y="0"/>
                  </a:cubicBezTo>
                  <a:close/>
                </a:path>
              </a:pathLst>
            </a:custGeom>
            <a:solidFill>
              <a:srgbClr val="FFAAEE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23825"/>
              <a:ext cx="3405154" cy="992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159906" y="6415361"/>
            <a:ext cx="302220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有效闰年逻辑：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054757" y="7132279"/>
            <a:ext cx="11472267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0" lvl="1" indent="-367030" algn="l">
              <a:lnSpc>
                <a:spcPts val="4760"/>
              </a:lnSpc>
              <a:buAutoNum type="arabicPeriod"/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如果年份能被4整除，那么它可能是闰年。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734060" lvl="1" indent="-367030" algn="l">
              <a:lnSpc>
                <a:spcPts val="4760"/>
              </a:lnSpc>
              <a:buAutoNum type="arabicPeriod"/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如果这个年份也能被100整除，那么它不是闰年，除非：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734060" lvl="1" indent="-367030" algn="l">
              <a:lnSpc>
                <a:spcPts val="4760"/>
              </a:lnSpc>
              <a:buAutoNum type="arabicPeriod"/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这个年份还能被400整除，在这种情况下，它又是闰年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56217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例题讲解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38176" y="1624738"/>
            <a:ext cx="2821730" cy="1943467"/>
          </a:xfrm>
          <a:custGeom>
            <a:avLst/>
            <a:gdLst/>
            <a:ahLst/>
            <a:cxnLst/>
            <a:rect l="l" t="t" r="r" b="b"/>
            <a:pathLst>
              <a:path w="2821730" h="1943467">
                <a:moveTo>
                  <a:pt x="0" y="0"/>
                </a:moveTo>
                <a:lnTo>
                  <a:pt x="2821730" y="0"/>
                </a:lnTo>
                <a:lnTo>
                  <a:pt x="2821730" y="1943467"/>
                </a:lnTo>
                <a:lnTo>
                  <a:pt x="0" y="1943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5045241" y="1917701"/>
            <a:ext cx="4098759" cy="793089"/>
            <a:chOff x="0" y="0"/>
            <a:chExt cx="5465012" cy="1057453"/>
          </a:xfrm>
        </p:grpSpPr>
        <p:sp>
          <p:nvSpPr>
            <p:cNvPr id="24" name="Freeform 24"/>
            <p:cNvSpPr/>
            <p:nvPr/>
          </p:nvSpPr>
          <p:spPr>
            <a:xfrm rot="2814960">
              <a:off x="5191984" y="419825"/>
              <a:ext cx="229927" cy="217803"/>
            </a:xfrm>
            <a:custGeom>
              <a:avLst/>
              <a:gdLst/>
              <a:ahLst/>
              <a:cxnLst/>
              <a:rect l="l" t="t" r="r" b="b"/>
              <a:pathLst>
                <a:path w="229927" h="217803">
                  <a:moveTo>
                    <a:pt x="0" y="0"/>
                  </a:moveTo>
                  <a:lnTo>
                    <a:pt x="229927" y="0"/>
                  </a:lnTo>
                  <a:lnTo>
                    <a:pt x="229927" y="217803"/>
                  </a:lnTo>
                  <a:lnTo>
                    <a:pt x="0" y="21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1587560">
              <a:off x="36480" y="419825"/>
              <a:ext cx="229927" cy="217803"/>
            </a:xfrm>
            <a:custGeom>
              <a:avLst/>
              <a:gdLst/>
              <a:ahLst/>
              <a:cxnLst/>
              <a:rect l="l" t="t" r="r" b="b"/>
              <a:pathLst>
                <a:path w="229927" h="217803">
                  <a:moveTo>
                    <a:pt x="0" y="0"/>
                  </a:moveTo>
                  <a:lnTo>
                    <a:pt x="229927" y="0"/>
                  </a:lnTo>
                  <a:lnTo>
                    <a:pt x="229927" y="217803"/>
                  </a:lnTo>
                  <a:lnTo>
                    <a:pt x="0" y="21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653202" y="-104775"/>
              <a:ext cx="4150075" cy="1162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1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3482062" y="2710790"/>
            <a:ext cx="12928945" cy="4755231"/>
            <a:chOff x="0" y="0"/>
            <a:chExt cx="3405154" cy="12524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05154" cy="1252406"/>
            </a:xfrm>
            <a:custGeom>
              <a:avLst/>
              <a:gdLst/>
              <a:ahLst/>
              <a:cxnLst/>
              <a:rect l="l" t="t" r="r" b="b"/>
              <a:pathLst>
                <a:path w="3405154" h="1252406">
                  <a:moveTo>
                    <a:pt x="30539" y="0"/>
                  </a:moveTo>
                  <a:lnTo>
                    <a:pt x="3374615" y="0"/>
                  </a:lnTo>
                  <a:cubicBezTo>
                    <a:pt x="3382714" y="0"/>
                    <a:pt x="3390482" y="3217"/>
                    <a:pt x="3396209" y="8945"/>
                  </a:cubicBezTo>
                  <a:cubicBezTo>
                    <a:pt x="3401937" y="14672"/>
                    <a:pt x="3405154" y="22440"/>
                    <a:pt x="3405154" y="30539"/>
                  </a:cubicBezTo>
                  <a:lnTo>
                    <a:pt x="3405154" y="1221867"/>
                  </a:lnTo>
                  <a:cubicBezTo>
                    <a:pt x="3405154" y="1229967"/>
                    <a:pt x="3401937" y="1237735"/>
                    <a:pt x="3396209" y="1243462"/>
                  </a:cubicBezTo>
                  <a:cubicBezTo>
                    <a:pt x="3390482" y="1249189"/>
                    <a:pt x="3382714" y="1252406"/>
                    <a:pt x="3374615" y="1252406"/>
                  </a:cubicBezTo>
                  <a:lnTo>
                    <a:pt x="30539" y="1252406"/>
                  </a:lnTo>
                  <a:cubicBezTo>
                    <a:pt x="22440" y="1252406"/>
                    <a:pt x="14672" y="1249189"/>
                    <a:pt x="8945" y="1243462"/>
                  </a:cubicBezTo>
                  <a:cubicBezTo>
                    <a:pt x="3217" y="1237735"/>
                    <a:pt x="0" y="1229967"/>
                    <a:pt x="0" y="1221867"/>
                  </a:cubicBezTo>
                  <a:lnTo>
                    <a:pt x="0" y="30539"/>
                  </a:lnTo>
                  <a:cubicBezTo>
                    <a:pt x="0" y="22440"/>
                    <a:pt x="3217" y="14672"/>
                    <a:pt x="8945" y="8945"/>
                  </a:cubicBezTo>
                  <a:cubicBezTo>
                    <a:pt x="14672" y="3217"/>
                    <a:pt x="22440" y="0"/>
                    <a:pt x="30539" y="0"/>
                  </a:cubicBezTo>
                  <a:close/>
                </a:path>
              </a:pathLst>
            </a:custGeom>
            <a:solidFill>
              <a:srgbClr val="FFAAE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23825"/>
              <a:ext cx="3405154" cy="137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03340" y="2122471"/>
            <a:ext cx="1078722" cy="8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03</a:t>
            </a:r>
            <a:endParaRPr lang="en-US" sz="501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851835" y="2529796"/>
            <a:ext cx="12786153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1.设计判断闰年函数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(define (leap-year? year)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(and (zero? (remainder year 4))            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     (or (not (zero? (remainder year 100)))   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         (zero? (remainder year 400)))))     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76710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例题讲解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338176" y="1624738"/>
            <a:ext cx="2821730" cy="1943467"/>
          </a:xfrm>
          <a:custGeom>
            <a:avLst/>
            <a:gdLst/>
            <a:ahLst/>
            <a:cxnLst/>
            <a:rect l="l" t="t" r="r" b="b"/>
            <a:pathLst>
              <a:path w="2821730" h="1943467">
                <a:moveTo>
                  <a:pt x="0" y="0"/>
                </a:moveTo>
                <a:lnTo>
                  <a:pt x="2821730" y="0"/>
                </a:lnTo>
                <a:lnTo>
                  <a:pt x="2821730" y="1943467"/>
                </a:lnTo>
                <a:lnTo>
                  <a:pt x="0" y="1943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5045241" y="1917701"/>
            <a:ext cx="4098759" cy="793089"/>
            <a:chOff x="0" y="0"/>
            <a:chExt cx="5465012" cy="1057453"/>
          </a:xfrm>
        </p:grpSpPr>
        <p:sp>
          <p:nvSpPr>
            <p:cNvPr id="24" name="Freeform 24"/>
            <p:cNvSpPr/>
            <p:nvPr/>
          </p:nvSpPr>
          <p:spPr>
            <a:xfrm rot="2814960">
              <a:off x="5191984" y="419825"/>
              <a:ext cx="229927" cy="217803"/>
            </a:xfrm>
            <a:custGeom>
              <a:avLst/>
              <a:gdLst/>
              <a:ahLst/>
              <a:cxnLst/>
              <a:rect l="l" t="t" r="r" b="b"/>
              <a:pathLst>
                <a:path w="229927" h="217803">
                  <a:moveTo>
                    <a:pt x="0" y="0"/>
                  </a:moveTo>
                  <a:lnTo>
                    <a:pt x="229927" y="0"/>
                  </a:lnTo>
                  <a:lnTo>
                    <a:pt x="229927" y="217803"/>
                  </a:lnTo>
                  <a:lnTo>
                    <a:pt x="0" y="21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1587560">
              <a:off x="36480" y="419825"/>
              <a:ext cx="229927" cy="217803"/>
            </a:xfrm>
            <a:custGeom>
              <a:avLst/>
              <a:gdLst/>
              <a:ahLst/>
              <a:cxnLst/>
              <a:rect l="l" t="t" r="r" b="b"/>
              <a:pathLst>
                <a:path w="229927" h="217803">
                  <a:moveTo>
                    <a:pt x="0" y="0"/>
                  </a:moveTo>
                  <a:lnTo>
                    <a:pt x="229927" y="0"/>
                  </a:lnTo>
                  <a:lnTo>
                    <a:pt x="229927" y="217803"/>
                  </a:lnTo>
                  <a:lnTo>
                    <a:pt x="0" y="217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653202" y="-104775"/>
              <a:ext cx="4150075" cy="11622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315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3482062" y="2710790"/>
            <a:ext cx="12928945" cy="5199996"/>
            <a:chOff x="0" y="0"/>
            <a:chExt cx="3405154" cy="136954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05154" cy="1369546"/>
            </a:xfrm>
            <a:custGeom>
              <a:avLst/>
              <a:gdLst/>
              <a:ahLst/>
              <a:cxnLst/>
              <a:rect l="l" t="t" r="r" b="b"/>
              <a:pathLst>
                <a:path w="3405154" h="1369546">
                  <a:moveTo>
                    <a:pt x="30539" y="0"/>
                  </a:moveTo>
                  <a:lnTo>
                    <a:pt x="3374615" y="0"/>
                  </a:lnTo>
                  <a:cubicBezTo>
                    <a:pt x="3382714" y="0"/>
                    <a:pt x="3390482" y="3217"/>
                    <a:pt x="3396209" y="8945"/>
                  </a:cubicBezTo>
                  <a:cubicBezTo>
                    <a:pt x="3401937" y="14672"/>
                    <a:pt x="3405154" y="22440"/>
                    <a:pt x="3405154" y="30539"/>
                  </a:cubicBezTo>
                  <a:lnTo>
                    <a:pt x="3405154" y="1339007"/>
                  </a:lnTo>
                  <a:cubicBezTo>
                    <a:pt x="3405154" y="1355874"/>
                    <a:pt x="3391481" y="1369546"/>
                    <a:pt x="3374615" y="1369546"/>
                  </a:cubicBezTo>
                  <a:lnTo>
                    <a:pt x="30539" y="1369546"/>
                  </a:lnTo>
                  <a:cubicBezTo>
                    <a:pt x="22440" y="1369546"/>
                    <a:pt x="14672" y="1366329"/>
                    <a:pt x="8945" y="1360602"/>
                  </a:cubicBezTo>
                  <a:cubicBezTo>
                    <a:pt x="3217" y="1354874"/>
                    <a:pt x="0" y="1347107"/>
                    <a:pt x="0" y="1339007"/>
                  </a:cubicBezTo>
                  <a:lnTo>
                    <a:pt x="0" y="30539"/>
                  </a:lnTo>
                  <a:cubicBezTo>
                    <a:pt x="0" y="22440"/>
                    <a:pt x="3217" y="14672"/>
                    <a:pt x="8945" y="8945"/>
                  </a:cubicBezTo>
                  <a:cubicBezTo>
                    <a:pt x="14672" y="3217"/>
                    <a:pt x="22440" y="0"/>
                    <a:pt x="30539" y="0"/>
                  </a:cubicBezTo>
                  <a:close/>
                </a:path>
              </a:pathLst>
            </a:custGeom>
            <a:solidFill>
              <a:srgbClr val="FFAAEE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23825"/>
              <a:ext cx="3405154" cy="14933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403340" y="2122471"/>
            <a:ext cx="1078722" cy="8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  <a:spcBef>
                <a:spcPct val="0"/>
              </a:spcBef>
            </a:pPr>
            <a:r>
              <a:rPr lang="en-US" sz="501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04</a:t>
            </a:r>
            <a:endParaRPr lang="en-US" sz="501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851835" y="2529796"/>
            <a:ext cx="12786153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2.使用递归思想实现函数输出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(define (leap-years-seq start end)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(if (&gt; start end)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    '()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    (if (leap-year? start)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        (cons start (leap-years-seq (+ start 1) end))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000000"/>
                </a:solidFill>
                <a:latin typeface="字由点字典黑" panose="00020600040101010101" charset="-122"/>
                <a:ea typeface="字由点字典黑" panose="00020600040101010101" charset="-122"/>
                <a:cs typeface="字由点字典黑" panose="00020600040101010101" charset="-122"/>
                <a:sym typeface="字由点字典黑" panose="00020600040101010101" charset="-122"/>
              </a:rPr>
              <a:t>          (leap-years-seq (+ start 1) end))))</a:t>
            </a:r>
            <a:endParaRPr lang="en-US" sz="3400">
              <a:solidFill>
                <a:srgbClr val="000000"/>
              </a:solidFill>
              <a:latin typeface="字由点字典黑" panose="00020600040101010101" charset="-122"/>
              <a:ea typeface="字由点字典黑" panose="00020600040101010101" charset="-122"/>
              <a:cs typeface="字由点字典黑" panose="00020600040101010101" charset="-122"/>
              <a:sym typeface="字由点字典黑" panose="00020600040101010101" charset="-122"/>
            </a:endParaRPr>
          </a:p>
          <a:p>
            <a:pPr marL="0" lvl="0" indent="0" algn="ctr">
              <a:lnSpc>
                <a:spcPts val="47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441358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>
            <a:off x="4159906" y="2400327"/>
            <a:ext cx="10094047" cy="6718750"/>
          </a:xfrm>
          <a:custGeom>
            <a:avLst/>
            <a:gdLst/>
            <a:ahLst/>
            <a:cxnLst/>
            <a:rect l="l" t="t" r="r" b="b"/>
            <a:pathLst>
              <a:path w="10094047" h="6718750">
                <a:moveTo>
                  <a:pt x="0" y="0"/>
                </a:moveTo>
                <a:lnTo>
                  <a:pt x="10094046" y="0"/>
                </a:lnTo>
                <a:lnTo>
                  <a:pt x="10094046" y="6718750"/>
                </a:lnTo>
                <a:lnTo>
                  <a:pt x="0" y="671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输出结果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1036" y="1286379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549210" y="419445"/>
            <a:ext cx="3788578" cy="2073385"/>
          </a:xfrm>
          <a:custGeom>
            <a:avLst/>
            <a:gdLst/>
            <a:ahLst/>
            <a:cxnLst/>
            <a:rect l="l" t="t" r="r" b="b"/>
            <a:pathLst>
              <a:path w="3788578" h="2073385">
                <a:moveTo>
                  <a:pt x="0" y="0"/>
                </a:moveTo>
                <a:lnTo>
                  <a:pt x="3788578" y="0"/>
                </a:lnTo>
                <a:lnTo>
                  <a:pt x="3788578" y="2073385"/>
                </a:lnTo>
                <a:lnTo>
                  <a:pt x="0" y="207338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66569" y="7247520"/>
            <a:ext cx="3048936" cy="3006166"/>
          </a:xfrm>
          <a:custGeom>
            <a:avLst/>
            <a:gdLst/>
            <a:ahLst/>
            <a:cxnLst/>
            <a:rect l="l" t="t" r="r" b="b"/>
            <a:pathLst>
              <a:path w="3048936" h="3006166">
                <a:moveTo>
                  <a:pt x="0" y="0"/>
                </a:moveTo>
                <a:lnTo>
                  <a:pt x="3048937" y="0"/>
                </a:lnTo>
                <a:lnTo>
                  <a:pt x="3048937" y="3006166"/>
                </a:lnTo>
                <a:lnTo>
                  <a:pt x="0" y="300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3137" y="2264230"/>
            <a:ext cx="4761726" cy="219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65"/>
              </a:lnSpc>
              <a:spcBef>
                <a:spcPct val="0"/>
              </a:spcBef>
            </a:pPr>
            <a:r>
              <a:rPr lang="en-US" sz="12760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04</a:t>
            </a:r>
            <a:endParaRPr lang="en-US" sz="12760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 rot="-5400000">
            <a:off x="8738188" y="2080256"/>
            <a:ext cx="706847" cy="999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5"/>
              </a:lnSpc>
              <a:spcBef>
                <a:spcPct val="0"/>
              </a:spcBef>
            </a:pPr>
            <a:r>
              <a:rPr lang="en-US" sz="4655" spc="944">
                <a:solidFill>
                  <a:srgbClr val="000000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SHARE EXPERIENCE</a:t>
            </a:r>
            <a:endParaRPr lang="en-US" sz="4655" spc="944">
              <a:solidFill>
                <a:srgbClr val="000000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15" name="Group 15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898521" y="5997040"/>
            <a:ext cx="2482623" cy="3129550"/>
          </a:xfrm>
          <a:custGeom>
            <a:avLst/>
            <a:gdLst/>
            <a:ahLst/>
            <a:cxnLst/>
            <a:rect l="l" t="t" r="r" b="b"/>
            <a:pathLst>
              <a:path w="2482623" h="3129550">
                <a:moveTo>
                  <a:pt x="0" y="0"/>
                </a:moveTo>
                <a:lnTo>
                  <a:pt x="2482623" y="0"/>
                </a:lnTo>
                <a:lnTo>
                  <a:pt x="2482623" y="3129550"/>
                </a:lnTo>
                <a:lnTo>
                  <a:pt x="0" y="3129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4889824" y="4560212"/>
            <a:ext cx="8508353" cy="1773193"/>
            <a:chOff x="0" y="0"/>
            <a:chExt cx="11344470" cy="2364258"/>
          </a:xfrm>
        </p:grpSpPr>
        <p:sp>
          <p:nvSpPr>
            <p:cNvPr id="21" name="Freeform 21"/>
            <p:cNvSpPr/>
            <p:nvPr/>
          </p:nvSpPr>
          <p:spPr>
            <a:xfrm>
              <a:off x="832049" y="0"/>
              <a:ext cx="9680372" cy="2345008"/>
            </a:xfrm>
            <a:custGeom>
              <a:avLst/>
              <a:gdLst/>
              <a:ahLst/>
              <a:cxnLst/>
              <a:rect l="l" t="t" r="r" b="b"/>
              <a:pathLst>
                <a:path w="9680372" h="2345008">
                  <a:moveTo>
                    <a:pt x="0" y="0"/>
                  </a:moveTo>
                  <a:lnTo>
                    <a:pt x="9680372" y="0"/>
                  </a:lnTo>
                  <a:lnTo>
                    <a:pt x="9680372" y="2345008"/>
                  </a:lnTo>
                  <a:lnTo>
                    <a:pt x="0" y="234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73" r="-12596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0" y="0"/>
                  </a:moveTo>
                  <a:lnTo>
                    <a:pt x="832049" y="0"/>
                  </a:lnTo>
                  <a:lnTo>
                    <a:pt x="832049" y="2345009"/>
                  </a:lnTo>
                  <a:lnTo>
                    <a:pt x="0" y="2345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 flipH="1">
              <a:off x="10512421" y="19249"/>
              <a:ext cx="832049" cy="2345008"/>
            </a:xfrm>
            <a:custGeom>
              <a:avLst/>
              <a:gdLst/>
              <a:ahLst/>
              <a:cxnLst/>
              <a:rect l="l" t="t" r="r" b="b"/>
              <a:pathLst>
                <a:path w="832049" h="2345008">
                  <a:moveTo>
                    <a:pt x="832049" y="0"/>
                  </a:moveTo>
                  <a:lnTo>
                    <a:pt x="0" y="0"/>
                  </a:lnTo>
                  <a:lnTo>
                    <a:pt x="0" y="2345009"/>
                  </a:lnTo>
                  <a:lnTo>
                    <a:pt x="832049" y="2345009"/>
                  </a:lnTo>
                  <a:lnTo>
                    <a:pt x="832049" y="0"/>
                  </a:lnTo>
                  <a:close/>
                </a:path>
              </a:pathLst>
            </a:custGeom>
            <a:blipFill>
              <a:blip r:embed="rId4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584298" y="4548399"/>
            <a:ext cx="5119403" cy="164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05"/>
              </a:lnSpc>
              <a:spcBef>
                <a:spcPct val="0"/>
              </a:spcBef>
            </a:pPr>
            <a:r>
              <a:rPr lang="en-US" sz="957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经验分享</a:t>
            </a:r>
            <a:endParaRPr lang="en-US" sz="957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661430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课程汇总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2381920" y="3305918"/>
            <a:ext cx="3555972" cy="1961556"/>
            <a:chOff x="0" y="0"/>
            <a:chExt cx="936552" cy="51662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693829" y="3584619"/>
            <a:ext cx="2932153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1.代换模型：设计</a:t>
            </a:r>
            <a:r>
              <a:rPr lang="en-US" sz="2000">
                <a:solidFill>
                  <a:srgbClr val="FF3131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函数</a:t>
            </a:r>
            <a:endParaRPr lang="en-US" sz="2000">
              <a:solidFill>
                <a:srgbClr val="FF3131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2.会使用语句：if cond 前置运算符的使用、and、or、not的连接 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grpSp>
        <p:nvGrpSpPr>
          <p:cNvPr id="26" name="Group 26"/>
          <p:cNvGrpSpPr/>
          <p:nvPr/>
        </p:nvGrpSpPr>
        <p:grpSpPr>
          <a:xfrm rot="0">
            <a:off x="6958112" y="3305918"/>
            <a:ext cx="3555972" cy="1961556"/>
            <a:chOff x="0" y="0"/>
            <a:chExt cx="936552" cy="51662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270021" y="3497744"/>
            <a:ext cx="293215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</a:t>
            </a:r>
            <a:r>
              <a:rPr lang="en-US" sz="2000">
                <a:solidFill>
                  <a:srgbClr val="FF3131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递归</a:t>
            </a: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函数的实际设计：一定要有递归出口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2.时间增长阶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2319410" y="2540908"/>
            <a:ext cx="2775141" cy="578356"/>
            <a:chOff x="0" y="0"/>
            <a:chExt cx="3700188" cy="771142"/>
          </a:xfrm>
        </p:grpSpPr>
        <p:sp>
          <p:nvSpPr>
            <p:cNvPr id="31" name="Freeform 31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1.1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12101908" y="2540908"/>
            <a:ext cx="2775141" cy="578356"/>
            <a:chOff x="0" y="0"/>
            <a:chExt cx="3700188" cy="771142"/>
          </a:xfrm>
        </p:grpSpPr>
        <p:sp>
          <p:nvSpPr>
            <p:cNvPr id="40" name="Freeform 40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1.3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0">
            <a:off x="6973353" y="2540908"/>
            <a:ext cx="2775141" cy="578356"/>
            <a:chOff x="0" y="0"/>
            <a:chExt cx="3700188" cy="771142"/>
          </a:xfrm>
        </p:grpSpPr>
        <p:sp>
          <p:nvSpPr>
            <p:cNvPr id="49" name="Freeform 49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1.2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 rot="0">
            <a:off x="11847584" y="3330916"/>
            <a:ext cx="3555972" cy="1961556"/>
            <a:chOff x="0" y="0"/>
            <a:chExt cx="936552" cy="51662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161909" y="3497744"/>
            <a:ext cx="2932153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1.用高阶过程做抽象：只要实现要求对了即可，没有必须的要求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2.lambda和let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grpSp>
        <p:nvGrpSpPr>
          <p:cNvPr id="61" name="Group 61"/>
          <p:cNvGrpSpPr/>
          <p:nvPr/>
        </p:nvGrpSpPr>
        <p:grpSpPr>
          <a:xfrm rot="0">
            <a:off x="2381920" y="5457974"/>
            <a:ext cx="2775141" cy="578356"/>
            <a:chOff x="0" y="0"/>
            <a:chExt cx="3700188" cy="771142"/>
          </a:xfrm>
        </p:grpSpPr>
        <p:sp>
          <p:nvSpPr>
            <p:cNvPr id="62" name="Freeform 62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63" name="Freeform 63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64" name="Freeform 64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65" name="Freeform 65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6" name="Freeform 66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8" name="Freeform 68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2.1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 rot="0">
            <a:off x="6958112" y="6379231"/>
            <a:ext cx="3555972" cy="1961556"/>
            <a:chOff x="0" y="0"/>
            <a:chExt cx="936552" cy="51662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73" name="Group 73"/>
          <p:cNvGrpSpPr/>
          <p:nvPr/>
        </p:nvGrpSpPr>
        <p:grpSpPr>
          <a:xfrm rot="0">
            <a:off x="2381920" y="6503056"/>
            <a:ext cx="3555972" cy="1961556"/>
            <a:chOff x="0" y="0"/>
            <a:chExt cx="936552" cy="51662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76" name="Group 76"/>
          <p:cNvGrpSpPr/>
          <p:nvPr/>
        </p:nvGrpSpPr>
        <p:grpSpPr>
          <a:xfrm rot="0">
            <a:off x="6973353" y="5534174"/>
            <a:ext cx="2775141" cy="578356"/>
            <a:chOff x="0" y="0"/>
            <a:chExt cx="3700188" cy="771142"/>
          </a:xfrm>
        </p:grpSpPr>
        <p:sp>
          <p:nvSpPr>
            <p:cNvPr id="77" name="Freeform 77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78" name="Freeform 78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79" name="Freeform 79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80" name="Freeform 80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1" name="Freeform 81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2" name="Freeform 82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3" name="Freeform 83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2.2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 rot="0">
            <a:off x="12101908" y="5534174"/>
            <a:ext cx="2775141" cy="578356"/>
            <a:chOff x="0" y="0"/>
            <a:chExt cx="3700188" cy="771142"/>
          </a:xfrm>
        </p:grpSpPr>
        <p:sp>
          <p:nvSpPr>
            <p:cNvPr id="86" name="Freeform 86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87" name="Freeform 87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88" name="Freeform 88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89" name="Freeform 89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0" name="Freeform 90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1" name="Freeform 91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2" name="Freeform 92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2.3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94" name="Group 94"/>
          <p:cNvGrpSpPr/>
          <p:nvPr/>
        </p:nvGrpSpPr>
        <p:grpSpPr>
          <a:xfrm rot="0">
            <a:off x="11995927" y="6379231"/>
            <a:ext cx="3555972" cy="1961556"/>
            <a:chOff x="0" y="0"/>
            <a:chExt cx="936552" cy="51662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97" name="TextBox 97"/>
          <p:cNvSpPr txBox="1"/>
          <p:nvPr/>
        </p:nvSpPr>
        <p:spPr>
          <a:xfrm>
            <a:off x="2726105" y="6632933"/>
            <a:ext cx="29321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</a:t>
            </a:r>
            <a:r>
              <a:rPr lang="en-US" sz="2000">
                <a:solidFill>
                  <a:srgbClr val="FF3131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序对</a:t>
            </a: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：cons、car、cdr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sp>
        <p:nvSpPr>
          <p:cNvPr id="98" name="TextBox 98"/>
          <p:cNvSpPr txBox="1"/>
          <p:nvPr/>
        </p:nvSpPr>
        <p:spPr>
          <a:xfrm>
            <a:off x="7361016" y="6632933"/>
            <a:ext cx="2932153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</a:t>
            </a:r>
            <a:r>
              <a:rPr lang="en-US" sz="2000">
                <a:solidFill>
                  <a:srgbClr val="FF3131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表</a:t>
            </a: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：定义list、盒子与指针的表示、衍生的函数的定义：怎么粘一个在最前面、怎么拆表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12272152" y="6632933"/>
            <a:ext cx="293215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1.代数表达式求值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2.集合（看ppt例子）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42458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0">
            <a:off x="2381920" y="3305918"/>
            <a:ext cx="3555972" cy="1961556"/>
            <a:chOff x="0" y="0"/>
            <a:chExt cx="936552" cy="51662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2319410" y="7036456"/>
            <a:ext cx="3555972" cy="1961556"/>
            <a:chOff x="0" y="0"/>
            <a:chExt cx="936552" cy="51662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36552" cy="516624"/>
            </a:xfrm>
            <a:custGeom>
              <a:avLst/>
              <a:gdLst/>
              <a:ahLst/>
              <a:cxnLst/>
              <a:rect l="l" t="t" r="r" b="b"/>
              <a:pathLst>
                <a:path w="936552" h="516624">
                  <a:moveTo>
                    <a:pt x="41366" y="0"/>
                  </a:moveTo>
                  <a:lnTo>
                    <a:pt x="895186" y="0"/>
                  </a:lnTo>
                  <a:cubicBezTo>
                    <a:pt x="918032" y="0"/>
                    <a:pt x="936552" y="18520"/>
                    <a:pt x="936552" y="41366"/>
                  </a:cubicBezTo>
                  <a:lnTo>
                    <a:pt x="936552" y="475258"/>
                  </a:lnTo>
                  <a:cubicBezTo>
                    <a:pt x="936552" y="486229"/>
                    <a:pt x="932194" y="496750"/>
                    <a:pt x="924436" y="504508"/>
                  </a:cubicBezTo>
                  <a:cubicBezTo>
                    <a:pt x="916679" y="512266"/>
                    <a:pt x="906157" y="516624"/>
                    <a:pt x="895186" y="516624"/>
                  </a:cubicBezTo>
                  <a:lnTo>
                    <a:pt x="41366" y="516624"/>
                  </a:lnTo>
                  <a:cubicBezTo>
                    <a:pt x="18520" y="516624"/>
                    <a:pt x="0" y="498104"/>
                    <a:pt x="0" y="475258"/>
                  </a:cubicBezTo>
                  <a:lnTo>
                    <a:pt x="0" y="41366"/>
                  </a:lnTo>
                  <a:cubicBezTo>
                    <a:pt x="0" y="30395"/>
                    <a:pt x="4358" y="19873"/>
                    <a:pt x="12116" y="12116"/>
                  </a:cubicBezTo>
                  <a:cubicBezTo>
                    <a:pt x="19873" y="4358"/>
                    <a:pt x="30395" y="0"/>
                    <a:pt x="4136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23825"/>
              <a:ext cx="936552" cy="64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2319410" y="2540908"/>
            <a:ext cx="2775141" cy="578356"/>
            <a:chOff x="0" y="0"/>
            <a:chExt cx="3700188" cy="771142"/>
          </a:xfrm>
        </p:grpSpPr>
        <p:sp>
          <p:nvSpPr>
            <p:cNvPr id="28" name="Freeform 28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3.1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2487280" y="5781824"/>
            <a:ext cx="2775141" cy="578356"/>
            <a:chOff x="0" y="0"/>
            <a:chExt cx="3700188" cy="771142"/>
          </a:xfrm>
        </p:grpSpPr>
        <p:sp>
          <p:nvSpPr>
            <p:cNvPr id="37" name="Freeform 37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3.2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45" name="Freeform 45"/>
          <p:cNvSpPr/>
          <p:nvPr/>
        </p:nvSpPr>
        <p:spPr>
          <a:xfrm>
            <a:off x="7244365" y="2540908"/>
            <a:ext cx="9921514" cy="6709424"/>
          </a:xfrm>
          <a:custGeom>
            <a:avLst/>
            <a:gdLst/>
            <a:ahLst/>
            <a:cxnLst/>
            <a:rect l="l" t="t" r="r" b="b"/>
            <a:pathLst>
              <a:path w="9921514" h="6709424">
                <a:moveTo>
                  <a:pt x="0" y="0"/>
                </a:moveTo>
                <a:lnTo>
                  <a:pt x="9921514" y="0"/>
                </a:lnTo>
                <a:lnTo>
                  <a:pt x="9921514" y="6709424"/>
                </a:lnTo>
                <a:lnTo>
                  <a:pt x="0" y="67094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7773916" y="1139737"/>
            <a:ext cx="2740168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课程汇总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2693829" y="3584619"/>
            <a:ext cx="2932153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1.要能解决实际问题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理解赋值的概念：存钱取钱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631320" y="7318641"/>
            <a:ext cx="293215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1.环境模型：理解为主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42458" y="537456"/>
            <a:ext cx="17003083" cy="9212089"/>
            <a:chOff x="0" y="0"/>
            <a:chExt cx="4478178" cy="2426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78178" cy="2426229"/>
            </a:xfrm>
            <a:custGeom>
              <a:avLst/>
              <a:gdLst/>
              <a:ahLst/>
              <a:cxnLst/>
              <a:rect l="l" t="t" r="r" b="b"/>
              <a:pathLst>
                <a:path w="4478178" h="2426229">
                  <a:moveTo>
                    <a:pt x="45532" y="0"/>
                  </a:moveTo>
                  <a:lnTo>
                    <a:pt x="4432646" y="0"/>
                  </a:lnTo>
                  <a:cubicBezTo>
                    <a:pt x="4444722" y="0"/>
                    <a:pt x="4456303" y="4797"/>
                    <a:pt x="4464842" y="13336"/>
                  </a:cubicBezTo>
                  <a:cubicBezTo>
                    <a:pt x="4473381" y="21875"/>
                    <a:pt x="4478178" y="33456"/>
                    <a:pt x="4478178" y="45532"/>
                  </a:cubicBezTo>
                  <a:lnTo>
                    <a:pt x="4478178" y="2380697"/>
                  </a:lnTo>
                  <a:cubicBezTo>
                    <a:pt x="4478178" y="2405844"/>
                    <a:pt x="4457793" y="2426229"/>
                    <a:pt x="4432646" y="2426229"/>
                  </a:cubicBezTo>
                  <a:lnTo>
                    <a:pt x="45532" y="2426229"/>
                  </a:lnTo>
                  <a:cubicBezTo>
                    <a:pt x="20386" y="2426229"/>
                    <a:pt x="0" y="2405844"/>
                    <a:pt x="0" y="2380697"/>
                  </a:cubicBezTo>
                  <a:lnTo>
                    <a:pt x="0" y="45532"/>
                  </a:lnTo>
                  <a:cubicBezTo>
                    <a:pt x="0" y="20386"/>
                    <a:pt x="20386" y="0"/>
                    <a:pt x="4553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478178" cy="2550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219134" y="189335"/>
            <a:ext cx="3067447" cy="1678730"/>
          </a:xfrm>
          <a:custGeom>
            <a:avLst/>
            <a:gdLst/>
            <a:ahLst/>
            <a:cxnLst/>
            <a:rect l="l" t="t" r="r" b="b"/>
            <a:pathLst>
              <a:path w="3067447" h="1678730">
                <a:moveTo>
                  <a:pt x="0" y="0"/>
                </a:moveTo>
                <a:lnTo>
                  <a:pt x="3067447" y="0"/>
                </a:lnTo>
                <a:lnTo>
                  <a:pt x="3067447" y="1678730"/>
                </a:lnTo>
                <a:lnTo>
                  <a:pt x="0" y="167873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46058" y="8719799"/>
            <a:ext cx="1589498" cy="1567201"/>
          </a:xfrm>
          <a:custGeom>
            <a:avLst/>
            <a:gdLst/>
            <a:ahLst/>
            <a:cxnLst/>
            <a:rect l="l" t="t" r="r" b="b"/>
            <a:pathLst>
              <a:path w="1589498" h="1567201">
                <a:moveTo>
                  <a:pt x="0" y="0"/>
                </a:moveTo>
                <a:lnTo>
                  <a:pt x="1589499" y="0"/>
                </a:lnTo>
                <a:lnTo>
                  <a:pt x="1589499" y="1567201"/>
                </a:lnTo>
                <a:lnTo>
                  <a:pt x="0" y="1567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141015">
            <a:off x="5712665" y="-1465389"/>
            <a:ext cx="13518203" cy="2930779"/>
            <a:chOff x="0" y="0"/>
            <a:chExt cx="18024270" cy="3907705"/>
          </a:xfrm>
        </p:grpSpPr>
        <p:grpSp>
          <p:nvGrpSpPr>
            <p:cNvPr id="8" name="Group 8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1317143">
            <a:off x="-2599196" y="9562352"/>
            <a:ext cx="13518203" cy="2930779"/>
            <a:chOff x="0" y="0"/>
            <a:chExt cx="18024270" cy="3907705"/>
          </a:xfrm>
        </p:grpSpPr>
        <p:grpSp>
          <p:nvGrpSpPr>
            <p:cNvPr id="13" name="Group 13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6866946" y="1139345"/>
            <a:ext cx="4554107" cy="949104"/>
            <a:chOff x="0" y="0"/>
            <a:chExt cx="6072143" cy="1265472"/>
          </a:xfrm>
        </p:grpSpPr>
        <p:sp>
          <p:nvSpPr>
            <p:cNvPr id="18" name="Freeform 18"/>
            <p:cNvSpPr/>
            <p:nvPr/>
          </p:nvSpPr>
          <p:spPr>
            <a:xfrm>
              <a:off x="445356" y="0"/>
              <a:ext cx="5181432" cy="1255169"/>
            </a:xfrm>
            <a:custGeom>
              <a:avLst/>
              <a:gdLst/>
              <a:ahLst/>
              <a:cxnLst/>
              <a:rect l="l" t="t" r="r" b="b"/>
              <a:pathLst>
                <a:path w="5181432" h="1255169">
                  <a:moveTo>
                    <a:pt x="0" y="0"/>
                  </a:moveTo>
                  <a:lnTo>
                    <a:pt x="5181432" y="0"/>
                  </a:lnTo>
                  <a:lnTo>
                    <a:pt x="5181432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0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0" y="0"/>
                  </a:moveTo>
                  <a:lnTo>
                    <a:pt x="445356" y="0"/>
                  </a:lnTo>
                  <a:lnTo>
                    <a:pt x="445356" y="1255169"/>
                  </a:lnTo>
                  <a:lnTo>
                    <a:pt x="0" y="1255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0" name="Freeform 20"/>
            <p:cNvSpPr/>
            <p:nvPr/>
          </p:nvSpPr>
          <p:spPr>
            <a:xfrm flipH="1">
              <a:off x="5626788" y="10303"/>
              <a:ext cx="445356" cy="1255169"/>
            </a:xfrm>
            <a:custGeom>
              <a:avLst/>
              <a:gdLst/>
              <a:ahLst/>
              <a:cxnLst/>
              <a:rect l="l" t="t" r="r" b="b"/>
              <a:pathLst>
                <a:path w="445356" h="1255169">
                  <a:moveTo>
                    <a:pt x="445355" y="0"/>
                  </a:moveTo>
                  <a:lnTo>
                    <a:pt x="0" y="0"/>
                  </a:lnTo>
                  <a:lnTo>
                    <a:pt x="0" y="1255169"/>
                  </a:lnTo>
                  <a:lnTo>
                    <a:pt x="445355" y="1255169"/>
                  </a:lnTo>
                  <a:lnTo>
                    <a:pt x="445355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 rot="0">
            <a:off x="1028700" y="2789848"/>
            <a:ext cx="5655899" cy="6258583"/>
            <a:chOff x="0" y="0"/>
            <a:chExt cx="7541198" cy="8344777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rcRect t="24410" b="24410"/>
            <a:stretch>
              <a:fillRect/>
            </a:stretch>
          </p:blipFill>
          <p:spPr>
            <a:xfrm>
              <a:off x="0" y="0"/>
              <a:ext cx="7541198" cy="8344777"/>
            </a:xfrm>
            <a:prstGeom prst="rect">
              <a:avLst/>
            </a:prstGeom>
          </p:spPr>
        </p:pic>
      </p:grpSp>
      <p:grpSp>
        <p:nvGrpSpPr>
          <p:cNvPr id="23" name="Group 23"/>
          <p:cNvGrpSpPr/>
          <p:nvPr/>
        </p:nvGrpSpPr>
        <p:grpSpPr>
          <a:xfrm rot="0">
            <a:off x="8072062" y="3076024"/>
            <a:ext cx="8298274" cy="1661039"/>
            <a:chOff x="0" y="0"/>
            <a:chExt cx="2185554" cy="4374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5554" cy="437475"/>
            </a:xfrm>
            <a:custGeom>
              <a:avLst/>
              <a:gdLst/>
              <a:ahLst/>
              <a:cxnLst/>
              <a:rect l="l" t="t" r="r" b="b"/>
              <a:pathLst>
                <a:path w="2185554" h="437475">
                  <a:moveTo>
                    <a:pt x="17726" y="0"/>
                  </a:moveTo>
                  <a:lnTo>
                    <a:pt x="2167828" y="0"/>
                  </a:lnTo>
                  <a:cubicBezTo>
                    <a:pt x="2177617" y="0"/>
                    <a:pt x="2185554" y="7936"/>
                    <a:pt x="2185554" y="17726"/>
                  </a:cubicBezTo>
                  <a:lnTo>
                    <a:pt x="2185554" y="419749"/>
                  </a:lnTo>
                  <a:cubicBezTo>
                    <a:pt x="2185554" y="424451"/>
                    <a:pt x="2183686" y="428959"/>
                    <a:pt x="2180362" y="432284"/>
                  </a:cubicBezTo>
                  <a:cubicBezTo>
                    <a:pt x="2177038" y="435608"/>
                    <a:pt x="2172529" y="437475"/>
                    <a:pt x="2167828" y="437475"/>
                  </a:cubicBezTo>
                  <a:lnTo>
                    <a:pt x="17726" y="437475"/>
                  </a:lnTo>
                  <a:cubicBezTo>
                    <a:pt x="7936" y="437475"/>
                    <a:pt x="0" y="429539"/>
                    <a:pt x="0" y="419749"/>
                  </a:cubicBezTo>
                  <a:lnTo>
                    <a:pt x="0" y="17726"/>
                  </a:lnTo>
                  <a:cubicBezTo>
                    <a:pt x="0" y="7936"/>
                    <a:pt x="7936" y="0"/>
                    <a:pt x="177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123825"/>
              <a:ext cx="2185554" cy="56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8072062" y="5231708"/>
            <a:ext cx="8298274" cy="1661039"/>
            <a:chOff x="0" y="0"/>
            <a:chExt cx="2185554" cy="4374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5554" cy="437475"/>
            </a:xfrm>
            <a:custGeom>
              <a:avLst/>
              <a:gdLst/>
              <a:ahLst/>
              <a:cxnLst/>
              <a:rect l="l" t="t" r="r" b="b"/>
              <a:pathLst>
                <a:path w="2185554" h="437475">
                  <a:moveTo>
                    <a:pt x="17726" y="0"/>
                  </a:moveTo>
                  <a:lnTo>
                    <a:pt x="2167828" y="0"/>
                  </a:lnTo>
                  <a:cubicBezTo>
                    <a:pt x="2177617" y="0"/>
                    <a:pt x="2185554" y="7936"/>
                    <a:pt x="2185554" y="17726"/>
                  </a:cubicBezTo>
                  <a:lnTo>
                    <a:pt x="2185554" y="419749"/>
                  </a:lnTo>
                  <a:cubicBezTo>
                    <a:pt x="2185554" y="424451"/>
                    <a:pt x="2183686" y="428959"/>
                    <a:pt x="2180362" y="432284"/>
                  </a:cubicBezTo>
                  <a:cubicBezTo>
                    <a:pt x="2177038" y="435608"/>
                    <a:pt x="2172529" y="437475"/>
                    <a:pt x="2167828" y="437475"/>
                  </a:cubicBezTo>
                  <a:lnTo>
                    <a:pt x="17726" y="437475"/>
                  </a:lnTo>
                  <a:cubicBezTo>
                    <a:pt x="7936" y="437475"/>
                    <a:pt x="0" y="429539"/>
                    <a:pt x="0" y="419749"/>
                  </a:cubicBezTo>
                  <a:lnTo>
                    <a:pt x="0" y="17726"/>
                  </a:lnTo>
                  <a:cubicBezTo>
                    <a:pt x="0" y="7936"/>
                    <a:pt x="7936" y="0"/>
                    <a:pt x="177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123825"/>
              <a:ext cx="2185554" cy="56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8072062" y="7387391"/>
            <a:ext cx="8298274" cy="1661039"/>
            <a:chOff x="0" y="0"/>
            <a:chExt cx="2185554" cy="43747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5554" cy="437475"/>
            </a:xfrm>
            <a:custGeom>
              <a:avLst/>
              <a:gdLst/>
              <a:ahLst/>
              <a:cxnLst/>
              <a:rect l="l" t="t" r="r" b="b"/>
              <a:pathLst>
                <a:path w="2185554" h="437475">
                  <a:moveTo>
                    <a:pt x="17726" y="0"/>
                  </a:moveTo>
                  <a:lnTo>
                    <a:pt x="2167828" y="0"/>
                  </a:lnTo>
                  <a:cubicBezTo>
                    <a:pt x="2177617" y="0"/>
                    <a:pt x="2185554" y="7936"/>
                    <a:pt x="2185554" y="17726"/>
                  </a:cubicBezTo>
                  <a:lnTo>
                    <a:pt x="2185554" y="419749"/>
                  </a:lnTo>
                  <a:cubicBezTo>
                    <a:pt x="2185554" y="424451"/>
                    <a:pt x="2183686" y="428959"/>
                    <a:pt x="2180362" y="432284"/>
                  </a:cubicBezTo>
                  <a:cubicBezTo>
                    <a:pt x="2177038" y="435608"/>
                    <a:pt x="2172529" y="437475"/>
                    <a:pt x="2167828" y="437475"/>
                  </a:cubicBezTo>
                  <a:lnTo>
                    <a:pt x="17726" y="437475"/>
                  </a:lnTo>
                  <a:cubicBezTo>
                    <a:pt x="7936" y="437475"/>
                    <a:pt x="0" y="429539"/>
                    <a:pt x="0" y="419749"/>
                  </a:cubicBezTo>
                  <a:lnTo>
                    <a:pt x="0" y="17726"/>
                  </a:lnTo>
                  <a:cubicBezTo>
                    <a:pt x="0" y="7936"/>
                    <a:pt x="7936" y="0"/>
                    <a:pt x="177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78EEA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123825"/>
              <a:ext cx="2185554" cy="56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5967455" y="3189984"/>
            <a:ext cx="2080753" cy="1433119"/>
            <a:chOff x="0" y="0"/>
            <a:chExt cx="2774337" cy="191082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74337" cy="1910825"/>
            </a:xfrm>
            <a:custGeom>
              <a:avLst/>
              <a:gdLst/>
              <a:ahLst/>
              <a:cxnLst/>
              <a:rect l="l" t="t" r="r" b="b"/>
              <a:pathLst>
                <a:path w="2774337" h="1910825">
                  <a:moveTo>
                    <a:pt x="0" y="0"/>
                  </a:moveTo>
                  <a:lnTo>
                    <a:pt x="2774337" y="0"/>
                  </a:lnTo>
                  <a:lnTo>
                    <a:pt x="2774337" y="1910825"/>
                  </a:lnTo>
                  <a:lnTo>
                    <a:pt x="0" y="1910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025286" y="455968"/>
              <a:ext cx="1060604" cy="820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5"/>
                </a:lnSpc>
                <a:spcBef>
                  <a:spcPct val="0"/>
                </a:spcBef>
              </a:pPr>
              <a:r>
                <a:rPr lang="en-US" sz="369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01</a:t>
              </a:r>
              <a:endParaRPr lang="en-US" sz="369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 rot="0">
            <a:off x="5967455" y="5289853"/>
            <a:ext cx="2080753" cy="1433119"/>
            <a:chOff x="0" y="0"/>
            <a:chExt cx="2774337" cy="19108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774337" cy="1910825"/>
            </a:xfrm>
            <a:custGeom>
              <a:avLst/>
              <a:gdLst/>
              <a:ahLst/>
              <a:cxnLst/>
              <a:rect l="l" t="t" r="r" b="b"/>
              <a:pathLst>
                <a:path w="2774337" h="1910825">
                  <a:moveTo>
                    <a:pt x="0" y="0"/>
                  </a:moveTo>
                  <a:lnTo>
                    <a:pt x="2774337" y="0"/>
                  </a:lnTo>
                  <a:lnTo>
                    <a:pt x="2774337" y="1910825"/>
                  </a:lnTo>
                  <a:lnTo>
                    <a:pt x="0" y="1910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1025286" y="455968"/>
              <a:ext cx="1060604" cy="820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5"/>
                </a:lnSpc>
                <a:spcBef>
                  <a:spcPct val="0"/>
                </a:spcBef>
              </a:pPr>
              <a:r>
                <a:rPr lang="en-US" sz="369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02</a:t>
              </a:r>
              <a:endParaRPr lang="en-US" sz="369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 rot="0">
            <a:off x="6023550" y="7501352"/>
            <a:ext cx="2080753" cy="1433119"/>
            <a:chOff x="0" y="0"/>
            <a:chExt cx="2774337" cy="191082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774337" cy="1910825"/>
            </a:xfrm>
            <a:custGeom>
              <a:avLst/>
              <a:gdLst/>
              <a:ahLst/>
              <a:cxnLst/>
              <a:rect l="l" t="t" r="r" b="b"/>
              <a:pathLst>
                <a:path w="2774337" h="1910825">
                  <a:moveTo>
                    <a:pt x="0" y="0"/>
                  </a:moveTo>
                  <a:lnTo>
                    <a:pt x="2774337" y="0"/>
                  </a:lnTo>
                  <a:lnTo>
                    <a:pt x="2774337" y="1910825"/>
                  </a:lnTo>
                  <a:lnTo>
                    <a:pt x="0" y="1910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1025286" y="455968"/>
              <a:ext cx="1060604" cy="820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75"/>
                </a:lnSpc>
                <a:spcBef>
                  <a:spcPct val="0"/>
                </a:spcBef>
              </a:pPr>
              <a:r>
                <a:rPr lang="en-US" sz="369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03</a:t>
              </a:r>
              <a:endParaRPr lang="en-US" sz="369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 rot="0">
            <a:off x="8470215" y="3617365"/>
            <a:ext cx="2775141" cy="578356"/>
            <a:chOff x="0" y="0"/>
            <a:chExt cx="3700188" cy="771142"/>
          </a:xfrm>
        </p:grpSpPr>
        <p:sp>
          <p:nvSpPr>
            <p:cNvPr id="42" name="Freeform 42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学习方面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 rot="0">
            <a:off x="8470215" y="5773049"/>
            <a:ext cx="2775141" cy="578356"/>
            <a:chOff x="0" y="0"/>
            <a:chExt cx="3700188" cy="771142"/>
          </a:xfrm>
        </p:grpSpPr>
        <p:sp>
          <p:nvSpPr>
            <p:cNvPr id="51" name="Freeform 51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综测方面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 rot="0">
            <a:off x="8470215" y="7928733"/>
            <a:ext cx="2775141" cy="578356"/>
            <a:chOff x="0" y="0"/>
            <a:chExt cx="3700188" cy="771142"/>
          </a:xfrm>
        </p:grpSpPr>
        <p:sp>
          <p:nvSpPr>
            <p:cNvPr id="60" name="Freeform 60"/>
            <p:cNvSpPr/>
            <p:nvPr/>
          </p:nvSpPr>
          <p:spPr>
            <a:xfrm>
              <a:off x="271387" y="0"/>
              <a:ext cx="3157414" cy="764864"/>
            </a:xfrm>
            <a:custGeom>
              <a:avLst/>
              <a:gdLst/>
              <a:ahLst/>
              <a:cxnLst/>
              <a:rect l="l" t="t" r="r" b="b"/>
              <a:pathLst>
                <a:path w="3157414" h="764864">
                  <a:moveTo>
                    <a:pt x="0" y="0"/>
                  </a:moveTo>
                  <a:lnTo>
                    <a:pt x="3157414" y="0"/>
                  </a:lnTo>
                  <a:lnTo>
                    <a:pt x="3157414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373" r="-125961"/>
              </a:stretch>
            </a:blipFill>
          </p:spPr>
        </p:sp>
        <p:sp>
          <p:nvSpPr>
            <p:cNvPr id="61" name="Freeform 61"/>
            <p:cNvSpPr/>
            <p:nvPr/>
          </p:nvSpPr>
          <p:spPr>
            <a:xfrm>
              <a:off x="0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0" y="0"/>
                  </a:moveTo>
                  <a:lnTo>
                    <a:pt x="271387" y="0"/>
                  </a:lnTo>
                  <a:lnTo>
                    <a:pt x="271387" y="764864"/>
                  </a:lnTo>
                  <a:lnTo>
                    <a:pt x="0" y="7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62" name="Freeform 62"/>
            <p:cNvSpPr/>
            <p:nvPr/>
          </p:nvSpPr>
          <p:spPr>
            <a:xfrm flipH="1">
              <a:off x="3428801" y="6278"/>
              <a:ext cx="271387" cy="764864"/>
            </a:xfrm>
            <a:custGeom>
              <a:avLst/>
              <a:gdLst/>
              <a:ahLst/>
              <a:cxnLst/>
              <a:rect l="l" t="t" r="r" b="b"/>
              <a:pathLst>
                <a:path w="271387" h="764864">
                  <a:moveTo>
                    <a:pt x="271387" y="0"/>
                  </a:moveTo>
                  <a:lnTo>
                    <a:pt x="0" y="0"/>
                  </a:lnTo>
                  <a:lnTo>
                    <a:pt x="0" y="764864"/>
                  </a:lnTo>
                  <a:lnTo>
                    <a:pt x="271387" y="764864"/>
                  </a:lnTo>
                  <a:lnTo>
                    <a:pt x="271387" y="0"/>
                  </a:lnTo>
                  <a:close/>
                </a:path>
              </a:pathLst>
            </a:custGeom>
            <a:blipFill>
              <a:blip r:embed="rId3"/>
              <a:stretch>
                <a:fillRect r="-2649612"/>
              </a:stretch>
            </a:blipFill>
          </p:spPr>
        </p:sp>
        <p:sp>
          <p:nvSpPr>
            <p:cNvPr id="63" name="Freeform 63"/>
            <p:cNvSpPr/>
            <p:nvPr/>
          </p:nvSpPr>
          <p:spPr>
            <a:xfrm rot="2814960">
              <a:off x="3174351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64" name="Freeform 64"/>
            <p:cNvSpPr/>
            <p:nvPr/>
          </p:nvSpPr>
          <p:spPr>
            <a:xfrm rot="2814960">
              <a:off x="3234565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65" name="Freeform 65"/>
            <p:cNvSpPr/>
            <p:nvPr/>
          </p:nvSpPr>
          <p:spPr>
            <a:xfrm rot="1587560">
              <a:off x="277278" y="267336"/>
              <a:ext cx="249633" cy="236470"/>
            </a:xfrm>
            <a:custGeom>
              <a:avLst/>
              <a:gdLst/>
              <a:ahLst/>
              <a:cxnLst/>
              <a:rect l="l" t="t" r="r" b="b"/>
              <a:pathLst>
                <a:path w="249633" h="236470">
                  <a:moveTo>
                    <a:pt x="0" y="0"/>
                  </a:moveTo>
                  <a:lnTo>
                    <a:pt x="249633" y="0"/>
                  </a:lnTo>
                  <a:lnTo>
                    <a:pt x="249633" y="236470"/>
                  </a:lnTo>
                  <a:lnTo>
                    <a:pt x="0" y="236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66" name="Freeform 66"/>
            <p:cNvSpPr/>
            <p:nvPr/>
          </p:nvSpPr>
          <p:spPr>
            <a:xfrm rot="1587560">
              <a:off x="337492" y="324375"/>
              <a:ext cx="129205" cy="122392"/>
            </a:xfrm>
            <a:custGeom>
              <a:avLst/>
              <a:gdLst/>
              <a:ahLst/>
              <a:cxnLst/>
              <a:rect l="l" t="t" r="r" b="b"/>
              <a:pathLst>
                <a:path w="129205" h="122392">
                  <a:moveTo>
                    <a:pt x="0" y="0"/>
                  </a:moveTo>
                  <a:lnTo>
                    <a:pt x="129205" y="0"/>
                  </a:lnTo>
                  <a:lnTo>
                    <a:pt x="129205" y="122392"/>
                  </a:lnTo>
                  <a:lnTo>
                    <a:pt x="0" y="122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684052" y="12260"/>
              <a:ext cx="2332085" cy="6704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10"/>
                </a:lnSpc>
                <a:spcBef>
                  <a:spcPct val="0"/>
                </a:spcBef>
              </a:pPr>
              <a:r>
                <a:rPr lang="en-US" sz="2935">
                  <a:solidFill>
                    <a:srgbClr val="000000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竞赛方面</a:t>
              </a:r>
              <a:endParaRPr lang="en-US" sz="293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038851" y="1163012"/>
            <a:ext cx="4447283" cy="874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sz="512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学习经验分享</a:t>
            </a:r>
            <a:endParaRPr lang="en-US" sz="512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1486134" y="3355681"/>
            <a:ext cx="461643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期末复习要提前开始，不要临时抱佛脚，养成去图书馆的好习惯，中图北图什么的都还是很漂亮的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1486134" y="5511365"/>
            <a:ext cx="461643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想要拿奖学金的同学，要认真读一下我们学院的综合评定文件，我们学校覆盖挺广的，大家加油努力都会有机会的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1486134" y="7667049"/>
            <a:ext cx="4616436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字由点字典黑 45J" panose="00020600040101010101" charset="-122"/>
                <a:ea typeface="字由点字典黑 45J" panose="00020600040101010101" charset="-122"/>
                <a:cs typeface="字由点字典黑 45J" panose="00020600040101010101" charset="-122"/>
                <a:sym typeface="字由点字典黑 45J" panose="00020600040101010101" charset="-122"/>
              </a:rPr>
              <a:t>我在大一报了很多竞赛，虽然也许拿不到很好的结果，但是提升是巨大的，大家也要积极参与。</a:t>
            </a:r>
            <a:endParaRPr lang="en-US" sz="2000">
              <a:solidFill>
                <a:srgbClr val="000000"/>
              </a:solidFill>
              <a:latin typeface="字由点字典黑 45J" panose="00020600040101010101" charset="-122"/>
              <a:ea typeface="字由点字典黑 45J" panose="00020600040101010101" charset="-122"/>
              <a:cs typeface="字由点字典黑 45J" panose="00020600040101010101" charset="-122"/>
              <a:sym typeface="字由点字典黑 45J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DC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251036" y="1223394"/>
            <a:ext cx="15785929" cy="7840211"/>
            <a:chOff x="0" y="0"/>
            <a:chExt cx="4157611" cy="206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7611" cy="2064912"/>
            </a:xfrm>
            <a:custGeom>
              <a:avLst/>
              <a:gdLst/>
              <a:ahLst/>
              <a:cxnLst/>
              <a:rect l="l" t="t" r="r" b="b"/>
              <a:pathLst>
                <a:path w="4157611" h="2064912">
                  <a:moveTo>
                    <a:pt x="49043" y="0"/>
                  </a:moveTo>
                  <a:lnTo>
                    <a:pt x="4108568" y="0"/>
                  </a:lnTo>
                  <a:cubicBezTo>
                    <a:pt x="4135654" y="0"/>
                    <a:pt x="4157611" y="21957"/>
                    <a:pt x="4157611" y="49043"/>
                  </a:cubicBezTo>
                  <a:lnTo>
                    <a:pt x="4157611" y="2015869"/>
                  </a:lnTo>
                  <a:cubicBezTo>
                    <a:pt x="4157611" y="2028876"/>
                    <a:pt x="4152444" y="2041350"/>
                    <a:pt x="4143247" y="2050547"/>
                  </a:cubicBezTo>
                  <a:cubicBezTo>
                    <a:pt x="4134049" y="2059745"/>
                    <a:pt x="4121575" y="2064912"/>
                    <a:pt x="4108568" y="2064912"/>
                  </a:cubicBezTo>
                  <a:lnTo>
                    <a:pt x="49043" y="2064912"/>
                  </a:lnTo>
                  <a:cubicBezTo>
                    <a:pt x="36036" y="2064912"/>
                    <a:pt x="23562" y="2059745"/>
                    <a:pt x="14364" y="2050547"/>
                  </a:cubicBezTo>
                  <a:cubicBezTo>
                    <a:pt x="5167" y="2041350"/>
                    <a:pt x="0" y="2028876"/>
                    <a:pt x="0" y="2015869"/>
                  </a:cubicBezTo>
                  <a:lnTo>
                    <a:pt x="0" y="49043"/>
                  </a:lnTo>
                  <a:cubicBezTo>
                    <a:pt x="0" y="36036"/>
                    <a:pt x="5167" y="23562"/>
                    <a:pt x="14364" y="14364"/>
                  </a:cubicBezTo>
                  <a:cubicBezTo>
                    <a:pt x="23562" y="5167"/>
                    <a:pt x="36036" y="0"/>
                    <a:pt x="4904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4157611" cy="2188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5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382131" y="357555"/>
            <a:ext cx="4332673" cy="2371154"/>
          </a:xfrm>
          <a:custGeom>
            <a:avLst/>
            <a:gdLst/>
            <a:ahLst/>
            <a:cxnLst/>
            <a:rect l="l" t="t" r="r" b="b"/>
            <a:pathLst>
              <a:path w="4332673" h="2371154">
                <a:moveTo>
                  <a:pt x="0" y="0"/>
                </a:moveTo>
                <a:lnTo>
                  <a:pt x="4332674" y="0"/>
                </a:lnTo>
                <a:lnTo>
                  <a:pt x="4332674" y="2371154"/>
                </a:lnTo>
                <a:lnTo>
                  <a:pt x="0" y="237115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34826" y="6797097"/>
            <a:ext cx="3539556" cy="3489903"/>
          </a:xfrm>
          <a:custGeom>
            <a:avLst/>
            <a:gdLst/>
            <a:ahLst/>
            <a:cxnLst/>
            <a:rect l="l" t="t" r="r" b="b"/>
            <a:pathLst>
              <a:path w="3539556" h="3489903">
                <a:moveTo>
                  <a:pt x="0" y="0"/>
                </a:moveTo>
                <a:lnTo>
                  <a:pt x="3539556" y="0"/>
                </a:lnTo>
                <a:lnTo>
                  <a:pt x="3539556" y="3489903"/>
                </a:lnTo>
                <a:lnTo>
                  <a:pt x="0" y="3489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41913" y="3701241"/>
            <a:ext cx="14004174" cy="217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00"/>
              </a:lnSpc>
              <a:spcBef>
                <a:spcPct val="0"/>
              </a:spcBef>
            </a:pPr>
            <a:r>
              <a:rPr lang="en-US" sz="12640">
                <a:solidFill>
                  <a:srgbClr val="478EEA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感谢大家聆听</a:t>
            </a:r>
            <a:endParaRPr lang="en-US" sz="12640">
              <a:solidFill>
                <a:srgbClr val="478EEA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 rot="-5400000">
            <a:off x="8878804" y="116325"/>
            <a:ext cx="473243" cy="12344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5"/>
              </a:lnSpc>
              <a:spcBef>
                <a:spcPct val="0"/>
              </a:spcBef>
            </a:pPr>
            <a:r>
              <a:rPr lang="en-US" sz="3115" spc="632">
                <a:solidFill>
                  <a:srgbClr val="000000">
                    <a:alpha val="60784"/>
                  </a:srgbClr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THANK YOU VERY MUCH FOR WATCHING</a:t>
            </a:r>
            <a:endParaRPr lang="en-US" sz="3115" spc="632">
              <a:solidFill>
                <a:srgbClr val="000000">
                  <a:alpha val="60784"/>
                </a:srgbClr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  <p:grpSp>
        <p:nvGrpSpPr>
          <p:cNvPr id="9" name="Group 9"/>
          <p:cNvGrpSpPr/>
          <p:nvPr/>
        </p:nvGrpSpPr>
        <p:grpSpPr>
          <a:xfrm rot="141015">
            <a:off x="5771015" y="-310028"/>
            <a:ext cx="13518203" cy="2930779"/>
            <a:chOff x="0" y="0"/>
            <a:chExt cx="18024270" cy="3907705"/>
          </a:xfrm>
        </p:grpSpPr>
        <p:grpSp>
          <p:nvGrpSpPr>
            <p:cNvPr id="10" name="Group 10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1317143">
            <a:off x="-2421313" y="8021428"/>
            <a:ext cx="13518203" cy="2930779"/>
            <a:chOff x="0" y="0"/>
            <a:chExt cx="18024270" cy="3907705"/>
          </a:xfrm>
        </p:grpSpPr>
        <p:grpSp>
          <p:nvGrpSpPr>
            <p:cNvPr id="15" name="Group 15"/>
            <p:cNvGrpSpPr/>
            <p:nvPr/>
          </p:nvGrpSpPr>
          <p:grpSpPr>
            <a:xfrm rot="622939">
              <a:off x="-76915" y="1550892"/>
              <a:ext cx="17276572" cy="716017"/>
              <a:chOff x="0" y="0"/>
              <a:chExt cx="3412656" cy="14143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412656" cy="141435"/>
              </a:xfrm>
              <a:custGeom>
                <a:avLst/>
                <a:gdLst/>
                <a:ahLst/>
                <a:cxnLst/>
                <a:rect l="l" t="t" r="r" b="b"/>
                <a:pathLst>
                  <a:path w="3412656" h="141435">
                    <a:moveTo>
                      <a:pt x="0" y="0"/>
                    </a:moveTo>
                    <a:lnTo>
                      <a:pt x="3412656" y="0"/>
                    </a:lnTo>
                    <a:lnTo>
                      <a:pt x="3412656" y="141435"/>
                    </a:lnTo>
                    <a:lnTo>
                      <a:pt x="0" y="141435"/>
                    </a:lnTo>
                    <a:close/>
                  </a:path>
                </a:pathLst>
              </a:custGeom>
              <a:solidFill>
                <a:srgbClr val="478EE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123825"/>
                <a:ext cx="3412656" cy="2652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150"/>
                  </a:lnSpc>
                </a:pP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 rot="622939">
              <a:off x="2375610" y="1852163"/>
              <a:ext cx="15731497" cy="6432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85"/>
                </a:lnSpc>
                <a:spcBef>
                  <a:spcPct val="0"/>
                </a:spcBef>
              </a:pPr>
              <a:r>
                <a:rPr lang="en-US" sz="2850" spc="771">
                  <a:solidFill>
                    <a:srgbClr val="FFFFFF"/>
                  </a:solidFill>
                  <a:latin typeface="字由点字匹喏曹" panose="00020600040101010101" charset="-122"/>
                  <a:ea typeface="字由点字匹喏曹" panose="00020600040101010101" charset="-122"/>
                  <a:cs typeface="字由点字匹喏曹" panose="00020600040101010101" charset="-122"/>
                  <a:sym typeface="字由点字匹喏曹" panose="00020600040101010101" charset="-122"/>
                </a:rPr>
                <a:t>CREATIVE VITALITY SELF INTRODUCTION</a:t>
              </a:r>
              <a:endParaRPr lang="en-US" sz="2850" spc="771">
                <a:solidFill>
                  <a:srgbClr val="FFFFFF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063559" y="5871757"/>
            <a:ext cx="2590191" cy="3265148"/>
          </a:xfrm>
          <a:custGeom>
            <a:avLst/>
            <a:gdLst/>
            <a:ahLst/>
            <a:cxnLst/>
            <a:rect l="l" t="t" r="r" b="b"/>
            <a:pathLst>
              <a:path w="2590191" h="3265148">
                <a:moveTo>
                  <a:pt x="0" y="0"/>
                </a:moveTo>
                <a:lnTo>
                  <a:pt x="2590191" y="0"/>
                </a:lnTo>
                <a:lnTo>
                  <a:pt x="2590191" y="3265148"/>
                </a:lnTo>
                <a:lnTo>
                  <a:pt x="0" y="32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 rot="0">
            <a:off x="6648381" y="7125510"/>
            <a:ext cx="4991238" cy="1040205"/>
            <a:chOff x="0" y="0"/>
            <a:chExt cx="6654983" cy="1386940"/>
          </a:xfrm>
        </p:grpSpPr>
        <p:sp>
          <p:nvSpPr>
            <p:cNvPr id="21" name="Freeform 21"/>
            <p:cNvSpPr/>
            <p:nvPr/>
          </p:nvSpPr>
          <p:spPr>
            <a:xfrm>
              <a:off x="488103" y="0"/>
              <a:ext cx="5678777" cy="1375648"/>
            </a:xfrm>
            <a:custGeom>
              <a:avLst/>
              <a:gdLst/>
              <a:ahLst/>
              <a:cxnLst/>
              <a:rect l="l" t="t" r="r" b="b"/>
              <a:pathLst>
                <a:path w="5678777" h="1375648">
                  <a:moveTo>
                    <a:pt x="0" y="0"/>
                  </a:moveTo>
                  <a:lnTo>
                    <a:pt x="5678777" y="0"/>
                  </a:lnTo>
                  <a:lnTo>
                    <a:pt x="5678777" y="1375648"/>
                  </a:lnTo>
                  <a:lnTo>
                    <a:pt x="0" y="137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373" r="-125961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11292"/>
              <a:ext cx="488103" cy="1375648"/>
            </a:xfrm>
            <a:custGeom>
              <a:avLst/>
              <a:gdLst/>
              <a:ahLst/>
              <a:cxnLst/>
              <a:rect l="l" t="t" r="r" b="b"/>
              <a:pathLst>
                <a:path w="488103" h="1375648">
                  <a:moveTo>
                    <a:pt x="0" y="0"/>
                  </a:moveTo>
                  <a:lnTo>
                    <a:pt x="488103" y="0"/>
                  </a:lnTo>
                  <a:lnTo>
                    <a:pt x="488103" y="1375648"/>
                  </a:lnTo>
                  <a:lnTo>
                    <a:pt x="0" y="1375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23" name="Freeform 23"/>
            <p:cNvSpPr/>
            <p:nvPr/>
          </p:nvSpPr>
          <p:spPr>
            <a:xfrm flipH="1">
              <a:off x="6166880" y="11292"/>
              <a:ext cx="488103" cy="1375648"/>
            </a:xfrm>
            <a:custGeom>
              <a:avLst/>
              <a:gdLst/>
              <a:ahLst/>
              <a:cxnLst/>
              <a:rect l="l" t="t" r="r" b="b"/>
              <a:pathLst>
                <a:path w="488103" h="1375648">
                  <a:moveTo>
                    <a:pt x="488103" y="0"/>
                  </a:moveTo>
                  <a:lnTo>
                    <a:pt x="0" y="0"/>
                  </a:lnTo>
                  <a:lnTo>
                    <a:pt x="0" y="1375648"/>
                  </a:lnTo>
                  <a:lnTo>
                    <a:pt x="488103" y="1375648"/>
                  </a:lnTo>
                  <a:lnTo>
                    <a:pt x="488103" y="0"/>
                  </a:lnTo>
                  <a:close/>
                </a:path>
              </a:pathLst>
            </a:custGeom>
            <a:blipFill>
              <a:blip r:embed="rId4"/>
              <a:stretch>
                <a:fillRect r="-2649612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6920250" y="7235096"/>
            <a:ext cx="4447501" cy="73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5"/>
              </a:lnSpc>
              <a:spcBef>
                <a:spcPct val="0"/>
              </a:spcBef>
            </a:pPr>
            <a:r>
              <a:rPr lang="en-US" sz="4255">
                <a:solidFill>
                  <a:srgbClr val="000000"/>
                </a:solidFill>
                <a:latin typeface="字由点字匹喏曹" panose="00020600040101010101" charset="-122"/>
                <a:ea typeface="字由点字匹喏曹" panose="00020600040101010101" charset="-122"/>
                <a:cs typeface="字由点字匹喏曹" panose="00020600040101010101" charset="-122"/>
                <a:sym typeface="字由点字匹喏曹" panose="00020600040101010101" charset="-122"/>
              </a:rPr>
              <a:t>杜佳颖</a:t>
            </a:r>
            <a:endParaRPr lang="en-US" sz="4255">
              <a:solidFill>
                <a:srgbClr val="000000"/>
              </a:solidFill>
              <a:latin typeface="字由点字匹喏曹" panose="00020600040101010101" charset="-122"/>
              <a:ea typeface="字由点字匹喏曹" panose="00020600040101010101" charset="-122"/>
              <a:cs typeface="字由点字匹喏曹" panose="00020600040101010101" charset="-122"/>
              <a:sym typeface="字由点字匹喏曹" panose="0002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3720</Words>
  <Application>WPS 演示</Application>
  <PresentationFormat>On-screen Show (4:3)</PresentationFormat>
  <Paragraphs>318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宋体</vt:lpstr>
      <vt:lpstr>Wingdings</vt:lpstr>
      <vt:lpstr>字由点字匹喏曹</vt:lpstr>
      <vt:lpstr>字由点字倔强黑</vt:lpstr>
      <vt:lpstr>字由点字典黑</vt:lpstr>
      <vt:lpstr>Arial</vt:lpstr>
      <vt:lpstr>Calibri</vt:lpstr>
      <vt:lpstr>微软雅黑</vt:lpstr>
      <vt:lpstr>Arial Unicode MS</vt:lpstr>
      <vt:lpstr>字由点字典黑 45J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夏日多巴胺风格</dc:title>
  <dc:creator/>
  <cp:lastModifiedBy>X-bang</cp:lastModifiedBy>
  <cp:revision>2</cp:revision>
  <dcterms:created xsi:type="dcterms:W3CDTF">2006-08-16T00:00:00Z</dcterms:created>
  <dcterms:modified xsi:type="dcterms:W3CDTF">2024-11-08T06:33:40Z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0B0AF5554EFE4AB28F89372044C9EE93_13</vt:lpwstr>
  </property>
  <property fmtid="{D5CDD505-2E9C-101B-9397-08002B2CF9AE}" pid="3" name="KSOProductBuildVer">
    <vt:lpwstr>2052-12.1.0.18345</vt:lpwstr>
  </property>
</Properties>
</file>