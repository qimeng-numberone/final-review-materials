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5"/>
  </p:notesMasterIdLst>
  <p:sldIdLst>
    <p:sldId id="273" r:id="rId2"/>
    <p:sldId id="483" r:id="rId3"/>
    <p:sldId id="492" r:id="rId4"/>
    <p:sldId id="493" r:id="rId5"/>
    <p:sldId id="495" r:id="rId6"/>
    <p:sldId id="494" r:id="rId7"/>
    <p:sldId id="496" r:id="rId8"/>
    <p:sldId id="497" r:id="rId9"/>
    <p:sldId id="498" r:id="rId10"/>
    <p:sldId id="499" r:id="rId11"/>
    <p:sldId id="500" r:id="rId12"/>
    <p:sldId id="501" r:id="rId13"/>
    <p:sldId id="502" r:id="rId14"/>
    <p:sldId id="503" r:id="rId15"/>
    <p:sldId id="505" r:id="rId16"/>
    <p:sldId id="504" r:id="rId17"/>
    <p:sldId id="507" r:id="rId18"/>
    <p:sldId id="508" r:id="rId19"/>
    <p:sldId id="509" r:id="rId20"/>
    <p:sldId id="510" r:id="rId21"/>
    <p:sldId id="511" r:id="rId22"/>
    <p:sldId id="512" r:id="rId23"/>
    <p:sldId id="513" r:id="rId24"/>
    <p:sldId id="514" r:id="rId25"/>
    <p:sldId id="515" r:id="rId26"/>
    <p:sldId id="516" r:id="rId27"/>
    <p:sldId id="519" r:id="rId28"/>
    <p:sldId id="520" r:id="rId29"/>
    <p:sldId id="521" r:id="rId30"/>
    <p:sldId id="522" r:id="rId31"/>
    <p:sldId id="523" r:id="rId32"/>
    <p:sldId id="524" r:id="rId33"/>
    <p:sldId id="525" r:id="rId34"/>
    <p:sldId id="526" r:id="rId35"/>
    <p:sldId id="527" r:id="rId36"/>
    <p:sldId id="528" r:id="rId37"/>
    <p:sldId id="529" r:id="rId38"/>
    <p:sldId id="530" r:id="rId39"/>
    <p:sldId id="531" r:id="rId40"/>
    <p:sldId id="532" r:id="rId41"/>
    <p:sldId id="533" r:id="rId42"/>
    <p:sldId id="534" r:id="rId43"/>
    <p:sldId id="535" r:id="rId44"/>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17">
          <p15:clr>
            <a:srgbClr val="A4A3A4"/>
          </p15:clr>
        </p15:guide>
        <p15:guide id="2" pos="690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o Sue" initials="H" lastIdx="1" clrIdx="0"/>
  <p:cmAuthor id="2" name="Administrator" initials="A" lastIdx="16"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DC0C4"/>
    <a:srgbClr val="FFFFFF"/>
    <a:srgbClr val="FF0000"/>
    <a:srgbClr val="3A00FF"/>
    <a:srgbClr val="EEFCFD"/>
    <a:srgbClr val="1CC0C2"/>
    <a:srgbClr val="C0E3E5"/>
    <a:srgbClr val="BEE2E4"/>
    <a:srgbClr val="DEF9FA"/>
    <a:srgbClr val="EAFB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3" autoAdjust="0"/>
    <p:restoredTop sz="95244" autoAdjust="0"/>
  </p:normalViewPr>
  <p:slideViewPr>
    <p:cSldViewPr snapToGrid="0" snapToObjects="1" showGuides="1">
      <p:cViewPr varScale="1">
        <p:scale>
          <a:sx n="104" d="100"/>
          <a:sy n="104" d="100"/>
        </p:scale>
        <p:origin x="756" y="114"/>
      </p:cViewPr>
      <p:guideLst>
        <p:guide orient="horz" pos="2817"/>
        <p:guide pos="69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AC01E8-BCD6-431C-83F4-44284489BB00}" type="datetimeFigureOut">
              <a:rPr lang="zh-CN" altLang="en-US" smtClean="0"/>
              <a:t>2023/2/12 Sunday</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D819FA-5433-4747-BCBC-0E8104F12BE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AD665F7D-41EA-1A46-8653-334D3F63C0E1}" type="datetimeFigureOut">
              <a:rPr kumimoji="1" lang="zh-CN" altLang="en-US" smtClean="0"/>
              <a:t>2023/2/12 Sunday</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AD07451-0205-F34B-87AA-DF8E91E15D01}"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hasCustomPrompt="1"/>
          </p:nvPr>
        </p:nvSpPr>
        <p:spPr/>
        <p:txBody>
          <a:bodyPr/>
          <a:lstStyle/>
          <a:p>
            <a:r>
              <a:rPr kumimoji="1" lang="zh-CN" altLang="en-US"/>
              <a:t>编辑母版文本样式
第二级
第三级
第四级
第五级</a:t>
            </a:r>
          </a:p>
        </p:txBody>
      </p:sp>
      <p:sp>
        <p:nvSpPr>
          <p:cNvPr id="4" name="日期占位符 3"/>
          <p:cNvSpPr>
            <a:spLocks noGrp="1"/>
          </p:cNvSpPr>
          <p:nvPr>
            <p:ph type="dt" sz="half" idx="10"/>
          </p:nvPr>
        </p:nvSpPr>
        <p:spPr/>
        <p:txBody>
          <a:bodyPr/>
          <a:lstStyle/>
          <a:p>
            <a:fld id="{AD665F7D-41EA-1A46-8653-334D3F63C0E1}" type="datetimeFigureOut">
              <a:rPr kumimoji="1" lang="zh-CN" altLang="en-US" smtClean="0"/>
              <a:t>2023/2/12 Sunday</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AD07451-0205-F34B-87AA-DF8E91E15D01}"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hasCustomPrompt="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kumimoji="1" lang="zh-CN" altLang="en-US"/>
              <a:t>编辑母版文本样式
第二级
第三级
第四级
第五级</a:t>
            </a:r>
          </a:p>
        </p:txBody>
      </p:sp>
      <p:sp>
        <p:nvSpPr>
          <p:cNvPr id="4" name="日期占位符 3"/>
          <p:cNvSpPr>
            <a:spLocks noGrp="1"/>
          </p:cNvSpPr>
          <p:nvPr>
            <p:ph type="dt" sz="half" idx="10"/>
          </p:nvPr>
        </p:nvSpPr>
        <p:spPr/>
        <p:txBody>
          <a:bodyPr/>
          <a:lstStyle/>
          <a:p>
            <a:fld id="{AD665F7D-41EA-1A46-8653-334D3F63C0E1}" type="datetimeFigureOut">
              <a:rPr kumimoji="1" lang="zh-CN" altLang="en-US" smtClean="0"/>
              <a:t>2023/2/12 Sunday</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AD07451-0205-F34B-87AA-DF8E91E15D01}"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r>
              <a:rPr kumimoji="1" lang="zh-CN" altLang="en-US"/>
              <a:t>编辑母版文本样式
第二级
第三级
第四级
第五级</a:t>
            </a:r>
          </a:p>
        </p:txBody>
      </p:sp>
      <p:sp>
        <p:nvSpPr>
          <p:cNvPr id="4" name="内容占位符 3"/>
          <p:cNvSpPr>
            <a:spLocks noGrp="1"/>
          </p:cNvSpPr>
          <p:nvPr>
            <p:ph sz="half" idx="2" hasCustomPrompt="1"/>
          </p:nvPr>
        </p:nvSpPr>
        <p:spPr>
          <a:xfrm>
            <a:off x="6172200" y="1825625"/>
            <a:ext cx="5181600" cy="4351338"/>
          </a:xfrm>
        </p:spPr>
        <p:txBody>
          <a:bodyPr/>
          <a:lstStyle/>
          <a:p>
            <a:r>
              <a:rPr kumimoji="1" lang="zh-CN" altLang="en-US"/>
              <a:t>编辑母版文本样式
第二级
第三级
第四级
第五级</a:t>
            </a:r>
          </a:p>
        </p:txBody>
      </p:sp>
      <p:sp>
        <p:nvSpPr>
          <p:cNvPr id="5" name="日期占位符 4"/>
          <p:cNvSpPr>
            <a:spLocks noGrp="1"/>
          </p:cNvSpPr>
          <p:nvPr>
            <p:ph type="dt" sz="half" idx="10"/>
          </p:nvPr>
        </p:nvSpPr>
        <p:spPr/>
        <p:txBody>
          <a:bodyPr/>
          <a:lstStyle/>
          <a:p>
            <a:fld id="{AD665F7D-41EA-1A46-8653-334D3F63C0E1}" type="datetimeFigureOut">
              <a:rPr kumimoji="1" lang="zh-CN" altLang="en-US" smtClean="0"/>
              <a:t>2023/2/12 Sunday</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4AD07451-0205-F34B-87AA-DF8E91E15D01}"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kumimoji="1" lang="zh-CN" altLang="en-US"/>
              <a:t>单击此处编辑母版标题样式</a:t>
            </a:r>
          </a:p>
        </p:txBody>
      </p:sp>
      <p:sp>
        <p:nvSpPr>
          <p:cNvPr id="3" name="文本占位符 2"/>
          <p:cNvSpPr>
            <a:spLocks noGrp="1"/>
          </p:cNvSpPr>
          <p:nvPr>
            <p:ph type="body" idx="1" hasCustomPrompt="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CN" altLang="en-US"/>
              <a:t>编辑母版文本样式
第二级
第三级
第四级
第五级</a:t>
            </a:r>
          </a:p>
        </p:txBody>
      </p:sp>
      <p:sp>
        <p:nvSpPr>
          <p:cNvPr id="4" name="内容占位符 3"/>
          <p:cNvSpPr>
            <a:spLocks noGrp="1"/>
          </p:cNvSpPr>
          <p:nvPr>
            <p:ph sz="half" idx="2" hasCustomPrompt="1"/>
          </p:nvPr>
        </p:nvSpPr>
        <p:spPr>
          <a:xfrm>
            <a:off x="839789" y="2505075"/>
            <a:ext cx="5157787" cy="3684588"/>
          </a:xfrm>
        </p:spPr>
        <p:txBody>
          <a:bodyPr/>
          <a:lstStyle/>
          <a:p>
            <a:r>
              <a:rPr kumimoji="1" lang="zh-CN" altLang="en-US"/>
              <a:t>编辑母版文本样式
第二级
第三级
第四级
第五级</a:t>
            </a:r>
          </a:p>
        </p:txBody>
      </p:sp>
      <p:sp>
        <p:nvSpPr>
          <p:cNvPr id="5" name="文本占位符 4"/>
          <p:cNvSpPr>
            <a:spLocks noGrp="1"/>
          </p:cNvSpPr>
          <p:nvPr>
            <p:ph type="body" sz="quarter" idx="3" hasCustomPrompt="1"/>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CN" altLang="en-US"/>
              <a:t>编辑母版文本样式
第二级
第三级
第四级
第五级</a:t>
            </a:r>
          </a:p>
        </p:txBody>
      </p:sp>
      <p:sp>
        <p:nvSpPr>
          <p:cNvPr id="6" name="内容占位符 5"/>
          <p:cNvSpPr>
            <a:spLocks noGrp="1"/>
          </p:cNvSpPr>
          <p:nvPr>
            <p:ph sz="quarter" idx="4" hasCustomPrompt="1"/>
          </p:nvPr>
        </p:nvSpPr>
        <p:spPr>
          <a:xfrm>
            <a:off x="6172201" y="2505075"/>
            <a:ext cx="5183188" cy="3684588"/>
          </a:xfrm>
        </p:spPr>
        <p:txBody>
          <a:bodyPr/>
          <a:lstStyle/>
          <a:p>
            <a:r>
              <a:rPr kumimoji="1" lang="zh-CN" altLang="en-US"/>
              <a:t>编辑母版文本样式
第二级
第三级
第四级
第五级</a:t>
            </a:r>
          </a:p>
        </p:txBody>
      </p:sp>
      <p:sp>
        <p:nvSpPr>
          <p:cNvPr id="7" name="日期占位符 6"/>
          <p:cNvSpPr>
            <a:spLocks noGrp="1"/>
          </p:cNvSpPr>
          <p:nvPr>
            <p:ph type="dt" sz="half" idx="10"/>
          </p:nvPr>
        </p:nvSpPr>
        <p:spPr/>
        <p:txBody>
          <a:bodyPr/>
          <a:lstStyle/>
          <a:p>
            <a:fld id="{AD665F7D-41EA-1A46-8653-334D3F63C0E1}" type="datetimeFigureOut">
              <a:rPr kumimoji="1" lang="zh-CN" altLang="en-US" smtClean="0"/>
              <a:t>2023/2/12 Sunday</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4AD07451-0205-F34B-87AA-DF8E91E15D01}"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AD665F7D-41EA-1A46-8653-334D3F63C0E1}" type="datetimeFigureOut">
              <a:rPr kumimoji="1" lang="zh-CN" altLang="en-US" smtClean="0"/>
              <a:t>2023/2/12 Sunday</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4AD07451-0205-F34B-87AA-DF8E91E15D01}"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D665F7D-41EA-1A46-8653-334D3F63C0E1}" type="datetimeFigureOut">
              <a:rPr kumimoji="1" lang="zh-CN" altLang="en-US" smtClean="0"/>
              <a:t>2023/2/12 Sunday</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4AD07451-0205-F34B-87AA-DF8E91E15D01}"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hasCustomPrompt="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kumimoji="1" lang="zh-CN" altLang="en-US"/>
              <a:t>编辑母版文本样式
第二级
第三级
第四级
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CN" altLang="en-US"/>
              <a:t>编辑母版文本样式
第二级
第三级
第四级
第五级</a:t>
            </a:r>
          </a:p>
        </p:txBody>
      </p:sp>
      <p:sp>
        <p:nvSpPr>
          <p:cNvPr id="5" name="日期占位符 4"/>
          <p:cNvSpPr>
            <a:spLocks noGrp="1"/>
          </p:cNvSpPr>
          <p:nvPr>
            <p:ph type="dt" sz="half" idx="10"/>
          </p:nvPr>
        </p:nvSpPr>
        <p:spPr/>
        <p:txBody>
          <a:bodyPr/>
          <a:lstStyle/>
          <a:p>
            <a:fld id="{AD665F7D-41EA-1A46-8653-334D3F63C0E1}" type="datetimeFigureOut">
              <a:rPr kumimoji="1" lang="zh-CN" altLang="en-US" smtClean="0"/>
              <a:t>2023/2/12 Sunday</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4AD07451-0205-F34B-87AA-DF8E91E15D01}"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CN" altLang="en-US"/>
              <a:t>编辑母版文本样式
第二级
第三级
第四级
第五级</a:t>
            </a:r>
          </a:p>
        </p:txBody>
      </p:sp>
      <p:sp>
        <p:nvSpPr>
          <p:cNvPr id="5" name="日期占位符 4"/>
          <p:cNvSpPr>
            <a:spLocks noGrp="1"/>
          </p:cNvSpPr>
          <p:nvPr>
            <p:ph type="dt" sz="half" idx="10"/>
          </p:nvPr>
        </p:nvSpPr>
        <p:spPr/>
        <p:txBody>
          <a:bodyPr/>
          <a:lstStyle/>
          <a:p>
            <a:fld id="{AD665F7D-41EA-1A46-8653-334D3F63C0E1}" type="datetimeFigureOut">
              <a:rPr kumimoji="1" lang="zh-CN" altLang="en-US" smtClean="0"/>
              <a:t>2023/2/12 Sunday</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4AD07451-0205-F34B-87AA-DF8E91E15D01}"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hasCustomPrompt="1"/>
          </p:nvPr>
        </p:nvSpPr>
        <p:spPr/>
        <p:txBody>
          <a:bodyPr vert="eaVert"/>
          <a:lstStyle/>
          <a:p>
            <a:r>
              <a:rPr kumimoji="1" lang="zh-CN" altLang="en-US"/>
              <a:t>编辑母版文本样式
第二级
第三级
第四级
第五级</a:t>
            </a:r>
          </a:p>
        </p:txBody>
      </p:sp>
      <p:sp>
        <p:nvSpPr>
          <p:cNvPr id="4" name="日期占位符 3"/>
          <p:cNvSpPr>
            <a:spLocks noGrp="1"/>
          </p:cNvSpPr>
          <p:nvPr>
            <p:ph type="dt" sz="half" idx="10"/>
          </p:nvPr>
        </p:nvSpPr>
        <p:spPr/>
        <p:txBody>
          <a:bodyPr/>
          <a:lstStyle/>
          <a:p>
            <a:fld id="{AD665F7D-41EA-1A46-8653-334D3F63C0E1}" type="datetimeFigureOut">
              <a:rPr kumimoji="1" lang="zh-CN" altLang="en-US" smtClean="0"/>
              <a:t>2023/2/12 Sunday</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AD07451-0205-F34B-87AA-DF8E91E15D01}"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hasCustomPrompt="1"/>
          </p:nvPr>
        </p:nvSpPr>
        <p:spPr>
          <a:xfrm>
            <a:off x="838201" y="365125"/>
            <a:ext cx="7734300" cy="5811838"/>
          </a:xfrm>
        </p:spPr>
        <p:txBody>
          <a:bodyPr vert="eaVert"/>
          <a:lstStyle/>
          <a:p>
            <a:r>
              <a:rPr kumimoji="1" lang="zh-CN" altLang="en-US"/>
              <a:t>编辑母版文本样式
第二级
第三级
第四级
第五级</a:t>
            </a:r>
          </a:p>
        </p:txBody>
      </p:sp>
      <p:sp>
        <p:nvSpPr>
          <p:cNvPr id="4" name="日期占位符 3"/>
          <p:cNvSpPr>
            <a:spLocks noGrp="1"/>
          </p:cNvSpPr>
          <p:nvPr>
            <p:ph type="dt" sz="half" idx="10"/>
          </p:nvPr>
        </p:nvSpPr>
        <p:spPr/>
        <p:txBody>
          <a:bodyPr/>
          <a:lstStyle/>
          <a:p>
            <a:fld id="{AD665F7D-41EA-1A46-8653-334D3F63C0E1}" type="datetimeFigureOut">
              <a:rPr kumimoji="1" lang="zh-CN" altLang="en-US" smtClean="0"/>
              <a:t>2023/2/12 Sunday</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AD07451-0205-F34B-87AA-DF8E91E15D01}"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CN" altLang="en-US"/>
              <a:t>编辑母版文本样式
第二级
第三级
第四级
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65F7D-41EA-1A46-8653-334D3F63C0E1}" type="datetimeFigureOut">
              <a:rPr kumimoji="1" lang="zh-CN" altLang="en-US" smtClean="0"/>
              <a:t>2023/2/12 Sunday</a:t>
            </a:fld>
            <a:endParaRPr kumimoji="1"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D07451-0205-F34B-87AA-DF8E91E15D01}"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D:\EAD\EXAM STAR\平台课程H5\fm-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856" y="-5070"/>
            <a:ext cx="12191144" cy="68630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424739" y="2441608"/>
            <a:ext cx="6636838" cy="1015663"/>
          </a:xfrm>
          <a:prstGeom prst="rect">
            <a:avLst/>
          </a:prstGeom>
          <a:noFill/>
        </p:spPr>
        <p:txBody>
          <a:bodyPr wrap="square" rtlCol="0">
            <a:spAutoFit/>
          </a:bodyPr>
          <a:lstStyle/>
          <a:p>
            <a:r>
              <a:rPr lang="en-US" altLang="zh-CN" sz="6000" dirty="0">
                <a:latin typeface="楷体" panose="02010609060101010101" charset="-122"/>
                <a:ea typeface="楷体" panose="02010609060101010101" charset="-122"/>
              </a:rPr>
              <a:t>《</a:t>
            </a:r>
            <a:r>
              <a:rPr lang="zh-CN" altLang="en-US" sz="6000" dirty="0">
                <a:latin typeface="楷体" panose="02010609060101010101" charset="-122"/>
                <a:ea typeface="楷体" panose="02010609060101010101" charset="-122"/>
              </a:rPr>
              <a:t>数据结构</a:t>
            </a:r>
            <a:r>
              <a:rPr lang="en-US" altLang="zh-CN" sz="6000" dirty="0">
                <a:latin typeface="楷体" panose="02010609060101010101" charset="-122"/>
                <a:ea typeface="楷体" panose="02010609060101010101" charset="-122"/>
              </a:rPr>
              <a:t>》</a:t>
            </a:r>
          </a:p>
        </p:txBody>
      </p:sp>
      <p:sp>
        <p:nvSpPr>
          <p:cNvPr id="12" name="TextBox 11"/>
          <p:cNvSpPr txBox="1"/>
          <p:nvPr/>
        </p:nvSpPr>
        <p:spPr>
          <a:xfrm>
            <a:off x="4924242" y="3665028"/>
            <a:ext cx="2468880" cy="645160"/>
          </a:xfrm>
          <a:prstGeom prst="rect">
            <a:avLst/>
          </a:prstGeom>
          <a:noFill/>
        </p:spPr>
        <p:txBody>
          <a:bodyPr wrap="none" rtlCol="0">
            <a:spAutoFit/>
          </a:bodyPr>
          <a:lstStyle/>
          <a:p>
            <a:r>
              <a:rPr lang="zh-CN" altLang="en-US" sz="3600" dirty="0">
                <a:latin typeface="楷体" panose="02010609060101010101" charset="-122"/>
                <a:ea typeface="楷体" panose="02010609060101010101" charset="-122"/>
              </a:rPr>
              <a:t>期末高分课</a:t>
            </a:r>
            <a:endParaRPr lang="en-US" altLang="zh-CN" sz="3600" dirty="0">
              <a:latin typeface="楷体" panose="02010609060101010101" charset="-122"/>
              <a:ea typeface="楷体" panose="02010609060101010101" charset="-122"/>
            </a:endParaRPr>
          </a:p>
        </p:txBody>
      </p:sp>
      <p:cxnSp>
        <p:nvCxnSpPr>
          <p:cNvPr id="11" name="直接连接符 10"/>
          <p:cNvCxnSpPr/>
          <p:nvPr/>
        </p:nvCxnSpPr>
        <p:spPr>
          <a:xfrm>
            <a:off x="4924242" y="3569970"/>
            <a:ext cx="689193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4" name="等腰三角形 13"/>
          <p:cNvSpPr/>
          <p:nvPr/>
        </p:nvSpPr>
        <p:spPr>
          <a:xfrm rot="5400000">
            <a:off x="3821938" y="2811276"/>
            <a:ext cx="983387" cy="847748"/>
          </a:xfrm>
          <a:prstGeom prst="triangle">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29063" y="207141"/>
            <a:ext cx="11627024" cy="1136593"/>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1】</a:t>
            </a:r>
            <a:r>
              <a:rPr lang="zh-CN" altLang="en-US" sz="2400" kern="100" dirty="0">
                <a:latin typeface="Times New Roman" panose="02020603050405020304" charset="0"/>
                <a:ea typeface="HarmonyOS Sans SC" panose="00000500000000000000" pitchFamily="2" charset="-122"/>
                <a:cs typeface="Times New Roman" panose="02020603050405020304" charset="0"/>
              </a:rPr>
              <a:t>数据结构从逻辑上可以划分为四种基本类型：</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______________</a:t>
            </a:r>
            <a:r>
              <a:rPr lang="zh-CN" altLang="en-US" sz="2400" kern="100" dirty="0">
                <a:latin typeface="Times New Roman" panose="02020603050405020304" charset="0"/>
                <a:ea typeface="HarmonyOS Sans SC" panose="00000500000000000000" pitchFamily="2" charset="-122"/>
                <a:cs typeface="Times New Roman" panose="02020603050405020304" charset="0"/>
              </a:rPr>
              <a:t>、 </a:t>
            </a:r>
            <a:r>
              <a:rPr lang="en-US" altLang="zh-CN" sz="2400" kern="100" dirty="0">
                <a:latin typeface="Times New Roman" panose="02020603050405020304" charset="0"/>
                <a:ea typeface="HarmonyOS Sans SC" panose="00000500000000000000" pitchFamily="2" charset="-122"/>
                <a:cs typeface="Times New Roman" panose="02020603050405020304" charset="0"/>
              </a:rPr>
              <a:t>______________</a:t>
            </a:r>
            <a:r>
              <a:rPr lang="zh-CN" altLang="en-US" sz="2400" kern="100" dirty="0">
                <a:latin typeface="Times New Roman" panose="02020603050405020304" charset="0"/>
                <a:ea typeface="HarmonyOS Sans SC" panose="00000500000000000000" pitchFamily="2" charset="-122"/>
                <a:cs typeface="Times New Roman" panose="02020603050405020304" charset="0"/>
              </a:rPr>
              <a:t>、 </a:t>
            </a:r>
            <a:r>
              <a:rPr lang="en-US" altLang="zh-CN" sz="2400" kern="100" dirty="0">
                <a:latin typeface="Times New Roman" panose="02020603050405020304" charset="0"/>
                <a:ea typeface="HarmonyOS Sans SC" panose="00000500000000000000" pitchFamily="2" charset="-122"/>
                <a:cs typeface="Times New Roman" panose="02020603050405020304" charset="0"/>
              </a:rPr>
              <a:t>______________</a:t>
            </a:r>
            <a:r>
              <a:rPr lang="zh-CN" altLang="en-US" sz="2400" kern="100" dirty="0">
                <a:latin typeface="Times New Roman" panose="02020603050405020304" charset="0"/>
                <a:ea typeface="HarmonyOS Sans SC" panose="00000500000000000000" pitchFamily="2" charset="-122"/>
                <a:cs typeface="Times New Roman" panose="02020603050405020304" charset="0"/>
              </a:rPr>
              <a:t>、 </a:t>
            </a:r>
            <a:r>
              <a:rPr lang="en-US" altLang="zh-CN" sz="2400" kern="100" dirty="0">
                <a:latin typeface="Times New Roman" panose="02020603050405020304" charset="0"/>
                <a:ea typeface="HarmonyOS Sans SC" panose="00000500000000000000" pitchFamily="2" charset="-122"/>
                <a:cs typeface="Times New Roman" panose="02020603050405020304" charset="0"/>
              </a:rPr>
              <a:t>______________</a:t>
            </a:r>
            <a:endParaRPr lang="zh-CN" altLang="en-US" sz="2400" kern="100" dirty="0">
              <a:latin typeface="Times New Roman" panose="02020603050405020304" charset="0"/>
              <a:ea typeface="HarmonyOS Sans SC" panose="00000500000000000000" pitchFamily="2" charset="-122"/>
              <a:cs typeface="Times New Roman" panose="02020603050405020304" charset="0"/>
            </a:endParaRPr>
          </a:p>
        </p:txBody>
      </p:sp>
      <p:sp>
        <p:nvSpPr>
          <p:cNvPr id="12" name="文本框 11"/>
          <p:cNvSpPr txBox="1"/>
          <p:nvPr/>
        </p:nvSpPr>
        <p:spPr>
          <a:xfrm>
            <a:off x="675191" y="775437"/>
            <a:ext cx="10281734" cy="461665"/>
          </a:xfrm>
          <a:prstGeom prst="rect">
            <a:avLst/>
          </a:prstGeom>
          <a:noFill/>
        </p:spPr>
        <p:txBody>
          <a:bodyPr wrap="square">
            <a:spAutoFit/>
          </a:bodyPr>
          <a:lstStyle/>
          <a:p>
            <a:r>
              <a:rPr lang="zh-CN" altLang="en-US" sz="2400" dirty="0">
                <a:solidFill>
                  <a:srgbClr val="FF0000"/>
                </a:solidFill>
                <a:latin typeface="Times New Roman" panose="02020603050405020304" charset="0"/>
                <a:ea typeface="HarmonyOS Sans SC" panose="00000500000000000000" pitchFamily="2" charset="-122"/>
                <a:cs typeface="Times New Roman" panose="02020603050405020304" charset="0"/>
              </a:rPr>
              <a:t>集合结构                 线性结构                  树形结构                 网络结构</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29235" y="207010"/>
            <a:ext cx="11627485" cy="3404235"/>
            <a:chOff x="361" y="326"/>
            <a:chExt cx="18311" cy="5361"/>
          </a:xfrm>
        </p:grpSpPr>
        <p:sp>
          <p:nvSpPr>
            <p:cNvPr id="4" name="文本框 3"/>
            <p:cNvSpPr txBox="1"/>
            <p:nvPr/>
          </p:nvSpPr>
          <p:spPr>
            <a:xfrm>
              <a:off x="361" y="326"/>
              <a:ext cx="18310" cy="5276"/>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2】</a:t>
              </a:r>
              <a:r>
                <a:rPr lang="zh-CN" altLang="en-US" sz="2400" kern="100" dirty="0">
                  <a:latin typeface="Times New Roman" panose="02020603050405020304" charset="0"/>
                  <a:ea typeface="HarmonyOS Sans SC" panose="00000500000000000000" pitchFamily="2" charset="-122"/>
                  <a:cs typeface="Times New Roman" panose="02020603050405020304" charset="0"/>
                </a:rPr>
                <a:t>下列程序段的时间复杂度为</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err="1">
                  <a:latin typeface="Times New Roman" panose="02020603050405020304" charset="0"/>
                  <a:ea typeface="HarmonyOS Sans SC" panose="00000500000000000000" pitchFamily="2" charset="-122"/>
                  <a:cs typeface="Times New Roman" panose="02020603050405020304" charset="0"/>
                </a:rPr>
                <a:t>i</a:t>
              </a:r>
              <a:r>
                <a:rPr lang="en-US" altLang="zh-CN" sz="2400" kern="100" dirty="0">
                  <a:latin typeface="Times New Roman" panose="02020603050405020304" charset="0"/>
                  <a:ea typeface="HarmonyOS Sans SC" panose="00000500000000000000" pitchFamily="2" charset="-122"/>
                  <a:cs typeface="Times New Roman" panose="02020603050405020304" charset="0"/>
                </a:rPr>
                <a:t>=0</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s=0</a:t>
              </a:r>
              <a:r>
                <a:rPr lang="zh-CN" altLang="en-US" sz="2400" kern="100" dirty="0">
                  <a:latin typeface="Times New Roman" panose="02020603050405020304" charset="0"/>
                  <a:ea typeface="HarmonyOS Sans SC" panose="00000500000000000000" pitchFamily="2" charset="-122"/>
                  <a:cs typeface="Times New Roman" panose="02020603050405020304" charset="0"/>
                </a:rPr>
                <a:t>； </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while (s&lt;n) { </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	s=</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s+i</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	</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i</a:t>
              </a:r>
              <a:r>
                <a:rPr lang="en-US" altLang="zh-CN" sz="2400" kern="100" dirty="0">
                  <a:latin typeface="Times New Roman" panose="02020603050405020304" charset="0"/>
                  <a:ea typeface="HarmonyOS Sans SC" panose="00000500000000000000" pitchFamily="2" charset="-122"/>
                  <a:cs typeface="Times New Roman" panose="02020603050405020304" charset="0"/>
                </a:rPr>
                <a:t>++</a:t>
              </a:r>
              <a:r>
                <a:rPr lang="zh-CN" altLang="en-US" sz="2400" kern="100" dirty="0">
                  <a:latin typeface="Times New Roman" panose="02020603050405020304" charset="0"/>
                  <a:ea typeface="HarmonyOS Sans SC" panose="00000500000000000000" pitchFamily="2" charset="-122"/>
                  <a:cs typeface="Times New Roman" panose="02020603050405020304" charset="0"/>
                </a:rPr>
                <a:t>； </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 </a:t>
              </a:r>
            </a:p>
          </p:txBody>
        </p:sp>
        <p:sp>
          <p:nvSpPr>
            <p:cNvPr id="2" name="矩形 13"/>
            <p:cNvSpPr/>
            <p:nvPr/>
          </p:nvSpPr>
          <p:spPr>
            <a:xfrm>
              <a:off x="529" y="5629"/>
              <a:ext cx="18143" cy="58"/>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grpSp>
      <p:sp>
        <p:nvSpPr>
          <p:cNvPr id="5" name="文本框 4"/>
          <p:cNvSpPr txBox="1"/>
          <p:nvPr/>
        </p:nvSpPr>
        <p:spPr>
          <a:xfrm>
            <a:off x="237943" y="3627885"/>
            <a:ext cx="11618143" cy="1690591"/>
          </a:xfrm>
          <a:prstGeom prst="rect">
            <a:avLst/>
          </a:prstGeom>
          <a:noFill/>
        </p:spPr>
        <p:txBody>
          <a:bodyPr wrap="square">
            <a:spAutoFit/>
          </a:bodyPr>
          <a:lstStyle/>
          <a:p>
            <a:pPr>
              <a:lnSpc>
                <a:spcPct val="150000"/>
              </a:lnSpc>
              <a:spcBef>
                <a:spcPct val="0"/>
              </a:spcBef>
              <a:buClr>
                <a:schemeClr val="folHlink"/>
              </a:buClr>
              <a:buSzPct val="60000"/>
              <a:buFontTx/>
              <a:buNone/>
            </a:pPr>
            <a:r>
              <a:rPr lang="zh-CN" altLang="en-US" sz="2400" dirty="0">
                <a:solidFill>
                  <a:srgbClr val="FF0000"/>
                </a:solidFill>
                <a:latin typeface="Times New Roman" panose="02020603050405020304" charset="0"/>
                <a:ea typeface="HarmonyOS Sans SC" panose="00000500000000000000" pitchFamily="2" charset="-122"/>
                <a:cs typeface="Times New Roman" panose="02020603050405020304" charset="0"/>
              </a:rPr>
              <a:t>解：</a:t>
            </a:r>
            <a:r>
              <a:rPr lang="zh-CN" altLang="en-US" sz="2400" dirty="0">
                <a:latin typeface="Times New Roman" panose="02020603050405020304" charset="0"/>
                <a:ea typeface="HarmonyOS Sans SC" panose="00000500000000000000" pitchFamily="2" charset="-122"/>
                <a:cs typeface="Times New Roman" panose="02020603050405020304" charset="0"/>
              </a:rPr>
              <a:t>每重循环中</a:t>
            </a:r>
            <a:r>
              <a:rPr lang="en-US" altLang="zh-CN" sz="2400" dirty="0" err="1">
                <a:latin typeface="Times New Roman" panose="02020603050405020304" charset="0"/>
                <a:ea typeface="HarmonyOS Sans SC" panose="00000500000000000000" pitchFamily="2" charset="-122"/>
                <a:cs typeface="Times New Roman" panose="02020603050405020304" charset="0"/>
              </a:rPr>
              <a:t>i</a:t>
            </a:r>
            <a:r>
              <a:rPr lang="zh-CN" altLang="en-US" sz="2400" dirty="0">
                <a:latin typeface="Times New Roman" panose="02020603050405020304" charset="0"/>
                <a:ea typeface="HarmonyOS Sans SC" panose="00000500000000000000" pitchFamily="2" charset="-122"/>
                <a:cs typeface="Times New Roman" panose="02020603050405020304" charset="0"/>
              </a:rPr>
              <a:t>增量为</a:t>
            </a:r>
            <a:r>
              <a:rPr lang="en-US" altLang="zh-CN" sz="2400" dirty="0">
                <a:latin typeface="Times New Roman" panose="02020603050405020304" charset="0"/>
                <a:ea typeface="HarmonyOS Sans SC" panose="00000500000000000000" pitchFamily="2" charset="-122"/>
                <a:cs typeface="Times New Roman" panose="02020603050405020304" charset="0"/>
              </a:rPr>
              <a:t>1</a:t>
            </a:r>
            <a:r>
              <a:rPr lang="zh-CN" altLang="en-US" sz="2400" dirty="0">
                <a:latin typeface="Times New Roman" panose="02020603050405020304" charset="0"/>
                <a:ea typeface="HarmonyOS Sans SC" panose="00000500000000000000" pitchFamily="2" charset="-122"/>
                <a:cs typeface="Times New Roman" panose="02020603050405020304" charset="0"/>
              </a:rPr>
              <a:t>，</a:t>
            </a:r>
            <a:r>
              <a:rPr lang="en-US" altLang="zh-CN" sz="2400" dirty="0">
                <a:latin typeface="Times New Roman" panose="02020603050405020304" charset="0"/>
                <a:ea typeface="HarmonyOS Sans SC" panose="00000500000000000000" pitchFamily="2" charset="-122"/>
                <a:cs typeface="Times New Roman" panose="02020603050405020304" charset="0"/>
              </a:rPr>
              <a:t>s</a:t>
            </a:r>
            <a:r>
              <a:rPr lang="zh-CN" altLang="en-US" sz="2400" dirty="0">
                <a:latin typeface="Times New Roman" panose="02020603050405020304" charset="0"/>
                <a:ea typeface="HarmonyOS Sans SC" panose="00000500000000000000" pitchFamily="2" charset="-122"/>
                <a:cs typeface="Times New Roman" panose="02020603050405020304" charset="0"/>
              </a:rPr>
              <a:t>增量为</a:t>
            </a:r>
            <a:r>
              <a:rPr lang="en-US" altLang="zh-CN" sz="2400" dirty="0" err="1">
                <a:latin typeface="Times New Roman" panose="02020603050405020304" charset="0"/>
                <a:ea typeface="HarmonyOS Sans SC" panose="00000500000000000000" pitchFamily="2" charset="-122"/>
                <a:cs typeface="Times New Roman" panose="02020603050405020304" charset="0"/>
              </a:rPr>
              <a:t>i</a:t>
            </a:r>
            <a:r>
              <a:rPr lang="zh-CN" altLang="en-US" sz="2400" dirty="0">
                <a:latin typeface="Times New Roman" panose="02020603050405020304" charset="0"/>
                <a:ea typeface="HarmonyOS Sans SC" panose="00000500000000000000" pitchFamily="2" charset="-122"/>
                <a:cs typeface="Times New Roman" panose="02020603050405020304" charset="0"/>
              </a:rPr>
              <a:t>，当</a:t>
            </a:r>
            <a:r>
              <a:rPr lang="en-US" altLang="zh-CN" sz="2400" dirty="0">
                <a:latin typeface="Times New Roman" panose="02020603050405020304" charset="0"/>
                <a:ea typeface="HarmonyOS Sans SC" panose="00000500000000000000" pitchFamily="2" charset="-122"/>
                <a:cs typeface="Times New Roman" panose="02020603050405020304" charset="0"/>
              </a:rPr>
              <a:t>s&gt;=n</a:t>
            </a:r>
            <a:r>
              <a:rPr lang="zh-CN" altLang="en-US" sz="2400" dirty="0">
                <a:latin typeface="Times New Roman" panose="02020603050405020304" charset="0"/>
                <a:ea typeface="HarmonyOS Sans SC" panose="00000500000000000000" pitchFamily="2" charset="-122"/>
                <a:cs typeface="Times New Roman" panose="02020603050405020304" charset="0"/>
              </a:rPr>
              <a:t>时循环终止。于是，设循环执行</a:t>
            </a:r>
            <a:r>
              <a:rPr lang="en-US" altLang="zh-CN" sz="2400" dirty="0">
                <a:latin typeface="Times New Roman" panose="02020603050405020304" charset="0"/>
                <a:ea typeface="HarmonyOS Sans SC" panose="00000500000000000000" pitchFamily="2" charset="-122"/>
                <a:cs typeface="Times New Roman" panose="02020603050405020304" charset="0"/>
              </a:rPr>
              <a:t>t</a:t>
            </a:r>
            <a:r>
              <a:rPr lang="zh-CN" altLang="en-US" sz="2400" dirty="0">
                <a:latin typeface="Times New Roman" panose="02020603050405020304" charset="0"/>
                <a:ea typeface="HarmonyOS Sans SC" panose="00000500000000000000" pitchFamily="2" charset="-122"/>
                <a:cs typeface="Times New Roman" panose="02020603050405020304" charset="0"/>
              </a:rPr>
              <a:t>次，有：</a:t>
            </a:r>
            <a:r>
              <a:rPr lang="en-US" altLang="zh-CN" sz="2400" dirty="0">
                <a:latin typeface="Times New Roman" panose="02020603050405020304" charset="0"/>
                <a:ea typeface="HarmonyOS Sans SC" panose="00000500000000000000" pitchFamily="2" charset="-122"/>
                <a:cs typeface="Times New Roman" panose="02020603050405020304" charset="0"/>
              </a:rPr>
              <a:t>1+2+...+t &gt;= n</a:t>
            </a:r>
            <a:r>
              <a:rPr lang="zh-CN" altLang="en-US" sz="2400" dirty="0">
                <a:latin typeface="Times New Roman" panose="02020603050405020304" charset="0"/>
                <a:ea typeface="HarmonyOS Sans SC" panose="00000500000000000000" pitchFamily="2" charset="-122"/>
                <a:cs typeface="Times New Roman" panose="02020603050405020304" charset="0"/>
              </a:rPr>
              <a:t>，然后用求根公式（判别式明显大于零）得到</a:t>
            </a:r>
            <a:r>
              <a:rPr lang="en-US" altLang="zh-CN" sz="2400" dirty="0">
                <a:latin typeface="Times New Roman" panose="02020603050405020304" charset="0"/>
                <a:ea typeface="HarmonyOS Sans SC" panose="00000500000000000000" pitchFamily="2" charset="-122"/>
                <a:cs typeface="Times New Roman" panose="02020603050405020304" charset="0"/>
              </a:rPr>
              <a:t>t</a:t>
            </a:r>
            <a:r>
              <a:rPr lang="zh-CN" altLang="en-US" sz="2400" dirty="0">
                <a:latin typeface="Times New Roman" panose="02020603050405020304" charset="0"/>
                <a:ea typeface="HarmonyOS Sans SC" panose="00000500000000000000" pitchFamily="2" charset="-122"/>
                <a:cs typeface="Times New Roman" panose="02020603050405020304" charset="0"/>
              </a:rPr>
              <a:t>用</a:t>
            </a:r>
            <a:r>
              <a:rPr lang="en-US" altLang="zh-CN" sz="2400" dirty="0">
                <a:latin typeface="Times New Roman" panose="02020603050405020304" charset="0"/>
                <a:ea typeface="HarmonyOS Sans SC" panose="00000500000000000000" pitchFamily="2" charset="-122"/>
                <a:cs typeface="Times New Roman" panose="02020603050405020304" charset="0"/>
              </a:rPr>
              <a:t>n </a:t>
            </a:r>
            <a:r>
              <a:rPr lang="zh-CN" altLang="en-US" sz="2400" dirty="0">
                <a:latin typeface="Times New Roman" panose="02020603050405020304" charset="0"/>
                <a:ea typeface="HarmonyOS Sans SC" panose="00000500000000000000" pitchFamily="2" charset="-122"/>
                <a:cs typeface="Times New Roman" panose="02020603050405020304" charset="0"/>
              </a:rPr>
              <a:t>的表示，即时间复杂度为</a:t>
            </a:r>
            <a:r>
              <a:rPr lang="en-US" altLang="zh-CN" sz="2400" dirty="0">
                <a:latin typeface="Times New Roman" panose="02020603050405020304" charset="0"/>
                <a:cs typeface="Times New Roman" panose="02020603050405020304" charset="0"/>
              </a:rPr>
              <a:t>O(n</a:t>
            </a:r>
            <a:r>
              <a:rPr lang="en-US" altLang="zh-CN" sz="2400" baseline="30000" dirty="0">
                <a:latin typeface="Times New Roman" panose="02020603050405020304" charset="0"/>
                <a:cs typeface="Times New Roman" panose="02020603050405020304" charset="0"/>
              </a:rPr>
              <a:t>1/2</a:t>
            </a:r>
            <a:r>
              <a:rPr lang="en-US" altLang="zh-CN" sz="2400" dirty="0">
                <a:latin typeface="Times New Roman" panose="02020603050405020304" charset="0"/>
                <a:cs typeface="Times New Roman" panose="02020603050405020304" charset="0"/>
              </a:rPr>
              <a:t>)</a:t>
            </a:r>
            <a:r>
              <a:rPr lang="zh-CN" altLang="en-US" sz="2400" dirty="0">
                <a:latin typeface="Times New Roman" panose="02020603050405020304" charset="0"/>
                <a:ea typeface="HarmonyOS Sans SC" panose="00000500000000000000" pitchFamily="2" charset="-122"/>
                <a:cs typeface="Times New Roman" panose="0202060305040502030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638376"/>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207141"/>
            <a:ext cx="11434203"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3】</a:t>
            </a:r>
            <a:r>
              <a:rPr lang="zh-CN" altLang="en-US" sz="2400" kern="100" dirty="0">
                <a:latin typeface="Times New Roman" panose="02020603050405020304" charset="0"/>
                <a:ea typeface="HarmonyOS Sans SC" panose="00000500000000000000" pitchFamily="2" charset="-122"/>
                <a:cs typeface="Times New Roman" panose="02020603050405020304" charset="0"/>
              </a:rPr>
              <a:t>设指针</a:t>
            </a:r>
            <a:r>
              <a:rPr lang="en-US" altLang="zh-CN" sz="2400" kern="100" dirty="0">
                <a:latin typeface="Times New Roman" panose="02020603050405020304" charset="0"/>
                <a:ea typeface="HarmonyOS Sans SC" panose="00000500000000000000" pitchFamily="2" charset="-122"/>
                <a:cs typeface="Times New Roman" panose="02020603050405020304" charset="0"/>
              </a:rPr>
              <a:t>q</a:t>
            </a:r>
            <a:r>
              <a:rPr lang="zh-CN" altLang="en-US" sz="2400" kern="100" dirty="0">
                <a:latin typeface="Times New Roman" panose="02020603050405020304" charset="0"/>
                <a:ea typeface="HarmonyOS Sans SC" panose="00000500000000000000" pitchFamily="2" charset="-122"/>
                <a:cs typeface="Times New Roman" panose="02020603050405020304" charset="0"/>
              </a:rPr>
              <a:t>指向单链表中结点</a:t>
            </a: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，指针</a:t>
            </a:r>
            <a:r>
              <a:rPr lang="en-US" altLang="zh-CN" sz="2400" kern="100" dirty="0">
                <a:latin typeface="Times New Roman" panose="02020603050405020304" charset="0"/>
                <a:ea typeface="HarmonyOS Sans SC" panose="00000500000000000000" pitchFamily="2" charset="-122"/>
                <a:cs typeface="Times New Roman" panose="02020603050405020304" charset="0"/>
              </a:rPr>
              <a:t>p</a:t>
            </a:r>
            <a:r>
              <a:rPr lang="zh-CN" altLang="en-US" sz="2400" kern="100" dirty="0">
                <a:latin typeface="Times New Roman" panose="02020603050405020304" charset="0"/>
                <a:ea typeface="HarmonyOS Sans SC" panose="00000500000000000000" pitchFamily="2" charset="-122"/>
                <a:cs typeface="Times New Roman" panose="02020603050405020304" charset="0"/>
              </a:rPr>
              <a:t>指向单链表中结点</a:t>
            </a: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的后继结点</a:t>
            </a: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，指针</a:t>
            </a:r>
            <a:r>
              <a:rPr lang="en-US" altLang="zh-CN" sz="2400" kern="100" dirty="0">
                <a:latin typeface="Times New Roman" panose="02020603050405020304" charset="0"/>
                <a:ea typeface="HarmonyOS Sans SC" panose="00000500000000000000" pitchFamily="2" charset="-122"/>
                <a:cs typeface="Times New Roman" panose="02020603050405020304" charset="0"/>
              </a:rPr>
              <a:t>s</a:t>
            </a:r>
            <a:r>
              <a:rPr lang="zh-CN" altLang="en-US" sz="2400" kern="100" dirty="0">
                <a:latin typeface="Times New Roman" panose="02020603050405020304" charset="0"/>
                <a:ea typeface="HarmonyOS Sans SC" panose="00000500000000000000" pitchFamily="2" charset="-122"/>
                <a:cs typeface="Times New Roman" panose="02020603050405020304" charset="0"/>
              </a:rPr>
              <a:t>指向被插入的结点</a:t>
            </a:r>
            <a:r>
              <a:rPr lang="en-US" altLang="zh-CN" sz="2400" kern="100" dirty="0">
                <a:latin typeface="Times New Roman" panose="02020603050405020304" charset="0"/>
                <a:ea typeface="HarmonyOS Sans SC" panose="00000500000000000000" pitchFamily="2" charset="-122"/>
                <a:cs typeface="Times New Roman" panose="02020603050405020304" charset="0"/>
              </a:rPr>
              <a:t>X</a:t>
            </a:r>
            <a:r>
              <a:rPr lang="zh-CN" altLang="en-US" sz="2400" kern="100" dirty="0">
                <a:latin typeface="Times New Roman" panose="02020603050405020304" charset="0"/>
                <a:ea typeface="HarmonyOS Sans SC" panose="00000500000000000000" pitchFamily="2" charset="-122"/>
                <a:cs typeface="Times New Roman" panose="02020603050405020304" charset="0"/>
              </a:rPr>
              <a:t>，则在结点</a:t>
            </a: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和结点</a:t>
            </a: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之间插入结点</a:t>
            </a:r>
            <a:r>
              <a:rPr lang="en-US" altLang="zh-CN" sz="2400" kern="100" dirty="0">
                <a:latin typeface="Times New Roman" panose="02020603050405020304" charset="0"/>
                <a:ea typeface="HarmonyOS Sans SC" panose="00000500000000000000" pitchFamily="2" charset="-122"/>
                <a:cs typeface="Times New Roman" panose="02020603050405020304" charset="0"/>
              </a:rPr>
              <a:t>X</a:t>
            </a:r>
            <a:r>
              <a:rPr lang="zh-CN" altLang="en-US" sz="2400" kern="100" dirty="0">
                <a:latin typeface="Times New Roman" panose="02020603050405020304" charset="0"/>
                <a:ea typeface="HarmonyOS Sans SC" panose="00000500000000000000" pitchFamily="2" charset="-122"/>
                <a:cs typeface="Times New Roman" panose="02020603050405020304" charset="0"/>
              </a:rPr>
              <a:t>的操作序列为哪一项。</a:t>
            </a:r>
            <a:r>
              <a:rPr lang="en-US" altLang="zh-CN" sz="2400" kern="100" dirty="0">
                <a:latin typeface="Times New Roman" panose="02020603050405020304" charset="0"/>
                <a:ea typeface="HarmonyOS Sans SC" panose="00000500000000000000" pitchFamily="2" charset="-122"/>
                <a:cs typeface="Times New Roman" panose="02020603050405020304" charset="0"/>
              </a:rPr>
              <a:t>(     )</a:t>
            </a:r>
            <a:endParaRPr lang="zh-CN" altLang="en-US" sz="2400" kern="100" dirty="0">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A:s-&gt;next=p-&gt;next</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p-&gt;next=s</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B:s-&gt;next=p</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q-&gt;next=s</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C:p-&gt;next=s-&gt;next</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s-&gt;next=p</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D:p-&gt;next=s</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s-&gt;next=q</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p:txBody>
      </p:sp>
      <p:sp>
        <p:nvSpPr>
          <p:cNvPr id="5" name="文本框 4"/>
          <p:cNvSpPr txBox="1"/>
          <p:nvPr/>
        </p:nvSpPr>
        <p:spPr>
          <a:xfrm>
            <a:off x="237944" y="3670169"/>
            <a:ext cx="11807876" cy="579967"/>
          </a:xfrm>
          <a:prstGeom prst="rect">
            <a:avLst/>
          </a:prstGeom>
          <a:noFill/>
        </p:spPr>
        <p:txBody>
          <a:bodyPr wrap="square">
            <a:spAutoFit/>
          </a:bodyPr>
          <a:lstStyle/>
          <a:p>
            <a:pPr>
              <a:lnSpc>
                <a:spcPct val="150000"/>
              </a:lnSpc>
              <a:spcBef>
                <a:spcPct val="0"/>
              </a:spcBef>
              <a:buClr>
                <a:schemeClr val="folHlink"/>
              </a:buClr>
              <a:buSzPct val="60000"/>
              <a:buFontTx/>
              <a:buNone/>
            </a:pPr>
            <a:endParaRPr lang="zh-CN" altLang="en-US" sz="2400" dirty="0">
              <a:latin typeface="Times New Roman" panose="02020603050405020304" charset="0"/>
              <a:ea typeface="HarmonyOS Sans SC" panose="00000500000000000000" pitchFamily="2" charset="-122"/>
              <a:cs typeface="Times New Roman" panose="02020603050405020304" charset="0"/>
            </a:endParaRPr>
          </a:p>
        </p:txBody>
      </p:sp>
      <p:sp>
        <p:nvSpPr>
          <p:cNvPr id="3" name="文本框 2"/>
          <p:cNvSpPr txBox="1"/>
          <p:nvPr/>
        </p:nvSpPr>
        <p:spPr>
          <a:xfrm>
            <a:off x="11151235" y="939800"/>
            <a:ext cx="448310" cy="460375"/>
          </a:xfrm>
          <a:prstGeom prst="rect">
            <a:avLst/>
          </a:prstGeom>
          <a:noFill/>
        </p:spPr>
        <p:txBody>
          <a:bodyPr wrap="square" rtlCol="0" anchor="t">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sym typeface="+mn-ea"/>
              </a:rPr>
              <a:t>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858735"/>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207141"/>
            <a:ext cx="11434203" cy="6119945"/>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4】</a:t>
            </a:r>
            <a:r>
              <a:rPr lang="zh-CN" altLang="en-US" sz="2400" kern="100" dirty="0">
                <a:latin typeface="Times New Roman" panose="02020603050405020304" charset="0"/>
                <a:ea typeface="HarmonyOS Sans SC" panose="00000500000000000000" pitchFamily="2" charset="-122"/>
                <a:cs typeface="Times New Roman" panose="02020603050405020304" charset="0"/>
              </a:rPr>
              <a:t>设计判断单链表中元素是否是递增的算法。</a:t>
            </a:r>
          </a:p>
          <a:p>
            <a:pPr algn="just">
              <a:lnSpc>
                <a:spcPct val="150000"/>
              </a:lnSpc>
            </a:pPr>
            <a:r>
              <a:rPr lang="zh-CN" altLang="en-US" sz="2400" dirty="0">
                <a:solidFill>
                  <a:srgbClr val="FF0000"/>
                </a:solidFill>
                <a:latin typeface="Times New Roman" panose="02020603050405020304" charset="0"/>
                <a:ea typeface="HarmonyOS Sans SC" panose="00000500000000000000" pitchFamily="2" charset="-122"/>
                <a:cs typeface="Times New Roman" panose="02020603050405020304" charset="0"/>
              </a:rPr>
              <a:t>解： </a:t>
            </a:r>
            <a:r>
              <a:rPr lang="en-US" altLang="zh-CN" sz="2400" kern="100" dirty="0">
                <a:latin typeface="Times New Roman" panose="02020603050405020304" charset="0"/>
                <a:ea typeface="HarmonyOS Sans SC" panose="00000500000000000000" pitchFamily="2" charset="-122"/>
                <a:cs typeface="Times New Roman" panose="02020603050405020304" charset="0"/>
              </a:rPr>
              <a:t>int </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isriselk</a:t>
            </a:r>
            <a:r>
              <a:rPr lang="en-US" altLang="zh-CN"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klist</a:t>
            </a:r>
            <a:r>
              <a:rPr lang="en-US" altLang="zh-CN" sz="2400" kern="100" dirty="0">
                <a:latin typeface="Times New Roman" panose="02020603050405020304" charset="0"/>
                <a:ea typeface="HarmonyOS Sans SC" panose="00000500000000000000" pitchFamily="2" charset="-122"/>
                <a:cs typeface="Times New Roman" panose="02020603050405020304" charset="0"/>
              </a:rPr>
              <a:t> *head)</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   if(head==0||head-&gt;next==0)</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          return 1;</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    else</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          for(q=</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head,p</a:t>
            </a:r>
            <a:r>
              <a:rPr lang="en-US" altLang="zh-CN" sz="2400" kern="100" dirty="0">
                <a:latin typeface="Times New Roman" panose="02020603050405020304" charset="0"/>
                <a:ea typeface="HarmonyOS Sans SC" panose="00000500000000000000" pitchFamily="2" charset="-122"/>
                <a:cs typeface="Times New Roman" panose="02020603050405020304" charset="0"/>
              </a:rPr>
              <a:t>=head-&gt;next; p!=0; q=</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p,p</a:t>
            </a:r>
            <a:r>
              <a:rPr lang="en-US" altLang="zh-CN" sz="2400" kern="100" dirty="0">
                <a:latin typeface="Times New Roman" panose="02020603050405020304" charset="0"/>
                <a:ea typeface="HarmonyOS Sans SC" panose="00000500000000000000" pitchFamily="2" charset="-122"/>
                <a:cs typeface="Times New Roman" panose="02020603050405020304" charset="0"/>
              </a:rPr>
              <a:t>= p-&gt;next)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              if(q-&gt;data&gt;p-&gt;data) </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                  return 0;</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     return 1;</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wipe(left)">
                                      <p:cBhvr>
                                        <p:cTn id="10" dur="500"/>
                                        <p:tgtEl>
                                          <p:spTgt spid="4">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wipe(left)">
                                      <p:cBhvr>
                                        <p:cTn id="13" dur="500"/>
                                        <p:tgtEl>
                                          <p:spTgt spid="4">
                                            <p:txEl>
                                              <p:pRg st="3" end="3"/>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wipe(left)">
                                      <p:cBhvr>
                                        <p:cTn id="16" dur="500"/>
                                        <p:tgtEl>
                                          <p:spTgt spid="4">
                                            <p:txEl>
                                              <p:pRg st="4" end="4"/>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wipe(left)">
                                      <p:cBhvr>
                                        <p:cTn id="19" dur="500"/>
                                        <p:tgtEl>
                                          <p:spTgt spid="4">
                                            <p:txEl>
                                              <p:pRg st="5" end="5"/>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wipe(left)">
                                      <p:cBhvr>
                                        <p:cTn id="22" dur="500"/>
                                        <p:tgtEl>
                                          <p:spTgt spid="4">
                                            <p:txEl>
                                              <p:pRg st="6" end="6"/>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wipe(left)">
                                      <p:cBhvr>
                                        <p:cTn id="25" dur="500"/>
                                        <p:tgtEl>
                                          <p:spTgt spid="4">
                                            <p:txEl>
                                              <p:pRg st="7" end="7"/>
                                            </p:txEl>
                                          </p:spTgt>
                                        </p:tgtEl>
                                      </p:cBhvr>
                                    </p:animEffect>
                                  </p:childTnLst>
                                </p:cTn>
                              </p:par>
                              <p:par>
                                <p:cTn id="26" presetID="22" presetClass="entr" presetSubtype="8" fill="hold" nodeType="with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animEffect transition="in" filter="wipe(left)">
                                      <p:cBhvr>
                                        <p:cTn id="28" dur="500"/>
                                        <p:tgtEl>
                                          <p:spTgt spid="4">
                                            <p:txEl>
                                              <p:pRg st="8" end="8"/>
                                            </p:txEl>
                                          </p:spTgt>
                                        </p:tgtEl>
                                      </p:cBhvr>
                                    </p:animEffect>
                                  </p:childTnLst>
                                </p:cTn>
                              </p:par>
                              <p:par>
                                <p:cTn id="29" presetID="22" presetClass="entr" presetSubtype="8"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animEffect transition="in" filter="wipe(left)">
                                      <p:cBhvr>
                                        <p:cTn id="31" dur="500"/>
                                        <p:tgtEl>
                                          <p:spTgt spid="4">
                                            <p:txEl>
                                              <p:pRg st="9" end="9"/>
                                            </p:txEl>
                                          </p:spTgt>
                                        </p:tgtEl>
                                      </p:cBhvr>
                                    </p:animEffect>
                                  </p:childTnLst>
                                </p:cTn>
                              </p:par>
                              <p:par>
                                <p:cTn id="32" presetID="22" presetClass="entr" presetSubtype="8" fill="hold" nodeType="withEffect">
                                  <p:stCondLst>
                                    <p:cond delay="0"/>
                                  </p:stCondLst>
                                  <p:childTnLst>
                                    <p:set>
                                      <p:cBhvr>
                                        <p:cTn id="33" dur="1" fill="hold">
                                          <p:stCondLst>
                                            <p:cond delay="0"/>
                                          </p:stCondLst>
                                        </p:cTn>
                                        <p:tgtEl>
                                          <p:spTgt spid="4">
                                            <p:txEl>
                                              <p:pRg st="10" end="10"/>
                                            </p:txEl>
                                          </p:spTgt>
                                        </p:tgtEl>
                                        <p:attrNameLst>
                                          <p:attrName>style.visibility</p:attrName>
                                        </p:attrNameLst>
                                      </p:cBhvr>
                                      <p:to>
                                        <p:strVal val="visible"/>
                                      </p:to>
                                    </p:set>
                                    <p:animEffect transition="in" filter="wipe(left)">
                                      <p:cBhvr>
                                        <p:cTn id="34"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1390125"/>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235" y="207010"/>
            <a:ext cx="11655425" cy="3415030"/>
          </a:xfrm>
          <a:prstGeom prst="rect">
            <a:avLst/>
          </a:prstGeom>
          <a:noFill/>
        </p:spPr>
        <p:txBody>
          <a:bodyPr wrap="square">
            <a:spAutoFit/>
          </a:bodyPr>
          <a:lstStyle/>
          <a:p>
            <a:pPr algn="l">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5】</a:t>
            </a:r>
            <a:r>
              <a:rPr lang="zh-CN" altLang="en-US" sz="2400" kern="100" dirty="0">
                <a:latin typeface="Times New Roman" panose="02020603050405020304" charset="0"/>
                <a:ea typeface="HarmonyOS Sans SC" panose="00000500000000000000" pitchFamily="2" charset="-122"/>
                <a:cs typeface="Times New Roman" panose="02020603050405020304" charset="0"/>
              </a:rPr>
              <a:t>设某链表中最常用的操作是在链表的尾部插入或删除元素，则选用下列（</a:t>
            </a:r>
            <a:r>
              <a:rPr lang="en-US" altLang="zh-CN" sz="2400"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  ）存储方式最节省运算时间。 </a:t>
            </a:r>
          </a:p>
          <a:p>
            <a:pPr algn="l">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、单向链表</a:t>
            </a:r>
          </a:p>
          <a:p>
            <a:pPr algn="l">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、单向循环链表</a:t>
            </a:r>
          </a:p>
          <a:p>
            <a:pPr algn="l">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、双向链表</a:t>
            </a:r>
          </a:p>
          <a:p>
            <a:pPr algn="l">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、双向循环链表</a:t>
            </a:r>
          </a:p>
        </p:txBody>
      </p:sp>
      <p:sp>
        <p:nvSpPr>
          <p:cNvPr id="12" name="文本框 11"/>
          <p:cNvSpPr txBox="1"/>
          <p:nvPr/>
        </p:nvSpPr>
        <p:spPr>
          <a:xfrm>
            <a:off x="11161239" y="338192"/>
            <a:ext cx="508246"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34274" y="243094"/>
            <a:ext cx="11723451"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6】</a:t>
            </a:r>
            <a:r>
              <a:rPr lang="zh-CN" altLang="en-US" sz="2400" kern="100" dirty="0">
                <a:latin typeface="Times New Roman" panose="02020603050405020304" charset="0"/>
                <a:ea typeface="HarmonyOS Sans SC" panose="00000500000000000000" pitchFamily="2" charset="-122"/>
                <a:cs typeface="Times New Roman" panose="02020603050405020304" charset="0"/>
              </a:rPr>
              <a:t>设指针变量 </a:t>
            </a:r>
            <a:r>
              <a:rPr lang="en-US" altLang="zh-CN" sz="2400" kern="100" dirty="0">
                <a:latin typeface="Times New Roman" panose="02020603050405020304" charset="0"/>
                <a:ea typeface="HarmonyOS Sans SC" panose="00000500000000000000" pitchFamily="2" charset="-122"/>
                <a:cs typeface="Times New Roman" panose="02020603050405020304" charset="0"/>
              </a:rPr>
              <a:t>p </a:t>
            </a:r>
            <a:r>
              <a:rPr lang="zh-CN" altLang="en-US" sz="2400" kern="100" dirty="0">
                <a:latin typeface="Times New Roman" panose="02020603050405020304" charset="0"/>
                <a:ea typeface="HarmonyOS Sans SC" panose="00000500000000000000" pitchFamily="2" charset="-122"/>
                <a:cs typeface="Times New Roman" panose="02020603050405020304" charset="0"/>
              </a:rPr>
              <a:t>指向双向链表中结点 </a:t>
            </a:r>
            <a:r>
              <a:rPr lang="en-US" altLang="zh-CN" sz="2400" kern="100" dirty="0">
                <a:latin typeface="Times New Roman" panose="02020603050405020304" charset="0"/>
                <a:ea typeface="HarmonyOS Sans SC" panose="00000500000000000000" pitchFamily="2" charset="-122"/>
                <a:cs typeface="Times New Roman" panose="02020603050405020304" charset="0"/>
              </a:rPr>
              <a:t>A </a:t>
            </a:r>
            <a:r>
              <a:rPr lang="zh-CN" altLang="en-US" sz="2400" kern="100" dirty="0">
                <a:latin typeface="Times New Roman" panose="02020603050405020304" charset="0"/>
                <a:ea typeface="HarmonyOS Sans SC" panose="00000500000000000000" pitchFamily="2" charset="-122"/>
                <a:cs typeface="Times New Roman" panose="02020603050405020304" charset="0"/>
              </a:rPr>
              <a:t>，指针变量 </a:t>
            </a:r>
            <a:r>
              <a:rPr lang="en-US" altLang="zh-CN" sz="2400" kern="100" dirty="0">
                <a:latin typeface="Times New Roman" panose="02020603050405020304" charset="0"/>
                <a:ea typeface="HarmonyOS Sans SC" panose="00000500000000000000" pitchFamily="2" charset="-122"/>
                <a:cs typeface="Times New Roman" panose="02020603050405020304" charset="0"/>
              </a:rPr>
              <a:t>s </a:t>
            </a:r>
            <a:r>
              <a:rPr lang="zh-CN" altLang="en-US" sz="2400" kern="100" dirty="0">
                <a:latin typeface="Times New Roman" panose="02020603050405020304" charset="0"/>
                <a:ea typeface="HarmonyOS Sans SC" panose="00000500000000000000" pitchFamily="2" charset="-122"/>
                <a:cs typeface="Times New Roman" panose="02020603050405020304" charset="0"/>
              </a:rPr>
              <a:t>指向被插入的结点 </a:t>
            </a:r>
            <a:r>
              <a:rPr lang="en-US" altLang="zh-CN" sz="2400" kern="100" dirty="0">
                <a:latin typeface="Times New Roman" panose="02020603050405020304" charset="0"/>
                <a:ea typeface="HarmonyOS Sans SC" panose="00000500000000000000" pitchFamily="2" charset="-122"/>
                <a:cs typeface="Times New Roman" panose="02020603050405020304" charset="0"/>
              </a:rPr>
              <a:t>X </a:t>
            </a:r>
            <a:r>
              <a:rPr lang="zh-CN" altLang="en-US" sz="2400" kern="100" dirty="0">
                <a:latin typeface="Times New Roman" panose="02020603050405020304" charset="0"/>
                <a:ea typeface="HarmonyOS Sans SC" panose="00000500000000000000" pitchFamily="2" charset="-122"/>
                <a:cs typeface="Times New Roman" panose="02020603050405020304" charset="0"/>
              </a:rPr>
              <a:t>，则在结点 </a:t>
            </a:r>
            <a:r>
              <a:rPr lang="en-US" altLang="zh-CN" sz="2400" kern="100" dirty="0">
                <a:latin typeface="Times New Roman" panose="02020603050405020304" charset="0"/>
                <a:ea typeface="HarmonyOS Sans SC" panose="00000500000000000000" pitchFamily="2" charset="-122"/>
                <a:cs typeface="Times New Roman" panose="02020603050405020304" charset="0"/>
              </a:rPr>
              <a:t>A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的后面插入结点 </a:t>
            </a:r>
            <a:r>
              <a:rPr lang="en-US" altLang="zh-CN" sz="2400" kern="100" dirty="0">
                <a:latin typeface="Times New Roman" panose="02020603050405020304" charset="0"/>
                <a:ea typeface="HarmonyOS Sans SC" panose="00000500000000000000" pitchFamily="2" charset="-122"/>
                <a:cs typeface="Times New Roman" panose="02020603050405020304" charset="0"/>
              </a:rPr>
              <a:t>X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的操作序列为（      ）。</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p-&gt;right=s</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s-&gt;left=p</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p-&gt;right-&gt;left=s</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s-&gt;right=p-&gt;right</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s-&gt;left=p</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s-&gt;right=p-&gt;right</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p-&gt;right=s</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p-&gt;right-&gt;left=s</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p-&gt;right=s</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p-&gt;right-&gt;left=s</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s-&gt;left=p</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s-&gt;right=p-&gt;right</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s-&gt;left=p</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s-&gt;right=p-&gt;right</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p-&gt;right-&gt;left=s</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p-&gt;right=s</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p:txBody>
      </p:sp>
      <p:sp>
        <p:nvSpPr>
          <p:cNvPr id="12" name="文本框 11"/>
          <p:cNvSpPr txBox="1"/>
          <p:nvPr/>
        </p:nvSpPr>
        <p:spPr>
          <a:xfrm>
            <a:off x="5959107" y="870103"/>
            <a:ext cx="508246"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D</a:t>
            </a:r>
          </a:p>
        </p:txBody>
      </p:sp>
      <p:sp>
        <p:nvSpPr>
          <p:cNvPr id="3" name="矩形 13">
            <a:extLst>
              <a:ext uri="{FF2B5EF4-FFF2-40B4-BE49-F238E27FC236}">
                <a16:creationId xmlns:a16="http://schemas.microsoft.com/office/drawing/2014/main" id="{944C281D-13D6-0A8B-7E7A-CF38DC7A7029}"/>
              </a:ext>
            </a:extLst>
          </p:cNvPr>
          <p:cNvSpPr/>
          <p:nvPr/>
        </p:nvSpPr>
        <p:spPr>
          <a:xfrm>
            <a:off x="234274" y="1401085"/>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601702"/>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207141"/>
            <a:ext cx="11723451"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7】</a:t>
            </a:r>
            <a:r>
              <a:rPr lang="zh-CN" altLang="en-US" sz="2400" kern="100" dirty="0">
                <a:latin typeface="Times New Roman" panose="02020603050405020304" charset="0"/>
                <a:ea typeface="HarmonyOS Sans SC" panose="00000500000000000000" pitchFamily="2" charset="-122"/>
                <a:cs typeface="Times New Roman" panose="02020603050405020304" charset="0"/>
              </a:rPr>
              <a:t>若元素</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a,b,c,d,e,f</a:t>
            </a:r>
            <a:r>
              <a:rPr lang="zh-CN" altLang="en-US" sz="2400" kern="100" dirty="0">
                <a:latin typeface="Times New Roman" panose="02020603050405020304" charset="0"/>
                <a:ea typeface="HarmonyOS Sans SC" panose="00000500000000000000" pitchFamily="2" charset="-122"/>
                <a:cs typeface="Times New Roman" panose="02020603050405020304" charset="0"/>
              </a:rPr>
              <a:t>依次进栈，允许进栈、退栈操作交替进行。但不允许连续三次进行退栈工作，则不可能得到的出栈序列是（     ） 。</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dcebfa</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cbdaef</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bdceaf</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afedcb</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p:txBody>
      </p:sp>
      <p:sp>
        <p:nvSpPr>
          <p:cNvPr id="12" name="文本框 11"/>
          <p:cNvSpPr txBox="1"/>
          <p:nvPr/>
        </p:nvSpPr>
        <p:spPr>
          <a:xfrm>
            <a:off x="6435598" y="825257"/>
            <a:ext cx="508246"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D</a:t>
            </a:r>
          </a:p>
        </p:txBody>
      </p:sp>
      <p:sp>
        <p:nvSpPr>
          <p:cNvPr id="6" name="文本框 5"/>
          <p:cNvSpPr txBox="1"/>
          <p:nvPr/>
        </p:nvSpPr>
        <p:spPr>
          <a:xfrm>
            <a:off x="214600" y="3647675"/>
            <a:ext cx="11641486" cy="1690591"/>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zh-CN" sz="2400" kern="100" dirty="0">
                <a:latin typeface="Times New Roman" panose="02020603050405020304" charset="0"/>
                <a:ea typeface="HarmonyOS Sans SC" panose="00000500000000000000" pitchFamily="2" charset="-122"/>
                <a:cs typeface="Times New Roman" panose="02020603050405020304" charset="0"/>
              </a:rPr>
              <a:t>答案</a:t>
            </a: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zh-CN" sz="2400" kern="100" dirty="0">
                <a:latin typeface="Times New Roman" panose="02020603050405020304" charset="0"/>
                <a:ea typeface="HarmonyOS Sans SC" panose="00000500000000000000" pitchFamily="2" charset="-122"/>
                <a:cs typeface="Times New Roman" panose="02020603050405020304" charset="0"/>
              </a:rPr>
              <a:t>中，</a:t>
            </a:r>
            <a:r>
              <a:rPr lang="en-US" altLang="zh-CN" sz="2400" kern="100" dirty="0">
                <a:latin typeface="Times New Roman" panose="02020603050405020304" charset="0"/>
                <a:ea typeface="HarmonyOS Sans SC" panose="00000500000000000000" pitchFamily="2" charset="-122"/>
                <a:cs typeface="Times New Roman" panose="02020603050405020304" charset="0"/>
              </a:rPr>
              <a:t>f</a:t>
            </a:r>
            <a:r>
              <a:rPr lang="zh-CN" altLang="zh-CN" sz="2400" kern="100" dirty="0">
                <a:latin typeface="Times New Roman" panose="02020603050405020304" charset="0"/>
                <a:ea typeface="HarmonyOS Sans SC" panose="00000500000000000000" pitchFamily="2" charset="-122"/>
                <a:cs typeface="Times New Roman" panose="02020603050405020304" charset="0"/>
              </a:rPr>
              <a:t>出栈，说明</a:t>
            </a:r>
            <a:r>
              <a:rPr lang="en-US" altLang="zh-CN" sz="2400" kern="100" dirty="0">
                <a:latin typeface="Times New Roman" panose="02020603050405020304" charset="0"/>
                <a:ea typeface="HarmonyOS Sans SC" panose="00000500000000000000" pitchFamily="2" charset="-122"/>
                <a:cs typeface="Times New Roman" panose="02020603050405020304" charset="0"/>
              </a:rPr>
              <a:t>b c d e </a:t>
            </a:r>
            <a:r>
              <a:rPr lang="zh-CN" altLang="zh-CN" sz="2400" kern="100" dirty="0">
                <a:latin typeface="Times New Roman" panose="02020603050405020304" charset="0"/>
                <a:ea typeface="HarmonyOS Sans SC" panose="00000500000000000000" pitchFamily="2" charset="-122"/>
                <a:cs typeface="Times New Roman" panose="02020603050405020304" charset="0"/>
              </a:rPr>
              <a:t>已经入栈，</a:t>
            </a: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zh-CN" sz="2400" kern="100" dirty="0">
                <a:latin typeface="Times New Roman" panose="02020603050405020304" charset="0"/>
                <a:ea typeface="HarmonyOS Sans SC" panose="00000500000000000000" pitchFamily="2" charset="-122"/>
                <a:cs typeface="Times New Roman" panose="02020603050405020304" charset="0"/>
              </a:rPr>
              <a:t>中最后入栈的</a:t>
            </a:r>
            <a:r>
              <a:rPr lang="en-US" altLang="zh-CN" sz="2400" kern="100" dirty="0">
                <a:latin typeface="Times New Roman" panose="02020603050405020304" charset="0"/>
                <a:ea typeface="HarmonyOS Sans SC" panose="00000500000000000000" pitchFamily="2" charset="-122"/>
                <a:cs typeface="Times New Roman" panose="02020603050405020304" charset="0"/>
              </a:rPr>
              <a:t>f</a:t>
            </a:r>
            <a:r>
              <a:rPr lang="zh-CN" altLang="zh-CN" sz="2400" kern="100" dirty="0">
                <a:latin typeface="Times New Roman" panose="02020603050405020304" charset="0"/>
                <a:ea typeface="HarmonyOS Sans SC" panose="00000500000000000000" pitchFamily="2" charset="-122"/>
                <a:cs typeface="Times New Roman" panose="02020603050405020304" charset="0"/>
              </a:rPr>
              <a:t>第二个出栈，那么其前的</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bcde</a:t>
            </a:r>
            <a:r>
              <a:rPr lang="zh-CN" altLang="zh-CN" sz="2400" kern="100" dirty="0">
                <a:latin typeface="Times New Roman" panose="02020603050405020304" charset="0"/>
                <a:ea typeface="HarmonyOS Sans SC" panose="00000500000000000000" pitchFamily="2" charset="-122"/>
                <a:cs typeface="Times New Roman" panose="02020603050405020304" charset="0"/>
              </a:rPr>
              <a:t>就只能连续出栈了，不满足题的要求。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1968852"/>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207141"/>
            <a:ext cx="11723451" cy="1690591"/>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8】</a:t>
            </a:r>
            <a:r>
              <a:rPr lang="zh-CN" altLang="en-US" sz="2400" kern="100" dirty="0">
                <a:latin typeface="Times New Roman" panose="02020603050405020304" charset="0"/>
                <a:ea typeface="HarmonyOS Sans SC" panose="00000500000000000000" pitchFamily="2" charset="-122"/>
                <a:cs typeface="Times New Roman" panose="02020603050405020304" charset="0"/>
              </a:rPr>
              <a:t>设栈 </a:t>
            </a:r>
            <a:r>
              <a:rPr lang="en-US" altLang="zh-CN" sz="2400" kern="100" dirty="0">
                <a:latin typeface="Times New Roman" panose="02020603050405020304" charset="0"/>
                <a:ea typeface="HarmonyOS Sans SC" panose="00000500000000000000" pitchFamily="2" charset="-122"/>
                <a:cs typeface="Times New Roman" panose="02020603050405020304" charset="0"/>
              </a:rPr>
              <a:t>S </a:t>
            </a:r>
            <a:r>
              <a:rPr lang="zh-CN" altLang="en-US" sz="2400" kern="100" dirty="0">
                <a:latin typeface="Times New Roman" panose="02020603050405020304" charset="0"/>
                <a:ea typeface="HarmonyOS Sans SC" panose="00000500000000000000" pitchFamily="2" charset="-122"/>
                <a:cs typeface="Times New Roman" panose="02020603050405020304" charset="0"/>
              </a:rPr>
              <a:t>和队列 </a:t>
            </a:r>
            <a:r>
              <a:rPr lang="en-US" altLang="zh-CN" sz="2400" kern="100" dirty="0">
                <a:latin typeface="Times New Roman" panose="02020603050405020304" charset="0"/>
                <a:ea typeface="HarmonyOS Sans SC" panose="00000500000000000000" pitchFamily="2" charset="-122"/>
                <a:cs typeface="Times New Roman" panose="02020603050405020304" charset="0"/>
              </a:rPr>
              <a:t>Q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的初始状态为空，元素 </a:t>
            </a:r>
            <a:r>
              <a:rPr lang="en-US" altLang="zh-CN" sz="2400" kern="100" dirty="0">
                <a:latin typeface="Times New Roman" panose="02020603050405020304" charset="0"/>
                <a:ea typeface="HarmonyOS Sans SC" panose="00000500000000000000" pitchFamily="2" charset="-122"/>
                <a:cs typeface="Times New Roman" panose="02020603050405020304" charset="0"/>
              </a:rPr>
              <a:t>e1</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e2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e3</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e4</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e5</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e6 </a:t>
            </a:r>
            <a:r>
              <a:rPr lang="zh-CN" altLang="en-US" sz="2400" kern="100" dirty="0">
                <a:latin typeface="Times New Roman" panose="02020603050405020304" charset="0"/>
                <a:ea typeface="HarmonyOS Sans SC" panose="00000500000000000000" pitchFamily="2" charset="-122"/>
                <a:cs typeface="Times New Roman" panose="02020603050405020304" charset="0"/>
              </a:rPr>
              <a:t>依次通过栈，一个元素出栈后立即进入队列 </a:t>
            </a:r>
            <a:r>
              <a:rPr lang="en-US" altLang="zh-CN" sz="2400" kern="100" dirty="0">
                <a:latin typeface="Times New Roman" panose="02020603050405020304" charset="0"/>
                <a:ea typeface="HarmonyOS Sans SC" panose="00000500000000000000" pitchFamily="2" charset="-122"/>
                <a:cs typeface="Times New Roman" panose="02020603050405020304" charset="0"/>
              </a:rPr>
              <a:t>Q</a:t>
            </a:r>
            <a:r>
              <a:rPr lang="zh-CN" altLang="en-US" sz="2400" kern="100" dirty="0">
                <a:latin typeface="Times New Roman" panose="02020603050405020304" charset="0"/>
                <a:ea typeface="HarmonyOS Sans SC" panose="00000500000000000000" pitchFamily="2" charset="-122"/>
                <a:cs typeface="Times New Roman" panose="02020603050405020304" charset="0"/>
              </a:rPr>
              <a:t>，若 </a:t>
            </a:r>
            <a:r>
              <a:rPr lang="en-US" altLang="zh-CN" sz="2400" kern="100" dirty="0">
                <a:latin typeface="Times New Roman" panose="02020603050405020304" charset="0"/>
                <a:ea typeface="HarmonyOS Sans SC" panose="00000500000000000000" pitchFamily="2" charset="-122"/>
                <a:cs typeface="Times New Roman" panose="02020603050405020304" charset="0"/>
              </a:rPr>
              <a:t>6 </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个元素出队的顺序是 </a:t>
            </a:r>
            <a:r>
              <a:rPr lang="en-US" altLang="zh-CN" sz="2400" kern="100" dirty="0">
                <a:latin typeface="Times New Roman" panose="02020603050405020304" charset="0"/>
                <a:ea typeface="HarmonyOS Sans SC" panose="00000500000000000000" pitchFamily="2" charset="-122"/>
                <a:cs typeface="Times New Roman" panose="02020603050405020304" charset="0"/>
              </a:rPr>
              <a:t>e2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e4</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e3</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e6</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e5</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e1</a:t>
            </a:r>
            <a:r>
              <a:rPr lang="zh-CN" altLang="en-US" sz="2400" kern="100" dirty="0">
                <a:latin typeface="Times New Roman" panose="02020603050405020304" charset="0"/>
                <a:ea typeface="HarmonyOS Sans SC" panose="00000500000000000000" pitchFamily="2" charset="-122"/>
                <a:cs typeface="Times New Roman" panose="02020603050405020304" charset="0"/>
              </a:rPr>
              <a:t>，则栈 </a:t>
            </a:r>
            <a:r>
              <a:rPr lang="en-US" altLang="zh-CN" sz="2400" kern="100" dirty="0">
                <a:latin typeface="Times New Roman" panose="02020603050405020304" charset="0"/>
                <a:ea typeface="HarmonyOS Sans SC" panose="00000500000000000000" pitchFamily="2" charset="-122"/>
                <a:cs typeface="Times New Roman" panose="02020603050405020304" charset="0"/>
              </a:rPr>
              <a:t>S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的容量至少应该是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p:txBody>
      </p:sp>
      <p:sp>
        <p:nvSpPr>
          <p:cNvPr id="12" name="文本框 11"/>
          <p:cNvSpPr txBox="1"/>
          <p:nvPr/>
        </p:nvSpPr>
        <p:spPr>
          <a:xfrm>
            <a:off x="3856395" y="1412789"/>
            <a:ext cx="508246"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3</a:t>
            </a:r>
          </a:p>
        </p:txBody>
      </p:sp>
      <p:sp>
        <p:nvSpPr>
          <p:cNvPr id="6" name="文本框 5"/>
          <p:cNvSpPr txBox="1"/>
          <p:nvPr/>
        </p:nvSpPr>
        <p:spPr>
          <a:xfrm>
            <a:off x="214600" y="2032721"/>
            <a:ext cx="11641486" cy="2244589"/>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根据栈的性质得，</a:t>
            </a:r>
            <a:r>
              <a:rPr lang="en-US" altLang="zh-CN" sz="2400" kern="100" dirty="0">
                <a:latin typeface="Times New Roman" panose="02020603050405020304" charset="0"/>
                <a:ea typeface="HarmonyOS Sans SC" panose="00000500000000000000" pitchFamily="2" charset="-122"/>
                <a:cs typeface="Times New Roman" panose="02020603050405020304" charset="0"/>
              </a:rPr>
              <a:t>e2</a:t>
            </a:r>
            <a:r>
              <a:rPr lang="zh-CN" altLang="en-US" sz="2400" kern="100" dirty="0">
                <a:latin typeface="Times New Roman" panose="02020603050405020304" charset="0"/>
                <a:ea typeface="HarmonyOS Sans SC" panose="00000500000000000000" pitchFamily="2" charset="-122"/>
                <a:cs typeface="Times New Roman" panose="02020603050405020304" charset="0"/>
              </a:rPr>
              <a:t>出栈前，栈中存有</a:t>
            </a:r>
            <a:r>
              <a:rPr lang="en-US" altLang="zh-CN" sz="2400" kern="100" dirty="0">
                <a:latin typeface="Times New Roman" panose="02020603050405020304" charset="0"/>
                <a:ea typeface="HarmonyOS Sans SC" panose="00000500000000000000" pitchFamily="2" charset="-122"/>
                <a:cs typeface="Times New Roman" panose="02020603050405020304" charset="0"/>
              </a:rPr>
              <a:t>e1</a:t>
            </a:r>
            <a:r>
              <a:rPr lang="zh-CN" altLang="en-US" sz="2400" kern="100" dirty="0">
                <a:latin typeface="Times New Roman" panose="02020603050405020304" charset="0"/>
                <a:ea typeface="HarmonyOS Sans SC" panose="00000500000000000000" pitchFamily="2" charset="-122"/>
                <a:cs typeface="Times New Roman" panose="02020603050405020304" charset="0"/>
              </a:rPr>
              <a:t>和</a:t>
            </a:r>
            <a:r>
              <a:rPr lang="en-US" altLang="zh-CN" sz="2400" kern="100" dirty="0">
                <a:latin typeface="Times New Roman" panose="02020603050405020304" charset="0"/>
                <a:ea typeface="HarmonyOS Sans SC" panose="00000500000000000000" pitchFamily="2" charset="-122"/>
                <a:cs typeface="Times New Roman" panose="02020603050405020304" charset="0"/>
              </a:rPr>
              <a:t>e2</a:t>
            </a:r>
            <a:r>
              <a:rPr lang="zh-CN" altLang="en-US" sz="2400" kern="100" dirty="0">
                <a:latin typeface="Times New Roman" panose="02020603050405020304" charset="0"/>
                <a:ea typeface="HarmonyOS Sans SC" panose="00000500000000000000" pitchFamily="2" charset="-122"/>
                <a:cs typeface="Times New Roman" panose="02020603050405020304" charset="0"/>
              </a:rPr>
              <a:t>两个元素，</a:t>
            </a:r>
            <a:r>
              <a:rPr lang="en-US" altLang="zh-CN" sz="2400" kern="100" dirty="0">
                <a:latin typeface="Times New Roman" panose="02020603050405020304" charset="0"/>
                <a:ea typeface="HarmonyOS Sans SC" panose="00000500000000000000" pitchFamily="2" charset="-122"/>
                <a:cs typeface="Times New Roman" panose="02020603050405020304" charset="0"/>
              </a:rPr>
              <a:t>e4</a:t>
            </a:r>
            <a:r>
              <a:rPr lang="zh-CN" altLang="en-US" sz="2400" kern="100" dirty="0">
                <a:latin typeface="Times New Roman" panose="02020603050405020304" charset="0"/>
                <a:ea typeface="HarmonyOS Sans SC" panose="00000500000000000000" pitchFamily="2" charset="-122"/>
                <a:cs typeface="Times New Roman" panose="02020603050405020304" charset="0"/>
              </a:rPr>
              <a:t>出栈前，栈中存有</a:t>
            </a:r>
            <a:r>
              <a:rPr lang="en-US" altLang="zh-CN" sz="2400" kern="100" dirty="0">
                <a:latin typeface="Times New Roman" panose="02020603050405020304" charset="0"/>
                <a:ea typeface="HarmonyOS Sans SC" panose="00000500000000000000" pitchFamily="2" charset="-122"/>
                <a:cs typeface="Times New Roman" panose="02020603050405020304" charset="0"/>
              </a:rPr>
              <a:t>e1</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e3</a:t>
            </a:r>
            <a:r>
              <a:rPr lang="zh-CN" altLang="en-US" sz="2400" kern="100" dirty="0">
                <a:latin typeface="Times New Roman" panose="02020603050405020304" charset="0"/>
                <a:ea typeface="HarmonyOS Sans SC" panose="00000500000000000000" pitchFamily="2" charset="-122"/>
                <a:cs typeface="Times New Roman" panose="02020603050405020304" charset="0"/>
              </a:rPr>
              <a:t>和</a:t>
            </a:r>
            <a:r>
              <a:rPr lang="en-US" altLang="zh-CN" sz="2400" kern="100" dirty="0">
                <a:latin typeface="Times New Roman" panose="02020603050405020304" charset="0"/>
                <a:ea typeface="HarmonyOS Sans SC" panose="00000500000000000000" pitchFamily="2" charset="-122"/>
                <a:cs typeface="Times New Roman" panose="02020603050405020304" charset="0"/>
              </a:rPr>
              <a:t>e4 3</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个元素，</a:t>
            </a:r>
            <a:r>
              <a:rPr lang="en-US" altLang="zh-CN" sz="2400" kern="100" dirty="0">
                <a:latin typeface="Times New Roman" panose="02020603050405020304" charset="0"/>
                <a:ea typeface="HarmonyOS Sans SC" panose="00000500000000000000" pitchFamily="2" charset="-122"/>
                <a:cs typeface="Times New Roman" panose="02020603050405020304" charset="0"/>
              </a:rPr>
              <a:t>e4</a:t>
            </a:r>
            <a:r>
              <a:rPr lang="zh-CN" altLang="en-US" sz="2400" kern="100" dirty="0">
                <a:latin typeface="Times New Roman" panose="02020603050405020304" charset="0"/>
                <a:ea typeface="HarmonyOS Sans SC" panose="00000500000000000000" pitchFamily="2" charset="-122"/>
                <a:cs typeface="Times New Roman" panose="02020603050405020304" charset="0"/>
              </a:rPr>
              <a:t>和</a:t>
            </a:r>
            <a:r>
              <a:rPr lang="en-US" altLang="zh-CN" sz="2400" kern="100" dirty="0">
                <a:latin typeface="Times New Roman" panose="02020603050405020304" charset="0"/>
                <a:ea typeface="HarmonyOS Sans SC" panose="00000500000000000000" pitchFamily="2" charset="-122"/>
                <a:cs typeface="Times New Roman" panose="02020603050405020304" charset="0"/>
              </a:rPr>
              <a:t>e3</a:t>
            </a:r>
            <a:r>
              <a:rPr lang="zh-CN" altLang="en-US" sz="2400" kern="100" dirty="0">
                <a:latin typeface="Times New Roman" panose="02020603050405020304" charset="0"/>
                <a:ea typeface="HarmonyOS Sans SC" panose="00000500000000000000" pitchFamily="2" charset="-122"/>
                <a:cs typeface="Times New Roman" panose="02020603050405020304" charset="0"/>
              </a:rPr>
              <a:t>出栈以后，</a:t>
            </a:r>
            <a:r>
              <a:rPr lang="en-US" altLang="zh-CN" sz="2400" kern="100" dirty="0">
                <a:latin typeface="Times New Roman" panose="02020603050405020304" charset="0"/>
                <a:ea typeface="HarmonyOS Sans SC" panose="00000500000000000000" pitchFamily="2" charset="-122"/>
                <a:cs typeface="Times New Roman" panose="02020603050405020304" charset="0"/>
              </a:rPr>
              <a:t>e5</a:t>
            </a:r>
            <a:r>
              <a:rPr lang="zh-CN" altLang="en-US" sz="2400" kern="100" dirty="0">
                <a:latin typeface="Times New Roman" panose="02020603050405020304" charset="0"/>
                <a:ea typeface="HarmonyOS Sans SC" panose="00000500000000000000" pitchFamily="2" charset="-122"/>
                <a:cs typeface="Times New Roman" panose="02020603050405020304" charset="0"/>
              </a:rPr>
              <a:t>和</a:t>
            </a:r>
            <a:r>
              <a:rPr lang="en-US" altLang="zh-CN" sz="2400" kern="100" dirty="0">
                <a:latin typeface="Times New Roman" panose="02020603050405020304" charset="0"/>
                <a:ea typeface="HarmonyOS Sans SC" panose="00000500000000000000" pitchFamily="2" charset="-122"/>
                <a:cs typeface="Times New Roman" panose="02020603050405020304" charset="0"/>
              </a:rPr>
              <a:t>e6</a:t>
            </a:r>
            <a:r>
              <a:rPr lang="zh-CN" altLang="en-US" sz="2400" kern="100" dirty="0">
                <a:latin typeface="Times New Roman" panose="02020603050405020304" charset="0"/>
                <a:ea typeface="HarmonyOS Sans SC" panose="00000500000000000000" pitchFamily="2" charset="-122"/>
                <a:cs typeface="Times New Roman" panose="02020603050405020304" charset="0"/>
              </a:rPr>
              <a:t>入栈，栈中同样存在</a:t>
            </a:r>
            <a:r>
              <a:rPr lang="en-US" altLang="zh-CN" sz="2400" kern="100" dirty="0">
                <a:latin typeface="Times New Roman" panose="02020603050405020304" charset="0"/>
                <a:ea typeface="HarmonyOS Sans SC" panose="00000500000000000000" pitchFamily="2" charset="-122"/>
                <a:cs typeface="Times New Roman" panose="02020603050405020304" charset="0"/>
              </a:rPr>
              <a:t>e1</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e5</a:t>
            </a:r>
            <a:r>
              <a:rPr lang="zh-CN" altLang="en-US" sz="2400" kern="100" dirty="0">
                <a:latin typeface="Times New Roman" panose="02020603050405020304" charset="0"/>
                <a:ea typeface="HarmonyOS Sans SC" panose="00000500000000000000" pitchFamily="2" charset="-122"/>
                <a:cs typeface="Times New Roman" panose="02020603050405020304" charset="0"/>
              </a:rPr>
              <a:t>和</a:t>
            </a:r>
            <a:r>
              <a:rPr lang="en-US" altLang="zh-CN" sz="2400" kern="100" dirty="0">
                <a:latin typeface="Times New Roman" panose="02020603050405020304" charset="0"/>
                <a:ea typeface="HarmonyOS Sans SC" panose="00000500000000000000" pitchFamily="2" charset="-122"/>
                <a:cs typeface="Times New Roman" panose="02020603050405020304" charset="0"/>
              </a:rPr>
              <a:t>e6 3</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个元素，然后</a:t>
            </a:r>
            <a:r>
              <a:rPr lang="en-US" altLang="zh-CN" sz="2400" kern="100" dirty="0">
                <a:latin typeface="Times New Roman" panose="02020603050405020304" charset="0"/>
                <a:ea typeface="HarmonyOS Sans SC" panose="00000500000000000000" pitchFamily="2" charset="-122"/>
                <a:cs typeface="Times New Roman" panose="02020603050405020304" charset="0"/>
              </a:rPr>
              <a:t>3</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个元素依次出栈，所以栈的容量至少应该为</a:t>
            </a:r>
            <a:r>
              <a:rPr lang="en-US" altLang="zh-CN" sz="2400" kern="100" dirty="0">
                <a:latin typeface="Times New Roman" panose="02020603050405020304" charset="0"/>
                <a:ea typeface="HarmonyOS Sans SC" panose="00000500000000000000" pitchFamily="2" charset="-122"/>
                <a:cs typeface="Times New Roman" panose="02020603050405020304" charset="0"/>
              </a:rPr>
              <a:t>3</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610458"/>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207141"/>
            <a:ext cx="11723451"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9】</a:t>
            </a:r>
            <a:r>
              <a:rPr lang="zh-CN" altLang="en-US" sz="2400" kern="100" dirty="0">
                <a:latin typeface="Times New Roman" panose="02020603050405020304" charset="0"/>
                <a:ea typeface="HarmonyOS Sans SC" panose="00000500000000000000" pitchFamily="2" charset="-122"/>
                <a:cs typeface="Times New Roman" panose="02020603050405020304" charset="0"/>
              </a:rPr>
              <a:t>对于空队列 </a:t>
            </a:r>
            <a:r>
              <a:rPr lang="en-US" altLang="zh-CN" sz="2400" kern="100" dirty="0">
                <a:latin typeface="Times New Roman" panose="02020603050405020304" charset="0"/>
                <a:ea typeface="HarmonyOS Sans SC" panose="00000500000000000000" pitchFamily="2" charset="-122"/>
                <a:cs typeface="Times New Roman" panose="02020603050405020304" charset="0"/>
              </a:rPr>
              <a:t>Q</a:t>
            </a:r>
            <a:r>
              <a:rPr lang="zh-CN" altLang="en-US" sz="2400" kern="100" dirty="0">
                <a:latin typeface="Times New Roman" panose="02020603050405020304" charset="0"/>
                <a:ea typeface="HarmonyOS Sans SC" panose="00000500000000000000" pitchFamily="2" charset="-122"/>
                <a:cs typeface="Times New Roman" panose="02020603050405020304" charset="0"/>
              </a:rPr>
              <a:t>，执行如下一组操作：</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        </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EnQueue</a:t>
            </a:r>
            <a:r>
              <a:rPr lang="en-US" altLang="zh-CN" sz="2400" kern="100" dirty="0">
                <a:latin typeface="Times New Roman" panose="02020603050405020304" charset="0"/>
                <a:ea typeface="HarmonyOS Sans SC" panose="00000500000000000000" pitchFamily="2" charset="-122"/>
                <a:cs typeface="Times New Roman" panose="02020603050405020304" charset="0"/>
              </a:rPr>
              <a:t>(Q,1)</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DeQueue</a:t>
            </a:r>
            <a:r>
              <a:rPr lang="en-US" altLang="zh-CN" sz="2400" kern="100" dirty="0">
                <a:latin typeface="Times New Roman" panose="02020603050405020304" charset="0"/>
                <a:ea typeface="HarmonyOS Sans SC" panose="00000500000000000000" pitchFamily="2" charset="-122"/>
                <a:cs typeface="Times New Roman" panose="02020603050405020304" charset="0"/>
              </a:rPr>
              <a:t>(Q)</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        </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EnQueue</a:t>
            </a:r>
            <a:r>
              <a:rPr lang="en-US" altLang="zh-CN" sz="2400" kern="100" dirty="0">
                <a:latin typeface="Times New Roman" panose="02020603050405020304" charset="0"/>
                <a:ea typeface="HarmonyOS Sans SC" panose="00000500000000000000" pitchFamily="2" charset="-122"/>
                <a:cs typeface="Times New Roman" panose="02020603050405020304" charset="0"/>
              </a:rPr>
              <a:t>(Q,2)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EnQueue</a:t>
            </a:r>
            <a:r>
              <a:rPr lang="en-US" altLang="zh-CN" sz="2400" kern="100" dirty="0">
                <a:latin typeface="Times New Roman" panose="02020603050405020304" charset="0"/>
                <a:ea typeface="HarmonyOS Sans SC" panose="00000500000000000000" pitchFamily="2" charset="-122"/>
                <a:cs typeface="Times New Roman" panose="02020603050405020304" charset="0"/>
              </a:rPr>
              <a:t>(Q,3)</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        </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DeQueue</a:t>
            </a:r>
            <a:r>
              <a:rPr lang="en-US" altLang="zh-CN" sz="2400" kern="100" dirty="0">
                <a:latin typeface="Times New Roman" panose="02020603050405020304" charset="0"/>
                <a:ea typeface="HarmonyOS Sans SC" panose="00000500000000000000" pitchFamily="2" charset="-122"/>
                <a:cs typeface="Times New Roman" panose="02020603050405020304" charset="0"/>
              </a:rPr>
              <a:t>(Q)</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EnQueue</a:t>
            </a:r>
            <a:r>
              <a:rPr lang="en-US" altLang="zh-CN" sz="2400" kern="100" dirty="0">
                <a:latin typeface="Times New Roman" panose="02020603050405020304" charset="0"/>
                <a:ea typeface="HarmonyOS Sans SC" panose="00000500000000000000" pitchFamily="2" charset="-122"/>
                <a:cs typeface="Times New Roman" panose="02020603050405020304" charset="0"/>
              </a:rPr>
              <a:t>(Q,4)</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操作之后，队头元素是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 </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                   B</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2                       C</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3                   D</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4</a:t>
            </a:r>
          </a:p>
        </p:txBody>
      </p:sp>
      <p:sp>
        <p:nvSpPr>
          <p:cNvPr id="12" name="文本框 11"/>
          <p:cNvSpPr txBox="1"/>
          <p:nvPr/>
        </p:nvSpPr>
        <p:spPr>
          <a:xfrm>
            <a:off x="3562744" y="2523997"/>
            <a:ext cx="508246" cy="461665"/>
          </a:xfrm>
          <a:prstGeom prst="rect">
            <a:avLst/>
          </a:prstGeom>
          <a:noFill/>
        </p:spPr>
        <p:txBody>
          <a:bodyPr wrap="square">
            <a:spAutoFit/>
          </a:bodyPr>
          <a:lstStyle/>
          <a:p>
            <a:r>
              <a:rPr lang="en-US" altLang="zh-CN" sz="2400">
                <a:solidFill>
                  <a:srgbClr val="FF0000"/>
                </a:solidFill>
                <a:latin typeface="Times New Roman" panose="02020603050405020304" charset="0"/>
                <a:ea typeface="HarmonyOS Sans SC" panose="00000500000000000000" pitchFamily="2" charset="-122"/>
                <a:cs typeface="Times New Roman" panose="02020603050405020304" charset="0"/>
              </a:rPr>
              <a:t>C</a:t>
            </a:r>
            <a:endParaRPr lang="zh-CN" altLang="en-US" sz="2400" dirty="0">
              <a:solidFill>
                <a:srgbClr val="FF0000"/>
              </a:solidFill>
            </a:endParaRPr>
          </a:p>
        </p:txBody>
      </p:sp>
      <p:sp>
        <p:nvSpPr>
          <p:cNvPr id="6" name="文本框 5"/>
          <p:cNvSpPr txBox="1"/>
          <p:nvPr/>
        </p:nvSpPr>
        <p:spPr>
          <a:xfrm>
            <a:off x="214600" y="3653921"/>
            <a:ext cx="11641486" cy="1690591"/>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插入</a:t>
            </a:r>
            <a:r>
              <a:rPr lang="en-US" altLang="zh-CN" sz="2400" kern="100" dirty="0">
                <a:latin typeface="Times New Roman" panose="02020603050405020304" charset="0"/>
                <a:ea typeface="HarmonyOS Sans SC" panose="00000500000000000000" pitchFamily="2" charset="-122"/>
                <a:cs typeface="Times New Roman" panose="02020603050405020304" charset="0"/>
              </a:rPr>
              <a:t>1</a:t>
            </a:r>
            <a:r>
              <a:rPr lang="zh-CN" altLang="en-US" sz="2400" kern="100" dirty="0">
                <a:latin typeface="Times New Roman" panose="02020603050405020304" charset="0"/>
                <a:ea typeface="HarmonyOS Sans SC" panose="00000500000000000000" pitchFamily="2" charset="-122"/>
                <a:cs typeface="Times New Roman" panose="02020603050405020304" charset="0"/>
              </a:rPr>
              <a:t>，删除；插入</a:t>
            </a:r>
            <a:r>
              <a:rPr lang="en-US" altLang="zh-CN" sz="2400" kern="100" dirty="0">
                <a:latin typeface="Times New Roman" panose="02020603050405020304" charset="0"/>
                <a:ea typeface="HarmonyOS Sans SC" panose="00000500000000000000" pitchFamily="2" charset="-122"/>
                <a:cs typeface="Times New Roman" panose="02020603050405020304" charset="0"/>
              </a:rPr>
              <a:t>2</a:t>
            </a:r>
            <a:r>
              <a:rPr lang="zh-CN" altLang="en-US" sz="2400" kern="100" dirty="0">
                <a:latin typeface="Times New Roman" panose="02020603050405020304" charset="0"/>
                <a:ea typeface="HarmonyOS Sans SC" panose="00000500000000000000" pitchFamily="2" charset="-122"/>
                <a:cs typeface="Times New Roman" panose="02020603050405020304" charset="0"/>
              </a:rPr>
              <a:t>和</a:t>
            </a:r>
            <a:r>
              <a:rPr lang="en-US" altLang="zh-CN" sz="2400" kern="100" dirty="0">
                <a:latin typeface="Times New Roman" panose="02020603050405020304" charset="0"/>
                <a:ea typeface="HarmonyOS Sans SC" panose="00000500000000000000" pitchFamily="2" charset="-122"/>
                <a:cs typeface="Times New Roman" panose="02020603050405020304" charset="0"/>
              </a:rPr>
              <a:t>3</a:t>
            </a:r>
            <a:r>
              <a:rPr lang="zh-CN" altLang="en-US" sz="2400" kern="100" dirty="0">
                <a:latin typeface="Times New Roman" panose="02020603050405020304" charset="0"/>
                <a:ea typeface="HarmonyOS Sans SC" panose="00000500000000000000" pitchFamily="2" charset="-122"/>
                <a:cs typeface="Times New Roman" panose="02020603050405020304" charset="0"/>
              </a:rPr>
              <a:t>后删除一个元素，再插入</a:t>
            </a:r>
            <a:r>
              <a:rPr lang="en-US" altLang="zh-CN" sz="2400" kern="100" dirty="0">
                <a:latin typeface="Times New Roman" panose="02020603050405020304" charset="0"/>
                <a:ea typeface="HarmonyOS Sans SC" panose="00000500000000000000" pitchFamily="2" charset="-122"/>
                <a:cs typeface="Times New Roman" panose="02020603050405020304" charset="0"/>
              </a:rPr>
              <a:t>4</a:t>
            </a:r>
            <a:r>
              <a:rPr lang="zh-CN" altLang="en-US" sz="2400" kern="100" dirty="0">
                <a:latin typeface="Times New Roman" panose="02020603050405020304" charset="0"/>
                <a:ea typeface="HarmonyOS Sans SC" panose="00000500000000000000" pitchFamily="2" charset="-122"/>
                <a:cs typeface="Times New Roman" panose="02020603050405020304" charset="0"/>
              </a:rPr>
              <a:t>。由于插入操作是在队尾，所以插入</a:t>
            </a:r>
            <a:r>
              <a:rPr lang="en-US" altLang="zh-CN" sz="2400" kern="100" dirty="0">
                <a:latin typeface="Times New Roman" panose="02020603050405020304" charset="0"/>
                <a:ea typeface="HarmonyOS Sans SC" panose="00000500000000000000" pitchFamily="2" charset="-122"/>
                <a:cs typeface="Times New Roman" panose="02020603050405020304" charset="0"/>
              </a:rPr>
              <a:t>2</a:t>
            </a:r>
            <a:r>
              <a:rPr lang="zh-CN" altLang="en-US" sz="2400" kern="100" dirty="0">
                <a:latin typeface="Times New Roman" panose="02020603050405020304" charset="0"/>
                <a:ea typeface="HarmonyOS Sans SC" panose="00000500000000000000" pitchFamily="2" charset="-122"/>
                <a:cs typeface="Times New Roman" panose="02020603050405020304" charset="0"/>
              </a:rPr>
              <a:t>和</a:t>
            </a:r>
            <a:r>
              <a:rPr lang="en-US" altLang="zh-CN" sz="2400" kern="100" dirty="0">
                <a:latin typeface="Times New Roman" panose="02020603050405020304" charset="0"/>
                <a:ea typeface="HarmonyOS Sans SC" panose="00000500000000000000" pitchFamily="2" charset="-122"/>
                <a:cs typeface="Times New Roman" panose="02020603050405020304" charset="0"/>
              </a:rPr>
              <a:t>3</a:t>
            </a:r>
            <a:r>
              <a:rPr lang="zh-CN" altLang="en-US" sz="2400" kern="100" dirty="0">
                <a:latin typeface="Times New Roman" panose="02020603050405020304" charset="0"/>
                <a:ea typeface="HarmonyOS Sans SC" panose="00000500000000000000" pitchFamily="2" charset="-122"/>
                <a:cs typeface="Times New Roman" panose="02020603050405020304" charset="0"/>
              </a:rPr>
              <a:t>后删除的是</a:t>
            </a:r>
            <a:r>
              <a:rPr lang="en-US" altLang="zh-CN" sz="2400" kern="100" dirty="0">
                <a:latin typeface="Times New Roman" panose="02020603050405020304" charset="0"/>
                <a:ea typeface="HarmonyOS Sans SC" panose="00000500000000000000" pitchFamily="2" charset="-122"/>
                <a:cs typeface="Times New Roman" panose="02020603050405020304" charset="0"/>
              </a:rPr>
              <a:t>2</a:t>
            </a:r>
            <a:r>
              <a:rPr lang="zh-CN" altLang="en-US" sz="2400" kern="100" dirty="0">
                <a:latin typeface="Times New Roman" panose="02020603050405020304" charset="0"/>
                <a:ea typeface="HarmonyOS Sans SC" panose="00000500000000000000" pitchFamily="2" charset="-122"/>
                <a:cs typeface="Times New Roman" panose="02020603050405020304" charset="0"/>
              </a:rPr>
              <a:t>，此时</a:t>
            </a:r>
            <a:r>
              <a:rPr lang="en-US" altLang="zh-CN" sz="2400" kern="100" dirty="0">
                <a:latin typeface="Times New Roman" panose="02020603050405020304" charset="0"/>
                <a:ea typeface="HarmonyOS Sans SC" panose="00000500000000000000" pitchFamily="2" charset="-122"/>
                <a:cs typeface="Times New Roman" panose="02020603050405020304" charset="0"/>
              </a:rPr>
              <a:t>3</a:t>
            </a:r>
            <a:r>
              <a:rPr lang="zh-CN" altLang="en-US" sz="2400" kern="100" dirty="0">
                <a:latin typeface="Times New Roman" panose="02020603050405020304" charset="0"/>
                <a:ea typeface="HarmonyOS Sans SC" panose="00000500000000000000" pitchFamily="2" charset="-122"/>
                <a:cs typeface="Times New Roman" panose="02020603050405020304" charset="0"/>
              </a:rPr>
              <a:t>就是队头。</a:t>
            </a:r>
            <a:endParaRPr lang="zh-CN" altLang="zh-CN" sz="2400" kern="100" dirty="0">
              <a:latin typeface="Times New Roman" panose="02020603050405020304" charset="0"/>
              <a:ea typeface="HarmonyOS Sans SC" panose="00000500000000000000" pitchFamily="2" charset="-122"/>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2492763"/>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207141"/>
            <a:ext cx="11723451" cy="2244589"/>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10】</a:t>
            </a:r>
            <a:r>
              <a:rPr lang="zh-CN" altLang="en-US" sz="2400" kern="100" dirty="0">
                <a:latin typeface="Times New Roman" panose="02020603050405020304" charset="0"/>
                <a:ea typeface="HarmonyOS Sans SC" panose="00000500000000000000" pitchFamily="2" charset="-122"/>
                <a:cs typeface="Times New Roman" panose="02020603050405020304" charset="0"/>
              </a:rPr>
              <a:t>三维数组</a:t>
            </a:r>
            <a:r>
              <a:rPr lang="en-US" altLang="zh-CN" sz="2400" kern="100" dirty="0">
                <a:latin typeface="Times New Roman" panose="02020603050405020304" charset="0"/>
                <a:ea typeface="HarmonyOS Sans SC" panose="00000500000000000000" pitchFamily="2" charset="-122"/>
                <a:cs typeface="Times New Roman" panose="02020603050405020304" charset="0"/>
              </a:rPr>
              <a:t>A[4][5][6]</a:t>
            </a:r>
            <a:r>
              <a:rPr lang="zh-CN" altLang="en-US" sz="2400" kern="100" dirty="0">
                <a:latin typeface="Times New Roman" panose="02020603050405020304" charset="0"/>
                <a:ea typeface="HarmonyOS Sans SC" panose="00000500000000000000" pitchFamily="2" charset="-122"/>
                <a:cs typeface="Times New Roman" panose="02020603050405020304" charset="0"/>
              </a:rPr>
              <a:t>按行优先存储方法存储在内存中，若每个元素占 </a:t>
            </a:r>
            <a:r>
              <a:rPr lang="en-US" altLang="zh-CN" sz="2400" kern="100" dirty="0">
                <a:latin typeface="Times New Roman" panose="02020603050405020304" charset="0"/>
                <a:ea typeface="HarmonyOS Sans SC" panose="00000500000000000000" pitchFamily="2" charset="-122"/>
                <a:cs typeface="Times New Roman" panose="02020603050405020304" charset="0"/>
              </a:rPr>
              <a:t>2 </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个存储单元，且数组中第一个元素</a:t>
            </a:r>
            <a:r>
              <a:rPr lang="en-US" altLang="zh-CN" sz="2400" kern="100" dirty="0">
                <a:latin typeface="Times New Roman" panose="02020603050405020304" charset="0"/>
                <a:ea typeface="HarmonyOS Sans SC" panose="00000500000000000000" pitchFamily="2" charset="-122"/>
                <a:cs typeface="Times New Roman" panose="02020603050405020304" charset="0"/>
              </a:rPr>
              <a:t>A[0][0][0]</a:t>
            </a:r>
            <a:r>
              <a:rPr lang="zh-CN" altLang="en-US" sz="2400" kern="100" dirty="0">
                <a:latin typeface="Times New Roman" panose="02020603050405020304" charset="0"/>
                <a:ea typeface="HarmonyOS Sans SC" panose="00000500000000000000" pitchFamily="2" charset="-122"/>
                <a:cs typeface="Times New Roman" panose="02020603050405020304" charset="0"/>
              </a:rPr>
              <a:t>的存储地址为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120</a:t>
            </a:r>
            <a:r>
              <a:rPr lang="zh-CN" altLang="en-US" sz="2400" kern="100" dirty="0">
                <a:latin typeface="Times New Roman" panose="02020603050405020304" charset="0"/>
                <a:ea typeface="HarmonyOS Sans SC" panose="00000500000000000000" pitchFamily="2" charset="-122"/>
                <a:cs typeface="Times New Roman" panose="02020603050405020304" charset="0"/>
              </a:rPr>
              <a:t>，则元素</a:t>
            </a:r>
            <a:r>
              <a:rPr lang="en-US" altLang="zh-CN" sz="2400" kern="100" dirty="0">
                <a:latin typeface="Times New Roman" panose="02020603050405020304" charset="0"/>
                <a:ea typeface="HarmonyOS Sans SC" panose="00000500000000000000" pitchFamily="2" charset="-122"/>
                <a:cs typeface="Times New Roman" panose="02020603050405020304" charset="0"/>
              </a:rPr>
              <a:t>A[3][4][5]</a:t>
            </a:r>
            <a:r>
              <a:rPr lang="zh-CN" altLang="en-US" sz="2400" kern="100" dirty="0">
                <a:latin typeface="Times New Roman" panose="02020603050405020304" charset="0"/>
                <a:ea typeface="HarmonyOS Sans SC" panose="00000500000000000000" pitchFamily="2" charset="-122"/>
                <a:cs typeface="Times New Roman" panose="02020603050405020304" charset="0"/>
              </a:rPr>
              <a:t>存储地址为（      ）。</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356                        B</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358                            C</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360                        D</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362</a:t>
            </a:r>
          </a:p>
        </p:txBody>
      </p:sp>
      <p:sp>
        <p:nvSpPr>
          <p:cNvPr id="12" name="文本框 11"/>
          <p:cNvSpPr txBox="1"/>
          <p:nvPr/>
        </p:nvSpPr>
        <p:spPr>
          <a:xfrm>
            <a:off x="651593" y="1421095"/>
            <a:ext cx="508246"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B</a:t>
            </a:r>
            <a:endParaRPr lang="zh-CN" altLang="en-US" sz="2400" b="1" dirty="0">
              <a:solidFill>
                <a:srgbClr val="FF0000"/>
              </a:solidFill>
            </a:endParaRPr>
          </a:p>
        </p:txBody>
      </p:sp>
      <p:sp>
        <p:nvSpPr>
          <p:cNvPr id="6" name="文本框 5"/>
          <p:cNvSpPr txBox="1"/>
          <p:nvPr/>
        </p:nvSpPr>
        <p:spPr>
          <a:xfrm>
            <a:off x="214600" y="2524476"/>
            <a:ext cx="11641486" cy="1690591"/>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此题可以类比二维数组按行序存储的计算方法，注意下标从</a:t>
            </a:r>
            <a:r>
              <a:rPr lang="en-US" altLang="zh-CN" sz="2400" kern="100" dirty="0">
                <a:latin typeface="Times New Roman" panose="02020603050405020304" charset="0"/>
                <a:ea typeface="HarmonyOS Sans SC" panose="00000500000000000000" pitchFamily="2" charset="-122"/>
                <a:cs typeface="Times New Roman" panose="02020603050405020304" charset="0"/>
              </a:rPr>
              <a:t>0</a:t>
            </a:r>
            <a:r>
              <a:rPr lang="zh-CN" altLang="en-US" sz="2400" kern="100" dirty="0">
                <a:latin typeface="Times New Roman" panose="02020603050405020304" charset="0"/>
                <a:ea typeface="HarmonyOS Sans SC" panose="00000500000000000000" pitchFamily="2" charset="-122"/>
                <a:cs typeface="Times New Roman" panose="02020603050405020304" charset="0"/>
              </a:rPr>
              <a:t>开始，因为按行序存储，所以该元素的存储地址为</a:t>
            </a:r>
            <a:r>
              <a:rPr lang="en-US" altLang="zh-CN" sz="2400" kern="100" dirty="0">
                <a:latin typeface="Times New Roman" panose="02020603050405020304" charset="0"/>
                <a:ea typeface="HarmonyOS Sans SC" panose="00000500000000000000" pitchFamily="2" charset="-122"/>
                <a:cs typeface="Times New Roman" panose="02020603050405020304" charset="0"/>
              </a:rPr>
              <a:t>(3*6*5+4*6+5)*2=238+120=358.</a:t>
            </a:r>
            <a:endParaRPr lang="zh-CN" altLang="zh-CN" sz="2400" kern="100" dirty="0">
              <a:latin typeface="Times New Roman" panose="02020603050405020304" charset="0"/>
              <a:ea typeface="HarmonyOS Sans SC" panose="00000500000000000000" pitchFamily="2" charset="-122"/>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831793"/>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207141"/>
            <a:ext cx="11723451" cy="582595"/>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11】</a:t>
            </a:r>
            <a:r>
              <a:rPr lang="zh-CN" altLang="en-US" sz="2400" kern="100" dirty="0">
                <a:latin typeface="Times New Roman" panose="02020603050405020304" charset="0"/>
                <a:ea typeface="HarmonyOS Sans SC" panose="00000500000000000000" pitchFamily="2" charset="-122"/>
                <a:cs typeface="Times New Roman" panose="02020603050405020304" charset="0"/>
              </a:rPr>
              <a:t>应用栈操作求解算术表达式： </a:t>
            </a:r>
            <a:r>
              <a:rPr lang="en-US" altLang="zh-CN" sz="2400" kern="100" dirty="0">
                <a:latin typeface="Times New Roman" panose="02020603050405020304" charset="0"/>
                <a:ea typeface="HarmonyOS Sans SC" panose="00000500000000000000" pitchFamily="2" charset="-122"/>
                <a:cs typeface="Times New Roman" panose="02020603050405020304" charset="0"/>
              </a:rPr>
              <a:t>(12+28) *2- (68-14) /9</a:t>
            </a:r>
            <a:r>
              <a:rPr lang="zh-CN" altLang="en-US" sz="2400" kern="100" dirty="0">
                <a:latin typeface="Times New Roman" panose="02020603050405020304" charset="0"/>
                <a:ea typeface="HarmonyOS Sans SC" panose="00000500000000000000" pitchFamily="2" charset="-122"/>
                <a:cs typeface="Times New Roman" panose="02020603050405020304" charset="0"/>
              </a:rPr>
              <a:t>，画出栈的变化过程</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p:txBody>
      </p:sp>
      <p:pic>
        <p:nvPicPr>
          <p:cNvPr id="3" name="图片 2"/>
          <p:cNvPicPr>
            <a:picLocks noChangeAspect="1"/>
          </p:cNvPicPr>
          <p:nvPr/>
        </p:nvPicPr>
        <p:blipFill>
          <a:blip r:embed="rId2">
            <a:lum bright="-12000" contrast="30000"/>
          </a:blip>
          <a:stretch>
            <a:fillRect/>
          </a:stretch>
        </p:blipFill>
        <p:spPr>
          <a:xfrm>
            <a:off x="574306" y="910363"/>
            <a:ext cx="4998002" cy="579814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29062" y="207141"/>
            <a:ext cx="11723451" cy="582595"/>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11】</a:t>
            </a:r>
            <a:r>
              <a:rPr lang="zh-CN" altLang="en-US" sz="2400" kern="100" dirty="0">
                <a:latin typeface="Times New Roman" panose="02020603050405020304" charset="0"/>
                <a:ea typeface="HarmonyOS Sans SC" panose="00000500000000000000" pitchFamily="2" charset="-122"/>
                <a:cs typeface="Times New Roman" panose="02020603050405020304" charset="0"/>
              </a:rPr>
              <a:t>应用栈操作求解算术表达式： </a:t>
            </a:r>
            <a:r>
              <a:rPr lang="en-US" altLang="zh-CN" sz="2400" kern="100" dirty="0">
                <a:latin typeface="Times New Roman" panose="02020603050405020304" charset="0"/>
                <a:ea typeface="HarmonyOS Sans SC" panose="00000500000000000000" pitchFamily="2" charset="-122"/>
                <a:cs typeface="Times New Roman" panose="02020603050405020304" charset="0"/>
              </a:rPr>
              <a:t>(12+28) *2- (68-14) /9</a:t>
            </a:r>
            <a:r>
              <a:rPr lang="zh-CN" altLang="en-US" sz="2400" kern="100" dirty="0">
                <a:latin typeface="Times New Roman" panose="02020603050405020304" charset="0"/>
                <a:ea typeface="HarmonyOS Sans SC" panose="00000500000000000000" pitchFamily="2" charset="-122"/>
                <a:cs typeface="Times New Roman" panose="02020603050405020304" charset="0"/>
              </a:rPr>
              <a:t>，画出栈的变化过程</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p:txBody>
      </p:sp>
      <p:sp>
        <p:nvSpPr>
          <p:cNvPr id="6" name="文本框 5"/>
          <p:cNvSpPr txBox="1"/>
          <p:nvPr/>
        </p:nvSpPr>
        <p:spPr>
          <a:xfrm>
            <a:off x="214600" y="876560"/>
            <a:ext cx="11641486" cy="4523105"/>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应用栈操作求解算术表达式值的过程中，需要使用两个栈，一个存放算符，叫</a:t>
            </a:r>
            <a:r>
              <a:rPr lang="en-US" altLang="zh-CN" sz="2400" kern="100" dirty="0">
                <a:latin typeface="Times New Roman" panose="02020603050405020304" charset="0"/>
                <a:ea typeface="HarmonyOS Sans SC" panose="00000500000000000000" pitchFamily="2" charset="-122"/>
                <a:cs typeface="Times New Roman" panose="02020603050405020304" charset="0"/>
              </a:rPr>
              <a:t>OPTR</a:t>
            </a:r>
            <a:r>
              <a:rPr lang="zh-CN" altLang="en-US" sz="2400" kern="100" dirty="0">
                <a:latin typeface="Times New Roman" panose="02020603050405020304" charset="0"/>
                <a:ea typeface="HarmonyOS Sans SC" panose="00000500000000000000" pitchFamily="2" charset="-122"/>
                <a:cs typeface="Times New Roman" panose="02020603050405020304" charset="0"/>
              </a:rPr>
              <a:t>，一个存放操作数和运算的结果数，叫</a:t>
            </a:r>
            <a:r>
              <a:rPr lang="en-US" altLang="zh-CN" sz="2400" kern="100" dirty="0">
                <a:latin typeface="Times New Roman" panose="02020603050405020304" charset="0"/>
                <a:ea typeface="HarmonyOS Sans SC" panose="00000500000000000000" pitchFamily="2" charset="-122"/>
                <a:cs typeface="Times New Roman" panose="02020603050405020304" charset="0"/>
              </a:rPr>
              <a:t>OPND</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求解步骤为：首先置</a:t>
            </a:r>
            <a:r>
              <a:rPr lang="en-US" altLang="zh-CN" sz="2400" kern="100" dirty="0">
                <a:latin typeface="Times New Roman" panose="02020603050405020304" charset="0"/>
                <a:ea typeface="HarmonyOS Sans SC" panose="00000500000000000000" pitchFamily="2" charset="-122"/>
                <a:cs typeface="Times New Roman" panose="02020603050405020304" charset="0"/>
              </a:rPr>
              <a:t>OPND</a:t>
            </a:r>
            <a:r>
              <a:rPr lang="zh-CN" altLang="en-US" sz="2400" kern="100" dirty="0">
                <a:latin typeface="Times New Roman" panose="02020603050405020304" charset="0"/>
                <a:ea typeface="HarmonyOS Sans SC" panose="00000500000000000000" pitchFamily="2" charset="-122"/>
                <a:cs typeface="Times New Roman" panose="02020603050405020304" charset="0"/>
              </a:rPr>
              <a:t>为空，将‘</a:t>
            </a:r>
            <a:r>
              <a:rPr lang="en-US" altLang="zh-CN" sz="2400" kern="100" dirty="0">
                <a:latin typeface="Times New Roman" panose="02020603050405020304" charset="0"/>
                <a:ea typeface="HarmonyOS Sans SC" panose="00000500000000000000" pitchFamily="2" charset="-122"/>
                <a:cs typeface="Times New Roman" panose="02020603050405020304" charset="0"/>
              </a:rPr>
              <a:t>#’</a:t>
            </a:r>
            <a:r>
              <a:rPr lang="zh-CN" altLang="en-US" sz="2400" kern="100" dirty="0">
                <a:latin typeface="Times New Roman" panose="02020603050405020304" charset="0"/>
                <a:ea typeface="HarmonyOS Sans SC" panose="00000500000000000000" pitchFamily="2" charset="-122"/>
                <a:cs typeface="Times New Roman" panose="02020603050405020304" charset="0"/>
              </a:rPr>
              <a:t>入</a:t>
            </a:r>
            <a:r>
              <a:rPr lang="en-US" altLang="zh-CN" sz="2400" kern="100" dirty="0">
                <a:latin typeface="Times New Roman" panose="02020603050405020304" charset="0"/>
                <a:ea typeface="HarmonyOS Sans SC" panose="00000500000000000000" pitchFamily="2" charset="-122"/>
                <a:cs typeface="Times New Roman" panose="02020603050405020304" charset="0"/>
              </a:rPr>
              <a:t>OPTR</a:t>
            </a:r>
            <a:r>
              <a:rPr lang="zh-CN" altLang="en-US" sz="2400" kern="100" dirty="0">
                <a:latin typeface="Times New Roman" panose="02020603050405020304" charset="0"/>
                <a:ea typeface="HarmonyOS Sans SC" panose="00000500000000000000" pitchFamily="2" charset="-122"/>
                <a:cs typeface="Times New Roman" panose="02020603050405020304" charset="0"/>
              </a:rPr>
              <a:t>；然后依次读入表达式中的每个字符，若是操作数则将该字符入</a:t>
            </a:r>
            <a:r>
              <a:rPr lang="en-US" altLang="zh-CN" sz="2400" kern="100" dirty="0">
                <a:latin typeface="Times New Roman" panose="02020603050405020304" charset="0"/>
                <a:ea typeface="HarmonyOS Sans SC" panose="00000500000000000000" pitchFamily="2" charset="-122"/>
                <a:cs typeface="Times New Roman" panose="02020603050405020304" charset="0"/>
              </a:rPr>
              <a:t>OPND</a:t>
            </a:r>
            <a:r>
              <a:rPr lang="zh-CN" altLang="en-US" sz="2400" kern="100" dirty="0">
                <a:latin typeface="Times New Roman" panose="02020603050405020304" charset="0"/>
                <a:ea typeface="HarmonyOS Sans SC" panose="00000500000000000000" pitchFamily="2" charset="-122"/>
                <a:cs typeface="Times New Roman" panose="02020603050405020304" charset="0"/>
              </a:rPr>
              <a:t>，若是算符，则和</a:t>
            </a:r>
            <a:r>
              <a:rPr lang="en-US" altLang="zh-CN" sz="2400" kern="100" dirty="0">
                <a:latin typeface="Times New Roman" panose="02020603050405020304" charset="0"/>
                <a:ea typeface="HarmonyOS Sans SC" panose="00000500000000000000" pitchFamily="2" charset="-122"/>
                <a:cs typeface="Times New Roman" panose="02020603050405020304" charset="0"/>
              </a:rPr>
              <a:t>OPTR</a:t>
            </a:r>
            <a:r>
              <a:rPr lang="zh-CN" altLang="en-US" sz="2400" kern="100" dirty="0">
                <a:latin typeface="Times New Roman" panose="02020603050405020304" charset="0"/>
                <a:ea typeface="HarmonyOS Sans SC" panose="00000500000000000000" pitchFamily="2" charset="-122"/>
                <a:cs typeface="Times New Roman" panose="02020603050405020304" charset="0"/>
              </a:rPr>
              <a:t>栈顶字符比较优先级，若</a:t>
            </a:r>
            <a:r>
              <a:rPr lang="en-US" altLang="zh-CN" sz="2400" kern="100" dirty="0">
                <a:latin typeface="Times New Roman" panose="02020603050405020304" charset="0"/>
                <a:ea typeface="HarmonyOS Sans SC" panose="00000500000000000000" pitchFamily="2" charset="-122"/>
                <a:cs typeface="Times New Roman" panose="02020603050405020304" charset="0"/>
              </a:rPr>
              <a:t>OPTR</a:t>
            </a:r>
            <a:r>
              <a:rPr lang="zh-CN" altLang="en-US" sz="2400" kern="100" dirty="0">
                <a:latin typeface="Times New Roman" panose="02020603050405020304" charset="0"/>
                <a:ea typeface="HarmonyOS Sans SC" panose="00000500000000000000" pitchFamily="2" charset="-122"/>
                <a:cs typeface="Times New Roman" panose="02020603050405020304" charset="0"/>
              </a:rPr>
              <a:t>栈顶字符优先级高，则将</a:t>
            </a:r>
            <a:r>
              <a:rPr lang="en-US" altLang="zh-CN" sz="2400" kern="100" dirty="0">
                <a:latin typeface="Times New Roman" panose="02020603050405020304" charset="0"/>
                <a:ea typeface="HarmonyOS Sans SC" panose="00000500000000000000" pitchFamily="2" charset="-122"/>
                <a:cs typeface="Times New Roman" panose="02020603050405020304" charset="0"/>
              </a:rPr>
              <a:t>OPND</a:t>
            </a:r>
            <a:r>
              <a:rPr lang="zh-CN" altLang="en-US" sz="2400" kern="100" dirty="0">
                <a:latin typeface="Times New Roman" panose="02020603050405020304" charset="0"/>
                <a:ea typeface="HarmonyOS Sans SC" panose="00000500000000000000" pitchFamily="2" charset="-122"/>
                <a:cs typeface="Times New Roman" panose="02020603050405020304" charset="0"/>
              </a:rPr>
              <a:t>栈中的两个操作数和</a:t>
            </a:r>
            <a:r>
              <a:rPr lang="en-US" altLang="zh-CN" sz="2400" kern="100" dirty="0">
                <a:latin typeface="Times New Roman" panose="02020603050405020304" charset="0"/>
                <a:ea typeface="HarmonyOS Sans SC" panose="00000500000000000000" pitchFamily="2" charset="-122"/>
                <a:cs typeface="Times New Roman" panose="02020603050405020304" charset="0"/>
              </a:rPr>
              <a:t>OPTR</a:t>
            </a:r>
            <a:r>
              <a:rPr lang="zh-CN" altLang="en-US" sz="2400" kern="100" dirty="0">
                <a:latin typeface="Times New Roman" panose="02020603050405020304" charset="0"/>
                <a:ea typeface="HarmonyOS Sans SC" panose="00000500000000000000" pitchFamily="2" charset="-122"/>
                <a:cs typeface="Times New Roman" panose="02020603050405020304" charset="0"/>
              </a:rPr>
              <a:t>栈顶算符出栈，然后将操作结果入</a:t>
            </a:r>
            <a:r>
              <a:rPr lang="en-US" altLang="zh-CN" sz="2400" kern="100" dirty="0">
                <a:latin typeface="Times New Roman" panose="02020603050405020304" charset="0"/>
                <a:ea typeface="HarmonyOS Sans SC" panose="00000500000000000000" pitchFamily="2" charset="-122"/>
                <a:cs typeface="Times New Roman" panose="02020603050405020304" charset="0"/>
              </a:rPr>
              <a:t>OPND</a:t>
            </a:r>
            <a:r>
              <a:rPr lang="zh-CN" altLang="en-US" sz="2400" kern="100" dirty="0">
                <a:latin typeface="Times New Roman" panose="02020603050405020304" charset="0"/>
                <a:ea typeface="HarmonyOS Sans SC" panose="00000500000000000000" pitchFamily="2" charset="-122"/>
                <a:cs typeface="Times New Roman" panose="02020603050405020304" charset="0"/>
              </a:rPr>
              <a:t>；若</a:t>
            </a:r>
            <a:r>
              <a:rPr lang="en-US" altLang="zh-CN" sz="2400" kern="100" dirty="0">
                <a:latin typeface="Times New Roman" panose="02020603050405020304" charset="0"/>
                <a:ea typeface="HarmonyOS Sans SC" panose="00000500000000000000" pitchFamily="2" charset="-122"/>
                <a:cs typeface="Times New Roman" panose="02020603050405020304" charset="0"/>
              </a:rPr>
              <a:t>OPTR</a:t>
            </a:r>
            <a:r>
              <a:rPr lang="zh-CN" altLang="en-US" sz="2400" kern="100" dirty="0">
                <a:latin typeface="Times New Roman" panose="02020603050405020304" charset="0"/>
                <a:ea typeface="HarmonyOS Sans SC" panose="00000500000000000000" pitchFamily="2" charset="-122"/>
                <a:cs typeface="Times New Roman" panose="02020603050405020304" charset="0"/>
              </a:rPr>
              <a:t>栈顶字符优先级低，则将该字符入</a:t>
            </a:r>
            <a:r>
              <a:rPr lang="en-US" altLang="zh-CN" sz="2400" kern="100" dirty="0">
                <a:latin typeface="Times New Roman" panose="02020603050405020304" charset="0"/>
                <a:ea typeface="HarmonyOS Sans SC" panose="00000500000000000000" pitchFamily="2" charset="-122"/>
                <a:cs typeface="Times New Roman" panose="02020603050405020304" charset="0"/>
              </a:rPr>
              <a:t>OPTR</a:t>
            </a:r>
            <a:r>
              <a:rPr lang="zh-CN" altLang="en-US" sz="2400" kern="100" dirty="0">
                <a:latin typeface="Times New Roman" panose="02020603050405020304" charset="0"/>
                <a:ea typeface="HarmonyOS Sans SC" panose="00000500000000000000" pitchFamily="2" charset="-122"/>
                <a:cs typeface="Times New Roman" panose="02020603050405020304" charset="0"/>
              </a:rPr>
              <a:t>；若二者优先级相等，则将</a:t>
            </a:r>
            <a:r>
              <a:rPr lang="en-US" altLang="zh-CN" sz="2400" kern="100" dirty="0">
                <a:latin typeface="Times New Roman" panose="02020603050405020304" charset="0"/>
                <a:ea typeface="HarmonyOS Sans SC" panose="00000500000000000000" pitchFamily="2" charset="-122"/>
                <a:cs typeface="Times New Roman" panose="02020603050405020304" charset="0"/>
              </a:rPr>
              <a:t>OPTR</a:t>
            </a:r>
            <a:r>
              <a:rPr lang="zh-CN" altLang="en-US" sz="2400" kern="100" dirty="0">
                <a:latin typeface="Times New Roman" panose="02020603050405020304" charset="0"/>
                <a:ea typeface="HarmonyOS Sans SC" panose="00000500000000000000" pitchFamily="2" charset="-122"/>
                <a:cs typeface="Times New Roman" panose="02020603050405020304" charset="0"/>
              </a:rPr>
              <a:t>栈顶字符出栈并读入下一个字符。最终得到的栈的变化过程如上。</a:t>
            </a:r>
            <a:endParaRPr lang="zh-CN" altLang="zh-CN" sz="2400" kern="100" dirty="0">
              <a:latin typeface="Times New Roman" panose="02020603050405020304" charset="0"/>
              <a:ea typeface="HarmonyOS Sans SC" panose="00000500000000000000" pitchFamily="2" charset="-122"/>
              <a:cs typeface="Times New Roman" panose="02020603050405020304" charset="0"/>
            </a:endParaRPr>
          </a:p>
        </p:txBody>
      </p:sp>
      <p:sp>
        <p:nvSpPr>
          <p:cNvPr id="3" name="矩形 13"/>
          <p:cNvSpPr/>
          <p:nvPr/>
        </p:nvSpPr>
        <p:spPr>
          <a:xfrm>
            <a:off x="335598" y="831793"/>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646161"/>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207141"/>
            <a:ext cx="11723451"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12】</a:t>
            </a:r>
            <a:r>
              <a:rPr lang="zh-CN" altLang="en-US" sz="2400" kern="100" dirty="0">
                <a:latin typeface="Times New Roman" panose="02020603050405020304" charset="0"/>
                <a:ea typeface="HarmonyOS Sans SC" panose="00000500000000000000" pitchFamily="2" charset="-122"/>
                <a:cs typeface="Times New Roman" panose="02020603050405020304" charset="0"/>
              </a:rPr>
              <a:t>设一个栈以 </a:t>
            </a:r>
            <a:r>
              <a:rPr lang="en-US" altLang="zh-CN" sz="2400" kern="100" dirty="0">
                <a:latin typeface="Times New Roman" panose="02020603050405020304" charset="0"/>
                <a:ea typeface="HarmonyOS Sans SC" panose="00000500000000000000" pitchFamily="2" charset="-122"/>
                <a:cs typeface="Times New Roman" panose="02020603050405020304" charset="0"/>
              </a:rPr>
              <a:t>V[1...n] </a:t>
            </a:r>
            <a:r>
              <a:rPr lang="zh-CN" altLang="en-US" sz="2400" kern="100" dirty="0">
                <a:latin typeface="Times New Roman" panose="02020603050405020304" charset="0"/>
                <a:ea typeface="HarmonyOS Sans SC" panose="00000500000000000000" pitchFamily="2" charset="-122"/>
                <a:cs typeface="Times New Roman" panose="02020603050405020304" charset="0"/>
              </a:rPr>
              <a:t>存储，初始时栈顶指针 </a:t>
            </a:r>
            <a:r>
              <a:rPr lang="en-US" altLang="zh-CN" sz="2400" kern="100" dirty="0">
                <a:latin typeface="Times New Roman" panose="02020603050405020304" charset="0"/>
                <a:ea typeface="HarmonyOS Sans SC" panose="00000500000000000000" pitchFamily="2" charset="-122"/>
                <a:cs typeface="Times New Roman" panose="02020603050405020304" charset="0"/>
              </a:rPr>
              <a:t>top </a:t>
            </a:r>
            <a:r>
              <a:rPr lang="zh-CN" altLang="en-US" sz="2400" kern="100" dirty="0">
                <a:latin typeface="Times New Roman" panose="02020603050405020304" charset="0"/>
                <a:ea typeface="HarmonyOS Sans SC" panose="00000500000000000000" pitchFamily="2" charset="-122"/>
                <a:cs typeface="Times New Roman" panose="02020603050405020304" charset="0"/>
              </a:rPr>
              <a:t>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n+1</a:t>
            </a:r>
            <a:r>
              <a:rPr lang="zh-CN" altLang="en-US" sz="2400" kern="100" dirty="0">
                <a:latin typeface="Times New Roman" panose="02020603050405020304" charset="0"/>
                <a:ea typeface="HarmonyOS Sans SC" panose="00000500000000000000" pitchFamily="2" charset="-122"/>
                <a:cs typeface="Times New Roman" panose="02020603050405020304" charset="0"/>
              </a:rPr>
              <a:t>，则新元素</a:t>
            </a:r>
            <a:r>
              <a:rPr lang="en-US" altLang="zh-CN" sz="2400" kern="100" dirty="0">
                <a:latin typeface="Times New Roman" panose="02020603050405020304" charset="0"/>
                <a:ea typeface="HarmonyOS Sans SC" panose="00000500000000000000" pitchFamily="2" charset="-122"/>
                <a:cs typeface="Times New Roman" panose="02020603050405020304" charset="0"/>
              </a:rPr>
              <a:t>x </a:t>
            </a:r>
            <a:r>
              <a:rPr lang="zh-CN" altLang="en-US" sz="2400" kern="100" dirty="0">
                <a:latin typeface="Times New Roman" panose="02020603050405020304" charset="0"/>
                <a:ea typeface="HarmonyOS Sans SC" panose="00000500000000000000" pitchFamily="2" charset="-122"/>
                <a:cs typeface="Times New Roman" panose="02020603050405020304" charset="0"/>
              </a:rPr>
              <a:t>入栈的正确操作是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top=top+1; V[top]=x</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V[top]=x; top=top+1</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top=top-1; V[top]=x</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V[top]=x; top=top-1</a:t>
            </a:r>
          </a:p>
        </p:txBody>
      </p:sp>
      <p:sp>
        <p:nvSpPr>
          <p:cNvPr id="12" name="文本框 11"/>
          <p:cNvSpPr txBox="1"/>
          <p:nvPr/>
        </p:nvSpPr>
        <p:spPr>
          <a:xfrm>
            <a:off x="1668630" y="842597"/>
            <a:ext cx="508246" cy="461665"/>
          </a:xfrm>
          <a:prstGeom prst="rect">
            <a:avLst/>
          </a:prstGeom>
          <a:noFill/>
        </p:spPr>
        <p:txBody>
          <a:bodyPr wrap="square">
            <a:spAutoFit/>
          </a:bodyPr>
          <a:lstStyle/>
          <a:p>
            <a:r>
              <a:rPr lang="en-US" altLang="zh-CN" sz="2400" dirty="0">
                <a:solidFill>
                  <a:srgbClr val="FF0000"/>
                </a:solidFill>
                <a:latin typeface="Times New Roman" panose="02020603050405020304" charset="0"/>
                <a:ea typeface="HarmonyOS Sans SC" panose="00000500000000000000" pitchFamily="2" charset="-122"/>
                <a:cs typeface="Times New Roman" panose="02020603050405020304" charset="0"/>
              </a:rPr>
              <a:t>C</a:t>
            </a:r>
            <a:endParaRPr lang="zh-CN" altLang="en-US" sz="2400" dirty="0">
              <a:solidFill>
                <a:srgbClr val="FF0000"/>
              </a:solidFill>
            </a:endParaRPr>
          </a:p>
        </p:txBody>
      </p:sp>
      <p:sp>
        <p:nvSpPr>
          <p:cNvPr id="6" name="文本框 5"/>
          <p:cNvSpPr txBox="1"/>
          <p:nvPr/>
        </p:nvSpPr>
        <p:spPr>
          <a:xfrm>
            <a:off x="214600" y="3686396"/>
            <a:ext cx="11641486" cy="2244589"/>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栈是运算受限的线性表，只允许在栈顶进行插入和删除操作。本题中栈顶指针为</a:t>
            </a:r>
            <a:r>
              <a:rPr lang="en-US" altLang="zh-CN" sz="2400" kern="100" dirty="0">
                <a:latin typeface="Times New Roman" panose="02020603050405020304" charset="0"/>
                <a:ea typeface="HarmonyOS Sans SC" panose="00000500000000000000" pitchFamily="2" charset="-122"/>
                <a:cs typeface="Times New Roman" panose="02020603050405020304" charset="0"/>
              </a:rPr>
              <a:t>n+1</a:t>
            </a:r>
            <a:r>
              <a:rPr lang="zh-CN" altLang="en-US" sz="2400" kern="100" dirty="0">
                <a:latin typeface="Times New Roman" panose="02020603050405020304" charset="0"/>
                <a:ea typeface="HarmonyOS Sans SC" panose="00000500000000000000" pitchFamily="2" charset="-122"/>
                <a:cs typeface="Times New Roman" panose="02020603050405020304" charset="0"/>
              </a:rPr>
              <a:t>，该数组将栈顶放在了下标大的一端，所以在进行入栈操作时</a:t>
            </a:r>
            <a:r>
              <a:rPr lang="en-US" altLang="zh-CN" sz="2400" kern="100" dirty="0">
                <a:latin typeface="Times New Roman" panose="02020603050405020304" charset="0"/>
                <a:ea typeface="HarmonyOS Sans SC" panose="00000500000000000000" pitchFamily="2" charset="-122"/>
                <a:cs typeface="Times New Roman" panose="02020603050405020304" charset="0"/>
              </a:rPr>
              <a:t>top</a:t>
            </a:r>
            <a:r>
              <a:rPr lang="zh-CN" altLang="en-US" sz="2400" kern="100" dirty="0">
                <a:latin typeface="Times New Roman" panose="02020603050405020304" charset="0"/>
                <a:ea typeface="HarmonyOS Sans SC" panose="00000500000000000000" pitchFamily="2" charset="-122"/>
                <a:cs typeface="Times New Roman" panose="02020603050405020304" charset="0"/>
              </a:rPr>
              <a:t>指针应该进行减</a:t>
            </a:r>
            <a:r>
              <a:rPr lang="en-US" altLang="zh-CN" sz="2400" kern="100" dirty="0">
                <a:latin typeface="Times New Roman" panose="02020603050405020304" charset="0"/>
                <a:ea typeface="HarmonyOS Sans SC" panose="00000500000000000000" pitchFamily="2" charset="-122"/>
                <a:cs typeface="Times New Roman" panose="02020603050405020304" charset="0"/>
              </a:rPr>
              <a:t>1</a:t>
            </a:r>
            <a:r>
              <a:rPr lang="zh-CN" altLang="en-US" sz="2400" kern="100" dirty="0">
                <a:latin typeface="Times New Roman" panose="02020603050405020304" charset="0"/>
                <a:ea typeface="HarmonyOS Sans SC" panose="00000500000000000000" pitchFamily="2" charset="-122"/>
                <a:cs typeface="Times New Roman" panose="02020603050405020304" charset="0"/>
              </a:rPr>
              <a:t>操作。通常元素进栈的操作为：先移动栈顶指针后存入元素。</a:t>
            </a:r>
            <a:endParaRPr lang="zh-CN" altLang="zh-CN" sz="2400" kern="100" dirty="0">
              <a:latin typeface="Times New Roman" panose="02020603050405020304" charset="0"/>
              <a:ea typeface="HarmonyOS Sans SC" panose="00000500000000000000" pitchFamily="2" charset="-122"/>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1437612"/>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207141"/>
            <a:ext cx="11723451" cy="1198880"/>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13】</a:t>
            </a:r>
            <a:r>
              <a:rPr lang="zh-CN" altLang="en-US" sz="2400" kern="100" dirty="0">
                <a:latin typeface="Times New Roman" panose="02020603050405020304" charset="0"/>
                <a:ea typeface="HarmonyOS Sans SC" panose="00000500000000000000" pitchFamily="2" charset="-122"/>
                <a:cs typeface="Times New Roman" panose="02020603050405020304" charset="0"/>
              </a:rPr>
              <a:t>对于含有 </a:t>
            </a:r>
            <a:r>
              <a:rPr lang="en-US" altLang="zh-CN" sz="2400" kern="100" dirty="0">
                <a:latin typeface="Times New Roman" panose="02020603050405020304" charset="0"/>
                <a:ea typeface="HarmonyOS Sans SC" panose="00000500000000000000" pitchFamily="2" charset="-122"/>
                <a:cs typeface="Times New Roman" panose="02020603050405020304" charset="0"/>
              </a:rPr>
              <a:t>n </a:t>
            </a:r>
            <a:r>
              <a:rPr lang="zh-CN" altLang="en-US" sz="2400" kern="100" dirty="0">
                <a:latin typeface="Times New Roman" panose="02020603050405020304" charset="0"/>
                <a:ea typeface="HarmonyOS Sans SC" panose="00000500000000000000" pitchFamily="2" charset="-122"/>
                <a:cs typeface="Times New Roman" panose="02020603050405020304" charset="0"/>
              </a:rPr>
              <a:t>个互不相同字符的串，则真子串（不包括串自身但含空串）的个数是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en-US" altLang="zh-CN"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p:txBody>
      </p:sp>
      <p:sp>
        <p:nvSpPr>
          <p:cNvPr id="6" name="文本框 5"/>
          <p:cNvSpPr txBox="1"/>
          <p:nvPr/>
        </p:nvSpPr>
        <p:spPr>
          <a:xfrm>
            <a:off x="214600" y="1476881"/>
            <a:ext cx="11641486" cy="5014578"/>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包含</a:t>
            </a:r>
            <a:r>
              <a:rPr lang="en-US" altLang="zh-CN" sz="2400" kern="100" dirty="0">
                <a:latin typeface="Times New Roman" panose="02020603050405020304" charset="0"/>
                <a:ea typeface="HarmonyOS Sans SC" panose="00000500000000000000" pitchFamily="2" charset="-122"/>
                <a:cs typeface="Times New Roman" panose="02020603050405020304" charset="0"/>
              </a:rPr>
              <a:t>1</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个字符的子串共</a:t>
            </a:r>
            <a:r>
              <a:rPr lang="en-US" altLang="zh-CN" sz="2400" kern="100" dirty="0">
                <a:latin typeface="Times New Roman" panose="02020603050405020304" charset="0"/>
                <a:ea typeface="HarmonyOS Sans SC" panose="00000500000000000000" pitchFamily="2" charset="-122"/>
                <a:cs typeface="Times New Roman" panose="02020603050405020304" charset="0"/>
              </a:rPr>
              <a:t>n</a:t>
            </a:r>
            <a:r>
              <a:rPr lang="zh-CN" altLang="en-US" sz="2400" kern="100" dirty="0">
                <a:latin typeface="Times New Roman" panose="02020603050405020304" charset="0"/>
                <a:ea typeface="HarmonyOS Sans SC" panose="00000500000000000000" pitchFamily="2" charset="-122"/>
                <a:cs typeface="Times New Roman" panose="02020603050405020304" charset="0"/>
              </a:rPr>
              <a:t>个；</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包含</a:t>
            </a:r>
            <a:r>
              <a:rPr lang="en-US" altLang="zh-CN" sz="2400" kern="100" dirty="0">
                <a:latin typeface="Times New Roman" panose="02020603050405020304" charset="0"/>
                <a:ea typeface="HarmonyOS Sans SC" panose="00000500000000000000" pitchFamily="2" charset="-122"/>
                <a:cs typeface="Times New Roman" panose="02020603050405020304" charset="0"/>
              </a:rPr>
              <a:t>2</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个字符的子串共</a:t>
            </a:r>
            <a:r>
              <a:rPr lang="en-US" altLang="zh-CN" sz="2400" kern="100" dirty="0">
                <a:latin typeface="Times New Roman" panose="02020603050405020304" charset="0"/>
                <a:ea typeface="HarmonyOS Sans SC" panose="00000500000000000000" pitchFamily="2" charset="-122"/>
                <a:cs typeface="Times New Roman" panose="02020603050405020304" charset="0"/>
              </a:rPr>
              <a:t>n-1</a:t>
            </a:r>
            <a:r>
              <a:rPr lang="zh-CN" altLang="en-US" sz="2400" kern="100" dirty="0">
                <a:latin typeface="Times New Roman" panose="02020603050405020304" charset="0"/>
                <a:ea typeface="HarmonyOS Sans SC" panose="00000500000000000000" pitchFamily="2" charset="-122"/>
                <a:cs typeface="Times New Roman" panose="02020603050405020304" charset="0"/>
              </a:rPr>
              <a:t>个；</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包含</a:t>
            </a:r>
            <a:r>
              <a:rPr lang="en-US" altLang="zh-CN" sz="2400" kern="100" dirty="0">
                <a:latin typeface="Times New Roman" panose="02020603050405020304" charset="0"/>
                <a:ea typeface="HarmonyOS Sans SC" panose="00000500000000000000" pitchFamily="2" charset="-122"/>
                <a:cs typeface="Times New Roman" panose="02020603050405020304" charset="0"/>
              </a:rPr>
              <a:t>3</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个字符的子串共</a:t>
            </a:r>
            <a:r>
              <a:rPr lang="en-US" altLang="zh-CN" sz="2400" kern="100" dirty="0">
                <a:latin typeface="Times New Roman" panose="02020603050405020304" charset="0"/>
                <a:ea typeface="HarmonyOS Sans SC" panose="00000500000000000000" pitchFamily="2" charset="-122"/>
                <a:cs typeface="Times New Roman" panose="02020603050405020304" charset="0"/>
              </a:rPr>
              <a:t>n-2</a:t>
            </a:r>
            <a:r>
              <a:rPr lang="zh-CN" altLang="en-US" sz="2400" kern="100" dirty="0">
                <a:latin typeface="Times New Roman" panose="02020603050405020304" charset="0"/>
                <a:ea typeface="HarmonyOS Sans SC" panose="00000500000000000000" pitchFamily="2" charset="-122"/>
                <a:cs typeface="Times New Roman" panose="02020603050405020304" charset="0"/>
              </a:rPr>
              <a:t>个；</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包含</a:t>
            </a:r>
            <a:r>
              <a:rPr lang="en-US" altLang="zh-CN" sz="2400" kern="100" dirty="0">
                <a:latin typeface="Times New Roman" panose="02020603050405020304" charset="0"/>
                <a:ea typeface="HarmonyOS Sans SC" panose="00000500000000000000" pitchFamily="2" charset="-122"/>
                <a:cs typeface="Times New Roman" panose="02020603050405020304" charset="0"/>
              </a:rPr>
              <a:t>4</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个字符的子串共</a:t>
            </a:r>
            <a:r>
              <a:rPr lang="en-US" altLang="zh-CN" sz="2400" kern="100" dirty="0">
                <a:latin typeface="Times New Roman" panose="02020603050405020304" charset="0"/>
                <a:ea typeface="HarmonyOS Sans SC" panose="00000500000000000000" pitchFamily="2" charset="-122"/>
                <a:cs typeface="Times New Roman" panose="02020603050405020304" charset="0"/>
              </a:rPr>
              <a:t>n-3</a:t>
            </a:r>
            <a:r>
              <a:rPr lang="zh-CN" altLang="en-US" sz="2400" kern="100" dirty="0">
                <a:latin typeface="Times New Roman" panose="02020603050405020304" charset="0"/>
                <a:ea typeface="HarmonyOS Sans SC" panose="00000500000000000000" pitchFamily="2" charset="-122"/>
                <a:cs typeface="Times New Roman" panose="02020603050405020304" charset="0"/>
              </a:rPr>
              <a:t>个；</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包含</a:t>
            </a:r>
            <a:r>
              <a:rPr lang="en-US" altLang="zh-CN" sz="2400" kern="100" dirty="0">
                <a:latin typeface="Times New Roman" panose="02020603050405020304" charset="0"/>
                <a:ea typeface="HarmonyOS Sans SC" panose="00000500000000000000" pitchFamily="2" charset="-122"/>
                <a:cs typeface="Times New Roman" panose="02020603050405020304" charset="0"/>
              </a:rPr>
              <a:t>n-1</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个字符的子串共</a:t>
            </a:r>
            <a:r>
              <a:rPr lang="en-US" altLang="zh-CN" sz="2400" kern="100" dirty="0">
                <a:latin typeface="Times New Roman" panose="02020603050405020304" charset="0"/>
                <a:ea typeface="HarmonyOS Sans SC" panose="00000500000000000000" pitchFamily="2" charset="-122"/>
                <a:cs typeface="Times New Roman" panose="02020603050405020304" charset="0"/>
              </a:rPr>
              <a:t>2</a:t>
            </a:r>
            <a:r>
              <a:rPr lang="zh-CN" altLang="en-US" sz="2400" kern="100" dirty="0">
                <a:latin typeface="Times New Roman" panose="02020603050405020304" charset="0"/>
                <a:ea typeface="HarmonyOS Sans SC" panose="00000500000000000000" pitchFamily="2" charset="-122"/>
                <a:cs typeface="Times New Roman" panose="02020603050405020304" charset="0"/>
              </a:rPr>
              <a:t>个；</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空串</a:t>
            </a:r>
            <a:r>
              <a:rPr lang="en-US" altLang="zh-CN" sz="2400" kern="100" dirty="0">
                <a:latin typeface="Times New Roman" panose="02020603050405020304" charset="0"/>
                <a:ea typeface="HarmonyOS Sans SC" panose="00000500000000000000" pitchFamily="2" charset="-122"/>
                <a:cs typeface="Times New Roman" panose="02020603050405020304" charset="0"/>
              </a:rPr>
              <a:t>1</a:t>
            </a:r>
            <a:r>
              <a:rPr lang="zh-CN" altLang="en-US" sz="2400" kern="100" dirty="0">
                <a:latin typeface="Times New Roman" panose="02020603050405020304" charset="0"/>
                <a:ea typeface="HarmonyOS Sans SC" panose="00000500000000000000" pitchFamily="2" charset="-122"/>
                <a:cs typeface="Times New Roman" panose="02020603050405020304" charset="0"/>
              </a:rPr>
              <a:t>个；</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综上所述：子串个数共：</a:t>
            </a:r>
            <a:r>
              <a:rPr lang="en-US" altLang="zh-CN" sz="2400" kern="100" dirty="0">
                <a:latin typeface="Times New Roman" panose="02020603050405020304" charset="0"/>
                <a:ea typeface="HarmonyOS Sans SC" panose="00000500000000000000" pitchFamily="2" charset="-122"/>
                <a:cs typeface="Times New Roman" panose="02020603050405020304" charset="0"/>
              </a:rPr>
              <a:t>1+2+3+</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+n=n(n+1)/2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p:txBody>
      </p:sp>
      <p:sp>
        <p:nvSpPr>
          <p:cNvPr id="3" name="文本框 2"/>
          <p:cNvSpPr txBox="1"/>
          <p:nvPr/>
        </p:nvSpPr>
        <p:spPr>
          <a:xfrm>
            <a:off x="1005840" y="861060"/>
            <a:ext cx="1395730"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n(n+1)/2</a:t>
            </a:r>
            <a:endParaRPr lang="zh-CN" alt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29062" y="207141"/>
            <a:ext cx="11723451" cy="582595"/>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14】</a:t>
            </a:r>
            <a:r>
              <a:rPr lang="zh-CN" altLang="en-US" sz="2400" kern="100" dirty="0">
                <a:latin typeface="Times New Roman" panose="02020603050405020304" charset="0"/>
                <a:ea typeface="HarmonyOS Sans SC" panose="00000500000000000000" pitchFamily="2" charset="-122"/>
                <a:cs typeface="Times New Roman" panose="02020603050405020304" charset="0"/>
              </a:rPr>
              <a:t>串是一种特殊的线性表，其特殊性体现在</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p:txBody>
      </p:sp>
      <p:sp>
        <p:nvSpPr>
          <p:cNvPr id="12" name="文本框 11"/>
          <p:cNvSpPr txBox="1"/>
          <p:nvPr/>
        </p:nvSpPr>
        <p:spPr>
          <a:xfrm>
            <a:off x="7117708" y="331446"/>
            <a:ext cx="3724464" cy="461665"/>
          </a:xfrm>
          <a:prstGeom prst="rect">
            <a:avLst/>
          </a:prstGeom>
          <a:noFill/>
        </p:spPr>
        <p:txBody>
          <a:bodyPr wrap="square">
            <a:spAutoFit/>
          </a:bodyPr>
          <a:lstStyle/>
          <a:p>
            <a:r>
              <a:rPr lang="zh-CN" altLang="en-US" sz="2400" dirty="0">
                <a:solidFill>
                  <a:srgbClr val="FF0000"/>
                </a:solidFill>
                <a:latin typeface="Times New Roman" panose="02020603050405020304" charset="0"/>
                <a:ea typeface="HarmonyOS Sans SC" panose="00000500000000000000" pitchFamily="2" charset="-122"/>
                <a:cs typeface="Times New Roman" panose="02020603050405020304" charset="0"/>
              </a:rPr>
              <a:t>数据元素是一个字符</a:t>
            </a:r>
            <a:endParaRPr lang="zh-CN" altLang="en-US" sz="2400" dirty="0">
              <a:solidFill>
                <a:srgbClr val="FF0000"/>
              </a:solidFill>
            </a:endParaRPr>
          </a:p>
        </p:txBody>
      </p:sp>
      <p:sp>
        <p:nvSpPr>
          <p:cNvPr id="3" name="矩形 13"/>
          <p:cNvSpPr/>
          <p:nvPr/>
        </p:nvSpPr>
        <p:spPr>
          <a:xfrm>
            <a:off x="335598" y="4462719"/>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5" name="文本框 4"/>
          <p:cNvSpPr txBox="1"/>
          <p:nvPr/>
        </p:nvSpPr>
        <p:spPr>
          <a:xfrm>
            <a:off x="229062" y="1025021"/>
            <a:ext cx="11723451"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15】</a:t>
            </a:r>
            <a:r>
              <a:rPr lang="zh-CN" altLang="en-US" sz="2400" kern="100" dirty="0">
                <a:latin typeface="Times New Roman" panose="02020603050405020304" charset="0"/>
                <a:ea typeface="HarmonyOS Sans SC" panose="00000500000000000000" pitchFamily="2" charset="-122"/>
                <a:cs typeface="Times New Roman" panose="02020603050405020304" charset="0"/>
              </a:rPr>
              <a:t>设</a:t>
            </a:r>
            <a:r>
              <a:rPr lang="en-US" altLang="zh-CN" sz="2400" kern="100" dirty="0">
                <a:latin typeface="Times New Roman" panose="02020603050405020304" charset="0"/>
                <a:ea typeface="HarmonyOS Sans SC" panose="00000500000000000000" pitchFamily="2" charset="-122"/>
                <a:cs typeface="Times New Roman" panose="02020603050405020304" charset="0"/>
              </a:rPr>
              <a:t>X</a:t>
            </a:r>
            <a:r>
              <a:rPr lang="zh-CN" altLang="en-US" sz="2400" kern="100" dirty="0">
                <a:latin typeface="Times New Roman" panose="02020603050405020304" charset="0"/>
                <a:ea typeface="HarmonyOS Sans SC" panose="00000500000000000000" pitchFamily="2" charset="-122"/>
                <a:cs typeface="Times New Roman" panose="02020603050405020304" charset="0"/>
              </a:rPr>
              <a:t>是树</a:t>
            </a:r>
            <a:r>
              <a:rPr lang="en-US" altLang="zh-CN" sz="2400" kern="100" dirty="0">
                <a:latin typeface="Times New Roman" panose="02020603050405020304" charset="0"/>
                <a:ea typeface="HarmonyOS Sans SC" panose="00000500000000000000" pitchFamily="2" charset="-122"/>
                <a:cs typeface="Times New Roman" panose="02020603050405020304" charset="0"/>
              </a:rPr>
              <a:t>T</a:t>
            </a:r>
            <a:r>
              <a:rPr lang="zh-CN" altLang="en-US" sz="2400" kern="100" dirty="0">
                <a:latin typeface="Times New Roman" panose="02020603050405020304" charset="0"/>
                <a:ea typeface="HarmonyOS Sans SC" panose="00000500000000000000" pitchFamily="2" charset="-122"/>
                <a:cs typeface="Times New Roman" panose="02020603050405020304" charset="0"/>
              </a:rPr>
              <a:t>中的一个非根节点，</a:t>
            </a: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是</a:t>
            </a:r>
            <a:r>
              <a:rPr lang="en-US" altLang="zh-CN" sz="2400" kern="100" dirty="0">
                <a:latin typeface="Times New Roman" panose="02020603050405020304" charset="0"/>
                <a:ea typeface="HarmonyOS Sans SC" panose="00000500000000000000" pitchFamily="2" charset="-122"/>
                <a:cs typeface="Times New Roman" panose="02020603050405020304" charset="0"/>
              </a:rPr>
              <a:t>T</a:t>
            </a:r>
            <a:r>
              <a:rPr lang="zh-CN" altLang="en-US" sz="2400" kern="100" dirty="0">
                <a:latin typeface="Times New Roman" panose="02020603050405020304" charset="0"/>
                <a:ea typeface="HarmonyOS Sans SC" panose="00000500000000000000" pitchFamily="2" charset="-122"/>
                <a:cs typeface="Times New Roman" panose="02020603050405020304" charset="0"/>
              </a:rPr>
              <a:t>所对应的二叉树。在</a:t>
            </a: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中，</a:t>
            </a:r>
            <a:r>
              <a:rPr lang="en-US" altLang="zh-CN" sz="2400" kern="100" dirty="0">
                <a:latin typeface="Times New Roman" panose="02020603050405020304" charset="0"/>
                <a:ea typeface="HarmonyOS Sans SC" panose="00000500000000000000" pitchFamily="2" charset="-122"/>
                <a:cs typeface="Times New Roman" panose="02020603050405020304" charset="0"/>
              </a:rPr>
              <a:t>X</a:t>
            </a:r>
            <a:r>
              <a:rPr lang="zh-CN" altLang="en-US" sz="2400" kern="100" dirty="0">
                <a:latin typeface="Times New Roman" panose="02020603050405020304" charset="0"/>
                <a:ea typeface="HarmonyOS Sans SC" panose="00000500000000000000" pitchFamily="2" charset="-122"/>
                <a:cs typeface="Times New Roman" panose="02020603050405020304" charset="0"/>
              </a:rPr>
              <a:t>是其双亲的右孩子，下列结论正确的是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、在树</a:t>
            </a:r>
            <a:r>
              <a:rPr lang="en-US" altLang="zh-CN" sz="2400" kern="100" dirty="0">
                <a:latin typeface="Times New Roman" panose="02020603050405020304" charset="0"/>
                <a:ea typeface="HarmonyOS Sans SC" panose="00000500000000000000" pitchFamily="2" charset="-122"/>
                <a:cs typeface="Times New Roman" panose="02020603050405020304" charset="0"/>
              </a:rPr>
              <a:t>T</a:t>
            </a:r>
            <a:r>
              <a:rPr lang="zh-CN" altLang="en-US" sz="2400" kern="100" dirty="0">
                <a:latin typeface="Times New Roman" panose="02020603050405020304" charset="0"/>
                <a:ea typeface="HarmonyOS Sans SC" panose="00000500000000000000" pitchFamily="2" charset="-122"/>
                <a:cs typeface="Times New Roman" panose="02020603050405020304" charset="0"/>
              </a:rPr>
              <a:t>中，</a:t>
            </a:r>
            <a:r>
              <a:rPr lang="en-US" altLang="zh-CN" sz="2400" kern="100" dirty="0">
                <a:latin typeface="Times New Roman" panose="02020603050405020304" charset="0"/>
                <a:ea typeface="HarmonyOS Sans SC" panose="00000500000000000000" pitchFamily="2" charset="-122"/>
                <a:cs typeface="Times New Roman" panose="02020603050405020304" charset="0"/>
              </a:rPr>
              <a:t>X</a:t>
            </a:r>
            <a:r>
              <a:rPr lang="zh-CN" altLang="en-US" sz="2400" kern="100" dirty="0">
                <a:latin typeface="Times New Roman" panose="02020603050405020304" charset="0"/>
                <a:ea typeface="HarmonyOS Sans SC" panose="00000500000000000000" pitchFamily="2" charset="-122"/>
                <a:cs typeface="Times New Roman" panose="02020603050405020304" charset="0"/>
              </a:rPr>
              <a:t>是其双亲的第一个孩子</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、在树</a:t>
            </a:r>
            <a:r>
              <a:rPr lang="en-US" altLang="zh-CN" sz="2400" kern="100" dirty="0">
                <a:latin typeface="Times New Roman" panose="02020603050405020304" charset="0"/>
                <a:ea typeface="HarmonyOS Sans SC" panose="00000500000000000000" pitchFamily="2" charset="-122"/>
                <a:cs typeface="Times New Roman" panose="02020603050405020304" charset="0"/>
              </a:rPr>
              <a:t>T</a:t>
            </a:r>
            <a:r>
              <a:rPr lang="zh-CN" altLang="en-US" sz="2400" kern="100" dirty="0">
                <a:latin typeface="Times New Roman" panose="02020603050405020304" charset="0"/>
                <a:ea typeface="HarmonyOS Sans SC" panose="00000500000000000000" pitchFamily="2" charset="-122"/>
                <a:cs typeface="Times New Roman" panose="02020603050405020304" charset="0"/>
              </a:rPr>
              <a:t>中，</a:t>
            </a:r>
            <a:r>
              <a:rPr lang="en-US" altLang="zh-CN" sz="2400" kern="100" dirty="0">
                <a:latin typeface="Times New Roman" panose="02020603050405020304" charset="0"/>
                <a:ea typeface="HarmonyOS Sans SC" panose="00000500000000000000" pitchFamily="2" charset="-122"/>
                <a:cs typeface="Times New Roman" panose="02020603050405020304" charset="0"/>
              </a:rPr>
              <a:t>X</a:t>
            </a:r>
            <a:r>
              <a:rPr lang="zh-CN" altLang="en-US" sz="2400" kern="100" dirty="0">
                <a:latin typeface="Times New Roman" panose="02020603050405020304" charset="0"/>
                <a:ea typeface="HarmonyOS Sans SC" panose="00000500000000000000" pitchFamily="2" charset="-122"/>
                <a:cs typeface="Times New Roman" panose="02020603050405020304" charset="0"/>
              </a:rPr>
              <a:t>一定无右边兄弟</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、在树</a:t>
            </a:r>
            <a:r>
              <a:rPr lang="en-US" altLang="zh-CN" sz="2400" kern="100" dirty="0">
                <a:latin typeface="Times New Roman" panose="02020603050405020304" charset="0"/>
                <a:ea typeface="HarmonyOS Sans SC" panose="00000500000000000000" pitchFamily="2" charset="-122"/>
                <a:cs typeface="Times New Roman" panose="02020603050405020304" charset="0"/>
              </a:rPr>
              <a:t>T</a:t>
            </a:r>
            <a:r>
              <a:rPr lang="zh-CN" altLang="en-US" sz="2400" kern="100" dirty="0">
                <a:latin typeface="Times New Roman" panose="02020603050405020304" charset="0"/>
                <a:ea typeface="HarmonyOS Sans SC" panose="00000500000000000000" pitchFamily="2" charset="-122"/>
                <a:cs typeface="Times New Roman" panose="02020603050405020304" charset="0"/>
              </a:rPr>
              <a:t>中，</a:t>
            </a:r>
            <a:r>
              <a:rPr lang="en-US" altLang="zh-CN" sz="2400" kern="100" dirty="0">
                <a:latin typeface="Times New Roman" panose="02020603050405020304" charset="0"/>
                <a:ea typeface="HarmonyOS Sans SC" panose="00000500000000000000" pitchFamily="2" charset="-122"/>
                <a:cs typeface="Times New Roman" panose="02020603050405020304" charset="0"/>
              </a:rPr>
              <a:t>X</a:t>
            </a:r>
            <a:r>
              <a:rPr lang="zh-CN" altLang="en-US" sz="2400" kern="100" dirty="0">
                <a:latin typeface="Times New Roman" panose="02020603050405020304" charset="0"/>
                <a:ea typeface="HarmonyOS Sans SC" panose="00000500000000000000" pitchFamily="2" charset="-122"/>
                <a:cs typeface="Times New Roman" panose="02020603050405020304" charset="0"/>
              </a:rPr>
              <a:t>一定是叶子结点</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、在树</a:t>
            </a:r>
            <a:r>
              <a:rPr lang="en-US" altLang="zh-CN" sz="2400" kern="100" dirty="0">
                <a:latin typeface="Times New Roman" panose="02020603050405020304" charset="0"/>
                <a:ea typeface="HarmonyOS Sans SC" panose="00000500000000000000" pitchFamily="2" charset="-122"/>
                <a:cs typeface="Times New Roman" panose="02020603050405020304" charset="0"/>
              </a:rPr>
              <a:t>T</a:t>
            </a:r>
            <a:r>
              <a:rPr lang="zh-CN" altLang="en-US" sz="2400" kern="100" dirty="0">
                <a:latin typeface="Times New Roman" panose="02020603050405020304" charset="0"/>
                <a:ea typeface="HarmonyOS Sans SC" panose="00000500000000000000" pitchFamily="2" charset="-122"/>
                <a:cs typeface="Times New Roman" panose="02020603050405020304" charset="0"/>
              </a:rPr>
              <a:t>中，</a:t>
            </a:r>
            <a:r>
              <a:rPr lang="en-US" altLang="zh-CN" sz="2400" kern="100" dirty="0">
                <a:latin typeface="Times New Roman" panose="02020603050405020304" charset="0"/>
                <a:ea typeface="HarmonyOS Sans SC" panose="00000500000000000000" pitchFamily="2" charset="-122"/>
                <a:cs typeface="Times New Roman" panose="02020603050405020304" charset="0"/>
              </a:rPr>
              <a:t>X</a:t>
            </a:r>
            <a:r>
              <a:rPr lang="zh-CN" altLang="en-US" sz="2400" kern="100" dirty="0">
                <a:latin typeface="Times New Roman" panose="02020603050405020304" charset="0"/>
                <a:ea typeface="HarmonyOS Sans SC" panose="00000500000000000000" pitchFamily="2" charset="-122"/>
                <a:cs typeface="Times New Roman" panose="02020603050405020304" charset="0"/>
              </a:rPr>
              <a:t>一定有左边兄弟</a:t>
            </a:r>
          </a:p>
        </p:txBody>
      </p:sp>
      <p:sp>
        <p:nvSpPr>
          <p:cNvPr id="6" name="文本框 5"/>
          <p:cNvSpPr txBox="1"/>
          <p:nvPr/>
        </p:nvSpPr>
        <p:spPr>
          <a:xfrm>
            <a:off x="4066597" y="1696990"/>
            <a:ext cx="508246" cy="460375"/>
          </a:xfrm>
          <a:prstGeom prst="rect">
            <a:avLst/>
          </a:prstGeom>
          <a:noFill/>
        </p:spPr>
        <p:txBody>
          <a:bodyPr wrap="square">
            <a:spAutoFit/>
          </a:bodyPr>
          <a:lstStyle/>
          <a:p>
            <a:r>
              <a:rPr lang="en-US" altLang="zh-CN" sz="2400" b="1">
                <a:solidFill>
                  <a:srgbClr val="FF0000"/>
                </a:solidFill>
                <a:latin typeface="Times New Roman" panose="02020603050405020304" charset="0"/>
                <a:ea typeface="HarmonyOS Sans SC" panose="00000500000000000000" pitchFamily="2" charset="-122"/>
                <a:cs typeface="Times New Roman" panose="02020603050405020304" charset="0"/>
              </a:rPr>
              <a:t>D</a:t>
            </a:r>
            <a:endParaRPr lang="zh-CN" altLang="en-US" sz="2400" b="1" dirty="0">
              <a:solidFill>
                <a:srgbClr val="FF0000"/>
              </a:solidFill>
            </a:endParaRPr>
          </a:p>
        </p:txBody>
      </p:sp>
      <p:sp>
        <p:nvSpPr>
          <p:cNvPr id="7" name="文本框 6"/>
          <p:cNvSpPr txBox="1"/>
          <p:nvPr/>
        </p:nvSpPr>
        <p:spPr>
          <a:xfrm>
            <a:off x="214600" y="4504276"/>
            <a:ext cx="11641486" cy="1690591"/>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本题主要考察树与二叉树的转换。由于</a:t>
            </a:r>
            <a:r>
              <a:rPr lang="en-US" altLang="zh-CN" sz="2400" kern="100" dirty="0">
                <a:latin typeface="Times New Roman" panose="02020603050405020304" charset="0"/>
                <a:ea typeface="HarmonyOS Sans SC" panose="00000500000000000000" pitchFamily="2" charset="-122"/>
                <a:cs typeface="Times New Roman" panose="02020603050405020304" charset="0"/>
              </a:rPr>
              <a:t>X</a:t>
            </a:r>
            <a:r>
              <a:rPr lang="zh-CN" altLang="en-US" sz="2400" kern="100" dirty="0">
                <a:latin typeface="Times New Roman" panose="02020603050405020304" charset="0"/>
                <a:ea typeface="HarmonyOS Sans SC" panose="00000500000000000000" pitchFamily="2" charset="-122"/>
                <a:cs typeface="Times New Roman" panose="02020603050405020304" charset="0"/>
              </a:rPr>
              <a:t>在二叉树中为双亲的右孩子，那就说明在树中，</a:t>
            </a:r>
            <a:r>
              <a:rPr lang="en-US" altLang="zh-CN" sz="2400" kern="100" dirty="0">
                <a:latin typeface="Times New Roman" panose="02020603050405020304" charset="0"/>
                <a:ea typeface="HarmonyOS Sans SC" panose="00000500000000000000" pitchFamily="2" charset="-122"/>
                <a:cs typeface="Times New Roman" panose="02020603050405020304" charset="0"/>
              </a:rPr>
              <a:t>X</a:t>
            </a:r>
            <a:r>
              <a:rPr lang="zh-CN" altLang="en-US" sz="2400" kern="100" dirty="0">
                <a:latin typeface="Times New Roman" panose="02020603050405020304" charset="0"/>
                <a:ea typeface="HarmonyOS Sans SC" panose="00000500000000000000" pitchFamily="2" charset="-122"/>
                <a:cs typeface="Times New Roman" panose="02020603050405020304" charset="0"/>
              </a:rPr>
              <a:t>左边有兄弟。故本题选</a:t>
            </a: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latin typeface="Times New Roman" panose="02020603050405020304" charset="0"/>
              <a:ea typeface="HarmonyOS Sans SC" panose="00000500000000000000" pitchFamily="2" charset="-122"/>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1393162"/>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207141"/>
            <a:ext cx="11723451" cy="1198880"/>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16】</a:t>
            </a:r>
            <a:r>
              <a:rPr lang="zh-CN" altLang="en-US" sz="2400" kern="100" dirty="0">
                <a:latin typeface="Times New Roman" panose="02020603050405020304" charset="0"/>
                <a:ea typeface="HarmonyOS Sans SC" panose="00000500000000000000" pitchFamily="2" charset="-122"/>
                <a:cs typeface="Times New Roman" panose="02020603050405020304" charset="0"/>
              </a:rPr>
              <a:t>设一段文本中包含对象</a:t>
            </a:r>
            <a:r>
              <a:rPr lang="en-US" altLang="zh-CN" sz="2400" kern="100" dirty="0">
                <a:latin typeface="Times New Roman" panose="02020603050405020304" charset="0"/>
                <a:ea typeface="HarmonyOS Sans SC" panose="00000500000000000000" pitchFamily="2" charset="-122"/>
                <a:cs typeface="Times New Roman" panose="02020603050405020304" charset="0"/>
              </a:rPr>
              <a:t>{a, b, c, d, e}</a:t>
            </a:r>
            <a:r>
              <a:rPr lang="zh-CN" altLang="en-US" sz="2400" kern="100" dirty="0">
                <a:latin typeface="Times New Roman" panose="02020603050405020304" charset="0"/>
                <a:ea typeface="HarmonyOS Sans SC" panose="00000500000000000000" pitchFamily="2" charset="-122"/>
                <a:cs typeface="Times New Roman" panose="02020603050405020304" charset="0"/>
              </a:rPr>
              <a:t>，其出现次数相应为</a:t>
            </a:r>
            <a:r>
              <a:rPr lang="en-US" altLang="zh-CN" sz="2400" kern="100" dirty="0">
                <a:latin typeface="Times New Roman" panose="02020603050405020304" charset="0"/>
                <a:ea typeface="HarmonyOS Sans SC" panose="00000500000000000000" pitchFamily="2" charset="-122"/>
                <a:cs typeface="Times New Roman" panose="02020603050405020304" charset="0"/>
              </a:rPr>
              <a:t>{3, 2, 5, 1, 1}</a:t>
            </a:r>
            <a:r>
              <a:rPr lang="zh-CN" altLang="en-US" sz="2400" kern="100" dirty="0">
                <a:latin typeface="Times New Roman" panose="02020603050405020304" charset="0"/>
                <a:ea typeface="HarmonyOS Sans SC" panose="00000500000000000000" pitchFamily="2" charset="-122"/>
                <a:cs typeface="Times New Roman" panose="02020603050405020304" charset="0"/>
              </a:rPr>
              <a:t>，则经过哈夫曼编码后，该文本所占 树的所有叶结点的带权路径长度之和 </a:t>
            </a:r>
            <a:r>
              <a:rPr lang="en-US" altLang="zh-CN"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wpl</a:t>
            </a:r>
            <a:r>
              <a:rPr lang="en-US" altLang="zh-CN" sz="2400"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为</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p:txBody>
      </p:sp>
      <p:sp>
        <p:nvSpPr>
          <p:cNvPr id="6" name="文本框 5"/>
          <p:cNvSpPr txBox="1"/>
          <p:nvPr/>
        </p:nvSpPr>
        <p:spPr>
          <a:xfrm>
            <a:off x="214630" y="5128260"/>
            <a:ext cx="7416800" cy="645160"/>
          </a:xfrm>
          <a:prstGeom prst="rect">
            <a:avLst/>
          </a:prstGeom>
          <a:noFill/>
        </p:spPr>
        <p:txBody>
          <a:bodyPr wrap="square">
            <a:spAutoFit/>
          </a:bodyPr>
          <a:lstStyle/>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故该文本所占总位数为：</a:t>
            </a:r>
            <a:r>
              <a:rPr lang="en-US" altLang="zh-CN" sz="2400" kern="100" dirty="0">
                <a:latin typeface="Times New Roman" panose="02020603050405020304" charset="0"/>
                <a:ea typeface="HarmonyOS Sans SC" panose="00000500000000000000" pitchFamily="2" charset="-122"/>
                <a:cs typeface="Times New Roman" panose="02020603050405020304" charset="0"/>
              </a:rPr>
              <a:t>(1+1)*4+2*3+3*2+5*1=25</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latin typeface="Times New Roman" panose="02020603050405020304" charset="0"/>
              <a:ea typeface="HarmonyOS Sans SC" panose="00000500000000000000" pitchFamily="2" charset="-122"/>
              <a:cs typeface="Times New Roman" panose="02020603050405020304" charset="0"/>
            </a:endParaRPr>
          </a:p>
        </p:txBody>
      </p:sp>
      <p:pic>
        <p:nvPicPr>
          <p:cNvPr id="3" name="图片 2"/>
          <p:cNvPicPr>
            <a:picLocks noChangeAspect="1"/>
          </p:cNvPicPr>
          <p:nvPr/>
        </p:nvPicPr>
        <p:blipFill>
          <a:blip r:embed="rId2">
            <a:grayscl/>
            <a:lum bright="-42000" contrast="72000"/>
          </a:blip>
          <a:srcRect r="2338" b="1030"/>
          <a:stretch>
            <a:fillRect/>
          </a:stretch>
        </p:blipFill>
        <p:spPr>
          <a:xfrm>
            <a:off x="318135" y="1489075"/>
            <a:ext cx="3714115" cy="34175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594332"/>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207141"/>
            <a:ext cx="11723451"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17】</a:t>
            </a:r>
            <a:r>
              <a:rPr lang="zh-CN" altLang="en-US" sz="2400" kern="100" dirty="0">
                <a:latin typeface="Times New Roman" panose="02020603050405020304" charset="0"/>
                <a:ea typeface="HarmonyOS Sans SC" panose="00000500000000000000" pitchFamily="2" charset="-122"/>
                <a:cs typeface="Times New Roman" panose="02020603050405020304" charset="0"/>
              </a:rPr>
              <a:t>若使用二叉链表作为树的存储结构，在有 </a:t>
            </a:r>
            <a:r>
              <a:rPr lang="en-US" altLang="zh-CN" sz="2400" kern="100" dirty="0">
                <a:latin typeface="Times New Roman" panose="02020603050405020304" charset="0"/>
                <a:ea typeface="HarmonyOS Sans SC" panose="00000500000000000000" pitchFamily="2" charset="-122"/>
                <a:cs typeface="Times New Roman" panose="02020603050405020304" charset="0"/>
              </a:rPr>
              <a:t>n </a:t>
            </a:r>
            <a:r>
              <a:rPr lang="zh-CN" altLang="en-US" sz="2400" kern="100" dirty="0">
                <a:latin typeface="Times New Roman" panose="02020603050405020304" charset="0"/>
                <a:ea typeface="HarmonyOS Sans SC" panose="00000500000000000000" pitchFamily="2" charset="-122"/>
                <a:cs typeface="Times New Roman" panose="02020603050405020304" charset="0"/>
              </a:rPr>
              <a:t>个结点的二叉链表中空的链域个数为</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n-1</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2n-1</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n+1</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2n+1</a:t>
            </a:r>
          </a:p>
        </p:txBody>
      </p:sp>
      <p:sp>
        <p:nvSpPr>
          <p:cNvPr id="12" name="文本框 11"/>
          <p:cNvSpPr txBox="1"/>
          <p:nvPr/>
        </p:nvSpPr>
        <p:spPr>
          <a:xfrm>
            <a:off x="1171910" y="879110"/>
            <a:ext cx="508246"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C</a:t>
            </a:r>
          </a:p>
        </p:txBody>
      </p:sp>
      <p:sp>
        <p:nvSpPr>
          <p:cNvPr id="6" name="文本框 5"/>
          <p:cNvSpPr txBox="1"/>
          <p:nvPr/>
        </p:nvSpPr>
        <p:spPr>
          <a:xfrm>
            <a:off x="214600" y="3641946"/>
            <a:ext cx="11641486" cy="1690591"/>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将</a:t>
            </a:r>
            <a:r>
              <a:rPr lang="en-US" altLang="zh-CN" sz="2400" kern="100" dirty="0">
                <a:latin typeface="Times New Roman" panose="02020603050405020304" charset="0"/>
                <a:ea typeface="HarmonyOS Sans SC" panose="00000500000000000000" pitchFamily="2" charset="-122"/>
                <a:cs typeface="Times New Roman" panose="02020603050405020304" charset="0"/>
              </a:rPr>
              <a:t>n</a:t>
            </a:r>
            <a:r>
              <a:rPr lang="zh-CN" altLang="en-US" sz="2400" kern="100" dirty="0">
                <a:latin typeface="Times New Roman" panose="02020603050405020304" charset="0"/>
                <a:ea typeface="HarmonyOS Sans SC" panose="00000500000000000000" pitchFamily="2" charset="-122"/>
                <a:cs typeface="Times New Roman" panose="02020603050405020304" charset="0"/>
              </a:rPr>
              <a:t>个结点均看作双分支结点，则其空链域为叶子结点，叶子结点个数等于双分支结点个数加</a:t>
            </a:r>
            <a:r>
              <a:rPr lang="en-US" altLang="zh-CN" sz="2400" kern="100" dirty="0">
                <a:latin typeface="Times New Roman" panose="02020603050405020304" charset="0"/>
                <a:ea typeface="HarmonyOS Sans SC" panose="00000500000000000000" pitchFamily="2" charset="-122"/>
                <a:cs typeface="Times New Roman" panose="02020603050405020304" charset="0"/>
              </a:rPr>
              <a:t>1</a:t>
            </a:r>
            <a:r>
              <a:rPr lang="zh-CN" altLang="en-US" sz="2400" kern="100" dirty="0">
                <a:latin typeface="Times New Roman" panose="02020603050405020304" charset="0"/>
                <a:ea typeface="HarmonyOS Sans SC" panose="00000500000000000000" pitchFamily="2" charset="-122"/>
                <a:cs typeface="Times New Roman" panose="02020603050405020304" charset="0"/>
              </a:rPr>
              <a:t>，所以有</a:t>
            </a:r>
            <a:r>
              <a:rPr lang="en-US" altLang="zh-CN" sz="2400" kern="100" dirty="0">
                <a:latin typeface="Times New Roman" panose="02020603050405020304" charset="0"/>
                <a:ea typeface="HarmonyOS Sans SC" panose="00000500000000000000" pitchFamily="2" charset="-122"/>
                <a:cs typeface="Times New Roman" panose="02020603050405020304" charset="0"/>
              </a:rPr>
              <a:t>n+1</a:t>
            </a:r>
            <a:r>
              <a:rPr lang="zh-CN" altLang="en-US" sz="2400" kern="100" dirty="0">
                <a:latin typeface="Times New Roman" panose="02020603050405020304" charset="0"/>
                <a:ea typeface="HarmonyOS Sans SC" panose="00000500000000000000" pitchFamily="2" charset="-122"/>
                <a:cs typeface="Times New Roman" panose="02020603050405020304" charset="0"/>
              </a:rPr>
              <a:t>个空链域。</a:t>
            </a:r>
            <a:endParaRPr lang="zh-CN" altLang="zh-CN" sz="2400" kern="100" dirty="0">
              <a:latin typeface="Times New Roman" panose="02020603050405020304" charset="0"/>
              <a:ea typeface="HarmonyOS Sans SC" panose="00000500000000000000" pitchFamily="2" charset="-122"/>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1904229"/>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207141"/>
            <a:ext cx="11723451" cy="1690591"/>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18】</a:t>
            </a:r>
            <a:r>
              <a:rPr lang="zh-CN" altLang="en-US" sz="2400" kern="100" dirty="0">
                <a:latin typeface="Times New Roman" panose="02020603050405020304" charset="0"/>
                <a:ea typeface="HarmonyOS Sans SC" panose="00000500000000000000" pitchFamily="2" charset="-122"/>
                <a:cs typeface="Times New Roman" panose="02020603050405020304" charset="0"/>
              </a:rPr>
              <a:t>若一棵二叉树的先序和中序序列分别是 </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abdefc</a:t>
            </a:r>
            <a:r>
              <a:rPr lang="en-US" altLang="zh-CN" sz="2400"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和 </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dbefac</a:t>
            </a:r>
            <a:r>
              <a:rPr lang="zh-CN" altLang="en-US" sz="2400" kern="100" dirty="0">
                <a:latin typeface="Times New Roman" panose="02020603050405020304" charset="0"/>
                <a:ea typeface="HarmonyOS Sans SC" panose="00000500000000000000" pitchFamily="2" charset="-122"/>
                <a:cs typeface="Times New Roman" panose="02020603050405020304" charset="0"/>
              </a:rPr>
              <a:t>，则其后序序列是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dfecba</a:t>
            </a:r>
            <a:r>
              <a:rPr lang="en-US" altLang="zh-CN" sz="2400" kern="100" dirty="0">
                <a:latin typeface="Times New Roman" panose="02020603050405020304" charset="0"/>
                <a:ea typeface="HarmonyOS Sans SC" panose="00000500000000000000" pitchFamily="2" charset="-122"/>
                <a:cs typeface="Times New Roman" panose="02020603050405020304" charset="0"/>
              </a:rPr>
              <a:t>             B</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defbca</a:t>
            </a:r>
            <a:r>
              <a:rPr lang="en-US" altLang="zh-CN" sz="2400" kern="100" dirty="0">
                <a:latin typeface="Times New Roman" panose="02020603050405020304" charset="0"/>
                <a:ea typeface="HarmonyOS Sans SC" panose="00000500000000000000" pitchFamily="2" charset="-122"/>
                <a:cs typeface="Times New Roman" panose="02020603050405020304" charset="0"/>
              </a:rPr>
              <a:t>                 C</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dfebca</a:t>
            </a:r>
            <a:r>
              <a:rPr lang="en-US" altLang="zh-CN" sz="2400" kern="100" dirty="0">
                <a:latin typeface="Times New Roman" panose="02020603050405020304" charset="0"/>
                <a:ea typeface="HarmonyOS Sans SC" panose="00000500000000000000" pitchFamily="2" charset="-122"/>
                <a:cs typeface="Times New Roman" panose="02020603050405020304" charset="0"/>
              </a:rPr>
              <a:t>               D</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abcdef</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p:txBody>
      </p:sp>
      <p:sp>
        <p:nvSpPr>
          <p:cNvPr id="12" name="文本框 11"/>
          <p:cNvSpPr txBox="1"/>
          <p:nvPr/>
        </p:nvSpPr>
        <p:spPr>
          <a:xfrm>
            <a:off x="810213" y="879110"/>
            <a:ext cx="508246"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C</a:t>
            </a:r>
          </a:p>
        </p:txBody>
      </p:sp>
      <p:sp>
        <p:nvSpPr>
          <p:cNvPr id="6" name="文本框 5"/>
          <p:cNvSpPr txBox="1"/>
          <p:nvPr/>
        </p:nvSpPr>
        <p:spPr>
          <a:xfrm>
            <a:off x="229205" y="4853461"/>
            <a:ext cx="9013376" cy="582595"/>
          </a:xfrm>
          <a:prstGeom prst="rect">
            <a:avLst/>
          </a:prstGeom>
          <a:noFill/>
        </p:spPr>
        <p:txBody>
          <a:bodyPr wrap="square">
            <a:spAutoFit/>
          </a:bodyPr>
          <a:lstStyle/>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由题可得</a:t>
            </a: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是根节点，</a:t>
            </a: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是第一个左节点，</a:t>
            </a: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是第一个右节点</a:t>
            </a:r>
            <a:endParaRPr lang="zh-CN" altLang="zh-CN" sz="2400" kern="100" dirty="0">
              <a:latin typeface="Times New Roman" panose="02020603050405020304" charset="0"/>
              <a:ea typeface="HarmonyOS Sans SC" panose="00000500000000000000" pitchFamily="2" charset="-122"/>
              <a:cs typeface="Times New Roman" panose="02020603050405020304" charset="0"/>
            </a:endParaRPr>
          </a:p>
        </p:txBody>
      </p:sp>
      <p:pic>
        <p:nvPicPr>
          <p:cNvPr id="3" name="图片 2"/>
          <p:cNvPicPr>
            <a:picLocks noChangeAspect="1"/>
          </p:cNvPicPr>
          <p:nvPr/>
        </p:nvPicPr>
        <p:blipFill>
          <a:blip r:embed="rId2">
            <a:lum bright="-30000" contrast="48000"/>
            <a:extLst>
              <a:ext uri="{28A0092B-C50C-407E-A947-70E740481C1C}">
                <a14:useLocalDpi xmlns:a14="http://schemas.microsoft.com/office/drawing/2010/main" val="0"/>
              </a:ext>
            </a:extLst>
          </a:blip>
          <a:srcRect/>
          <a:stretch>
            <a:fillRect/>
          </a:stretch>
        </p:blipFill>
        <p:spPr bwMode="auto">
          <a:xfrm>
            <a:off x="335915" y="2106295"/>
            <a:ext cx="2806065" cy="264541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1446502"/>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207141"/>
            <a:ext cx="11723451" cy="1136593"/>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19】</a:t>
            </a:r>
            <a:r>
              <a:rPr lang="zh-CN" altLang="en-US" sz="2400" kern="100" dirty="0">
                <a:latin typeface="Times New Roman" panose="02020603050405020304" charset="0"/>
                <a:ea typeface="HarmonyOS Sans SC" panose="00000500000000000000" pitchFamily="2" charset="-122"/>
                <a:cs typeface="Times New Roman" panose="02020603050405020304" charset="0"/>
              </a:rPr>
              <a:t>在一棵度数为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4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的树 </a:t>
            </a:r>
            <a:r>
              <a:rPr lang="en-US" altLang="zh-CN" sz="2400" kern="100" dirty="0">
                <a:latin typeface="Times New Roman" panose="02020603050405020304" charset="0"/>
                <a:ea typeface="HarmonyOS Sans SC" panose="00000500000000000000" pitchFamily="2" charset="-122"/>
                <a:cs typeface="Times New Roman" panose="02020603050405020304" charset="0"/>
              </a:rPr>
              <a:t>T </a:t>
            </a:r>
            <a:r>
              <a:rPr lang="zh-CN" altLang="en-US" sz="2400" kern="100" dirty="0">
                <a:latin typeface="Times New Roman" panose="02020603050405020304" charset="0"/>
                <a:ea typeface="HarmonyOS Sans SC" panose="00000500000000000000" pitchFamily="2" charset="-122"/>
                <a:cs typeface="Times New Roman" panose="02020603050405020304" charset="0"/>
              </a:rPr>
              <a:t>中，若有 </a:t>
            </a:r>
            <a:r>
              <a:rPr lang="en-US" altLang="zh-CN" sz="2400" kern="100" dirty="0">
                <a:latin typeface="Times New Roman" panose="02020603050405020304" charset="0"/>
                <a:ea typeface="HarmonyOS Sans SC" panose="00000500000000000000" pitchFamily="2" charset="-122"/>
                <a:cs typeface="Times New Roman" panose="02020603050405020304" charset="0"/>
              </a:rPr>
              <a:t>20 </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个度为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4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的结点，</a:t>
            </a:r>
            <a:r>
              <a:rPr lang="en-US" altLang="zh-CN" sz="2400" kern="100" dirty="0">
                <a:latin typeface="Times New Roman" panose="02020603050405020304" charset="0"/>
                <a:ea typeface="HarmonyOS Sans SC" panose="00000500000000000000" pitchFamily="2" charset="-122"/>
                <a:cs typeface="Times New Roman" panose="02020603050405020304" charset="0"/>
              </a:rPr>
              <a:t>10 </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个度为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3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的结点，</a:t>
            </a:r>
            <a:r>
              <a:rPr lang="en-US" altLang="zh-CN" sz="2400" kern="100" dirty="0">
                <a:latin typeface="Times New Roman" panose="02020603050405020304" charset="0"/>
                <a:ea typeface="HarmonyOS Sans SC" panose="00000500000000000000" pitchFamily="2" charset="-122"/>
                <a:cs typeface="Times New Roman" panose="02020603050405020304" charset="0"/>
              </a:rPr>
              <a:t>1 </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个度为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2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的结点，</a:t>
            </a:r>
            <a:r>
              <a:rPr lang="en-US" altLang="zh-CN" sz="2400" kern="100" dirty="0">
                <a:latin typeface="Times New Roman" panose="02020603050405020304" charset="0"/>
                <a:ea typeface="HarmonyOS Sans SC" panose="00000500000000000000" pitchFamily="2" charset="-122"/>
                <a:cs typeface="Times New Roman" panose="02020603050405020304" charset="0"/>
              </a:rPr>
              <a:t>10 </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个度为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1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的结点，则树 </a:t>
            </a:r>
            <a:r>
              <a:rPr lang="en-US" altLang="zh-CN" sz="2400" kern="100" dirty="0">
                <a:latin typeface="Times New Roman" panose="02020603050405020304" charset="0"/>
                <a:ea typeface="HarmonyOS Sans SC" panose="00000500000000000000" pitchFamily="2" charset="-122"/>
                <a:cs typeface="Times New Roman" panose="02020603050405020304" charset="0"/>
              </a:rPr>
              <a:t>T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的叶结点个数是</a:t>
            </a:r>
            <a:r>
              <a:rPr lang="en-US" altLang="zh-CN" sz="2400" kern="100" dirty="0">
                <a:latin typeface="Times New Roman" panose="02020603050405020304" charset="0"/>
                <a:ea typeface="HarmonyOS Sans SC" panose="00000500000000000000" pitchFamily="2" charset="-122"/>
                <a:cs typeface="Times New Roman" panose="02020603050405020304" charset="0"/>
              </a:rPr>
              <a:t>_______</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p:txBody>
      </p:sp>
      <p:sp>
        <p:nvSpPr>
          <p:cNvPr id="12" name="文本框 11"/>
          <p:cNvSpPr txBox="1"/>
          <p:nvPr/>
        </p:nvSpPr>
        <p:spPr>
          <a:xfrm>
            <a:off x="8973853" y="879110"/>
            <a:ext cx="508246"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82</a:t>
            </a:r>
            <a:endParaRPr lang="zh-CN" altLang="en-US" sz="2400" b="1" dirty="0">
              <a:solidFill>
                <a:srgbClr val="FF0000"/>
              </a:solidFill>
            </a:endParaRPr>
          </a:p>
        </p:txBody>
      </p:sp>
      <p:sp>
        <p:nvSpPr>
          <p:cNvPr id="5" name="文本框 4"/>
          <p:cNvSpPr txBox="1"/>
          <p:nvPr/>
        </p:nvSpPr>
        <p:spPr>
          <a:xfrm>
            <a:off x="214630" y="1522095"/>
            <a:ext cx="10023475" cy="2861310"/>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考查树结点数的特性。设树中度为</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i</a:t>
            </a:r>
            <a:r>
              <a:rPr lang="en-US" altLang="zh-CN"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i</a:t>
            </a:r>
            <a:r>
              <a:rPr lang="en-US" altLang="zh-CN" sz="2400" kern="100" dirty="0">
                <a:latin typeface="Times New Roman" panose="02020603050405020304" charset="0"/>
                <a:ea typeface="HarmonyOS Sans SC" panose="00000500000000000000" pitchFamily="2" charset="-122"/>
                <a:cs typeface="Times New Roman" panose="02020603050405020304" charset="0"/>
              </a:rPr>
              <a:t>=0</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3</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4)</a:t>
            </a:r>
            <a:r>
              <a:rPr lang="zh-CN" altLang="en-US" sz="2400" kern="100" dirty="0">
                <a:latin typeface="Times New Roman" panose="02020603050405020304" charset="0"/>
                <a:ea typeface="HarmonyOS Sans SC" panose="00000500000000000000" pitchFamily="2" charset="-122"/>
                <a:cs typeface="Times New Roman" panose="02020603050405020304" charset="0"/>
              </a:rPr>
              <a:t>的结点数分别为</a:t>
            </a:r>
            <a:r>
              <a:rPr lang="en-US" altLang="zh-CN" sz="2400" kern="100" dirty="0">
                <a:latin typeface="Times New Roman" panose="02020603050405020304" charset="0"/>
                <a:ea typeface="HarmonyOS Sans SC" panose="00000500000000000000" pitchFamily="2" charset="-122"/>
                <a:cs typeface="Times New Roman" panose="02020603050405020304" charset="0"/>
              </a:rPr>
              <a:t>Ni</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树中结点总数为</a:t>
            </a:r>
            <a:r>
              <a:rPr lang="en-US" altLang="zh-CN" sz="2400" kern="100" dirty="0">
                <a:latin typeface="Times New Roman" panose="02020603050405020304" charset="0"/>
                <a:ea typeface="HarmonyOS Sans SC" panose="00000500000000000000" pitchFamily="2" charset="-122"/>
                <a:cs typeface="Times New Roman" panose="02020603050405020304" charset="0"/>
              </a:rPr>
              <a:t>N</a:t>
            </a:r>
            <a:r>
              <a:rPr lang="zh-CN" altLang="en-US" sz="2400" kern="100" dirty="0">
                <a:latin typeface="Times New Roman" panose="02020603050405020304" charset="0"/>
                <a:ea typeface="HarmonyOS Sans SC" panose="00000500000000000000" pitchFamily="2" charset="-122"/>
                <a:cs typeface="Times New Roman" panose="02020603050405020304" charset="0"/>
              </a:rPr>
              <a:t>，则树中各结点的度之和等于</a:t>
            </a:r>
            <a:r>
              <a:rPr lang="en-US" altLang="zh-CN" sz="2400" kern="100" dirty="0">
                <a:latin typeface="Times New Roman" panose="02020603050405020304" charset="0"/>
                <a:ea typeface="HarmonyOS Sans SC" panose="00000500000000000000" pitchFamily="2" charset="-122"/>
                <a:cs typeface="Times New Roman" panose="02020603050405020304" charset="0"/>
              </a:rPr>
              <a:t>N-1</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即</a:t>
            </a:r>
            <a:r>
              <a:rPr lang="en-US" altLang="zh-CN" sz="2400" kern="100" dirty="0">
                <a:latin typeface="Times New Roman" panose="02020603050405020304" charset="0"/>
                <a:ea typeface="HarmonyOS Sans SC" panose="00000500000000000000" pitchFamily="2" charset="-122"/>
                <a:cs typeface="Times New Roman" panose="02020603050405020304" charset="0"/>
              </a:rPr>
              <a:t>N=1+N1+2N2+3N3+4N4=N0+N1+N2+N3+N4</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根据题设中的数据，即可得到</a:t>
            </a:r>
            <a:r>
              <a:rPr lang="en-US" altLang="zh-CN" sz="2400" kern="100" dirty="0">
                <a:latin typeface="Times New Roman" panose="02020603050405020304" charset="0"/>
                <a:ea typeface="HarmonyOS Sans SC" panose="00000500000000000000" pitchFamily="2" charset="-122"/>
                <a:cs typeface="Times New Roman" panose="02020603050405020304" charset="0"/>
              </a:rPr>
              <a:t>N0=82</a:t>
            </a:r>
            <a:r>
              <a:rPr lang="zh-CN" altLang="en-US" sz="2400" kern="100" dirty="0">
                <a:latin typeface="Times New Roman" panose="02020603050405020304" charset="0"/>
                <a:ea typeface="HarmonyOS Sans SC" panose="00000500000000000000" pitchFamily="2" charset="-122"/>
                <a:cs typeface="Times New Roman" panose="02020603050405020304" charset="0"/>
              </a:rPr>
              <a:t>，即树</a:t>
            </a:r>
            <a:r>
              <a:rPr lang="en-US" altLang="zh-CN" sz="2400" kern="100" dirty="0">
                <a:latin typeface="Times New Roman" panose="02020603050405020304" charset="0"/>
                <a:ea typeface="HarmonyOS Sans SC" panose="00000500000000000000" pitchFamily="2" charset="-122"/>
                <a:cs typeface="Times New Roman" panose="02020603050405020304" charset="0"/>
              </a:rPr>
              <a:t>T</a:t>
            </a:r>
            <a:r>
              <a:rPr lang="zh-CN" altLang="en-US" sz="2400" kern="100" dirty="0">
                <a:latin typeface="Times New Roman" panose="02020603050405020304" charset="0"/>
                <a:ea typeface="HarmonyOS Sans SC" panose="00000500000000000000" pitchFamily="2" charset="-122"/>
                <a:cs typeface="Times New Roman" panose="02020603050405020304" charset="0"/>
              </a:rPr>
              <a:t>的叶结点的个数是</a:t>
            </a:r>
            <a:r>
              <a:rPr lang="en-US" altLang="zh-CN" sz="2400" kern="100" dirty="0">
                <a:latin typeface="Times New Roman" panose="02020603050405020304" charset="0"/>
                <a:ea typeface="HarmonyOS Sans SC" panose="00000500000000000000" pitchFamily="2" charset="-122"/>
                <a:cs typeface="Times New Roman" panose="02020603050405020304" charset="0"/>
              </a:rPr>
              <a:t>82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514244"/>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135555"/>
            <a:ext cx="11723451" cy="6708775"/>
          </a:xfrm>
          <a:prstGeom prst="rect">
            <a:avLst/>
          </a:prstGeom>
          <a:noFill/>
        </p:spPr>
        <p:txBody>
          <a:bodyPr wrap="square">
            <a:spAutoFit/>
          </a:bodyPr>
          <a:lstStyle/>
          <a:p>
            <a:pPr algn="just" fontAlgn="auto">
              <a:lnSpc>
                <a:spcPct val="100000"/>
              </a:lnSpc>
              <a:spcAft>
                <a:spcPts val="1200"/>
              </a:spcAft>
            </a:pPr>
            <a:r>
              <a:rPr lang="en-US" altLang="zh-CN" sz="20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0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000" b="1" dirty="0">
                <a:solidFill>
                  <a:srgbClr val="1DC0C4"/>
                </a:solidFill>
                <a:latin typeface="Times New Roman" panose="02020603050405020304" charset="0"/>
                <a:ea typeface="HarmonyOS Sans SC" panose="00000500000000000000" pitchFamily="2" charset="-122"/>
                <a:cs typeface="Times New Roman" panose="02020603050405020304" charset="0"/>
              </a:rPr>
              <a:t>20】</a:t>
            </a:r>
            <a:r>
              <a:rPr lang="zh-CN" altLang="en-US" sz="2000" kern="100" dirty="0">
                <a:latin typeface="Times New Roman" panose="02020603050405020304" charset="0"/>
                <a:ea typeface="HarmonyOS Sans SC" panose="00000500000000000000" pitchFamily="2" charset="-122"/>
                <a:cs typeface="Times New Roman" panose="02020603050405020304" charset="0"/>
              </a:rPr>
              <a:t>试写出一递归函数，判别两棵树是否相等。</a:t>
            </a:r>
          </a:p>
          <a:p>
            <a:pPr algn="just">
              <a:lnSpc>
                <a:spcPct val="100000"/>
              </a:lnSpc>
            </a:pPr>
            <a:r>
              <a:rPr lang="zh-CN" altLang="zh-CN" sz="20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a:t>
            </a:r>
            <a:r>
              <a:rPr lang="en-US" altLang="zh-CN" sz="20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r>
              <a:rPr lang="en-US" altLang="zh-CN" sz="2000" kern="100" dirty="0">
                <a:latin typeface="Times New Roman" panose="02020603050405020304" charset="0"/>
                <a:ea typeface="HarmonyOS Sans SC" panose="00000500000000000000" pitchFamily="2" charset="-122"/>
                <a:cs typeface="Times New Roman" panose="02020603050405020304" charset="0"/>
              </a:rPr>
              <a:t>bool flag = true;     // </a:t>
            </a:r>
            <a:r>
              <a:rPr lang="zh-CN" altLang="en-US" sz="2000" kern="100" dirty="0">
                <a:latin typeface="Times New Roman" panose="02020603050405020304" charset="0"/>
                <a:ea typeface="HarmonyOS Sans SC" panose="00000500000000000000" pitchFamily="2" charset="-122"/>
                <a:cs typeface="Times New Roman" panose="02020603050405020304" charset="0"/>
              </a:rPr>
              <a:t>默认认为两棵树是相同的，递归判断过程中改变</a:t>
            </a:r>
            <a:r>
              <a:rPr lang="en-US" altLang="zh-CN" sz="2000" kern="100" dirty="0">
                <a:latin typeface="Times New Roman" panose="02020603050405020304" charset="0"/>
                <a:ea typeface="HarmonyOS Sans SC" panose="00000500000000000000" pitchFamily="2" charset="-122"/>
                <a:cs typeface="Times New Roman" panose="02020603050405020304" charset="0"/>
              </a:rPr>
              <a:t>flag</a:t>
            </a:r>
            <a:r>
              <a:rPr lang="zh-CN" altLang="en-US" sz="2000" kern="100" dirty="0">
                <a:latin typeface="Times New Roman" panose="02020603050405020304" charset="0"/>
                <a:ea typeface="HarmonyOS Sans SC" panose="00000500000000000000" pitchFamily="2" charset="-122"/>
                <a:cs typeface="Times New Roman" panose="02020603050405020304" charset="0"/>
              </a:rPr>
              <a:t>值，一旦有一个不同，就跳出</a:t>
            </a: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void judge(node* root1, node* root2)</a:t>
            </a: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    if(root1 == root2) return;              // </a:t>
            </a:r>
            <a:r>
              <a:rPr lang="zh-CN" altLang="en-US" sz="2000" kern="100" dirty="0">
                <a:latin typeface="Times New Roman" panose="02020603050405020304" charset="0"/>
                <a:ea typeface="HarmonyOS Sans SC" panose="00000500000000000000" pitchFamily="2" charset="-122"/>
                <a:cs typeface="Times New Roman" panose="02020603050405020304" charset="0"/>
              </a:rPr>
              <a:t>这个相等其实是用来判断都为空的，那么不用改变</a:t>
            </a:r>
            <a:r>
              <a:rPr lang="en-US" altLang="zh-CN" sz="2000" kern="100" dirty="0">
                <a:latin typeface="Times New Roman" panose="02020603050405020304" charset="0"/>
                <a:ea typeface="HarmonyOS Sans SC" panose="00000500000000000000" pitchFamily="2" charset="-122"/>
                <a:cs typeface="Times New Roman" panose="02020603050405020304" charset="0"/>
              </a:rPr>
              <a:t>flag</a:t>
            </a: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    if((root1 == NULL &amp;&amp; root2 != NULL) || (root2 == NULL &amp;&amp; root1 != NULL))</a:t>
            </a: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    {</a:t>
            </a: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        // </a:t>
            </a:r>
            <a:r>
              <a:rPr lang="zh-CN" altLang="en-US" sz="2000" kern="100" dirty="0">
                <a:latin typeface="Times New Roman" panose="02020603050405020304" charset="0"/>
                <a:ea typeface="HarmonyOS Sans SC" panose="00000500000000000000" pitchFamily="2" charset="-122"/>
                <a:cs typeface="Times New Roman" panose="02020603050405020304" charset="0"/>
              </a:rPr>
              <a:t>一棵为空一棵不为空，肯定是不同的</a:t>
            </a:r>
          </a:p>
          <a:p>
            <a:pPr algn="just">
              <a:lnSpc>
                <a:spcPct val="100000"/>
              </a:lnSpc>
            </a:pPr>
            <a:r>
              <a:rPr lang="zh-CN" altLang="en-US" sz="2000" kern="100" dirty="0">
                <a:latin typeface="Times New Roman" panose="02020603050405020304" charset="0"/>
                <a:ea typeface="HarmonyOS Sans SC" panose="00000500000000000000" pitchFamily="2" charset="-122"/>
                <a:cs typeface="Times New Roman" panose="02020603050405020304" charset="0"/>
              </a:rPr>
              <a:t>        </a:t>
            </a:r>
            <a:r>
              <a:rPr lang="en-US" altLang="zh-CN" sz="2000" kern="100" dirty="0">
                <a:latin typeface="Times New Roman" panose="02020603050405020304" charset="0"/>
                <a:ea typeface="HarmonyOS Sans SC" panose="00000500000000000000" pitchFamily="2" charset="-122"/>
                <a:cs typeface="Times New Roman" panose="02020603050405020304" charset="0"/>
              </a:rPr>
              <a:t>flag = false;</a:t>
            </a: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        return;</a:t>
            </a: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    }</a:t>
            </a:r>
          </a:p>
          <a:p>
            <a:pPr algn="just">
              <a:lnSpc>
                <a:spcPct val="100000"/>
              </a:lnSpc>
            </a:pPr>
            <a:endParaRPr lang="en-US" altLang="zh-CN" sz="2000" kern="100" dirty="0">
              <a:latin typeface="Times New Roman" panose="02020603050405020304" charset="0"/>
              <a:ea typeface="HarmonyOS Sans SC" panose="00000500000000000000" pitchFamily="2" charset="-122"/>
              <a:cs typeface="Times New Roman" panose="02020603050405020304" charset="0"/>
            </a:endParaRP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    if(root1-&gt;data != root2-&gt;data)</a:t>
            </a: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    {</a:t>
            </a: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        flag = false;</a:t>
            </a: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        return;</a:t>
            </a: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    }</a:t>
            </a:r>
          </a:p>
          <a:p>
            <a:pPr algn="just">
              <a:lnSpc>
                <a:spcPct val="100000"/>
              </a:lnSpc>
            </a:pPr>
            <a:endParaRPr lang="en-US" altLang="zh-CN" sz="2000" kern="100" dirty="0">
              <a:latin typeface="Times New Roman" panose="02020603050405020304" charset="0"/>
              <a:ea typeface="HarmonyOS Sans SC" panose="00000500000000000000" pitchFamily="2" charset="-122"/>
              <a:cs typeface="Times New Roman" panose="02020603050405020304" charset="0"/>
            </a:endParaRP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    judge(root1-&gt;left,root2-&gt;left);</a:t>
            </a: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    judge(root1-&gt;right, root2-&gt;right);</a:t>
            </a:r>
          </a:p>
          <a:p>
            <a:pPr algn="just">
              <a:lnSpc>
                <a:spcPct val="100000"/>
              </a:lnSpc>
            </a:pPr>
            <a:r>
              <a:rPr lang="en-US" altLang="zh-CN" sz="2000" kern="100" dirty="0">
                <a:latin typeface="Times New Roman" panose="02020603050405020304" charset="0"/>
                <a:ea typeface="HarmonyOS Sans SC" panose="00000500000000000000" pitchFamily="2" charset="-122"/>
                <a:cs typeface="Times New Roman" panose="0202060305040502030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wipe(left)">
                                      <p:cBhvr>
                                        <p:cTn id="10" dur="500"/>
                                        <p:tgtEl>
                                          <p:spTgt spid="4">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wipe(left)">
                                      <p:cBhvr>
                                        <p:cTn id="13" dur="500"/>
                                        <p:tgtEl>
                                          <p:spTgt spid="4">
                                            <p:txEl>
                                              <p:pRg st="3" end="3"/>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wipe(left)">
                                      <p:cBhvr>
                                        <p:cTn id="16" dur="500"/>
                                        <p:tgtEl>
                                          <p:spTgt spid="4">
                                            <p:txEl>
                                              <p:pRg st="4" end="4"/>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wipe(left)">
                                      <p:cBhvr>
                                        <p:cTn id="19" dur="500"/>
                                        <p:tgtEl>
                                          <p:spTgt spid="4">
                                            <p:txEl>
                                              <p:pRg st="5" end="5"/>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wipe(left)">
                                      <p:cBhvr>
                                        <p:cTn id="22" dur="500"/>
                                        <p:tgtEl>
                                          <p:spTgt spid="4">
                                            <p:txEl>
                                              <p:pRg st="6" end="6"/>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wipe(left)">
                                      <p:cBhvr>
                                        <p:cTn id="25" dur="500"/>
                                        <p:tgtEl>
                                          <p:spTgt spid="4">
                                            <p:txEl>
                                              <p:pRg st="7" end="7"/>
                                            </p:txEl>
                                          </p:spTgt>
                                        </p:tgtEl>
                                      </p:cBhvr>
                                    </p:animEffect>
                                  </p:childTnLst>
                                </p:cTn>
                              </p:par>
                              <p:par>
                                <p:cTn id="26" presetID="22" presetClass="entr" presetSubtype="8" fill="hold" nodeType="with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animEffect transition="in" filter="wipe(left)">
                                      <p:cBhvr>
                                        <p:cTn id="28" dur="500"/>
                                        <p:tgtEl>
                                          <p:spTgt spid="4">
                                            <p:txEl>
                                              <p:pRg st="8" end="8"/>
                                            </p:txEl>
                                          </p:spTgt>
                                        </p:tgtEl>
                                      </p:cBhvr>
                                    </p:animEffect>
                                  </p:childTnLst>
                                </p:cTn>
                              </p:par>
                              <p:par>
                                <p:cTn id="29" presetID="22" presetClass="entr" presetSubtype="8"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animEffect transition="in" filter="wipe(left)">
                                      <p:cBhvr>
                                        <p:cTn id="31" dur="500"/>
                                        <p:tgtEl>
                                          <p:spTgt spid="4">
                                            <p:txEl>
                                              <p:pRg st="9" end="9"/>
                                            </p:txEl>
                                          </p:spTgt>
                                        </p:tgtEl>
                                      </p:cBhvr>
                                    </p:animEffect>
                                  </p:childTnLst>
                                </p:cTn>
                              </p:par>
                              <p:par>
                                <p:cTn id="32" presetID="22" presetClass="entr" presetSubtype="8" fill="hold" nodeType="withEffect">
                                  <p:stCondLst>
                                    <p:cond delay="0"/>
                                  </p:stCondLst>
                                  <p:childTnLst>
                                    <p:set>
                                      <p:cBhvr>
                                        <p:cTn id="33" dur="1" fill="hold">
                                          <p:stCondLst>
                                            <p:cond delay="0"/>
                                          </p:stCondLst>
                                        </p:cTn>
                                        <p:tgtEl>
                                          <p:spTgt spid="4">
                                            <p:txEl>
                                              <p:pRg st="10" end="10"/>
                                            </p:txEl>
                                          </p:spTgt>
                                        </p:tgtEl>
                                        <p:attrNameLst>
                                          <p:attrName>style.visibility</p:attrName>
                                        </p:attrNameLst>
                                      </p:cBhvr>
                                      <p:to>
                                        <p:strVal val="visible"/>
                                      </p:to>
                                    </p:set>
                                    <p:animEffect transition="in" filter="wipe(left)">
                                      <p:cBhvr>
                                        <p:cTn id="34" dur="500"/>
                                        <p:tgtEl>
                                          <p:spTgt spid="4">
                                            <p:txEl>
                                              <p:pRg st="10" end="10"/>
                                            </p:txEl>
                                          </p:spTgt>
                                        </p:tgtEl>
                                      </p:cBhvr>
                                    </p:animEffect>
                                  </p:childTnLst>
                                </p:cTn>
                              </p:par>
                              <p:par>
                                <p:cTn id="35" presetID="22" presetClass="entr" presetSubtype="8" fill="hold" nodeType="withEffect">
                                  <p:stCondLst>
                                    <p:cond delay="0"/>
                                  </p:stCondLst>
                                  <p:childTnLst>
                                    <p:set>
                                      <p:cBhvr>
                                        <p:cTn id="36" dur="1" fill="hold">
                                          <p:stCondLst>
                                            <p:cond delay="0"/>
                                          </p:stCondLst>
                                        </p:cTn>
                                        <p:tgtEl>
                                          <p:spTgt spid="4">
                                            <p:txEl>
                                              <p:pRg st="12" end="12"/>
                                            </p:txEl>
                                          </p:spTgt>
                                        </p:tgtEl>
                                        <p:attrNameLst>
                                          <p:attrName>style.visibility</p:attrName>
                                        </p:attrNameLst>
                                      </p:cBhvr>
                                      <p:to>
                                        <p:strVal val="visible"/>
                                      </p:to>
                                    </p:set>
                                    <p:animEffect transition="in" filter="wipe(left)">
                                      <p:cBhvr>
                                        <p:cTn id="37" dur="500"/>
                                        <p:tgtEl>
                                          <p:spTgt spid="4">
                                            <p:txEl>
                                              <p:pRg st="12" end="12"/>
                                            </p:txEl>
                                          </p:spTgt>
                                        </p:tgtEl>
                                      </p:cBhvr>
                                    </p:animEffect>
                                  </p:childTnLst>
                                </p:cTn>
                              </p:par>
                              <p:par>
                                <p:cTn id="38" presetID="22" presetClass="entr" presetSubtype="8" fill="hold" nodeType="withEffect">
                                  <p:stCondLst>
                                    <p:cond delay="0"/>
                                  </p:stCondLst>
                                  <p:childTnLst>
                                    <p:set>
                                      <p:cBhvr>
                                        <p:cTn id="39" dur="1" fill="hold">
                                          <p:stCondLst>
                                            <p:cond delay="0"/>
                                          </p:stCondLst>
                                        </p:cTn>
                                        <p:tgtEl>
                                          <p:spTgt spid="4">
                                            <p:txEl>
                                              <p:pRg st="13" end="13"/>
                                            </p:txEl>
                                          </p:spTgt>
                                        </p:tgtEl>
                                        <p:attrNameLst>
                                          <p:attrName>style.visibility</p:attrName>
                                        </p:attrNameLst>
                                      </p:cBhvr>
                                      <p:to>
                                        <p:strVal val="visible"/>
                                      </p:to>
                                    </p:set>
                                    <p:animEffect transition="in" filter="wipe(left)">
                                      <p:cBhvr>
                                        <p:cTn id="40" dur="500"/>
                                        <p:tgtEl>
                                          <p:spTgt spid="4">
                                            <p:txEl>
                                              <p:pRg st="13" end="13"/>
                                            </p:txEl>
                                          </p:spTgt>
                                        </p:tgtEl>
                                      </p:cBhvr>
                                    </p:animEffect>
                                  </p:childTnLst>
                                </p:cTn>
                              </p:par>
                              <p:par>
                                <p:cTn id="41" presetID="22" presetClass="entr" presetSubtype="8" fill="hold" nodeType="withEffect">
                                  <p:stCondLst>
                                    <p:cond delay="0"/>
                                  </p:stCondLst>
                                  <p:childTnLst>
                                    <p:set>
                                      <p:cBhvr>
                                        <p:cTn id="42" dur="1" fill="hold">
                                          <p:stCondLst>
                                            <p:cond delay="0"/>
                                          </p:stCondLst>
                                        </p:cTn>
                                        <p:tgtEl>
                                          <p:spTgt spid="4">
                                            <p:txEl>
                                              <p:pRg st="14" end="14"/>
                                            </p:txEl>
                                          </p:spTgt>
                                        </p:tgtEl>
                                        <p:attrNameLst>
                                          <p:attrName>style.visibility</p:attrName>
                                        </p:attrNameLst>
                                      </p:cBhvr>
                                      <p:to>
                                        <p:strVal val="visible"/>
                                      </p:to>
                                    </p:set>
                                    <p:animEffect transition="in" filter="wipe(left)">
                                      <p:cBhvr>
                                        <p:cTn id="43" dur="500"/>
                                        <p:tgtEl>
                                          <p:spTgt spid="4">
                                            <p:txEl>
                                              <p:pRg st="14" end="14"/>
                                            </p:txEl>
                                          </p:spTgt>
                                        </p:tgtEl>
                                      </p:cBhvr>
                                    </p:animEffect>
                                  </p:childTnLst>
                                </p:cTn>
                              </p:par>
                              <p:par>
                                <p:cTn id="44" presetID="22" presetClass="entr" presetSubtype="8" fill="hold" nodeType="withEffect">
                                  <p:stCondLst>
                                    <p:cond delay="0"/>
                                  </p:stCondLst>
                                  <p:childTnLst>
                                    <p:set>
                                      <p:cBhvr>
                                        <p:cTn id="45" dur="1" fill="hold">
                                          <p:stCondLst>
                                            <p:cond delay="0"/>
                                          </p:stCondLst>
                                        </p:cTn>
                                        <p:tgtEl>
                                          <p:spTgt spid="4">
                                            <p:txEl>
                                              <p:pRg st="15" end="15"/>
                                            </p:txEl>
                                          </p:spTgt>
                                        </p:tgtEl>
                                        <p:attrNameLst>
                                          <p:attrName>style.visibility</p:attrName>
                                        </p:attrNameLst>
                                      </p:cBhvr>
                                      <p:to>
                                        <p:strVal val="visible"/>
                                      </p:to>
                                    </p:set>
                                    <p:animEffect transition="in" filter="wipe(left)">
                                      <p:cBhvr>
                                        <p:cTn id="46" dur="500"/>
                                        <p:tgtEl>
                                          <p:spTgt spid="4">
                                            <p:txEl>
                                              <p:pRg st="15" end="15"/>
                                            </p:txEl>
                                          </p:spTgt>
                                        </p:tgtEl>
                                      </p:cBhvr>
                                    </p:animEffect>
                                  </p:childTnLst>
                                </p:cTn>
                              </p:par>
                              <p:par>
                                <p:cTn id="47" presetID="22" presetClass="entr" presetSubtype="8" fill="hold" nodeType="withEffect">
                                  <p:stCondLst>
                                    <p:cond delay="0"/>
                                  </p:stCondLst>
                                  <p:childTnLst>
                                    <p:set>
                                      <p:cBhvr>
                                        <p:cTn id="48" dur="1" fill="hold">
                                          <p:stCondLst>
                                            <p:cond delay="0"/>
                                          </p:stCondLst>
                                        </p:cTn>
                                        <p:tgtEl>
                                          <p:spTgt spid="4">
                                            <p:txEl>
                                              <p:pRg st="16" end="16"/>
                                            </p:txEl>
                                          </p:spTgt>
                                        </p:tgtEl>
                                        <p:attrNameLst>
                                          <p:attrName>style.visibility</p:attrName>
                                        </p:attrNameLst>
                                      </p:cBhvr>
                                      <p:to>
                                        <p:strVal val="visible"/>
                                      </p:to>
                                    </p:set>
                                    <p:animEffect transition="in" filter="wipe(left)">
                                      <p:cBhvr>
                                        <p:cTn id="49" dur="500"/>
                                        <p:tgtEl>
                                          <p:spTgt spid="4">
                                            <p:txEl>
                                              <p:pRg st="16" end="16"/>
                                            </p:txEl>
                                          </p:spTgt>
                                        </p:tgtEl>
                                      </p:cBhvr>
                                    </p:animEffect>
                                  </p:childTnLst>
                                </p:cTn>
                              </p:par>
                              <p:par>
                                <p:cTn id="50" presetID="22" presetClass="entr" presetSubtype="8" fill="hold" nodeType="withEffect">
                                  <p:stCondLst>
                                    <p:cond delay="0"/>
                                  </p:stCondLst>
                                  <p:childTnLst>
                                    <p:set>
                                      <p:cBhvr>
                                        <p:cTn id="51" dur="1" fill="hold">
                                          <p:stCondLst>
                                            <p:cond delay="0"/>
                                          </p:stCondLst>
                                        </p:cTn>
                                        <p:tgtEl>
                                          <p:spTgt spid="4">
                                            <p:txEl>
                                              <p:pRg st="18" end="18"/>
                                            </p:txEl>
                                          </p:spTgt>
                                        </p:tgtEl>
                                        <p:attrNameLst>
                                          <p:attrName>style.visibility</p:attrName>
                                        </p:attrNameLst>
                                      </p:cBhvr>
                                      <p:to>
                                        <p:strVal val="visible"/>
                                      </p:to>
                                    </p:set>
                                    <p:animEffect transition="in" filter="wipe(left)">
                                      <p:cBhvr>
                                        <p:cTn id="52" dur="500"/>
                                        <p:tgtEl>
                                          <p:spTgt spid="4">
                                            <p:txEl>
                                              <p:pRg st="18" end="18"/>
                                            </p:txEl>
                                          </p:spTgt>
                                        </p:tgtEl>
                                      </p:cBhvr>
                                    </p:animEffect>
                                  </p:childTnLst>
                                </p:cTn>
                              </p:par>
                              <p:par>
                                <p:cTn id="53" presetID="22" presetClass="entr" presetSubtype="8" fill="hold" nodeType="withEffect">
                                  <p:stCondLst>
                                    <p:cond delay="0"/>
                                  </p:stCondLst>
                                  <p:childTnLst>
                                    <p:set>
                                      <p:cBhvr>
                                        <p:cTn id="54" dur="1" fill="hold">
                                          <p:stCondLst>
                                            <p:cond delay="0"/>
                                          </p:stCondLst>
                                        </p:cTn>
                                        <p:tgtEl>
                                          <p:spTgt spid="4">
                                            <p:txEl>
                                              <p:pRg st="19" end="19"/>
                                            </p:txEl>
                                          </p:spTgt>
                                        </p:tgtEl>
                                        <p:attrNameLst>
                                          <p:attrName>style.visibility</p:attrName>
                                        </p:attrNameLst>
                                      </p:cBhvr>
                                      <p:to>
                                        <p:strVal val="visible"/>
                                      </p:to>
                                    </p:set>
                                    <p:animEffect transition="in" filter="wipe(left)">
                                      <p:cBhvr>
                                        <p:cTn id="55" dur="500"/>
                                        <p:tgtEl>
                                          <p:spTgt spid="4">
                                            <p:txEl>
                                              <p:pRg st="19" end="19"/>
                                            </p:txEl>
                                          </p:spTgt>
                                        </p:tgtEl>
                                      </p:cBhvr>
                                    </p:animEffect>
                                  </p:childTnLst>
                                </p:cTn>
                              </p:par>
                              <p:par>
                                <p:cTn id="56" presetID="22" presetClass="entr" presetSubtype="8" fill="hold" nodeType="withEffect">
                                  <p:stCondLst>
                                    <p:cond delay="0"/>
                                  </p:stCondLst>
                                  <p:childTnLst>
                                    <p:set>
                                      <p:cBhvr>
                                        <p:cTn id="57" dur="1" fill="hold">
                                          <p:stCondLst>
                                            <p:cond delay="0"/>
                                          </p:stCondLst>
                                        </p:cTn>
                                        <p:tgtEl>
                                          <p:spTgt spid="4">
                                            <p:txEl>
                                              <p:pRg st="20" end="20"/>
                                            </p:txEl>
                                          </p:spTgt>
                                        </p:tgtEl>
                                        <p:attrNameLst>
                                          <p:attrName>style.visibility</p:attrName>
                                        </p:attrNameLst>
                                      </p:cBhvr>
                                      <p:to>
                                        <p:strVal val="visible"/>
                                      </p:to>
                                    </p:set>
                                    <p:animEffect transition="in" filter="wipe(left)">
                                      <p:cBhvr>
                                        <p:cTn id="58" dur="500"/>
                                        <p:tgtEl>
                                          <p:spTgt spid="4">
                                            <p:txEl>
                                              <p:pRg st="20" end="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656562"/>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2" y="207141"/>
            <a:ext cx="11723451"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21】</a:t>
            </a:r>
            <a:r>
              <a:rPr lang="zh-CN" altLang="en-US" sz="2400" kern="100" dirty="0">
                <a:latin typeface="Times New Roman" panose="02020603050405020304" charset="0"/>
                <a:ea typeface="HarmonyOS Sans SC" panose="00000500000000000000" pitchFamily="2" charset="-122"/>
                <a:cs typeface="Times New Roman" panose="02020603050405020304" charset="0"/>
              </a:rPr>
              <a:t>设给定 </a:t>
            </a:r>
            <a:r>
              <a:rPr lang="en-US" altLang="zh-CN" sz="2400" kern="100" dirty="0">
                <a:latin typeface="Times New Roman" panose="02020603050405020304" charset="0"/>
                <a:ea typeface="HarmonyOS Sans SC" panose="00000500000000000000" pitchFamily="2" charset="-122"/>
                <a:cs typeface="Times New Roman" panose="02020603050405020304" charset="0"/>
              </a:rPr>
              <a:t>N </a:t>
            </a:r>
            <a:r>
              <a:rPr lang="zh-CN" altLang="en-US" sz="2400" kern="100" dirty="0">
                <a:latin typeface="Times New Roman" panose="02020603050405020304" charset="0"/>
                <a:ea typeface="HarmonyOS Sans SC" panose="00000500000000000000" pitchFamily="2" charset="-122"/>
                <a:cs typeface="Times New Roman" panose="02020603050405020304" charset="0"/>
              </a:rPr>
              <a:t>个不同权值的关键字，则其构造生成的哈夫曼树共有的结点数为</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N-1</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2N-1</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2N</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2N+1</a:t>
            </a:r>
          </a:p>
        </p:txBody>
      </p:sp>
      <p:sp>
        <p:nvSpPr>
          <p:cNvPr id="12" name="文本框 11"/>
          <p:cNvSpPr txBox="1"/>
          <p:nvPr/>
        </p:nvSpPr>
        <p:spPr>
          <a:xfrm>
            <a:off x="949526" y="842597"/>
            <a:ext cx="508246"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B</a:t>
            </a:r>
            <a:endParaRPr lang="zh-CN" altLang="en-US" sz="2400" b="1" dirty="0">
              <a:solidFill>
                <a:srgbClr val="FF0000"/>
              </a:solidFill>
            </a:endParaRPr>
          </a:p>
        </p:txBody>
      </p:sp>
      <p:sp>
        <p:nvSpPr>
          <p:cNvPr id="5" name="文本框 4"/>
          <p:cNvSpPr txBox="1"/>
          <p:nvPr/>
        </p:nvSpPr>
        <p:spPr>
          <a:xfrm>
            <a:off x="214600" y="3683311"/>
            <a:ext cx="11641486" cy="1136593"/>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本题可以用特值法得出</a:t>
            </a:r>
            <a:r>
              <a:rPr lang="en-US" altLang="zh-CN" sz="2400" kern="100" dirty="0">
                <a:latin typeface="Times New Roman" panose="02020603050405020304" charset="0"/>
                <a:ea typeface="HarmonyOS Sans SC" panose="00000500000000000000" pitchFamily="2" charset="-122"/>
                <a:cs typeface="Times New Roman" panose="02020603050405020304" charset="0"/>
              </a:rPr>
              <a:t>2N-1</a:t>
            </a:r>
            <a:r>
              <a:rPr lang="zh-CN" altLang="en-US" sz="2400" kern="100" dirty="0">
                <a:latin typeface="Times New Roman" panose="02020603050405020304" charset="0"/>
                <a:ea typeface="HarmonyOS Sans SC" panose="00000500000000000000" pitchFamily="2" charset="-122"/>
                <a:cs typeface="Times New Roman" panose="02020603050405020304" charset="0"/>
              </a:rPr>
              <a:t>，同时也可以通过归纳法从</a:t>
            </a:r>
            <a:r>
              <a:rPr lang="en-US" altLang="zh-CN" sz="2400" kern="100" dirty="0">
                <a:latin typeface="Times New Roman" panose="02020603050405020304" charset="0"/>
                <a:ea typeface="HarmonyOS Sans SC" panose="00000500000000000000" pitchFamily="2" charset="-122"/>
                <a:cs typeface="Times New Roman" panose="02020603050405020304" charset="0"/>
              </a:rPr>
              <a:t>2</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个关键字开始操作得出结论。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511858"/>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22】</a:t>
            </a:r>
            <a:r>
              <a:rPr lang="zh-CN" altLang="en-US" sz="2400" kern="100" dirty="0">
                <a:latin typeface="Times New Roman" panose="02020603050405020304" charset="0"/>
                <a:ea typeface="HarmonyOS Sans SC" panose="00000500000000000000" pitchFamily="2" charset="-122"/>
                <a:cs typeface="Times New Roman" panose="02020603050405020304" charset="0"/>
              </a:rPr>
              <a:t>若非空二叉树的先序序列与后序序列的次序正好相同，则该二叉树一定是</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的二叉树。</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、仅有一个结点</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、其分支结点无左子树</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、其分支结点无右子树</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、其分支结点的度都为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1</a:t>
            </a:r>
          </a:p>
        </p:txBody>
      </p:sp>
      <p:sp>
        <p:nvSpPr>
          <p:cNvPr id="12" name="文本框 11"/>
          <p:cNvSpPr txBox="1"/>
          <p:nvPr/>
        </p:nvSpPr>
        <p:spPr>
          <a:xfrm>
            <a:off x="501657" y="842597"/>
            <a:ext cx="508246"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A</a:t>
            </a:r>
            <a:endParaRPr lang="zh-CN" altLang="en-US" sz="2400" b="1" dirty="0">
              <a:solidFill>
                <a:srgbClr val="FF0000"/>
              </a:solidFill>
            </a:endParaRPr>
          </a:p>
        </p:txBody>
      </p:sp>
      <p:sp>
        <p:nvSpPr>
          <p:cNvPr id="5" name="文本框 4"/>
          <p:cNvSpPr txBox="1"/>
          <p:nvPr/>
        </p:nvSpPr>
        <p:spPr>
          <a:xfrm>
            <a:off x="229235" y="3559810"/>
            <a:ext cx="11917680" cy="1753235"/>
          </a:xfrm>
          <a:prstGeom prst="rect">
            <a:avLst/>
          </a:prstGeom>
          <a:noFill/>
        </p:spPr>
        <p:txBody>
          <a:bodyPr wrap="square">
            <a:spAutoFit/>
          </a:bodyPr>
          <a:lstStyle/>
          <a:p>
            <a:pPr algn="l">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l">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先序遍历序列是“根左右”，后序遍历序列是“ 左右根”，若要两个序列相同，则该二叉树为室树或仅有一个根结点。而题目中已说明二叉树为非空二叉树，所以答案为选项 </a:t>
            </a:r>
            <a:r>
              <a:rPr lang="en-US" altLang="zh-CN" sz="2400" kern="100" dirty="0">
                <a:latin typeface="Times New Roman" panose="02020603050405020304" charset="0"/>
                <a:ea typeface="HarmonyOS Sans SC" panose="00000500000000000000" pitchFamily="2" charset="-122"/>
                <a:cs typeface="Times New Roman" panose="02020603050405020304" charset="0"/>
              </a:rPr>
              <a:t>A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087555"/>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2798587"/>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23】</a:t>
            </a:r>
            <a:r>
              <a:rPr lang="zh-CN" altLang="en-US" sz="2400" kern="100" dirty="0">
                <a:latin typeface="Times New Roman" panose="02020603050405020304" charset="0"/>
                <a:ea typeface="HarmonyOS Sans SC" panose="00000500000000000000" pitchFamily="2" charset="-122"/>
                <a:cs typeface="Times New Roman" panose="02020603050405020304" charset="0"/>
              </a:rPr>
              <a:t>一棵完全二叉树上有 </a:t>
            </a:r>
            <a:r>
              <a:rPr lang="en-US" altLang="zh-CN" sz="2400" kern="100" dirty="0">
                <a:latin typeface="Times New Roman" panose="02020603050405020304" charset="0"/>
                <a:ea typeface="HarmonyOS Sans SC" panose="00000500000000000000" pitchFamily="2" charset="-122"/>
                <a:cs typeface="Times New Roman" panose="02020603050405020304" charset="0"/>
              </a:rPr>
              <a:t>1001 </a:t>
            </a:r>
            <a:r>
              <a:rPr lang="zh-CN" altLang="en-US" sz="2400" kern="100" dirty="0">
                <a:latin typeface="Times New Roman" panose="02020603050405020304" charset="0"/>
                <a:ea typeface="HarmonyOS Sans SC" panose="00000500000000000000" pitchFamily="2" charset="-122"/>
                <a:cs typeface="Times New Roman" panose="02020603050405020304" charset="0"/>
              </a:rPr>
              <a:t>个结点，其中叶子结点的个数是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250</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500</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254</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、以上答案都不对</a:t>
            </a:r>
          </a:p>
        </p:txBody>
      </p:sp>
      <p:sp>
        <p:nvSpPr>
          <p:cNvPr id="12" name="文本框 11"/>
          <p:cNvSpPr txBox="1"/>
          <p:nvPr/>
        </p:nvSpPr>
        <p:spPr>
          <a:xfrm>
            <a:off x="9449714" y="325757"/>
            <a:ext cx="508246"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D</a:t>
            </a:r>
          </a:p>
        </p:txBody>
      </p:sp>
      <p:sp>
        <p:nvSpPr>
          <p:cNvPr id="5" name="文本框 4"/>
          <p:cNvSpPr txBox="1"/>
          <p:nvPr/>
        </p:nvSpPr>
        <p:spPr>
          <a:xfrm>
            <a:off x="214600" y="3121634"/>
            <a:ext cx="11641486" cy="3415030"/>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设二叉树中度为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0</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的叶子结点个数为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0</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，度为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结点个数为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1</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，度为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2</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结点个数为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2</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，则</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0</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 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1</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 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2 </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1001</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根据二叉树性质：</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0</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 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2 </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+ 1</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，代入</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0 </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1</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 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2 </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1001</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得到</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2n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2</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+ 1+ 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1 </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1001</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，即</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2n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2</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1</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=1000</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，由于完全二叉树的</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1</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只能是</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0</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或者</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，为满足</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2n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2</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  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1</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 1000</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，必须</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1</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=0</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，因此</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2</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 500</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，所以</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a:t>
            </a:r>
            <a:r>
              <a:rPr lang="en-US" altLang="zh-CN" sz="2400" kern="100" baseline="-25000" dirty="0">
                <a:effectLst/>
                <a:latin typeface="Times New Roman" panose="02020603050405020304" charset="0"/>
                <a:ea typeface="HarmonyOS Sans SC" panose="00000500000000000000" pitchFamily="2" charset="-122"/>
                <a:cs typeface="Times New Roman" panose="02020603050405020304" charset="0"/>
              </a:rPr>
              <a:t>0</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 501</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，即叶子个数是</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501</a:t>
            </a:r>
            <a:r>
              <a:rPr lang="zh-CN" altLang="zh-CN" sz="2400" kern="100" dirty="0">
                <a:effectLst/>
                <a:latin typeface="Times New Roman" panose="02020603050405020304" charset="0"/>
                <a:ea typeface="HarmonyOS Sans SC" panose="00000500000000000000" pitchFamily="2" charset="-122"/>
                <a:cs typeface="Times New Roman" panose="02020603050405020304" charset="0"/>
              </a:rPr>
              <a:t>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665452"/>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24】</a:t>
            </a:r>
            <a:r>
              <a:rPr lang="zh-CN" altLang="en-US" sz="2400" kern="100" dirty="0">
                <a:latin typeface="Times New Roman" panose="02020603050405020304" charset="0"/>
                <a:ea typeface="HarmonyOS Sans SC" panose="00000500000000000000" pitchFamily="2" charset="-122"/>
                <a:cs typeface="Times New Roman" panose="02020603050405020304" charset="0"/>
              </a:rPr>
              <a:t>在一棵二叉树中，度为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2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的结点有 </a:t>
            </a:r>
            <a:r>
              <a:rPr lang="en-US" altLang="zh-CN" sz="2400" kern="100" dirty="0">
                <a:latin typeface="Times New Roman" panose="02020603050405020304" charset="0"/>
                <a:ea typeface="HarmonyOS Sans SC" panose="00000500000000000000" pitchFamily="2" charset="-122"/>
                <a:cs typeface="Times New Roman" panose="02020603050405020304" charset="0"/>
              </a:rPr>
              <a:t>15 </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个，度为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1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的结点有 </a:t>
            </a:r>
            <a:r>
              <a:rPr lang="en-US" altLang="zh-CN" sz="2400" kern="100" dirty="0">
                <a:latin typeface="Times New Roman" panose="02020603050405020304" charset="0"/>
                <a:ea typeface="HarmonyOS Sans SC" panose="00000500000000000000" pitchFamily="2" charset="-122"/>
                <a:cs typeface="Times New Roman" panose="02020603050405020304" charset="0"/>
              </a:rPr>
              <a:t>2 </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个，则度为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0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的结点数为</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13</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15</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16</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17</a:t>
            </a:r>
          </a:p>
        </p:txBody>
      </p:sp>
      <p:sp>
        <p:nvSpPr>
          <p:cNvPr id="12" name="文本框 11"/>
          <p:cNvSpPr txBox="1"/>
          <p:nvPr/>
        </p:nvSpPr>
        <p:spPr>
          <a:xfrm>
            <a:off x="1686204" y="904827"/>
            <a:ext cx="508246"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C</a:t>
            </a:r>
            <a:endParaRPr lang="zh-CN" altLang="en-US" sz="2400" b="1" dirty="0">
              <a:solidFill>
                <a:srgbClr val="FF0000"/>
              </a:solidFill>
            </a:endParaRPr>
          </a:p>
        </p:txBody>
      </p:sp>
      <p:sp>
        <p:nvSpPr>
          <p:cNvPr id="5" name="文本框 4"/>
          <p:cNvSpPr txBox="1"/>
          <p:nvPr/>
        </p:nvSpPr>
        <p:spPr>
          <a:xfrm>
            <a:off x="214600" y="3713064"/>
            <a:ext cx="11641486" cy="1690591"/>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本题考查的是二叉树的性质。叶结点是度为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0</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结点。对任何一棵二叉树</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T</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，如果其终端结点数为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n0</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，度为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的结点数为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，则</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n0=n2+1</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。所以，在本题中叶结点数：</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15+1=16</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effectLst/>
              <a:latin typeface="Times New Roman" panose="02020603050405020304" charset="0"/>
              <a:ea typeface="HarmonyOS Sans SC" panose="00000500000000000000" pitchFamily="2" charset="-122"/>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2659793"/>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1753235"/>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25】</a:t>
            </a:r>
            <a:r>
              <a:rPr lang="zh-CN" altLang="en-US" sz="2400" kern="100" dirty="0">
                <a:latin typeface="Times New Roman" panose="02020603050405020304" charset="0"/>
                <a:ea typeface="HarmonyOS Sans SC" panose="00000500000000000000" pitchFamily="2" charset="-122"/>
                <a:cs typeface="Times New Roman" panose="02020603050405020304" charset="0"/>
              </a:rPr>
              <a:t>对下图所示的带权有向图：</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a:p>
            <a:pPr indent="457200"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问题</a:t>
            </a:r>
            <a:r>
              <a:rPr lang="en-US" altLang="zh-CN" sz="2400" kern="100" dirty="0">
                <a:latin typeface="Times New Roman" panose="02020603050405020304" charset="0"/>
                <a:ea typeface="HarmonyOS Sans SC" panose="00000500000000000000" pitchFamily="2" charset="-122"/>
                <a:cs typeface="Times New Roman" panose="02020603050405020304" charset="0"/>
              </a:rPr>
              <a:t>1</a:t>
            </a:r>
            <a:r>
              <a:rPr lang="zh-CN" altLang="en-US" sz="2400" kern="100" dirty="0">
                <a:latin typeface="Times New Roman" panose="02020603050405020304" charset="0"/>
                <a:ea typeface="HarmonyOS Sans SC" panose="00000500000000000000" pitchFamily="2" charset="-122"/>
                <a:cs typeface="Times New Roman" panose="02020603050405020304" charset="0"/>
              </a:rPr>
              <a:t>：给出该图的邻接矩阵。</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a:p>
            <a:pPr indent="457200"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问题</a:t>
            </a:r>
            <a:r>
              <a:rPr lang="en-US" altLang="zh-CN" sz="2400" kern="100" dirty="0">
                <a:latin typeface="Times New Roman" panose="02020603050405020304" charset="0"/>
                <a:ea typeface="HarmonyOS Sans SC" panose="00000500000000000000" pitchFamily="2" charset="-122"/>
                <a:cs typeface="Times New Roman" panose="02020603050405020304" charset="0"/>
              </a:rPr>
              <a:t>2</a:t>
            </a:r>
            <a:r>
              <a:rPr lang="zh-CN" altLang="en-US" sz="2400" kern="100" dirty="0">
                <a:latin typeface="Times New Roman" panose="02020603050405020304" charset="0"/>
                <a:ea typeface="HarmonyOS Sans SC" panose="00000500000000000000" pitchFamily="2" charset="-122"/>
                <a:cs typeface="Times New Roman" panose="02020603050405020304" charset="0"/>
              </a:rPr>
              <a:t>：给出该图的邻接表。</a:t>
            </a:r>
          </a:p>
        </p:txBody>
      </p:sp>
      <p:pic>
        <p:nvPicPr>
          <p:cNvPr id="3" name="图片 2"/>
          <p:cNvPicPr>
            <a:picLocks noChangeAspect="1"/>
          </p:cNvPicPr>
          <p:nvPr/>
        </p:nvPicPr>
        <p:blipFill>
          <a:blip r:embed="rId2">
            <a:lum bright="-24000" contrast="12000"/>
            <a:extLst>
              <a:ext uri="{28A0092B-C50C-407E-A947-70E740481C1C}">
                <a14:useLocalDpi xmlns:a14="http://schemas.microsoft.com/office/drawing/2010/main" val="0"/>
              </a:ext>
            </a:extLst>
          </a:blip>
          <a:srcRect/>
          <a:stretch>
            <a:fillRect/>
          </a:stretch>
        </p:blipFill>
        <p:spPr bwMode="auto">
          <a:xfrm>
            <a:off x="6688455" y="209550"/>
            <a:ext cx="3110865" cy="2332990"/>
          </a:xfrm>
          <a:prstGeom prst="rect">
            <a:avLst/>
          </a:prstGeom>
          <a:noFill/>
          <a:ln>
            <a:noFill/>
          </a:ln>
        </p:spPr>
      </p:pic>
      <p:grpSp>
        <p:nvGrpSpPr>
          <p:cNvPr id="7" name="组合 6"/>
          <p:cNvGrpSpPr/>
          <p:nvPr/>
        </p:nvGrpSpPr>
        <p:grpSpPr>
          <a:xfrm>
            <a:off x="214600" y="2875791"/>
            <a:ext cx="11641486" cy="2792730"/>
            <a:chOff x="214600" y="3890864"/>
            <a:chExt cx="11641486" cy="2792730"/>
          </a:xfrm>
        </p:grpSpPr>
        <p:sp>
          <p:nvSpPr>
            <p:cNvPr id="5" name="文本框 4"/>
            <p:cNvSpPr txBox="1"/>
            <p:nvPr/>
          </p:nvSpPr>
          <p:spPr>
            <a:xfrm>
              <a:off x="214600" y="3890864"/>
              <a:ext cx="11641486" cy="582595"/>
            </a:xfrm>
            <a:prstGeom prst="rect">
              <a:avLst/>
            </a:prstGeom>
            <a:noFill/>
          </p:spPr>
          <p:txBody>
            <a:bodyPr wrap="square">
              <a:spAutoFit/>
            </a:bodyPr>
            <a:lstStyle/>
            <a:p>
              <a:pPr algn="just">
                <a:lnSpc>
                  <a:spcPct val="150000"/>
                </a:lnSpc>
              </a:pPr>
              <a:r>
                <a:rPr lang="zh-CN" altLang="en-US"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问题</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1</a:t>
              </a:r>
              <a:r>
                <a:rPr lang="zh-CN" altLang="en-US"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、答案：</a:t>
              </a:r>
              <a:endParaRPr lang="zh-CN" altLang="zh-CN" sz="2400" kern="100" dirty="0">
                <a:effectLst/>
                <a:latin typeface="Times New Roman" panose="02020603050405020304" charset="0"/>
                <a:ea typeface="HarmonyOS Sans SC" panose="00000500000000000000" pitchFamily="2" charset="-122"/>
                <a:cs typeface="Times New Roman" panose="02020603050405020304" charset="0"/>
              </a:endParaRPr>
            </a:p>
          </p:txBody>
        </p:sp>
        <p:pic>
          <p:nvPicPr>
            <p:cNvPr id="6" name="图片 5"/>
            <p:cNvPicPr>
              <a:picLocks noChangeAspect="1"/>
            </p:cNvPicPr>
            <p:nvPr/>
          </p:nvPicPr>
          <p:blipFill>
            <a:blip r:embed="rId3">
              <a:grayscl/>
              <a:lum bright="-12000" contrast="48000"/>
            </a:blip>
            <a:stretch>
              <a:fillRect/>
            </a:stretch>
          </p:blipFill>
          <p:spPr>
            <a:xfrm>
              <a:off x="601950" y="4703029"/>
              <a:ext cx="3220720" cy="1980565"/>
            </a:xfrm>
            <a:prstGeom prst="rect">
              <a:avLst/>
            </a:prstGeom>
          </p:spPr>
        </p:pic>
      </p:grpSp>
      <p:grpSp>
        <p:nvGrpSpPr>
          <p:cNvPr id="8" name="组合 7"/>
          <p:cNvGrpSpPr/>
          <p:nvPr/>
        </p:nvGrpSpPr>
        <p:grpSpPr>
          <a:xfrm>
            <a:off x="4490807" y="2875791"/>
            <a:ext cx="6846570" cy="3115945"/>
            <a:chOff x="-399604" y="3550863"/>
            <a:chExt cx="6846570" cy="3115945"/>
          </a:xfrm>
        </p:grpSpPr>
        <p:sp>
          <p:nvSpPr>
            <p:cNvPr id="9" name="文本框 8"/>
            <p:cNvSpPr txBox="1"/>
            <p:nvPr/>
          </p:nvSpPr>
          <p:spPr>
            <a:xfrm>
              <a:off x="-399604" y="3550863"/>
              <a:ext cx="6466118" cy="582595"/>
            </a:xfrm>
            <a:prstGeom prst="rect">
              <a:avLst/>
            </a:prstGeom>
            <a:noFill/>
          </p:spPr>
          <p:txBody>
            <a:bodyPr wrap="square">
              <a:spAutoFit/>
            </a:bodyPr>
            <a:lstStyle/>
            <a:p>
              <a:pPr algn="just">
                <a:lnSpc>
                  <a:spcPct val="150000"/>
                </a:lnSpc>
              </a:pPr>
              <a:r>
                <a:rPr lang="zh-CN" altLang="en-US"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问题</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2</a:t>
              </a:r>
              <a:r>
                <a:rPr lang="zh-CN" altLang="en-US"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、答案：</a:t>
              </a:r>
              <a:endParaRPr lang="zh-CN" altLang="zh-CN" sz="2400" kern="100" dirty="0">
                <a:effectLst/>
                <a:latin typeface="Times New Roman" panose="02020603050405020304" charset="0"/>
                <a:ea typeface="HarmonyOS Sans SC" panose="00000500000000000000" pitchFamily="2" charset="-122"/>
                <a:cs typeface="Times New Roman" panose="02020603050405020304" charset="0"/>
              </a:endParaRPr>
            </a:p>
          </p:txBody>
        </p:sp>
        <p:pic>
          <p:nvPicPr>
            <p:cNvPr id="10" name="图片 9"/>
            <p:cNvPicPr>
              <a:picLocks noChangeAspect="1"/>
            </p:cNvPicPr>
            <p:nvPr/>
          </p:nvPicPr>
          <p:blipFill>
            <a:blip r:embed="rId4">
              <a:lum bright="-54000" contrast="30000"/>
              <a:extLst>
                <a:ext uri="{28A0092B-C50C-407E-A947-70E740481C1C}">
                  <a14:useLocalDpi xmlns:a14="http://schemas.microsoft.com/office/drawing/2010/main" val="0"/>
                </a:ext>
              </a:extLst>
            </a:blip>
            <a:srcRect/>
            <a:stretch>
              <a:fillRect/>
            </a:stretch>
          </p:blipFill>
          <p:spPr bwMode="auto">
            <a:xfrm>
              <a:off x="1606361" y="3628968"/>
              <a:ext cx="4840605" cy="3037840"/>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214600" y="2703878"/>
            <a:ext cx="11641486" cy="3352584"/>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书写带权有向图的邻接矩阵时，若根据图得出顶点</a:t>
            </a:r>
            <a:r>
              <a:rPr lang="en-US" altLang="zh-CN" sz="2400" kern="100" dirty="0" err="1">
                <a:effectLst/>
                <a:latin typeface="Times New Roman" panose="02020603050405020304" charset="0"/>
                <a:ea typeface="HarmonyOS Sans SC" panose="00000500000000000000" pitchFamily="2" charset="-122"/>
                <a:cs typeface="Times New Roman" panose="02020603050405020304" charset="0"/>
              </a:rPr>
              <a:t>i</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到顶点</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j</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之间有边，就将这条边的权值放在矩阵对应位置上，若两点之间无边，矩阵的相应位置处就填为∞  。</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图的邻接表存储结构，就是为图的每个顶点建立一个单链表，每个单链表的除表头之外的结点代表着与该单链表的表头结点之间存在边，根据这种方式，可以得出如上的邻接表。</a:t>
            </a:r>
          </a:p>
        </p:txBody>
      </p:sp>
      <p:sp>
        <p:nvSpPr>
          <p:cNvPr id="5" name="文本框 4"/>
          <p:cNvSpPr txBox="1"/>
          <p:nvPr/>
        </p:nvSpPr>
        <p:spPr>
          <a:xfrm>
            <a:off x="229063" y="207141"/>
            <a:ext cx="11627024" cy="1753235"/>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25】</a:t>
            </a:r>
            <a:r>
              <a:rPr lang="zh-CN" altLang="en-US" sz="2400" kern="100" dirty="0">
                <a:latin typeface="Times New Roman" panose="02020603050405020304" charset="0"/>
                <a:ea typeface="HarmonyOS Sans SC" panose="00000500000000000000" pitchFamily="2" charset="-122"/>
                <a:cs typeface="Times New Roman" panose="02020603050405020304" charset="0"/>
              </a:rPr>
              <a:t>对下图所示的带权有向图：</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a:p>
            <a:pPr indent="457200"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问题</a:t>
            </a:r>
            <a:r>
              <a:rPr lang="en-US" altLang="zh-CN" sz="2400" kern="100" dirty="0">
                <a:latin typeface="Times New Roman" panose="02020603050405020304" charset="0"/>
                <a:ea typeface="HarmonyOS Sans SC" panose="00000500000000000000" pitchFamily="2" charset="-122"/>
                <a:cs typeface="Times New Roman" panose="02020603050405020304" charset="0"/>
              </a:rPr>
              <a:t>1</a:t>
            </a:r>
            <a:r>
              <a:rPr lang="zh-CN" altLang="en-US" sz="2400" kern="100" dirty="0">
                <a:latin typeface="Times New Roman" panose="02020603050405020304" charset="0"/>
                <a:ea typeface="HarmonyOS Sans SC" panose="00000500000000000000" pitchFamily="2" charset="-122"/>
                <a:cs typeface="Times New Roman" panose="02020603050405020304" charset="0"/>
              </a:rPr>
              <a:t>：给出该图的邻接矩阵。</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a:p>
            <a:pPr indent="457200"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问题</a:t>
            </a:r>
            <a:r>
              <a:rPr lang="en-US" altLang="zh-CN" sz="2400" kern="100" dirty="0">
                <a:latin typeface="Times New Roman" panose="02020603050405020304" charset="0"/>
                <a:ea typeface="HarmonyOS Sans SC" panose="00000500000000000000" pitchFamily="2" charset="-122"/>
                <a:cs typeface="Times New Roman" panose="02020603050405020304" charset="0"/>
              </a:rPr>
              <a:t>2</a:t>
            </a:r>
            <a:r>
              <a:rPr lang="zh-CN" altLang="en-US" sz="2400" kern="100" dirty="0">
                <a:latin typeface="Times New Roman" panose="02020603050405020304" charset="0"/>
                <a:ea typeface="HarmonyOS Sans SC" panose="00000500000000000000" pitchFamily="2" charset="-122"/>
                <a:cs typeface="Times New Roman" panose="02020603050405020304" charset="0"/>
              </a:rPr>
              <a:t>：给出该图的邻接表。</a:t>
            </a:r>
          </a:p>
        </p:txBody>
      </p:sp>
      <p:pic>
        <p:nvPicPr>
          <p:cNvPr id="6" name="图片 5"/>
          <p:cNvPicPr>
            <a:picLocks noChangeAspect="1"/>
          </p:cNvPicPr>
          <p:nvPr/>
        </p:nvPicPr>
        <p:blipFill>
          <a:blip r:embed="rId2">
            <a:lum bright="-24000" contrast="12000"/>
            <a:extLst>
              <a:ext uri="{28A0092B-C50C-407E-A947-70E740481C1C}">
                <a14:useLocalDpi xmlns:a14="http://schemas.microsoft.com/office/drawing/2010/main" val="0"/>
              </a:ext>
            </a:extLst>
          </a:blip>
          <a:srcRect/>
          <a:stretch>
            <a:fillRect/>
          </a:stretch>
        </p:blipFill>
        <p:spPr bwMode="auto">
          <a:xfrm>
            <a:off x="6688455" y="209550"/>
            <a:ext cx="3110865" cy="2332990"/>
          </a:xfrm>
          <a:prstGeom prst="rect">
            <a:avLst/>
          </a:prstGeom>
          <a:noFill/>
          <a:ln>
            <a:noFill/>
          </a:ln>
        </p:spPr>
      </p:pic>
      <p:sp>
        <p:nvSpPr>
          <p:cNvPr id="7" name="矩形 13"/>
          <p:cNvSpPr/>
          <p:nvPr/>
        </p:nvSpPr>
        <p:spPr>
          <a:xfrm>
            <a:off x="335598" y="2659793"/>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607543"/>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26】</a:t>
            </a:r>
            <a:r>
              <a:rPr lang="zh-CN" altLang="en-US" sz="2400" kern="100" dirty="0">
                <a:latin typeface="Times New Roman" panose="02020603050405020304" charset="0"/>
                <a:ea typeface="HarmonyOS Sans SC" panose="00000500000000000000" pitchFamily="2" charset="-122"/>
                <a:cs typeface="Times New Roman" panose="02020603050405020304" charset="0"/>
              </a:rPr>
              <a:t>对某个带权连通图构造最小生成树，以下说法正确的是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                </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I </a:t>
            </a:r>
            <a:r>
              <a:rPr lang="zh-CN" altLang="en-US" sz="2400" kern="100" dirty="0">
                <a:latin typeface="Times New Roman" panose="02020603050405020304" charset="0"/>
                <a:ea typeface="HarmonyOS Sans SC" panose="00000500000000000000" pitchFamily="2" charset="-122"/>
                <a:cs typeface="Times New Roman" panose="02020603050405020304" charset="0"/>
              </a:rPr>
              <a:t>该图的的所有最小生成树的总代价一定是唯一的</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II </a:t>
            </a:r>
            <a:r>
              <a:rPr lang="zh-CN" altLang="en-US" sz="2400" kern="100" dirty="0">
                <a:latin typeface="Times New Roman" panose="02020603050405020304" charset="0"/>
                <a:ea typeface="HarmonyOS Sans SC" panose="00000500000000000000" pitchFamily="2" charset="-122"/>
                <a:cs typeface="Times New Roman" panose="02020603050405020304" charset="0"/>
              </a:rPr>
              <a:t>该图所有权值最小的边一定都会出现在所有的最小生成树中</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III </a:t>
            </a:r>
            <a:r>
              <a:rPr lang="zh-CN" altLang="en-US" sz="2400" kern="100" dirty="0">
                <a:latin typeface="Times New Roman" panose="02020603050405020304" charset="0"/>
                <a:ea typeface="HarmonyOS Sans SC" panose="00000500000000000000" pitchFamily="2" charset="-122"/>
                <a:cs typeface="Times New Roman" panose="02020603050405020304" charset="0"/>
              </a:rPr>
              <a:t>用普里姆（</a:t>
            </a:r>
            <a:r>
              <a:rPr lang="en-US" altLang="zh-CN" sz="2400" kern="100" dirty="0">
                <a:latin typeface="Times New Roman" panose="02020603050405020304" charset="0"/>
                <a:ea typeface="HarmonyOS Sans SC" panose="00000500000000000000" pitchFamily="2" charset="-122"/>
                <a:cs typeface="Times New Roman" panose="02020603050405020304" charset="0"/>
              </a:rPr>
              <a:t>prim</a:t>
            </a:r>
            <a:r>
              <a:rPr lang="zh-CN" altLang="en-US" sz="2400" kern="100" dirty="0">
                <a:latin typeface="Times New Roman" panose="02020603050405020304" charset="0"/>
                <a:ea typeface="HarmonyOS Sans SC" panose="00000500000000000000" pitchFamily="2" charset="-122"/>
                <a:cs typeface="Times New Roman" panose="02020603050405020304" charset="0"/>
              </a:rPr>
              <a:t>）算法从不同顶点开始构造的所有最小生成树一定相同</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IV </a:t>
            </a:r>
            <a:r>
              <a:rPr lang="zh-CN" altLang="en-US" sz="2400" kern="100" dirty="0">
                <a:latin typeface="Times New Roman" panose="02020603050405020304" charset="0"/>
                <a:ea typeface="HarmonyOS Sans SC" panose="00000500000000000000" pitchFamily="2" charset="-122"/>
                <a:cs typeface="Times New Roman" panose="02020603050405020304" charset="0"/>
              </a:rPr>
              <a:t>使用普里姆算法和克鲁斯卡尔（</a:t>
            </a:r>
            <a:r>
              <a:rPr lang="en-US" altLang="zh-CN" sz="2400" kern="100" dirty="0">
                <a:latin typeface="Times New Roman" panose="02020603050405020304" charset="0"/>
                <a:ea typeface="HarmonyOS Sans SC" panose="00000500000000000000" pitchFamily="2" charset="-122"/>
                <a:cs typeface="Times New Roman" panose="02020603050405020304" charset="0"/>
              </a:rPr>
              <a:t>Kruskal</a:t>
            </a:r>
            <a:r>
              <a:rPr lang="zh-CN" altLang="en-US" sz="2400" kern="100" dirty="0">
                <a:latin typeface="Times New Roman" panose="02020603050405020304" charset="0"/>
                <a:ea typeface="HarmonyOS Sans SC" panose="00000500000000000000" pitchFamily="2" charset="-122"/>
                <a:cs typeface="Times New Roman" panose="02020603050405020304" charset="0"/>
              </a:rPr>
              <a:t>）算法得到的最小生成树总不相同</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、仅 </a:t>
            </a:r>
            <a:r>
              <a:rPr lang="en-US" altLang="zh-CN" sz="2400" kern="100" dirty="0">
                <a:latin typeface="Times New Roman" panose="02020603050405020304" charset="0"/>
                <a:ea typeface="HarmonyOS Sans SC" panose="00000500000000000000" pitchFamily="2" charset="-122"/>
                <a:cs typeface="Times New Roman" panose="02020603050405020304" charset="0"/>
              </a:rPr>
              <a:t>I                      B</a:t>
            </a:r>
            <a:r>
              <a:rPr lang="zh-CN" altLang="en-US" sz="2400" kern="100" dirty="0">
                <a:latin typeface="Times New Roman" panose="02020603050405020304" charset="0"/>
                <a:ea typeface="HarmonyOS Sans SC" panose="00000500000000000000" pitchFamily="2" charset="-122"/>
                <a:cs typeface="Times New Roman" panose="02020603050405020304" charset="0"/>
              </a:rPr>
              <a:t>、仅 </a:t>
            </a:r>
            <a:r>
              <a:rPr lang="en-US" altLang="zh-CN" sz="2400" kern="100" dirty="0">
                <a:latin typeface="Times New Roman" panose="02020603050405020304" charset="0"/>
                <a:ea typeface="HarmonyOS Sans SC" panose="00000500000000000000" pitchFamily="2" charset="-122"/>
                <a:cs typeface="Times New Roman" panose="02020603050405020304" charset="0"/>
              </a:rPr>
              <a:t>II                     C</a:t>
            </a:r>
            <a:r>
              <a:rPr lang="zh-CN" altLang="en-US" sz="2400" kern="100" dirty="0">
                <a:latin typeface="Times New Roman" panose="02020603050405020304" charset="0"/>
                <a:ea typeface="HarmonyOS Sans SC" panose="00000500000000000000" pitchFamily="2" charset="-122"/>
                <a:cs typeface="Times New Roman" panose="02020603050405020304" charset="0"/>
              </a:rPr>
              <a:t>、仅 </a:t>
            </a:r>
            <a:r>
              <a:rPr lang="en-US" altLang="zh-CN" sz="2400" kern="100" dirty="0">
                <a:latin typeface="Times New Roman" panose="02020603050405020304" charset="0"/>
                <a:ea typeface="HarmonyOS Sans SC" panose="00000500000000000000" pitchFamily="2" charset="-122"/>
                <a:cs typeface="Times New Roman" panose="02020603050405020304" charset="0"/>
              </a:rPr>
              <a:t>I</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III                     D</a:t>
            </a:r>
            <a:r>
              <a:rPr lang="zh-CN" altLang="en-US" sz="2400" kern="100" dirty="0">
                <a:latin typeface="Times New Roman" panose="02020603050405020304" charset="0"/>
                <a:ea typeface="HarmonyOS Sans SC" panose="00000500000000000000" pitchFamily="2" charset="-122"/>
                <a:cs typeface="Times New Roman" panose="02020603050405020304" charset="0"/>
              </a:rPr>
              <a:t>、仅 </a:t>
            </a:r>
            <a:r>
              <a:rPr lang="en-US" altLang="zh-CN" sz="2400" kern="100" dirty="0">
                <a:latin typeface="Times New Roman" panose="02020603050405020304" charset="0"/>
                <a:ea typeface="HarmonyOS Sans SC" panose="00000500000000000000" pitchFamily="2" charset="-122"/>
                <a:cs typeface="Times New Roman" panose="02020603050405020304" charset="0"/>
              </a:rPr>
              <a:t>II</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IV</a:t>
            </a:r>
          </a:p>
        </p:txBody>
      </p:sp>
      <p:sp>
        <p:nvSpPr>
          <p:cNvPr id="12" name="文本框 11"/>
          <p:cNvSpPr txBox="1"/>
          <p:nvPr/>
        </p:nvSpPr>
        <p:spPr>
          <a:xfrm>
            <a:off x="9001843" y="325757"/>
            <a:ext cx="508246"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A</a:t>
            </a:r>
            <a:endParaRPr lang="zh-CN" altLang="en-US" sz="2400" b="1" dirty="0">
              <a:solidFill>
                <a:srgbClr val="FF0000"/>
              </a:solidFill>
            </a:endParaRPr>
          </a:p>
        </p:txBody>
      </p:sp>
      <p:sp>
        <p:nvSpPr>
          <p:cNvPr id="5" name="文本框 4"/>
          <p:cNvSpPr txBox="1"/>
          <p:nvPr/>
        </p:nvSpPr>
        <p:spPr>
          <a:xfrm>
            <a:off x="214600" y="3555156"/>
            <a:ext cx="11641486" cy="3352584"/>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I </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该图的的所有最小生成树的总代价一定是唯一的，这是必定的</a:t>
            </a:r>
          </a:p>
          <a:p>
            <a:pPr algn="just">
              <a:lnSpc>
                <a:spcPct val="150000"/>
              </a:lnSpc>
            </a:pP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II </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是错的，比如说所有边的代价都一样的时候</a:t>
            </a:r>
          </a:p>
          <a:p>
            <a:pPr algn="just">
              <a:lnSpc>
                <a:spcPct val="150000"/>
              </a:lnSpc>
            </a:pP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III </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是错的，用普里姆（</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prim</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）算法从不同顶点开始构造的所有最小生成树是不同的</a:t>
            </a:r>
          </a:p>
          <a:p>
            <a:pPr algn="just">
              <a:lnSpc>
                <a:spcPct val="150000"/>
              </a:lnSpc>
            </a:pP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IV </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是错的，使用普里姆算法和克鲁斯卡尔（</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Kruskal</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）算法得到的最小生成树可能相同，可能不同，但总代价是一定的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850131"/>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582595"/>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27】</a:t>
            </a:r>
            <a:r>
              <a:rPr lang="zh-CN" altLang="en-US" sz="2400" kern="100" dirty="0">
                <a:latin typeface="Times New Roman" panose="02020603050405020304" charset="0"/>
                <a:ea typeface="HarmonyOS Sans SC" panose="00000500000000000000" pitchFamily="2" charset="-122"/>
                <a:cs typeface="Times New Roman" panose="02020603050405020304" charset="0"/>
              </a:rPr>
              <a:t>已知有向图 </a:t>
            </a:r>
            <a:r>
              <a:rPr lang="en-US" altLang="zh-CN" sz="2400" kern="100" dirty="0">
                <a:latin typeface="Times New Roman" panose="02020603050405020304" charset="0"/>
                <a:ea typeface="HarmonyOS Sans SC" panose="00000500000000000000" pitchFamily="2" charset="-122"/>
                <a:cs typeface="Times New Roman" panose="02020603050405020304" charset="0"/>
              </a:rPr>
              <a:t>G </a:t>
            </a:r>
            <a:r>
              <a:rPr lang="zh-CN" altLang="en-US" sz="2400" kern="100" dirty="0">
                <a:latin typeface="Times New Roman" panose="02020603050405020304" charset="0"/>
                <a:ea typeface="HarmonyOS Sans SC" panose="00000500000000000000" pitchFamily="2" charset="-122"/>
                <a:cs typeface="Times New Roman" panose="02020603050405020304" charset="0"/>
              </a:rPr>
              <a:t>如图所示，则可能得到的图 </a:t>
            </a:r>
            <a:r>
              <a:rPr lang="en-US" altLang="zh-CN" sz="2400" kern="100" dirty="0">
                <a:latin typeface="Times New Roman" panose="02020603050405020304" charset="0"/>
                <a:ea typeface="HarmonyOS Sans SC" panose="00000500000000000000" pitchFamily="2" charset="-122"/>
                <a:cs typeface="Times New Roman" panose="02020603050405020304" charset="0"/>
              </a:rPr>
              <a:t>G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的拓扑序列是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p:txBody>
      </p:sp>
      <p:sp>
        <p:nvSpPr>
          <p:cNvPr id="12" name="文本框 11"/>
          <p:cNvSpPr txBox="1"/>
          <p:nvPr/>
        </p:nvSpPr>
        <p:spPr>
          <a:xfrm>
            <a:off x="9501253" y="361796"/>
            <a:ext cx="1134324" cy="461665"/>
          </a:xfrm>
          <a:prstGeom prst="rect">
            <a:avLst/>
          </a:prstGeom>
          <a:noFill/>
        </p:spPr>
        <p:txBody>
          <a:bodyPr wrap="square">
            <a:spAutoFit/>
          </a:bodyPr>
          <a:lstStyle/>
          <a:p>
            <a:r>
              <a:rPr lang="en-US" altLang="zh-CN" sz="2400" dirty="0">
                <a:solidFill>
                  <a:srgbClr val="FF0000"/>
                </a:solidFill>
                <a:latin typeface="Times New Roman" panose="02020603050405020304" charset="0"/>
                <a:ea typeface="HarmonyOS Sans SC" panose="00000500000000000000" pitchFamily="2" charset="-122"/>
                <a:cs typeface="Times New Roman" panose="02020603050405020304" charset="0"/>
              </a:rPr>
              <a:t>a b d c</a:t>
            </a:r>
            <a:endParaRPr lang="zh-CN" altLang="en-US" sz="2400" dirty="0">
              <a:solidFill>
                <a:srgbClr val="FF0000"/>
              </a:solidFill>
            </a:endParaRPr>
          </a:p>
        </p:txBody>
      </p:sp>
      <p:grpSp>
        <p:nvGrpSpPr>
          <p:cNvPr id="9" name="组合 8"/>
          <p:cNvGrpSpPr/>
          <p:nvPr/>
        </p:nvGrpSpPr>
        <p:grpSpPr>
          <a:xfrm>
            <a:off x="1615440" y="1165860"/>
            <a:ext cx="2639060" cy="2368550"/>
            <a:chOff x="2544" y="1836"/>
            <a:chExt cx="4156" cy="3730"/>
          </a:xfrm>
        </p:grpSpPr>
        <p:pic>
          <p:nvPicPr>
            <p:cNvPr id="3" name="图片 2"/>
            <p:cNvPicPr>
              <a:picLocks noChangeAspect="1"/>
            </p:cNvPicPr>
            <p:nvPr/>
          </p:nvPicPr>
          <p:blipFill>
            <a:blip r:embed="rId2" cstate="print">
              <a:lum bright="-100000" contrast="60000"/>
              <a:extLst>
                <a:ext uri="{28A0092B-C50C-407E-A947-70E740481C1C}">
                  <a14:useLocalDpi xmlns:a14="http://schemas.microsoft.com/office/drawing/2010/main" val="0"/>
                </a:ext>
              </a:extLst>
            </a:blip>
            <a:srcRect/>
            <a:stretch>
              <a:fillRect/>
            </a:stretch>
          </p:blipFill>
          <p:spPr bwMode="auto">
            <a:xfrm>
              <a:off x="2544" y="1836"/>
              <a:ext cx="4156" cy="3731"/>
            </a:xfrm>
            <a:prstGeom prst="rect">
              <a:avLst/>
            </a:prstGeom>
            <a:noFill/>
            <a:ln>
              <a:noFill/>
            </a:ln>
          </p:spPr>
        </p:pic>
        <p:sp>
          <p:nvSpPr>
            <p:cNvPr id="5" name="椭圆 4"/>
            <p:cNvSpPr/>
            <p:nvPr/>
          </p:nvSpPr>
          <p:spPr>
            <a:xfrm>
              <a:off x="2544" y="1836"/>
              <a:ext cx="882" cy="882"/>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603050405020304" charset="0"/>
                  <a:cs typeface="Times New Roman" panose="02020603050405020304" charset="0"/>
                </a:rPr>
                <a:t>a</a:t>
              </a:r>
            </a:p>
          </p:txBody>
        </p:sp>
        <p:sp>
          <p:nvSpPr>
            <p:cNvPr id="6" name="椭圆 5"/>
            <p:cNvSpPr/>
            <p:nvPr/>
          </p:nvSpPr>
          <p:spPr>
            <a:xfrm>
              <a:off x="5818" y="1836"/>
              <a:ext cx="882" cy="882"/>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603050405020304" charset="0"/>
                  <a:cs typeface="Times New Roman" panose="02020603050405020304" charset="0"/>
                </a:rPr>
                <a:t>c</a:t>
              </a:r>
            </a:p>
          </p:txBody>
        </p:sp>
        <p:sp>
          <p:nvSpPr>
            <p:cNvPr id="7" name="椭圆 6"/>
            <p:cNvSpPr/>
            <p:nvPr/>
          </p:nvSpPr>
          <p:spPr>
            <a:xfrm>
              <a:off x="5818" y="4642"/>
              <a:ext cx="882" cy="882"/>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603050405020304" charset="0"/>
                  <a:cs typeface="Times New Roman" panose="02020603050405020304" charset="0"/>
                </a:rPr>
                <a:t>d</a:t>
              </a:r>
            </a:p>
          </p:txBody>
        </p:sp>
        <p:sp>
          <p:nvSpPr>
            <p:cNvPr id="8" name="椭圆 7"/>
            <p:cNvSpPr/>
            <p:nvPr/>
          </p:nvSpPr>
          <p:spPr>
            <a:xfrm>
              <a:off x="2544" y="4628"/>
              <a:ext cx="882" cy="882"/>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603050405020304" charset="0"/>
                  <a:cs typeface="Times New Roman" panose="02020603050405020304" charset="0"/>
                </a:rPr>
                <a:t>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2504117"/>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2244589"/>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28】</a:t>
            </a:r>
            <a:r>
              <a:rPr lang="zh-CN" altLang="en-US" sz="2400" kern="100" dirty="0">
                <a:latin typeface="Times New Roman" panose="02020603050405020304" charset="0"/>
                <a:ea typeface="HarmonyOS Sans SC" panose="00000500000000000000" pitchFamily="2" charset="-122"/>
                <a:cs typeface="Times New Roman" panose="02020603050405020304" charset="0"/>
              </a:rPr>
              <a:t>已知</a:t>
            </a:r>
            <a:r>
              <a:rPr lang="en-US" altLang="zh-CN" sz="2400" kern="100" dirty="0">
                <a:latin typeface="Times New Roman" panose="02020603050405020304" charset="0"/>
                <a:ea typeface="HarmonyOS Sans SC" panose="00000500000000000000" pitchFamily="2" charset="-122"/>
                <a:cs typeface="Times New Roman" panose="02020603050405020304" charset="0"/>
              </a:rPr>
              <a:t>7</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个城市（分别编号为</a:t>
            </a:r>
            <a:r>
              <a:rPr lang="en-US" altLang="zh-CN" sz="2400" kern="100" dirty="0">
                <a:latin typeface="Times New Roman" panose="02020603050405020304" charset="0"/>
                <a:ea typeface="HarmonyOS Sans SC" panose="00000500000000000000" pitchFamily="2" charset="-122"/>
                <a:cs typeface="Times New Roman" panose="02020603050405020304" charset="0"/>
              </a:rPr>
              <a:t>0~6</a:t>
            </a:r>
            <a:r>
              <a:rPr lang="zh-CN" altLang="en-US" sz="2400" kern="100" dirty="0">
                <a:latin typeface="Times New Roman" panose="02020603050405020304" charset="0"/>
                <a:ea typeface="HarmonyOS Sans SC" panose="00000500000000000000" pitchFamily="2" charset="-122"/>
                <a:cs typeface="Times New Roman" panose="02020603050405020304" charset="0"/>
              </a:rPr>
              <a:t>）之间修建道路的耗费分别为：</a:t>
            </a:r>
            <a:r>
              <a:rPr lang="en-US" altLang="zh-CN" sz="2400" kern="100" dirty="0">
                <a:latin typeface="Times New Roman" panose="02020603050405020304" charset="0"/>
                <a:ea typeface="HarmonyOS Sans SC" panose="00000500000000000000" pitchFamily="2" charset="-122"/>
                <a:cs typeface="Times New Roman" panose="02020603050405020304" charset="0"/>
              </a:rPr>
              <a:t>0-1</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22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0-2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9</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0-3</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10</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1-3</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15</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1-4</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7</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1-6</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2-3</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4</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2-5</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3</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3-5</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5</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3-6</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23</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4-6</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20</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5-6</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32</a:t>
            </a:r>
            <a:r>
              <a:rPr lang="zh-CN" altLang="en-US" sz="2400" kern="100" dirty="0">
                <a:latin typeface="Times New Roman" panose="02020603050405020304" charset="0"/>
                <a:ea typeface="HarmonyOS Sans SC" panose="00000500000000000000" pitchFamily="2" charset="-122"/>
                <a:cs typeface="Times New Roman" panose="02020603050405020304" charset="0"/>
              </a:rPr>
              <a:t>，要修建路网让每两个城市之间都可以互通（直达或经过其他城市），最小的耗费是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 。</a:t>
            </a:r>
          </a:p>
        </p:txBody>
      </p:sp>
      <p:grpSp>
        <p:nvGrpSpPr>
          <p:cNvPr id="7" name="组合 6"/>
          <p:cNvGrpSpPr/>
          <p:nvPr/>
        </p:nvGrpSpPr>
        <p:grpSpPr>
          <a:xfrm>
            <a:off x="223490" y="2467579"/>
            <a:ext cx="8369300" cy="3636645"/>
            <a:chOff x="214600" y="2836699"/>
            <a:chExt cx="8369300" cy="3636645"/>
          </a:xfrm>
        </p:grpSpPr>
        <p:sp>
          <p:nvSpPr>
            <p:cNvPr id="5" name="文本框 4"/>
            <p:cNvSpPr txBox="1"/>
            <p:nvPr/>
          </p:nvSpPr>
          <p:spPr>
            <a:xfrm>
              <a:off x="214600" y="2836699"/>
              <a:ext cx="8369300" cy="3636645"/>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en-US" sz="2400" kern="100" dirty="0">
                <a:effectLst/>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 </a:t>
              </a:r>
            </a:p>
            <a:p>
              <a:pPr algn="just">
                <a:lnSpc>
                  <a:spcPct val="150000"/>
                </a:lnSpc>
              </a:pPr>
              <a:endParaRPr lang="en-US" altLang="zh-CN" sz="2400" kern="100" dirty="0">
                <a:effectLst/>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endParaRPr lang="en-US" altLang="zh-CN" sz="2400" kern="100" dirty="0">
                <a:effectLst/>
                <a:latin typeface="Times New Roman" panose="02020603050405020304" charset="0"/>
                <a:ea typeface="HarmonyOS Sans SC" panose="00000500000000000000" pitchFamily="2" charset="-122"/>
                <a:cs typeface="Times New Roman" panose="02020603050405020304" charset="0"/>
              </a:endParaRPr>
            </a:p>
            <a:p>
              <a:pPr algn="just">
                <a:lnSpc>
                  <a:spcPct val="60000"/>
                </a:lnSpc>
              </a:pPr>
              <a:endParaRPr lang="en-US" altLang="zh-CN" sz="2400" kern="100" dirty="0">
                <a:effectLst/>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最小的耗费是</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50</a:t>
              </a:r>
            </a:p>
          </p:txBody>
        </p:sp>
        <p:pic>
          <p:nvPicPr>
            <p:cNvPr id="6" name="图片 5"/>
            <p:cNvPicPr>
              <a:picLocks noChangeAspect="1"/>
            </p:cNvPicPr>
            <p:nvPr/>
          </p:nvPicPr>
          <p:blipFill>
            <a:blip r:embed="rId2" cstate="print">
              <a:lum bright="-24000" contrast="42000"/>
              <a:extLst>
                <a:ext uri="{28A0092B-C50C-407E-A947-70E740481C1C}">
                  <a14:useLocalDpi xmlns:a14="http://schemas.microsoft.com/office/drawing/2010/main" val="0"/>
                </a:ext>
              </a:extLst>
            </a:blip>
            <a:srcRect/>
            <a:stretch>
              <a:fillRect/>
            </a:stretch>
          </p:blipFill>
          <p:spPr bwMode="auto">
            <a:xfrm>
              <a:off x="1298198" y="3190724"/>
              <a:ext cx="3004820" cy="2823845"/>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621002"/>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29】</a:t>
            </a:r>
            <a:r>
              <a:rPr lang="zh-CN" altLang="en-US" sz="2400" kern="100" dirty="0">
                <a:latin typeface="Times New Roman" panose="02020603050405020304" charset="0"/>
                <a:ea typeface="HarmonyOS Sans SC" panose="00000500000000000000" pitchFamily="2" charset="-122"/>
                <a:cs typeface="Times New Roman" panose="02020603050405020304" charset="0"/>
              </a:rPr>
              <a:t>在一个具有 </a:t>
            </a:r>
            <a:r>
              <a:rPr lang="en-US" altLang="zh-CN" sz="2400" kern="100" dirty="0">
                <a:latin typeface="Times New Roman" panose="02020603050405020304" charset="0"/>
                <a:ea typeface="HarmonyOS Sans SC" panose="00000500000000000000" pitchFamily="2" charset="-122"/>
                <a:cs typeface="Times New Roman" panose="02020603050405020304" charset="0"/>
              </a:rPr>
              <a:t>8 </a:t>
            </a:r>
            <a:r>
              <a:rPr lang="zh-CN" altLang="en-US" sz="2400" kern="100" dirty="0">
                <a:latin typeface="Times New Roman" panose="02020603050405020304" charset="0"/>
                <a:ea typeface="HarmonyOS Sans SC" panose="00000500000000000000" pitchFamily="2" charset="-122"/>
                <a:cs typeface="Times New Roman" panose="02020603050405020304" charset="0"/>
              </a:rPr>
              <a:t>个顶点的有向图中，若所有顶点的出度之和为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10</a:t>
            </a:r>
            <a:r>
              <a:rPr lang="zh-CN" altLang="en-US" sz="2400" kern="100" dirty="0">
                <a:latin typeface="Times New Roman" panose="02020603050405020304" charset="0"/>
                <a:ea typeface="HarmonyOS Sans SC" panose="00000500000000000000" pitchFamily="2" charset="-122"/>
                <a:cs typeface="Times New Roman" panose="02020603050405020304" charset="0"/>
              </a:rPr>
              <a:t>，则所有顶点的入度之和为</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7</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8</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9</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10</a:t>
            </a:r>
          </a:p>
        </p:txBody>
      </p:sp>
      <p:sp>
        <p:nvSpPr>
          <p:cNvPr id="12" name="文本框 11"/>
          <p:cNvSpPr txBox="1"/>
          <p:nvPr/>
        </p:nvSpPr>
        <p:spPr>
          <a:xfrm>
            <a:off x="2293132" y="879912"/>
            <a:ext cx="508246"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D</a:t>
            </a:r>
            <a:endParaRPr lang="zh-CN" altLang="en-US" sz="2400" b="1" dirty="0">
              <a:solidFill>
                <a:srgbClr val="FF0000"/>
              </a:solidFill>
            </a:endParaRPr>
          </a:p>
        </p:txBody>
      </p:sp>
      <p:sp>
        <p:nvSpPr>
          <p:cNvPr id="5" name="文本框 4"/>
          <p:cNvSpPr txBox="1"/>
          <p:nvPr/>
        </p:nvSpPr>
        <p:spPr>
          <a:xfrm>
            <a:off x="214600" y="3668368"/>
            <a:ext cx="11641486" cy="1136593"/>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有向图的顶点入度和出度是相等的，对于每一条边产生入度的同时也产生了出度。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1323320"/>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1133965"/>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30】</a:t>
            </a:r>
            <a:r>
              <a:rPr lang="zh-CN" altLang="en-US" sz="2400" kern="100" dirty="0">
                <a:latin typeface="Times New Roman" panose="02020603050405020304" charset="0"/>
                <a:ea typeface="HarmonyOS Sans SC" panose="00000500000000000000" pitchFamily="2" charset="-122"/>
                <a:cs typeface="Times New Roman" panose="02020603050405020304" charset="0"/>
              </a:rPr>
              <a:t>设图如下所示，在下面的</a:t>
            </a:r>
            <a:r>
              <a:rPr lang="en-US" altLang="zh-CN" sz="2400" kern="100" dirty="0">
                <a:latin typeface="Times New Roman" panose="02020603050405020304" charset="0"/>
                <a:ea typeface="HarmonyOS Sans SC" panose="00000500000000000000" pitchFamily="2" charset="-122"/>
                <a:cs typeface="Times New Roman" panose="02020603050405020304" charset="0"/>
              </a:rPr>
              <a:t>5</a:t>
            </a:r>
            <a:r>
              <a:rPr lang="zh-CN" altLang="en-US" sz="2400" kern="100" dirty="0">
                <a:latin typeface="Times New Roman" panose="02020603050405020304" charset="0"/>
                <a:ea typeface="HarmonyOS Sans SC" panose="00000500000000000000" pitchFamily="2" charset="-122"/>
                <a:cs typeface="Times New Roman" panose="02020603050405020304" charset="0"/>
              </a:rPr>
              <a:t>个序列中，符合深度优先遍历的序列有</a:t>
            </a:r>
            <a:r>
              <a:rPr lang="zh-CN" altLang="en-US" sz="2400" i="1"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个。</a:t>
            </a:r>
          </a:p>
          <a:p>
            <a:pPr algn="just">
              <a:lnSpc>
                <a:spcPct val="150000"/>
              </a:lnSpc>
            </a:pPr>
            <a:r>
              <a:rPr lang="en-US" altLang="zh-CN" sz="2400" kern="100" dirty="0" err="1">
                <a:latin typeface="Times New Roman" panose="02020603050405020304" charset="0"/>
                <a:ea typeface="HarmonyOS Sans SC" panose="00000500000000000000" pitchFamily="2" charset="-122"/>
                <a:cs typeface="Times New Roman" panose="02020603050405020304" charset="0"/>
              </a:rPr>
              <a:t>aebdfc</a:t>
            </a:r>
            <a:r>
              <a:rPr lang="en-US" altLang="zh-CN" sz="2400" kern="100" dirty="0">
                <a:latin typeface="Times New Roman" panose="02020603050405020304" charset="0"/>
                <a:ea typeface="HarmonyOS Sans SC" panose="00000500000000000000" pitchFamily="2" charset="-122"/>
                <a:cs typeface="Times New Roman" panose="02020603050405020304" charset="0"/>
              </a:rPr>
              <a:t>   </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acfdeb</a:t>
            </a:r>
            <a:r>
              <a:rPr lang="en-US" altLang="zh-CN" sz="2400" kern="100" dirty="0">
                <a:latin typeface="Times New Roman" panose="02020603050405020304" charset="0"/>
                <a:ea typeface="HarmonyOS Sans SC" panose="00000500000000000000" pitchFamily="2" charset="-122"/>
                <a:cs typeface="Times New Roman" panose="02020603050405020304" charset="0"/>
              </a:rPr>
              <a:t>   </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aedfcb</a:t>
            </a:r>
            <a:r>
              <a:rPr lang="en-US" altLang="zh-CN" sz="2400" kern="100" dirty="0">
                <a:latin typeface="Times New Roman" panose="02020603050405020304" charset="0"/>
                <a:ea typeface="HarmonyOS Sans SC" panose="00000500000000000000" pitchFamily="2" charset="-122"/>
                <a:cs typeface="Times New Roman" panose="02020603050405020304" charset="0"/>
              </a:rPr>
              <a:t>   </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aefdcb</a:t>
            </a:r>
            <a:r>
              <a:rPr lang="en-US" altLang="zh-CN" sz="2400" kern="100" dirty="0">
                <a:latin typeface="Times New Roman" panose="02020603050405020304" charset="0"/>
                <a:ea typeface="HarmonyOS Sans SC" panose="00000500000000000000" pitchFamily="2" charset="-122"/>
                <a:cs typeface="Times New Roman" panose="02020603050405020304" charset="0"/>
              </a:rPr>
              <a:t>   </a:t>
            </a:r>
            <a:r>
              <a:rPr lang="en-US" altLang="zh-CN" sz="2400" kern="100" dirty="0" err="1">
                <a:latin typeface="Times New Roman" panose="02020603050405020304" charset="0"/>
                <a:ea typeface="HarmonyOS Sans SC" panose="00000500000000000000" pitchFamily="2" charset="-122"/>
                <a:cs typeface="Times New Roman" panose="02020603050405020304" charset="0"/>
              </a:rPr>
              <a:t>aefdbc</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p:txBody>
      </p:sp>
      <p:sp>
        <p:nvSpPr>
          <p:cNvPr id="5" name="文本框 4"/>
          <p:cNvSpPr txBox="1"/>
          <p:nvPr/>
        </p:nvSpPr>
        <p:spPr>
          <a:xfrm>
            <a:off x="252095" y="1395095"/>
            <a:ext cx="11691620" cy="4707890"/>
          </a:xfrm>
          <a:prstGeom prst="rect">
            <a:avLst/>
          </a:prstGeom>
          <a:noFill/>
        </p:spPr>
        <p:txBody>
          <a:bodyPr wrap="square">
            <a:spAutoFit/>
          </a:bodyPr>
          <a:lstStyle/>
          <a:p>
            <a:pPr algn="just">
              <a:lnSpc>
                <a:spcPct val="150000"/>
              </a:lnSpc>
            </a:pPr>
            <a:r>
              <a:rPr lang="zh-CN" altLang="zh-CN" sz="20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0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0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000" kern="100" dirty="0">
                <a:effectLst/>
                <a:latin typeface="Times New Roman" panose="02020603050405020304" charset="0"/>
                <a:ea typeface="HarmonyOS Sans SC" panose="00000500000000000000" pitchFamily="2" charset="-122"/>
                <a:cs typeface="Times New Roman" panose="02020603050405020304" charset="0"/>
              </a:rPr>
              <a:t>图的深度优先搜索遍历过程是：</a:t>
            </a:r>
          </a:p>
          <a:p>
            <a:pPr algn="just">
              <a:lnSpc>
                <a:spcPct val="150000"/>
              </a:lnSpc>
            </a:pPr>
            <a:r>
              <a:rPr lang="zh-CN" altLang="en-US" sz="2000" kern="100" dirty="0">
                <a:effectLst/>
                <a:latin typeface="Times New Roman" panose="02020603050405020304" charset="0"/>
                <a:ea typeface="HarmonyOS Sans SC" panose="00000500000000000000" pitchFamily="2" charset="-122"/>
                <a:cs typeface="Times New Roman" panose="02020603050405020304" charset="0"/>
              </a:rPr>
              <a:t>首先一个出发顶点</a:t>
            </a:r>
            <a:r>
              <a:rPr lang="en-US" altLang="zh-CN" sz="2000" kern="100" dirty="0">
                <a:effectLst/>
                <a:latin typeface="Times New Roman" panose="02020603050405020304" charset="0"/>
                <a:ea typeface="HarmonyOS Sans SC" panose="00000500000000000000" pitchFamily="2" charset="-122"/>
                <a:cs typeface="Times New Roman" panose="02020603050405020304" charset="0"/>
              </a:rPr>
              <a:t>v</a:t>
            </a:r>
            <a:r>
              <a:rPr lang="zh-CN" altLang="en-US" sz="2000" kern="100" dirty="0">
                <a:effectLst/>
                <a:latin typeface="Times New Roman" panose="02020603050405020304" charset="0"/>
                <a:ea typeface="HarmonyOS Sans SC" panose="00000500000000000000" pitchFamily="2" charset="-122"/>
                <a:cs typeface="Times New Roman" panose="02020603050405020304" charset="0"/>
              </a:rPr>
              <a:t>，并访问之，接着选择一个与</a:t>
            </a:r>
            <a:r>
              <a:rPr lang="en-US" altLang="zh-CN" sz="2000" kern="100" dirty="0">
                <a:effectLst/>
                <a:latin typeface="Times New Roman" panose="02020603050405020304" charset="0"/>
                <a:ea typeface="HarmonyOS Sans SC" panose="00000500000000000000" pitchFamily="2" charset="-122"/>
                <a:cs typeface="Times New Roman" panose="02020603050405020304" charset="0"/>
              </a:rPr>
              <a:t>v</a:t>
            </a:r>
            <a:r>
              <a:rPr lang="zh-CN" altLang="en-US" sz="2000" kern="100" dirty="0">
                <a:effectLst/>
                <a:latin typeface="Times New Roman" panose="02020603050405020304" charset="0"/>
                <a:ea typeface="HarmonyOS Sans SC" panose="00000500000000000000" pitchFamily="2" charset="-122"/>
                <a:cs typeface="Times New Roman" panose="02020603050405020304" charset="0"/>
              </a:rPr>
              <a:t>相邻接并且未被访问过的顶点</a:t>
            </a:r>
            <a:r>
              <a:rPr lang="en-US" altLang="zh-CN" sz="2000" kern="100" dirty="0">
                <a:effectLst/>
                <a:latin typeface="Times New Roman" panose="02020603050405020304" charset="0"/>
                <a:ea typeface="HarmonyOS Sans SC" panose="00000500000000000000" pitchFamily="2" charset="-122"/>
                <a:cs typeface="Times New Roman" panose="02020603050405020304" charset="0"/>
              </a:rPr>
              <a:t>w</a:t>
            </a:r>
            <a:r>
              <a:rPr lang="zh-CN" altLang="en-US" sz="2000" kern="100" dirty="0">
                <a:effectLst/>
                <a:latin typeface="Times New Roman" panose="02020603050405020304" charset="0"/>
                <a:ea typeface="HarmonyOS Sans SC" panose="00000500000000000000" pitchFamily="2" charset="-122"/>
                <a:cs typeface="Times New Roman" panose="02020603050405020304" charset="0"/>
              </a:rPr>
              <a:t>访问之，再从</a:t>
            </a:r>
            <a:r>
              <a:rPr lang="en-US" altLang="zh-CN" sz="2000" kern="100" dirty="0">
                <a:effectLst/>
                <a:latin typeface="Times New Roman" panose="02020603050405020304" charset="0"/>
                <a:ea typeface="HarmonyOS Sans SC" panose="00000500000000000000" pitchFamily="2" charset="-122"/>
                <a:cs typeface="Times New Roman" panose="02020603050405020304" charset="0"/>
              </a:rPr>
              <a:t>w</a:t>
            </a:r>
            <a:r>
              <a:rPr lang="zh-CN" altLang="en-US" sz="2000" kern="100" dirty="0">
                <a:effectLst/>
                <a:latin typeface="Times New Roman" panose="02020603050405020304" charset="0"/>
                <a:ea typeface="HarmonyOS Sans SC" panose="00000500000000000000" pitchFamily="2" charset="-122"/>
                <a:cs typeface="Times New Roman" panose="02020603050405020304" charset="0"/>
              </a:rPr>
              <a:t>开始进行深度优先搜索遍历。</a:t>
            </a:r>
          </a:p>
          <a:p>
            <a:pPr algn="just">
              <a:lnSpc>
                <a:spcPct val="150000"/>
              </a:lnSpc>
            </a:pPr>
            <a:r>
              <a:rPr lang="zh-CN" altLang="en-US" sz="2000" kern="100" dirty="0">
                <a:effectLst/>
                <a:latin typeface="Times New Roman" panose="02020603050405020304" charset="0"/>
                <a:ea typeface="HarmonyOS Sans SC" panose="00000500000000000000" pitchFamily="2" charset="-122"/>
                <a:cs typeface="Times New Roman" panose="02020603050405020304" charset="0"/>
              </a:rPr>
              <a:t>每当到达一个其所有相邻接的顶点都已被访问过的顶点时，就从最近所访问的顶点开始依次回退，直至退回某个顶点，该顶点尚有未曾访问过的邻接顶点，再从该邻接顶点开始继续进行深度优先搜索遍历。</a:t>
            </a:r>
          </a:p>
          <a:p>
            <a:pPr algn="just">
              <a:lnSpc>
                <a:spcPct val="150000"/>
              </a:lnSpc>
            </a:pPr>
            <a:r>
              <a:rPr lang="zh-CN" altLang="en-US" sz="2000" kern="100" dirty="0">
                <a:effectLst/>
                <a:latin typeface="Times New Roman" panose="02020603050405020304" charset="0"/>
                <a:ea typeface="HarmonyOS Sans SC" panose="00000500000000000000" pitchFamily="2" charset="-122"/>
                <a:cs typeface="Times New Roman" panose="02020603050405020304" charset="0"/>
              </a:rPr>
              <a:t>上述过程在两种可能情况下终止：所有顶点已都被访问，或从任一个已被访问过的顶点出发，再也无法到达未曾访问过的顶点。</a:t>
            </a:r>
          </a:p>
          <a:p>
            <a:pPr algn="just">
              <a:lnSpc>
                <a:spcPct val="150000"/>
              </a:lnSpc>
            </a:pPr>
            <a:r>
              <a:rPr lang="zh-CN" altLang="en-US" sz="2000" kern="100" dirty="0">
                <a:effectLst/>
                <a:latin typeface="Times New Roman" panose="02020603050405020304" charset="0"/>
                <a:ea typeface="HarmonyOS Sans SC" panose="00000500000000000000" pitchFamily="2" charset="-122"/>
                <a:cs typeface="Times New Roman" panose="02020603050405020304" charset="0"/>
              </a:rPr>
              <a:t>对于无向图，如果图是连通的，那么按深度优先搜索遍历时，可遍历全部顶点，得到全部顶点的一个遍历序列。</a:t>
            </a:r>
            <a:r>
              <a:rPr lang="zh-CN" altLang="en-US" sz="2000" kern="100" dirty="0">
                <a:solidFill>
                  <a:srgbClr val="1DC0C4"/>
                </a:solidFill>
                <a:effectLst/>
                <a:latin typeface="Times New Roman" panose="02020603050405020304" charset="0"/>
                <a:ea typeface="HarmonyOS Sans SC" panose="00000500000000000000" pitchFamily="2" charset="-122"/>
                <a:cs typeface="Times New Roman" panose="02020603050405020304" charset="0"/>
              </a:rPr>
              <a:t>从</a:t>
            </a:r>
            <a:r>
              <a:rPr lang="en-US" altLang="zh-CN" sz="2000" kern="100" dirty="0">
                <a:solidFill>
                  <a:srgbClr val="1DC0C4"/>
                </a:solidFill>
                <a:effectLst/>
                <a:latin typeface="Times New Roman" panose="02020603050405020304" charset="0"/>
                <a:ea typeface="HarmonyOS Sans SC" panose="00000500000000000000" pitchFamily="2" charset="-122"/>
                <a:cs typeface="Times New Roman" panose="02020603050405020304" charset="0"/>
              </a:rPr>
              <a:t>a</a:t>
            </a:r>
            <a:r>
              <a:rPr lang="zh-CN" altLang="en-US" sz="2000" kern="100" dirty="0">
                <a:solidFill>
                  <a:srgbClr val="1DC0C4"/>
                </a:solidFill>
                <a:effectLst/>
                <a:latin typeface="Times New Roman" panose="02020603050405020304" charset="0"/>
                <a:ea typeface="HarmonyOS Sans SC" panose="00000500000000000000" pitchFamily="2" charset="-122"/>
                <a:cs typeface="Times New Roman" panose="02020603050405020304" charset="0"/>
              </a:rPr>
              <a:t>出发，</a:t>
            </a:r>
            <a:r>
              <a:rPr lang="en-US" altLang="zh-CN" sz="2000" kern="100" dirty="0">
                <a:solidFill>
                  <a:srgbClr val="1DC0C4"/>
                </a:solidFill>
                <a:effectLst/>
                <a:latin typeface="Times New Roman" panose="02020603050405020304" charset="0"/>
                <a:ea typeface="HarmonyOS Sans SC" panose="00000500000000000000" pitchFamily="2" charset="-122"/>
                <a:cs typeface="Times New Roman" panose="02020603050405020304" charset="0"/>
              </a:rPr>
              <a:t>15</a:t>
            </a:r>
            <a:r>
              <a:rPr lang="zh-CN" altLang="en-US" sz="2000" kern="100" dirty="0">
                <a:solidFill>
                  <a:srgbClr val="1DC0C4"/>
                </a:solidFill>
                <a:effectLst/>
                <a:latin typeface="Times New Roman" panose="02020603050405020304" charset="0"/>
                <a:ea typeface="HarmonyOS Sans SC" panose="00000500000000000000" pitchFamily="2" charset="-122"/>
                <a:cs typeface="Times New Roman" panose="02020603050405020304" charset="0"/>
              </a:rPr>
              <a:t>都是符合深度优先遍历的序列，所以有</a:t>
            </a:r>
            <a:r>
              <a:rPr lang="en-US" altLang="zh-CN" sz="2000" kern="100" dirty="0">
                <a:solidFill>
                  <a:srgbClr val="1DC0C4"/>
                </a:solidFill>
                <a:effectLst/>
                <a:latin typeface="Times New Roman" panose="02020603050405020304" charset="0"/>
                <a:ea typeface="HarmonyOS Sans SC" panose="00000500000000000000" pitchFamily="2" charset="-122"/>
                <a:cs typeface="Times New Roman" panose="02020603050405020304" charset="0"/>
              </a:rPr>
              <a:t>2</a:t>
            </a:r>
            <a:r>
              <a:rPr lang="zh-CN" altLang="en-US" sz="2000" kern="100" dirty="0">
                <a:solidFill>
                  <a:srgbClr val="1DC0C4"/>
                </a:solidFill>
                <a:effectLst/>
                <a:latin typeface="Times New Roman" panose="02020603050405020304" charset="0"/>
                <a:ea typeface="HarmonyOS Sans SC" panose="00000500000000000000" pitchFamily="2" charset="-122"/>
                <a:cs typeface="Times New Roman" panose="02020603050405020304" charset="0"/>
              </a:rPr>
              <a:t>个。</a:t>
            </a:r>
          </a:p>
        </p:txBody>
      </p:sp>
      <p:pic>
        <p:nvPicPr>
          <p:cNvPr id="3" name="图片 2"/>
          <p:cNvPicPr>
            <a:picLocks noChangeAspect="1"/>
          </p:cNvPicPr>
          <p:nvPr/>
        </p:nvPicPr>
        <p:blipFill>
          <a:blip r:embed="rId2" cstate="print">
            <a:lum bright="-24000" contrast="30000"/>
            <a:extLst>
              <a:ext uri="{28A0092B-C50C-407E-A947-70E740481C1C}">
                <a14:useLocalDpi xmlns:a14="http://schemas.microsoft.com/office/drawing/2010/main" val="0"/>
              </a:ext>
            </a:extLst>
          </a:blip>
          <a:srcRect/>
          <a:stretch>
            <a:fillRect/>
          </a:stretch>
        </p:blipFill>
        <p:spPr bwMode="auto">
          <a:xfrm>
            <a:off x="10042026" y="793236"/>
            <a:ext cx="1901391" cy="1686457"/>
          </a:xfrm>
          <a:prstGeom prst="rect">
            <a:avLst/>
          </a:prstGeom>
          <a:solidFill>
            <a:schemeClr val="bg1"/>
          </a:solid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1421110"/>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1133965"/>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31】</a:t>
            </a:r>
            <a:r>
              <a:rPr lang="zh-CN" altLang="en-US" sz="2400" kern="100" dirty="0">
                <a:latin typeface="Times New Roman" panose="02020603050405020304" charset="0"/>
                <a:ea typeface="HarmonyOS Sans SC" panose="00000500000000000000" pitchFamily="2" charset="-122"/>
                <a:cs typeface="Times New Roman" panose="02020603050405020304" charset="0"/>
              </a:rPr>
              <a:t>假设有</a:t>
            </a:r>
            <a:r>
              <a:rPr lang="en-US" altLang="zh-CN" sz="2400" kern="100" dirty="0">
                <a:latin typeface="Times New Roman" panose="02020603050405020304" charset="0"/>
                <a:ea typeface="HarmonyOS Sans SC" panose="00000500000000000000" pitchFamily="2" charset="-122"/>
                <a:cs typeface="Times New Roman" panose="02020603050405020304" charset="0"/>
              </a:rPr>
              <a:t>n</a:t>
            </a:r>
            <a:r>
              <a:rPr lang="zh-CN" altLang="en-US" sz="2400" kern="100" dirty="0">
                <a:latin typeface="Times New Roman" panose="02020603050405020304" charset="0"/>
                <a:ea typeface="HarmonyOS Sans SC" panose="00000500000000000000" pitchFamily="2" charset="-122"/>
                <a:cs typeface="Times New Roman" panose="02020603050405020304" charset="0"/>
              </a:rPr>
              <a:t>个顶点</a:t>
            </a:r>
            <a:r>
              <a:rPr lang="en-US" altLang="zh-CN" sz="2400" kern="100" dirty="0">
                <a:latin typeface="Times New Roman" panose="02020603050405020304" charset="0"/>
                <a:ea typeface="HarmonyOS Sans SC" panose="00000500000000000000" pitchFamily="2" charset="-122"/>
                <a:cs typeface="Times New Roman" panose="02020603050405020304" charset="0"/>
              </a:rPr>
              <a:t>e</a:t>
            </a:r>
            <a:r>
              <a:rPr lang="zh-CN" altLang="en-US" sz="2400" kern="100" dirty="0">
                <a:latin typeface="Times New Roman" panose="02020603050405020304" charset="0"/>
                <a:ea typeface="HarmonyOS Sans SC" panose="00000500000000000000" pitchFamily="2" charset="-122"/>
                <a:cs typeface="Times New Roman" panose="02020603050405020304" charset="0"/>
              </a:rPr>
              <a:t>条边的有向图用邻接表表示，删除与某个顶点</a:t>
            </a:r>
            <a:r>
              <a:rPr lang="en-US" altLang="zh-CN" sz="2400" kern="100">
                <a:effectLst/>
                <a:latin typeface="Times New Roman" panose="02020603050405020304" charset="0"/>
                <a:ea typeface="HarmonyOS Sans SC" panose="00000500000000000000" pitchFamily="2" charset="-122"/>
                <a:cs typeface="Times New Roman" panose="02020603050405020304" charset="0"/>
              </a:rPr>
              <a:t>V</a:t>
            </a:r>
            <a:r>
              <a:rPr lang="zh-CN" altLang="en-US" sz="2400" kern="100">
                <a:latin typeface="Times New Roman" panose="02020603050405020304" charset="0"/>
                <a:ea typeface="HarmonyOS Sans SC" panose="00000500000000000000" pitchFamily="2" charset="-122"/>
                <a:cs typeface="Times New Roman" panose="02020603050405020304" charset="0"/>
              </a:rPr>
              <a:t>相关</a:t>
            </a:r>
            <a:r>
              <a:rPr lang="zh-CN" altLang="en-US" sz="2400" kern="100" dirty="0">
                <a:latin typeface="Times New Roman" panose="02020603050405020304" charset="0"/>
                <a:ea typeface="HarmonyOS Sans SC" panose="00000500000000000000" pitchFamily="2" charset="-122"/>
                <a:cs typeface="Times New Roman" panose="02020603050405020304" charset="0"/>
              </a:rPr>
              <a:t>的所有边的算法的时间复杂度为</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p:txBody>
      </p:sp>
      <p:sp>
        <p:nvSpPr>
          <p:cNvPr id="5" name="文本框 4"/>
          <p:cNvSpPr txBox="1"/>
          <p:nvPr/>
        </p:nvSpPr>
        <p:spPr>
          <a:xfrm>
            <a:off x="229063" y="1465463"/>
            <a:ext cx="11641486" cy="2244589"/>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删除与某个顶点</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V</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相关的所有边的过程：先删除下标为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V</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的顶点表节点的单链表，出边数最多为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n-1</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，对应时间复杂度为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O(n)</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，再扫描所以边表的结点，删除所有的顶点</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V</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的入边，对应的时间复杂度为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O(e)</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。故总的时间复杂度为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O(</a:t>
            </a:r>
            <a:r>
              <a:rPr lang="en-US" altLang="zh-CN" sz="2400" kern="100" dirty="0" err="1">
                <a:effectLst/>
                <a:latin typeface="Times New Roman" panose="02020603050405020304" charset="0"/>
                <a:ea typeface="HarmonyOS Sans SC" panose="00000500000000000000" pitchFamily="2" charset="-122"/>
                <a:cs typeface="Times New Roman" panose="02020603050405020304" charset="0"/>
              </a:rPr>
              <a:t>n+e</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 。</a:t>
            </a:r>
          </a:p>
        </p:txBody>
      </p:sp>
      <p:sp>
        <p:nvSpPr>
          <p:cNvPr id="6" name="文本框 5"/>
          <p:cNvSpPr txBox="1"/>
          <p:nvPr/>
        </p:nvSpPr>
        <p:spPr>
          <a:xfrm>
            <a:off x="3718360" y="861250"/>
            <a:ext cx="1327145"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O(</a:t>
            </a:r>
            <a:r>
              <a:rPr lang="en-US" altLang="zh-CN" sz="2400" b="1" dirty="0" err="1">
                <a:solidFill>
                  <a:srgbClr val="FF0000"/>
                </a:solidFill>
                <a:latin typeface="Times New Roman" panose="02020603050405020304" charset="0"/>
                <a:ea typeface="HarmonyOS Sans SC" panose="00000500000000000000" pitchFamily="2" charset="-122"/>
                <a:cs typeface="Times New Roman" panose="02020603050405020304" charset="0"/>
              </a:rPr>
              <a:t>n+e</a:t>
            </a:r>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680796"/>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32】</a:t>
            </a:r>
            <a:r>
              <a:rPr lang="zh-CN" altLang="en-US" sz="2400" kern="100" dirty="0">
                <a:latin typeface="Times New Roman" panose="02020603050405020304" charset="0"/>
                <a:ea typeface="HarmonyOS Sans SC" panose="00000500000000000000" pitchFamily="2" charset="-122"/>
                <a:cs typeface="Times New Roman" panose="02020603050405020304" charset="0"/>
              </a:rPr>
              <a:t>若图的邻接矩阵中主对角线上的元素全是 </a:t>
            </a:r>
            <a:r>
              <a:rPr lang="en-US" altLang="zh-CN" sz="2400" kern="100" dirty="0">
                <a:latin typeface="Times New Roman" panose="02020603050405020304" charset="0"/>
                <a:ea typeface="HarmonyOS Sans SC" panose="00000500000000000000" pitchFamily="2" charset="-122"/>
                <a:cs typeface="Times New Roman" panose="02020603050405020304" charset="0"/>
              </a:rPr>
              <a:t>0</a:t>
            </a:r>
            <a:r>
              <a:rPr lang="zh-CN" altLang="en-US" sz="2400" kern="100" dirty="0">
                <a:latin typeface="Times New Roman" panose="02020603050405020304" charset="0"/>
                <a:ea typeface="HarmonyOS Sans SC" panose="00000500000000000000" pitchFamily="2" charset="-122"/>
                <a:cs typeface="Times New Roman" panose="02020603050405020304" charset="0"/>
              </a:rPr>
              <a:t>，其余元素全是</a:t>
            </a:r>
            <a:r>
              <a:rPr lang="en-US" altLang="zh-CN" sz="2400" kern="100" dirty="0">
                <a:latin typeface="Times New Roman" panose="02020603050405020304" charset="0"/>
                <a:ea typeface="HarmonyOS Sans SC" panose="00000500000000000000" pitchFamily="2" charset="-122"/>
                <a:cs typeface="Times New Roman" panose="02020603050405020304" charset="0"/>
              </a:rPr>
              <a:t>1</a:t>
            </a:r>
            <a:r>
              <a:rPr lang="zh-CN" altLang="en-US" sz="2400" kern="100" dirty="0">
                <a:latin typeface="Times New Roman" panose="02020603050405020304" charset="0"/>
                <a:ea typeface="HarmonyOS Sans SC" panose="00000500000000000000" pitchFamily="2" charset="-122"/>
                <a:cs typeface="Times New Roman" panose="02020603050405020304" charset="0"/>
              </a:rPr>
              <a:t>，则可以断定该图一定是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、无向图</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、不是带权图</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、有向图</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、完全图</a:t>
            </a:r>
          </a:p>
        </p:txBody>
      </p:sp>
      <p:sp>
        <p:nvSpPr>
          <p:cNvPr id="5" name="文本框 4"/>
          <p:cNvSpPr txBox="1"/>
          <p:nvPr/>
        </p:nvSpPr>
        <p:spPr>
          <a:xfrm>
            <a:off x="229063" y="3717303"/>
            <a:ext cx="11641486" cy="1690591"/>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除主对角线上的元素，其余元素全为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，则说明任意两个顶点之间都有边相连，则该图一定是完全图。</a:t>
            </a:r>
          </a:p>
        </p:txBody>
      </p:sp>
      <p:sp>
        <p:nvSpPr>
          <p:cNvPr id="6" name="文本框 5"/>
          <p:cNvSpPr txBox="1"/>
          <p:nvPr/>
        </p:nvSpPr>
        <p:spPr>
          <a:xfrm>
            <a:off x="1789279" y="861250"/>
            <a:ext cx="506051"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1968106"/>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1690591"/>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33】</a:t>
            </a:r>
            <a:r>
              <a:rPr lang="zh-CN" altLang="en-US" sz="2400" kern="100" dirty="0">
                <a:latin typeface="Times New Roman" panose="02020603050405020304" charset="0"/>
                <a:ea typeface="HarmonyOS Sans SC" panose="00000500000000000000" pitchFamily="2" charset="-122"/>
                <a:cs typeface="Times New Roman" panose="02020603050405020304" charset="0"/>
              </a:rPr>
              <a:t>设哈希表长为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12</a:t>
            </a:r>
            <a:r>
              <a:rPr lang="zh-CN" altLang="en-US" sz="2400" kern="100" dirty="0">
                <a:latin typeface="Times New Roman" panose="02020603050405020304" charset="0"/>
                <a:ea typeface="HarmonyOS Sans SC" panose="00000500000000000000" pitchFamily="2" charset="-122"/>
                <a:cs typeface="Times New Roman" panose="02020603050405020304" charset="0"/>
              </a:rPr>
              <a:t>，哈希函数为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H(key)=key%11</a:t>
            </a:r>
            <a:r>
              <a:rPr lang="zh-CN" altLang="en-US" sz="2400" kern="100" dirty="0">
                <a:latin typeface="Times New Roman" panose="02020603050405020304" charset="0"/>
                <a:ea typeface="HarmonyOS Sans SC" panose="00000500000000000000" pitchFamily="2" charset="-122"/>
                <a:cs typeface="Times New Roman" panose="02020603050405020304" charset="0"/>
              </a:rPr>
              <a:t>，表中已有数据关键字为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26</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16</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50</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68</a:t>
            </a:r>
            <a:r>
              <a:rPr lang="zh-CN" altLang="en-US" sz="2400" kern="100" dirty="0">
                <a:latin typeface="Times New Roman" panose="02020603050405020304" charset="0"/>
                <a:ea typeface="HarmonyOS Sans SC" panose="00000500000000000000" pitchFamily="2" charset="-122"/>
                <a:cs typeface="Times New Roman" panose="02020603050405020304" charset="0"/>
              </a:rPr>
              <a:t>共四个。现要将关键字为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38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的结点加到列表中，用线性探测再散列解决冲突，则放入的位置是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p:txBody>
      </p:sp>
      <p:sp>
        <p:nvSpPr>
          <p:cNvPr id="5" name="文本框 4"/>
          <p:cNvSpPr txBox="1"/>
          <p:nvPr/>
        </p:nvSpPr>
        <p:spPr>
          <a:xfrm>
            <a:off x="229063" y="2059560"/>
            <a:ext cx="11641486" cy="2306955"/>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endParaRP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已有的关键字在表中的位置为：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26%11=4</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16%11=5</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50%11=6</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68%11=2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38</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的散列地址为：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38%11=5</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，而</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5</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的位置上有关键字，根据线性探测再散列的解决冲突的方法，向后查找，最终放到</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7</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p>
        </p:txBody>
      </p:sp>
      <p:sp>
        <p:nvSpPr>
          <p:cNvPr id="6" name="文本框 5"/>
          <p:cNvSpPr txBox="1"/>
          <p:nvPr/>
        </p:nvSpPr>
        <p:spPr>
          <a:xfrm>
            <a:off x="3328830" y="1426736"/>
            <a:ext cx="506051"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863287"/>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582595"/>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34】</a:t>
            </a:r>
            <a:r>
              <a:rPr lang="zh-CN" altLang="en-US" sz="2400" kern="100" dirty="0">
                <a:latin typeface="Times New Roman" panose="02020603050405020304" charset="0"/>
                <a:ea typeface="HarmonyOS Sans SC" panose="00000500000000000000" pitchFamily="2" charset="-122"/>
                <a:cs typeface="Times New Roman" panose="02020603050405020304" charset="0"/>
              </a:rPr>
              <a:t>折半查找的时间复杂度为</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p:txBody>
      </p:sp>
      <p:sp>
        <p:nvSpPr>
          <p:cNvPr id="5" name="文本框 4"/>
          <p:cNvSpPr txBox="1"/>
          <p:nvPr/>
        </p:nvSpPr>
        <p:spPr>
          <a:xfrm>
            <a:off x="264623" y="897276"/>
            <a:ext cx="11641486" cy="5014578"/>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假设对</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个元素的折半查找需要消耗的时间为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t(n)</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。由递归的思想，可以得出：</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如果</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 = 1</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，则</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t(n) = c1</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如果</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 &gt; 1</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，则</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t(n) = t(n/2) + c2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，其中</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需要取整，</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c1</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c2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都是常数</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对于正整数</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，可以有：</a:t>
            </a:r>
          </a:p>
          <a:p>
            <a:pPr algn="just">
              <a:lnSpc>
                <a:spcPct val="150000"/>
              </a:lnSpc>
            </a:pP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t(n) = t(n/2) + c2</a:t>
            </a:r>
          </a:p>
          <a:p>
            <a:pPr algn="just">
              <a:lnSpc>
                <a:spcPct val="150000"/>
              </a:lnSpc>
            </a:pP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t(n/4) + 2*c2</a:t>
            </a:r>
          </a:p>
          <a:p>
            <a:pPr algn="just">
              <a:lnSpc>
                <a:spcPct val="150000"/>
              </a:lnSpc>
            </a:pP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t(n/8) + 4*c2</a:t>
            </a:r>
          </a:p>
          <a:p>
            <a:pPr algn="just">
              <a:lnSpc>
                <a:spcPct val="150000"/>
              </a:lnSpc>
            </a:pP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a:t>
            </a:r>
          </a:p>
          <a:p>
            <a:pPr algn="just">
              <a:lnSpc>
                <a:spcPct val="150000"/>
              </a:lnSpc>
            </a:pP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t(n/(2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的</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k</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次方</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 k*c2</a:t>
            </a:r>
          </a:p>
        </p:txBody>
      </p:sp>
      <p:sp>
        <p:nvSpPr>
          <p:cNvPr id="6" name="文本框 5"/>
          <p:cNvSpPr txBox="1"/>
          <p:nvPr/>
        </p:nvSpPr>
        <p:spPr>
          <a:xfrm>
            <a:off x="5028099" y="296712"/>
            <a:ext cx="1288725"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log2(n)</a:t>
            </a:r>
            <a:endParaRPr lang="zh-CN" alt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29063" y="207141"/>
            <a:ext cx="11627024" cy="582595"/>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34】</a:t>
            </a:r>
            <a:r>
              <a:rPr lang="zh-CN" altLang="en-US" sz="2400" kern="100" dirty="0">
                <a:latin typeface="Times New Roman" panose="02020603050405020304" charset="0"/>
                <a:ea typeface="HarmonyOS Sans SC" panose="00000500000000000000" pitchFamily="2" charset="-122"/>
                <a:cs typeface="Times New Roman" panose="02020603050405020304" charset="0"/>
              </a:rPr>
              <a:t>折半查找的时间复杂度为</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p:txBody>
      </p:sp>
      <p:sp>
        <p:nvSpPr>
          <p:cNvPr id="5" name="文本框 4"/>
          <p:cNvSpPr txBox="1"/>
          <p:nvPr/>
        </p:nvSpPr>
        <p:spPr>
          <a:xfrm>
            <a:off x="229063" y="977286"/>
            <a:ext cx="11641486" cy="2244589"/>
          </a:xfrm>
          <a:prstGeom prst="rect">
            <a:avLst/>
          </a:prstGeom>
          <a:noFill/>
        </p:spPr>
        <p:txBody>
          <a:bodyPr wrap="square">
            <a:spAutoFit/>
          </a:bodyPr>
          <a:lstStyle/>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一直推演下去，直到</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的</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k</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次方</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等于</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，也就是</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k = log2(n)</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，此时等式变为：</a:t>
            </a:r>
          </a:p>
          <a:p>
            <a:pPr algn="just">
              <a:lnSpc>
                <a:spcPct val="150000"/>
              </a:lnSpc>
            </a:pP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t(n) = t(1) + k*c2</a:t>
            </a:r>
          </a:p>
          <a:p>
            <a:pPr algn="just">
              <a:lnSpc>
                <a:spcPct val="150000"/>
              </a:lnSpc>
            </a:pP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 c1 + log2(n)*c2</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于是时间复杂度为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log2(n)</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p>
        </p:txBody>
      </p:sp>
      <p:sp>
        <p:nvSpPr>
          <p:cNvPr id="6" name="文本框 5"/>
          <p:cNvSpPr txBox="1"/>
          <p:nvPr/>
        </p:nvSpPr>
        <p:spPr>
          <a:xfrm>
            <a:off x="5028099" y="296712"/>
            <a:ext cx="1288725"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log2(n)</a:t>
            </a:r>
            <a:endParaRPr lang="zh-CN" altLang="en-US" sz="2400" b="1" dirty="0">
              <a:solidFill>
                <a:srgbClr val="FF0000"/>
              </a:solidFill>
            </a:endParaRPr>
          </a:p>
        </p:txBody>
      </p:sp>
      <p:sp>
        <p:nvSpPr>
          <p:cNvPr id="3" name="矩形 13"/>
          <p:cNvSpPr/>
          <p:nvPr/>
        </p:nvSpPr>
        <p:spPr>
          <a:xfrm>
            <a:off x="335598" y="863287"/>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701012"/>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35】</a:t>
            </a:r>
            <a:r>
              <a:rPr lang="zh-CN" altLang="en-US" sz="2400" kern="100" dirty="0">
                <a:latin typeface="Times New Roman" panose="02020603050405020304" charset="0"/>
                <a:ea typeface="HarmonyOS Sans SC" panose="00000500000000000000" pitchFamily="2" charset="-122"/>
                <a:cs typeface="Times New Roman" panose="02020603050405020304" charset="0"/>
              </a:rPr>
              <a:t>若某平衡二叉树的高度为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4</a:t>
            </a:r>
            <a:r>
              <a:rPr lang="zh-CN" altLang="en-US" sz="2400" kern="100" dirty="0">
                <a:latin typeface="Times New Roman" panose="02020603050405020304" charset="0"/>
                <a:ea typeface="HarmonyOS Sans SC" panose="00000500000000000000" pitchFamily="2" charset="-122"/>
                <a:cs typeface="Times New Roman" panose="02020603050405020304" charset="0"/>
              </a:rPr>
              <a:t>，其所有非叶子结点的平衡因子均为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-1</a:t>
            </a:r>
            <a:r>
              <a:rPr lang="zh-CN" altLang="en-US" sz="2400" kern="100" dirty="0">
                <a:latin typeface="Times New Roman" panose="02020603050405020304" charset="0"/>
                <a:ea typeface="HarmonyOS Sans SC" panose="00000500000000000000" pitchFamily="2" charset="-122"/>
                <a:cs typeface="Times New Roman" panose="02020603050405020304" charset="0"/>
              </a:rPr>
              <a:t>，则该棵平衡二叉树的结点总数是 </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4</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5</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6</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7</a:t>
            </a:r>
          </a:p>
        </p:txBody>
      </p:sp>
      <p:sp>
        <p:nvSpPr>
          <p:cNvPr id="5" name="文本框 4"/>
          <p:cNvSpPr txBox="1"/>
          <p:nvPr/>
        </p:nvSpPr>
        <p:spPr>
          <a:xfrm>
            <a:off x="229235" y="3941445"/>
            <a:ext cx="4295140" cy="645160"/>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2*h-1=7 </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固定公式</a:t>
            </a:r>
            <a:endParaRPr lang="en-US" altLang="zh-CN" sz="2400" kern="100" dirty="0">
              <a:effectLst/>
              <a:latin typeface="Times New Roman" panose="02020603050405020304" charset="0"/>
              <a:ea typeface="HarmonyOS Sans SC" panose="00000500000000000000" pitchFamily="2" charset="-122"/>
              <a:cs typeface="Times New Roman" panose="02020603050405020304" charset="0"/>
            </a:endParaRPr>
          </a:p>
        </p:txBody>
      </p:sp>
      <p:sp>
        <p:nvSpPr>
          <p:cNvPr id="6" name="文本框 5"/>
          <p:cNvSpPr txBox="1"/>
          <p:nvPr/>
        </p:nvSpPr>
        <p:spPr>
          <a:xfrm>
            <a:off x="3934444" y="881404"/>
            <a:ext cx="618022"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D</a:t>
            </a:r>
            <a:endParaRPr lang="zh-CN" alt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868793"/>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582595"/>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36】</a:t>
            </a:r>
            <a:r>
              <a:rPr lang="zh-CN" altLang="en-US" sz="2400" kern="100" dirty="0">
                <a:latin typeface="Times New Roman" panose="02020603050405020304" charset="0"/>
                <a:ea typeface="HarmonyOS Sans SC" panose="00000500000000000000" pitchFamily="2" charset="-122"/>
                <a:cs typeface="Times New Roman" panose="02020603050405020304" charset="0"/>
              </a:rPr>
              <a:t>请将关键字序列为（</a:t>
            </a:r>
            <a:r>
              <a:rPr lang="en-US" altLang="zh-CN" sz="2400" kern="100" dirty="0">
                <a:latin typeface="Times New Roman" panose="02020603050405020304" charset="0"/>
                <a:ea typeface="HarmonyOS Sans SC" panose="00000500000000000000" pitchFamily="2" charset="-122"/>
                <a:cs typeface="Times New Roman" panose="02020603050405020304" charset="0"/>
              </a:rPr>
              <a:t>13,24,37,90,53)</a:t>
            </a:r>
            <a:r>
              <a:rPr lang="zh-CN" altLang="en-US" sz="2400" kern="100" dirty="0">
                <a:latin typeface="Times New Roman" panose="02020603050405020304" charset="0"/>
                <a:ea typeface="HarmonyOS Sans SC" panose="00000500000000000000" pitchFamily="2" charset="-122"/>
                <a:cs typeface="Times New Roman" panose="02020603050405020304" charset="0"/>
              </a:rPr>
              <a:t>构造为一棵平衡二叉树</a:t>
            </a:r>
            <a:endParaRPr lang="en-US" altLang="zh-CN" sz="2400" kern="100" dirty="0">
              <a:latin typeface="Times New Roman" panose="02020603050405020304" charset="0"/>
              <a:ea typeface="HarmonyOS Sans SC" panose="00000500000000000000" pitchFamily="2" charset="-122"/>
              <a:cs typeface="Times New Roman" panose="02020603050405020304" charset="0"/>
            </a:endParaRPr>
          </a:p>
        </p:txBody>
      </p:sp>
      <p:grpSp>
        <p:nvGrpSpPr>
          <p:cNvPr id="9" name="组合 8"/>
          <p:cNvGrpSpPr/>
          <p:nvPr/>
        </p:nvGrpSpPr>
        <p:grpSpPr>
          <a:xfrm>
            <a:off x="229063" y="1053027"/>
            <a:ext cx="11641486" cy="2670810"/>
            <a:chOff x="229063" y="1053027"/>
            <a:chExt cx="11641486" cy="2670810"/>
          </a:xfrm>
        </p:grpSpPr>
        <p:sp>
          <p:nvSpPr>
            <p:cNvPr id="5" name="文本框 4"/>
            <p:cNvSpPr txBox="1"/>
            <p:nvPr/>
          </p:nvSpPr>
          <p:spPr>
            <a:xfrm>
              <a:off x="229063" y="1053027"/>
              <a:ext cx="11641486" cy="582595"/>
            </a:xfrm>
            <a:prstGeom prst="rect">
              <a:avLst/>
            </a:prstGeom>
            <a:noFill/>
          </p:spPr>
          <p:txBody>
            <a:bodyPr wrap="square">
              <a:spAutoFit/>
            </a:bodyPr>
            <a:lstStyle/>
            <a:p>
              <a:pPr algn="just">
                <a:lnSpc>
                  <a:spcPct val="150000"/>
                </a:lnSpc>
              </a:pPr>
              <a:r>
                <a:rPr lang="zh-CN" altLang="en-US"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参考答案</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endParaRPr lang="en-US" altLang="zh-CN" sz="2400" kern="100" dirty="0">
                <a:effectLst/>
                <a:latin typeface="Times New Roman" panose="02020603050405020304" charset="0"/>
                <a:ea typeface="HarmonyOS Sans SC" panose="00000500000000000000" pitchFamily="2" charset="-122"/>
                <a:cs typeface="Times New Roman" panose="02020603050405020304" charset="0"/>
              </a:endParaRPr>
            </a:p>
          </p:txBody>
        </p:sp>
        <p:pic>
          <p:nvPicPr>
            <p:cNvPr id="7" name="图片 6"/>
            <p:cNvPicPr>
              <a:picLocks noChangeAspect="1"/>
            </p:cNvPicPr>
            <p:nvPr/>
          </p:nvPicPr>
          <p:blipFill>
            <a:blip r:embed="rId2">
              <a:lum bright="-42000" contrast="100000"/>
            </a:blip>
            <a:srcRect/>
            <a:stretch>
              <a:fillRect/>
            </a:stretch>
          </p:blipFill>
          <p:spPr bwMode="auto">
            <a:xfrm>
              <a:off x="1699088" y="1234002"/>
              <a:ext cx="2489835" cy="2489835"/>
            </a:xfrm>
            <a:prstGeom prst="rect">
              <a:avLst/>
            </a:prstGeom>
            <a:noFill/>
            <a:ln>
              <a:noFill/>
            </a:ln>
          </p:spPr>
        </p:pic>
      </p:grpSp>
      <p:grpSp>
        <p:nvGrpSpPr>
          <p:cNvPr id="10" name="组合 9"/>
          <p:cNvGrpSpPr/>
          <p:nvPr/>
        </p:nvGrpSpPr>
        <p:grpSpPr>
          <a:xfrm>
            <a:off x="229063" y="3727993"/>
            <a:ext cx="11641486" cy="2793365"/>
            <a:chOff x="229063" y="3560042"/>
            <a:chExt cx="11641486" cy="2793365"/>
          </a:xfrm>
        </p:grpSpPr>
        <p:sp>
          <p:nvSpPr>
            <p:cNvPr id="3" name="文本框 2"/>
            <p:cNvSpPr txBox="1"/>
            <p:nvPr/>
          </p:nvSpPr>
          <p:spPr>
            <a:xfrm>
              <a:off x="229063" y="3560042"/>
              <a:ext cx="11641486" cy="582595"/>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两次调整过程如下</a:t>
              </a:r>
            </a:p>
          </p:txBody>
        </p:sp>
        <p:pic>
          <p:nvPicPr>
            <p:cNvPr id="8" name="图片 7"/>
            <p:cNvPicPr>
              <a:picLocks noChangeAspect="1"/>
            </p:cNvPicPr>
            <p:nvPr/>
          </p:nvPicPr>
          <p:blipFill rotWithShape="1">
            <a:blip r:embed="rId3">
              <a:lum bright="-36000" contrast="60000"/>
            </a:blip>
            <a:srcRect t="16565" b="16168"/>
            <a:stretch>
              <a:fillRect/>
            </a:stretch>
          </p:blipFill>
          <p:spPr bwMode="auto">
            <a:xfrm>
              <a:off x="3821893" y="3685772"/>
              <a:ext cx="7110730" cy="2667635"/>
            </a:xfrm>
            <a:prstGeom prst="rect">
              <a:avLst/>
            </a:prstGeom>
            <a:noFill/>
            <a:ln>
              <a:noFill/>
            </a:ln>
          </p:spPr>
        </p:pic>
      </p:grpSp>
      <p:grpSp>
        <p:nvGrpSpPr>
          <p:cNvPr id="15" name="组合 14"/>
          <p:cNvGrpSpPr/>
          <p:nvPr/>
        </p:nvGrpSpPr>
        <p:grpSpPr>
          <a:xfrm>
            <a:off x="1797050" y="1233805"/>
            <a:ext cx="2290445" cy="2470150"/>
            <a:chOff x="2830" y="1943"/>
            <a:chExt cx="3607" cy="3890"/>
          </a:xfrm>
        </p:grpSpPr>
        <p:sp>
          <p:nvSpPr>
            <p:cNvPr id="6" name="椭圆 5"/>
            <p:cNvSpPr/>
            <p:nvPr/>
          </p:nvSpPr>
          <p:spPr>
            <a:xfrm>
              <a:off x="2830" y="3317"/>
              <a:ext cx="989" cy="987"/>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latin typeface="Times New Roman" panose="02020603050405020304" charset="0"/>
                  <a:cs typeface="Times New Roman" panose="02020603050405020304" charset="0"/>
                </a:rPr>
                <a:t>13</a:t>
              </a:r>
            </a:p>
          </p:txBody>
        </p:sp>
        <p:sp>
          <p:nvSpPr>
            <p:cNvPr id="11" name="椭圆 10"/>
            <p:cNvSpPr/>
            <p:nvPr/>
          </p:nvSpPr>
          <p:spPr>
            <a:xfrm>
              <a:off x="4626" y="3317"/>
              <a:ext cx="989" cy="987"/>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latin typeface="Times New Roman" panose="02020603050405020304" charset="0"/>
                  <a:cs typeface="Times New Roman" panose="02020603050405020304" charset="0"/>
                </a:rPr>
                <a:t>53</a:t>
              </a:r>
            </a:p>
          </p:txBody>
        </p:sp>
        <p:sp>
          <p:nvSpPr>
            <p:cNvPr id="12" name="椭圆 11"/>
            <p:cNvSpPr/>
            <p:nvPr/>
          </p:nvSpPr>
          <p:spPr>
            <a:xfrm>
              <a:off x="3774" y="1943"/>
              <a:ext cx="989" cy="987"/>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latin typeface="Times New Roman" panose="02020603050405020304" charset="0"/>
                  <a:cs typeface="Times New Roman" panose="02020603050405020304" charset="0"/>
                </a:rPr>
                <a:t>24</a:t>
              </a:r>
            </a:p>
          </p:txBody>
        </p:sp>
        <p:sp>
          <p:nvSpPr>
            <p:cNvPr id="13" name="椭圆 12"/>
            <p:cNvSpPr/>
            <p:nvPr/>
          </p:nvSpPr>
          <p:spPr>
            <a:xfrm>
              <a:off x="5449" y="4847"/>
              <a:ext cx="989" cy="987"/>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latin typeface="Times New Roman" panose="02020603050405020304" charset="0"/>
                  <a:cs typeface="Times New Roman" panose="02020603050405020304" charset="0"/>
                </a:rPr>
                <a:t>90</a:t>
              </a:r>
            </a:p>
          </p:txBody>
        </p:sp>
        <p:sp>
          <p:nvSpPr>
            <p:cNvPr id="14" name="椭圆 13"/>
            <p:cNvSpPr/>
            <p:nvPr/>
          </p:nvSpPr>
          <p:spPr>
            <a:xfrm>
              <a:off x="3819" y="4847"/>
              <a:ext cx="989" cy="987"/>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latin typeface="Times New Roman" panose="02020603050405020304" charset="0"/>
                  <a:cs typeface="Times New Roman" panose="02020603050405020304" charset="0"/>
                </a:rPr>
                <a:t>37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131140"/>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2798587"/>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37】</a:t>
            </a:r>
            <a:r>
              <a:rPr lang="zh-CN" altLang="en-US" sz="2400" kern="100" dirty="0">
                <a:latin typeface="Times New Roman" panose="02020603050405020304" charset="0"/>
                <a:ea typeface="HarmonyOS Sans SC" panose="00000500000000000000" pitchFamily="2" charset="-122"/>
                <a:cs typeface="Times New Roman" panose="02020603050405020304" charset="0"/>
              </a:rPr>
              <a:t>在下列查找方法中，平均查找长度与记录个数 </a:t>
            </a:r>
            <a:r>
              <a:rPr lang="en-US" altLang="zh-CN" sz="2400" kern="100" dirty="0">
                <a:latin typeface="Times New Roman" panose="02020603050405020304" charset="0"/>
                <a:ea typeface="HarmonyOS Sans SC" panose="00000500000000000000" pitchFamily="2" charset="-122"/>
                <a:cs typeface="Times New Roman" panose="02020603050405020304" charset="0"/>
              </a:rPr>
              <a:t>n </a:t>
            </a:r>
            <a:r>
              <a:rPr lang="zh-CN" altLang="en-US" sz="2400" kern="100" dirty="0">
                <a:latin typeface="Times New Roman" panose="02020603050405020304" charset="0"/>
                <a:ea typeface="HarmonyOS Sans SC" panose="00000500000000000000" pitchFamily="2" charset="-122"/>
                <a:cs typeface="Times New Roman" panose="02020603050405020304" charset="0"/>
              </a:rPr>
              <a:t>无关的查找方法是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、顺序查找</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、折半查找</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、分块查找</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、哈希查找</a:t>
            </a:r>
          </a:p>
        </p:txBody>
      </p:sp>
      <p:sp>
        <p:nvSpPr>
          <p:cNvPr id="5" name="文本框 4"/>
          <p:cNvSpPr txBox="1"/>
          <p:nvPr/>
        </p:nvSpPr>
        <p:spPr>
          <a:xfrm>
            <a:off x="229063" y="3169326"/>
            <a:ext cx="11641486" cy="2861310"/>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哈希查找是通过计算数据元素的存储地址进行查找的一种方法。</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其本质是先将数据映射成它的哈希值。哈希查找的核心是构造一个哈希函数，它将原来直观、整洁的数据映射为看上去似乎是随机的一些整数。</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查找次数与记录个数无关，与冲突情况有关。</a:t>
            </a:r>
          </a:p>
        </p:txBody>
      </p:sp>
      <p:sp>
        <p:nvSpPr>
          <p:cNvPr id="6" name="文本框 5"/>
          <p:cNvSpPr txBox="1"/>
          <p:nvPr/>
        </p:nvSpPr>
        <p:spPr>
          <a:xfrm>
            <a:off x="10532068" y="314000"/>
            <a:ext cx="618022" cy="461665"/>
          </a:xfrm>
          <a:prstGeom prst="rect">
            <a:avLst/>
          </a:prstGeom>
          <a:noFill/>
        </p:spPr>
        <p:txBody>
          <a:bodyPr wrap="square">
            <a:spAutoFit/>
          </a:bodyPr>
          <a:lstStyle/>
          <a:p>
            <a:r>
              <a:rPr lang="en-US" altLang="zh-CN" sz="2400" dirty="0">
                <a:solidFill>
                  <a:srgbClr val="FF0000"/>
                </a:solidFill>
                <a:latin typeface="Times New Roman" panose="02020603050405020304" charset="0"/>
                <a:ea typeface="HarmonyOS Sans SC" panose="00000500000000000000" pitchFamily="2" charset="-122"/>
                <a:cs typeface="Times New Roman" panose="02020603050405020304" charset="0"/>
              </a:rPr>
              <a:t>D</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161554"/>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2798587"/>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38】</a:t>
            </a:r>
            <a:r>
              <a:rPr lang="zh-CN" altLang="en-US" sz="2400" kern="100" dirty="0">
                <a:latin typeface="Times New Roman" panose="02020603050405020304" charset="0"/>
                <a:ea typeface="HarmonyOS Sans SC" panose="00000500000000000000" pitchFamily="2" charset="-122"/>
                <a:cs typeface="Times New Roman" panose="02020603050405020304" charset="0"/>
              </a:rPr>
              <a:t>对一组数据（</a:t>
            </a:r>
            <a:r>
              <a:rPr lang="en-US" altLang="zh-CN" sz="2400" kern="100" dirty="0">
                <a:latin typeface="Times New Roman" panose="02020603050405020304" charset="0"/>
                <a:ea typeface="HarmonyOS Sans SC" panose="00000500000000000000" pitchFamily="2" charset="-122"/>
                <a:cs typeface="Times New Roman" panose="02020603050405020304" charset="0"/>
              </a:rPr>
              <a:t>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16</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88</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5</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10</a:t>
            </a:r>
            <a:r>
              <a:rPr lang="zh-CN" altLang="en-US" sz="2400" kern="100" dirty="0">
                <a:latin typeface="Times New Roman" panose="02020603050405020304" charset="0"/>
                <a:ea typeface="HarmonyOS Sans SC" panose="00000500000000000000" pitchFamily="2" charset="-122"/>
                <a:cs typeface="Times New Roman" panose="02020603050405020304" charset="0"/>
              </a:rPr>
              <a:t>）进行排序，若前三趟排序结果如下：</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第一趟：</a:t>
            </a:r>
            <a:r>
              <a:rPr lang="en-US" altLang="zh-CN" sz="2400" kern="100" dirty="0">
                <a:latin typeface="Times New Roman" panose="02020603050405020304" charset="0"/>
                <a:ea typeface="HarmonyOS Sans SC" panose="00000500000000000000" pitchFamily="2" charset="-122"/>
                <a:cs typeface="Times New Roman" panose="02020603050405020304" charset="0"/>
              </a:rPr>
              <a:t>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16</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5</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10</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88    </a:t>
            </a:r>
            <a:r>
              <a:rPr lang="zh-CN" altLang="en-US" sz="2400" kern="100" dirty="0">
                <a:latin typeface="Times New Roman" panose="02020603050405020304" charset="0"/>
                <a:ea typeface="HarmonyOS Sans SC" panose="00000500000000000000" pitchFamily="2" charset="-122"/>
                <a:cs typeface="Times New Roman" panose="02020603050405020304" charset="0"/>
              </a:rPr>
              <a:t>第二趟：</a:t>
            </a:r>
            <a:r>
              <a:rPr lang="en-US" altLang="zh-CN" sz="2400" kern="100" dirty="0">
                <a:latin typeface="Times New Roman" panose="02020603050405020304" charset="0"/>
                <a:ea typeface="HarmonyOS Sans SC" panose="00000500000000000000" pitchFamily="2" charset="-122"/>
                <a:cs typeface="Times New Roman" panose="02020603050405020304" charset="0"/>
              </a:rPr>
              <a:t>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5</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10</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16</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88</a:t>
            </a:r>
          </a:p>
          <a:p>
            <a:pPr algn="just">
              <a:lnSpc>
                <a:spcPct val="150000"/>
              </a:lnSpc>
            </a:pPr>
            <a:r>
              <a:rPr lang="zh-CN" altLang="en-US" sz="2400" kern="100" dirty="0">
                <a:latin typeface="Times New Roman" panose="02020603050405020304" charset="0"/>
                <a:ea typeface="HarmonyOS Sans SC" panose="00000500000000000000" pitchFamily="2" charset="-122"/>
                <a:cs typeface="Times New Roman" panose="02020603050405020304" charset="0"/>
              </a:rPr>
              <a:t>第三趟：</a:t>
            </a:r>
            <a:r>
              <a:rPr lang="en-US" altLang="zh-CN" sz="2400" kern="100" dirty="0">
                <a:latin typeface="Times New Roman" panose="02020603050405020304" charset="0"/>
                <a:ea typeface="HarmonyOS Sans SC" panose="00000500000000000000" pitchFamily="2" charset="-122"/>
                <a:cs typeface="Times New Roman" panose="02020603050405020304" charset="0"/>
              </a:rPr>
              <a:t>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5</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10</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12</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16</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88    </a:t>
            </a:r>
            <a:r>
              <a:rPr lang="zh-CN" altLang="en-US" sz="2400" kern="100" dirty="0">
                <a:latin typeface="Times New Roman" panose="02020603050405020304" charset="0"/>
                <a:ea typeface="HarmonyOS Sans SC" panose="00000500000000000000" pitchFamily="2" charset="-122"/>
                <a:cs typeface="Times New Roman" panose="02020603050405020304" charset="0"/>
              </a:rPr>
              <a:t>则采用的排序方法可能是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、冒泡排序法               </a:t>
            </a: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、希尔排序法</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、归并排序法               </a:t>
            </a: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、基数排序法</a:t>
            </a:r>
          </a:p>
        </p:txBody>
      </p:sp>
      <p:sp>
        <p:nvSpPr>
          <p:cNvPr id="5" name="文本框 4"/>
          <p:cNvSpPr txBox="1"/>
          <p:nvPr/>
        </p:nvSpPr>
        <p:spPr>
          <a:xfrm>
            <a:off x="229063" y="3190104"/>
            <a:ext cx="11641486" cy="3352584"/>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考查各排序算法的特点；</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第一趟：</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16</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5</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10</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88</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，是</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88</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到了序列的末尾；</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第二趟：</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5</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10</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16</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88</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，是</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16</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到了序列的倒数第二个位置；</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第三趟：</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5</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10</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16</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88</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，是</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12</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到了序列的倒数第三个位置；</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根据这三趟排序时，均是大数排到末尾的特点可以知道，本题目中采用了起泡排序。</a:t>
            </a:r>
          </a:p>
        </p:txBody>
      </p:sp>
      <p:sp>
        <p:nvSpPr>
          <p:cNvPr id="6" name="文本框 5"/>
          <p:cNvSpPr txBox="1"/>
          <p:nvPr/>
        </p:nvSpPr>
        <p:spPr>
          <a:xfrm>
            <a:off x="8405272" y="1453696"/>
            <a:ext cx="618022"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A</a:t>
            </a:r>
            <a:endParaRPr lang="zh-CN" alt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645450"/>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39】</a:t>
            </a:r>
            <a:r>
              <a:rPr lang="zh-CN" altLang="en-US" sz="2400" kern="100" dirty="0">
                <a:latin typeface="Times New Roman" panose="02020603050405020304" charset="0"/>
                <a:ea typeface="HarmonyOS Sans SC" panose="00000500000000000000" pitchFamily="2" charset="-122"/>
                <a:cs typeface="Times New Roman" panose="02020603050405020304" charset="0"/>
              </a:rPr>
              <a:t>若以下数据元素序列 </a:t>
            </a:r>
            <a:r>
              <a:rPr lang="en-US" altLang="zh-CN" sz="2400" kern="100" dirty="0">
                <a:latin typeface="Times New Roman" panose="02020603050405020304" charset="0"/>
                <a:ea typeface="HarmonyOS Sans SC" panose="00000500000000000000" pitchFamily="2" charset="-122"/>
                <a:cs typeface="Times New Roman" panose="02020603050405020304" charset="0"/>
              </a:rPr>
              <a:t>13,14,15,8,9,10,23,4,5 </a:t>
            </a:r>
            <a:r>
              <a:rPr lang="zh-CN" altLang="en-US" sz="2400" kern="100" dirty="0">
                <a:latin typeface="Times New Roman" panose="02020603050405020304" charset="0"/>
                <a:ea typeface="HarmonyOS Sans SC" panose="00000500000000000000" pitchFamily="2" charset="-122"/>
                <a:cs typeface="Times New Roman" panose="02020603050405020304" charset="0"/>
              </a:rPr>
              <a:t>是采用某种排序方法得到的第二趟排序结果，则该排序算法只能是</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、起泡排序</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、插入排序</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、选择排序</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、二路归并排序</a:t>
            </a:r>
          </a:p>
        </p:txBody>
      </p:sp>
      <p:sp>
        <p:nvSpPr>
          <p:cNvPr id="5" name="文本框 4"/>
          <p:cNvSpPr txBox="1"/>
          <p:nvPr/>
        </p:nvSpPr>
        <p:spPr>
          <a:xfrm>
            <a:off x="229063" y="3684432"/>
            <a:ext cx="11641486" cy="2798587"/>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由于冒泡和选择排序每一趟之后，总会有一个元素被放置在最终位置上，显然这里</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(13</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14)</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和</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(4</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5)</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所处位置并不是最终位置，故而不可能是冒泡和选择排序。二路归并算法经过第二趟后应该是每</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4</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个元素有序的，但</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(13</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14</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15</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8)</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并非有序，故而也不可能是二路归并排序。</a:t>
            </a:r>
          </a:p>
        </p:txBody>
      </p:sp>
      <p:sp>
        <p:nvSpPr>
          <p:cNvPr id="6" name="文本框 5"/>
          <p:cNvSpPr txBox="1"/>
          <p:nvPr/>
        </p:nvSpPr>
        <p:spPr>
          <a:xfrm>
            <a:off x="4737758" y="864509"/>
            <a:ext cx="618022" cy="460375"/>
          </a:xfrm>
          <a:prstGeom prst="rect">
            <a:avLst/>
          </a:prstGeom>
          <a:noFill/>
        </p:spPr>
        <p:txBody>
          <a:bodyPr wrap="square">
            <a:spAutoFit/>
          </a:bodyPr>
          <a:lstStyle/>
          <a:p>
            <a:r>
              <a:rPr lang="en-US" altLang="zh-CN" sz="2400" b="1">
                <a:solidFill>
                  <a:srgbClr val="FF0000"/>
                </a:solidFill>
                <a:latin typeface="Times New Roman" panose="02020603050405020304" charset="0"/>
                <a:ea typeface="HarmonyOS Sans SC" panose="00000500000000000000" pitchFamily="2" charset="-122"/>
                <a:cs typeface="Times New Roman" panose="02020603050405020304" charset="0"/>
              </a:rPr>
              <a:t>B</a:t>
            </a:r>
            <a:endParaRPr lang="zh-CN" alt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3"/>
          <p:cNvSpPr/>
          <p:nvPr/>
        </p:nvSpPr>
        <p:spPr>
          <a:xfrm>
            <a:off x="335598" y="3668509"/>
            <a:ext cx="11520488" cy="36513"/>
          </a:xfrm>
          <a:prstGeom prst="rect">
            <a:avLst/>
          </a:prstGeom>
          <a:solidFill>
            <a:srgbClr val="1DC0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kumimoji="1" lang="zh-CN" altLang="en-US" strike="noStrike" noProof="1">
              <a:latin typeface="Times New Roman" panose="02020603050405020304" charset="0"/>
              <a:cs typeface="Times New Roman" panose="02020603050405020304" charset="0"/>
            </a:endParaRPr>
          </a:p>
        </p:txBody>
      </p:sp>
      <p:sp>
        <p:nvSpPr>
          <p:cNvPr id="4" name="文本框 3"/>
          <p:cNvSpPr txBox="1"/>
          <p:nvPr/>
        </p:nvSpPr>
        <p:spPr>
          <a:xfrm>
            <a:off x="229063" y="207141"/>
            <a:ext cx="11627024" cy="3352584"/>
          </a:xfrm>
          <a:prstGeom prst="rect">
            <a:avLst/>
          </a:prstGeom>
          <a:noFill/>
        </p:spPr>
        <p:txBody>
          <a:bodyPr wrap="square">
            <a:spAutoFit/>
          </a:bodyPr>
          <a:lstStyle/>
          <a:p>
            <a:pPr algn="just">
              <a:lnSpc>
                <a:spcPct val="150000"/>
              </a:lnSpc>
            </a:pP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a:t>
            </a:r>
            <a:r>
              <a:rPr lang="zh-CN" altLang="en-US" sz="2400" b="1" dirty="0">
                <a:solidFill>
                  <a:srgbClr val="1DC0C4"/>
                </a:solidFill>
                <a:latin typeface="Times New Roman" panose="02020603050405020304" charset="0"/>
                <a:ea typeface="HarmonyOS Sans SC" panose="00000500000000000000" pitchFamily="2" charset="-122"/>
                <a:cs typeface="Times New Roman" panose="02020603050405020304" charset="0"/>
              </a:rPr>
              <a:t>题</a:t>
            </a:r>
            <a:r>
              <a:rPr lang="en-US" altLang="zh-CN" sz="2400" b="1" dirty="0">
                <a:solidFill>
                  <a:srgbClr val="1DC0C4"/>
                </a:solidFill>
                <a:latin typeface="Times New Roman" panose="02020603050405020304" charset="0"/>
                <a:ea typeface="HarmonyOS Sans SC" panose="00000500000000000000" pitchFamily="2" charset="-122"/>
                <a:cs typeface="Times New Roman" panose="02020603050405020304" charset="0"/>
              </a:rPr>
              <a:t>40】</a:t>
            </a:r>
            <a:r>
              <a:rPr lang="zh-CN" altLang="en-US" sz="2400" kern="100" dirty="0">
                <a:latin typeface="Times New Roman" panose="02020603050405020304" charset="0"/>
                <a:ea typeface="HarmonyOS Sans SC" panose="00000500000000000000" pitchFamily="2" charset="-122"/>
                <a:cs typeface="Times New Roman" panose="02020603050405020304" charset="0"/>
              </a:rPr>
              <a:t>表长为 </a:t>
            </a:r>
            <a:r>
              <a:rPr lang="en-US" altLang="zh-CN" sz="2400" kern="100" dirty="0">
                <a:latin typeface="Times New Roman" panose="02020603050405020304" charset="0"/>
                <a:ea typeface="HarmonyOS Sans SC" panose="00000500000000000000" pitchFamily="2" charset="-122"/>
                <a:cs typeface="Times New Roman" panose="02020603050405020304" charset="0"/>
              </a:rPr>
              <a:t>1000 </a:t>
            </a:r>
            <a:r>
              <a:rPr lang="zh-CN" altLang="en-US" sz="2400" kern="100" dirty="0">
                <a:latin typeface="Times New Roman" panose="02020603050405020304" charset="0"/>
                <a:ea typeface="HarmonyOS Sans SC" panose="00000500000000000000" pitchFamily="2" charset="-122"/>
                <a:cs typeface="Times New Roman" panose="02020603050405020304" charset="0"/>
              </a:rPr>
              <a:t>的顺序存储的线性表，当在任何一个位置上插入一个元素的概率相等时，插入一个新元素所需移动元素的平均个数为</a:t>
            </a:r>
            <a:r>
              <a:rPr lang="zh-CN" altLang="en-US" sz="2400" u="sng" kern="100" dirty="0">
                <a:latin typeface="Times New Roman" panose="02020603050405020304" charset="0"/>
                <a:ea typeface="HarmonyOS Sans SC" panose="00000500000000000000" pitchFamily="2" charset="-122"/>
                <a:cs typeface="Times New Roman" panose="02020603050405020304" charset="0"/>
              </a:rPr>
              <a:t>         </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A</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1000</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B</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1001</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C</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500</a:t>
            </a:r>
          </a:p>
          <a:p>
            <a:pPr algn="just">
              <a:lnSpc>
                <a:spcPct val="150000"/>
              </a:lnSpc>
            </a:pPr>
            <a:r>
              <a:rPr lang="en-US" altLang="zh-CN" sz="2400" kern="100" dirty="0">
                <a:latin typeface="Times New Roman" panose="02020603050405020304" charset="0"/>
                <a:ea typeface="HarmonyOS Sans SC" panose="00000500000000000000" pitchFamily="2" charset="-122"/>
                <a:cs typeface="Times New Roman" panose="02020603050405020304" charset="0"/>
              </a:rPr>
              <a:t>D</a:t>
            </a:r>
            <a:r>
              <a:rPr lang="zh-CN" altLang="en-US" sz="2400" kern="100" dirty="0">
                <a:latin typeface="Times New Roman" panose="02020603050405020304" charset="0"/>
                <a:ea typeface="HarmonyOS Sans SC" panose="00000500000000000000" pitchFamily="2" charset="-122"/>
                <a:cs typeface="Times New Roman" panose="02020603050405020304" charset="0"/>
              </a:rPr>
              <a:t>、</a:t>
            </a:r>
            <a:r>
              <a:rPr lang="en-US" altLang="zh-CN" sz="2400" kern="100" dirty="0">
                <a:latin typeface="Times New Roman" panose="02020603050405020304" charset="0"/>
                <a:ea typeface="HarmonyOS Sans SC" panose="00000500000000000000" pitchFamily="2" charset="-122"/>
                <a:cs typeface="Times New Roman" panose="02020603050405020304" charset="0"/>
              </a:rPr>
              <a:t>499</a:t>
            </a:r>
          </a:p>
        </p:txBody>
      </p:sp>
      <p:sp>
        <p:nvSpPr>
          <p:cNvPr id="5" name="文本框 4"/>
          <p:cNvSpPr txBox="1"/>
          <p:nvPr/>
        </p:nvSpPr>
        <p:spPr>
          <a:xfrm>
            <a:off x="229063" y="3703482"/>
            <a:ext cx="11641486" cy="2244589"/>
          </a:xfrm>
          <a:prstGeom prst="rect">
            <a:avLst/>
          </a:prstGeom>
          <a:noFill/>
        </p:spPr>
        <p:txBody>
          <a:bodyPr wrap="square">
            <a:spAutoFit/>
          </a:bodyPr>
          <a:lstStyle/>
          <a:p>
            <a:pPr algn="just">
              <a:lnSpc>
                <a:spcPct val="150000"/>
              </a:lnSpc>
            </a:pPr>
            <a:r>
              <a:rPr lang="zh-CN"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解析</a:t>
            </a:r>
            <a:r>
              <a:rPr lang="en-US" altLang="zh-CN" sz="2400" kern="100" dirty="0">
                <a:solidFill>
                  <a:srgbClr val="FF0000"/>
                </a:solidFill>
                <a:latin typeface="Times New Roman" panose="02020603050405020304" charset="0"/>
                <a:ea typeface="HarmonyOS Sans SC" panose="00000500000000000000" pitchFamily="2" charset="-122"/>
                <a:cs typeface="Times New Roman" panose="02020603050405020304" charset="0"/>
              </a:rPr>
              <a:t>:</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插入一个元素，若插入元素位置为第</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0</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位，则需要移动的元素次数为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若插入元素位置为第</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n-1</a:t>
            </a: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位，则需要移动的元素次数为</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0</a:t>
            </a:r>
          </a:p>
          <a:p>
            <a:pPr algn="just">
              <a:lnSpc>
                <a:spcPct val="150000"/>
              </a:lnSpc>
            </a:pPr>
            <a:r>
              <a:rPr lang="zh-CN" altLang="en-US" sz="2400" kern="100" dirty="0">
                <a:effectLst/>
                <a:latin typeface="Times New Roman" panose="02020603050405020304" charset="0"/>
                <a:ea typeface="HarmonyOS Sans SC" panose="00000500000000000000" pitchFamily="2" charset="-122"/>
                <a:cs typeface="Times New Roman" panose="02020603050405020304" charset="0"/>
              </a:rPr>
              <a:t>需要移动元素的平均次数</a:t>
            </a:r>
            <a:r>
              <a:rPr lang="en-US" altLang="zh-CN" sz="2400" kern="100" dirty="0">
                <a:effectLst/>
                <a:latin typeface="Times New Roman" panose="02020603050405020304" charset="0"/>
                <a:ea typeface="HarmonyOS Sans SC" panose="00000500000000000000" pitchFamily="2" charset="-122"/>
                <a:cs typeface="Times New Roman" panose="02020603050405020304" charset="0"/>
              </a:rPr>
              <a:t>n/2</a:t>
            </a:r>
          </a:p>
        </p:txBody>
      </p:sp>
      <p:sp>
        <p:nvSpPr>
          <p:cNvPr id="6" name="文本框 5"/>
          <p:cNvSpPr txBox="1"/>
          <p:nvPr/>
        </p:nvSpPr>
        <p:spPr>
          <a:xfrm>
            <a:off x="7471627" y="864509"/>
            <a:ext cx="618022" cy="460375"/>
          </a:xfrm>
          <a:prstGeom prst="rect">
            <a:avLst/>
          </a:prstGeom>
          <a:noFill/>
        </p:spPr>
        <p:txBody>
          <a:bodyPr wrap="square">
            <a:spAutoFit/>
          </a:bodyPr>
          <a:lstStyle/>
          <a:p>
            <a:r>
              <a:rPr lang="en-US" altLang="zh-CN" sz="2400" b="1" dirty="0">
                <a:solidFill>
                  <a:srgbClr val="FF0000"/>
                </a:solidFill>
                <a:latin typeface="Times New Roman" panose="02020603050405020304" charset="0"/>
                <a:ea typeface="HarmonyOS Sans SC" panose="00000500000000000000" pitchFamily="2" charset="-122"/>
                <a:cs typeface="Times New Roman" panose="02020603050405020304" charset="0"/>
              </a:rPr>
              <a:t>C</a:t>
            </a:r>
            <a:endParaRPr lang="zh-CN" alt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84a5dd2e-a6f8-43d8-9ace-4d9117570ef9"/>
  <p:tag name="COMMONDATA" val="eyJoZGlkIjoiMjNhNjRkYTRhZWJiNTlkMzQ5N2Y3MTk2MmI4M2U1ZD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234</TotalTime>
  <Words>4697</Words>
  <Application>Microsoft Office PowerPoint</Application>
  <PresentationFormat>宽屏</PresentationFormat>
  <Paragraphs>319</Paragraphs>
  <Slides>43</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43</vt:i4>
      </vt:variant>
    </vt:vector>
  </HeadingPairs>
  <TitlesOfParts>
    <vt:vector size="49" baseType="lpstr">
      <vt:lpstr>等线</vt:lpstr>
      <vt:lpstr>等线 Light</vt:lpstr>
      <vt:lpstr>楷体</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 基本概念</dc:title>
  <dc:creator>Microsoft Office User</dc:creator>
  <cp:lastModifiedBy>Administrator</cp:lastModifiedBy>
  <cp:revision>129</cp:revision>
  <dcterms:created xsi:type="dcterms:W3CDTF">2021-04-01T04:11:00Z</dcterms:created>
  <dcterms:modified xsi:type="dcterms:W3CDTF">2023-02-11T17:02:09Z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3DDB9EFF221C486195980B38848E09D5</vt:lpwstr>
  </property>
  <property fmtid="{D5CDD505-2E9C-101B-9397-08002B2CF9AE}" pid="3" name="KSOProductBuildVer">
    <vt:lpwstr>2052-11.1.0.12763</vt:lpwstr>
  </property>
  <property fmtid="{D5CDD505-2E9C-101B-9397-08002B2CF9AE}" pid="4" name="KSOSaveFontToCloudKey">
    <vt:lpwstr>327829944_btnclosed</vt:lpwstr>
  </property>
</Properties>
</file>