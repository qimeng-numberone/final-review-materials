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media/audio2.bin" ContentType="audio/unknown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6" r:id="rId2"/>
    <p:sldId id="257" r:id="rId3"/>
    <p:sldId id="258" r:id="rId4"/>
    <p:sldId id="764" r:id="rId5"/>
    <p:sldId id="765" r:id="rId6"/>
    <p:sldId id="766" r:id="rId7"/>
    <p:sldId id="767" r:id="rId8"/>
    <p:sldId id="768" r:id="rId9"/>
    <p:sldId id="769" r:id="rId10"/>
    <p:sldId id="770" r:id="rId11"/>
    <p:sldId id="772" r:id="rId12"/>
    <p:sldId id="773" r:id="rId13"/>
    <p:sldId id="774" r:id="rId14"/>
    <p:sldId id="775" r:id="rId15"/>
    <p:sldId id="776" r:id="rId16"/>
    <p:sldId id="777" r:id="rId17"/>
    <p:sldId id="778" r:id="rId18"/>
    <p:sldId id="780" r:id="rId19"/>
    <p:sldId id="781" r:id="rId20"/>
    <p:sldId id="782" r:id="rId21"/>
    <p:sldId id="783" r:id="rId22"/>
    <p:sldId id="784" r:id="rId23"/>
    <p:sldId id="785" r:id="rId24"/>
    <p:sldId id="915" r:id="rId25"/>
    <p:sldId id="787" r:id="rId26"/>
    <p:sldId id="788" r:id="rId27"/>
    <p:sldId id="789" r:id="rId28"/>
    <p:sldId id="790" r:id="rId29"/>
    <p:sldId id="874" r:id="rId30"/>
    <p:sldId id="875" r:id="rId31"/>
    <p:sldId id="876" r:id="rId32"/>
    <p:sldId id="877" r:id="rId33"/>
    <p:sldId id="878" r:id="rId34"/>
    <p:sldId id="873" r:id="rId35"/>
    <p:sldId id="881" r:id="rId36"/>
    <p:sldId id="882" r:id="rId37"/>
    <p:sldId id="791" r:id="rId38"/>
    <p:sldId id="792" r:id="rId39"/>
    <p:sldId id="793" r:id="rId40"/>
    <p:sldId id="794" r:id="rId41"/>
    <p:sldId id="795" r:id="rId42"/>
    <p:sldId id="796" r:id="rId43"/>
    <p:sldId id="797" r:id="rId44"/>
    <p:sldId id="798" r:id="rId45"/>
    <p:sldId id="799" r:id="rId46"/>
    <p:sldId id="803" r:id="rId47"/>
    <p:sldId id="811" r:id="rId48"/>
    <p:sldId id="812" r:id="rId49"/>
    <p:sldId id="813" r:id="rId50"/>
    <p:sldId id="814" r:id="rId51"/>
    <p:sldId id="815" r:id="rId52"/>
    <p:sldId id="916" r:id="rId53"/>
    <p:sldId id="359" r:id="rId54"/>
    <p:sldId id="270" r:id="rId55"/>
  </p:sldIdLst>
  <p:sldSz cx="12192000" cy="6858000"/>
  <p:notesSz cx="6858000" cy="9144000"/>
  <p:custDataLst>
    <p:tags r:id="rId5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19A382"/>
    <a:srgbClr val="FFFFFF"/>
    <a:srgbClr val="FF9933"/>
    <a:srgbClr val="FF6600"/>
    <a:srgbClr val="FF7C80"/>
    <a:srgbClr val="FF3399"/>
    <a:srgbClr val="FF33CC"/>
    <a:srgbClr val="51ADB7"/>
    <a:srgbClr val="C1E2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2" autoAdjust="0"/>
    <p:restoredTop sz="87971" autoAdjust="0"/>
  </p:normalViewPr>
  <p:slideViewPr>
    <p:cSldViewPr snapToGrid="0">
      <p:cViewPr varScale="1">
        <p:scale>
          <a:sx n="60" d="100"/>
          <a:sy n="60" d="100"/>
        </p:scale>
        <p:origin x="11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40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55D49D-A1CD-45AD-8B46-696E5A02AB2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gm:spPr>
    </dgm:pt>
    <dgm:pt modelId="{763FE94A-3365-4647-B262-07EFC7B26463}">
      <dgm:prSet phldrT="[文本]"/>
      <dgm:spPr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zh-CN" altLang="en-US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关键字</a:t>
          </a:r>
        </a:p>
      </dgm:t>
    </dgm:pt>
    <dgm:pt modelId="{2655CE77-F3CE-479C-9655-5F6A85E2235F}" type="parTrans" cxnId="{49C4D0E9-A9E3-41C0-A1D1-4AED6675427D}">
      <dgm:prSet/>
      <dgm:spPr/>
      <dgm:t>
        <a:bodyPr/>
        <a:lstStyle/>
        <a:p>
          <a:endParaRPr lang="zh-CN" altLang="en-US"/>
        </a:p>
      </dgm:t>
    </dgm:pt>
    <dgm:pt modelId="{438AF80E-854C-4FD7-8E38-8E269FBFB3B6}" type="sibTrans" cxnId="{49C4D0E9-A9E3-41C0-A1D1-4AED6675427D}">
      <dgm:prSet/>
      <dgm:spPr/>
      <dgm:t>
        <a:bodyPr/>
        <a:lstStyle/>
        <a:p>
          <a:endParaRPr lang="zh-CN" altLang="en-US"/>
        </a:p>
      </dgm:t>
    </dgm:pt>
    <dgm:pt modelId="{243A0559-2FEA-4F98-9FF8-BB470E3D6FB7}">
      <dgm:prSet phldrT="[文本]"/>
      <dgm:spPr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zh-CN" altLang="en-US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存储地址</a:t>
          </a:r>
        </a:p>
      </dgm:t>
    </dgm:pt>
    <dgm:pt modelId="{D6CB40EB-C70B-4FF5-BCEE-487BB4FF9D97}" type="parTrans" cxnId="{24AB7E47-EAAC-4E9B-B165-B1B5F256D25C}">
      <dgm:prSet/>
      <dgm:spPr/>
      <dgm:t>
        <a:bodyPr/>
        <a:lstStyle/>
        <a:p>
          <a:endParaRPr lang="zh-CN" altLang="en-US"/>
        </a:p>
      </dgm:t>
    </dgm:pt>
    <dgm:pt modelId="{9413FE44-100E-4CE9-AACD-F358F70C6D9D}" type="sibTrans" cxnId="{24AB7E47-EAAC-4E9B-B165-B1B5F256D25C}">
      <dgm:prSet/>
      <dgm:spPr/>
      <dgm:t>
        <a:bodyPr/>
        <a:lstStyle/>
        <a:p>
          <a:endParaRPr lang="zh-CN" altLang="en-US"/>
        </a:p>
      </dgm:t>
    </dgm:pt>
    <dgm:pt modelId="{1ACB611C-6F26-499A-86F4-9199E03DDF0A}" type="pres">
      <dgm:prSet presAssocID="{1055D49D-A1CD-45AD-8B46-696E5A02AB26}" presName="Name0" presStyleCnt="0">
        <dgm:presLayoutVars>
          <dgm:dir/>
          <dgm:animLvl val="lvl"/>
          <dgm:resizeHandles val="exact"/>
        </dgm:presLayoutVars>
      </dgm:prSet>
      <dgm:spPr/>
    </dgm:pt>
    <dgm:pt modelId="{600319D2-BA2F-4A07-8D4B-B2BA427B6B76}" type="pres">
      <dgm:prSet presAssocID="{763FE94A-3365-4647-B262-07EFC7B26463}" presName="parTxOnly" presStyleLbl="node1" presStyleIdx="0" presStyleCnt="2">
        <dgm:presLayoutVars>
          <dgm:chMax val="0"/>
          <dgm:chPref val="0"/>
          <dgm:bulletEnabled val="1"/>
        </dgm:presLayoutVars>
      </dgm:prSet>
      <dgm:spPr>
        <a:xfrm>
          <a:off x="5357" y="1391443"/>
          <a:ext cx="3202781" cy="1281112"/>
        </a:xfrm>
        <a:prstGeom prst="chevron">
          <a:avLst/>
        </a:prstGeom>
      </dgm:spPr>
    </dgm:pt>
    <dgm:pt modelId="{56E457EF-3C91-4302-B3C4-79E6B38BF170}" type="pres">
      <dgm:prSet presAssocID="{438AF80E-854C-4FD7-8E38-8E269FBFB3B6}" presName="parTxOnlySpac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5404D64C-1725-4B30-AB88-B1410DD2AA41}" type="pres">
      <dgm:prSet presAssocID="{243A0559-2FEA-4F98-9FF8-BB470E3D6FB7}" presName="parTxOnly" presStyleLbl="node1" presStyleIdx="1" presStyleCnt="2">
        <dgm:presLayoutVars>
          <dgm:chMax val="0"/>
          <dgm:chPref val="0"/>
          <dgm:bulletEnabled val="1"/>
        </dgm:presLayoutVars>
      </dgm:prSet>
      <dgm:spPr>
        <a:xfrm>
          <a:off x="2887860" y="1391443"/>
          <a:ext cx="3202781" cy="1281112"/>
        </a:xfrm>
        <a:prstGeom prst="chevron">
          <a:avLst/>
        </a:prstGeom>
      </dgm:spPr>
    </dgm:pt>
  </dgm:ptLst>
  <dgm:cxnLst>
    <dgm:cxn modelId="{9F6EE666-82F6-4A56-B749-C7BA16AED2B4}" type="presOf" srcId="{763FE94A-3365-4647-B262-07EFC7B26463}" destId="{600319D2-BA2F-4A07-8D4B-B2BA427B6B76}" srcOrd="0" destOrd="0" presId="urn:microsoft.com/office/officeart/2005/8/layout/chevron1"/>
    <dgm:cxn modelId="{24AB7E47-EAAC-4E9B-B165-B1B5F256D25C}" srcId="{1055D49D-A1CD-45AD-8B46-696E5A02AB26}" destId="{243A0559-2FEA-4F98-9FF8-BB470E3D6FB7}" srcOrd="1" destOrd="0" parTransId="{D6CB40EB-C70B-4FF5-BCEE-487BB4FF9D97}" sibTransId="{9413FE44-100E-4CE9-AACD-F358F70C6D9D}"/>
    <dgm:cxn modelId="{7B6D59BC-61FC-4CCD-8F54-1D7791F24951}" type="presOf" srcId="{243A0559-2FEA-4F98-9FF8-BB470E3D6FB7}" destId="{5404D64C-1725-4B30-AB88-B1410DD2AA41}" srcOrd="0" destOrd="0" presId="urn:microsoft.com/office/officeart/2005/8/layout/chevron1"/>
    <dgm:cxn modelId="{209AC8D5-4224-41F8-B272-2B8E2DCCAF16}" type="presOf" srcId="{1055D49D-A1CD-45AD-8B46-696E5A02AB26}" destId="{1ACB611C-6F26-499A-86F4-9199E03DDF0A}" srcOrd="0" destOrd="0" presId="urn:microsoft.com/office/officeart/2005/8/layout/chevron1"/>
    <dgm:cxn modelId="{49C4D0E9-A9E3-41C0-A1D1-4AED6675427D}" srcId="{1055D49D-A1CD-45AD-8B46-696E5A02AB26}" destId="{763FE94A-3365-4647-B262-07EFC7B26463}" srcOrd="0" destOrd="0" parTransId="{2655CE77-F3CE-479C-9655-5F6A85E2235F}" sibTransId="{438AF80E-854C-4FD7-8E38-8E269FBFB3B6}"/>
    <dgm:cxn modelId="{8B63DDAF-BB77-4150-871B-5162EF164CB1}" type="presParOf" srcId="{1ACB611C-6F26-499A-86F4-9199E03DDF0A}" destId="{600319D2-BA2F-4A07-8D4B-B2BA427B6B76}" srcOrd="0" destOrd="0" presId="urn:microsoft.com/office/officeart/2005/8/layout/chevron1"/>
    <dgm:cxn modelId="{7DD3FC8E-0CE3-4C5F-B2B1-B2F0FF774582}" type="presParOf" srcId="{1ACB611C-6F26-499A-86F4-9199E03DDF0A}" destId="{56E457EF-3C91-4302-B3C4-79E6B38BF170}" srcOrd="1" destOrd="0" presId="urn:microsoft.com/office/officeart/2005/8/layout/chevron1"/>
    <dgm:cxn modelId="{7B4D8DC4-E238-4BCE-8403-6DBB0C785EE7}" type="presParOf" srcId="{1ACB611C-6F26-499A-86F4-9199E03DDF0A}" destId="{5404D64C-1725-4B30-AB88-B1410DD2AA41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8771F9-A42E-4708-BEBD-CF7F2399592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</dgm:spPr>
    </dgm:pt>
    <dgm:pt modelId="{5EFB93A9-56F2-4D22-9C41-60BEA86FB90D}">
      <dgm:prSet phldrT="[文本]" custT="1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选择散列函数</a:t>
          </a:r>
        </a:p>
      </dgm:t>
    </dgm:pt>
    <dgm:pt modelId="{17DA4C4C-22C5-4163-8286-341D6CA1BB10}" type="parTrans" cxnId="{BFD0C016-3C44-4D3C-86D0-80BC8E8932FD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865A392-1D2C-42BA-802E-2A901DBDB5D0}" type="sibTrans" cxnId="{BFD0C016-3C44-4D3C-86D0-80BC8E8932FD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11868C7-9818-4A66-AD09-11D91DE70DED}">
      <dgm:prSet phldrT="[文本]" custT="1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根据冲突策略与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ASL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计算散列表大小</a:t>
          </a:r>
        </a:p>
      </dgm:t>
    </dgm:pt>
    <dgm:pt modelId="{47CCF521-7DBC-4546-8DF5-E6CBD066B609}" type="parTrans" cxnId="{6565E3BA-119B-42E0-8AA4-9BBE44C3BF02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7FD314-DB81-4700-8ECD-8C5B3620F9F4}" type="sibTrans" cxnId="{6565E3BA-119B-42E0-8AA4-9BBE44C3BF02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388A65-BB1F-4DE6-81AB-AE373E5F1F42}">
      <dgm:prSet phldrT="[文本]" custT="1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建立查找表</a:t>
          </a:r>
        </a:p>
      </dgm:t>
    </dgm:pt>
    <dgm:pt modelId="{F15138DA-45D4-4ABD-A58A-7145BE86A8B9}" type="parTrans" cxnId="{6D7ED516-C07C-4849-B51C-386646759180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D228983-8B23-4F7D-80EF-5EEAA6F4D629}" type="sibTrans" cxnId="{6D7ED516-C07C-4849-B51C-386646759180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D7EE89C-7393-475D-964F-C47F5B646FA0}" type="pres">
      <dgm:prSet presAssocID="{6A8771F9-A42E-4708-BEBD-CF7F2399592C}" presName="Name0" presStyleCnt="0">
        <dgm:presLayoutVars>
          <dgm:dir/>
          <dgm:animLvl val="lvl"/>
          <dgm:resizeHandles val="exact"/>
        </dgm:presLayoutVars>
      </dgm:prSet>
      <dgm:spPr/>
    </dgm:pt>
    <dgm:pt modelId="{29301F4C-D697-464F-9380-859D320B79DC}" type="pres">
      <dgm:prSet presAssocID="{5EFB93A9-56F2-4D22-9C41-60BEA86FB90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FC0A284-FA91-488D-98FB-67042019032D}" type="pres">
      <dgm:prSet presAssocID="{1865A392-1D2C-42BA-802E-2A901DBDB5D0}" presName="parTxOnly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</dgm:pt>
    <dgm:pt modelId="{6F863560-9B44-4B90-9DB1-DB135075A600}" type="pres">
      <dgm:prSet presAssocID="{911868C7-9818-4A66-AD09-11D91DE70DE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8E0A214-A4B3-4C45-A113-D4BE1E9E7CD3}" type="pres">
      <dgm:prSet presAssocID="{A67FD314-DB81-4700-8ECD-8C5B3620F9F4}" presName="parTxOnly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</dgm:pt>
    <dgm:pt modelId="{D1FA80A7-A7C1-44F4-B849-367F22B373E2}" type="pres">
      <dgm:prSet presAssocID="{A3388A65-BB1F-4DE6-81AB-AE373E5F1F42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21AFC00E-C5DA-4386-A552-37DBBD0BE476}" type="presOf" srcId="{6A8771F9-A42E-4708-BEBD-CF7F2399592C}" destId="{ED7EE89C-7393-475D-964F-C47F5B646FA0}" srcOrd="0" destOrd="0" presId="urn:microsoft.com/office/officeart/2005/8/layout/chevron1"/>
    <dgm:cxn modelId="{BFD0C016-3C44-4D3C-86D0-80BC8E8932FD}" srcId="{6A8771F9-A42E-4708-BEBD-CF7F2399592C}" destId="{5EFB93A9-56F2-4D22-9C41-60BEA86FB90D}" srcOrd="0" destOrd="0" parTransId="{17DA4C4C-22C5-4163-8286-341D6CA1BB10}" sibTransId="{1865A392-1D2C-42BA-802E-2A901DBDB5D0}"/>
    <dgm:cxn modelId="{6D7ED516-C07C-4849-B51C-386646759180}" srcId="{6A8771F9-A42E-4708-BEBD-CF7F2399592C}" destId="{A3388A65-BB1F-4DE6-81AB-AE373E5F1F42}" srcOrd="2" destOrd="0" parTransId="{F15138DA-45D4-4ABD-A58A-7145BE86A8B9}" sibTransId="{2D228983-8B23-4F7D-80EF-5EEAA6F4D629}"/>
    <dgm:cxn modelId="{49996E97-0329-4D46-8368-CA725A290385}" type="presOf" srcId="{911868C7-9818-4A66-AD09-11D91DE70DED}" destId="{6F863560-9B44-4B90-9DB1-DB135075A600}" srcOrd="0" destOrd="0" presId="urn:microsoft.com/office/officeart/2005/8/layout/chevron1"/>
    <dgm:cxn modelId="{3627EE9A-55E6-43D3-A475-4FBCF7E14A1B}" type="presOf" srcId="{5EFB93A9-56F2-4D22-9C41-60BEA86FB90D}" destId="{29301F4C-D697-464F-9380-859D320B79DC}" srcOrd="0" destOrd="0" presId="urn:microsoft.com/office/officeart/2005/8/layout/chevron1"/>
    <dgm:cxn modelId="{6565E3BA-119B-42E0-8AA4-9BBE44C3BF02}" srcId="{6A8771F9-A42E-4708-BEBD-CF7F2399592C}" destId="{911868C7-9818-4A66-AD09-11D91DE70DED}" srcOrd="1" destOrd="0" parTransId="{47CCF521-7DBC-4546-8DF5-E6CBD066B609}" sibTransId="{A67FD314-DB81-4700-8ECD-8C5B3620F9F4}"/>
    <dgm:cxn modelId="{3B05ADBB-6336-4B0D-82B7-6DE0BABD9134}" type="presOf" srcId="{A3388A65-BB1F-4DE6-81AB-AE373E5F1F42}" destId="{D1FA80A7-A7C1-44F4-B849-367F22B373E2}" srcOrd="0" destOrd="0" presId="urn:microsoft.com/office/officeart/2005/8/layout/chevron1"/>
    <dgm:cxn modelId="{D22D23FA-2C58-499C-A8D1-1B25FE58BDC4}" type="presParOf" srcId="{ED7EE89C-7393-475D-964F-C47F5B646FA0}" destId="{29301F4C-D697-464F-9380-859D320B79DC}" srcOrd="0" destOrd="0" presId="urn:microsoft.com/office/officeart/2005/8/layout/chevron1"/>
    <dgm:cxn modelId="{6E086C08-CA89-422B-A07E-7FC37DF36FA5}" type="presParOf" srcId="{ED7EE89C-7393-475D-964F-C47F5B646FA0}" destId="{3FC0A284-FA91-488D-98FB-67042019032D}" srcOrd="1" destOrd="0" presId="urn:microsoft.com/office/officeart/2005/8/layout/chevron1"/>
    <dgm:cxn modelId="{6322D656-B40E-4B10-A58A-2362A7C4AB86}" type="presParOf" srcId="{ED7EE89C-7393-475D-964F-C47F5B646FA0}" destId="{6F863560-9B44-4B90-9DB1-DB135075A600}" srcOrd="2" destOrd="0" presId="urn:microsoft.com/office/officeart/2005/8/layout/chevron1"/>
    <dgm:cxn modelId="{98EA5C9C-954C-423D-B57C-E09E1C275067}" type="presParOf" srcId="{ED7EE89C-7393-475D-964F-C47F5B646FA0}" destId="{58E0A214-A4B3-4C45-A113-D4BE1E9E7CD3}" srcOrd="3" destOrd="0" presId="urn:microsoft.com/office/officeart/2005/8/layout/chevron1"/>
    <dgm:cxn modelId="{A66D668B-7695-4772-9D5D-28B20C651DC5}" type="presParOf" srcId="{ED7EE89C-7393-475D-964F-C47F5B646FA0}" destId="{D1FA80A7-A7C1-44F4-B849-367F22B373E2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319D2-BA2F-4A07-8D4B-B2BA427B6B76}">
      <dsp:nvSpPr>
        <dsp:cNvPr id="0" name=""/>
        <dsp:cNvSpPr/>
      </dsp:nvSpPr>
      <dsp:spPr>
        <a:xfrm>
          <a:off x="5357" y="1391443"/>
          <a:ext cx="3202781" cy="1281112"/>
        </a:xfrm>
        <a:prstGeom prst="chevron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400" kern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关键字</a:t>
          </a:r>
        </a:p>
      </dsp:txBody>
      <dsp:txXfrm>
        <a:off x="645913" y="1391443"/>
        <a:ext cx="1921669" cy="1281112"/>
      </dsp:txXfrm>
    </dsp:sp>
    <dsp:sp modelId="{5404D64C-1725-4B30-AB88-B1410DD2AA41}">
      <dsp:nvSpPr>
        <dsp:cNvPr id="0" name=""/>
        <dsp:cNvSpPr/>
      </dsp:nvSpPr>
      <dsp:spPr>
        <a:xfrm>
          <a:off x="2887860" y="1391443"/>
          <a:ext cx="3202781" cy="1281112"/>
        </a:xfrm>
        <a:prstGeom prst="chevron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400" kern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存储地址</a:t>
          </a:r>
        </a:p>
      </dsp:txBody>
      <dsp:txXfrm>
        <a:off x="3528416" y="1391443"/>
        <a:ext cx="1921669" cy="12811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01F4C-D697-464F-9380-859D320B79DC}">
      <dsp:nvSpPr>
        <dsp:cNvPr id="0" name=""/>
        <dsp:cNvSpPr/>
      </dsp:nvSpPr>
      <dsp:spPr>
        <a:xfrm>
          <a:off x="2500" y="1488607"/>
          <a:ext cx="3047046" cy="12188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选择散列函数</a:t>
          </a:r>
        </a:p>
      </dsp:txBody>
      <dsp:txXfrm>
        <a:off x="611909" y="1488607"/>
        <a:ext cx="1828228" cy="1218818"/>
      </dsp:txXfrm>
    </dsp:sp>
    <dsp:sp modelId="{6F863560-9B44-4B90-9DB1-DB135075A600}">
      <dsp:nvSpPr>
        <dsp:cNvPr id="0" name=""/>
        <dsp:cNvSpPr/>
      </dsp:nvSpPr>
      <dsp:spPr>
        <a:xfrm>
          <a:off x="2744842" y="1488607"/>
          <a:ext cx="3047046" cy="12188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根据冲突策略与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ASL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计算散列表大小</a:t>
          </a:r>
        </a:p>
      </dsp:txBody>
      <dsp:txXfrm>
        <a:off x="3354251" y="1488607"/>
        <a:ext cx="1828228" cy="1218818"/>
      </dsp:txXfrm>
    </dsp:sp>
    <dsp:sp modelId="{D1FA80A7-A7C1-44F4-B849-367F22B373E2}">
      <dsp:nvSpPr>
        <dsp:cNvPr id="0" name=""/>
        <dsp:cNvSpPr/>
      </dsp:nvSpPr>
      <dsp:spPr>
        <a:xfrm>
          <a:off x="5487183" y="1488607"/>
          <a:ext cx="3047046" cy="12188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建立查找表</a:t>
          </a:r>
        </a:p>
      </dsp:txBody>
      <dsp:txXfrm>
        <a:off x="6096592" y="1488607"/>
        <a:ext cx="1828228" cy="121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7FE23-F5A8-42E9-9888-C3A84DB64DCA}" type="datetimeFigureOut">
              <a:rPr lang="zh-CN" altLang="en-US" smtClean="0"/>
              <a:t>2023/8/14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0775B-E8BF-40E3-8D21-20EEF706AAF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224A5-F0C5-4B72-8135-2FAC1AE300C9}" type="datetimeFigureOut">
              <a:rPr lang="zh-CN" altLang="en-US" smtClean="0"/>
              <a:t>2023/8/14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AECDA-B852-4CA6-98F9-FDA299AD4F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封面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章节页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A8CB02B-8578-443F-8362-FA392A1FEB1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5401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A16D1E5-BB0E-4E66-98B1-CA2FBE68E5C8}" type="slidenum">
              <a:rPr lang="zh-CN" altLang="en-US" smtClean="0">
                <a:solidFill>
                  <a:srgbClr val="000000"/>
                </a:solidFill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118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1" dirty="0">
              <a:solidFill>
                <a:srgbClr val="A5002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DC0318A-11B3-414D-985E-F3EC87E12791}" type="slidenum">
              <a:rPr lang="zh-CN" altLang="en-US" smtClean="0">
                <a:solidFill>
                  <a:srgbClr val="000000"/>
                </a:solidFill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780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5B97DC6-F1AD-4073-BD0F-344BCFB85106}" type="slidenum">
              <a:rPr lang="zh-CN" altLang="en-US" smtClean="0">
                <a:solidFill>
                  <a:srgbClr val="000000"/>
                </a:solidFill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393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A8CB02B-8578-443F-8362-FA392A1FEB1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0958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A8CB02B-8578-443F-8362-FA392A1FEB1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1011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A8CB02B-8578-443F-8362-FA392A1FEB1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4374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11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2350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12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5361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13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86921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3071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00050" indent="-400050">
              <a:lnSpc>
                <a:spcPts val="3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0500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06582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12081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993145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46022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061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2709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endParaRPr kumimoji="1" lang="zh-CN" altLang="en-US" sz="1200" b="1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25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71104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endParaRPr kumimoji="1"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26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86106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endParaRPr kumimoji="1" lang="zh-CN" altLang="en-US" sz="1200" b="1" dirty="0">
              <a:solidFill>
                <a:srgbClr val="0070C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27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27761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28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37977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30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5668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31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97653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32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13637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7DE7C9E2-0696-4CDF-B29D-A91D87F39CB9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457200">
                <a:defRPr/>
              </a:pPr>
              <a:t>33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09451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97755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0" hangingPunct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45250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37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75805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38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98763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39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92093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40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55076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41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13540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42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8337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43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16255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44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45192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45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14652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46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102407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67683D48-279A-4A2A-8CF0-ED1518ECDCC6}" type="slidenum">
              <a:rPr lang="zh-CN" altLang="en-US" smtClean="0">
                <a:solidFill>
                  <a:prstClr val="black"/>
                </a:solidFill>
              </a:rPr>
              <a:pPr defTabSz="457200">
                <a:defRPr/>
              </a:pPr>
              <a:t>47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6930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67683D48-279A-4A2A-8CF0-ED1518ECDCC6}" type="slidenum">
              <a:rPr lang="zh-CN" altLang="en-US" smtClean="0">
                <a:solidFill>
                  <a:prstClr val="black"/>
                </a:solidFill>
              </a:rPr>
              <a:pPr defTabSz="457200">
                <a:defRPr/>
              </a:pPr>
              <a:t>48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7482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67683D48-279A-4A2A-8CF0-ED1518ECDCC6}" type="slidenum">
              <a:rPr lang="zh-CN" altLang="en-US" smtClean="0">
                <a:solidFill>
                  <a:prstClr val="black"/>
                </a:solidFill>
              </a:rPr>
              <a:pPr defTabSz="457200">
                <a:defRPr/>
              </a:pPr>
              <a:t>49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7753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67683D48-279A-4A2A-8CF0-ED1518ECDCC6}" type="slidenum">
              <a:rPr lang="zh-CN" altLang="en-US" smtClean="0">
                <a:solidFill>
                  <a:prstClr val="black"/>
                </a:solidFill>
              </a:rPr>
              <a:pPr defTabSz="457200">
                <a:defRPr/>
              </a:pPr>
              <a:t>50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4737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67683D48-279A-4A2A-8CF0-ED1518ECDCC6}" type="slidenum">
              <a:rPr lang="zh-CN" altLang="en-US" smtClean="0">
                <a:solidFill>
                  <a:prstClr val="black"/>
                </a:solidFill>
              </a:rPr>
              <a:pPr defTabSz="457200">
                <a:defRPr/>
              </a:pPr>
              <a:t>51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7785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67683D48-279A-4A2A-8CF0-ED1518ECDCC6}" type="slidenum">
              <a:rPr lang="zh-CN" altLang="en-US" smtClean="0">
                <a:solidFill>
                  <a:prstClr val="black"/>
                </a:solidFill>
              </a:rPr>
              <a:pPr defTabSz="457200">
                <a:defRPr/>
              </a:pPr>
              <a:t>52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78736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600" b="1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单击此处编辑一级标题样式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13" name="六边形 12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57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平行四边形 11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84225" y="271204"/>
            <a:ext cx="4864359" cy="3274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单击此处编辑小节名</a:t>
            </a:r>
          </a:p>
        </p:txBody>
      </p:sp>
      <p:sp>
        <p:nvSpPr>
          <p:cNvPr id="20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6798353" y="200366"/>
            <a:ext cx="5157787" cy="323806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数据结构</a:t>
            </a:r>
          </a:p>
        </p:txBody>
      </p:sp>
      <p:sp>
        <p:nvSpPr>
          <p:cNvPr id="21" name="内容占位符 2"/>
          <p:cNvSpPr>
            <a:spLocks noGrp="1"/>
          </p:cNvSpPr>
          <p:nvPr>
            <p:ph idx="11" hasCustomPrompt="1"/>
          </p:nvPr>
        </p:nvSpPr>
        <p:spPr>
          <a:xfrm>
            <a:off x="584225" y="1276350"/>
            <a:ext cx="11055325" cy="50577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（深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6"/>
          <p:cNvSpPr/>
          <p:nvPr userDrawn="1"/>
        </p:nvSpPr>
        <p:spPr>
          <a:xfrm>
            <a:off x="0" y="0"/>
            <a:ext cx="12192000" cy="6857999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单击此处编辑一级标题样式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7DC2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7DC2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13" name="六边形 12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10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7DC2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平行四边形 11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rgbClr val="C1E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84250" y="271204"/>
            <a:ext cx="4864359" cy="3274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C1E2E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单击此处编辑小节名</a:t>
            </a:r>
          </a:p>
        </p:txBody>
      </p:sp>
      <p:sp>
        <p:nvSpPr>
          <p:cNvPr id="20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6798353" y="200366"/>
            <a:ext cx="5157787" cy="323806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0">
                <a:solidFill>
                  <a:srgbClr val="C1E2E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数据结构</a:t>
            </a:r>
          </a:p>
        </p:txBody>
      </p:sp>
      <p:sp>
        <p:nvSpPr>
          <p:cNvPr id="21" name="内容占位符 2"/>
          <p:cNvSpPr>
            <a:spLocks noGrp="1"/>
          </p:cNvSpPr>
          <p:nvPr>
            <p:ph idx="11" hasCustomPrompt="1"/>
          </p:nvPr>
        </p:nvSpPr>
        <p:spPr>
          <a:xfrm>
            <a:off x="584225" y="1276350"/>
            <a:ext cx="11055325" cy="50577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109" y="6483552"/>
            <a:ext cx="1647783" cy="2450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8754004" y="255456"/>
            <a:ext cx="3216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spc="12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endParaRPr lang="zh-CN" altLang="zh-CN" sz="1200" spc="12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4" name="六边形 3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57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平行四边形 4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平行四边形 7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572335" y="230736"/>
            <a:ext cx="6324687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前馈神经网络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7B7C6D-AA44-4565-9E0D-EC50BDFCB3F7}" type="datetime1">
              <a:rPr lang="zh-CN" altLang="en-US"/>
              <a:pPr>
                <a:defRPr/>
              </a:pPr>
              <a:t>2023/8/14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B2C2F-086E-4C6B-9B45-2449801C25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5408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1582400" cy="9937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268413"/>
            <a:ext cx="5384800" cy="4857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857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84AB4C-C7D7-4F65-965C-93E9CD26219E}" type="datetime1">
              <a:rPr lang="zh-CN" altLang="en-US">
                <a:solidFill>
                  <a:srgbClr val="010000"/>
                </a:solidFill>
              </a:rPr>
              <a:pPr>
                <a:defRPr/>
              </a:pPr>
              <a:t>2023/8/14</a:t>
            </a:fld>
            <a:endParaRPr lang="en-US" altLang="zh-CN">
              <a:solidFill>
                <a:srgbClr val="01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1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2EB13D-5EF1-4BCD-B429-801BC378B348}" type="slidenum">
              <a:rPr lang="en-US" altLang="zh-CN">
                <a:solidFill>
                  <a:srgbClr val="01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51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A4B21-616C-4E4E-8379-6F9ECFF39C1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F580-3DDB-44D3-BAD4-0DA5019F6F3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50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56C6-9774-47FC-A39E-CCCBDFE7815A}" type="datetimeFigureOut">
              <a:rPr lang="zh-CN" altLang="en-US" smtClean="0"/>
              <a:t>2023/8/14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C8200-D7D1-4D60-9004-3F0BBDC27A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6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7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bin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9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0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1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2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3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4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5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6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7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8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0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3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o.csdn.net/so/search?q=%E6%95%A3%E5%88%97&amp;spm=1001.2101.3001.7020" TargetMode="Externa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6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-46319"/>
            <a:ext cx="12192000" cy="571650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8" t="60187" r="62545" b="13687"/>
          <a:stretch>
            <a:fillRect/>
          </a:stretch>
        </p:blipFill>
        <p:spPr>
          <a:xfrm flipH="1" flipV="1">
            <a:off x="8544560" y="5394960"/>
            <a:ext cx="3677920" cy="14935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-132080" y="4453337"/>
            <a:ext cx="9165288" cy="2546903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-905689" y="342255"/>
            <a:ext cx="14873910" cy="7227071"/>
            <a:chOff x="2275139" y="1708487"/>
            <a:chExt cx="7788686" cy="3784438"/>
          </a:xfrm>
        </p:grpSpPr>
        <p:sp>
          <p:nvSpPr>
            <p:cNvPr id="9" name="六边形 8"/>
            <p:cNvSpPr/>
            <p:nvPr/>
          </p:nvSpPr>
          <p:spPr>
            <a:xfrm rot="5400000">
              <a:off x="5811401" y="1880190"/>
              <a:ext cx="3784438" cy="3441032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77000">
                  <a:srgbClr val="016773"/>
                </a:gs>
                <a:gs pos="100000">
                  <a:srgbClr val="00768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rot="19714174">
              <a:off x="7064019" y="3212601"/>
              <a:ext cx="2999806" cy="1616793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单圆角矩形 10"/>
            <p:cNvSpPr/>
            <p:nvPr/>
          </p:nvSpPr>
          <p:spPr>
            <a:xfrm>
              <a:off x="2275139" y="3590090"/>
              <a:ext cx="5733603" cy="45719"/>
            </a:xfrm>
            <a:prstGeom prst="round1Rect">
              <a:avLst/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727158" y="2057400"/>
            <a:ext cx="6737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数据结构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598664" y="342255"/>
            <a:ext cx="3015569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计算机领域本科教育教学改革试点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工作计划（“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计划”）研究成果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65" y="231750"/>
            <a:ext cx="701051" cy="80848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34782" y="4299065"/>
            <a:ext cx="4122438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俞勇、张铭、陈越、韩文弢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16738" y="4985017"/>
            <a:ext cx="6158524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上海交通大学、北京大学、浙江大学、清华大学</a:t>
            </a:r>
          </a:p>
        </p:txBody>
      </p:sp>
      <p:sp>
        <p:nvSpPr>
          <p:cNvPr id="19" name="文本框 18"/>
          <p:cNvSpPr txBox="1"/>
          <p:nvPr/>
        </p:nvSpPr>
        <p:spPr>
          <a:xfrm rot="1849986">
            <a:off x="8195789" y="49084"/>
            <a:ext cx="4944370" cy="2163608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isometricTopUp">
                <a:rot lat="19176265" lon="2388000" rev="19890000"/>
              </a:camera>
              <a:lightRig rig="threePt" dir="t"/>
            </a:scene3d>
          </a:bodyPr>
          <a:lstStyle/>
          <a:p>
            <a:pPr algn="ctr"/>
            <a:r>
              <a:rPr lang="en-US" altLang="zh-CN" sz="19900" b="1" dirty="0">
                <a:gradFill>
                  <a:gsLst>
                    <a:gs pos="30000">
                      <a:srgbClr val="007684"/>
                    </a:gs>
                    <a:gs pos="83000">
                      <a:srgbClr val="016773"/>
                    </a:gs>
                  </a:gsLst>
                  <a:lin ang="5400000" scaled="0"/>
                </a:gradFill>
                <a:latin typeface="Bauhaus 93" panose="04030905020B02020C02" pitchFamily="82" charset="0"/>
                <a:ea typeface="Segoe UI Black" panose="020B0A02040204020203" pitchFamily="34" charset="0"/>
              </a:rPr>
              <a:t>101</a:t>
            </a:r>
            <a:endParaRPr lang="zh-CN" altLang="en-US" sz="19900" b="1" dirty="0">
              <a:gradFill>
                <a:gsLst>
                  <a:gs pos="30000">
                    <a:srgbClr val="007684"/>
                  </a:gs>
                  <a:gs pos="83000">
                    <a:srgbClr val="016773"/>
                  </a:gs>
                </a:gsLst>
                <a:lin ang="5400000" scaled="0"/>
              </a:gradFill>
              <a:latin typeface="Bauhaus 93" panose="04030905020B02020C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图片 12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6" t="32053" r="20333"/>
          <a:stretch>
            <a:fillRect/>
          </a:stretch>
        </p:blipFill>
        <p:spPr>
          <a:xfrm>
            <a:off x="-38911" y="-77822"/>
            <a:ext cx="7247108" cy="3570513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56" r="67172"/>
          <a:stretch>
            <a:fillRect/>
          </a:stretch>
        </p:blipFill>
        <p:spPr>
          <a:xfrm>
            <a:off x="8244776" y="-48638"/>
            <a:ext cx="4002347" cy="237752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0001700" y="2854959"/>
            <a:ext cx="2268815" cy="2101347"/>
            <a:chOff x="6175344" y="342254"/>
            <a:chExt cx="7803037" cy="7227071"/>
          </a:xfrm>
        </p:grpSpPr>
        <p:sp>
          <p:nvSpPr>
            <p:cNvPr id="19" name="六边形 18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平行四边形 19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863825" y="4346576"/>
            <a:ext cx="2963878" cy="2745105"/>
            <a:chOff x="6175344" y="342254"/>
            <a:chExt cx="7803037" cy="7227071"/>
          </a:xfrm>
        </p:grpSpPr>
        <p:sp>
          <p:nvSpPr>
            <p:cNvPr id="15" name="六边形 1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4167429" y="3439840"/>
            <a:ext cx="385714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11.4 </a:t>
            </a: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散列查找</a:t>
            </a:r>
          </a:p>
        </p:txBody>
      </p:sp>
      <p:sp>
        <p:nvSpPr>
          <p:cNvPr id="8" name="矩形 7"/>
          <p:cNvSpPr/>
          <p:nvPr/>
        </p:nvSpPr>
        <p:spPr>
          <a:xfrm>
            <a:off x="4588217" y="2445722"/>
            <a:ext cx="30155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3024554" y="3265946"/>
            <a:ext cx="6116350" cy="0"/>
          </a:xfrm>
          <a:prstGeom prst="line">
            <a:avLst/>
          </a:prstGeom>
          <a:ln w="22225">
            <a:solidFill>
              <a:schemeClr val="bg1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2221671" y="2179434"/>
            <a:ext cx="7748658" cy="2397279"/>
            <a:chOff x="2221671" y="2179434"/>
            <a:chExt cx="7748658" cy="2397279"/>
          </a:xfrm>
        </p:grpSpPr>
        <p:sp>
          <p:nvSpPr>
            <p:cNvPr id="6" name="标题 9801"/>
            <p:cNvSpPr txBox="1"/>
            <p:nvPr/>
          </p:nvSpPr>
          <p:spPr>
            <a:xfrm rot="16200000">
              <a:off x="8719085" y="3325468"/>
              <a:ext cx="2397277" cy="105210"/>
            </a:xfrm>
            <a:prstGeom prst="parallelogram">
              <a:avLst>
                <a:gd name="adj" fmla="val 98875"/>
              </a:avLst>
            </a:prstGeom>
            <a:gradFill flip="none" rotWithShape="1">
              <a:gsLst>
                <a:gs pos="100000">
                  <a:srgbClr val="016773"/>
                </a:gs>
                <a:gs pos="0">
                  <a:srgbClr val="00ABA5"/>
                </a:gs>
              </a:gsLst>
              <a:lin ang="6000000" scaled="0"/>
              <a:tileRect/>
            </a:gradFill>
            <a:ln w="15875" cap="rnd">
              <a:solidFill>
                <a:schemeClr val="bg1">
                  <a:alpha val="57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0" name="标题 9801"/>
            <p:cNvSpPr txBox="1"/>
            <p:nvPr/>
          </p:nvSpPr>
          <p:spPr>
            <a:xfrm flipH="1">
              <a:off x="2221671" y="4468236"/>
              <a:ext cx="7748657" cy="108477"/>
            </a:xfrm>
            <a:prstGeom prst="parallelogram">
              <a:avLst>
                <a:gd name="adj" fmla="val 102209"/>
              </a:avLst>
            </a:prstGeom>
            <a:gradFill>
              <a:gsLst>
                <a:gs pos="55000">
                  <a:srgbClr val="016773"/>
                </a:gs>
                <a:gs pos="0">
                  <a:srgbClr val="00ABA5"/>
                </a:gs>
                <a:gs pos="100000">
                  <a:srgbClr val="00ABA5"/>
                </a:gs>
              </a:gsLst>
              <a:lin ang="6000000" scaled="0"/>
            </a:gradFill>
            <a:ln w="15875" cap="rnd">
              <a:solidFill>
                <a:schemeClr val="bg1">
                  <a:alpha val="57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2221671" y="2179434"/>
              <a:ext cx="76428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5400000" flipH="1">
              <a:off x="1076871" y="3324234"/>
              <a:ext cx="22896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2222317" y="4468236"/>
              <a:ext cx="7642800" cy="0"/>
            </a:xfrm>
            <a:prstGeom prst="line">
              <a:avLst/>
            </a:prstGeom>
            <a:ln w="15875" cap="rnd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3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5400000" flipH="1">
              <a:off x="8719671" y="3324234"/>
              <a:ext cx="22896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8933514" y="5200219"/>
            <a:ext cx="1549536" cy="1435160"/>
            <a:chOff x="6175344" y="342254"/>
            <a:chExt cx="7803037" cy="7227071"/>
          </a:xfrm>
        </p:grpSpPr>
        <p:sp>
          <p:nvSpPr>
            <p:cNvPr id="22" name="六边形 21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-875295" y="-875664"/>
            <a:ext cx="2974038" cy="2745105"/>
            <a:chOff x="6175344" y="342254"/>
            <a:chExt cx="7829785" cy="7227071"/>
          </a:xfrm>
        </p:grpSpPr>
        <p:sp>
          <p:nvSpPr>
            <p:cNvPr id="25" name="六边形 2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259840" y="635784"/>
            <a:ext cx="823697" cy="760292"/>
            <a:chOff x="6175344" y="342254"/>
            <a:chExt cx="7829785" cy="7227071"/>
          </a:xfrm>
        </p:grpSpPr>
        <p:sp>
          <p:nvSpPr>
            <p:cNvPr id="28" name="六边形 27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平行四边形 28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034782" y="4861769"/>
            <a:ext cx="4122438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林劼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3016738" y="5305446"/>
            <a:ext cx="6158524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电子科技大学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1019425" y="4784103"/>
            <a:ext cx="9165288" cy="2546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9801"/>
          <p:cNvSpPr txBox="1"/>
          <p:nvPr/>
        </p:nvSpPr>
        <p:spPr>
          <a:xfrm flipV="1">
            <a:off x="0" y="729000"/>
            <a:ext cx="11615165" cy="5400000"/>
          </a:xfrm>
          <a:prstGeom prst="cube">
            <a:avLst>
              <a:gd name="adj" fmla="val 1804"/>
            </a:avLst>
          </a:prstGeom>
          <a:pattFill prst="ltHorz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/>
          </a:p>
        </p:txBody>
      </p:sp>
      <p:sp>
        <p:nvSpPr>
          <p:cNvPr id="5" name="六边形 4"/>
          <p:cNvSpPr/>
          <p:nvPr/>
        </p:nvSpPr>
        <p:spPr>
          <a:xfrm rot="5400000">
            <a:off x="-5678865" y="-723361"/>
            <a:ext cx="9564253" cy="8696378"/>
          </a:xfrm>
          <a:prstGeom prst="hexagon">
            <a:avLst>
              <a:gd name="adj" fmla="val 30493"/>
              <a:gd name="vf" fmla="val 115470"/>
            </a:avLst>
          </a:prstGeom>
          <a:gradFill>
            <a:gsLst>
              <a:gs pos="77000">
                <a:srgbClr val="016773"/>
              </a:gs>
              <a:gs pos="100000">
                <a:srgbClr val="007684"/>
              </a:gs>
            </a:gsLst>
            <a:lin ang="5400000" scaled="0"/>
          </a:gradFill>
          <a:ln>
            <a:noFill/>
          </a:ln>
          <a:effectLst>
            <a:outerShdw blurRad="698500" dist="165100" algn="l" rotWithShape="0">
              <a:srgbClr val="013F4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/>
          <p:cNvSpPr/>
          <p:nvPr/>
        </p:nvSpPr>
        <p:spPr>
          <a:xfrm rot="19714174">
            <a:off x="-2503449" y="2643987"/>
            <a:ext cx="7581286" cy="4086054"/>
          </a:xfrm>
          <a:prstGeom prst="parallelogram">
            <a:avLst>
              <a:gd name="adj" fmla="val 61032"/>
            </a:avLst>
          </a:prstGeom>
          <a:solidFill>
            <a:srgbClr val="00AB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20891" y="2740372"/>
            <a:ext cx="540023" cy="1384403"/>
          </a:xfrm>
          <a:custGeom>
            <a:avLst/>
            <a:gdLst/>
            <a:ahLst/>
            <a:cxnLst/>
            <a:rect l="l" t="t" r="r" b="b"/>
            <a:pathLst>
              <a:path w="540023" h="1384403">
                <a:moveTo>
                  <a:pt x="195374" y="1232620"/>
                </a:moveTo>
                <a:lnTo>
                  <a:pt x="204155" y="1247987"/>
                </a:lnTo>
                <a:cubicBezTo>
                  <a:pt x="132445" y="1288964"/>
                  <a:pt x="80491" y="1317502"/>
                  <a:pt x="48295" y="1333600"/>
                </a:cubicBezTo>
                <a:cubicBezTo>
                  <a:pt x="42441" y="1337991"/>
                  <a:pt x="37319" y="1336527"/>
                  <a:pt x="32928" y="1329210"/>
                </a:cubicBezTo>
                <a:cubicBezTo>
                  <a:pt x="27074" y="1321892"/>
                  <a:pt x="16830" y="1305062"/>
                  <a:pt x="2195" y="1278720"/>
                </a:cubicBezTo>
                <a:cubicBezTo>
                  <a:pt x="732" y="1277256"/>
                  <a:pt x="0" y="1275793"/>
                  <a:pt x="0" y="1274329"/>
                </a:cubicBezTo>
                <a:close/>
                <a:moveTo>
                  <a:pt x="458800" y="863824"/>
                </a:moveTo>
                <a:cubicBezTo>
                  <a:pt x="460264" y="862361"/>
                  <a:pt x="463190" y="863092"/>
                  <a:pt x="467581" y="866019"/>
                </a:cubicBezTo>
                <a:cubicBezTo>
                  <a:pt x="470508" y="867483"/>
                  <a:pt x="474167" y="870410"/>
                  <a:pt x="478557" y="874800"/>
                </a:cubicBezTo>
                <a:cubicBezTo>
                  <a:pt x="500509" y="892362"/>
                  <a:pt x="515144" y="903338"/>
                  <a:pt x="522461" y="907728"/>
                </a:cubicBezTo>
                <a:cubicBezTo>
                  <a:pt x="528315" y="912119"/>
                  <a:pt x="530510" y="915778"/>
                  <a:pt x="529047" y="918705"/>
                </a:cubicBezTo>
                <a:cubicBezTo>
                  <a:pt x="529047" y="920168"/>
                  <a:pt x="526120" y="922363"/>
                  <a:pt x="520266" y="925290"/>
                </a:cubicBezTo>
                <a:cubicBezTo>
                  <a:pt x="511485" y="928217"/>
                  <a:pt x="507826" y="934071"/>
                  <a:pt x="509290" y="942852"/>
                </a:cubicBezTo>
                <a:cubicBezTo>
                  <a:pt x="509290" y="1112615"/>
                  <a:pt x="508558" y="1223839"/>
                  <a:pt x="507095" y="1276525"/>
                </a:cubicBezTo>
                <a:cubicBezTo>
                  <a:pt x="507095" y="1314575"/>
                  <a:pt x="500509" y="1336527"/>
                  <a:pt x="487338" y="1342381"/>
                </a:cubicBezTo>
                <a:cubicBezTo>
                  <a:pt x="477093" y="1351162"/>
                  <a:pt x="467581" y="1361406"/>
                  <a:pt x="458800" y="1373114"/>
                </a:cubicBezTo>
                <a:cubicBezTo>
                  <a:pt x="450019" y="1381895"/>
                  <a:pt x="442702" y="1385554"/>
                  <a:pt x="436848" y="1384090"/>
                </a:cubicBezTo>
                <a:cubicBezTo>
                  <a:pt x="432457" y="1381163"/>
                  <a:pt x="430994" y="1373846"/>
                  <a:pt x="432457" y="1362138"/>
                </a:cubicBezTo>
                <a:cubicBezTo>
                  <a:pt x="436848" y="1347503"/>
                  <a:pt x="433921" y="1337259"/>
                  <a:pt x="423677" y="1331405"/>
                </a:cubicBezTo>
                <a:cubicBezTo>
                  <a:pt x="413432" y="1321161"/>
                  <a:pt x="392212" y="1307989"/>
                  <a:pt x="360015" y="1291891"/>
                </a:cubicBezTo>
                <a:lnTo>
                  <a:pt x="366601" y="1278720"/>
                </a:lnTo>
                <a:lnTo>
                  <a:pt x="443434" y="1294086"/>
                </a:lnTo>
                <a:cubicBezTo>
                  <a:pt x="447824" y="1276525"/>
                  <a:pt x="450019" y="1152861"/>
                  <a:pt x="450019" y="923095"/>
                </a:cubicBezTo>
                <a:lnTo>
                  <a:pt x="278792" y="929681"/>
                </a:lnTo>
                <a:lnTo>
                  <a:pt x="274402" y="1221644"/>
                </a:lnTo>
                <a:cubicBezTo>
                  <a:pt x="302208" y="1173349"/>
                  <a:pt x="323428" y="1130177"/>
                  <a:pt x="338063" y="1092127"/>
                </a:cubicBezTo>
                <a:cubicBezTo>
                  <a:pt x="323428" y="1061394"/>
                  <a:pt x="305135" y="1027002"/>
                  <a:pt x="283183" y="988951"/>
                </a:cubicBezTo>
                <a:lnTo>
                  <a:pt x="296354" y="980171"/>
                </a:lnTo>
                <a:cubicBezTo>
                  <a:pt x="318306" y="1005050"/>
                  <a:pt x="337332" y="1028465"/>
                  <a:pt x="353430" y="1050417"/>
                </a:cubicBezTo>
                <a:cubicBezTo>
                  <a:pt x="357820" y="1038710"/>
                  <a:pt x="362211" y="1026270"/>
                  <a:pt x="366601" y="1013099"/>
                </a:cubicBezTo>
                <a:cubicBezTo>
                  <a:pt x="373918" y="986756"/>
                  <a:pt x="378309" y="966999"/>
                  <a:pt x="379772" y="953828"/>
                </a:cubicBezTo>
                <a:cubicBezTo>
                  <a:pt x="379772" y="947974"/>
                  <a:pt x="384163" y="947242"/>
                  <a:pt x="392944" y="951633"/>
                </a:cubicBezTo>
                <a:cubicBezTo>
                  <a:pt x="397334" y="956023"/>
                  <a:pt x="406847" y="961877"/>
                  <a:pt x="421481" y="969194"/>
                </a:cubicBezTo>
                <a:cubicBezTo>
                  <a:pt x="427335" y="972121"/>
                  <a:pt x="430994" y="974317"/>
                  <a:pt x="432457" y="975780"/>
                </a:cubicBezTo>
                <a:cubicBezTo>
                  <a:pt x="436848" y="977244"/>
                  <a:pt x="436848" y="983098"/>
                  <a:pt x="432457" y="993342"/>
                </a:cubicBezTo>
                <a:cubicBezTo>
                  <a:pt x="430994" y="997732"/>
                  <a:pt x="428067" y="1004318"/>
                  <a:pt x="423677" y="1013099"/>
                </a:cubicBezTo>
                <a:cubicBezTo>
                  <a:pt x="420750" y="1021880"/>
                  <a:pt x="417823" y="1028465"/>
                  <a:pt x="414896" y="1032856"/>
                </a:cubicBezTo>
                <a:cubicBezTo>
                  <a:pt x="406115" y="1054808"/>
                  <a:pt x="397334" y="1075297"/>
                  <a:pt x="388553" y="1094322"/>
                </a:cubicBezTo>
                <a:cubicBezTo>
                  <a:pt x="413432" y="1127982"/>
                  <a:pt x="430994" y="1153593"/>
                  <a:pt x="441238" y="1171154"/>
                </a:cubicBezTo>
                <a:cubicBezTo>
                  <a:pt x="448556" y="1182862"/>
                  <a:pt x="448556" y="1193838"/>
                  <a:pt x="441238" y="1204082"/>
                </a:cubicBezTo>
                <a:cubicBezTo>
                  <a:pt x="429531" y="1224571"/>
                  <a:pt x="417823" y="1239206"/>
                  <a:pt x="406115" y="1247987"/>
                </a:cubicBezTo>
                <a:cubicBezTo>
                  <a:pt x="391480" y="1211400"/>
                  <a:pt x="376845" y="1175545"/>
                  <a:pt x="362211" y="1140421"/>
                </a:cubicBezTo>
                <a:cubicBezTo>
                  <a:pt x="338795" y="1179935"/>
                  <a:pt x="308794" y="1216522"/>
                  <a:pt x="272207" y="1250182"/>
                </a:cubicBezTo>
                <a:lnTo>
                  <a:pt x="272207" y="1337991"/>
                </a:lnTo>
                <a:cubicBezTo>
                  <a:pt x="272207" y="1346771"/>
                  <a:pt x="269280" y="1351894"/>
                  <a:pt x="263426" y="1353357"/>
                </a:cubicBezTo>
                <a:cubicBezTo>
                  <a:pt x="248791" y="1363602"/>
                  <a:pt x="234156" y="1370919"/>
                  <a:pt x="219522" y="1375309"/>
                </a:cubicBezTo>
                <a:cubicBezTo>
                  <a:pt x="212204" y="1376773"/>
                  <a:pt x="209277" y="1373846"/>
                  <a:pt x="210741" y="1366528"/>
                </a:cubicBezTo>
                <a:cubicBezTo>
                  <a:pt x="213668" y="1307989"/>
                  <a:pt x="216595" y="1202619"/>
                  <a:pt x="219522" y="1050417"/>
                </a:cubicBezTo>
                <a:cubicBezTo>
                  <a:pt x="220985" y="1005050"/>
                  <a:pt x="221717" y="975048"/>
                  <a:pt x="221717" y="960414"/>
                </a:cubicBezTo>
                <a:cubicBezTo>
                  <a:pt x="221717" y="932608"/>
                  <a:pt x="221717" y="906265"/>
                  <a:pt x="221717" y="881386"/>
                </a:cubicBezTo>
                <a:cubicBezTo>
                  <a:pt x="221717" y="876995"/>
                  <a:pt x="222449" y="874800"/>
                  <a:pt x="223912" y="874800"/>
                </a:cubicBezTo>
                <a:cubicBezTo>
                  <a:pt x="223912" y="873337"/>
                  <a:pt x="226107" y="873337"/>
                  <a:pt x="230498" y="874800"/>
                </a:cubicBezTo>
                <a:cubicBezTo>
                  <a:pt x="242206" y="879191"/>
                  <a:pt x="259035" y="887972"/>
                  <a:pt x="280988" y="901143"/>
                </a:cubicBezTo>
                <a:lnTo>
                  <a:pt x="434653" y="894557"/>
                </a:lnTo>
                <a:cubicBezTo>
                  <a:pt x="434653" y="894557"/>
                  <a:pt x="435384" y="894557"/>
                  <a:pt x="436848" y="894557"/>
                </a:cubicBezTo>
                <a:cubicBezTo>
                  <a:pt x="445629" y="893094"/>
                  <a:pt x="450019" y="890167"/>
                  <a:pt x="450019" y="885776"/>
                </a:cubicBezTo>
                <a:cubicBezTo>
                  <a:pt x="452946" y="882849"/>
                  <a:pt x="454410" y="878459"/>
                  <a:pt x="454410" y="872605"/>
                </a:cubicBezTo>
                <a:cubicBezTo>
                  <a:pt x="455873" y="866751"/>
                  <a:pt x="457337" y="863824"/>
                  <a:pt x="458800" y="863824"/>
                </a:cubicBezTo>
                <a:close/>
                <a:moveTo>
                  <a:pt x="111956" y="857239"/>
                </a:moveTo>
                <a:cubicBezTo>
                  <a:pt x="113420" y="855775"/>
                  <a:pt x="115615" y="856507"/>
                  <a:pt x="118542" y="859434"/>
                </a:cubicBezTo>
                <a:cubicBezTo>
                  <a:pt x="120005" y="860897"/>
                  <a:pt x="123664" y="863092"/>
                  <a:pt x="129518" y="866019"/>
                </a:cubicBezTo>
                <a:cubicBezTo>
                  <a:pt x="155860" y="880654"/>
                  <a:pt x="170495" y="889435"/>
                  <a:pt x="173422" y="892362"/>
                </a:cubicBezTo>
                <a:cubicBezTo>
                  <a:pt x="177813" y="895289"/>
                  <a:pt x="177081" y="899679"/>
                  <a:pt x="171227" y="905533"/>
                </a:cubicBezTo>
                <a:cubicBezTo>
                  <a:pt x="166836" y="909924"/>
                  <a:pt x="158787" y="919436"/>
                  <a:pt x="147080" y="934071"/>
                </a:cubicBezTo>
                <a:cubicBezTo>
                  <a:pt x="110493" y="980902"/>
                  <a:pt x="81223" y="1013099"/>
                  <a:pt x="59271" y="1030660"/>
                </a:cubicBezTo>
                <a:lnTo>
                  <a:pt x="131713" y="1021880"/>
                </a:lnTo>
                <a:cubicBezTo>
                  <a:pt x="136103" y="1014562"/>
                  <a:pt x="139762" y="1007977"/>
                  <a:pt x="142689" y="1002123"/>
                </a:cubicBezTo>
                <a:cubicBezTo>
                  <a:pt x="150006" y="988951"/>
                  <a:pt x="155860" y="975048"/>
                  <a:pt x="160251" y="960414"/>
                </a:cubicBezTo>
                <a:cubicBezTo>
                  <a:pt x="161714" y="957487"/>
                  <a:pt x="163178" y="956023"/>
                  <a:pt x="164641" y="956023"/>
                </a:cubicBezTo>
                <a:cubicBezTo>
                  <a:pt x="164641" y="954560"/>
                  <a:pt x="166105" y="955292"/>
                  <a:pt x="169032" y="958218"/>
                </a:cubicBezTo>
                <a:cubicBezTo>
                  <a:pt x="193911" y="974317"/>
                  <a:pt x="209277" y="986024"/>
                  <a:pt x="215131" y="993342"/>
                </a:cubicBezTo>
                <a:cubicBezTo>
                  <a:pt x="217326" y="994074"/>
                  <a:pt x="218424" y="995537"/>
                  <a:pt x="218424" y="997732"/>
                </a:cubicBezTo>
                <a:cubicBezTo>
                  <a:pt x="218424" y="999927"/>
                  <a:pt x="217326" y="1002854"/>
                  <a:pt x="215131" y="1006513"/>
                </a:cubicBezTo>
                <a:cubicBezTo>
                  <a:pt x="212204" y="1009440"/>
                  <a:pt x="207814" y="1014562"/>
                  <a:pt x="201960" y="1021880"/>
                </a:cubicBezTo>
                <a:cubicBezTo>
                  <a:pt x="194643" y="1029197"/>
                  <a:pt x="189520" y="1035051"/>
                  <a:pt x="186593" y="1039441"/>
                </a:cubicBezTo>
                <a:cubicBezTo>
                  <a:pt x="154397" y="1084809"/>
                  <a:pt x="121469" y="1123591"/>
                  <a:pt x="87809" y="1155788"/>
                </a:cubicBezTo>
                <a:lnTo>
                  <a:pt x="190984" y="1140421"/>
                </a:lnTo>
                <a:lnTo>
                  <a:pt x="199765" y="1160178"/>
                </a:lnTo>
                <a:lnTo>
                  <a:pt x="87809" y="1199692"/>
                </a:lnTo>
                <a:cubicBezTo>
                  <a:pt x="67320" y="1208473"/>
                  <a:pt x="54149" y="1215790"/>
                  <a:pt x="48295" y="1221644"/>
                </a:cubicBezTo>
                <a:lnTo>
                  <a:pt x="15367" y="1162373"/>
                </a:lnTo>
                <a:cubicBezTo>
                  <a:pt x="34392" y="1159447"/>
                  <a:pt x="48295" y="1150666"/>
                  <a:pt x="57076" y="1136031"/>
                </a:cubicBezTo>
                <a:cubicBezTo>
                  <a:pt x="76101" y="1109688"/>
                  <a:pt x="94394" y="1083346"/>
                  <a:pt x="111956" y="1057003"/>
                </a:cubicBezTo>
                <a:lnTo>
                  <a:pt x="68052" y="1070174"/>
                </a:lnTo>
                <a:cubicBezTo>
                  <a:pt x="51954" y="1076028"/>
                  <a:pt x="39514" y="1082614"/>
                  <a:pt x="30733" y="1089931"/>
                </a:cubicBezTo>
                <a:lnTo>
                  <a:pt x="0" y="1037246"/>
                </a:lnTo>
                <a:cubicBezTo>
                  <a:pt x="13171" y="1032856"/>
                  <a:pt x="23416" y="1026270"/>
                  <a:pt x="30733" y="1017489"/>
                </a:cubicBezTo>
                <a:cubicBezTo>
                  <a:pt x="61466" y="967731"/>
                  <a:pt x="82687" y="928949"/>
                  <a:pt x="94394" y="901143"/>
                </a:cubicBezTo>
                <a:cubicBezTo>
                  <a:pt x="101712" y="885045"/>
                  <a:pt x="106834" y="871873"/>
                  <a:pt x="109761" y="861629"/>
                </a:cubicBezTo>
                <a:cubicBezTo>
                  <a:pt x="111224" y="858702"/>
                  <a:pt x="111956" y="857239"/>
                  <a:pt x="111956" y="857239"/>
                </a:cubicBezTo>
                <a:close/>
                <a:moveTo>
                  <a:pt x="498314" y="233425"/>
                </a:moveTo>
                <a:cubicBezTo>
                  <a:pt x="501241" y="236352"/>
                  <a:pt x="504900" y="240011"/>
                  <a:pt x="509290" y="244402"/>
                </a:cubicBezTo>
                <a:cubicBezTo>
                  <a:pt x="518071" y="254646"/>
                  <a:pt x="524656" y="261231"/>
                  <a:pt x="529047" y="264158"/>
                </a:cubicBezTo>
                <a:cubicBezTo>
                  <a:pt x="531974" y="267085"/>
                  <a:pt x="532706" y="270012"/>
                  <a:pt x="531242" y="272939"/>
                </a:cubicBezTo>
                <a:cubicBezTo>
                  <a:pt x="529779" y="274403"/>
                  <a:pt x="526852" y="275135"/>
                  <a:pt x="522461" y="275135"/>
                </a:cubicBezTo>
                <a:cubicBezTo>
                  <a:pt x="510753" y="273671"/>
                  <a:pt x="490997" y="273671"/>
                  <a:pt x="463190" y="275135"/>
                </a:cubicBezTo>
                <a:cubicBezTo>
                  <a:pt x="445629" y="275135"/>
                  <a:pt x="431726" y="275135"/>
                  <a:pt x="421481" y="275135"/>
                </a:cubicBezTo>
                <a:lnTo>
                  <a:pt x="381968" y="277330"/>
                </a:lnTo>
                <a:cubicBezTo>
                  <a:pt x="387821" y="278793"/>
                  <a:pt x="390017" y="280988"/>
                  <a:pt x="388553" y="283915"/>
                </a:cubicBezTo>
                <a:lnTo>
                  <a:pt x="388553" y="336601"/>
                </a:lnTo>
                <a:lnTo>
                  <a:pt x="436848" y="334405"/>
                </a:lnTo>
                <a:cubicBezTo>
                  <a:pt x="442702" y="332942"/>
                  <a:pt x="452214" y="331478"/>
                  <a:pt x="465386" y="330015"/>
                </a:cubicBezTo>
                <a:cubicBezTo>
                  <a:pt x="478557" y="328551"/>
                  <a:pt x="487338" y="327820"/>
                  <a:pt x="491728" y="327820"/>
                </a:cubicBezTo>
                <a:cubicBezTo>
                  <a:pt x="500509" y="336601"/>
                  <a:pt x="508558" y="344650"/>
                  <a:pt x="515876" y="351967"/>
                </a:cubicBezTo>
                <a:cubicBezTo>
                  <a:pt x="518803" y="354894"/>
                  <a:pt x="520266" y="357089"/>
                  <a:pt x="520266" y="358553"/>
                </a:cubicBezTo>
                <a:cubicBezTo>
                  <a:pt x="518803" y="360016"/>
                  <a:pt x="515876" y="360748"/>
                  <a:pt x="511485" y="360748"/>
                </a:cubicBezTo>
                <a:cubicBezTo>
                  <a:pt x="492460" y="360748"/>
                  <a:pt x="475630" y="361480"/>
                  <a:pt x="460995" y="362943"/>
                </a:cubicBezTo>
                <a:lnTo>
                  <a:pt x="388553" y="367334"/>
                </a:lnTo>
                <a:lnTo>
                  <a:pt x="388553" y="446361"/>
                </a:lnTo>
                <a:cubicBezTo>
                  <a:pt x="426604" y="452215"/>
                  <a:pt x="477093" y="452947"/>
                  <a:pt x="540023" y="448556"/>
                </a:cubicBezTo>
                <a:lnTo>
                  <a:pt x="537828" y="463923"/>
                </a:lnTo>
                <a:cubicBezTo>
                  <a:pt x="523193" y="472704"/>
                  <a:pt x="507095" y="487339"/>
                  <a:pt x="489533" y="507827"/>
                </a:cubicBezTo>
                <a:cubicBezTo>
                  <a:pt x="485143" y="518072"/>
                  <a:pt x="475630" y="521730"/>
                  <a:pt x="460995" y="518803"/>
                </a:cubicBezTo>
                <a:cubicBezTo>
                  <a:pt x="358552" y="518803"/>
                  <a:pt x="289769" y="483680"/>
                  <a:pt x="254645" y="413433"/>
                </a:cubicBezTo>
                <a:cubicBezTo>
                  <a:pt x="235620" y="463191"/>
                  <a:pt x="200496" y="503437"/>
                  <a:pt x="149275" y="534170"/>
                </a:cubicBezTo>
                <a:lnTo>
                  <a:pt x="140494" y="525389"/>
                </a:lnTo>
                <a:cubicBezTo>
                  <a:pt x="172690" y="477094"/>
                  <a:pt x="193911" y="425141"/>
                  <a:pt x="204155" y="369529"/>
                </a:cubicBezTo>
                <a:cubicBezTo>
                  <a:pt x="208546" y="346113"/>
                  <a:pt x="210741" y="325624"/>
                  <a:pt x="210741" y="308063"/>
                </a:cubicBezTo>
                <a:cubicBezTo>
                  <a:pt x="210741" y="303672"/>
                  <a:pt x="211473" y="301477"/>
                  <a:pt x="212936" y="301477"/>
                </a:cubicBezTo>
                <a:cubicBezTo>
                  <a:pt x="214399" y="300014"/>
                  <a:pt x="217326" y="300014"/>
                  <a:pt x="221717" y="301477"/>
                </a:cubicBezTo>
                <a:cubicBezTo>
                  <a:pt x="239279" y="307331"/>
                  <a:pt x="256840" y="313185"/>
                  <a:pt x="274402" y="319039"/>
                </a:cubicBezTo>
                <a:cubicBezTo>
                  <a:pt x="278792" y="323429"/>
                  <a:pt x="280256" y="327820"/>
                  <a:pt x="278792" y="332210"/>
                </a:cubicBezTo>
                <a:cubicBezTo>
                  <a:pt x="278792" y="335137"/>
                  <a:pt x="276597" y="342454"/>
                  <a:pt x="272207" y="354162"/>
                </a:cubicBezTo>
                <a:cubicBezTo>
                  <a:pt x="267816" y="367334"/>
                  <a:pt x="264889" y="376846"/>
                  <a:pt x="263426" y="382700"/>
                </a:cubicBezTo>
                <a:cubicBezTo>
                  <a:pt x="280988" y="401725"/>
                  <a:pt x="300745" y="416360"/>
                  <a:pt x="322697" y="426604"/>
                </a:cubicBezTo>
                <a:lnTo>
                  <a:pt x="322697" y="279525"/>
                </a:lnTo>
                <a:lnTo>
                  <a:pt x="285378" y="279525"/>
                </a:lnTo>
                <a:cubicBezTo>
                  <a:pt x="266353" y="279525"/>
                  <a:pt x="238547" y="280988"/>
                  <a:pt x="201960" y="283915"/>
                </a:cubicBezTo>
                <a:lnTo>
                  <a:pt x="180008" y="250987"/>
                </a:lnTo>
                <a:cubicBezTo>
                  <a:pt x="194643" y="250987"/>
                  <a:pt x="218790" y="250255"/>
                  <a:pt x="252450" y="248792"/>
                </a:cubicBezTo>
                <a:cubicBezTo>
                  <a:pt x="265621" y="248792"/>
                  <a:pt x="273670" y="248792"/>
                  <a:pt x="276597" y="248792"/>
                </a:cubicBezTo>
                <a:lnTo>
                  <a:pt x="406115" y="244402"/>
                </a:lnTo>
                <a:cubicBezTo>
                  <a:pt x="409042" y="244402"/>
                  <a:pt x="413432" y="244402"/>
                  <a:pt x="419286" y="244402"/>
                </a:cubicBezTo>
                <a:cubicBezTo>
                  <a:pt x="457337" y="241475"/>
                  <a:pt x="483679" y="237816"/>
                  <a:pt x="498314" y="233425"/>
                </a:cubicBezTo>
                <a:close/>
                <a:moveTo>
                  <a:pt x="377577" y="136836"/>
                </a:moveTo>
                <a:lnTo>
                  <a:pt x="289769" y="141226"/>
                </a:lnTo>
                <a:lnTo>
                  <a:pt x="289769" y="178545"/>
                </a:lnTo>
                <a:lnTo>
                  <a:pt x="384163" y="174155"/>
                </a:lnTo>
                <a:cubicBezTo>
                  <a:pt x="395871" y="174155"/>
                  <a:pt x="406115" y="173423"/>
                  <a:pt x="414896" y="171959"/>
                </a:cubicBezTo>
                <a:lnTo>
                  <a:pt x="414896" y="136836"/>
                </a:lnTo>
                <a:cubicBezTo>
                  <a:pt x="406115" y="136836"/>
                  <a:pt x="393675" y="136836"/>
                  <a:pt x="377577" y="136836"/>
                </a:cubicBezTo>
                <a:close/>
                <a:moveTo>
                  <a:pt x="417091" y="68784"/>
                </a:moveTo>
                <a:lnTo>
                  <a:pt x="289769" y="73175"/>
                </a:lnTo>
                <a:lnTo>
                  <a:pt x="289769" y="112689"/>
                </a:lnTo>
                <a:lnTo>
                  <a:pt x="370991" y="108298"/>
                </a:lnTo>
                <a:cubicBezTo>
                  <a:pt x="375382" y="108298"/>
                  <a:pt x="381968" y="107566"/>
                  <a:pt x="390748" y="106103"/>
                </a:cubicBezTo>
                <a:cubicBezTo>
                  <a:pt x="398066" y="106103"/>
                  <a:pt x="403188" y="106103"/>
                  <a:pt x="406115" y="106103"/>
                </a:cubicBezTo>
                <a:cubicBezTo>
                  <a:pt x="409042" y="110493"/>
                  <a:pt x="412701" y="114884"/>
                  <a:pt x="417091" y="119274"/>
                </a:cubicBezTo>
                <a:close/>
                <a:moveTo>
                  <a:pt x="423677" y="11709"/>
                </a:moveTo>
                <a:cubicBezTo>
                  <a:pt x="425140" y="10245"/>
                  <a:pt x="428067" y="10977"/>
                  <a:pt x="432457" y="13904"/>
                </a:cubicBezTo>
                <a:cubicBezTo>
                  <a:pt x="439775" y="19758"/>
                  <a:pt x="451483" y="28539"/>
                  <a:pt x="467581" y="40247"/>
                </a:cubicBezTo>
                <a:cubicBezTo>
                  <a:pt x="480752" y="47564"/>
                  <a:pt x="488801" y="52686"/>
                  <a:pt x="491728" y="55613"/>
                </a:cubicBezTo>
                <a:cubicBezTo>
                  <a:pt x="497582" y="60003"/>
                  <a:pt x="500509" y="63662"/>
                  <a:pt x="500509" y="66589"/>
                </a:cubicBezTo>
                <a:cubicBezTo>
                  <a:pt x="500509" y="69516"/>
                  <a:pt x="497582" y="71711"/>
                  <a:pt x="491728" y="73175"/>
                </a:cubicBezTo>
                <a:cubicBezTo>
                  <a:pt x="482947" y="76102"/>
                  <a:pt x="479289" y="81956"/>
                  <a:pt x="480752" y="90736"/>
                </a:cubicBezTo>
                <a:cubicBezTo>
                  <a:pt x="479289" y="106835"/>
                  <a:pt x="478557" y="141226"/>
                  <a:pt x="478557" y="193912"/>
                </a:cubicBezTo>
                <a:cubicBezTo>
                  <a:pt x="478557" y="198302"/>
                  <a:pt x="477825" y="201229"/>
                  <a:pt x="476362" y="202692"/>
                </a:cubicBezTo>
                <a:cubicBezTo>
                  <a:pt x="467581" y="207083"/>
                  <a:pt x="450019" y="212937"/>
                  <a:pt x="423677" y="220254"/>
                </a:cubicBezTo>
                <a:cubicBezTo>
                  <a:pt x="416359" y="221718"/>
                  <a:pt x="413432" y="219522"/>
                  <a:pt x="414896" y="213668"/>
                </a:cubicBezTo>
                <a:lnTo>
                  <a:pt x="414896" y="202692"/>
                </a:lnTo>
                <a:cubicBezTo>
                  <a:pt x="407578" y="202692"/>
                  <a:pt x="399529" y="202692"/>
                  <a:pt x="390748" y="202692"/>
                </a:cubicBezTo>
                <a:lnTo>
                  <a:pt x="289769" y="207083"/>
                </a:lnTo>
                <a:cubicBezTo>
                  <a:pt x="289769" y="212937"/>
                  <a:pt x="288305" y="216595"/>
                  <a:pt x="285378" y="218059"/>
                </a:cubicBezTo>
                <a:cubicBezTo>
                  <a:pt x="266353" y="225376"/>
                  <a:pt x="248791" y="230498"/>
                  <a:pt x="232693" y="233425"/>
                </a:cubicBezTo>
                <a:cubicBezTo>
                  <a:pt x="229766" y="234889"/>
                  <a:pt x="227571" y="234889"/>
                  <a:pt x="226107" y="233425"/>
                </a:cubicBezTo>
                <a:cubicBezTo>
                  <a:pt x="226107" y="233425"/>
                  <a:pt x="226107" y="231962"/>
                  <a:pt x="226107" y="229035"/>
                </a:cubicBezTo>
                <a:cubicBezTo>
                  <a:pt x="226107" y="218791"/>
                  <a:pt x="226107" y="196839"/>
                  <a:pt x="226107" y="163179"/>
                </a:cubicBezTo>
                <a:cubicBezTo>
                  <a:pt x="227571" y="123665"/>
                  <a:pt x="228302" y="95859"/>
                  <a:pt x="228302" y="79760"/>
                </a:cubicBezTo>
                <a:cubicBezTo>
                  <a:pt x="228302" y="63662"/>
                  <a:pt x="228302" y="47564"/>
                  <a:pt x="228302" y="31466"/>
                </a:cubicBezTo>
                <a:cubicBezTo>
                  <a:pt x="226839" y="27075"/>
                  <a:pt x="226839" y="24148"/>
                  <a:pt x="228302" y="22685"/>
                </a:cubicBezTo>
                <a:cubicBezTo>
                  <a:pt x="229766" y="21221"/>
                  <a:pt x="231961" y="21221"/>
                  <a:pt x="234888" y="22685"/>
                </a:cubicBezTo>
                <a:cubicBezTo>
                  <a:pt x="243669" y="25612"/>
                  <a:pt x="258304" y="31466"/>
                  <a:pt x="278792" y="40247"/>
                </a:cubicBezTo>
                <a:cubicBezTo>
                  <a:pt x="283183" y="41710"/>
                  <a:pt x="286842" y="43173"/>
                  <a:pt x="289769" y="44637"/>
                </a:cubicBezTo>
                <a:lnTo>
                  <a:pt x="406115" y="40247"/>
                </a:lnTo>
                <a:cubicBezTo>
                  <a:pt x="410505" y="40247"/>
                  <a:pt x="414164" y="38051"/>
                  <a:pt x="417091" y="33661"/>
                </a:cubicBezTo>
                <a:cubicBezTo>
                  <a:pt x="420018" y="29270"/>
                  <a:pt x="421481" y="24148"/>
                  <a:pt x="421481" y="18294"/>
                </a:cubicBezTo>
                <a:cubicBezTo>
                  <a:pt x="422945" y="13904"/>
                  <a:pt x="423677" y="11709"/>
                  <a:pt x="423677" y="11709"/>
                </a:cubicBezTo>
                <a:close/>
                <a:moveTo>
                  <a:pt x="83418" y="733"/>
                </a:moveTo>
                <a:cubicBezTo>
                  <a:pt x="84882" y="-731"/>
                  <a:pt x="88540" y="1"/>
                  <a:pt x="94394" y="2928"/>
                </a:cubicBezTo>
                <a:cubicBezTo>
                  <a:pt x="114883" y="8782"/>
                  <a:pt x="132445" y="16099"/>
                  <a:pt x="147080" y="24880"/>
                </a:cubicBezTo>
                <a:cubicBezTo>
                  <a:pt x="151470" y="26343"/>
                  <a:pt x="153665" y="30002"/>
                  <a:pt x="153665" y="35856"/>
                </a:cubicBezTo>
                <a:cubicBezTo>
                  <a:pt x="152202" y="46100"/>
                  <a:pt x="151470" y="65857"/>
                  <a:pt x="151470" y="95127"/>
                </a:cubicBezTo>
                <a:lnTo>
                  <a:pt x="151470" y="123665"/>
                </a:lnTo>
                <a:cubicBezTo>
                  <a:pt x="166105" y="120738"/>
                  <a:pt x="180008" y="118543"/>
                  <a:pt x="193179" y="117079"/>
                </a:cubicBezTo>
                <a:cubicBezTo>
                  <a:pt x="201960" y="127323"/>
                  <a:pt x="210009" y="136104"/>
                  <a:pt x="217326" y="143422"/>
                </a:cubicBezTo>
                <a:cubicBezTo>
                  <a:pt x="218790" y="146349"/>
                  <a:pt x="219522" y="148544"/>
                  <a:pt x="219522" y="150007"/>
                </a:cubicBezTo>
                <a:cubicBezTo>
                  <a:pt x="218058" y="151471"/>
                  <a:pt x="215131" y="152202"/>
                  <a:pt x="210741" y="152202"/>
                </a:cubicBezTo>
                <a:cubicBezTo>
                  <a:pt x="187325" y="152202"/>
                  <a:pt x="168300" y="152934"/>
                  <a:pt x="153665" y="154398"/>
                </a:cubicBezTo>
                <a:lnTo>
                  <a:pt x="151470" y="154398"/>
                </a:lnTo>
                <a:cubicBezTo>
                  <a:pt x="151470" y="179277"/>
                  <a:pt x="151470" y="204888"/>
                  <a:pt x="151470" y="231230"/>
                </a:cubicBezTo>
                <a:lnTo>
                  <a:pt x="206350" y="211473"/>
                </a:lnTo>
                <a:lnTo>
                  <a:pt x="212936" y="222449"/>
                </a:lnTo>
                <a:cubicBezTo>
                  <a:pt x="195374" y="235621"/>
                  <a:pt x="174886" y="250255"/>
                  <a:pt x="151470" y="266354"/>
                </a:cubicBezTo>
                <a:cubicBezTo>
                  <a:pt x="151470" y="279525"/>
                  <a:pt x="151470" y="291965"/>
                  <a:pt x="151470" y="303672"/>
                </a:cubicBezTo>
                <a:cubicBezTo>
                  <a:pt x="150006" y="375383"/>
                  <a:pt x="145616" y="419287"/>
                  <a:pt x="138299" y="435385"/>
                </a:cubicBezTo>
                <a:cubicBezTo>
                  <a:pt x="128054" y="467582"/>
                  <a:pt x="110493" y="496119"/>
                  <a:pt x="85614" y="520999"/>
                </a:cubicBezTo>
                <a:cubicBezTo>
                  <a:pt x="73906" y="531243"/>
                  <a:pt x="65857" y="534902"/>
                  <a:pt x="61466" y="531975"/>
                </a:cubicBezTo>
                <a:cubicBezTo>
                  <a:pt x="57076" y="529048"/>
                  <a:pt x="57076" y="520267"/>
                  <a:pt x="61466" y="505632"/>
                </a:cubicBezTo>
                <a:cubicBezTo>
                  <a:pt x="64393" y="490997"/>
                  <a:pt x="62198" y="480021"/>
                  <a:pt x="54881" y="472704"/>
                </a:cubicBezTo>
                <a:cubicBezTo>
                  <a:pt x="46100" y="460996"/>
                  <a:pt x="29270" y="444898"/>
                  <a:pt x="4391" y="424409"/>
                </a:cubicBezTo>
                <a:lnTo>
                  <a:pt x="13171" y="413433"/>
                </a:lnTo>
                <a:lnTo>
                  <a:pt x="74637" y="435385"/>
                </a:lnTo>
                <a:cubicBezTo>
                  <a:pt x="79028" y="410506"/>
                  <a:pt x="82687" y="370260"/>
                  <a:pt x="85614" y="314648"/>
                </a:cubicBezTo>
                <a:cubicBezTo>
                  <a:pt x="82687" y="316112"/>
                  <a:pt x="78296" y="319039"/>
                  <a:pt x="72442" y="323429"/>
                </a:cubicBezTo>
                <a:cubicBezTo>
                  <a:pt x="63661" y="329283"/>
                  <a:pt x="57076" y="333674"/>
                  <a:pt x="52685" y="336601"/>
                </a:cubicBezTo>
                <a:cubicBezTo>
                  <a:pt x="48295" y="339527"/>
                  <a:pt x="44636" y="339527"/>
                  <a:pt x="41709" y="336601"/>
                </a:cubicBezTo>
                <a:cubicBezTo>
                  <a:pt x="41709" y="338064"/>
                  <a:pt x="40977" y="338064"/>
                  <a:pt x="39514" y="336601"/>
                </a:cubicBezTo>
                <a:cubicBezTo>
                  <a:pt x="38051" y="333674"/>
                  <a:pt x="35124" y="330015"/>
                  <a:pt x="30733" y="325624"/>
                </a:cubicBezTo>
                <a:cubicBezTo>
                  <a:pt x="17562" y="308063"/>
                  <a:pt x="8781" y="293428"/>
                  <a:pt x="4391" y="281720"/>
                </a:cubicBezTo>
                <a:lnTo>
                  <a:pt x="85614" y="253182"/>
                </a:lnTo>
                <a:cubicBezTo>
                  <a:pt x="85614" y="222449"/>
                  <a:pt x="85614" y="190985"/>
                  <a:pt x="85614" y="158788"/>
                </a:cubicBezTo>
                <a:lnTo>
                  <a:pt x="74637" y="158788"/>
                </a:lnTo>
                <a:cubicBezTo>
                  <a:pt x="57076" y="161715"/>
                  <a:pt x="40977" y="163179"/>
                  <a:pt x="26343" y="163179"/>
                </a:cubicBezTo>
                <a:lnTo>
                  <a:pt x="6586" y="132446"/>
                </a:lnTo>
                <a:cubicBezTo>
                  <a:pt x="15367" y="132446"/>
                  <a:pt x="27806" y="131714"/>
                  <a:pt x="43904" y="130250"/>
                </a:cubicBezTo>
                <a:cubicBezTo>
                  <a:pt x="54149" y="130250"/>
                  <a:pt x="61466" y="130250"/>
                  <a:pt x="65857" y="130250"/>
                </a:cubicBezTo>
                <a:lnTo>
                  <a:pt x="85614" y="128055"/>
                </a:lnTo>
                <a:lnTo>
                  <a:pt x="85614" y="95127"/>
                </a:lnTo>
                <a:cubicBezTo>
                  <a:pt x="85614" y="55613"/>
                  <a:pt x="84882" y="27807"/>
                  <a:pt x="83418" y="11709"/>
                </a:cubicBezTo>
                <a:cubicBezTo>
                  <a:pt x="81955" y="5855"/>
                  <a:pt x="81955" y="2196"/>
                  <a:pt x="83418" y="7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" dist="38100" dir="2700000" algn="tl">
              <a:srgbClr val="000000">
                <a:alpha val="43137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颜宋简体_中" panose="02000000000000000000" pitchFamily="2" charset="-122"/>
              <a:ea typeface="方正颜宋简体_中" panose="02000000000000000000" pitchFamily="2" charset="-122"/>
              <a:cs typeface="方正颜宋简体_中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19637" y="1716967"/>
            <a:ext cx="5135015" cy="3961021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11.4.1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散列函数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11.4.2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散列冲突解决方法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11.4.3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散列查找算法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11.4.4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查找性能分析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11.4.5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分布式散列表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11.4.6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作业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1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450A2-FDF3-4C89-893C-CCE9B012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11.4.1</a:t>
            </a:r>
            <a:r>
              <a:rPr lang="zh-CN" altLang="en-US" dirty="0"/>
              <a:t>散列函数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CAFE89-4400-44E3-87E9-BE6ABBDA38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DCFC89-081A-46FD-93FB-14DF26E4E87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顺序查找：</a:t>
            </a:r>
            <a:r>
              <a:rPr lang="en-US" altLang="zh-CN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O(n),</a:t>
            </a:r>
            <a:r>
              <a:rPr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平均约比较</a:t>
            </a:r>
            <a:r>
              <a:rPr lang="en-US" altLang="zh-CN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sz="32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索引查找：由索引表决定</a:t>
            </a:r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0" fontAlgn="base" hangingPunct="0">
              <a:spcAft>
                <a:spcPct val="0"/>
              </a:spcAft>
              <a:defRPr/>
            </a:pPr>
            <a:fld id="{0E4C8CDB-9E4E-4275-996B-36FC0AC755E6}" type="slidenum">
              <a:rPr lang="en-US" altLang="zh-CN" smtClean="0">
                <a:solidFill>
                  <a:srgbClr val="010000"/>
                </a:solidFill>
                <a:latin typeface="Tahoma" panose="020B0604030504040204" pitchFamily="34" charset="0"/>
              </a:rPr>
              <a:pPr defTabSz="914400" eaLnBrk="0" fontAlgn="base" hangingPunct="0">
                <a:spcAft>
                  <a:spcPct val="0"/>
                </a:spcAft>
                <a:defRPr/>
              </a:pPr>
              <a:t>4</a:t>
            </a:fld>
            <a:endParaRPr lang="en-US" altLang="zh-CN">
              <a:solidFill>
                <a:srgbClr val="010000"/>
              </a:solidFill>
              <a:latin typeface="Tahoma" panose="020B060403050404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59696" y="3970424"/>
            <a:ext cx="5028128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1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rgbClr val="010000"/>
                </a:solidFill>
              </a:rPr>
              <a:t>有没有效率更高的算法？</a:t>
            </a:r>
          </a:p>
        </p:txBody>
      </p:sp>
    </p:spTree>
    <p:extLst>
      <p:ext uri="{BB962C8B-B14F-4D97-AF65-F5344CB8AC3E}">
        <p14:creationId xmlns:p14="http://schemas.microsoft.com/office/powerpoint/2010/main" val="36887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703512" y="1443822"/>
            <a:ext cx="8806371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取给定学号的后三位，</a:t>
            </a:r>
            <a:r>
              <a:rPr kumimoji="1" lang="zh-CN" altLang="en-US" sz="28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不需要经过比较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，便可</a:t>
            </a:r>
            <a:r>
              <a:rPr kumimoji="1" lang="zh-CN" altLang="en-US" sz="28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从查找表中</a:t>
            </a:r>
            <a:r>
              <a:rPr kumimoji="1" lang="zh-CN" altLang="en-US" sz="28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给定学生的记录。</a:t>
            </a:r>
          </a:p>
        </p:txBody>
      </p:sp>
      <p:graphicFrame>
        <p:nvGraphicFramePr>
          <p:cNvPr id="10" name="图示 9"/>
          <p:cNvGraphicFramePr/>
          <p:nvPr>
            <p:extLst/>
          </p:nvPr>
        </p:nvGraphicFramePr>
        <p:xfrm>
          <a:off x="2783632" y="184482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下弧形箭头 10"/>
          <p:cNvSpPr/>
          <p:nvPr/>
        </p:nvSpPr>
        <p:spPr>
          <a:xfrm>
            <a:off x="4348520" y="4551472"/>
            <a:ext cx="2966225" cy="512957"/>
          </a:xfrm>
          <a:prstGeom prst="curvedUp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zh-CN" altLang="en-US" sz="1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映射关系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603E5340-D80C-447B-B516-2AD68A837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79600F1F-B43D-4986-A296-4D03126578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04E35D13-90C4-494C-BF1D-0D251A9B5BB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A99784C4-207E-4103-88E3-6478CD73613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79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00319D2-BA2F-4A07-8D4B-B2BA427B6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dgm id="{600319D2-BA2F-4A07-8D4B-B2BA427B6B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404D64C-1725-4B30-AB88-B1410DD2AA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graphicEl>
                                              <a:dgm id="{5404D64C-1725-4B30-AB88-B1410DD2AA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Graphic spid="10" grpId="0">
        <p:bldSub>
          <a:bldDgm bld="one"/>
        </p:bldSub>
      </p:bldGraphic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1183268" y="1885374"/>
            <a:ext cx="9433644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一般情况下，需在关键字与记录在表中的存储位置之间建立一个函数关系，以 </a:t>
            </a:r>
            <a:r>
              <a:rPr kumimoji="1"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作为关键字为 </a:t>
            </a:r>
            <a:r>
              <a:rPr kumimoji="1" lang="en-US" altLang="zh-CN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 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的记录在表中的位置，通常称这个函数 </a:t>
            </a:r>
            <a:r>
              <a:rPr kumimoji="1" lang="en-US" altLang="zh-CN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散列函数。</a:t>
            </a: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2639616" y="4465623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1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5" name="Object 5"/>
          <p:cNvGraphicFramePr>
            <a:graphicFrameLocks noChangeAspect="1"/>
          </p:cNvGraphicFramePr>
          <p:nvPr>
            <p:extLst/>
          </p:nvPr>
        </p:nvGraphicFramePr>
        <p:xfrm>
          <a:off x="3143672" y="4221088"/>
          <a:ext cx="5215855" cy="1284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Visio" r:id="rId4" imgW="2334535" imgH="577413" progId="Visio.Drawing.11">
                  <p:embed/>
                </p:oleObj>
              </mc:Choice>
              <mc:Fallback>
                <p:oleObj name="Visio" r:id="rId4" imgW="2334535" imgH="577413" progId="Visio.Drawing.11">
                  <p:embed/>
                  <p:pic>
                    <p:nvPicPr>
                      <p:cNvPr id="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4221088"/>
                        <a:ext cx="5215855" cy="128422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162288" y="1078411"/>
            <a:ext cx="2954656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algn="ctr" eaLnBrk="1" fontAlgn="auto" hangingPunct="1">
              <a:lnSpc>
                <a:spcPct val="90000"/>
              </a:lnSpc>
              <a:spcAft>
                <a:spcPts val="0"/>
              </a:spcAft>
              <a:defRPr sz="360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defTabSz="914400">
              <a:spcBef>
                <a:spcPct val="0"/>
              </a:spcBef>
              <a:defRPr/>
            </a:pPr>
            <a:r>
              <a:rPr lang="zh-CN" altLang="en-US" dirty="0"/>
              <a:t>散列函数定义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35E457-E509-4ECB-8826-31B9FA34E8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BC700F-A509-4CD0-9B7D-4D279C2EB87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75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2DE5B249-97C9-4755-A89D-B60369D691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9732FD-F065-4695-92D0-4E93D74A811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60000"/>
              </a:spcBef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Char char="–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5000"/>
              </a:lnSpc>
              <a:spcBef>
                <a:spcPct val="35000"/>
              </a:spcBef>
              <a:buChar char="•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75000"/>
              </a:lnSpc>
              <a:spcBef>
                <a:spcPct val="30000"/>
              </a:spcBef>
              <a:buChar char="–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75000"/>
              </a:lnSpc>
              <a:spcBef>
                <a:spcPct val="30000"/>
              </a:spcBef>
              <a:buChar char="»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7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7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7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7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defTabSz="914400" eaLnBrk="0" fontAlgn="base" hangingPunct="0">
              <a:spcBef>
                <a:spcPct val="20000"/>
              </a:spcBef>
              <a:spcAft>
                <a:spcPct val="0"/>
              </a:spcAft>
              <a:buClrTx/>
              <a:buFontTx/>
              <a:buNone/>
              <a:defRPr/>
            </a:pPr>
            <a:fld id="{1CEDACF2-0E1B-428E-B42C-CEE98C2BC1B7}" type="slidenum">
              <a:rPr lang="en-US" altLang="zh-CN" sz="1400" b="0" smtClean="0">
                <a:solidFill>
                  <a:srgbClr val="01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defTabSz="914400" eaLnBrk="0" fontAlgn="base" hangingPunct="0">
                <a:spcBef>
                  <a:spcPct val="2000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t>7</a:t>
            </a:fld>
            <a:endParaRPr lang="en-US" altLang="zh-CN" sz="1400" b="0">
              <a:solidFill>
                <a:srgbClr val="01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767408" y="1196752"/>
            <a:ext cx="10225136" cy="1081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/>
          <a:p>
            <a:pPr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  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散列函数是一个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映象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将关键字的集合映射到某个地址集合上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它的设置很灵活，只要这个地址集合的大小不超出允许范围即可；</a:t>
            </a:r>
          </a:p>
        </p:txBody>
      </p:sp>
    </p:spTree>
    <p:extLst>
      <p:ext uri="{BB962C8B-B14F-4D97-AF65-F5344CB8AC3E}">
        <p14:creationId xmlns:p14="http://schemas.microsoft.com/office/powerpoint/2010/main" val="316332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D5D652E5-2F91-48A3-A8A8-5DEC7F5509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E552278-7215-48F8-B310-16FBCE2717D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 eaLnBrk="0" fontAlgn="base" hangingPunct="0">
              <a:spcAft>
                <a:spcPct val="0"/>
              </a:spcAft>
              <a:defRPr/>
            </a:pPr>
            <a:fld id="{C7CBEE40-E024-48A8-A719-1279B1A3D1B1}" type="slidenum">
              <a:rPr lang="en-US" altLang="zh-CN" smtClean="0">
                <a:solidFill>
                  <a:srgbClr val="010000"/>
                </a:solidFill>
              </a:rPr>
              <a:pPr defTabSz="914400" eaLnBrk="0" fontAlgn="base" hangingPunct="0">
                <a:spcAft>
                  <a:spcPct val="0"/>
                </a:spcAft>
                <a:defRPr/>
              </a:pPr>
              <a:t>8</a:t>
            </a:fld>
            <a:endParaRPr lang="en-US" altLang="zh-CN">
              <a:solidFill>
                <a:srgbClr val="010000"/>
              </a:solidFill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67408" y="1196752"/>
            <a:ext cx="10225136" cy="1081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/>
          <a:p>
            <a:pPr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  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散列函数是一个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映象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将关键字的集合映射到某个地址集合上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它的设置很灵活，只要这个地址集合的大小不超出允许范围即可；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87232" y="2492896"/>
            <a:ext cx="10133304" cy="108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/>
          <a:p>
            <a:pPr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 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由于散列函数是一个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压缩映象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，因此，在一般情况下，很容易产生“冲突”现象，即： 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key1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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key2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  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h(key1) = h(key2)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59240" y="4005064"/>
            <a:ext cx="10133304" cy="56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/>
          <a:p>
            <a:pPr algn="ctr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H(key)=key %10</a:t>
            </a:r>
            <a:endParaRPr kumimoji="1" lang="zh-CN" altLang="en-US" sz="2600" dirty="0">
              <a:solidFill>
                <a:srgbClr val="01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86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67408" y="3933056"/>
            <a:ext cx="9900173" cy="1081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kumimoji="1"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srgbClr val="010000"/>
                </a:solidFill>
              </a:rPr>
              <a:t>3)  </a:t>
            </a:r>
            <a:r>
              <a:rPr lang="zh-CN" altLang="en-US" b="1" dirty="0">
                <a:solidFill>
                  <a:srgbClr val="010000"/>
                </a:solidFill>
              </a:rPr>
              <a:t>很难</a:t>
            </a:r>
            <a:r>
              <a:rPr lang="zh-CN" altLang="en-US" dirty="0">
                <a:solidFill>
                  <a:srgbClr val="010000"/>
                </a:solidFill>
              </a:rPr>
              <a:t>找到一个不产生冲突的散列函数。一般情况下，</a:t>
            </a:r>
            <a:r>
              <a:rPr lang="zh-CN" altLang="en-US" b="1" dirty="0">
                <a:solidFill>
                  <a:srgbClr val="010000"/>
                </a:solidFill>
              </a:rPr>
              <a:t>只能</a:t>
            </a:r>
            <a:r>
              <a:rPr lang="zh-CN" altLang="en-US" dirty="0">
                <a:solidFill>
                  <a:srgbClr val="010000"/>
                </a:solidFill>
              </a:rPr>
              <a:t>选择恰当的散列函数，使冲突尽可能少地产生。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893443" y="5229200"/>
            <a:ext cx="7920881" cy="113505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defTabSz="914400" eaLnBrk="0" fontAlgn="base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zh-CN" altLang="en-US" sz="2400" dirty="0">
                <a:solidFill>
                  <a:srgbClr val="010000"/>
                </a:solidFill>
              </a:rPr>
              <a:t>因此，散列查找需要做两方面事情：选择一个“</a:t>
            </a:r>
            <a:r>
              <a:rPr lang="zh-CN" altLang="en-US" sz="2400" b="1" dirty="0">
                <a:solidFill>
                  <a:srgbClr val="010000"/>
                </a:solidFill>
              </a:rPr>
              <a:t>好</a:t>
            </a:r>
            <a:r>
              <a:rPr lang="zh-CN" altLang="en-US" sz="2400" dirty="0">
                <a:solidFill>
                  <a:srgbClr val="010000"/>
                </a:solidFill>
              </a:rPr>
              <a:t>”的散列函数；提供一种</a:t>
            </a:r>
            <a:r>
              <a:rPr lang="zh-CN" altLang="en-US" sz="2400" b="1" dirty="0">
                <a:solidFill>
                  <a:srgbClr val="010000"/>
                </a:solidFill>
              </a:rPr>
              <a:t>“处理冲突”</a:t>
            </a:r>
            <a:r>
              <a:rPr lang="zh-CN" altLang="en-US" sz="2400" dirty="0">
                <a:solidFill>
                  <a:srgbClr val="010000"/>
                </a:solidFill>
              </a:rPr>
              <a:t> 的方法。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767408" y="1196752"/>
            <a:ext cx="10225136" cy="1081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/>
          <a:p>
            <a:pPr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  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散列函数是一个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映象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将关键字的集合映射到某个地址集合上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它的设置很灵活，只要这个地址集合的大小不超出允许范围即可；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87232" y="2492896"/>
            <a:ext cx="10133304" cy="108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/>
          <a:p>
            <a:pPr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 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由于散列函数是一个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压缩映象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，因此，在一般情况下，很容易产生“冲突”现象，即： 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key1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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key2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  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h(key1) = h(key2)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7ABF8B-1ADA-40E2-B90C-35B5E115C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8E3120-85ED-4780-BB63-551D043A865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94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DA81CA1D-CCA4-41A9-A958-966BDB2B3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8E3511-1FE2-4EBF-8930-2E19298E4C4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1"/>
          </p:nvPr>
        </p:nvSpPr>
        <p:spPr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0" indent="0" algn="ctr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散列表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10134600" y="5634038"/>
            <a:ext cx="2057400" cy="365125"/>
          </a:xfrm>
          <a:ln/>
        </p:spPr>
        <p:txBody>
          <a:bodyPr/>
          <a:lstStyle/>
          <a:p>
            <a:pPr defTabSz="914400" eaLnBrk="0" fontAlgn="base" hangingPunct="0">
              <a:spcAft>
                <a:spcPct val="0"/>
              </a:spcAft>
              <a:defRPr/>
            </a:pPr>
            <a:fld id="{5BF8C406-DEAA-4E17-A5A9-32A1242BCF9B}" type="slidenum">
              <a:rPr lang="en-US" altLang="zh-CN">
                <a:solidFill>
                  <a:srgbClr val="010000"/>
                </a:solidFill>
              </a:rPr>
              <a:pPr defTabSz="914400" eaLnBrk="0" fontAlgn="base" hangingPunct="0">
                <a:spcAft>
                  <a:spcPct val="0"/>
                </a:spcAft>
                <a:defRPr/>
              </a:pPr>
              <a:t>10</a:t>
            </a:fld>
            <a:endParaRPr lang="en-US" altLang="zh-CN">
              <a:solidFill>
                <a:srgbClr val="010000"/>
              </a:solidFill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127448" y="1961853"/>
            <a:ext cx="9937104" cy="1213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根据设定的</a:t>
            </a:r>
            <a:r>
              <a:rPr kumimoji="1" lang="zh-CN" altLang="en-US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 </a:t>
            </a:r>
            <a:r>
              <a:rPr kumimoji="1" lang="en-US" altLang="zh-CN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</a:t>
            </a:r>
            <a:r>
              <a:rPr kumimoji="1" lang="en-US" altLang="zh-CN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和提供的</a:t>
            </a:r>
            <a:r>
              <a:rPr kumimoji="1" lang="zh-CN" altLang="en-US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处理冲突的方法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，将一组关键字</a:t>
            </a:r>
            <a:r>
              <a:rPr kumimoji="1" lang="zh-CN" altLang="en-US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映象到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一个地址连续的地址空间上，并以关键字在地址空间中的</a:t>
            </a:r>
            <a:r>
              <a:rPr kumimoji="1" lang="zh-CN" altLang="en-US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“象”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作为相应记录在表中的</a:t>
            </a:r>
            <a:r>
              <a:rPr kumimoji="1" lang="zh-CN" altLang="en-US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存储位置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，如此构造所得的查找表称之为</a:t>
            </a:r>
            <a:r>
              <a:rPr kumimoji="1" lang="zh-CN" altLang="en-US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散列表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/>
          </p:nvPr>
        </p:nvGraphicFramePr>
        <p:xfrm>
          <a:off x="1487488" y="4345686"/>
          <a:ext cx="5229620" cy="128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Visio" r:id="rId4" imgW="2334535" imgH="577413" progId="Visio.Drawing.11">
                  <p:embed/>
                </p:oleObj>
              </mc:Choice>
              <mc:Fallback>
                <p:oleObj name="Visio" r:id="rId4" imgW="2334535" imgH="577413" progId="Visio.Drawing.11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4345686"/>
                        <a:ext cx="5229620" cy="12876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287688" y="5629091"/>
            <a:ext cx="178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冲突处理</a:t>
            </a:r>
            <a:r>
              <a:rPr lang="en-US" altLang="zh-CN" sz="1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C(key)</a:t>
            </a:r>
            <a:endParaRPr lang="zh-CN" altLang="en-US" sz="1800" dirty="0">
              <a:solidFill>
                <a:srgbClr val="01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52184" y="4469338"/>
            <a:ext cx="2800393" cy="83099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buFontTx/>
              <a:buChar char="•"/>
              <a:defRPr sz="2400">
                <a:solidFill>
                  <a:schemeClr val="bg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solidFill>
                  <a:srgbClr val="C0C0C0">
                    <a:lumMod val="20000"/>
                    <a:lumOff val="80000"/>
                  </a:srgbClr>
                </a:solidFill>
              </a:rPr>
              <a:t>地址空间存储的数据集合称为散列表</a:t>
            </a:r>
          </a:p>
        </p:txBody>
      </p:sp>
    </p:spTree>
    <p:extLst>
      <p:ext uri="{BB962C8B-B14F-4D97-AF65-F5344CB8AC3E}">
        <p14:creationId xmlns:p14="http://schemas.microsoft.com/office/powerpoint/2010/main" val="2901669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BA99A9CD-8F32-494D-AFC4-CFC15A42E5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A0FC635-A594-4D61-9CFB-B26CAAB270C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469" y="1627198"/>
            <a:ext cx="2888812" cy="4356079"/>
          </a:xfrm>
        </p:spPr>
      </p:pic>
      <p:sp>
        <p:nvSpPr>
          <p:cNvPr id="3" name="矩形 2"/>
          <p:cNvSpPr/>
          <p:nvPr/>
        </p:nvSpPr>
        <p:spPr>
          <a:xfrm>
            <a:off x="5557318" y="2932686"/>
            <a:ext cx="413446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>
              <a:defRPr/>
            </a:pPr>
            <a:r>
              <a:rPr lang="zh-CN" altLang="en-US" sz="4400" dirty="0">
                <a:ln w="0"/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50000">
                      <a:srgbClr val="4472C4"/>
                    </a:gs>
                    <a:gs pos="100000">
                      <a:srgbClr val="4472C4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好的散列函数？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87D84F0A-C0BF-47D5-A330-D91C5574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4758" y="1030990"/>
            <a:ext cx="10515600" cy="518958"/>
          </a:xfr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anchor="ctr">
            <a:normAutofit fontScale="90000"/>
          </a:bodyPr>
          <a:lstStyle/>
          <a:p>
            <a:pPr algn="l" fontAlgn="base">
              <a:lnSpc>
                <a:spcPct val="85000"/>
              </a:lnSpc>
              <a:spcAft>
                <a:spcPct val="0"/>
              </a:spcAft>
            </a:pPr>
            <a:r>
              <a:rPr lang="en-US" altLang="zh-CN" sz="4000" kern="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11.4.1</a:t>
            </a:r>
            <a:r>
              <a:rPr lang="zh-CN" altLang="en-US" sz="4000" kern="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常见的散列函数</a:t>
            </a:r>
          </a:p>
        </p:txBody>
      </p:sp>
    </p:spTree>
    <p:extLst>
      <p:ext uri="{BB962C8B-B14F-4D97-AF65-F5344CB8AC3E}">
        <p14:creationId xmlns:p14="http://schemas.microsoft.com/office/powerpoint/2010/main" val="319404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/>
          </a:bodyPr>
          <a:lstStyle/>
          <a:p>
            <a:pPr algn="ctr"/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4471BD-AFFA-4BEA-9846-3BDA3911F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99F040-DF51-47B0-A255-C37AE6A714C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一般来说，一个好的散列函数应满足下列两个条件：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）计算简单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）冲突少 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914400">
              <a:defRPr/>
            </a:pPr>
            <a:fld id="{E68D7D60-4CD7-4C74-9660-3E7E745EADFA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12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69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5021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/>
          </a:bodyPr>
          <a:lstStyle/>
          <a:p>
            <a:pPr algn="ctr"/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2A6B0639-9ACC-4AA2-B7C8-F89088489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A010E2-F0FE-4195-A844-4FE17CBA907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常见的散列函数构造方法有：</a:t>
            </a:r>
          </a:p>
          <a:p>
            <a:pPr lvl="3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直接散列函数</a:t>
            </a:r>
          </a:p>
          <a:p>
            <a:pPr lvl="3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数字分析法</a:t>
            </a:r>
          </a:p>
          <a:p>
            <a:pPr lvl="3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平方取中法</a:t>
            </a:r>
          </a:p>
          <a:p>
            <a:pPr lvl="3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折叠法</a:t>
            </a:r>
          </a:p>
          <a:p>
            <a:pPr lvl="3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除留余数法</a:t>
            </a:r>
          </a:p>
          <a:p>
            <a:pPr lvl="3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随机数法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914400">
              <a:defRPr/>
            </a:pPr>
            <a:fld id="{E68D7D60-4CD7-4C74-9660-3E7E745EADFA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13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937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0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0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0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0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F816F-5EC5-4905-9AAA-CD852EC8F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CD714825-51CA-4117-A9E0-F39F1F69AA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0341233-B488-481F-B7CB-75FEBAE1BA9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351235" name="Group 3"/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1653934346"/>
              </p:ext>
            </p:extLst>
          </p:nvPr>
        </p:nvGraphicFramePr>
        <p:xfrm>
          <a:off x="1968284" y="2654265"/>
          <a:ext cx="8049321" cy="1266825"/>
        </p:xfrm>
        <a:graphic>
          <a:graphicData uri="http://schemas.openxmlformats.org/drawingml/2006/table">
            <a:tbl>
              <a:tblPr/>
              <a:tblGrid>
                <a:gridCol w="112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2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06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72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67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散列</a:t>
                      </a:r>
                      <a:r>
                        <a:rPr kumimoji="0" lang="zh-CN" alt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zh-CN" altLang="pt-B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02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03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481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出生年份</a:t>
                      </a:r>
                      <a:endParaRPr kumimoji="0" lang="zh-CN" altLang="pt-B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1949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1950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1951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1970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67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出生人数</a:t>
                      </a:r>
                      <a:endParaRPr kumimoji="0" lang="zh-CN" altLang="pt-B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××××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××××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××××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××××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6" marR="18536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>
              <a:defRPr/>
            </a:pPr>
            <a:fld id="{C0BC3FA6-A463-4756-BBFA-DFE14C70F00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14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51269" name="Rectangle 37"/>
          <p:cNvSpPr>
            <a:spLocks noChangeArrowheads="1"/>
          </p:cNvSpPr>
          <p:nvPr/>
        </p:nvSpPr>
        <p:spPr bwMode="auto">
          <a:xfrm>
            <a:off x="3081758" y="4670207"/>
            <a:ext cx="4812984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wrap="none" anchor="ctr">
            <a:spAutoFit/>
          </a:bodyPr>
          <a:lstStyle/>
          <a:p>
            <a:pPr defTabSz="914400" eaLnBrk="0" hangingPunct="0">
              <a:defRPr/>
            </a:pPr>
            <a:r>
              <a:rPr lang="en-US" altLang="zh-CN" sz="3200" dirty="0">
                <a:solidFill>
                  <a:prstClr val="black"/>
                </a:solidFill>
              </a:rPr>
              <a:t>H</a:t>
            </a:r>
            <a:r>
              <a:rPr lang="zh-CN" altLang="en-US" sz="3200" dirty="0">
                <a:solidFill>
                  <a:prstClr val="black"/>
                </a:solidFill>
              </a:rPr>
              <a:t>（</a:t>
            </a:r>
            <a:r>
              <a:rPr lang="en-US" altLang="zh-CN" sz="3200" dirty="0">
                <a:solidFill>
                  <a:prstClr val="black"/>
                </a:solidFill>
              </a:rPr>
              <a:t>key</a:t>
            </a:r>
            <a:r>
              <a:rPr lang="zh-CN" altLang="en-US" sz="3200" dirty="0">
                <a:solidFill>
                  <a:prstClr val="black"/>
                </a:solidFill>
              </a:rPr>
              <a:t>）</a:t>
            </a:r>
            <a:r>
              <a:rPr lang="en-US" altLang="zh-CN" sz="3200" dirty="0">
                <a:solidFill>
                  <a:prstClr val="black"/>
                </a:solidFill>
              </a:rPr>
              <a:t>=key +</a:t>
            </a:r>
            <a:r>
              <a:rPr lang="zh-CN" altLang="en-US" sz="3200" dirty="0">
                <a:solidFill>
                  <a:prstClr val="black"/>
                </a:solidFill>
              </a:rPr>
              <a:t>（</a:t>
            </a:r>
            <a:r>
              <a:rPr lang="en-US" altLang="zh-CN" sz="3200" dirty="0">
                <a:solidFill>
                  <a:prstClr val="black"/>
                </a:solidFill>
              </a:rPr>
              <a:t>-1948</a:t>
            </a:r>
            <a:r>
              <a:rPr lang="zh-CN" altLang="en-US" sz="3200" dirty="0">
                <a:solidFill>
                  <a:prstClr val="black"/>
                </a:solidFill>
              </a:rPr>
              <a:t>） </a:t>
            </a:r>
          </a:p>
        </p:txBody>
      </p:sp>
      <p:sp>
        <p:nvSpPr>
          <p:cNvPr id="3" name="矩形 2"/>
          <p:cNvSpPr/>
          <p:nvPr/>
        </p:nvSpPr>
        <p:spPr>
          <a:xfrm>
            <a:off x="511989" y="1414962"/>
            <a:ext cx="685315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解放后每年出生人数的统计：</a:t>
            </a:r>
          </a:p>
        </p:txBody>
      </p:sp>
      <p:sp>
        <p:nvSpPr>
          <p:cNvPr id="4" name="矩形 3"/>
          <p:cNvSpPr/>
          <p:nvPr/>
        </p:nvSpPr>
        <p:spPr>
          <a:xfrm>
            <a:off x="3081758" y="2645491"/>
            <a:ext cx="6894756" cy="400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sz="18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969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35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69" grpId="0" animBg="1"/>
      <p:bldP spid="4" grpId="0" animBg="1"/>
      <p:bldP spid="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22EB9E8-C826-4917-967F-223B904A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B9308619-6F97-46C8-83AA-2F420C240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51234" name="Rectangle 2"/>
          <p:cNvSpPr>
            <a:spLocks noGrp="1" noChangeArrowheads="1"/>
          </p:cNvSpPr>
          <p:nvPr>
            <p:ph type="body" idx="10"/>
          </p:nvPr>
        </p:nvSpPr>
        <p:spPr/>
        <p:txBody>
          <a:bodyPr>
            <a:normAutofit fontScale="62500" lnSpcReduction="20000"/>
          </a:bodyPr>
          <a:lstStyle/>
          <a:p>
            <a:pPr marL="400050" indent="-400050">
              <a:lnSpc>
                <a:spcPct val="110000"/>
              </a:lnSpc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Group 3"/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4033381499"/>
              </p:ext>
            </p:extLst>
          </p:nvPr>
        </p:nvGraphicFramePr>
        <p:xfrm>
          <a:off x="1518091" y="4375353"/>
          <a:ext cx="8008046" cy="1266825"/>
        </p:xfrm>
        <a:graphic>
          <a:graphicData uri="http://schemas.openxmlformats.org/drawingml/2006/table">
            <a:tbl>
              <a:tblPr/>
              <a:tblGrid>
                <a:gridCol w="1123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6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07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67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散列</a:t>
                      </a:r>
                      <a:r>
                        <a:rPr kumimoji="0" lang="zh-CN" alt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zh-CN" altLang="pt-B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02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03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481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出生年份</a:t>
                      </a:r>
                      <a:endParaRPr kumimoji="0" lang="zh-CN" altLang="pt-B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1949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1950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1951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1970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67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出生人数</a:t>
                      </a:r>
                      <a:endParaRPr kumimoji="0" lang="zh-CN" altLang="pt-B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××××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××××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××××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××××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518092" y="984510"/>
            <a:ext cx="377539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25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）直接散列函数：</a:t>
            </a:r>
          </a:p>
        </p:txBody>
      </p:sp>
      <p:sp>
        <p:nvSpPr>
          <p:cNvPr id="11" name="Rectangle 37"/>
          <p:cNvSpPr>
            <a:spLocks noChangeArrowheads="1"/>
          </p:cNvSpPr>
          <p:nvPr/>
        </p:nvSpPr>
        <p:spPr bwMode="auto">
          <a:xfrm>
            <a:off x="3405789" y="5874556"/>
            <a:ext cx="4188519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wrap="none" anchor="ctr">
            <a:spAutoFit/>
          </a:bodyPr>
          <a:lstStyle/>
          <a:p>
            <a:pPr defTabSz="914400" eaLnBrk="0" hangingPunct="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H</a:t>
            </a:r>
            <a:r>
              <a:rPr lang="zh-CN" altLang="en-US" sz="2800" dirty="0">
                <a:solidFill>
                  <a:prstClr val="black"/>
                </a:solidFill>
              </a:rPr>
              <a:t>（</a:t>
            </a:r>
            <a:r>
              <a:rPr lang="en-US" altLang="zh-CN" sz="2800" dirty="0">
                <a:solidFill>
                  <a:prstClr val="black"/>
                </a:solidFill>
              </a:rPr>
              <a:t>key</a:t>
            </a:r>
            <a:r>
              <a:rPr lang="zh-CN" altLang="en-US" sz="2800" dirty="0">
                <a:solidFill>
                  <a:prstClr val="black"/>
                </a:solidFill>
              </a:rPr>
              <a:t>）</a:t>
            </a:r>
            <a:r>
              <a:rPr lang="en-US" altLang="zh-CN" sz="2800" dirty="0">
                <a:solidFill>
                  <a:prstClr val="black"/>
                </a:solidFill>
              </a:rPr>
              <a:t>=key +</a:t>
            </a:r>
            <a:r>
              <a:rPr lang="zh-CN" altLang="en-US" sz="2800" dirty="0">
                <a:solidFill>
                  <a:prstClr val="black"/>
                </a:solidFill>
              </a:rPr>
              <a:t>（</a:t>
            </a:r>
            <a:r>
              <a:rPr lang="en-US" altLang="zh-CN" sz="2800" dirty="0">
                <a:solidFill>
                  <a:prstClr val="black"/>
                </a:solidFill>
              </a:rPr>
              <a:t>-1948</a:t>
            </a:r>
            <a:r>
              <a:rPr lang="zh-CN" altLang="en-US" sz="2800" dirty="0">
                <a:solidFill>
                  <a:prstClr val="black"/>
                </a:solidFill>
              </a:rPr>
              <a:t>） </a:t>
            </a:r>
          </a:p>
        </p:txBody>
      </p:sp>
      <p:sp>
        <p:nvSpPr>
          <p:cNvPr id="12" name="矩形 11"/>
          <p:cNvSpPr/>
          <p:nvPr/>
        </p:nvSpPr>
        <p:spPr>
          <a:xfrm>
            <a:off x="2631381" y="4375353"/>
            <a:ext cx="6894756" cy="400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sz="18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94377" y="3603664"/>
            <a:ext cx="517912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解放后每年出生人数的统计：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29D391-190F-4D45-BFAE-CFDA8F6FE387}"/>
              </a:ext>
            </a:extLst>
          </p:cNvPr>
          <p:cNvSpPr/>
          <p:nvPr/>
        </p:nvSpPr>
        <p:spPr>
          <a:xfrm>
            <a:off x="2133600" y="2133177"/>
            <a:ext cx="6096000" cy="98520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00050" indent="-400050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取关键字本身或关键字的某个线性函数值作为散列地址，</a:t>
            </a:r>
          </a:p>
          <a:p>
            <a:pPr marL="400050" indent="-400050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=key</a:t>
            </a:r>
          </a:p>
          <a:p>
            <a:pPr marL="400050" indent="-400050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=a*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key+b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为常数）。</a:t>
            </a:r>
          </a:p>
        </p:txBody>
      </p:sp>
    </p:spTree>
    <p:extLst>
      <p:ext uri="{BB962C8B-B14F-4D97-AF65-F5344CB8AC3E}">
        <p14:creationId xmlns:p14="http://schemas.microsoft.com/office/powerpoint/2010/main" val="222162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1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4" grpId="0" build="p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D06D5-A5CF-46A7-A2D1-6BCECC034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669D67-74FF-44D2-B032-5B8D0A1448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921BCB-3B29-40C0-BAF6-B168A429D2C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353283" name="Object 3"/>
          <p:cNvGraphicFramePr>
            <a:graphicFrameLocks noGrp="1" noChangeAspect="1"/>
          </p:cNvGraphicFramePr>
          <p:nvPr>
            <p:ph idx="11"/>
            <p:extLst>
              <p:ext uri="{D42A27DB-BD31-4B8C-83A1-F6EECF244321}">
                <p14:modId xmlns:p14="http://schemas.microsoft.com/office/powerpoint/2010/main" val="3032828523"/>
              </p:ext>
            </p:extLst>
          </p:nvPr>
        </p:nvGraphicFramePr>
        <p:xfrm>
          <a:off x="1558970" y="2105098"/>
          <a:ext cx="3431483" cy="3026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文档" r:id="rId4" imgW="2140458" imgH="1887093" progId="Word.Document.8">
                  <p:embed/>
                </p:oleObj>
              </mc:Choice>
              <mc:Fallback>
                <p:oleObj name="文档" r:id="rId4" imgW="2140458" imgH="1887093" progId="Word.Document.8">
                  <p:embed/>
                  <p:pic>
                    <p:nvPicPr>
                      <p:cNvPr id="3532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70" y="2105098"/>
                        <a:ext cx="3431483" cy="3026732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accent1">
                              <a:tint val="66000"/>
                              <a:satMod val="160000"/>
                            </a:schemeClr>
                          </a:gs>
                          <a:gs pos="50000">
                            <a:schemeClr val="accent1">
                              <a:tint val="44500"/>
                              <a:satMod val="160000"/>
                            </a:schemeClr>
                          </a:gs>
                          <a:gs pos="100000">
                            <a:schemeClr val="accent1">
                              <a:tint val="23500"/>
                              <a:satMod val="160000"/>
                            </a:schemeClr>
                          </a:gs>
                        </a:gsLst>
                        <a:lin ang="8100000" scaled="1"/>
                        <a:tileRect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3284" name="Rectangle 4"/>
          <p:cNvSpPr>
            <a:spLocks noChangeArrowheads="1"/>
          </p:cNvSpPr>
          <p:nvPr/>
        </p:nvSpPr>
        <p:spPr bwMode="auto">
          <a:xfrm>
            <a:off x="5415006" y="2369128"/>
            <a:ext cx="5721567" cy="2462213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wrap="square">
            <a:spAutoFit/>
          </a:bodyPr>
          <a:lstStyle/>
          <a:p>
            <a:pPr defTabSz="914400">
              <a:spcBef>
                <a:spcPct val="50000"/>
              </a:spcBef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n=80,d=8,r=10,s=2</a:t>
            </a:r>
          </a:p>
          <a:p>
            <a:pPr defTabSz="914400">
              <a:spcBef>
                <a:spcPct val="50000"/>
              </a:spcBef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位分布不均匀，不能取。可取第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两位组成的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位十进制数作为每个数据的散列地址，则图中列出的关键字的散列地址分别为：</a:t>
            </a: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spcBef>
                <a:spcPct val="50000"/>
              </a:spcBef>
              <a:defRPr/>
            </a:pP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65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zh-CN" altLang="en-US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033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5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5648ECD7-575B-4CE5-8713-CDB3AC0463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53282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1003681" y="1691494"/>
            <a:ext cx="10350119" cy="926884"/>
          </a:xfrm>
        </p:spPr>
        <p:txBody>
          <a:bodyPr>
            <a:noAutofit/>
          </a:bodyPr>
          <a:lstStyle/>
          <a:p>
            <a:pPr marL="0" indent="0" algn="l">
              <a:lnSpc>
                <a:spcPct val="12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设ｎ个ｄ位数的关键字，由ｒ个不同的符号组成，此ｒ个符号在关键字各位出现的频率不一定相同，可能在某些位上均匀分布，即每个符号出现的次数都接近于ｎ／ｒ次，而在另一些位上分布不均匀。则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选择其中分布均匀的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位作为散列地址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=“key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中数字均匀分布的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位” </a:t>
            </a:r>
          </a:p>
        </p:txBody>
      </p:sp>
      <p:graphicFrame>
        <p:nvGraphicFramePr>
          <p:cNvPr id="9" name="Object 3"/>
          <p:cNvGraphicFramePr>
            <a:graphicFrameLocks noGrp="1" noChangeAspect="1"/>
          </p:cNvGraphicFramePr>
          <p:nvPr>
            <p:ph idx="11"/>
            <p:extLst>
              <p:ext uri="{D42A27DB-BD31-4B8C-83A1-F6EECF244321}">
                <p14:modId xmlns:p14="http://schemas.microsoft.com/office/powerpoint/2010/main" val="1243159697"/>
              </p:ext>
            </p:extLst>
          </p:nvPr>
        </p:nvGraphicFramePr>
        <p:xfrm>
          <a:off x="880410" y="2782508"/>
          <a:ext cx="4051756" cy="3573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文档" r:id="rId4" imgW="2140458" imgH="1887093" progId="Word.Document.8">
                  <p:embed/>
                </p:oleObj>
              </mc:Choice>
              <mc:Fallback>
                <p:oleObj name="文档" r:id="rId4" imgW="2140458" imgH="1887093" progId="Word.Document.8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410" y="2782508"/>
                        <a:ext cx="4051756" cy="3573842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accent1">
                              <a:tint val="66000"/>
                              <a:satMod val="160000"/>
                            </a:schemeClr>
                          </a:gs>
                          <a:gs pos="50000">
                            <a:schemeClr val="accent1">
                              <a:tint val="44500"/>
                              <a:satMod val="160000"/>
                            </a:schemeClr>
                          </a:gs>
                          <a:gs pos="100000">
                            <a:schemeClr val="accent1">
                              <a:tint val="23500"/>
                              <a:satMod val="160000"/>
                            </a:schemeClr>
                          </a:gs>
                        </a:gsLst>
                        <a:lin ang="8100000" scaled="1"/>
                        <a:tileRect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>
              <a:defRPr/>
            </a:pPr>
            <a:fld id="{3A13CAFF-095F-44EC-8D60-8B32E5C5F44D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17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880410" y="821894"/>
            <a:ext cx="332655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数字分析法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606150" y="4040067"/>
            <a:ext cx="5214250" cy="1754326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wrap="square">
            <a:spAutoFit/>
          </a:bodyPr>
          <a:lstStyle/>
          <a:p>
            <a:pPr defTabSz="914400"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n=80,d=8,r=10,s=2</a:t>
            </a:r>
          </a:p>
          <a:p>
            <a:pPr defTabSz="914400"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位分布不均匀，不能取。可取第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两位组成的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位十进制数作为每个数据的散列地址，则图中列出的关键字的散列地址分别为：</a:t>
            </a:r>
            <a:endParaRPr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65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zh-CN" altLang="en-US" sz="1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540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3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2" grpId="0" build="p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3358CF9-A1F2-438D-86A9-EB747478B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7D160BFB-B874-421D-B3E0-2C86E9753B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55330" name="Rectangle 2"/>
          <p:cNvSpPr>
            <a:spLocks noGrp="1" noChangeArrowheads="1"/>
          </p:cNvSpPr>
          <p:nvPr>
            <p:ph type="body" idx="10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55331" name="Group 3"/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912563761"/>
              </p:ext>
            </p:extLst>
          </p:nvPr>
        </p:nvGraphicFramePr>
        <p:xfrm>
          <a:off x="2041066" y="3429000"/>
          <a:ext cx="6214129" cy="274807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78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9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78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</a:t>
                      </a:r>
                      <a:endParaRPr kumimoji="0" lang="zh-CN" alt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关键字</a:t>
                      </a:r>
                      <a:endParaRPr kumimoji="0" lang="zh-CN" alt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关键字</a:t>
                      </a: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pt-BR" altLang="zh-CN" sz="14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散列</a:t>
                      </a:r>
                      <a:r>
                        <a:rPr kumimoji="0" lang="zh-CN" alt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</a:t>
                      </a:r>
                      <a:r>
                        <a:rPr kumimoji="0" lang="pt-BR" altLang="zh-CN" sz="14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</a:t>
                      </a: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~2</a:t>
                      </a:r>
                      <a:r>
                        <a:rPr kumimoji="0" lang="pt-BR" altLang="zh-CN" sz="14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45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pt-BR" altLang="zh-CN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</a:t>
                      </a: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78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pt-BR" altLang="zh-CN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210</a:t>
                      </a: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210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46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1200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pt-BR" altLang="zh-CN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</a:t>
                      </a: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78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1160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pt-BR" altLang="zh-CN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370</a:t>
                      </a: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370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46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2061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pt-BR" altLang="zh-CN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310</a:t>
                      </a: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1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P2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2062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pt-BR" altLang="zh-CN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314</a:t>
                      </a: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704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314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46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2161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pt-BR" altLang="zh-CN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734</a:t>
                      </a: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734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78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Q2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2162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pt-BR" altLang="zh-CN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741</a:t>
                      </a: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304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46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Q3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2163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pt-BR" altLang="zh-CN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745</a:t>
                      </a: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651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745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0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>
              <a:defRPr/>
            </a:pPr>
            <a:fld id="{A78BDC92-19E0-4CA7-AD9B-003353F3EC9F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18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28773" y="1052125"/>
            <a:ext cx="2698175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25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）平方取中法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841543-A5E2-4314-9ECD-A5C645AA818C}"/>
              </a:ext>
            </a:extLst>
          </p:cNvPr>
          <p:cNvSpPr/>
          <p:nvPr/>
        </p:nvSpPr>
        <p:spPr>
          <a:xfrm>
            <a:off x="1026763" y="2642637"/>
            <a:ext cx="9793637" cy="531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其中，所取的位数由散列表的大小确定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97BA2D-6700-4BD3-9E69-CA059085C259}"/>
              </a:ext>
            </a:extLst>
          </p:cNvPr>
          <p:cNvSpPr/>
          <p:nvPr/>
        </p:nvSpPr>
        <p:spPr>
          <a:xfrm>
            <a:off x="1849222" y="1516824"/>
            <a:ext cx="9504577" cy="1011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取关键字平方后的中间几位作为散列地址，即散列函数为：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H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=“key</a:t>
            </a:r>
            <a:r>
              <a:rPr lang="en-US" altLang="zh-CN" sz="2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的中间几位”</a:t>
            </a:r>
          </a:p>
        </p:txBody>
      </p:sp>
    </p:spTree>
    <p:extLst>
      <p:ext uri="{BB962C8B-B14F-4D97-AF65-F5344CB8AC3E}">
        <p14:creationId xmlns:p14="http://schemas.microsoft.com/office/powerpoint/2010/main" val="422491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5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0" grpId="0" build="p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5E73B-84FC-44C4-A192-FF369968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FF7F80-A1DE-4BAB-9669-6FE2E23A0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39C264-5DEF-4300-AE8E-B7BA3979ACB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ED0D08-8112-466E-A0B6-A2B94C5B64C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294967295"/>
          </p:nvPr>
        </p:nvSpPr>
        <p:spPr>
          <a:ln/>
        </p:spPr>
        <p:txBody>
          <a:bodyPr/>
          <a:lstStyle/>
          <a:p>
            <a:pPr defTabSz="914400">
              <a:defRPr/>
            </a:pPr>
            <a:fld id="{C66906E7-116D-4FD7-B362-E1ECC76BC767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19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57378" name="Text Box 2"/>
          <p:cNvSpPr txBox="1">
            <a:spLocks noChangeArrowheads="1"/>
          </p:cNvSpPr>
          <p:nvPr/>
        </p:nvSpPr>
        <p:spPr bwMode="auto">
          <a:xfrm>
            <a:off x="1392304" y="2467030"/>
            <a:ext cx="9284174" cy="250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lnSpc>
                <a:spcPct val="140000"/>
              </a:lnSpc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以关键字的平方值的中间几位作为存储地址。求“关键字的平方值” 的目的是“扩大差别”和“贡献均衡”。</a:t>
            </a:r>
          </a:p>
          <a:p>
            <a:pPr defTabSz="914400">
              <a:lnSpc>
                <a:spcPct val="140000"/>
              </a:lnSpc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即：关键字的各位都在平方值的中间几位有所贡献，</a:t>
            </a:r>
            <a:r>
              <a:rPr kumimoji="1"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值中应该有各位影子。</a:t>
            </a:r>
          </a:p>
        </p:txBody>
      </p:sp>
      <p:sp>
        <p:nvSpPr>
          <p:cNvPr id="357379" name="Text Box 3"/>
          <p:cNvSpPr txBox="1">
            <a:spLocks noChangeArrowheads="1"/>
          </p:cNvSpPr>
          <p:nvPr/>
        </p:nvSpPr>
        <p:spPr bwMode="auto">
          <a:xfrm>
            <a:off x="1613795" y="1798554"/>
            <a:ext cx="3834789" cy="58477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buFontTx/>
              <a:buChar char="•"/>
              <a:defRPr sz="2400">
                <a:solidFill>
                  <a:schemeClr val="bg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algn="ctr" defTabSz="914400">
              <a:defRPr/>
            </a:pPr>
            <a:r>
              <a:rPr lang="zh-CN" altLang="en-US" sz="3200" dirty="0">
                <a:solidFill>
                  <a:prstClr val="white">
                    <a:lumMod val="20000"/>
                    <a:lumOff val="80000"/>
                  </a:prstClr>
                </a:solidFill>
              </a:rPr>
              <a:t>平方取中法思想      </a:t>
            </a:r>
          </a:p>
        </p:txBody>
      </p:sp>
    </p:spTree>
    <p:extLst>
      <p:ext uri="{BB962C8B-B14F-4D97-AF65-F5344CB8AC3E}">
        <p14:creationId xmlns:p14="http://schemas.microsoft.com/office/powerpoint/2010/main" val="34815067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57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57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3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57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57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78" grpId="0"/>
      <p:bldP spid="35737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05BFB1-212D-4CC4-B258-D6214E20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154F19-30B4-49B0-A290-179E9D46F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71623D-6E3D-42F7-86BD-333FEBBD397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848" y="3138394"/>
            <a:ext cx="1286054" cy="1333686"/>
          </a:xfrm>
        </p:spPr>
      </p:pic>
      <p:sp>
        <p:nvSpPr>
          <p:cNvPr id="7" name="云形标注 6"/>
          <p:cNvSpPr/>
          <p:nvPr/>
        </p:nvSpPr>
        <p:spPr>
          <a:xfrm>
            <a:off x="5736981" y="1091822"/>
            <a:ext cx="4389658" cy="1496108"/>
          </a:xfrm>
          <a:prstGeom prst="cloudCallout">
            <a:avLst>
              <a:gd name="adj1" fmla="val -61374"/>
              <a:gd name="adj2" fmla="val 89661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关键字位数特别多，怎么办？</a:t>
            </a:r>
          </a:p>
        </p:txBody>
      </p:sp>
    </p:spTree>
    <p:extLst>
      <p:ext uri="{BB962C8B-B14F-4D97-AF65-F5344CB8AC3E}">
        <p14:creationId xmlns:p14="http://schemas.microsoft.com/office/powerpoint/2010/main" val="159735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30687B6-22F9-49E5-A221-D5F45A798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E57187A9-49C9-493A-B80F-D764754A8D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58402" name="Rectangle 2"/>
          <p:cNvSpPr>
            <a:spLocks noGrp="1" noChangeArrowheads="1"/>
          </p:cNvSpPr>
          <p:nvPr>
            <p:ph type="body" idx="10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8FF268A-7567-4887-B7BA-4E9717A0E94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84225" y="1731212"/>
            <a:ext cx="11055325" cy="50577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关键字位数较长</a:t>
            </a:r>
            <a:r>
              <a:rPr lang="zh-CN" altLang="en-US" dirty="0"/>
              <a:t>时，可将关键字分割成位数相等的几部分（最后一部分位数可以不同），取这几部分的叠加和（舍去高位的进位）作为散列地址。位数由存储地址的位数确定。叠加时有两种方法：</a:t>
            </a:r>
          </a:p>
          <a:p>
            <a:pPr lvl="3">
              <a:lnSpc>
                <a:spcPct val="120000"/>
              </a:lnSpc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移位叠加法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，即将每部分的最后一位对齐，然后相加；</a:t>
            </a:r>
          </a:p>
          <a:p>
            <a:pPr lvl="3">
              <a:lnSpc>
                <a:spcPct val="120000"/>
              </a:lnSpc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边界叠加法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，即把关键字看作一纸条，从一端向另一端沿边界逐次折叠，然后对齐相加。 </a:t>
            </a:r>
          </a:p>
          <a:p>
            <a:endParaRPr lang="zh-CN" altLang="en-US" dirty="0"/>
          </a:p>
        </p:txBody>
      </p:sp>
      <p:sp>
        <p:nvSpPr>
          <p:cNvPr id="358403" name="Rectangle 3"/>
          <p:cNvSpPr>
            <a:spLocks noChangeArrowheads="1"/>
          </p:cNvSpPr>
          <p:nvPr/>
        </p:nvSpPr>
        <p:spPr bwMode="auto">
          <a:xfrm>
            <a:off x="2292428" y="2576025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914400">
              <a:defRPr/>
            </a:pPr>
            <a:endParaRPr lang="zh-CN" altLang="en-US" sz="1350">
              <a:solidFill>
                <a:prstClr val="black"/>
              </a:solidFill>
            </a:endParaRPr>
          </a:p>
        </p:txBody>
      </p:sp>
      <p:graphicFrame>
        <p:nvGraphicFramePr>
          <p:cNvPr id="358404" name="Object 4"/>
          <p:cNvGraphicFramePr>
            <a:graphicFrameLocks noChangeAspect="1"/>
          </p:cNvGraphicFramePr>
          <p:nvPr>
            <p:extLst/>
          </p:nvPr>
        </p:nvGraphicFramePr>
        <p:xfrm>
          <a:off x="3120675" y="4016367"/>
          <a:ext cx="4374356" cy="158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Visio" r:id="rId4" imgW="2857581" imgH="1039269" progId="Visio.Drawing.11">
                  <p:embed/>
                </p:oleObj>
              </mc:Choice>
              <mc:Fallback>
                <p:oleObj name="Visio" r:id="rId4" imgW="2857581" imgH="1039269" progId="Visio.Drawing.11">
                  <p:embed/>
                  <p:pic>
                    <p:nvPicPr>
                      <p:cNvPr id="3584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0675" y="4016367"/>
                        <a:ext cx="4374356" cy="158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46933" y="897153"/>
            <a:ext cx="1877438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）折叠法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724371" y="5965245"/>
            <a:ext cx="5928078" cy="461665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此方法适合于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关键字的数字位数特别多。</a:t>
            </a:r>
          </a:p>
        </p:txBody>
      </p:sp>
    </p:spTree>
    <p:extLst>
      <p:ext uri="{BB962C8B-B14F-4D97-AF65-F5344CB8AC3E}">
        <p14:creationId xmlns:p14="http://schemas.microsoft.com/office/powerpoint/2010/main" val="30528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5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8F8009-7DE5-4B2F-9EA2-CE443F1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89C4BAC8-BB79-4625-9C06-6A210990EB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60450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1497933" y="2465042"/>
            <a:ext cx="9855867" cy="4616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取关键字被某个不大于散列表长度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除后的余数作为散列地址，即：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=key MOD p(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p≤m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graphicFrame>
        <p:nvGraphicFramePr>
          <p:cNvPr id="360451" name="Object 3"/>
          <p:cNvGraphicFramePr>
            <a:graphicFrameLocks noGrp="1" noChangeAspect="1"/>
          </p:cNvGraphicFramePr>
          <p:nvPr>
            <p:ph idx="11"/>
            <p:extLst>
              <p:ext uri="{D42A27DB-BD31-4B8C-83A1-F6EECF244321}">
                <p14:modId xmlns:p14="http://schemas.microsoft.com/office/powerpoint/2010/main" val="901113762"/>
              </p:ext>
            </p:extLst>
          </p:nvPr>
        </p:nvGraphicFramePr>
        <p:xfrm>
          <a:off x="4349697" y="3784378"/>
          <a:ext cx="3773883" cy="712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文档" r:id="rId4" imgW="2221230" imgH="419481" progId="Word.Document.8">
                  <p:embed/>
                </p:oleObj>
              </mc:Choice>
              <mc:Fallback>
                <p:oleObj name="文档" r:id="rId4" imgW="2221230" imgH="419481" progId="Word.Document.8">
                  <p:embed/>
                  <p:pic>
                    <p:nvPicPr>
                      <p:cNvPr id="3604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697" y="3784378"/>
                        <a:ext cx="3773883" cy="712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>
              <a:defRPr/>
            </a:pPr>
            <a:fld id="{51132865-F13E-4B05-8ED6-30D2823F13F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22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60452" name="Text Box 4"/>
          <p:cNvSpPr txBox="1">
            <a:spLocks noChangeArrowheads="1"/>
          </p:cNvSpPr>
          <p:nvPr/>
        </p:nvSpPr>
        <p:spPr bwMode="auto">
          <a:xfrm>
            <a:off x="1808812" y="4872460"/>
            <a:ext cx="7841963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spcBef>
                <a:spcPct val="30000"/>
              </a:spcBef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的选择很重要，如果选得不好会产生很多冲突。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spcBef>
                <a:spcPct val="30000"/>
              </a:spcBef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关键字都是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的倍数，而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p=10</a:t>
            </a:r>
          </a:p>
          <a:p>
            <a:pPr defTabSz="914400">
              <a:spcBef>
                <a:spcPct val="30000"/>
              </a:spcBef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一般取小于表长的最大质数</a:t>
            </a:r>
          </a:p>
        </p:txBody>
      </p:sp>
      <p:sp>
        <p:nvSpPr>
          <p:cNvPr id="2" name="矩形 1"/>
          <p:cNvSpPr/>
          <p:nvPr/>
        </p:nvSpPr>
        <p:spPr>
          <a:xfrm>
            <a:off x="851066" y="1071840"/>
            <a:ext cx="2576346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）除留余数法</a:t>
            </a:r>
          </a:p>
        </p:txBody>
      </p:sp>
      <p:sp>
        <p:nvSpPr>
          <p:cNvPr id="3" name="矩形 2"/>
          <p:cNvSpPr/>
          <p:nvPr/>
        </p:nvSpPr>
        <p:spPr>
          <a:xfrm>
            <a:off x="1311008" y="3561590"/>
            <a:ext cx="22816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2" defTabSz="914400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p=21</a:t>
            </a:r>
          </a:p>
        </p:txBody>
      </p:sp>
    </p:spTree>
    <p:extLst>
      <p:ext uri="{BB962C8B-B14F-4D97-AF65-F5344CB8AC3E}">
        <p14:creationId xmlns:p14="http://schemas.microsoft.com/office/powerpoint/2010/main" val="96649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0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0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36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0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0" grpId="0" build="p"/>
      <p:bldP spid="360452" grpId="0"/>
      <p:bldP spid="2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680CC35-8CA1-427C-B52D-EFFA44216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FB926B14-7E3F-4AFB-8282-570A3F0799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62498" name="Rectangle 2"/>
          <p:cNvSpPr>
            <a:spLocks noGrp="1" noChangeArrowheads="1"/>
          </p:cNvSpPr>
          <p:nvPr>
            <p:ph type="body" idx="10"/>
          </p:nvPr>
        </p:nvSpPr>
        <p:spPr/>
        <p:txBody>
          <a:bodyPr>
            <a:noAutofit/>
          </a:bodyPr>
          <a:lstStyle/>
          <a:p>
            <a:pPr marL="400050" indent="-400050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5575A2E-D96E-480A-B448-2F4C47FDFE1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653978" y="1800225"/>
            <a:ext cx="11055325" cy="5057775"/>
          </a:xfrm>
        </p:spPr>
        <p:txBody>
          <a:bodyPr/>
          <a:lstStyle/>
          <a:p>
            <a:pPr marL="400050" indent="-400050"/>
            <a:r>
              <a:rPr lang="zh-CN" altLang="en-US" dirty="0"/>
              <a:t>选择一个随机函数，取关键字的随机函数值作为散列地址，</a:t>
            </a:r>
          </a:p>
          <a:p>
            <a:pPr marL="400050" indent="-400050"/>
            <a:r>
              <a:rPr lang="zh-CN" altLang="en-US" dirty="0"/>
              <a:t>即：</a:t>
            </a:r>
            <a:r>
              <a:rPr lang="en-US" altLang="zh-CN" dirty="0"/>
              <a:t>H</a:t>
            </a:r>
            <a:r>
              <a:rPr lang="zh-CN" altLang="en-US" dirty="0"/>
              <a:t>（</a:t>
            </a:r>
            <a:r>
              <a:rPr lang="en-US" altLang="zh-CN" dirty="0"/>
              <a:t>key</a:t>
            </a:r>
            <a:r>
              <a:rPr lang="zh-CN" altLang="en-US" dirty="0"/>
              <a:t>）</a:t>
            </a:r>
            <a:r>
              <a:rPr lang="en-US" altLang="zh-CN" dirty="0"/>
              <a:t>=random</a:t>
            </a:r>
            <a:r>
              <a:rPr lang="zh-CN" altLang="en-US" dirty="0"/>
              <a:t>（</a:t>
            </a:r>
            <a:r>
              <a:rPr lang="en-US" altLang="zh-CN" dirty="0"/>
              <a:t>key</a:t>
            </a:r>
            <a:r>
              <a:rPr lang="zh-CN" altLang="en-US" dirty="0"/>
              <a:t>）</a:t>
            </a:r>
          </a:p>
          <a:p>
            <a:pPr marL="400050" indent="-400050"/>
            <a:r>
              <a:rPr lang="zh-CN" altLang="en-US" dirty="0"/>
              <a:t>其中</a:t>
            </a:r>
            <a:r>
              <a:rPr lang="en-US" altLang="zh-CN" dirty="0"/>
              <a:t>random</a:t>
            </a:r>
            <a:r>
              <a:rPr lang="zh-CN" altLang="en-US" dirty="0"/>
              <a:t>为随机函数。</a:t>
            </a:r>
          </a:p>
          <a:p>
            <a:endParaRPr lang="zh-CN" altLang="en-US" dirty="0"/>
          </a:p>
        </p:txBody>
      </p:sp>
      <p:sp>
        <p:nvSpPr>
          <p:cNvPr id="3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>
              <a:defRPr/>
            </a:pPr>
            <a:fld id="{BC39DD19-4FEF-4899-91FF-88722A3832C7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23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15014" y="955418"/>
            <a:ext cx="2287806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随机数法</a:t>
            </a:r>
          </a:p>
        </p:txBody>
      </p:sp>
      <p:sp>
        <p:nvSpPr>
          <p:cNvPr id="4" name="矩形 3"/>
          <p:cNvSpPr/>
          <p:nvPr/>
        </p:nvSpPr>
        <p:spPr>
          <a:xfrm>
            <a:off x="1653978" y="3237676"/>
            <a:ext cx="9318822" cy="2058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 defTabSz="914400">
              <a:lnSpc>
                <a:spcPct val="120000"/>
              </a:lnSpc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实际工作中需根据不同的情况采用不同的散列函数。通常需要考虑的因素有：</a:t>
            </a:r>
          </a:p>
          <a:p>
            <a:pPr marL="1358504" lvl="3" indent="-228600" defTabSz="914400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计算散列函数所需时间；</a:t>
            </a:r>
          </a:p>
          <a:p>
            <a:pPr marL="1358504" lvl="3" indent="-228600" defTabSz="914400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关键字的长度；</a:t>
            </a:r>
          </a:p>
          <a:p>
            <a:pPr marL="1358504" lvl="3" indent="-228600" defTabSz="914400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散列表的大小；</a:t>
            </a:r>
          </a:p>
          <a:p>
            <a:pPr marL="1358504" lvl="3" indent="-228600" defTabSz="914400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关键字的分布情况；</a:t>
            </a:r>
          </a:p>
          <a:p>
            <a:pPr marL="1358504" lvl="3" indent="-228600" defTabSz="914400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记录的查找频率。 </a:t>
            </a:r>
          </a:p>
        </p:txBody>
      </p:sp>
    </p:spTree>
    <p:extLst>
      <p:ext uri="{BB962C8B-B14F-4D97-AF65-F5344CB8AC3E}">
        <p14:creationId xmlns:p14="http://schemas.microsoft.com/office/powerpoint/2010/main" val="315366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8" grpId="0" build="p"/>
      <p:bldP spid="2" grpId="0"/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49BAB2F2-66B9-4B88-A1AD-1B6D4DC2D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27AC8C0-53BA-4A1F-92AC-53BEEC504C7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404" y="2221924"/>
            <a:ext cx="2926821" cy="3035223"/>
          </a:xfrm>
        </p:spPr>
      </p:pic>
      <p:sp>
        <p:nvSpPr>
          <p:cNvPr id="5" name="云形标注 4"/>
          <p:cNvSpPr/>
          <p:nvPr/>
        </p:nvSpPr>
        <p:spPr>
          <a:xfrm>
            <a:off x="5126817" y="1157493"/>
            <a:ext cx="5614629" cy="1948722"/>
          </a:xfrm>
          <a:prstGeom prst="cloudCallout">
            <a:avLst>
              <a:gd name="adj1" fmla="val -50773"/>
              <a:gd name="adj2" fmla="val 74038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建立散列表如果遇到两个相同关键字的情况怎么办？</a:t>
            </a:r>
          </a:p>
        </p:txBody>
      </p:sp>
      <p:sp>
        <p:nvSpPr>
          <p:cNvPr id="6" name="云形标注 4">
            <a:extLst>
              <a:ext uri="{FF2B5EF4-FFF2-40B4-BE49-F238E27FC236}">
                <a16:creationId xmlns:a16="http://schemas.microsoft.com/office/drawing/2014/main" id="{4BCDDF83-7D3D-49E9-943E-5835D8FD6827}"/>
              </a:ext>
            </a:extLst>
          </p:cNvPr>
          <p:cNvSpPr/>
          <p:nvPr/>
        </p:nvSpPr>
        <p:spPr>
          <a:xfrm>
            <a:off x="5126816" y="3346465"/>
            <a:ext cx="5614629" cy="1948722"/>
          </a:xfrm>
          <a:prstGeom prst="cloudCallout">
            <a:avLst>
              <a:gd name="adj1" fmla="val -54423"/>
              <a:gd name="adj2" fmla="val 51386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有可能有两个相同关键字吗？</a:t>
            </a:r>
          </a:p>
        </p:txBody>
      </p:sp>
    </p:spTree>
    <p:extLst>
      <p:ext uri="{BB962C8B-B14F-4D97-AF65-F5344CB8AC3E}">
        <p14:creationId xmlns:p14="http://schemas.microsoft.com/office/powerpoint/2010/main" val="140052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8.33333E-7 -2.59259E-6 L 8.33333E-7 -0.07222 " pathEditMode="relative" rAng="0" ptsTypes="AA">
                                      <p:cBhvr>
                                        <p:cTn id="2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8.33333E-7 -2.59259E-6 L 8.33333E-7 -0.07222 " pathEditMode="relative" rAng="0" ptsTypes="AA">
                                      <p:cBhvr>
                                        <p:cTn id="4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5" grpId="1" build="p" animBg="1"/>
      <p:bldP spid="6" grpId="0" build="p" animBg="1"/>
      <p:bldP spid="6" grpId="1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838200" y="757392"/>
            <a:ext cx="10515600" cy="518958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altLang="zh-CN" sz="3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11.4.2</a:t>
            </a: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冲突处理</a:t>
            </a: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28CC4F2E-BE5B-4CD5-8D09-69BEFD302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A906B1-8E58-4F72-B49D-D9462F28089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冲突：</a:t>
            </a:r>
            <a:endParaRPr kumimoji="1"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是指由关键字得到的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地址上已有其他记录。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好的散列函数可以减少冲突，但很难避免冲突。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冲突处理 ：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为出现散列地址冲突的关键字寻找下一个散列地址。</a:t>
            </a:r>
          </a:p>
          <a:p>
            <a:pPr>
              <a:lnSpc>
                <a:spcPct val="120000"/>
              </a:lnSpc>
            </a:pP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844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3765EB69-E6FD-4FED-917C-ACD1A4C2D5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散列函数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708280-072E-43B3-87A1-1C3392BE747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常见的冲突处理方法有：</a:t>
            </a:r>
          </a:p>
          <a:p>
            <a:pPr lvl="3">
              <a:lnSpc>
                <a:spcPct val="150000"/>
              </a:lnSpc>
            </a:pP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开放地址法</a:t>
            </a:r>
          </a:p>
          <a:p>
            <a:pPr lvl="3">
              <a:lnSpc>
                <a:spcPct val="150000"/>
              </a:lnSpc>
            </a:pP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再散列法</a:t>
            </a:r>
          </a:p>
          <a:p>
            <a:pPr lvl="3">
              <a:lnSpc>
                <a:spcPct val="150000"/>
              </a:lnSpc>
            </a:pP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链地址法</a:t>
            </a:r>
          </a:p>
          <a:p>
            <a:pPr lvl="3">
              <a:lnSpc>
                <a:spcPct val="150000"/>
              </a:lnSpc>
            </a:pP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公共溢出区法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66FFF62-5B97-4695-88DB-AD7E1A7C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21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FCA99-A0BE-429E-A39D-AAA9155E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C97455-55BC-4B3E-8F84-8FB634CC65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散列函数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B24A87-DB1D-4DC7-808D-9449C76A6DF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Rectangle 2"/>
          <p:cNvSpPr>
            <a:spLocks noGrp="1" noChangeArrowheads="1"/>
          </p:cNvSpPr>
          <p:nvPr>
            <p:ph idx="11"/>
          </p:nvPr>
        </p:nvSpPr>
        <p:spPr>
          <a:xfrm>
            <a:off x="1436632" y="1716049"/>
            <a:ext cx="11055325" cy="505777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为产生冲突的地址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H(key)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求得一个地址序列：</a:t>
            </a:r>
          </a:p>
          <a:p>
            <a:pPr marL="971550" lvl="2" indent="-285750">
              <a:lnSpc>
                <a:spcPct val="130000"/>
              </a:lnSpc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H</a:t>
            </a:r>
            <a:r>
              <a: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H</a:t>
            </a:r>
            <a:r>
              <a: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…, H</a:t>
            </a:r>
            <a:r>
              <a: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 s≤m-1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71550" lvl="2" indent="-285750">
              <a:lnSpc>
                <a:spcPct val="130000"/>
              </a:lnSpc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H(key)</a:t>
            </a:r>
          </a:p>
          <a:p>
            <a:pPr marL="971550" lvl="2" indent="-285750">
              <a:lnSpc>
                <a:spcPct val="130000"/>
              </a:lnSpc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H</a:t>
            </a:r>
            <a:r>
              <a: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( H(key) + </a:t>
            </a:r>
            <a:r>
              <a:rPr kumimoji="1"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24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MOD m </a:t>
            </a:r>
          </a:p>
          <a:p>
            <a:pPr marL="971550" lvl="2" indent="-285750">
              <a:lnSpc>
                <a:spcPct val="130000"/>
              </a:lnSpc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kumimoji="1" lang="en-US" altLang="zh-CN" sz="2400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=1, 2, …, s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030067" y="4427253"/>
            <a:ext cx="6065044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为第</a:t>
            </a:r>
            <a:r>
              <a:rPr kumimoji="1"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次冲突的地址，</a:t>
            </a:r>
            <a:r>
              <a:rPr kumimoji="1" lang="en-US" altLang="zh-CN" i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=1, 2, …, s</a:t>
            </a:r>
            <a:endParaRPr kumimoji="1"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函数值</a:t>
            </a:r>
            <a:endParaRPr kumimoji="1"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defRPr/>
            </a:pPr>
            <a:r>
              <a:rPr kumimoji="1" lang="en-US" altLang="zh-CN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表表长</a:t>
            </a:r>
            <a:endParaRPr kumimoji="1"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defRPr/>
            </a:pPr>
            <a:r>
              <a:rPr kumimoji="1" lang="en-US" altLang="zh-CN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为增量序列</a:t>
            </a:r>
          </a:p>
        </p:txBody>
      </p:sp>
      <p:sp>
        <p:nvSpPr>
          <p:cNvPr id="14" name="矩形 13"/>
          <p:cNvSpPr/>
          <p:nvPr/>
        </p:nvSpPr>
        <p:spPr>
          <a:xfrm>
            <a:off x="1664087" y="1131274"/>
            <a:ext cx="2986715" cy="5847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marL="457200" indent="-457200" defTabSz="914400">
              <a:defRPr/>
            </a:pP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）开放地址法</a:t>
            </a:r>
          </a:p>
        </p:txBody>
      </p:sp>
    </p:spTree>
    <p:extLst>
      <p:ext uri="{BB962C8B-B14F-4D97-AF65-F5344CB8AC3E}">
        <p14:creationId xmlns:p14="http://schemas.microsoft.com/office/powerpoint/2010/main" val="42003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47555" y="1896498"/>
            <a:ext cx="5506641" cy="515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algn="ctr" eaLnBrk="0" hangingPunct="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eaLnBrk="0" hangingPunct="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eaLnBrk="0" hangingPunct="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eaLnBrk="0" hangingPunct="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just" defTabSz="914400">
              <a:defRPr/>
            </a:pPr>
            <a:r>
              <a:rPr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对增量 </a:t>
            </a:r>
            <a:r>
              <a:rPr lang="en-US" altLang="zh-CN" sz="2400" b="0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b="0" i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0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有三种取法：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147555" y="2690458"/>
            <a:ext cx="5313760" cy="3500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Aft>
                <a:spcPct val="2000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>
              <a:lnSpc>
                <a:spcPct val="130000"/>
              </a:lnSpc>
              <a:defRPr/>
            </a:pPr>
            <a:r>
              <a:rPr lang="en-US" altLang="zh-CN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线性探测再散列</a:t>
            </a:r>
            <a:b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c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  </a:t>
            </a:r>
            <a:r>
              <a:rPr lang="en-US" altLang="zh-CN" sz="2400" i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最简单的情况  </a:t>
            </a:r>
            <a:r>
              <a:rPr lang="en-US" altLang="zh-CN" sz="2400" i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c=1</a:t>
            </a:r>
            <a:endParaRPr lang="en-US" altLang="zh-CN" sz="2400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30000"/>
              </a:lnSpc>
              <a:defRPr/>
            </a:pPr>
            <a:r>
              <a:rPr lang="en-US" altLang="zh-CN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平方探测再散列</a:t>
            </a:r>
            <a:b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-1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2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-2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…,</a:t>
            </a:r>
          </a:p>
          <a:p>
            <a:pPr defTabSz="914400">
              <a:lnSpc>
                <a:spcPct val="130000"/>
              </a:lnSpc>
              <a:defRPr/>
            </a:pPr>
            <a:r>
              <a:rPr lang="zh-CN" altLang="en-US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,2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,3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,…</a:t>
            </a:r>
            <a:endParaRPr lang="en-US" altLang="zh-CN" sz="2400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30000"/>
              </a:lnSpc>
              <a:defRPr/>
            </a:pPr>
            <a:r>
              <a:rPr lang="en-US" altLang="zh-CN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随机探测再散列</a:t>
            </a:r>
            <a:b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是一组伪随机数列</a:t>
            </a:r>
            <a:endParaRPr lang="en-US" altLang="zh-CN" sz="2400" i="1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64087" y="1131274"/>
            <a:ext cx="2986715" cy="5847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marL="457200" indent="-457200" defTabSz="914400">
              <a:defRPr/>
            </a:pP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）开放地址法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663840-0AB0-4CF7-A5F9-7C1D0E75A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AA70B7-F41A-4712-BED9-372D08AF93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67EEE0-DCCD-4ED2-A286-B1816281604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16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build="p" autoUpdateAnimBg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45732-20E0-40C7-8AA9-81AEE74A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FC7ADD-B951-4CB8-9972-BFBDE246D8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99AD24-2223-4CD0-B41C-2FA3BA8BCBA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0418" name="灯片编号占位符 3"/>
          <p:cNvSpPr>
            <a:spLocks noGrp="1"/>
          </p:cNvSpPr>
          <p:nvPr>
            <p:ph type="sldNum" sz="quarter" idx="4294967295"/>
          </p:nvPr>
        </p:nvSpPr>
        <p:spPr>
          <a:xfrm rot="900000">
            <a:off x="11476038" y="6200775"/>
            <a:ext cx="715962" cy="3651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fld id="{7F40D193-2919-4242-B94E-855C8FD5F5A5}" type="slidenum">
              <a:rPr lang="en-US" altLang="zh-CN" smtClean="0"/>
              <a:pPr eaLnBrk="1" hangingPunct="1"/>
              <a:t>29</a:t>
            </a:fld>
            <a:endParaRPr lang="en-US" altLang="zh-CN" dirty="0"/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390141" y="865927"/>
            <a:ext cx="69500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itchFamily="18" charset="0"/>
              </a:rPr>
              <a:t>例  表长为</a:t>
            </a:r>
            <a:r>
              <a:rPr kumimoji="1" lang="en-US" altLang="zh-CN" sz="2000" b="1" dirty="0">
                <a:latin typeface="Times New Roman" pitchFamily="18" charset="0"/>
              </a:rPr>
              <a:t>11</a:t>
            </a:r>
            <a:r>
              <a:rPr kumimoji="1" lang="zh-CN" altLang="en-US" sz="2000" b="1" dirty="0">
                <a:latin typeface="Times New Roman" pitchFamily="18" charset="0"/>
              </a:rPr>
              <a:t>的散列表中已填有关键字为</a:t>
            </a:r>
            <a:r>
              <a:rPr kumimoji="1" lang="en-US" altLang="zh-CN" sz="2000" b="1" dirty="0">
                <a:latin typeface="Times New Roman" pitchFamily="18" charset="0"/>
              </a:rPr>
              <a:t>17</a:t>
            </a:r>
            <a:r>
              <a:rPr kumimoji="1" lang="zh-CN" altLang="en-US" sz="2000" b="1" dirty="0">
                <a:latin typeface="Times New Roman" pitchFamily="18" charset="0"/>
              </a:rPr>
              <a:t>，</a:t>
            </a:r>
            <a:r>
              <a:rPr kumimoji="1" lang="en-US" altLang="zh-CN" sz="2000" b="1" dirty="0">
                <a:latin typeface="Times New Roman" pitchFamily="18" charset="0"/>
              </a:rPr>
              <a:t>60</a:t>
            </a:r>
            <a:r>
              <a:rPr kumimoji="1" lang="zh-CN" altLang="en-US" sz="2000" b="1" dirty="0">
                <a:latin typeface="Times New Roman" pitchFamily="18" charset="0"/>
              </a:rPr>
              <a:t>，</a:t>
            </a:r>
            <a:r>
              <a:rPr kumimoji="1" lang="en-US" altLang="zh-CN" sz="2000" b="1" dirty="0">
                <a:latin typeface="Times New Roman" pitchFamily="18" charset="0"/>
              </a:rPr>
              <a:t>29</a:t>
            </a:r>
            <a:r>
              <a:rPr kumimoji="1" lang="zh-CN" altLang="en-US" sz="2000" b="1" dirty="0">
                <a:latin typeface="Times New Roman" pitchFamily="18" charset="0"/>
              </a:rPr>
              <a:t>的记录，</a:t>
            </a:r>
          </a:p>
          <a:p>
            <a:pPr eaLnBrk="1" hangingPunct="1"/>
            <a:r>
              <a:rPr kumimoji="1" lang="zh-CN" altLang="en-US" sz="2000" b="1" dirty="0">
                <a:latin typeface="Times New Roman" pitchFamily="18" charset="0"/>
              </a:rPr>
              <a:t>       </a:t>
            </a:r>
            <a:r>
              <a:rPr kumimoji="1" lang="en-US" altLang="zh-CN" sz="2000" b="1" dirty="0">
                <a:latin typeface="Times New Roman" pitchFamily="18" charset="0"/>
              </a:rPr>
              <a:t>H(key)=key  MOD  11,</a:t>
            </a:r>
            <a:r>
              <a:rPr kumimoji="1" lang="zh-CN" altLang="zh-CN" sz="2000" b="1" dirty="0">
                <a:latin typeface="Times New Roman" pitchFamily="18" charset="0"/>
              </a:rPr>
              <a:t>现有第4个记录，其关键字为38，</a:t>
            </a:r>
          </a:p>
          <a:p>
            <a:pPr eaLnBrk="1" hangingPunct="1"/>
            <a:r>
              <a:rPr kumimoji="1" lang="zh-CN" altLang="zh-CN" sz="2000" b="1" dirty="0">
                <a:latin typeface="Times New Roman" pitchFamily="18" charset="0"/>
              </a:rPr>
              <a:t>       按三种处理冲突的方法，将它填入表中</a:t>
            </a:r>
            <a:endParaRPr kumimoji="1" lang="zh-CN" altLang="en-US" sz="2000" b="1" dirty="0">
              <a:latin typeface="Times New Roman" pitchFamily="18" charset="0"/>
            </a:endParaRPr>
          </a:p>
        </p:txBody>
      </p:sp>
      <p:grpSp>
        <p:nvGrpSpPr>
          <p:cNvPr id="29721" name="Group 25"/>
          <p:cNvGrpSpPr>
            <a:grpSpLocks/>
          </p:cNvGrpSpPr>
          <p:nvPr/>
        </p:nvGrpSpPr>
        <p:grpSpPr bwMode="auto">
          <a:xfrm>
            <a:off x="3236279" y="2131164"/>
            <a:ext cx="4256087" cy="690562"/>
            <a:chOff x="1261" y="1173"/>
            <a:chExt cx="2681" cy="435"/>
          </a:xfrm>
        </p:grpSpPr>
        <p:sp>
          <p:nvSpPr>
            <p:cNvPr id="60427" name="Text Box 5"/>
            <p:cNvSpPr txBox="1">
              <a:spLocks noChangeArrowheads="1"/>
            </p:cNvSpPr>
            <p:nvPr/>
          </p:nvSpPr>
          <p:spPr bwMode="auto">
            <a:xfrm>
              <a:off x="1295" y="1173"/>
              <a:ext cx="26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latin typeface="Times New Roman" pitchFamily="18" charset="0"/>
                </a:rPr>
                <a:t>0    1    2    3    4    5    6    7    8    9   10</a:t>
              </a:r>
            </a:p>
          </p:txBody>
        </p:sp>
        <p:sp>
          <p:nvSpPr>
            <p:cNvPr id="60428" name="Rectangle 7"/>
            <p:cNvSpPr>
              <a:spLocks noChangeArrowheads="1"/>
            </p:cNvSpPr>
            <p:nvPr/>
          </p:nvSpPr>
          <p:spPr bwMode="auto">
            <a:xfrm>
              <a:off x="1261" y="1366"/>
              <a:ext cx="2681" cy="2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29" name="Line 8"/>
            <p:cNvSpPr>
              <a:spLocks noChangeShapeType="1"/>
            </p:cNvSpPr>
            <p:nvPr/>
          </p:nvSpPr>
          <p:spPr bwMode="auto">
            <a:xfrm>
              <a:off x="1498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0" name="Line 9"/>
            <p:cNvSpPr>
              <a:spLocks noChangeShapeType="1"/>
            </p:cNvSpPr>
            <p:nvPr/>
          </p:nvSpPr>
          <p:spPr bwMode="auto">
            <a:xfrm>
              <a:off x="1741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1" name="Line 10"/>
            <p:cNvSpPr>
              <a:spLocks noChangeShapeType="1"/>
            </p:cNvSpPr>
            <p:nvPr/>
          </p:nvSpPr>
          <p:spPr bwMode="auto">
            <a:xfrm>
              <a:off x="1985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2" name="Line 11"/>
            <p:cNvSpPr>
              <a:spLocks noChangeShapeType="1"/>
            </p:cNvSpPr>
            <p:nvPr/>
          </p:nvSpPr>
          <p:spPr bwMode="auto">
            <a:xfrm>
              <a:off x="2229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3" name="Line 12"/>
            <p:cNvSpPr>
              <a:spLocks noChangeShapeType="1"/>
            </p:cNvSpPr>
            <p:nvPr/>
          </p:nvSpPr>
          <p:spPr bwMode="auto">
            <a:xfrm>
              <a:off x="2473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4" name="Line 13"/>
            <p:cNvSpPr>
              <a:spLocks noChangeShapeType="1"/>
            </p:cNvSpPr>
            <p:nvPr/>
          </p:nvSpPr>
          <p:spPr bwMode="auto">
            <a:xfrm>
              <a:off x="2716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5" name="Line 14"/>
            <p:cNvSpPr>
              <a:spLocks noChangeShapeType="1"/>
            </p:cNvSpPr>
            <p:nvPr/>
          </p:nvSpPr>
          <p:spPr bwMode="auto">
            <a:xfrm>
              <a:off x="2960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6" name="Line 15"/>
            <p:cNvSpPr>
              <a:spLocks noChangeShapeType="1"/>
            </p:cNvSpPr>
            <p:nvPr/>
          </p:nvSpPr>
          <p:spPr bwMode="auto">
            <a:xfrm>
              <a:off x="3204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7" name="Line 16"/>
            <p:cNvSpPr>
              <a:spLocks noChangeShapeType="1"/>
            </p:cNvSpPr>
            <p:nvPr/>
          </p:nvSpPr>
          <p:spPr bwMode="auto">
            <a:xfrm>
              <a:off x="3448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8" name="Line 17"/>
            <p:cNvSpPr>
              <a:spLocks noChangeShapeType="1"/>
            </p:cNvSpPr>
            <p:nvPr/>
          </p:nvSpPr>
          <p:spPr bwMode="auto">
            <a:xfrm>
              <a:off x="3692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9" name="Text Box 18"/>
            <p:cNvSpPr txBox="1">
              <a:spLocks noChangeArrowheads="1"/>
            </p:cNvSpPr>
            <p:nvPr/>
          </p:nvSpPr>
          <p:spPr bwMode="auto">
            <a:xfrm>
              <a:off x="2454" y="1358"/>
              <a:ext cx="7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latin typeface="Times New Roman" pitchFamily="18" charset="0"/>
                </a:rPr>
                <a:t>60  17  29</a:t>
              </a:r>
            </a:p>
          </p:txBody>
        </p:sp>
      </p:grpSp>
      <p:sp>
        <p:nvSpPr>
          <p:cNvPr id="29715" name="Text Box 19"/>
          <p:cNvSpPr txBox="1">
            <a:spLocks noChangeArrowheads="1"/>
          </p:cNvSpPr>
          <p:nvPr/>
        </p:nvSpPr>
        <p:spPr bwMode="auto">
          <a:xfrm>
            <a:off x="3291840" y="3066202"/>
            <a:ext cx="398303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2000" b="1">
                <a:latin typeface="Times New Roman" pitchFamily="18" charset="0"/>
              </a:rPr>
              <a:t>(</a:t>
            </a:r>
            <a:r>
              <a:rPr kumimoji="1" lang="en-US" altLang="zh-CN" sz="2000" b="1">
                <a:solidFill>
                  <a:srgbClr val="0066FF"/>
                </a:solidFill>
                <a:latin typeface="Times New Roman" pitchFamily="18" charset="0"/>
              </a:rPr>
              <a:t>1</a:t>
            </a:r>
            <a:r>
              <a:rPr kumimoji="1" lang="en-US" altLang="zh-CN" sz="2000" b="1">
                <a:latin typeface="Times New Roman" pitchFamily="18" charset="0"/>
              </a:rPr>
              <a:t>)  H(38)=38 MOD 11=5    </a:t>
            </a:r>
            <a:r>
              <a:rPr kumimoji="1" lang="zh-CN" altLang="zh-CN" sz="2000" b="1">
                <a:latin typeface="Times New Roman" pitchFamily="18" charset="0"/>
              </a:rPr>
              <a:t>冲突</a:t>
            </a:r>
          </a:p>
          <a:p>
            <a:pPr eaLnBrk="1" hangingPunct="1"/>
            <a:r>
              <a:rPr kumimoji="1" lang="zh-CN" altLang="zh-CN" sz="2000" b="1">
                <a:latin typeface="Times New Roman" pitchFamily="18" charset="0"/>
              </a:rPr>
              <a:t>       </a:t>
            </a:r>
            <a:r>
              <a:rPr kumimoji="1" lang="en-US" altLang="zh-CN" sz="2000" b="1">
                <a:latin typeface="Times New Roman" pitchFamily="18" charset="0"/>
              </a:rPr>
              <a:t>H</a:t>
            </a:r>
            <a:r>
              <a:rPr kumimoji="1" lang="en-US" altLang="zh-CN" sz="1400" b="1">
                <a:latin typeface="Times New Roman" pitchFamily="18" charset="0"/>
              </a:rPr>
              <a:t>1</a:t>
            </a:r>
            <a:r>
              <a:rPr kumimoji="1" lang="en-US" altLang="zh-CN" sz="2000" b="1">
                <a:latin typeface="Times New Roman" pitchFamily="18" charset="0"/>
              </a:rPr>
              <a:t>=(5+1) MOD 11=6    </a:t>
            </a:r>
            <a:r>
              <a:rPr kumimoji="1" lang="zh-CN" altLang="zh-CN" sz="2000" b="1">
                <a:latin typeface="Times New Roman" pitchFamily="18" charset="0"/>
              </a:rPr>
              <a:t>冲突</a:t>
            </a:r>
          </a:p>
          <a:p>
            <a:pPr eaLnBrk="1" hangingPunct="1"/>
            <a:r>
              <a:rPr kumimoji="1" lang="zh-CN" altLang="zh-CN" sz="2000" b="1">
                <a:latin typeface="Times New Roman" pitchFamily="18" charset="0"/>
              </a:rPr>
              <a:t>       </a:t>
            </a:r>
            <a:r>
              <a:rPr kumimoji="1" lang="en-US" altLang="zh-CN" sz="2000" b="1">
                <a:latin typeface="Times New Roman" pitchFamily="18" charset="0"/>
              </a:rPr>
              <a:t>H</a:t>
            </a:r>
            <a:r>
              <a:rPr kumimoji="1" lang="en-US" altLang="zh-CN" sz="1400" b="1">
                <a:latin typeface="Times New Roman" pitchFamily="18" charset="0"/>
              </a:rPr>
              <a:t>2</a:t>
            </a:r>
            <a:r>
              <a:rPr kumimoji="1" lang="en-US" altLang="zh-CN" sz="2000" b="1">
                <a:latin typeface="Times New Roman" pitchFamily="18" charset="0"/>
              </a:rPr>
              <a:t>=(5+2) MOD 11=7    </a:t>
            </a:r>
            <a:r>
              <a:rPr kumimoji="1" lang="zh-CN" altLang="zh-CN" sz="2000" b="1">
                <a:latin typeface="Times New Roman" pitchFamily="18" charset="0"/>
              </a:rPr>
              <a:t>冲突</a:t>
            </a:r>
          </a:p>
          <a:p>
            <a:pPr eaLnBrk="1" hangingPunct="1"/>
            <a:r>
              <a:rPr kumimoji="1" lang="zh-CN" altLang="zh-CN" sz="2000" b="1">
                <a:latin typeface="Times New Roman" pitchFamily="18" charset="0"/>
              </a:rPr>
              <a:t>       </a:t>
            </a:r>
            <a:r>
              <a:rPr kumimoji="1" lang="en-US" altLang="zh-CN" sz="2000" b="1">
                <a:latin typeface="Times New Roman" pitchFamily="18" charset="0"/>
              </a:rPr>
              <a:t>H</a:t>
            </a:r>
            <a:r>
              <a:rPr kumimoji="1" lang="en-US" altLang="zh-CN" sz="1400" b="1">
                <a:latin typeface="Times New Roman" pitchFamily="18" charset="0"/>
              </a:rPr>
              <a:t>3</a:t>
            </a:r>
            <a:r>
              <a:rPr kumimoji="1" lang="en-US" altLang="zh-CN" sz="2000" b="1">
                <a:latin typeface="Times New Roman" pitchFamily="18" charset="0"/>
              </a:rPr>
              <a:t>=(5+3) MOD 11=8    </a:t>
            </a:r>
            <a:r>
              <a:rPr kumimoji="1" lang="zh-CN" altLang="zh-CN" sz="2000" b="1">
                <a:latin typeface="Times New Roman" pitchFamily="18" charset="0"/>
              </a:rPr>
              <a:t>不冲突 </a:t>
            </a:r>
            <a:endParaRPr kumimoji="1" lang="zh-CN" altLang="en-US" sz="2000" b="1">
              <a:latin typeface="Times New Roman" pitchFamily="18" charset="0"/>
            </a:endParaRPr>
          </a:p>
        </p:txBody>
      </p:sp>
      <p:sp>
        <p:nvSpPr>
          <p:cNvPr id="29716" name="Text Box 20"/>
          <p:cNvSpPr txBox="1">
            <a:spLocks noChangeArrowheads="1"/>
          </p:cNvSpPr>
          <p:nvPr/>
        </p:nvSpPr>
        <p:spPr bwMode="auto">
          <a:xfrm>
            <a:off x="6314440" y="242644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rgbClr val="0066FF"/>
                </a:solidFill>
                <a:latin typeface="Times New Roman" pitchFamily="18" charset="0"/>
              </a:rPr>
              <a:t>38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3247391" y="4466377"/>
            <a:ext cx="4038541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2000" b="1">
                <a:latin typeface="Times New Roman" pitchFamily="18" charset="0"/>
              </a:rPr>
              <a:t>(</a:t>
            </a:r>
            <a:r>
              <a:rPr kumimoji="1" lang="en-US" altLang="zh-CN" sz="2000" b="1">
                <a:solidFill>
                  <a:schemeClr val="folHlink"/>
                </a:solidFill>
                <a:latin typeface="Times New Roman" pitchFamily="18" charset="0"/>
              </a:rPr>
              <a:t>2</a:t>
            </a:r>
            <a:r>
              <a:rPr kumimoji="1" lang="en-US" altLang="zh-CN" sz="2000" b="1">
                <a:latin typeface="Times New Roman" pitchFamily="18" charset="0"/>
              </a:rPr>
              <a:t>)  H(38)=38 MOD 11=5      </a:t>
            </a:r>
            <a:r>
              <a:rPr kumimoji="1" lang="zh-CN" altLang="zh-CN" sz="2000" b="1">
                <a:latin typeface="Times New Roman" pitchFamily="18" charset="0"/>
              </a:rPr>
              <a:t>冲突</a:t>
            </a:r>
          </a:p>
          <a:p>
            <a:pPr eaLnBrk="1" hangingPunct="1"/>
            <a:r>
              <a:rPr kumimoji="1" lang="zh-CN" altLang="zh-CN" sz="2000" b="1">
                <a:latin typeface="Times New Roman" pitchFamily="18" charset="0"/>
              </a:rPr>
              <a:t>       </a:t>
            </a:r>
            <a:r>
              <a:rPr kumimoji="1" lang="en-US" altLang="zh-CN" sz="2000" b="1">
                <a:latin typeface="Times New Roman" pitchFamily="18" charset="0"/>
              </a:rPr>
              <a:t>H</a:t>
            </a:r>
            <a:r>
              <a:rPr kumimoji="1" lang="en-US" altLang="zh-CN" sz="1400" b="1">
                <a:latin typeface="Times New Roman" pitchFamily="18" charset="0"/>
              </a:rPr>
              <a:t>1</a:t>
            </a:r>
            <a:r>
              <a:rPr kumimoji="1" lang="en-US" altLang="zh-CN" sz="2000" b="1">
                <a:latin typeface="Times New Roman" pitchFamily="18" charset="0"/>
              </a:rPr>
              <a:t>=(5+1</a:t>
            </a:r>
            <a:r>
              <a:rPr kumimoji="1" lang="en-US" altLang="zh-CN" b="1">
                <a:latin typeface="Times New Roman" pitchFamily="18" charset="0"/>
                <a:sym typeface="Symbol" pitchFamily="18" charset="2"/>
              </a:rPr>
              <a:t>²</a:t>
            </a:r>
            <a:r>
              <a:rPr kumimoji="1" lang="en-US" altLang="zh-CN" sz="2000" b="1">
                <a:latin typeface="Times New Roman" pitchFamily="18" charset="0"/>
              </a:rPr>
              <a:t>) MOD 11=6    </a:t>
            </a:r>
            <a:r>
              <a:rPr kumimoji="1" lang="zh-CN" altLang="zh-CN" sz="2000" b="1">
                <a:latin typeface="Times New Roman" pitchFamily="18" charset="0"/>
              </a:rPr>
              <a:t>冲突</a:t>
            </a:r>
          </a:p>
          <a:p>
            <a:pPr eaLnBrk="1" hangingPunct="1"/>
            <a:r>
              <a:rPr kumimoji="1" lang="zh-CN" altLang="zh-CN" sz="2000" b="1">
                <a:latin typeface="Times New Roman" pitchFamily="18" charset="0"/>
              </a:rPr>
              <a:t>       </a:t>
            </a:r>
            <a:r>
              <a:rPr kumimoji="1" lang="en-US" altLang="zh-CN" sz="2000" b="1">
                <a:latin typeface="Times New Roman" pitchFamily="18" charset="0"/>
              </a:rPr>
              <a:t>H</a:t>
            </a:r>
            <a:r>
              <a:rPr kumimoji="1" lang="en-US" altLang="zh-CN" sz="1400" b="1">
                <a:latin typeface="Times New Roman" pitchFamily="18" charset="0"/>
              </a:rPr>
              <a:t>2</a:t>
            </a:r>
            <a:r>
              <a:rPr kumimoji="1" lang="en-US" altLang="zh-CN" sz="2000" b="1">
                <a:latin typeface="Times New Roman" pitchFamily="18" charset="0"/>
              </a:rPr>
              <a:t>=(5-1</a:t>
            </a:r>
            <a:r>
              <a:rPr kumimoji="1" lang="en-US" altLang="zh-CN" b="1">
                <a:latin typeface="Times New Roman" pitchFamily="18" charset="0"/>
                <a:sym typeface="Symbol" pitchFamily="18" charset="2"/>
              </a:rPr>
              <a:t>²</a:t>
            </a:r>
            <a:r>
              <a:rPr kumimoji="1" lang="en-US" altLang="zh-CN" sz="2000" b="1">
                <a:latin typeface="Times New Roman" pitchFamily="18" charset="0"/>
              </a:rPr>
              <a:t>) MOD 11=4     </a:t>
            </a:r>
            <a:r>
              <a:rPr kumimoji="1" lang="zh-CN" altLang="zh-CN" sz="2000" b="1">
                <a:latin typeface="Times New Roman" pitchFamily="18" charset="0"/>
              </a:rPr>
              <a:t>不冲突</a:t>
            </a:r>
          </a:p>
        </p:txBody>
      </p: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4758690" y="2431202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folHlink"/>
                </a:solidFill>
                <a:latin typeface="Times New Roman" pitchFamily="18" charset="0"/>
              </a:rPr>
              <a:t>38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>
            <a:off x="3244215" y="5645890"/>
            <a:ext cx="391953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2000" b="1">
                <a:latin typeface="Times New Roman" pitchFamily="18" charset="0"/>
              </a:rPr>
              <a:t>(</a:t>
            </a:r>
            <a:r>
              <a:rPr kumimoji="1" lang="en-US" altLang="zh-CN" sz="2000" b="1">
                <a:solidFill>
                  <a:srgbClr val="FF3300"/>
                </a:solidFill>
                <a:latin typeface="Times New Roman" pitchFamily="18" charset="0"/>
              </a:rPr>
              <a:t>3</a:t>
            </a:r>
            <a:r>
              <a:rPr kumimoji="1" lang="en-US" altLang="zh-CN" sz="2000" b="1">
                <a:latin typeface="Times New Roman" pitchFamily="18" charset="0"/>
              </a:rPr>
              <a:t>)  H(38)=38 MOD 11=5    </a:t>
            </a:r>
            <a:r>
              <a:rPr kumimoji="1" lang="zh-CN" altLang="zh-CN" sz="2000" b="1">
                <a:latin typeface="Times New Roman" pitchFamily="18" charset="0"/>
              </a:rPr>
              <a:t>冲突</a:t>
            </a:r>
            <a:endParaRPr kumimoji="1" lang="zh-CN" altLang="en-US" sz="2000" b="1">
              <a:latin typeface="Times New Roman" pitchFamily="18" charset="0"/>
            </a:endParaRPr>
          </a:p>
          <a:p>
            <a:pPr eaLnBrk="1" hangingPunct="1"/>
            <a:r>
              <a:rPr kumimoji="1" lang="zh-CN" altLang="en-US" sz="2000" b="1">
                <a:latin typeface="Times New Roman" pitchFamily="18" charset="0"/>
              </a:rPr>
              <a:t>      设伪随机数序列为</a:t>
            </a:r>
            <a:r>
              <a:rPr kumimoji="1" lang="en-US" altLang="zh-CN" sz="2000" b="1">
                <a:latin typeface="Times New Roman" pitchFamily="18" charset="0"/>
              </a:rPr>
              <a:t>9</a:t>
            </a:r>
            <a:r>
              <a:rPr kumimoji="1" lang="zh-CN" altLang="en-US" sz="2000" b="1">
                <a:latin typeface="Times New Roman" pitchFamily="18" charset="0"/>
              </a:rPr>
              <a:t>，则：</a:t>
            </a:r>
          </a:p>
          <a:p>
            <a:pPr eaLnBrk="1" hangingPunct="1"/>
            <a:r>
              <a:rPr kumimoji="1" lang="zh-CN" altLang="en-US" sz="2000" b="1">
                <a:latin typeface="Times New Roman" pitchFamily="18" charset="0"/>
              </a:rPr>
              <a:t>       </a:t>
            </a:r>
            <a:r>
              <a:rPr kumimoji="1" lang="en-US" altLang="zh-CN" sz="2000" b="1">
                <a:latin typeface="Times New Roman" pitchFamily="18" charset="0"/>
              </a:rPr>
              <a:t>H</a:t>
            </a:r>
            <a:r>
              <a:rPr kumimoji="1" lang="en-US" altLang="zh-CN" sz="1400" b="1">
                <a:latin typeface="Times New Roman" pitchFamily="18" charset="0"/>
              </a:rPr>
              <a:t>1</a:t>
            </a:r>
            <a:r>
              <a:rPr kumimoji="1" lang="en-US" altLang="zh-CN" sz="2000" b="1">
                <a:latin typeface="Times New Roman" pitchFamily="18" charset="0"/>
              </a:rPr>
              <a:t>=(5+9) MOD 11=3    </a:t>
            </a:r>
            <a:r>
              <a:rPr kumimoji="1" lang="zh-CN" altLang="zh-CN" sz="2000" b="1">
                <a:latin typeface="Times New Roman" pitchFamily="18" charset="0"/>
              </a:rPr>
              <a:t>不冲突</a:t>
            </a:r>
            <a:endParaRPr kumimoji="1" lang="zh-CN" altLang="en-US" sz="2000" b="1">
              <a:latin typeface="Times New Roman" pitchFamily="18" charset="0"/>
            </a:endParaRPr>
          </a:p>
        </p:txBody>
      </p:sp>
      <p:sp>
        <p:nvSpPr>
          <p:cNvPr id="29720" name="Text Box 24"/>
          <p:cNvSpPr txBox="1">
            <a:spLocks noChangeArrowheads="1"/>
          </p:cNvSpPr>
          <p:nvPr/>
        </p:nvSpPr>
        <p:spPr bwMode="auto">
          <a:xfrm>
            <a:off x="4368165" y="242009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rgbClr val="FF3300"/>
                </a:solidFill>
                <a:latin typeface="Times New Roman" pitchFamily="18" charset="0"/>
              </a:rPr>
              <a:t>38</a:t>
            </a:r>
            <a:endParaRPr kumimoji="1" lang="en-US" altLang="zh-CN" sz="2000" b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94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9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  <p:bldP spid="29715" grpId="0" build="p" autoUpdateAnimBg="0"/>
      <p:bldP spid="29716" grpId="0" autoUpdateAnimBg="0"/>
      <p:bldP spid="29717" grpId="0" build="p" autoUpdateAnimBg="0"/>
      <p:bldP spid="29718" grpId="0" autoUpdateAnimBg="0"/>
      <p:bldP spid="29719" grpId="0" build="p" autoUpdateAnimBg="0"/>
      <p:bldP spid="2972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26592" y="1385560"/>
            <a:ext cx="2476960" cy="1077218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>
            <a:defPPr>
              <a:defRPr lang="zh-CN"/>
            </a:defPPr>
            <a:lvl1pPr marL="457200" indent="-457200">
              <a:defRPr kumimoji="1" sz="3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400">
              <a:defRPr/>
            </a:pPr>
            <a:r>
              <a:rPr lang="en-US" altLang="zh-CN" dirty="0"/>
              <a:t>2</a:t>
            </a:r>
            <a:r>
              <a:rPr lang="zh-CN" altLang="en-US" dirty="0"/>
              <a:t>）再散列法</a:t>
            </a:r>
          </a:p>
          <a:p>
            <a:pPr defTabSz="914400">
              <a:defRPr/>
            </a:pP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926592" y="2300574"/>
            <a:ext cx="8512807" cy="2120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个不同散列函数排成一个序列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当发生冲突时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kumimoji="1"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RHi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确定第</a:t>
            </a:r>
            <a:r>
              <a:rPr kumimoji="1"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次冲突的地址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。即：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Hi =</a:t>
            </a:r>
            <a:r>
              <a:rPr kumimoji="1"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RHi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(key)  </a:t>
            </a:r>
            <a:r>
              <a:rPr kumimoji="1"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=1, 2, …, n</a:t>
            </a:r>
            <a:endParaRPr kumimoji="1" lang="en-US" altLang="zh-CN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r>
              <a:rPr kumimoji="1" lang="en-US" altLang="zh-CN" dirty="0" err="1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RHi</a:t>
            </a:r>
            <a:r>
              <a:rPr kumimoji="1"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为不同散列函数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这种方法不会产生“聚类”，但会增加计算时间。</a:t>
            </a:r>
            <a:endParaRPr kumimoji="1" lang="en-US" altLang="zh-CN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F960417-231E-47CA-AC83-153D02346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F9DBCE78-2544-4864-BEE2-2D6907850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95C0249-B9DF-4E93-927C-4169141892A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89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 61">
            <a:extLst>
              <a:ext uri="{FF2B5EF4-FFF2-40B4-BE49-F238E27FC236}">
                <a16:creationId xmlns:a16="http://schemas.microsoft.com/office/drawing/2014/main" id="{C963D6BE-AC5F-47AA-9EB9-EF1453D80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副标题 62">
            <a:extLst>
              <a:ext uri="{FF2B5EF4-FFF2-40B4-BE49-F238E27FC236}">
                <a16:creationId xmlns:a16="http://schemas.microsoft.com/office/drawing/2014/main" id="{6B6DB336-4E53-4239-A73B-1F53F9E4D6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64" name="文本占位符 63">
            <a:extLst>
              <a:ext uri="{FF2B5EF4-FFF2-40B4-BE49-F238E27FC236}">
                <a16:creationId xmlns:a16="http://schemas.microsoft.com/office/drawing/2014/main" id="{ADEDEA5D-8DDD-4126-85CE-F5BC08F251A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10134600" y="6356350"/>
            <a:ext cx="2057400" cy="365125"/>
          </a:xfrm>
          <a:ln/>
        </p:spPr>
        <p:txBody>
          <a:bodyPr/>
          <a:lstStyle/>
          <a:p>
            <a:pPr defTabSz="914400">
              <a:defRPr/>
            </a:pPr>
            <a:fld id="{7F7E39C6-6711-49C5-BCEE-3C51FC1C432D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31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748299" y="1751946"/>
            <a:ext cx="7369887" cy="396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905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381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defTabSz="914400" eaLnBrk="1" hangingPunct="1">
              <a:lnSpc>
                <a:spcPct val="12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将所有散列地址相同的记录都链接在同一链表中。       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2832918" y="2667000"/>
            <a:ext cx="685800" cy="3429000"/>
            <a:chOff x="672" y="1200"/>
            <a:chExt cx="576" cy="288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960" y="1200"/>
              <a:ext cx="288" cy="288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960" y="1632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960" y="2016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960" y="2400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960" y="2784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960" y="3216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960" y="3648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672" y="1233"/>
              <a:ext cx="336" cy="2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0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2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3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4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5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6</a:t>
              </a:r>
              <a:endParaRPr kumimoji="1" lang="en-US" altLang="zh-CN" sz="21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13"/>
          <p:cNvGrpSpPr>
            <a:grpSpLocks/>
          </p:cNvGrpSpPr>
          <p:nvPr/>
        </p:nvGrpSpPr>
        <p:grpSpPr bwMode="auto">
          <a:xfrm>
            <a:off x="3404418" y="3238500"/>
            <a:ext cx="1200150" cy="342900"/>
            <a:chOff x="1152" y="1680"/>
            <a:chExt cx="1008" cy="288"/>
          </a:xfrm>
        </p:grpSpPr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632" y="1680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01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1968" y="16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1152" y="1824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17" name="Group 17"/>
          <p:cNvGrpSpPr>
            <a:grpSpLocks/>
          </p:cNvGrpSpPr>
          <p:nvPr/>
        </p:nvGrpSpPr>
        <p:grpSpPr bwMode="auto">
          <a:xfrm>
            <a:off x="3404418" y="5181600"/>
            <a:ext cx="1200150" cy="342900"/>
            <a:chOff x="1152" y="3312"/>
            <a:chExt cx="1008" cy="288"/>
          </a:xfrm>
        </p:grpSpPr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632" y="331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19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196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1152" y="3456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21" name="Group 21"/>
          <p:cNvGrpSpPr>
            <a:grpSpLocks/>
          </p:cNvGrpSpPr>
          <p:nvPr/>
        </p:nvGrpSpPr>
        <p:grpSpPr bwMode="auto">
          <a:xfrm>
            <a:off x="5633268" y="5181600"/>
            <a:ext cx="1257300" cy="342900"/>
            <a:chOff x="3024" y="3312"/>
            <a:chExt cx="1056" cy="288"/>
          </a:xfrm>
        </p:grpSpPr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3552" y="331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82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388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3024" y="3456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25" name="Group 25"/>
          <p:cNvGrpSpPr>
            <a:grpSpLocks/>
          </p:cNvGrpSpPr>
          <p:nvPr/>
        </p:nvGrpSpPr>
        <p:grpSpPr bwMode="auto">
          <a:xfrm>
            <a:off x="3404418" y="3695701"/>
            <a:ext cx="1200150" cy="400050"/>
            <a:chOff x="1152" y="2064"/>
            <a:chExt cx="1008" cy="336"/>
          </a:xfrm>
        </p:grpSpPr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1632" y="2064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1968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1152" y="2208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1660" y="2090"/>
              <a:ext cx="34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23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" name="Group 30"/>
          <p:cNvGrpSpPr>
            <a:grpSpLocks/>
          </p:cNvGrpSpPr>
          <p:nvPr/>
        </p:nvGrpSpPr>
        <p:grpSpPr bwMode="auto">
          <a:xfrm>
            <a:off x="3404418" y="4610102"/>
            <a:ext cx="1200150" cy="369094"/>
            <a:chOff x="1152" y="2832"/>
            <a:chExt cx="1008" cy="310"/>
          </a:xfrm>
        </p:grpSpPr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1632" y="283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1968" y="28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1152" y="2976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1660" y="2832"/>
              <a:ext cx="33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" name="Group 35"/>
          <p:cNvGrpSpPr>
            <a:grpSpLocks/>
          </p:cNvGrpSpPr>
          <p:nvPr/>
        </p:nvGrpSpPr>
        <p:grpSpPr bwMode="auto">
          <a:xfrm>
            <a:off x="4490268" y="5181601"/>
            <a:ext cx="1257300" cy="400050"/>
            <a:chOff x="2064" y="3312"/>
            <a:chExt cx="1056" cy="336"/>
          </a:xfrm>
        </p:grpSpPr>
        <p:sp>
          <p:nvSpPr>
            <p:cNvPr id="36" name="Rectangle 36"/>
            <p:cNvSpPr>
              <a:spLocks noChangeArrowheads="1"/>
            </p:cNvSpPr>
            <p:nvPr/>
          </p:nvSpPr>
          <p:spPr bwMode="auto">
            <a:xfrm>
              <a:off x="2592" y="331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292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2064" y="3456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9" name="Text Box 39"/>
            <p:cNvSpPr txBox="1">
              <a:spLocks noChangeArrowheads="1"/>
            </p:cNvSpPr>
            <p:nvPr/>
          </p:nvSpPr>
          <p:spPr bwMode="auto">
            <a:xfrm>
              <a:off x="2620" y="3338"/>
              <a:ext cx="34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68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" name="Group 40"/>
          <p:cNvGrpSpPr>
            <a:grpSpLocks/>
          </p:cNvGrpSpPr>
          <p:nvPr/>
        </p:nvGrpSpPr>
        <p:grpSpPr bwMode="auto">
          <a:xfrm>
            <a:off x="3404418" y="5695953"/>
            <a:ext cx="1200150" cy="369094"/>
            <a:chOff x="1152" y="3744"/>
            <a:chExt cx="1008" cy="310"/>
          </a:xfrm>
        </p:grpSpPr>
        <p:sp>
          <p:nvSpPr>
            <p:cNvPr id="41" name="Rectangle 41"/>
            <p:cNvSpPr>
              <a:spLocks noChangeArrowheads="1"/>
            </p:cNvSpPr>
            <p:nvPr/>
          </p:nvSpPr>
          <p:spPr bwMode="auto">
            <a:xfrm>
              <a:off x="1632" y="3744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2" name="Line 42"/>
            <p:cNvSpPr>
              <a:spLocks noChangeShapeType="1"/>
            </p:cNvSpPr>
            <p:nvPr/>
          </p:nvSpPr>
          <p:spPr bwMode="auto">
            <a:xfrm>
              <a:off x="1968" y="37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3" name="Line 43"/>
            <p:cNvSpPr>
              <a:spLocks noChangeShapeType="1"/>
            </p:cNvSpPr>
            <p:nvPr/>
          </p:nvSpPr>
          <p:spPr bwMode="auto">
            <a:xfrm>
              <a:off x="1152" y="3840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4" name="Text Box 44"/>
            <p:cNvSpPr txBox="1">
              <a:spLocks noChangeArrowheads="1"/>
            </p:cNvSpPr>
            <p:nvPr/>
          </p:nvSpPr>
          <p:spPr bwMode="auto">
            <a:xfrm>
              <a:off x="1660" y="3744"/>
              <a:ext cx="34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55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5" name="Group 45"/>
          <p:cNvGrpSpPr>
            <a:grpSpLocks/>
          </p:cNvGrpSpPr>
          <p:nvPr/>
        </p:nvGrpSpPr>
        <p:grpSpPr bwMode="auto">
          <a:xfrm>
            <a:off x="3404418" y="2724150"/>
            <a:ext cx="1200150" cy="342900"/>
            <a:chOff x="1152" y="1248"/>
            <a:chExt cx="1008" cy="288"/>
          </a:xfrm>
        </p:grpSpPr>
        <p:sp>
          <p:nvSpPr>
            <p:cNvPr id="46" name="Line 46"/>
            <p:cNvSpPr>
              <a:spLocks noChangeShapeType="1"/>
            </p:cNvSpPr>
            <p:nvPr/>
          </p:nvSpPr>
          <p:spPr bwMode="auto">
            <a:xfrm>
              <a:off x="1152" y="1440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7" name="Rectangle 47"/>
            <p:cNvSpPr>
              <a:spLocks noChangeArrowheads="1"/>
            </p:cNvSpPr>
            <p:nvPr/>
          </p:nvSpPr>
          <p:spPr bwMode="auto">
            <a:xfrm>
              <a:off x="1632" y="1248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14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Line 48"/>
            <p:cNvSpPr>
              <a:spLocks noChangeShapeType="1"/>
            </p:cNvSpPr>
            <p:nvPr/>
          </p:nvSpPr>
          <p:spPr bwMode="auto">
            <a:xfrm>
              <a:off x="1968" y="12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49" name="Text Box 49"/>
          <p:cNvSpPr txBox="1">
            <a:spLocks noChangeArrowheads="1"/>
          </p:cNvSpPr>
          <p:nvPr/>
        </p:nvSpPr>
        <p:spPr bwMode="auto">
          <a:xfrm>
            <a:off x="4362871" y="2667001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0" name="Group 50"/>
          <p:cNvGrpSpPr>
            <a:grpSpLocks/>
          </p:cNvGrpSpPr>
          <p:nvPr/>
        </p:nvGrpSpPr>
        <p:grpSpPr bwMode="auto">
          <a:xfrm>
            <a:off x="4490268" y="3238500"/>
            <a:ext cx="1257300" cy="342900"/>
            <a:chOff x="2064" y="1680"/>
            <a:chExt cx="1056" cy="288"/>
          </a:xfrm>
        </p:grpSpPr>
        <p:sp>
          <p:nvSpPr>
            <p:cNvPr id="51" name="Rectangle 51"/>
            <p:cNvSpPr>
              <a:spLocks noChangeArrowheads="1"/>
            </p:cNvSpPr>
            <p:nvPr/>
          </p:nvSpPr>
          <p:spPr bwMode="auto">
            <a:xfrm>
              <a:off x="2592" y="1680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36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Line 52"/>
            <p:cNvSpPr>
              <a:spLocks noChangeShapeType="1"/>
            </p:cNvSpPr>
            <p:nvPr/>
          </p:nvSpPr>
          <p:spPr bwMode="auto">
            <a:xfrm>
              <a:off x="2928" y="16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53" name="Line 53"/>
            <p:cNvSpPr>
              <a:spLocks noChangeShapeType="1"/>
            </p:cNvSpPr>
            <p:nvPr/>
          </p:nvSpPr>
          <p:spPr bwMode="auto">
            <a:xfrm>
              <a:off x="2064" y="1824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54" name="Text Box 54"/>
          <p:cNvSpPr txBox="1">
            <a:spLocks noChangeArrowheads="1"/>
          </p:cNvSpPr>
          <p:nvPr/>
        </p:nvSpPr>
        <p:spPr bwMode="auto">
          <a:xfrm>
            <a:off x="5505871" y="31920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Text Box 55"/>
          <p:cNvSpPr txBox="1">
            <a:spLocks noChangeArrowheads="1"/>
          </p:cNvSpPr>
          <p:nvPr/>
        </p:nvSpPr>
        <p:spPr bwMode="auto">
          <a:xfrm>
            <a:off x="4362871" y="36492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" name="Text Box 56"/>
          <p:cNvSpPr txBox="1">
            <a:spLocks noChangeArrowheads="1"/>
          </p:cNvSpPr>
          <p:nvPr/>
        </p:nvSpPr>
        <p:spPr bwMode="auto">
          <a:xfrm>
            <a:off x="4362871" y="45636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" name="Text Box 57"/>
          <p:cNvSpPr txBox="1">
            <a:spLocks noChangeArrowheads="1"/>
          </p:cNvSpPr>
          <p:nvPr/>
        </p:nvSpPr>
        <p:spPr bwMode="auto">
          <a:xfrm>
            <a:off x="6648871" y="5124451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" name="Text Box 58"/>
          <p:cNvSpPr txBox="1">
            <a:spLocks noChangeArrowheads="1"/>
          </p:cNvSpPr>
          <p:nvPr/>
        </p:nvSpPr>
        <p:spPr bwMode="auto">
          <a:xfrm>
            <a:off x="4318819" y="564951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" name="Text Box 59"/>
          <p:cNvSpPr txBox="1">
            <a:spLocks noChangeArrowheads="1"/>
          </p:cNvSpPr>
          <p:nvPr/>
        </p:nvSpPr>
        <p:spPr bwMode="auto">
          <a:xfrm>
            <a:off x="3219871" y="41064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" name="Text Box 61"/>
          <p:cNvSpPr txBox="1">
            <a:spLocks noChangeArrowheads="1"/>
          </p:cNvSpPr>
          <p:nvPr/>
        </p:nvSpPr>
        <p:spPr bwMode="auto">
          <a:xfrm>
            <a:off x="6995441" y="2491085"/>
            <a:ext cx="3955588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关键字集合为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{19,01,23,14,55,68,11,82,36}</a:t>
            </a:r>
            <a:r>
              <a:rPr kumimoji="1"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散列函数为 </a:t>
            </a:r>
            <a:r>
              <a:rPr kumimoji="1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H(key)=key MOD 7</a:t>
            </a:r>
          </a:p>
        </p:txBody>
      </p:sp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1094990" y="1053525"/>
            <a:ext cx="3475856" cy="5847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defRPr kumimoji="1" sz="3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914400" lvl="2" defTabSz="914400">
              <a:defRPr/>
            </a:pPr>
            <a:r>
              <a:rPr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）链地址法：</a:t>
            </a:r>
          </a:p>
        </p:txBody>
      </p:sp>
    </p:spTree>
    <p:extLst>
      <p:ext uri="{BB962C8B-B14F-4D97-AF65-F5344CB8AC3E}">
        <p14:creationId xmlns:p14="http://schemas.microsoft.com/office/powerpoint/2010/main" val="68733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9" grpId="0"/>
      <p:bldP spid="54" grpId="0"/>
      <p:bldP spid="55" grpId="0"/>
      <p:bldP spid="56" grpId="0"/>
      <p:bldP spid="57" grpId="0"/>
      <p:bldP spid="58" grpId="0"/>
      <p:bldP spid="59" grpId="0"/>
      <p:bldP spid="60" grpId="0" autoUpdateAnimBg="0"/>
      <p:bldP spid="6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79651" y="1617207"/>
            <a:ext cx="8629480" cy="27003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假设某散列函数的值域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 m-1]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marL="0" indent="0">
              <a:lnSpc>
                <a:spcPct val="110000"/>
              </a:lnSpc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kumimoji="1" lang="en-US" altLang="zh-CN" sz="2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HashTable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 m-1]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，每个分量存放一个记录，另设一个向量</a:t>
            </a:r>
            <a:r>
              <a:rPr kumimoji="1" lang="en-US" altLang="zh-CN" sz="2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OverTable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 v]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溢出表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。将与基本表中的关键字发生冲突的所有记录都填入溢出表中。</a:t>
            </a:r>
          </a:p>
          <a:p>
            <a:pPr marL="0" indent="0">
              <a:lnSpc>
                <a:spcPct val="110000"/>
              </a:lnSpc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如一组关键字序列为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{19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79}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，散列函数为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key mod 13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，采用公共溢出区法得到的结果为： 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687286" y="3440544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914400">
              <a:defRPr/>
            </a:pPr>
            <a:endParaRPr lang="zh-CN" altLang="en-US" sz="1350">
              <a:solidFill>
                <a:prstClr val="black"/>
              </a:solidFill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/>
          </p:nvPr>
        </p:nvGraphicFramePr>
        <p:xfrm>
          <a:off x="2990389" y="4841761"/>
          <a:ext cx="5761725" cy="149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Visio" r:id="rId4" imgW="2827934" imgH="734873" progId="Visio.Drawing.11">
                  <p:embed/>
                </p:oleObj>
              </mc:Choice>
              <mc:Fallback>
                <p:oleObj name="Visio" r:id="rId4" imgW="2827934" imgH="734873" progId="Visio.Drawing.11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389" y="4841761"/>
                        <a:ext cx="5761725" cy="149154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779651" y="876602"/>
            <a:ext cx="3118161" cy="5847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 marL="457200" indent="-457200" defTabSz="914400">
              <a:defRPr/>
            </a:pP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4)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公共溢出区法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F738A71-9C49-4A5A-AEF5-FC1186D9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F633637B-5F79-4BA9-A895-540828065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BE218F9-E769-4AB7-9B28-2467A9D73AB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44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altLang="zh-CN" sz="3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11.4.3 </a:t>
            </a: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散列表查找算法</a:t>
            </a: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58CCD4E4-50B4-4021-882C-18ECA5A0C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BA75AD-FBE1-4202-8689-7C9E5CBC6C8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72739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在散列表上查找的过程和散列造表的构造过程基本一致。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）给定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值，根据构造表时所用的散列函数求散列地址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）若此位置无记录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则查找不成功；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否则比较关键字，若和给定的关键字相等则成功；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否则根据构造表时设定的冲突处理的方法计算“下一地址”， 重复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457200">
              <a:defRPr/>
            </a:pPr>
            <a:fld id="{FC0A6BE7-FED0-4B08-9EF2-7168B047CFB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33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27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2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2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8" grpId="0"/>
      <p:bldP spid="37273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01DD4-BC2E-464A-9099-C285ED37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6B64C81C-4D71-48AB-8BBD-E42FEDAD2D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C91F2E-470C-43AF-9E93-9E59E0A9C8C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1314" name="Rectangle 2"/>
          <p:cNvSpPr>
            <a:spLocks noGrp="1" noRot="1" noChangeArrowheads="1"/>
          </p:cNvSpPr>
          <p:nvPr>
            <p:ph idx="11"/>
          </p:nvPr>
        </p:nvSpPr>
        <p:spPr/>
        <p:txBody>
          <a:bodyPr/>
          <a:lstStyle/>
          <a:p>
            <a:pPr marL="365760" lvl="1" indent="0">
              <a:buNone/>
            </a:pPr>
            <a:r>
              <a:rPr lang="zh-CN" altLang="en-US" b="1" dirty="0"/>
              <a:t>存在冲突检测与处理的散列查找流程图</a:t>
            </a:r>
            <a:endParaRPr lang="en-US" altLang="zh-CN" b="1" dirty="0"/>
          </a:p>
        </p:txBody>
      </p:sp>
      <p:grpSp>
        <p:nvGrpSpPr>
          <p:cNvPr id="141315" name="Group 3"/>
          <p:cNvGrpSpPr>
            <a:grpSpLocks/>
          </p:cNvGrpSpPr>
          <p:nvPr/>
        </p:nvGrpSpPr>
        <p:grpSpPr bwMode="auto">
          <a:xfrm>
            <a:off x="2961596" y="1698944"/>
            <a:ext cx="3849895" cy="4465637"/>
            <a:chOff x="927" y="859"/>
            <a:chExt cx="2559" cy="2813"/>
          </a:xfrm>
        </p:grpSpPr>
        <p:grpSp>
          <p:nvGrpSpPr>
            <p:cNvPr id="58373" name="Group 4"/>
            <p:cNvGrpSpPr>
              <a:grpSpLocks/>
            </p:cNvGrpSpPr>
            <p:nvPr/>
          </p:nvGrpSpPr>
          <p:grpSpPr bwMode="auto">
            <a:xfrm>
              <a:off x="927" y="859"/>
              <a:ext cx="2559" cy="2813"/>
              <a:chOff x="699" y="1200"/>
              <a:chExt cx="2559" cy="2813"/>
            </a:xfrm>
          </p:grpSpPr>
          <p:sp>
            <p:nvSpPr>
              <p:cNvPr id="58378" name="AutoShape 5"/>
              <p:cNvSpPr>
                <a:spLocks noChangeArrowheads="1"/>
              </p:cNvSpPr>
              <p:nvPr/>
            </p:nvSpPr>
            <p:spPr bwMode="auto">
              <a:xfrm>
                <a:off x="1769" y="1407"/>
                <a:ext cx="807" cy="23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Input k</a:t>
                </a:r>
              </a:p>
            </p:txBody>
          </p:sp>
          <p:sp>
            <p:nvSpPr>
              <p:cNvPr id="58379" name="AutoShape 6"/>
              <p:cNvSpPr>
                <a:spLocks noChangeArrowheads="1"/>
              </p:cNvSpPr>
              <p:nvPr/>
            </p:nvSpPr>
            <p:spPr bwMode="auto">
              <a:xfrm>
                <a:off x="1782" y="1844"/>
                <a:ext cx="807" cy="23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Pos=H(k)</a:t>
                </a:r>
              </a:p>
            </p:txBody>
          </p:sp>
          <p:sp>
            <p:nvSpPr>
              <p:cNvPr id="58380" name="AutoShape 7"/>
              <p:cNvSpPr>
                <a:spLocks noChangeArrowheads="1"/>
              </p:cNvSpPr>
              <p:nvPr/>
            </p:nvSpPr>
            <p:spPr bwMode="auto">
              <a:xfrm>
                <a:off x="1492" y="2279"/>
                <a:ext cx="1381" cy="365"/>
              </a:xfrm>
              <a:prstGeom prst="flowChartDecision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Pos==NULL?</a:t>
                </a:r>
              </a:p>
            </p:txBody>
          </p:sp>
          <p:sp>
            <p:nvSpPr>
              <p:cNvPr id="58381" name="AutoShape 8"/>
              <p:cNvSpPr>
                <a:spLocks noChangeArrowheads="1"/>
              </p:cNvSpPr>
              <p:nvPr/>
            </p:nvSpPr>
            <p:spPr bwMode="auto">
              <a:xfrm>
                <a:off x="1506" y="2831"/>
                <a:ext cx="1381" cy="365"/>
              </a:xfrm>
              <a:prstGeom prst="flowChartDecision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key==k</a:t>
                </a:r>
              </a:p>
            </p:txBody>
          </p:sp>
          <p:sp>
            <p:nvSpPr>
              <p:cNvPr id="58382" name="AutoShape 9"/>
              <p:cNvSpPr>
                <a:spLocks noChangeArrowheads="1"/>
              </p:cNvSpPr>
              <p:nvPr/>
            </p:nvSpPr>
            <p:spPr bwMode="auto">
              <a:xfrm>
                <a:off x="699" y="2603"/>
                <a:ext cx="807" cy="23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fail</a:t>
                </a:r>
              </a:p>
            </p:txBody>
          </p:sp>
          <p:sp>
            <p:nvSpPr>
              <p:cNvPr id="58383" name="AutoShape 10"/>
              <p:cNvSpPr>
                <a:spLocks noChangeArrowheads="1"/>
              </p:cNvSpPr>
              <p:nvPr/>
            </p:nvSpPr>
            <p:spPr bwMode="auto">
              <a:xfrm>
                <a:off x="722" y="3163"/>
                <a:ext cx="807" cy="23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success</a:t>
                </a:r>
              </a:p>
            </p:txBody>
          </p:sp>
          <p:sp>
            <p:nvSpPr>
              <p:cNvPr id="58384" name="AutoShape 11"/>
              <p:cNvSpPr>
                <a:spLocks noChangeArrowheads="1"/>
              </p:cNvSpPr>
              <p:nvPr/>
            </p:nvSpPr>
            <p:spPr bwMode="auto">
              <a:xfrm>
                <a:off x="1867" y="3480"/>
                <a:ext cx="717" cy="252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collision</a:t>
                </a:r>
              </a:p>
            </p:txBody>
          </p:sp>
          <p:sp>
            <p:nvSpPr>
              <p:cNvPr id="58385" name="Line 12"/>
              <p:cNvSpPr>
                <a:spLocks noChangeShapeType="1"/>
              </p:cNvSpPr>
              <p:nvPr/>
            </p:nvSpPr>
            <p:spPr bwMode="auto">
              <a:xfrm>
                <a:off x="2152" y="1200"/>
                <a:ext cx="0" cy="2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86" name="Line 13"/>
              <p:cNvSpPr>
                <a:spLocks noChangeShapeType="1"/>
              </p:cNvSpPr>
              <p:nvPr/>
            </p:nvSpPr>
            <p:spPr bwMode="auto">
              <a:xfrm>
                <a:off x="2172" y="1645"/>
                <a:ext cx="0" cy="1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87" name="Line 14"/>
              <p:cNvSpPr>
                <a:spLocks noChangeShapeType="1"/>
              </p:cNvSpPr>
              <p:nvPr/>
            </p:nvSpPr>
            <p:spPr bwMode="auto">
              <a:xfrm>
                <a:off x="2183" y="2079"/>
                <a:ext cx="0" cy="1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88" name="Line 15"/>
              <p:cNvSpPr>
                <a:spLocks noChangeShapeType="1"/>
              </p:cNvSpPr>
              <p:nvPr/>
            </p:nvSpPr>
            <p:spPr bwMode="auto">
              <a:xfrm>
                <a:off x="2193" y="2648"/>
                <a:ext cx="0" cy="1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89" name="Line 16"/>
              <p:cNvSpPr>
                <a:spLocks noChangeShapeType="1"/>
              </p:cNvSpPr>
              <p:nvPr/>
            </p:nvSpPr>
            <p:spPr bwMode="auto">
              <a:xfrm>
                <a:off x="2193" y="3196"/>
                <a:ext cx="0" cy="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0" name="Line 17"/>
              <p:cNvSpPr>
                <a:spLocks noChangeShapeType="1"/>
              </p:cNvSpPr>
              <p:nvPr/>
            </p:nvSpPr>
            <p:spPr bwMode="auto">
              <a:xfrm flipH="1">
                <a:off x="1076" y="2462"/>
                <a:ext cx="39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1" name="Line 18"/>
              <p:cNvSpPr>
                <a:spLocks noChangeShapeType="1"/>
              </p:cNvSpPr>
              <p:nvPr/>
            </p:nvSpPr>
            <p:spPr bwMode="auto">
              <a:xfrm>
                <a:off x="1086" y="2462"/>
                <a:ext cx="0" cy="1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2" name="Line 19"/>
              <p:cNvSpPr>
                <a:spLocks noChangeShapeType="1"/>
              </p:cNvSpPr>
              <p:nvPr/>
            </p:nvSpPr>
            <p:spPr bwMode="auto">
              <a:xfrm flipH="1">
                <a:off x="1107" y="3010"/>
                <a:ext cx="40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3" name="Line 20"/>
              <p:cNvSpPr>
                <a:spLocks noChangeShapeType="1"/>
              </p:cNvSpPr>
              <p:nvPr/>
            </p:nvSpPr>
            <p:spPr bwMode="auto">
              <a:xfrm>
                <a:off x="1107" y="3020"/>
                <a:ext cx="0" cy="1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4" name="Line 21"/>
              <p:cNvSpPr>
                <a:spLocks noChangeShapeType="1"/>
              </p:cNvSpPr>
              <p:nvPr/>
            </p:nvSpPr>
            <p:spPr bwMode="auto">
              <a:xfrm>
                <a:off x="2203" y="3827"/>
                <a:ext cx="0" cy="1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5" name="Line 22"/>
              <p:cNvSpPr>
                <a:spLocks noChangeShapeType="1"/>
              </p:cNvSpPr>
              <p:nvPr/>
            </p:nvSpPr>
            <p:spPr bwMode="auto">
              <a:xfrm>
                <a:off x="2214" y="4013"/>
                <a:ext cx="10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6" name="Line 23"/>
              <p:cNvSpPr>
                <a:spLocks noChangeShapeType="1"/>
              </p:cNvSpPr>
              <p:nvPr/>
            </p:nvSpPr>
            <p:spPr bwMode="auto">
              <a:xfrm flipV="1">
                <a:off x="3258" y="2203"/>
                <a:ext cx="0" cy="18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7" name="Line 24"/>
              <p:cNvSpPr>
                <a:spLocks noChangeShapeType="1"/>
              </p:cNvSpPr>
              <p:nvPr/>
            </p:nvSpPr>
            <p:spPr bwMode="auto">
              <a:xfrm flipH="1">
                <a:off x="2183" y="2203"/>
                <a:ext cx="10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58374" name="Text Box 25"/>
            <p:cNvSpPr txBox="1">
              <a:spLocks noChangeArrowheads="1"/>
            </p:cNvSpPr>
            <p:nvPr/>
          </p:nvSpPr>
          <p:spPr bwMode="auto">
            <a:xfrm>
              <a:off x="1610" y="1888"/>
              <a:ext cx="24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prstClr val="black"/>
                  </a:solidFill>
                  <a:latin typeface="Times New Roman" pitchFamily="18" charset="0"/>
                  <a:ea typeface="宋体" charset="-122"/>
                </a:rPr>
                <a:t>Y</a:t>
              </a:r>
            </a:p>
          </p:txBody>
        </p:sp>
        <p:sp>
          <p:nvSpPr>
            <p:cNvPr id="58375" name="Text Box 26"/>
            <p:cNvSpPr txBox="1">
              <a:spLocks noChangeArrowheads="1"/>
            </p:cNvSpPr>
            <p:nvPr/>
          </p:nvSpPr>
          <p:spPr bwMode="auto">
            <a:xfrm>
              <a:off x="2421" y="2273"/>
              <a:ext cx="24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prstClr val="black"/>
                  </a:solidFill>
                  <a:latin typeface="Times New Roman" pitchFamily="18" charset="0"/>
                  <a:ea typeface="宋体" charset="-122"/>
                </a:rPr>
                <a:t>N</a:t>
              </a:r>
            </a:p>
          </p:txBody>
        </p:sp>
        <p:sp>
          <p:nvSpPr>
            <p:cNvPr id="58376" name="Text Box 27"/>
            <p:cNvSpPr txBox="1">
              <a:spLocks noChangeArrowheads="1"/>
            </p:cNvSpPr>
            <p:nvPr/>
          </p:nvSpPr>
          <p:spPr bwMode="auto">
            <a:xfrm>
              <a:off x="1609" y="2473"/>
              <a:ext cx="24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prstClr val="black"/>
                  </a:solidFill>
                  <a:latin typeface="Times New Roman" pitchFamily="18" charset="0"/>
                  <a:ea typeface="宋体" charset="-122"/>
                </a:rPr>
                <a:t>Y</a:t>
              </a:r>
            </a:p>
          </p:txBody>
        </p:sp>
        <p:sp>
          <p:nvSpPr>
            <p:cNvPr id="58377" name="Text Box 28"/>
            <p:cNvSpPr txBox="1">
              <a:spLocks noChangeArrowheads="1"/>
            </p:cNvSpPr>
            <p:nvPr/>
          </p:nvSpPr>
          <p:spPr bwMode="auto">
            <a:xfrm>
              <a:off x="2420" y="2794"/>
              <a:ext cx="24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prstClr val="black"/>
                  </a:solidFill>
                  <a:latin typeface="Times New Roman" pitchFamily="18" charset="0"/>
                  <a:ea typeface="宋体" charset="-122"/>
                </a:rPr>
                <a:t>N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745812" y="5726891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冲突处理</a:t>
            </a:r>
          </a:p>
        </p:txBody>
      </p:sp>
    </p:spTree>
    <p:extLst>
      <p:ext uri="{BB962C8B-B14F-4D97-AF65-F5344CB8AC3E}">
        <p14:creationId xmlns:p14="http://schemas.microsoft.com/office/powerpoint/2010/main" val="161716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4" grpId="0" build="p" bldLvl="5" autoUpdateAnimBg="0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638B86F-63AF-4F25-9C38-2AA9CFC3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34264C50-BFB9-411E-8DA4-4D2EF79DE9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6143DF4-EEDD-4F6A-8D62-1BB6FBB060F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75810" name="Rectangle 2"/>
          <p:cNvSpPr>
            <a:spLocks noGrp="1" noChangeArrowheads="1"/>
          </p:cNvSpPr>
          <p:nvPr>
            <p:ph idx="11"/>
          </p:nvPr>
        </p:nvSpPr>
        <p:spPr>
          <a:xfrm>
            <a:off x="1270690" y="1663700"/>
            <a:ext cx="11055325" cy="50577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关键字序列为：</a:t>
            </a:r>
          </a:p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{19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79}</a:t>
            </a:r>
            <a:endParaRPr lang="zh-CN" altLang="en-US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散列函数为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key mod 13 </a:t>
            </a:r>
            <a:endParaRPr lang="zh-CN" altLang="en-US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r>
              <a:rPr lang="zh-CN" altLang="pt-BR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线性探测处理冲突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457200">
              <a:defRPr/>
            </a:pPr>
            <a:fld id="{F4E1F763-0417-44ED-A3F5-B9C6CECE44B1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35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75811" name="Rectangle 3"/>
          <p:cNvSpPr>
            <a:spLocks noChangeArrowheads="1"/>
          </p:cNvSpPr>
          <p:nvPr/>
        </p:nvSpPr>
        <p:spPr bwMode="auto">
          <a:xfrm>
            <a:off x="2643852" y="3783476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>
              <a:defRPr/>
            </a:pPr>
            <a:endParaRPr lang="zh-CN" altLang="en-US" sz="135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75812" name="Object 4"/>
          <p:cNvGraphicFramePr>
            <a:graphicFrameLocks noChangeAspect="1"/>
          </p:cNvGraphicFramePr>
          <p:nvPr>
            <p:extLst/>
          </p:nvPr>
        </p:nvGraphicFramePr>
        <p:xfrm>
          <a:off x="3349001" y="3813905"/>
          <a:ext cx="4806554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Visio" r:id="rId4" imgW="3111101" imgH="928543" progId="Visio.Drawing.11">
                  <p:embed/>
                </p:oleObj>
              </mc:Choice>
              <mc:Fallback>
                <p:oleObj name="Visio" r:id="rId4" imgW="3111101" imgH="928543" progId="Visio.Drawing.11">
                  <p:embed/>
                  <p:pic>
                    <p:nvPicPr>
                      <p:cNvPr id="3758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8219" r="20163" b="32036"/>
                      <a:stretch>
                        <a:fillRect/>
                      </a:stretch>
                    </p:blipFill>
                    <p:spPr bwMode="auto">
                      <a:xfrm>
                        <a:off x="3349001" y="3813905"/>
                        <a:ext cx="4806554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5813" name="Rectangle 5"/>
          <p:cNvSpPr>
            <a:spLocks noChangeArrowheads="1"/>
          </p:cNvSpPr>
          <p:nvPr/>
        </p:nvSpPr>
        <p:spPr bwMode="auto">
          <a:xfrm>
            <a:off x="2244192" y="4754597"/>
            <a:ext cx="8497114" cy="1726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defTabSz="457200" eaLnBrk="0" hangingPunct="0">
              <a:lnSpc>
                <a:spcPct val="120000"/>
              </a:lnSpc>
              <a:defRPr/>
            </a:pP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Key=84</a:t>
            </a:r>
          </a:p>
          <a:p>
            <a:pPr defTabSz="457200" eaLnBrk="0" hangingPunct="0">
              <a:lnSpc>
                <a:spcPct val="120000"/>
              </a:lnSpc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散列地址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H(84)=6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e.data[6]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不空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e.data[6].key=19≠84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，冲突</a:t>
            </a:r>
          </a:p>
          <a:p>
            <a:pPr defTabSz="457200" eaLnBrk="0" hangingPunct="0">
              <a:lnSpc>
                <a:spcPct val="120000"/>
              </a:lnSpc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冲突处理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H1=(6+1)MOD13=7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e.data[7]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不空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e.data[7].key=20≠84, 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</a:p>
          <a:p>
            <a:pPr defTabSz="457200" eaLnBrk="0" hangingPunct="0">
              <a:lnSpc>
                <a:spcPct val="120000"/>
              </a:lnSpc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冲突处理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H2=(6+2)MOD13=8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e.data[8]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不空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e.elem[8].key=84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查找成功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返回数据在散列表中的序号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994960" y="3479647"/>
            <a:ext cx="5615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建立散列查找表如下：请查找关键字为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的记录</a:t>
            </a:r>
          </a:p>
        </p:txBody>
      </p:sp>
      <p:sp>
        <p:nvSpPr>
          <p:cNvPr id="3" name="矩形 2"/>
          <p:cNvSpPr/>
          <p:nvPr/>
        </p:nvSpPr>
        <p:spPr>
          <a:xfrm>
            <a:off x="729348" y="957348"/>
            <a:ext cx="5022929" cy="59093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散列表查找与插入算法举例</a:t>
            </a:r>
          </a:p>
        </p:txBody>
      </p:sp>
    </p:spTree>
    <p:extLst>
      <p:ext uri="{BB962C8B-B14F-4D97-AF65-F5344CB8AC3E}">
        <p14:creationId xmlns:p14="http://schemas.microsoft.com/office/powerpoint/2010/main" val="130467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5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75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75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75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5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75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5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5" dur="500"/>
                                        <p:tgtEl>
                                          <p:spTgt spid="3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8" dur="500"/>
                                        <p:tgtEl>
                                          <p:spTgt spid="375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1" dur="500"/>
                                        <p:tgtEl>
                                          <p:spTgt spid="375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4" dur="500"/>
                                        <p:tgtEl>
                                          <p:spTgt spid="375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0" grpId="0" build="p"/>
      <p:bldP spid="375813" grpId="0" build="allAtOnce"/>
      <p:bldP spid="2" grpId="0"/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B0105-4EC2-4E9C-8202-1A85DBE0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C1045B-726B-4F79-ADD8-EDFCE50B79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66D911-1F36-430C-B465-684E3F955E4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idx="11"/>
          </p:nvPr>
        </p:nvSpPr>
        <p:spPr>
          <a:xfrm>
            <a:off x="1136675" y="1882627"/>
            <a:ext cx="11055325" cy="50577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关键字序列为：</a:t>
            </a:r>
          </a:p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{19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79}</a:t>
            </a:r>
            <a:endParaRPr lang="zh-CN" altLang="en-US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散列函数为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key mod 13 </a:t>
            </a:r>
            <a:endParaRPr lang="zh-CN" altLang="en-US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r>
              <a:rPr lang="zh-CN" altLang="pt-BR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线性探测处理冲突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457200">
              <a:defRPr/>
            </a:pPr>
            <a:fld id="{822501A5-71DC-41D2-B773-C0E45FFD1E1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36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77859" name="Rectangle 3"/>
          <p:cNvSpPr>
            <a:spLocks noChangeArrowheads="1"/>
          </p:cNvSpPr>
          <p:nvPr/>
        </p:nvSpPr>
        <p:spPr bwMode="auto">
          <a:xfrm>
            <a:off x="2832807" y="3904251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>
              <a:defRPr/>
            </a:pPr>
            <a:endParaRPr lang="zh-CN" altLang="en-US" sz="1350">
              <a:solidFill>
                <a:prstClr val="black"/>
              </a:solidFill>
            </a:endParaRPr>
          </a:p>
        </p:txBody>
      </p:sp>
      <p:graphicFrame>
        <p:nvGraphicFramePr>
          <p:cNvPr id="377860" name="Object 4"/>
          <p:cNvGraphicFramePr>
            <a:graphicFrameLocks noChangeAspect="1"/>
          </p:cNvGraphicFramePr>
          <p:nvPr>
            <p:extLst/>
          </p:nvPr>
        </p:nvGraphicFramePr>
        <p:xfrm>
          <a:off x="3348999" y="3961459"/>
          <a:ext cx="4806554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Visio" r:id="rId4" imgW="3111101" imgH="928543" progId="Visio.Drawing.11">
                  <p:embed/>
                </p:oleObj>
              </mc:Choice>
              <mc:Fallback>
                <p:oleObj name="Visio" r:id="rId4" imgW="3111101" imgH="928543" progId="Visio.Drawing.11">
                  <p:embed/>
                  <p:pic>
                    <p:nvPicPr>
                      <p:cNvPr id="3778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8219" r="20163" b="32036"/>
                      <a:stretch>
                        <a:fillRect/>
                      </a:stretch>
                    </p:blipFill>
                    <p:spPr bwMode="auto">
                      <a:xfrm>
                        <a:off x="3348999" y="3961459"/>
                        <a:ext cx="4806554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7861" name="Rectangle 5"/>
          <p:cNvSpPr>
            <a:spLocks noChangeArrowheads="1"/>
          </p:cNvSpPr>
          <p:nvPr/>
        </p:nvSpPr>
        <p:spPr bwMode="auto">
          <a:xfrm>
            <a:off x="1476224" y="4475317"/>
            <a:ext cx="923955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defTabSz="457200" eaLnBrk="0" hangingPunct="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Key=38</a:t>
            </a:r>
          </a:p>
          <a:p>
            <a:pPr defTabSz="457200" eaLnBrk="0" hangingPunct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散列地址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H(38)=12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，因为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[12]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不空，且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[12].key=10≠38,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</a:p>
          <a:p>
            <a:pPr defTabSz="457200" eaLnBrk="0" hangingPunct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冲突处理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H1=(12+1)MOD13=0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，由于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[0]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没有存放数据，表明散列表中不存在关键字为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的记录，查找失败。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94960" y="3525833"/>
            <a:ext cx="5615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建立散列查找表如下：请查找关键字为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的记录</a:t>
            </a:r>
          </a:p>
        </p:txBody>
      </p:sp>
      <p:sp>
        <p:nvSpPr>
          <p:cNvPr id="10" name="矩形 9"/>
          <p:cNvSpPr/>
          <p:nvPr/>
        </p:nvSpPr>
        <p:spPr>
          <a:xfrm>
            <a:off x="729348" y="957348"/>
            <a:ext cx="5022929" cy="59093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散列表查找与插入算法举例</a:t>
            </a:r>
          </a:p>
        </p:txBody>
      </p:sp>
    </p:spTree>
    <p:extLst>
      <p:ext uri="{BB962C8B-B14F-4D97-AF65-F5344CB8AC3E}">
        <p14:creationId xmlns:p14="http://schemas.microsoft.com/office/powerpoint/2010/main" val="57045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7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7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7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97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2188548" y="3524520"/>
          <a:ext cx="6029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文档" r:id="rId4" imgW="6001560" imgH="749520" progId="Word.Document.8">
                  <p:embed/>
                </p:oleObj>
              </mc:Choice>
              <mc:Fallback>
                <p:oleObj name="文档" r:id="rId4" imgW="6001560" imgH="749520" progId="Word.Document.8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548" y="3524520"/>
                        <a:ext cx="6029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58909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76004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34583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8601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2599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41739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902799" y="3013742"/>
            <a:ext cx="397737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线性探测再散列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</a:t>
            </a: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494603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54603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60318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2317136" y="4088877"/>
            <a:ext cx="47740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1      1      2      1      3       6      2      5      1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95254" y="4948989"/>
            <a:ext cx="4615915" cy="86177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algn="ctr" defTabSz="914400">
              <a:defRPr/>
            </a:pPr>
            <a:r>
              <a:rPr lang="zh-CN" altLang="en-US" sz="2000" dirty="0">
                <a:solidFill>
                  <a:prstClr val="black"/>
                </a:solidFill>
              </a:rPr>
              <a:t>请求出解决冲突的查找成功的</a:t>
            </a:r>
            <a:r>
              <a:rPr lang="en-US" altLang="zh-CN" sz="2000" dirty="0">
                <a:solidFill>
                  <a:prstClr val="black"/>
                </a:solidFill>
              </a:rPr>
              <a:t>ASL</a:t>
            </a:r>
          </a:p>
          <a:p>
            <a:pPr algn="ctr" defTabSz="914400">
              <a:defRPr/>
            </a:pPr>
            <a:r>
              <a:rPr lang="zh-CN" altLang="en-US" sz="2000" dirty="0">
                <a:solidFill>
                  <a:prstClr val="black"/>
                </a:solidFill>
              </a:rPr>
              <a:t>和查找失败的</a:t>
            </a:r>
            <a:r>
              <a:rPr lang="en-US" altLang="zh-CN" sz="2000" dirty="0">
                <a:solidFill>
                  <a:prstClr val="black"/>
                </a:solidFill>
              </a:rPr>
              <a:t>ASL</a:t>
            </a:r>
            <a:endParaRPr lang="zh-CN" altLang="en-US" sz="2000" dirty="0">
              <a:solidFill>
                <a:prstClr val="black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EE00F0-34B9-487C-B672-44A299B6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副标题 17">
            <a:extLst>
              <a:ext uri="{FF2B5EF4-FFF2-40B4-BE49-F238E27FC236}">
                <a16:creationId xmlns:a16="http://schemas.microsoft.com/office/drawing/2014/main" id="{FA8E46E8-BFD6-4857-B351-2C93F6F6F3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21B4AC73-347E-4930-B502-05318570C43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82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97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/>
          </p:nvPr>
        </p:nvGraphicFramePr>
        <p:xfrm>
          <a:off x="2188548" y="3524520"/>
          <a:ext cx="6029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文档" r:id="rId4" imgW="6001560" imgH="749520" progId="Word.Document.8">
                  <p:embed/>
                </p:oleObj>
              </mc:Choice>
              <mc:Fallback>
                <p:oleObj name="文档" r:id="rId4" imgW="6001560" imgH="749520" progId="Word.Document.8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548" y="3524520"/>
                        <a:ext cx="6029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58909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76004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34583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8601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22599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41739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1902799" y="3013742"/>
            <a:ext cx="397737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线性探测再散列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</a:t>
            </a:r>
          </a:p>
        </p:txBody>
      </p:sp>
      <p:sp>
        <p:nvSpPr>
          <p:cNvPr id="12" name="Text Box 19"/>
          <p:cNvSpPr txBox="1">
            <a:spLocks noChangeArrowheads="1"/>
          </p:cNvSpPr>
          <p:nvPr/>
        </p:nvSpPr>
        <p:spPr bwMode="auto">
          <a:xfrm>
            <a:off x="494603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54603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60318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26"/>
          <p:cNvSpPr txBox="1">
            <a:spLocks noChangeArrowheads="1"/>
          </p:cNvSpPr>
          <p:nvPr/>
        </p:nvSpPr>
        <p:spPr bwMode="auto">
          <a:xfrm>
            <a:off x="2317136" y="4088877"/>
            <a:ext cx="47740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1      1      2      1      3       6      2      5      1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259986" y="5159715"/>
            <a:ext cx="6779896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algn="ctr" defTabSz="914400">
              <a:defRPr/>
            </a:pPr>
            <a:r>
              <a:rPr lang="en-US" altLang="zh-CN" sz="2400">
                <a:solidFill>
                  <a:prstClr val="black"/>
                </a:solidFill>
              </a:rPr>
              <a:t>ASL(</a:t>
            </a:r>
            <a:r>
              <a:rPr lang="zh-CN" altLang="en-US" sz="2400">
                <a:solidFill>
                  <a:prstClr val="black"/>
                </a:solidFill>
              </a:rPr>
              <a:t>成功</a:t>
            </a:r>
            <a:r>
              <a:rPr lang="en-US" altLang="zh-CN" sz="2400">
                <a:solidFill>
                  <a:prstClr val="black"/>
                </a:solidFill>
              </a:rPr>
              <a:t>)=(1+1+2+1+3+6+2+5+1)/9=22/9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  <p:sp>
        <p:nvSpPr>
          <p:cNvPr id="16" name="标题 15">
            <a:extLst>
              <a:ext uri="{FF2B5EF4-FFF2-40B4-BE49-F238E27FC236}">
                <a16:creationId xmlns:a16="http://schemas.microsoft.com/office/drawing/2014/main" id="{40A3363E-083F-4B3D-A4BA-B6F0B081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副标题 17">
            <a:extLst>
              <a:ext uri="{FF2B5EF4-FFF2-40B4-BE49-F238E27FC236}">
                <a16:creationId xmlns:a16="http://schemas.microsoft.com/office/drawing/2014/main" id="{1E79944E-65DA-48E1-A65C-5FE3492956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03F264BD-93DE-455E-A4E6-46C00D384EC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72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97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/>
          </p:nvPr>
        </p:nvGraphicFramePr>
        <p:xfrm>
          <a:off x="2188548" y="3524520"/>
          <a:ext cx="6029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文档" r:id="rId4" imgW="6001560" imgH="749520" progId="Word.Document.8">
                  <p:embed/>
                </p:oleObj>
              </mc:Choice>
              <mc:Fallback>
                <p:oleObj name="文档" r:id="rId4" imgW="6001560" imgH="749520" progId="Word.Document.8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548" y="3524520"/>
                        <a:ext cx="6029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58909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76004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34583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8601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22599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41739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1902799" y="3013742"/>
            <a:ext cx="397737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线性探测再散列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</a:t>
            </a:r>
          </a:p>
        </p:txBody>
      </p:sp>
      <p:sp>
        <p:nvSpPr>
          <p:cNvPr id="12" name="Text Box 19"/>
          <p:cNvSpPr txBox="1">
            <a:spLocks noChangeArrowheads="1"/>
          </p:cNvSpPr>
          <p:nvPr/>
        </p:nvSpPr>
        <p:spPr bwMode="auto">
          <a:xfrm>
            <a:off x="494603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54603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60318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26"/>
          <p:cNvSpPr txBox="1">
            <a:spLocks noChangeArrowheads="1"/>
          </p:cNvSpPr>
          <p:nvPr/>
        </p:nvSpPr>
        <p:spPr bwMode="auto">
          <a:xfrm>
            <a:off x="2317136" y="4088877"/>
            <a:ext cx="47740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1      1      2      1      3       6      2      5      1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88548" y="4660377"/>
            <a:ext cx="216758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7" name="矩形 16"/>
          <p:cNvSpPr/>
          <p:nvPr/>
        </p:nvSpPr>
        <p:spPr>
          <a:xfrm>
            <a:off x="2185486" y="5370377"/>
            <a:ext cx="79675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失败）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9+8+7+6+5+4+3+2+1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/11=45/11</a:t>
            </a: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7">
            <a:extLst>
              <a:ext uri="{FF2B5EF4-FFF2-40B4-BE49-F238E27FC236}">
                <a16:creationId xmlns:a16="http://schemas.microsoft.com/office/drawing/2014/main" id="{A2AED19F-0A02-43CB-A289-A60A21D5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副标题 18">
            <a:extLst>
              <a:ext uri="{FF2B5EF4-FFF2-40B4-BE49-F238E27FC236}">
                <a16:creationId xmlns:a16="http://schemas.microsoft.com/office/drawing/2014/main" id="{22000A09-A862-4FF4-A29A-56607A9B19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0D2B468F-7B09-4809-873E-AD75DA90D8B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39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/>
          </p:nvPr>
        </p:nvGraphicFramePr>
        <p:xfrm>
          <a:off x="2487978" y="3682257"/>
          <a:ext cx="6057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文档" r:id="rId4" imgW="6001560" imgH="749520" progId="Word.Document.8">
                  <p:embed/>
                </p:oleObj>
              </mc:Choice>
              <mc:Fallback>
                <p:oleObj name="文档" r:id="rId4" imgW="6001560" imgH="749520" progId="Word.Document.8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978" y="3682257"/>
                        <a:ext cx="6057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690281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30737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6452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4145329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5802679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2259379" y="3178623"/>
            <a:ext cx="397737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二次探测再散列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</a:t>
            </a:r>
          </a:p>
        </p:txBody>
      </p:sp>
      <p:sp>
        <p:nvSpPr>
          <p:cNvPr id="9" name="Text Box 22"/>
          <p:cNvSpPr txBox="1">
            <a:spLocks noChangeArrowheads="1"/>
          </p:cNvSpPr>
          <p:nvPr/>
        </p:nvSpPr>
        <p:spPr bwMode="auto">
          <a:xfrm>
            <a:off x="2545129" y="385370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23"/>
          <p:cNvSpPr txBox="1">
            <a:spLocks noChangeArrowheads="1"/>
          </p:cNvSpPr>
          <p:nvPr/>
        </p:nvSpPr>
        <p:spPr bwMode="auto">
          <a:xfrm>
            <a:off x="4700160" y="386799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52454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6320601" y="386799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2565369" y="4296620"/>
            <a:ext cx="48461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1      1      2      1      3       1      4      4      1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97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sp>
        <p:nvSpPr>
          <p:cNvPr id="16" name="标题 15">
            <a:extLst>
              <a:ext uri="{FF2B5EF4-FFF2-40B4-BE49-F238E27FC236}">
                <a16:creationId xmlns:a16="http://schemas.microsoft.com/office/drawing/2014/main" id="{C1F92480-3242-4CD1-B64E-D42A69E43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副标题 16">
            <a:extLst>
              <a:ext uri="{FF2B5EF4-FFF2-40B4-BE49-F238E27FC236}">
                <a16:creationId xmlns:a16="http://schemas.microsoft.com/office/drawing/2014/main" id="{AC4947D9-84FC-4212-89B6-59CCA561F8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31796CC2-15A9-4768-AAD2-3205EAB1999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4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/>
          </p:nvPr>
        </p:nvGraphicFramePr>
        <p:xfrm>
          <a:off x="2487978" y="3682257"/>
          <a:ext cx="6057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文档" r:id="rId4" imgW="6001560" imgH="749520" progId="Word.Document.8">
                  <p:embed/>
                </p:oleObj>
              </mc:Choice>
              <mc:Fallback>
                <p:oleObj name="文档" r:id="rId4" imgW="6001560" imgH="749520" progId="Word.Document.8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978" y="3682257"/>
                        <a:ext cx="6057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690281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30737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6452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4145329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5802679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2259379" y="3178623"/>
            <a:ext cx="397737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二次探测再散列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</a:t>
            </a:r>
          </a:p>
        </p:txBody>
      </p:sp>
      <p:sp>
        <p:nvSpPr>
          <p:cNvPr id="9" name="Text Box 22"/>
          <p:cNvSpPr txBox="1">
            <a:spLocks noChangeArrowheads="1"/>
          </p:cNvSpPr>
          <p:nvPr/>
        </p:nvSpPr>
        <p:spPr bwMode="auto">
          <a:xfrm>
            <a:off x="2545129" y="385370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23"/>
          <p:cNvSpPr txBox="1">
            <a:spLocks noChangeArrowheads="1"/>
          </p:cNvSpPr>
          <p:nvPr/>
        </p:nvSpPr>
        <p:spPr bwMode="auto">
          <a:xfrm>
            <a:off x="4700160" y="386799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52454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6320601" y="386799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2565369" y="4296620"/>
            <a:ext cx="48461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1      1      2      1      3       1      4      4      1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sp>
        <p:nvSpPr>
          <p:cNvPr id="16" name="矩形 15"/>
          <p:cNvSpPr/>
          <p:nvPr/>
        </p:nvSpPr>
        <p:spPr>
          <a:xfrm>
            <a:off x="2487978" y="4957077"/>
            <a:ext cx="24292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7" name="矩形 16"/>
          <p:cNvSpPr/>
          <p:nvPr/>
        </p:nvSpPr>
        <p:spPr>
          <a:xfrm>
            <a:off x="2466800" y="5700532"/>
            <a:ext cx="7134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1+1+2+1+3+1+4+4+1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/9=2</a:t>
            </a: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7">
            <a:extLst>
              <a:ext uri="{FF2B5EF4-FFF2-40B4-BE49-F238E27FC236}">
                <a16:creationId xmlns:a16="http://schemas.microsoft.com/office/drawing/2014/main" id="{96BBEF46-574E-4D7D-A24C-05B48A7FE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副标题 18">
            <a:extLst>
              <a:ext uri="{FF2B5EF4-FFF2-40B4-BE49-F238E27FC236}">
                <a16:creationId xmlns:a16="http://schemas.microsoft.com/office/drawing/2014/main" id="{6EC2C776-0E65-44F7-9784-62BC0500BB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3F414553-229B-4D79-A8F5-BE52B324B1F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35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500894" y="5441172"/>
            <a:ext cx="216758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5" name="Text Box 26"/>
          <p:cNvSpPr txBox="1">
            <a:spLocks noChangeArrowheads="1"/>
          </p:cNvSpPr>
          <p:nvPr/>
        </p:nvSpPr>
        <p:spPr bwMode="auto">
          <a:xfrm>
            <a:off x="2567494" y="4596242"/>
            <a:ext cx="59394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4      3      7      6      5       4      3      2      1     0        0</a:t>
            </a:r>
          </a:p>
        </p:txBody>
      </p:sp>
      <p:graphicFrame>
        <p:nvGraphicFramePr>
          <p:cNvPr id="16" name="Object 5"/>
          <p:cNvGraphicFramePr>
            <a:graphicFrameLocks noChangeAspect="1"/>
          </p:cNvGraphicFramePr>
          <p:nvPr>
            <p:extLst/>
          </p:nvPr>
        </p:nvGraphicFramePr>
        <p:xfrm>
          <a:off x="2487978" y="3682257"/>
          <a:ext cx="6057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文档" r:id="rId4" imgW="6001560" imgH="749520" progId="Word.Document.8">
                  <p:embed/>
                </p:oleObj>
              </mc:Choice>
              <mc:Fallback>
                <p:oleObj name="文档" r:id="rId4" imgW="6001560" imgH="749520" progId="Word.Document.8">
                  <p:embed/>
                  <p:pic>
                    <p:nvPicPr>
                      <p:cNvPr id="1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978" y="3682257"/>
                        <a:ext cx="6057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690281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30737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36452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4145329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5802679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2259379" y="3178623"/>
            <a:ext cx="397737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二次探测再散列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2545129" y="385370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4700160" y="386799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52454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6320601" y="386799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2565369" y="4296620"/>
            <a:ext cx="48461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1      1      2      1      3       1      4      4      1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3C4AB37-16FB-4BF9-9CA9-110761CA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473A65-3259-4428-AB41-641EB6319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75D0E5-78CD-4C6A-A09E-08647C2979F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26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/>
          </p:nvPr>
        </p:nvGraphicFramePr>
        <p:xfrm>
          <a:off x="2443844" y="3535405"/>
          <a:ext cx="6029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文档" r:id="rId4" imgW="6001560" imgH="749520" progId="Word.Document.8">
                  <p:embed/>
                </p:oleObj>
              </mc:Choice>
              <mc:Fallback>
                <p:oleObj name="文档" r:id="rId4" imgW="6001560" imgH="749520" progId="Word.Document.8">
                  <p:embed/>
                  <p:pic>
                    <p:nvPicPr>
                      <p:cNvPr id="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844" y="3535405"/>
                        <a:ext cx="6029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6844395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015345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7875642" y="367993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115482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515282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557747" y="3714553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2158095" y="3024627"/>
            <a:ext cx="492474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</a:t>
            </a:r>
            <a:r>
              <a:rPr kumimoji="1"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处理冲突，随机数假设为</a:t>
            </a:r>
            <a:r>
              <a:rPr kumimoji="1" lang="en-US" altLang="zh-CN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kumimoji="1" lang="zh-CN" altLang="en-US" sz="21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7386797" y="367993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5164591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732593" y="3692039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598749" y="4166414"/>
            <a:ext cx="59458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1      1       1     1              1       5             1       2     2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sp>
        <p:nvSpPr>
          <p:cNvPr id="16" name="标题 15">
            <a:extLst>
              <a:ext uri="{FF2B5EF4-FFF2-40B4-BE49-F238E27FC236}">
                <a16:creationId xmlns:a16="http://schemas.microsoft.com/office/drawing/2014/main" id="{7C5665FF-E360-4F85-B432-C691BC7AC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副标题 16">
            <a:extLst>
              <a:ext uri="{FF2B5EF4-FFF2-40B4-BE49-F238E27FC236}">
                <a16:creationId xmlns:a16="http://schemas.microsoft.com/office/drawing/2014/main" id="{C89A3B6A-ED50-4333-989A-04FFB51731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3BAB4494-C01E-44DA-80DF-E0F27C61CEC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16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/>
          </p:nvPr>
        </p:nvGraphicFramePr>
        <p:xfrm>
          <a:off x="2443844" y="3535405"/>
          <a:ext cx="6029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文档" r:id="rId4" imgW="6001560" imgH="749520" progId="Word.Document.8">
                  <p:embed/>
                </p:oleObj>
              </mc:Choice>
              <mc:Fallback>
                <p:oleObj name="文档" r:id="rId4" imgW="6001560" imgH="749520" progId="Word.Document.8">
                  <p:embed/>
                  <p:pic>
                    <p:nvPicPr>
                      <p:cNvPr id="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844" y="3535405"/>
                        <a:ext cx="6029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6844395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015345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7875642" y="367993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115482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515282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547480" y="3717253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2158095" y="3024627"/>
            <a:ext cx="492474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</a:t>
            </a:r>
            <a:r>
              <a:rPr kumimoji="1"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处理冲突，随机数假设为</a:t>
            </a:r>
            <a:r>
              <a:rPr kumimoji="1" lang="en-US" altLang="zh-CN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kumimoji="1" lang="zh-CN" altLang="en-US" sz="21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7386797" y="367993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5164591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732593" y="3692039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598749" y="4166414"/>
            <a:ext cx="59458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1      1       1     1              1       5             1       2     2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sp>
        <p:nvSpPr>
          <p:cNvPr id="16" name="矩形 15"/>
          <p:cNvSpPr/>
          <p:nvPr/>
        </p:nvSpPr>
        <p:spPr>
          <a:xfrm>
            <a:off x="2231576" y="4799529"/>
            <a:ext cx="25316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7" name="矩形 16"/>
          <p:cNvSpPr/>
          <p:nvPr/>
        </p:nvSpPr>
        <p:spPr>
          <a:xfrm>
            <a:off x="2296611" y="5578625"/>
            <a:ext cx="74349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1+1+1+1+1+5+1+2+2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/9=5/3</a:t>
            </a: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7">
            <a:extLst>
              <a:ext uri="{FF2B5EF4-FFF2-40B4-BE49-F238E27FC236}">
                <a16:creationId xmlns:a16="http://schemas.microsoft.com/office/drawing/2014/main" id="{25FE4DE5-E6DB-48CA-9696-DF95F25F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副标题 18">
            <a:extLst>
              <a:ext uri="{FF2B5EF4-FFF2-40B4-BE49-F238E27FC236}">
                <a16:creationId xmlns:a16="http://schemas.microsoft.com/office/drawing/2014/main" id="{395894D8-F111-4D2B-A5A4-2E4ABD7CC0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50EA107C-AB65-4FD0-9C68-66E7C9F9ECE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85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/>
          </p:nvPr>
        </p:nvGraphicFramePr>
        <p:xfrm>
          <a:off x="2443844" y="3535405"/>
          <a:ext cx="6029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8" name="文档" r:id="rId4" imgW="6001560" imgH="749520" progId="Word.Document.8">
                  <p:embed/>
                </p:oleObj>
              </mc:Choice>
              <mc:Fallback>
                <p:oleObj name="文档" r:id="rId4" imgW="6001560" imgH="749520" progId="Word.Document.8">
                  <p:embed/>
                  <p:pic>
                    <p:nvPicPr>
                      <p:cNvPr id="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844" y="3535405"/>
                        <a:ext cx="6029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6844395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015345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7875642" y="367993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115482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515282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547480" y="3717253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2158095" y="3024627"/>
            <a:ext cx="492474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</a:t>
            </a:r>
            <a:r>
              <a:rPr kumimoji="1"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处理冲突，随机数假设为</a:t>
            </a:r>
            <a:r>
              <a:rPr kumimoji="1" lang="en-US" altLang="zh-CN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kumimoji="1" lang="zh-CN" altLang="en-US" sz="21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7386797" y="367993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5164591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732593" y="3692039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598749" y="4166414"/>
            <a:ext cx="59458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1      1       1     1              1       5             1       2     2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2598749" y="4449805"/>
            <a:ext cx="58015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3      5      4      6      1      5       2      1      3      2     4</a:t>
            </a:r>
          </a:p>
        </p:txBody>
      </p:sp>
      <p:sp>
        <p:nvSpPr>
          <p:cNvPr id="17" name="矩形 16"/>
          <p:cNvSpPr/>
          <p:nvPr/>
        </p:nvSpPr>
        <p:spPr>
          <a:xfrm>
            <a:off x="2461653" y="4937778"/>
            <a:ext cx="221680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8" name="矩形 17"/>
          <p:cNvSpPr/>
          <p:nvPr/>
        </p:nvSpPr>
        <p:spPr>
          <a:xfrm>
            <a:off x="2443844" y="5547109"/>
            <a:ext cx="74186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3+5+4+6+1+5+2+1+3+2+4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/11=36/11</a:t>
            </a: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B3F9FD3A-80BD-4538-ADE8-AD477739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" name="副标题 19">
            <a:extLst>
              <a:ext uri="{FF2B5EF4-FFF2-40B4-BE49-F238E27FC236}">
                <a16:creationId xmlns:a16="http://schemas.microsoft.com/office/drawing/2014/main" id="{E4B76DD5-3E6C-4059-90B5-93C009739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2033BE32-B224-4011-9EBB-FCAC42D6F78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89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2"/>
          <p:cNvSpPr txBox="1">
            <a:spLocks noChangeArrowheads="1"/>
          </p:cNvSpPr>
          <p:nvPr/>
        </p:nvSpPr>
        <p:spPr bwMode="auto">
          <a:xfrm>
            <a:off x="1748299" y="1751946"/>
            <a:ext cx="7369887" cy="396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905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381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defTabSz="914400" eaLnBrk="1" hangingPunct="1">
              <a:lnSpc>
                <a:spcPct val="12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将所有散列地址相同的记录都链接在同一链表中。       </a:t>
            </a:r>
          </a:p>
        </p:txBody>
      </p:sp>
      <p:grpSp>
        <p:nvGrpSpPr>
          <p:cNvPr id="61" name="Group 4"/>
          <p:cNvGrpSpPr>
            <a:grpSpLocks/>
          </p:cNvGrpSpPr>
          <p:nvPr/>
        </p:nvGrpSpPr>
        <p:grpSpPr bwMode="auto">
          <a:xfrm>
            <a:off x="2832918" y="2667000"/>
            <a:ext cx="685800" cy="3429000"/>
            <a:chOff x="672" y="1200"/>
            <a:chExt cx="576" cy="2880"/>
          </a:xfrm>
        </p:grpSpPr>
        <p:sp>
          <p:nvSpPr>
            <p:cNvPr id="62" name="Rectangle 5"/>
            <p:cNvSpPr>
              <a:spLocks noChangeArrowheads="1"/>
            </p:cNvSpPr>
            <p:nvPr/>
          </p:nvSpPr>
          <p:spPr bwMode="auto">
            <a:xfrm>
              <a:off x="960" y="1200"/>
              <a:ext cx="288" cy="288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3" name="Line 6"/>
            <p:cNvSpPr>
              <a:spLocks noChangeShapeType="1"/>
            </p:cNvSpPr>
            <p:nvPr/>
          </p:nvSpPr>
          <p:spPr bwMode="auto">
            <a:xfrm>
              <a:off x="960" y="1632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4" name="Line 7"/>
            <p:cNvSpPr>
              <a:spLocks noChangeShapeType="1"/>
            </p:cNvSpPr>
            <p:nvPr/>
          </p:nvSpPr>
          <p:spPr bwMode="auto">
            <a:xfrm>
              <a:off x="960" y="2016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5" name="Line 8"/>
            <p:cNvSpPr>
              <a:spLocks noChangeShapeType="1"/>
            </p:cNvSpPr>
            <p:nvPr/>
          </p:nvSpPr>
          <p:spPr bwMode="auto">
            <a:xfrm>
              <a:off x="960" y="2400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6" name="Line 9"/>
            <p:cNvSpPr>
              <a:spLocks noChangeShapeType="1"/>
            </p:cNvSpPr>
            <p:nvPr/>
          </p:nvSpPr>
          <p:spPr bwMode="auto">
            <a:xfrm>
              <a:off x="960" y="2784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7" name="Line 10"/>
            <p:cNvSpPr>
              <a:spLocks noChangeShapeType="1"/>
            </p:cNvSpPr>
            <p:nvPr/>
          </p:nvSpPr>
          <p:spPr bwMode="auto">
            <a:xfrm>
              <a:off x="960" y="3216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8" name="Line 11"/>
            <p:cNvSpPr>
              <a:spLocks noChangeShapeType="1"/>
            </p:cNvSpPr>
            <p:nvPr/>
          </p:nvSpPr>
          <p:spPr bwMode="auto">
            <a:xfrm>
              <a:off x="960" y="3648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9" name="Text Box 12"/>
            <p:cNvSpPr txBox="1">
              <a:spLocks noChangeArrowheads="1"/>
            </p:cNvSpPr>
            <p:nvPr/>
          </p:nvSpPr>
          <p:spPr bwMode="auto">
            <a:xfrm>
              <a:off x="672" y="1233"/>
              <a:ext cx="336" cy="2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0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2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3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4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5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6</a:t>
              </a:r>
              <a:endParaRPr kumimoji="1" lang="en-US" altLang="zh-CN" sz="21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0" name="Group 13"/>
          <p:cNvGrpSpPr>
            <a:grpSpLocks/>
          </p:cNvGrpSpPr>
          <p:nvPr/>
        </p:nvGrpSpPr>
        <p:grpSpPr bwMode="auto">
          <a:xfrm>
            <a:off x="3404418" y="3238500"/>
            <a:ext cx="1200150" cy="342900"/>
            <a:chOff x="1152" y="1680"/>
            <a:chExt cx="1008" cy="288"/>
          </a:xfrm>
        </p:grpSpPr>
        <p:sp>
          <p:nvSpPr>
            <p:cNvPr id="71" name="Rectangle 14"/>
            <p:cNvSpPr>
              <a:spLocks noChangeArrowheads="1"/>
            </p:cNvSpPr>
            <p:nvPr/>
          </p:nvSpPr>
          <p:spPr bwMode="auto">
            <a:xfrm>
              <a:off x="1632" y="1680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01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" name="Line 15"/>
            <p:cNvSpPr>
              <a:spLocks noChangeShapeType="1"/>
            </p:cNvSpPr>
            <p:nvPr/>
          </p:nvSpPr>
          <p:spPr bwMode="auto">
            <a:xfrm>
              <a:off x="1968" y="16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73" name="Line 16"/>
            <p:cNvSpPr>
              <a:spLocks noChangeShapeType="1"/>
            </p:cNvSpPr>
            <p:nvPr/>
          </p:nvSpPr>
          <p:spPr bwMode="auto">
            <a:xfrm>
              <a:off x="1152" y="1824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74" name="Group 17"/>
          <p:cNvGrpSpPr>
            <a:grpSpLocks/>
          </p:cNvGrpSpPr>
          <p:nvPr/>
        </p:nvGrpSpPr>
        <p:grpSpPr bwMode="auto">
          <a:xfrm>
            <a:off x="3404418" y="5181600"/>
            <a:ext cx="1200150" cy="342900"/>
            <a:chOff x="1152" y="3312"/>
            <a:chExt cx="1008" cy="288"/>
          </a:xfrm>
        </p:grpSpPr>
        <p:sp>
          <p:nvSpPr>
            <p:cNvPr id="75" name="Rectangle 18"/>
            <p:cNvSpPr>
              <a:spLocks noChangeArrowheads="1"/>
            </p:cNvSpPr>
            <p:nvPr/>
          </p:nvSpPr>
          <p:spPr bwMode="auto">
            <a:xfrm>
              <a:off x="1632" y="331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19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" name="Line 19"/>
            <p:cNvSpPr>
              <a:spLocks noChangeShapeType="1"/>
            </p:cNvSpPr>
            <p:nvPr/>
          </p:nvSpPr>
          <p:spPr bwMode="auto">
            <a:xfrm>
              <a:off x="196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77" name="Line 20"/>
            <p:cNvSpPr>
              <a:spLocks noChangeShapeType="1"/>
            </p:cNvSpPr>
            <p:nvPr/>
          </p:nvSpPr>
          <p:spPr bwMode="auto">
            <a:xfrm>
              <a:off x="1152" y="3456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78" name="Group 21"/>
          <p:cNvGrpSpPr>
            <a:grpSpLocks/>
          </p:cNvGrpSpPr>
          <p:nvPr/>
        </p:nvGrpSpPr>
        <p:grpSpPr bwMode="auto">
          <a:xfrm>
            <a:off x="5633268" y="5181600"/>
            <a:ext cx="1257300" cy="342900"/>
            <a:chOff x="3024" y="3312"/>
            <a:chExt cx="1056" cy="288"/>
          </a:xfrm>
        </p:grpSpPr>
        <p:sp>
          <p:nvSpPr>
            <p:cNvPr id="79" name="Rectangle 22"/>
            <p:cNvSpPr>
              <a:spLocks noChangeArrowheads="1"/>
            </p:cNvSpPr>
            <p:nvPr/>
          </p:nvSpPr>
          <p:spPr bwMode="auto">
            <a:xfrm>
              <a:off x="3552" y="331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82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" name="Line 23"/>
            <p:cNvSpPr>
              <a:spLocks noChangeShapeType="1"/>
            </p:cNvSpPr>
            <p:nvPr/>
          </p:nvSpPr>
          <p:spPr bwMode="auto">
            <a:xfrm>
              <a:off x="388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1" name="Line 24"/>
            <p:cNvSpPr>
              <a:spLocks noChangeShapeType="1"/>
            </p:cNvSpPr>
            <p:nvPr/>
          </p:nvSpPr>
          <p:spPr bwMode="auto">
            <a:xfrm>
              <a:off x="3024" y="3456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82" name="Group 25"/>
          <p:cNvGrpSpPr>
            <a:grpSpLocks/>
          </p:cNvGrpSpPr>
          <p:nvPr/>
        </p:nvGrpSpPr>
        <p:grpSpPr bwMode="auto">
          <a:xfrm>
            <a:off x="3404418" y="3695701"/>
            <a:ext cx="1200150" cy="400050"/>
            <a:chOff x="1152" y="2064"/>
            <a:chExt cx="1008" cy="336"/>
          </a:xfrm>
        </p:grpSpPr>
        <p:sp>
          <p:nvSpPr>
            <p:cNvPr id="83" name="Rectangle 26"/>
            <p:cNvSpPr>
              <a:spLocks noChangeArrowheads="1"/>
            </p:cNvSpPr>
            <p:nvPr/>
          </p:nvSpPr>
          <p:spPr bwMode="auto">
            <a:xfrm>
              <a:off x="1632" y="2064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4" name="Line 27"/>
            <p:cNvSpPr>
              <a:spLocks noChangeShapeType="1"/>
            </p:cNvSpPr>
            <p:nvPr/>
          </p:nvSpPr>
          <p:spPr bwMode="auto">
            <a:xfrm>
              <a:off x="1968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5" name="Line 28"/>
            <p:cNvSpPr>
              <a:spLocks noChangeShapeType="1"/>
            </p:cNvSpPr>
            <p:nvPr/>
          </p:nvSpPr>
          <p:spPr bwMode="auto">
            <a:xfrm>
              <a:off x="1152" y="2208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6" name="Text Box 29"/>
            <p:cNvSpPr txBox="1">
              <a:spLocks noChangeArrowheads="1"/>
            </p:cNvSpPr>
            <p:nvPr/>
          </p:nvSpPr>
          <p:spPr bwMode="auto">
            <a:xfrm>
              <a:off x="1660" y="2090"/>
              <a:ext cx="34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23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7" name="Group 30"/>
          <p:cNvGrpSpPr>
            <a:grpSpLocks/>
          </p:cNvGrpSpPr>
          <p:nvPr/>
        </p:nvGrpSpPr>
        <p:grpSpPr bwMode="auto">
          <a:xfrm>
            <a:off x="3404418" y="4610102"/>
            <a:ext cx="1200150" cy="369094"/>
            <a:chOff x="1152" y="2832"/>
            <a:chExt cx="1008" cy="310"/>
          </a:xfrm>
        </p:grpSpPr>
        <p:sp>
          <p:nvSpPr>
            <p:cNvPr id="88" name="Rectangle 31"/>
            <p:cNvSpPr>
              <a:spLocks noChangeArrowheads="1"/>
            </p:cNvSpPr>
            <p:nvPr/>
          </p:nvSpPr>
          <p:spPr bwMode="auto">
            <a:xfrm>
              <a:off x="1632" y="283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9" name="Line 32"/>
            <p:cNvSpPr>
              <a:spLocks noChangeShapeType="1"/>
            </p:cNvSpPr>
            <p:nvPr/>
          </p:nvSpPr>
          <p:spPr bwMode="auto">
            <a:xfrm>
              <a:off x="1968" y="28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0" name="Line 33"/>
            <p:cNvSpPr>
              <a:spLocks noChangeShapeType="1"/>
            </p:cNvSpPr>
            <p:nvPr/>
          </p:nvSpPr>
          <p:spPr bwMode="auto">
            <a:xfrm>
              <a:off x="1152" y="2976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1" name="Text Box 34"/>
            <p:cNvSpPr txBox="1">
              <a:spLocks noChangeArrowheads="1"/>
            </p:cNvSpPr>
            <p:nvPr/>
          </p:nvSpPr>
          <p:spPr bwMode="auto">
            <a:xfrm>
              <a:off x="1660" y="2832"/>
              <a:ext cx="33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2" name="Group 35"/>
          <p:cNvGrpSpPr>
            <a:grpSpLocks/>
          </p:cNvGrpSpPr>
          <p:nvPr/>
        </p:nvGrpSpPr>
        <p:grpSpPr bwMode="auto">
          <a:xfrm>
            <a:off x="4490268" y="5181601"/>
            <a:ext cx="1257300" cy="400050"/>
            <a:chOff x="2064" y="3312"/>
            <a:chExt cx="1056" cy="336"/>
          </a:xfrm>
        </p:grpSpPr>
        <p:sp>
          <p:nvSpPr>
            <p:cNvPr id="93" name="Rectangle 36"/>
            <p:cNvSpPr>
              <a:spLocks noChangeArrowheads="1"/>
            </p:cNvSpPr>
            <p:nvPr/>
          </p:nvSpPr>
          <p:spPr bwMode="auto">
            <a:xfrm>
              <a:off x="2592" y="331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" name="Line 37"/>
            <p:cNvSpPr>
              <a:spLocks noChangeShapeType="1"/>
            </p:cNvSpPr>
            <p:nvPr/>
          </p:nvSpPr>
          <p:spPr bwMode="auto">
            <a:xfrm>
              <a:off x="292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5" name="Line 38"/>
            <p:cNvSpPr>
              <a:spLocks noChangeShapeType="1"/>
            </p:cNvSpPr>
            <p:nvPr/>
          </p:nvSpPr>
          <p:spPr bwMode="auto">
            <a:xfrm>
              <a:off x="2064" y="3456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6" name="Text Box 39"/>
            <p:cNvSpPr txBox="1">
              <a:spLocks noChangeArrowheads="1"/>
            </p:cNvSpPr>
            <p:nvPr/>
          </p:nvSpPr>
          <p:spPr bwMode="auto">
            <a:xfrm>
              <a:off x="2620" y="3338"/>
              <a:ext cx="34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68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7" name="Group 40"/>
          <p:cNvGrpSpPr>
            <a:grpSpLocks/>
          </p:cNvGrpSpPr>
          <p:nvPr/>
        </p:nvGrpSpPr>
        <p:grpSpPr bwMode="auto">
          <a:xfrm>
            <a:off x="3404418" y="5695953"/>
            <a:ext cx="1200150" cy="369094"/>
            <a:chOff x="1152" y="3744"/>
            <a:chExt cx="1008" cy="310"/>
          </a:xfrm>
        </p:grpSpPr>
        <p:sp>
          <p:nvSpPr>
            <p:cNvPr id="98" name="Rectangle 41"/>
            <p:cNvSpPr>
              <a:spLocks noChangeArrowheads="1"/>
            </p:cNvSpPr>
            <p:nvPr/>
          </p:nvSpPr>
          <p:spPr bwMode="auto">
            <a:xfrm>
              <a:off x="1632" y="3744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9" name="Line 42"/>
            <p:cNvSpPr>
              <a:spLocks noChangeShapeType="1"/>
            </p:cNvSpPr>
            <p:nvPr/>
          </p:nvSpPr>
          <p:spPr bwMode="auto">
            <a:xfrm>
              <a:off x="1968" y="37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0" name="Line 43"/>
            <p:cNvSpPr>
              <a:spLocks noChangeShapeType="1"/>
            </p:cNvSpPr>
            <p:nvPr/>
          </p:nvSpPr>
          <p:spPr bwMode="auto">
            <a:xfrm>
              <a:off x="1152" y="3840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1" name="Text Box 44"/>
            <p:cNvSpPr txBox="1">
              <a:spLocks noChangeArrowheads="1"/>
            </p:cNvSpPr>
            <p:nvPr/>
          </p:nvSpPr>
          <p:spPr bwMode="auto">
            <a:xfrm>
              <a:off x="1660" y="3744"/>
              <a:ext cx="34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55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2" name="Group 45"/>
          <p:cNvGrpSpPr>
            <a:grpSpLocks/>
          </p:cNvGrpSpPr>
          <p:nvPr/>
        </p:nvGrpSpPr>
        <p:grpSpPr bwMode="auto">
          <a:xfrm>
            <a:off x="3404418" y="2724150"/>
            <a:ext cx="1200150" cy="342900"/>
            <a:chOff x="1152" y="1248"/>
            <a:chExt cx="1008" cy="288"/>
          </a:xfrm>
        </p:grpSpPr>
        <p:sp>
          <p:nvSpPr>
            <p:cNvPr id="103" name="Line 46"/>
            <p:cNvSpPr>
              <a:spLocks noChangeShapeType="1"/>
            </p:cNvSpPr>
            <p:nvPr/>
          </p:nvSpPr>
          <p:spPr bwMode="auto">
            <a:xfrm>
              <a:off x="1152" y="1440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4" name="Rectangle 47"/>
            <p:cNvSpPr>
              <a:spLocks noChangeArrowheads="1"/>
            </p:cNvSpPr>
            <p:nvPr/>
          </p:nvSpPr>
          <p:spPr bwMode="auto">
            <a:xfrm>
              <a:off x="1632" y="1248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14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5" name="Line 48"/>
            <p:cNvSpPr>
              <a:spLocks noChangeShapeType="1"/>
            </p:cNvSpPr>
            <p:nvPr/>
          </p:nvSpPr>
          <p:spPr bwMode="auto">
            <a:xfrm>
              <a:off x="1968" y="12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106" name="Text Box 49"/>
          <p:cNvSpPr txBox="1">
            <a:spLocks noChangeArrowheads="1"/>
          </p:cNvSpPr>
          <p:nvPr/>
        </p:nvSpPr>
        <p:spPr bwMode="auto">
          <a:xfrm>
            <a:off x="4362871" y="2667001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7" name="Group 50"/>
          <p:cNvGrpSpPr>
            <a:grpSpLocks/>
          </p:cNvGrpSpPr>
          <p:nvPr/>
        </p:nvGrpSpPr>
        <p:grpSpPr bwMode="auto">
          <a:xfrm>
            <a:off x="4490268" y="3238500"/>
            <a:ext cx="1257300" cy="342900"/>
            <a:chOff x="2064" y="1680"/>
            <a:chExt cx="1056" cy="288"/>
          </a:xfrm>
        </p:grpSpPr>
        <p:sp>
          <p:nvSpPr>
            <p:cNvPr id="108" name="Rectangle 51"/>
            <p:cNvSpPr>
              <a:spLocks noChangeArrowheads="1"/>
            </p:cNvSpPr>
            <p:nvPr/>
          </p:nvSpPr>
          <p:spPr bwMode="auto">
            <a:xfrm>
              <a:off x="2592" y="1680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36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2928" y="16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0" name="Line 53"/>
            <p:cNvSpPr>
              <a:spLocks noChangeShapeType="1"/>
            </p:cNvSpPr>
            <p:nvPr/>
          </p:nvSpPr>
          <p:spPr bwMode="auto">
            <a:xfrm>
              <a:off x="2064" y="1824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111" name="Text Box 54"/>
          <p:cNvSpPr txBox="1">
            <a:spLocks noChangeArrowheads="1"/>
          </p:cNvSpPr>
          <p:nvPr/>
        </p:nvSpPr>
        <p:spPr bwMode="auto">
          <a:xfrm>
            <a:off x="5505871" y="31920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" name="Text Box 55"/>
          <p:cNvSpPr txBox="1">
            <a:spLocks noChangeArrowheads="1"/>
          </p:cNvSpPr>
          <p:nvPr/>
        </p:nvSpPr>
        <p:spPr bwMode="auto">
          <a:xfrm>
            <a:off x="4362871" y="36492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" name="Text Box 56"/>
          <p:cNvSpPr txBox="1">
            <a:spLocks noChangeArrowheads="1"/>
          </p:cNvSpPr>
          <p:nvPr/>
        </p:nvSpPr>
        <p:spPr bwMode="auto">
          <a:xfrm>
            <a:off x="4362871" y="45636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" name="Text Box 57"/>
          <p:cNvSpPr txBox="1">
            <a:spLocks noChangeArrowheads="1"/>
          </p:cNvSpPr>
          <p:nvPr/>
        </p:nvSpPr>
        <p:spPr bwMode="auto">
          <a:xfrm>
            <a:off x="6648871" y="5124451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" name="Text Box 58"/>
          <p:cNvSpPr txBox="1">
            <a:spLocks noChangeArrowheads="1"/>
          </p:cNvSpPr>
          <p:nvPr/>
        </p:nvSpPr>
        <p:spPr bwMode="auto">
          <a:xfrm>
            <a:off x="4318819" y="564951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" name="Text Box 59"/>
          <p:cNvSpPr txBox="1">
            <a:spLocks noChangeArrowheads="1"/>
          </p:cNvSpPr>
          <p:nvPr/>
        </p:nvSpPr>
        <p:spPr bwMode="auto">
          <a:xfrm>
            <a:off x="3219871" y="41064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" name="Text Box 3"/>
          <p:cNvSpPr txBox="1">
            <a:spLocks noChangeArrowheads="1"/>
          </p:cNvSpPr>
          <p:nvPr/>
        </p:nvSpPr>
        <p:spPr bwMode="auto">
          <a:xfrm>
            <a:off x="1094990" y="1053525"/>
            <a:ext cx="3475856" cy="5847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defRPr kumimoji="1" sz="3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914400" lvl="2" defTabSz="914400">
              <a:defRPr/>
            </a:pP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链地址法：</a:t>
            </a:r>
          </a:p>
        </p:txBody>
      </p:sp>
      <p:sp>
        <p:nvSpPr>
          <p:cNvPr id="118" name="Text Box 60"/>
          <p:cNvSpPr txBox="1">
            <a:spLocks noChangeArrowheads="1"/>
          </p:cNvSpPr>
          <p:nvPr/>
        </p:nvSpPr>
        <p:spPr bwMode="auto">
          <a:xfrm>
            <a:off x="6941501" y="4106466"/>
            <a:ext cx="442621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kumimoji="1" lang="en-US" altLang="zh-CN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)=(6×1+2×2+3)/9=13/9</a:t>
            </a:r>
          </a:p>
        </p:txBody>
      </p:sp>
      <p:sp>
        <p:nvSpPr>
          <p:cNvPr id="119" name="Text Box 60"/>
          <p:cNvSpPr txBox="1">
            <a:spLocks noChangeArrowheads="1"/>
          </p:cNvSpPr>
          <p:nvPr/>
        </p:nvSpPr>
        <p:spPr bwMode="auto">
          <a:xfrm>
            <a:off x="6941501" y="4550938"/>
            <a:ext cx="390844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kumimoji="1" lang="en-US" altLang="zh-CN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)=(4×1+2+3)/7=9/7</a:t>
            </a:r>
          </a:p>
        </p:txBody>
      </p:sp>
      <p:sp>
        <p:nvSpPr>
          <p:cNvPr id="120" name="Text Box 61"/>
          <p:cNvSpPr txBox="1">
            <a:spLocks noChangeArrowheads="1"/>
          </p:cNvSpPr>
          <p:nvPr/>
        </p:nvSpPr>
        <p:spPr bwMode="auto">
          <a:xfrm>
            <a:off x="6890568" y="2481435"/>
            <a:ext cx="3955588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关键字集合为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{19,01,23,14,55,68,11,82,36}</a:t>
            </a:r>
            <a:r>
              <a:rPr kumimoji="1"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散列函数为 </a:t>
            </a:r>
            <a:r>
              <a:rPr kumimoji="1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H(key)=key MOD 7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4E1EF52-D74B-4DD9-89C4-225315EFB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B26FCE-E889-4D4A-9BFE-F210A195B8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BAC164-27D6-4A83-B560-7CCAFF15A92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40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utoUpdateAnimBg="0"/>
      <p:bldP spid="119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0D5DC-F78E-4220-B09A-9C431073A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CF8668-6B33-47C0-B5DF-088D18289D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3F60BB-9796-45A3-A0CE-75310F9F232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3731" name="Rectangle 2"/>
          <p:cNvSpPr>
            <a:spLocks noGrp="1" noRot="1" noChangeArrowheads="1"/>
          </p:cNvSpPr>
          <p:nvPr>
            <p:ph idx="11"/>
          </p:nvPr>
        </p:nvSpPr>
        <p:spPr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/>
          </a:bodyPr>
          <a:lstStyle/>
          <a:p>
            <a:pPr marL="0" algn="ctr">
              <a:spcBef>
                <a:spcPct val="0"/>
              </a:spcBef>
              <a:buNone/>
            </a:pP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查找性能分析         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1876058" y="4508455"/>
            <a:ext cx="8112125" cy="777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lnSpc>
                <a:spcPct val="13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一般情况下，可以认为选用的散列函数是“均匀”的，则在讨论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时，可以不考虑散列函数的因素。</a:t>
            </a: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1876058" y="1746206"/>
            <a:ext cx="80660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  <a:p>
            <a:pPr defTabSz="457200" eaLnBrk="1" hangingPunct="1">
              <a:defRPr/>
            </a:pPr>
            <a:r>
              <a:rPr kumimoji="1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关键字序列 </a:t>
            </a:r>
            <a:r>
              <a:rPr kumimoji="1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</a:t>
            </a:r>
            <a:r>
              <a:rPr kumimoji="1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defTabSz="457200" eaLnBrk="1" hangingPunct="1"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H(key)=key % 12</a:t>
            </a:r>
          </a:p>
        </p:txBody>
      </p:sp>
      <p:sp>
        <p:nvSpPr>
          <p:cNvPr id="109574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099895" y="2730455"/>
            <a:ext cx="45384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线性探测处理冲突时，    </a:t>
            </a:r>
            <a:r>
              <a:rPr kumimoji="1" lang="en-US" altLang="zh-CN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 =</a:t>
            </a:r>
            <a:endParaRPr kumimoji="1"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575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115770" y="3619455"/>
            <a:ext cx="45384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链地址法处理冲突时，    </a:t>
            </a:r>
            <a:r>
              <a:rPr kumimoji="1" lang="en-US" altLang="zh-CN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 =</a:t>
            </a:r>
            <a:endParaRPr kumimoji="1" lang="en-US" altLang="zh-CN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576" name="Rectangle 8"/>
          <p:cNvSpPr>
            <a:spLocks noChangeArrowheads="1"/>
          </p:cNvSpPr>
          <p:nvPr/>
        </p:nvSpPr>
        <p:spPr bwMode="auto">
          <a:xfrm>
            <a:off x="6484568" y="2682831"/>
            <a:ext cx="45167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1/12(1×6+2+3×3+4+9)=2.5 </a:t>
            </a:r>
          </a:p>
        </p:txBody>
      </p:sp>
      <p:sp>
        <p:nvSpPr>
          <p:cNvPr id="109577" name="Rectangle 9"/>
          <p:cNvSpPr>
            <a:spLocks noChangeArrowheads="1"/>
          </p:cNvSpPr>
          <p:nvPr/>
        </p:nvSpPr>
        <p:spPr bwMode="auto">
          <a:xfrm>
            <a:off x="6484569" y="3619456"/>
            <a:ext cx="41606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1/12(1×6+2×4+3+4)=1.75 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696658" y="5873873"/>
            <a:ext cx="9304618" cy="52322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wrap="square">
            <a:spAutoFit/>
          </a:bodyPr>
          <a:lstStyle/>
          <a:p>
            <a:pPr algn="ctr" defTabSz="457200">
              <a:spcBef>
                <a:spcPct val="50000"/>
              </a:spcBef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实际上，散列表的</a:t>
            </a:r>
            <a:r>
              <a:rPr kumimoji="1"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kumimoji="1"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处理冲突方法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装载因子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的函数</a:t>
            </a:r>
            <a:endParaRPr lang="en-US" altLang="zh-CN" sz="1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206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10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/>
      <p:bldP spid="109571" grpId="0" autoUpdateAnimBg="0"/>
      <p:bldP spid="109573" grpId="0" autoUpdateAnimBg="0"/>
      <p:bldP spid="109574" grpId="0" autoUpdateAnimBg="0"/>
      <p:bldP spid="109575" grpId="0" autoUpdateAnimBg="0"/>
      <p:bldP spid="109576" grpId="0" autoUpdateAnimBg="0"/>
      <p:bldP spid="109577" grpId="0" autoUpdateAnimBg="0"/>
      <p:bldP spid="12" grpId="0" animBg="1"/>
      <p:bldP spid="12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C542224-E925-48F1-AB41-2ED865E2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11.4.4 </a:t>
            </a:r>
            <a:r>
              <a:rPr lang="zh-CN" altLang="en-US" dirty="0"/>
              <a:t>查找性能分析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0C6C8F27-B97B-496F-883C-0DAFD31D8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588698-AC6F-4EEF-BDAA-B0D0E33A9D7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Rectangle 2"/>
          <p:cNvSpPr>
            <a:spLocks noGrp="1" noRot="1" noChangeArrowheads="1"/>
          </p:cNvSpPr>
          <p:nvPr>
            <p:ph idx="11"/>
          </p:nvPr>
        </p:nvSpPr>
        <p:spPr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/>
          </a:bodyPr>
          <a:lstStyle/>
          <a:p>
            <a:pPr marL="0" algn="ctr">
              <a:spcBef>
                <a:spcPct val="0"/>
              </a:spcBef>
              <a:buNone/>
            </a:pP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查找性能分析         </a:t>
            </a:r>
          </a:p>
        </p:txBody>
      </p:sp>
      <p:sp>
        <p:nvSpPr>
          <p:cNvPr id="110595" name="Text Box 3"/>
          <p:cNvSpPr txBox="1">
            <a:spLocks noChangeArrowheads="1"/>
          </p:cNvSpPr>
          <p:nvPr/>
        </p:nvSpPr>
        <p:spPr bwMode="auto">
          <a:xfrm>
            <a:off x="2495551" y="2967038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线性探测再散列</a:t>
            </a:r>
          </a:p>
        </p:txBody>
      </p:sp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3414714" y="5256212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链地址法</a:t>
            </a:r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2566988" y="4225925"/>
            <a:ext cx="252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随机探测再散列</a:t>
            </a:r>
          </a:p>
        </p:txBody>
      </p:sp>
      <p:graphicFrame>
        <p:nvGraphicFramePr>
          <p:cNvPr id="110598" name="Object 6"/>
          <p:cNvGraphicFramePr>
            <a:graphicFrameLocks noChangeAspect="1"/>
          </p:cNvGraphicFramePr>
          <p:nvPr>
            <p:extLst/>
          </p:nvPr>
        </p:nvGraphicFramePr>
        <p:xfrm>
          <a:off x="5020355" y="2560638"/>
          <a:ext cx="2895346" cy="1089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5" name="公式" r:id="rId4" imgW="1143000" imgH="393480" progId="">
                  <p:embed/>
                </p:oleObj>
              </mc:Choice>
              <mc:Fallback>
                <p:oleObj name="公式" r:id="rId4" imgW="1143000" imgH="393480" progId="">
                  <p:embed/>
                  <p:pic>
                    <p:nvPicPr>
                      <p:cNvPr id="1105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0355" y="2560638"/>
                        <a:ext cx="2895346" cy="108999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9" name="Object 7"/>
          <p:cNvGraphicFramePr>
            <a:graphicFrameLocks noChangeAspect="1"/>
          </p:cNvGraphicFramePr>
          <p:nvPr>
            <p:extLst/>
          </p:nvPr>
        </p:nvGraphicFramePr>
        <p:xfrm>
          <a:off x="5020355" y="3737366"/>
          <a:ext cx="4028112" cy="1248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6" name="公式" r:id="rId6" imgW="1473120" imgH="406080" progId="Equation.3">
                  <p:embed/>
                </p:oleObj>
              </mc:Choice>
              <mc:Fallback>
                <p:oleObj name="公式" r:id="rId6" imgW="1473120" imgH="406080" progId="Equation.3">
                  <p:embed/>
                  <p:pic>
                    <p:nvPicPr>
                      <p:cNvPr id="1105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0355" y="3737366"/>
                        <a:ext cx="4028112" cy="124898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0" name="Object 8"/>
          <p:cNvGraphicFramePr>
            <a:graphicFrameLocks noChangeAspect="1"/>
          </p:cNvGraphicFramePr>
          <p:nvPr>
            <p:extLst/>
          </p:nvPr>
        </p:nvGraphicFramePr>
        <p:xfrm>
          <a:off x="5029202" y="5063858"/>
          <a:ext cx="1985748" cy="955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7" name="公式" r:id="rId8" imgW="628560" imgH="297360" progId="">
                  <p:embed/>
                </p:oleObj>
              </mc:Choice>
              <mc:Fallback>
                <p:oleObj name="公式" r:id="rId8" imgW="628560" imgH="297360" progId="">
                  <p:embed/>
                  <p:pic>
                    <p:nvPicPr>
                      <p:cNvPr id="1106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2" y="5063858"/>
                        <a:ext cx="1985748" cy="95594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1" name="Text Box 9"/>
          <p:cNvSpPr txBox="1">
            <a:spLocks noChangeArrowheads="1"/>
          </p:cNvSpPr>
          <p:nvPr/>
        </p:nvSpPr>
        <p:spPr bwMode="auto">
          <a:xfrm>
            <a:off x="2359025" y="1840034"/>
            <a:ext cx="7559675" cy="48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lnSpc>
                <a:spcPct val="115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可以证明：</a:t>
            </a:r>
            <a:r>
              <a:rPr kumimoji="1"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查找成功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时的平均查找长度为：</a:t>
            </a:r>
          </a:p>
        </p:txBody>
      </p:sp>
      <p:sp>
        <p:nvSpPr>
          <p:cNvPr id="2" name="矩形 1"/>
          <p:cNvSpPr/>
          <p:nvPr/>
        </p:nvSpPr>
        <p:spPr>
          <a:xfrm>
            <a:off x="949644" y="1453306"/>
            <a:ext cx="91087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0" lvl="4"/>
            <a:r>
              <a:rPr lang="zh-CN" altLang="en-US" b="1" dirty="0"/>
              <a:t>散列表的填满因子</a:t>
            </a:r>
            <a:r>
              <a:rPr lang="zh-CN" altLang="en-US" b="1" dirty="0">
                <a:sym typeface="Symbol" pitchFamily="18" charset="2"/>
              </a:rPr>
              <a:t></a:t>
            </a:r>
            <a:r>
              <a:rPr lang="en-US" altLang="zh-CN" b="1" dirty="0">
                <a:sym typeface="Symbol" pitchFamily="18" charset="2"/>
              </a:rPr>
              <a:t>=</a:t>
            </a:r>
            <a:r>
              <a:rPr lang="zh-CN" altLang="en-US" b="1" dirty="0">
                <a:sym typeface="Symbol" pitchFamily="18" charset="2"/>
              </a:rPr>
              <a:t>表中填入的记录数</a:t>
            </a:r>
            <a:r>
              <a:rPr lang="en-US" altLang="zh-CN" b="1" dirty="0">
                <a:sym typeface="Symbol" pitchFamily="18" charset="2"/>
              </a:rPr>
              <a:t>/</a:t>
            </a:r>
            <a:r>
              <a:rPr lang="zh-CN" altLang="en-US" b="1" dirty="0">
                <a:sym typeface="Symbol" pitchFamily="18" charset="2"/>
              </a:rPr>
              <a:t>散列表长度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31957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autoUpdateAnimBg="0"/>
      <p:bldP spid="110596" grpId="0" autoUpdateAnimBg="0"/>
      <p:bldP spid="110597" grpId="0" autoUpdateAnimBg="0"/>
      <p:bldP spid="110601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19047" y="1122656"/>
            <a:ext cx="3954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1" defTabSz="457200">
              <a:defRPr/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查找性能分析        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5B45BC6-8B28-4F48-97BC-C4C61B0EC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CE1EC91B-A6C8-4416-846A-3C45B17C0A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B3D53B-DD49-44BF-B65C-B8EB967BF13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5779" name="Rectangle 2"/>
          <p:cNvSpPr>
            <a:spLocks noGrp="1" noRot="1" noChangeArrowheads="1"/>
          </p:cNvSpPr>
          <p:nvPr>
            <p:ph idx="11"/>
          </p:nvPr>
        </p:nvSpPr>
        <p:spPr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/>
          </a:bodyPr>
          <a:lstStyle/>
          <a:p>
            <a:pPr marL="0" algn="ctr">
              <a:spcBef>
                <a:spcPct val="0"/>
              </a:spcBef>
              <a:buNone/>
            </a:pP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散列表查找与性能分析</a:t>
            </a:r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2424115" y="2372805"/>
            <a:ext cx="5327650" cy="587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lnSpc>
                <a:spcPct val="115000"/>
              </a:lnSpc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查找不成功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时的平均查找长度为：</a:t>
            </a: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2424115" y="3351118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线性探测再散列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3359150" y="5472018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链地址法</a:t>
            </a:r>
          </a:p>
        </p:txBody>
      </p:sp>
      <p:sp>
        <p:nvSpPr>
          <p:cNvPr id="111622" name="Text Box 6"/>
          <p:cNvSpPr txBox="1">
            <a:spLocks noChangeArrowheads="1"/>
          </p:cNvSpPr>
          <p:nvPr/>
        </p:nvSpPr>
        <p:spPr bwMode="auto">
          <a:xfrm>
            <a:off x="2495551" y="4498880"/>
            <a:ext cx="252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随机探测再散列</a:t>
            </a:r>
          </a:p>
        </p:txBody>
      </p:sp>
      <p:sp>
        <p:nvSpPr>
          <p:cNvPr id="75784" name="Rectangle 7"/>
          <p:cNvSpPr>
            <a:spLocks noChangeArrowheads="1"/>
          </p:cNvSpPr>
          <p:nvPr/>
        </p:nvSpPr>
        <p:spPr bwMode="auto">
          <a:xfrm>
            <a:off x="1524001" y="331885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>
              <a:defRPr/>
            </a:pPr>
            <a:endParaRPr lang="zh-CN" altLang="en-US" sz="18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1624" name="Object 8"/>
          <p:cNvGraphicFramePr>
            <a:graphicFrameLocks noChangeAspect="1"/>
          </p:cNvGraphicFramePr>
          <p:nvPr>
            <p:extLst/>
          </p:nvPr>
        </p:nvGraphicFramePr>
        <p:xfrm>
          <a:off x="5059366" y="3180220"/>
          <a:ext cx="2519363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name="Equation" r:id="rId4" imgW="1295400" imgH="419100" progId="">
                  <p:embed/>
                </p:oleObj>
              </mc:Choice>
              <mc:Fallback>
                <p:oleObj name="Equation" r:id="rId4" imgW="1295400" imgH="419100" progId="">
                  <p:embed/>
                  <p:pic>
                    <p:nvPicPr>
                      <p:cNvPr id="1116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366" y="3180220"/>
                        <a:ext cx="2519363" cy="8207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6" name="Rectangle 9"/>
          <p:cNvSpPr>
            <a:spLocks noChangeArrowheads="1"/>
          </p:cNvSpPr>
          <p:nvPr/>
        </p:nvSpPr>
        <p:spPr bwMode="auto">
          <a:xfrm>
            <a:off x="1524001" y="332361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>
              <a:defRPr/>
            </a:pPr>
            <a:endParaRPr lang="zh-CN" altLang="en-US" sz="18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1626" name="Object 10"/>
          <p:cNvGraphicFramePr>
            <a:graphicFrameLocks noChangeAspect="1"/>
          </p:cNvGraphicFramePr>
          <p:nvPr>
            <p:extLst/>
          </p:nvPr>
        </p:nvGraphicFramePr>
        <p:xfrm>
          <a:off x="5059365" y="4261308"/>
          <a:ext cx="15128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0" name="Equation" r:id="rId6" imgW="710891" imgH="393529" progId="">
                  <p:embed/>
                </p:oleObj>
              </mc:Choice>
              <mc:Fallback>
                <p:oleObj name="Equation" r:id="rId6" imgW="710891" imgH="393529" progId="">
                  <p:embed/>
                  <p:pic>
                    <p:nvPicPr>
                      <p:cNvPr id="1116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365" y="4261308"/>
                        <a:ext cx="1512888" cy="8382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8" name="Rectangle 11"/>
          <p:cNvSpPr>
            <a:spLocks noChangeArrowheads="1"/>
          </p:cNvSpPr>
          <p:nvPr/>
        </p:nvSpPr>
        <p:spPr bwMode="auto">
          <a:xfrm>
            <a:off x="1524001" y="339505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>
              <a:defRPr/>
            </a:pPr>
            <a:endParaRPr lang="zh-CN" altLang="en-US" sz="18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1628" name="Object 12"/>
          <p:cNvGraphicFramePr>
            <a:graphicFrameLocks noChangeAspect="1"/>
          </p:cNvGraphicFramePr>
          <p:nvPr>
            <p:extLst/>
          </p:nvPr>
        </p:nvGraphicFramePr>
        <p:xfrm>
          <a:off x="5016501" y="5340808"/>
          <a:ext cx="21590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1" name="Equation" r:id="rId8" imgW="774364" imgH="241195" progId="">
                  <p:embed/>
                </p:oleObj>
              </mc:Choice>
              <mc:Fallback>
                <p:oleObj name="Equation" r:id="rId8" imgW="774364" imgH="241195" progId="">
                  <p:embed/>
                  <p:pic>
                    <p:nvPicPr>
                      <p:cNvPr id="1116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5340808"/>
                        <a:ext cx="2159000" cy="6794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607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5779" grpId="0" build="p"/>
      <p:bldP spid="111619" grpId="0"/>
      <p:bldP spid="111620" grpId="0" autoUpdateAnimBg="0"/>
      <p:bldP spid="111621" grpId="0" autoUpdateAnimBg="0"/>
      <p:bldP spid="111622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52E64-44F5-492B-A315-24B61F3DF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7E8930-216F-4FDF-9B21-22493E230E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DC675B-A58B-4039-8AE1-06DD347A070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4B7EF34-5C5B-4E47-AB25-7593E5E0E35B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294967295"/>
          </p:nvPr>
        </p:nvSpPr>
        <p:spPr>
          <a:ln/>
        </p:spPr>
        <p:txBody>
          <a:bodyPr/>
          <a:lstStyle/>
          <a:p>
            <a:pPr defTabSz="457200">
              <a:defRPr/>
            </a:pPr>
            <a:fld id="{0EBF6B27-73F2-4309-B4BF-6D408699BE12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50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84002" name="Text Box 2"/>
          <p:cNvSpPr txBox="1">
            <a:spLocks noChangeArrowheads="1"/>
          </p:cNvSpPr>
          <p:nvPr/>
        </p:nvSpPr>
        <p:spPr bwMode="auto">
          <a:xfrm>
            <a:off x="1635937" y="2081409"/>
            <a:ext cx="8681771" cy="112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>
              <a:lnSpc>
                <a:spcPct val="125000"/>
              </a:lnSpc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散列表的平均查找长度是装填因子 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 的函数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，而不是 </a:t>
            </a:r>
            <a:r>
              <a:rPr kumimoji="1" lang="en-US" altLang="zh-CN" sz="2800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的函数。</a:t>
            </a:r>
          </a:p>
        </p:txBody>
      </p:sp>
      <p:sp>
        <p:nvSpPr>
          <p:cNvPr id="384003" name="Text Box 3"/>
          <p:cNvSpPr txBox="1">
            <a:spLocks noChangeArrowheads="1"/>
          </p:cNvSpPr>
          <p:nvPr/>
        </p:nvSpPr>
        <p:spPr bwMode="auto">
          <a:xfrm>
            <a:off x="1635937" y="3537169"/>
            <a:ext cx="8463408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>
              <a:lnSpc>
                <a:spcPct val="125000"/>
              </a:lnSpc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这说明，用散列表构造查找表时，可以选择一个适当的装填因子 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 ，使得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平均查找长度限定在某个范围内。</a:t>
            </a:r>
          </a:p>
        </p:txBody>
      </p:sp>
      <p:sp>
        <p:nvSpPr>
          <p:cNvPr id="384004" name="Text Box 4"/>
          <p:cNvSpPr txBox="1">
            <a:spLocks noChangeArrowheads="1"/>
          </p:cNvSpPr>
          <p:nvPr/>
        </p:nvSpPr>
        <p:spPr bwMode="auto">
          <a:xfrm>
            <a:off x="4942519" y="5546053"/>
            <a:ext cx="53751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kumimoji="1" lang="en-US" altLang="zh-CN" sz="2800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kumimoji="1" lang="zh-CN" altLang="en-US" sz="2800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这是散列表所特有的特点。</a:t>
            </a:r>
            <a:endParaRPr kumimoji="1"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2"/>
          <p:cNvSpPr txBox="1">
            <a:spLocks noRot="1" noChangeArrowheads="1"/>
          </p:cNvSpPr>
          <p:nvPr/>
        </p:nvSpPr>
        <p:spPr>
          <a:xfrm>
            <a:off x="1275608" y="1204423"/>
            <a:ext cx="3666911" cy="5762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36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查找性能分析         </a:t>
            </a:r>
          </a:p>
        </p:txBody>
      </p:sp>
    </p:spTree>
    <p:extLst>
      <p:ext uri="{BB962C8B-B14F-4D97-AF65-F5344CB8AC3E}">
        <p14:creationId xmlns:p14="http://schemas.microsoft.com/office/powerpoint/2010/main" val="27338731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3840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3840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2" grpId="0" autoUpdateAnimBg="0"/>
      <p:bldP spid="384003" grpId="0" autoUpdateAnimBg="0"/>
      <p:bldP spid="384004" grpId="0"/>
      <p:bldP spid="384004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4922" y="1233166"/>
            <a:ext cx="2332641" cy="59093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indent="-228600" algn="ctr" defTabSz="9144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6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defRPr/>
            </a:pPr>
            <a:r>
              <a:rPr lang="zh-CN" altLang="en-US" sz="4400" dirty="0">
                <a:solidFill>
                  <a:srgbClr val="5B9BD5">
                    <a:lumMod val="75000"/>
                  </a:srgbClr>
                </a:solidFill>
              </a:rPr>
              <a:t>总  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97434" y="1228926"/>
            <a:ext cx="38779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一一映射的散列函数</a:t>
            </a:r>
            <a:endParaRPr lang="en-US" altLang="zh-CN" sz="3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defRPr/>
            </a:pPr>
            <a:endParaRPr lang="zh-CN" altLang="en-US" sz="3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4541882" y="2688983"/>
            <a:ext cx="2130542" cy="385361"/>
          </a:xfrm>
          <a:prstGeom prst="right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zh-CN" altLang="en-US" sz="28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44997" y="260874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关键字范围广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15710" y="2594811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存储空间范围小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75654" y="221455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32880" y="3539965"/>
            <a:ext cx="6585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冲突不可避免，不同解决冲突的策略的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551243" y="4161114"/>
            <a:ext cx="5969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查找表大小与解决冲突策略和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范围相关</a:t>
            </a:r>
          </a:p>
        </p:txBody>
      </p:sp>
      <p:graphicFrame>
        <p:nvGraphicFramePr>
          <p:cNvPr id="10" name="图示 9"/>
          <p:cNvGraphicFramePr/>
          <p:nvPr>
            <p:extLst/>
          </p:nvPr>
        </p:nvGraphicFramePr>
        <p:xfrm>
          <a:off x="1603555" y="3406698"/>
          <a:ext cx="8536731" cy="4196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标题 10">
            <a:extLst>
              <a:ext uri="{FF2B5EF4-FFF2-40B4-BE49-F238E27FC236}">
                <a16:creationId xmlns:a16="http://schemas.microsoft.com/office/drawing/2014/main" id="{7A342A01-6D35-4873-B9A4-0BD46E17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副标题 11">
            <a:extLst>
              <a:ext uri="{FF2B5EF4-FFF2-40B4-BE49-F238E27FC236}">
                <a16:creationId xmlns:a16="http://schemas.microsoft.com/office/drawing/2014/main" id="{125E7EF5-5CE5-49AD-9642-8FC874DF9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F3CAE955-13BB-4DEB-8005-F4D296EA739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4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9301F4C-D697-464F-9380-859D320B79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>
                                            <p:graphicEl>
                                              <a:dgm id="{29301F4C-D697-464F-9380-859D320B79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F863560-9B44-4B90-9DB1-DB135075A6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>
                                            <p:graphicEl>
                                              <a:dgm id="{6F863560-9B44-4B90-9DB1-DB135075A6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1FA80A7-A7C1-44F4-B849-367F22B373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>
                                            <p:graphicEl>
                                              <a:dgm id="{D1FA80A7-A7C1-44F4-B849-367F22B373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8" grpId="0"/>
      <p:bldP spid="9" grpId="0"/>
      <p:bldGraphic spid="10" grpId="0">
        <p:bldSub>
          <a:bldDgm bld="one"/>
        </p:bldSub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7A342A01-6D35-4873-B9A4-0BD46E17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11.4.5</a:t>
            </a:r>
            <a:r>
              <a:rPr lang="zh-CN" altLang="en-US" dirty="0"/>
              <a:t>分布式散列表</a:t>
            </a:r>
          </a:p>
        </p:txBody>
      </p:sp>
      <p:sp>
        <p:nvSpPr>
          <p:cNvPr id="12" name="副标题 11">
            <a:extLst>
              <a:ext uri="{FF2B5EF4-FFF2-40B4-BE49-F238E27FC236}">
                <a16:creationId xmlns:a16="http://schemas.microsoft.com/office/drawing/2014/main" id="{125E7EF5-5CE5-49AD-9642-8FC874DF9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F3CAE955-13BB-4DEB-8005-F4D296EA739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4E70984-0D2A-4822-829A-34DAF1BA646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43037" y="2382369"/>
            <a:ext cx="8696625" cy="326445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8B4C064-F704-4FCE-80B1-D0487C0BC8F2}"/>
              </a:ext>
            </a:extLst>
          </p:cNvPr>
          <p:cNvSpPr/>
          <p:nvPr/>
        </p:nvSpPr>
        <p:spPr>
          <a:xfrm>
            <a:off x="1315453" y="1083906"/>
            <a:ext cx="98017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cs typeface="宋体" panose="02010600030101010101" pitchFamily="2" charset="-122"/>
              </a:rPr>
              <a:t>当面对分布式系统时，传统用于单机系统的散列表数据结构已无法支撑数据存储应用需求。此时，需要采用能够支撑分布式系统的散列数据结构，即分布式</a:t>
            </a:r>
            <a:r>
              <a:rPr lang="en-US" altLang="zh-CN" sz="2400" kern="100" dirty="0" err="1">
                <a:cs typeface="宋体" panose="02010600030101010101" pitchFamily="2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散列</a:t>
            </a:r>
            <a:r>
              <a:rPr lang="zh-CN" altLang="zh-CN" sz="2400" kern="100" dirty="0">
                <a:cs typeface="宋体" panose="02010600030101010101" pitchFamily="2" charset="-122"/>
              </a:rPr>
              <a:t>列表</a:t>
            </a:r>
            <a:r>
              <a:rPr lang="en-US" altLang="zh-CN" sz="2400" kern="100" dirty="0">
                <a:cs typeface="宋体" panose="02010600030101010101" pitchFamily="2" charset="-122"/>
              </a:rPr>
              <a:t>DHT</a:t>
            </a:r>
            <a:r>
              <a:rPr lang="zh-CN" altLang="zh-CN" sz="2400" kern="100" dirty="0">
                <a:cs typeface="宋体" panose="02010600030101010101" pitchFamily="2" charset="-122"/>
              </a:rPr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892194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11.4.6  </a:t>
            </a:r>
            <a:r>
              <a:rPr lang="zh-CN" altLang="en-US" dirty="0"/>
              <a:t>作业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11.4.5 </a:t>
            </a:r>
            <a:r>
              <a:rPr lang="zh-CN" altLang="en-US" dirty="0"/>
              <a:t>作业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F2EFC24-31C4-4C6A-8494-7F2CB9E11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716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CA4134-5452-41F4-B7D1-1667C47E5CE1}"/>
              </a:ext>
            </a:extLst>
          </p:cNvPr>
          <p:cNvSpPr/>
          <p:nvPr/>
        </p:nvSpPr>
        <p:spPr>
          <a:xfrm>
            <a:off x="278969" y="1807915"/>
            <a:ext cx="1167717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1</a:t>
            </a:r>
            <a:r>
              <a:rPr lang="zh-CN" altLang="zh-CN" sz="2800" dirty="0"/>
              <a:t>、设有一组关键字</a:t>
            </a:r>
            <a:r>
              <a:rPr lang="en-US" altLang="zh-CN" sz="2800" dirty="0"/>
              <a:t>{19</a:t>
            </a:r>
            <a:r>
              <a:rPr lang="zh-CN" altLang="zh-CN" sz="2800" dirty="0"/>
              <a:t>，</a:t>
            </a:r>
            <a:r>
              <a:rPr lang="en-US" altLang="zh-CN" sz="2800" dirty="0"/>
              <a:t>01</a:t>
            </a:r>
            <a:r>
              <a:rPr lang="zh-CN" altLang="zh-CN" sz="2800" dirty="0"/>
              <a:t>，</a:t>
            </a:r>
            <a:r>
              <a:rPr lang="en-US" altLang="zh-CN" sz="2800" dirty="0"/>
              <a:t>23</a:t>
            </a:r>
            <a:r>
              <a:rPr lang="zh-CN" altLang="zh-CN" sz="2800" dirty="0"/>
              <a:t>，</a:t>
            </a:r>
            <a:r>
              <a:rPr lang="en-US" altLang="zh-CN" sz="2800" dirty="0"/>
              <a:t>14</a:t>
            </a:r>
            <a:r>
              <a:rPr lang="zh-CN" altLang="zh-CN" sz="2800" dirty="0"/>
              <a:t>，</a:t>
            </a:r>
            <a:r>
              <a:rPr lang="en-US" altLang="zh-CN" sz="2800" dirty="0"/>
              <a:t>55</a:t>
            </a:r>
            <a:r>
              <a:rPr lang="zh-CN" altLang="zh-CN" sz="2800" dirty="0"/>
              <a:t>，</a:t>
            </a:r>
            <a:r>
              <a:rPr lang="en-US" altLang="zh-CN" sz="2800" dirty="0"/>
              <a:t>20</a:t>
            </a:r>
            <a:r>
              <a:rPr lang="zh-CN" altLang="zh-CN" sz="2800" dirty="0"/>
              <a:t>，</a:t>
            </a:r>
            <a:r>
              <a:rPr lang="en-US" altLang="zh-CN" sz="2800" dirty="0"/>
              <a:t>84</a:t>
            </a:r>
            <a:r>
              <a:rPr lang="zh-CN" altLang="zh-CN" sz="2800" dirty="0"/>
              <a:t>，</a:t>
            </a:r>
            <a:r>
              <a:rPr lang="en-US" altLang="zh-CN" sz="2800" dirty="0"/>
              <a:t>27</a:t>
            </a:r>
            <a:r>
              <a:rPr lang="zh-CN" altLang="zh-CN" sz="2800" dirty="0"/>
              <a:t>，</a:t>
            </a:r>
            <a:r>
              <a:rPr lang="en-US" altLang="zh-CN" sz="2800" dirty="0"/>
              <a:t>68</a:t>
            </a:r>
            <a:r>
              <a:rPr lang="zh-CN" altLang="zh-CN" sz="2800" dirty="0"/>
              <a:t>，</a:t>
            </a:r>
            <a:r>
              <a:rPr lang="en-US" altLang="zh-CN" sz="2800" dirty="0"/>
              <a:t>11}</a:t>
            </a:r>
            <a:r>
              <a:rPr lang="zh-CN" altLang="zh-CN" sz="2800" dirty="0"/>
              <a:t>，采用散列函数：</a:t>
            </a:r>
            <a:r>
              <a:rPr lang="en-US" altLang="zh-CN" sz="2800" dirty="0"/>
              <a:t>H</a:t>
            </a:r>
            <a:r>
              <a:rPr lang="zh-CN" altLang="zh-CN" sz="2800" dirty="0"/>
              <a:t>（</a:t>
            </a:r>
            <a:r>
              <a:rPr lang="en-US" altLang="zh-CN" sz="2800" i="1" dirty="0"/>
              <a:t>key</a:t>
            </a:r>
            <a:r>
              <a:rPr lang="zh-CN" altLang="zh-CN" sz="2800" dirty="0"/>
              <a:t>）</a:t>
            </a:r>
            <a:r>
              <a:rPr lang="en-US" altLang="zh-CN" sz="2800" dirty="0"/>
              <a:t> =</a:t>
            </a:r>
            <a:r>
              <a:rPr lang="en-US" altLang="zh-CN" sz="2800" i="1" dirty="0"/>
              <a:t>key</a:t>
            </a:r>
            <a:r>
              <a:rPr lang="en-US" altLang="zh-CN" sz="2800" dirty="0"/>
              <a:t>%13</a:t>
            </a:r>
            <a:r>
              <a:rPr lang="zh-CN" altLang="zh-CN" sz="2800" dirty="0"/>
              <a:t>，采用开放地址法的线性探测再散列方法解决冲突，试在</a:t>
            </a:r>
            <a:r>
              <a:rPr lang="en-US" altLang="zh-CN" sz="2800" dirty="0"/>
              <a:t> 0 </a:t>
            </a:r>
            <a:r>
              <a:rPr lang="zh-CN" altLang="zh-CN" sz="2800" dirty="0"/>
              <a:t>到</a:t>
            </a:r>
            <a:r>
              <a:rPr lang="en-US" altLang="zh-CN" sz="2800" dirty="0"/>
              <a:t> 18 </a:t>
            </a:r>
            <a:r>
              <a:rPr lang="zh-CN" altLang="zh-CN" sz="2800" dirty="0"/>
              <a:t>的散列地址空间中对该关键字序列构造散列表。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6" t="32053" r="20333"/>
          <a:stretch>
            <a:fillRect/>
          </a:stretch>
        </p:blipFill>
        <p:spPr>
          <a:xfrm>
            <a:off x="-38911" y="-77822"/>
            <a:ext cx="7247108" cy="357051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56" r="67172"/>
          <a:stretch>
            <a:fillRect/>
          </a:stretch>
        </p:blipFill>
        <p:spPr>
          <a:xfrm>
            <a:off x="8244776" y="-48638"/>
            <a:ext cx="4002347" cy="2377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-24384" y="4587109"/>
            <a:ext cx="9165288" cy="2546903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-875295" y="-875664"/>
            <a:ext cx="2974038" cy="2745105"/>
            <a:chOff x="6175344" y="342254"/>
            <a:chExt cx="7829785" cy="7227071"/>
          </a:xfrm>
        </p:grpSpPr>
        <p:sp>
          <p:nvSpPr>
            <p:cNvPr id="15" name="六边形 1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59840" y="635784"/>
            <a:ext cx="823697" cy="760292"/>
            <a:chOff x="6175344" y="342254"/>
            <a:chExt cx="7829785" cy="7227071"/>
          </a:xfrm>
        </p:grpSpPr>
        <p:sp>
          <p:nvSpPr>
            <p:cNvPr id="18" name="六边形 17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平行四边形 18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: 圆角 7"/>
          <p:cNvSpPr/>
          <p:nvPr/>
        </p:nvSpPr>
        <p:spPr>
          <a:xfrm>
            <a:off x="2421652" y="2038221"/>
            <a:ext cx="7054775" cy="311850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  <a:alpha val="5000"/>
            </a:schemeClr>
          </a:solidFill>
          <a:ln>
            <a:solidFill>
              <a:schemeClr val="bg1"/>
            </a:solidFill>
          </a:ln>
          <a:effectLst>
            <a:outerShdw blurRad="152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7" name="组合 36"/>
          <p:cNvGrpSpPr/>
          <p:nvPr/>
        </p:nvGrpSpPr>
        <p:grpSpPr>
          <a:xfrm>
            <a:off x="7558543" y="954064"/>
            <a:ext cx="5262302" cy="5007863"/>
            <a:chOff x="6175345" y="153244"/>
            <a:chExt cx="7792878" cy="7416082"/>
          </a:xfrm>
        </p:grpSpPr>
        <p:grpSp>
          <p:nvGrpSpPr>
            <p:cNvPr id="32" name="组合 31"/>
            <p:cNvGrpSpPr/>
            <p:nvPr/>
          </p:nvGrpSpPr>
          <p:grpSpPr>
            <a:xfrm>
              <a:off x="6175345" y="342257"/>
              <a:ext cx="7792878" cy="7227069"/>
              <a:chOff x="5983104" y="1708488"/>
              <a:chExt cx="4080721" cy="3784437"/>
            </a:xfrm>
          </p:grpSpPr>
          <p:sp>
            <p:nvSpPr>
              <p:cNvPr id="33" name="六边形 32"/>
              <p:cNvSpPr/>
              <p:nvPr/>
            </p:nvSpPr>
            <p:spPr>
              <a:xfrm rot="5400000">
                <a:off x="5811401" y="1880191"/>
                <a:ext cx="3784437" cy="3441032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77000">
                    <a:srgbClr val="016773"/>
                  </a:gs>
                  <a:gs pos="100000">
                    <a:srgbClr val="007684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平行四边形 33"/>
              <p:cNvSpPr/>
              <p:nvPr/>
            </p:nvSpPr>
            <p:spPr>
              <a:xfrm rot="19714174">
                <a:off x="7064019" y="3212601"/>
                <a:ext cx="2999806" cy="1616793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文本框 35"/>
            <p:cNvSpPr txBox="1"/>
            <p:nvPr/>
          </p:nvSpPr>
          <p:spPr>
            <a:xfrm rot="1849986">
              <a:off x="8151150" y="153244"/>
              <a:ext cx="4944370" cy="216360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isometricTopUp">
                  <a:rot lat="19176265" lon="2388000" rev="19890000"/>
                </a:camera>
                <a:lightRig rig="threePt" dir="t"/>
              </a:scene3d>
            </a:bodyPr>
            <a:lstStyle/>
            <a:p>
              <a:pPr algn="ctr"/>
              <a:r>
                <a:rPr lang="en-US" altLang="zh-CN" sz="11500" b="1" dirty="0">
                  <a:gradFill>
                    <a:gsLst>
                      <a:gs pos="30000">
                        <a:srgbClr val="007684"/>
                      </a:gs>
                      <a:gs pos="83000">
                        <a:srgbClr val="016773"/>
                      </a:gs>
                    </a:gsLst>
                    <a:lin ang="5400000" scaled="0"/>
                  </a:gradFill>
                  <a:latin typeface="Bauhaus 93" panose="04030905020B02020C02" pitchFamily="82" charset="0"/>
                  <a:ea typeface="Segoe UI Black" panose="020B0A02040204020203" pitchFamily="34" charset="0"/>
                </a:rPr>
                <a:t>101</a:t>
              </a:r>
              <a:endParaRPr lang="zh-CN" altLang="en-US" sz="11500" b="1" dirty="0">
                <a:gradFill>
                  <a:gsLst>
                    <a:gs pos="30000">
                      <a:srgbClr val="007684"/>
                    </a:gs>
                    <a:gs pos="83000">
                      <a:srgbClr val="016773"/>
                    </a:gs>
                  </a:gsLst>
                  <a:lin ang="5400000" scaled="0"/>
                </a:gradFill>
                <a:latin typeface="Bauhaus 93" panose="04030905020B02020C02" pitchFamily="82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774000" y="4177005"/>
            <a:ext cx="4644000" cy="124808"/>
            <a:chOff x="3774000" y="4177005"/>
            <a:chExt cx="4644000" cy="124808"/>
          </a:xfrm>
        </p:grpSpPr>
        <p:pic>
          <p:nvPicPr>
            <p:cNvPr id="24" name="图片 23"/>
            <p:cNvPicPr>
              <a:picLocks noChangeAspect="1" noChangeArrowheads="1"/>
            </p:cNvPicPr>
            <p:nvPr/>
          </p:nvPicPr>
          <p:blipFill>
            <a:blip r:embed="rId6">
              <a:biLevel thresh="50000"/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019" t="22713" r="2956" b="25211"/>
            <a:stretch>
              <a:fillRect/>
            </a:stretch>
          </p:blipFill>
          <p:spPr bwMode="auto">
            <a:xfrm rot="5400000">
              <a:off x="6033596" y="1917409"/>
              <a:ext cx="124808" cy="46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</p:pic>
        <p:cxnSp>
          <p:nvCxnSpPr>
            <p:cNvPr id="25" name="直接连接符 24"/>
            <p:cNvCxnSpPr/>
            <p:nvPr/>
          </p:nvCxnSpPr>
          <p:spPr>
            <a:xfrm>
              <a:off x="3936000" y="4177005"/>
              <a:ext cx="4320000" cy="0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69000">
                    <a:schemeClr val="bg1"/>
                  </a:gs>
                  <a:gs pos="100000">
                    <a:schemeClr val="bg1">
                      <a:alpha val="0"/>
                    </a:schemeClr>
                  </a:gs>
                  <a:gs pos="40000">
                    <a:schemeClr val="bg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890173" y="4315438"/>
            <a:ext cx="2268815" cy="2101347"/>
            <a:chOff x="6175344" y="342254"/>
            <a:chExt cx="7803037" cy="7227071"/>
          </a:xfrm>
        </p:grpSpPr>
        <p:sp>
          <p:nvSpPr>
            <p:cNvPr id="6" name="六边形 5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74548" y="5375868"/>
            <a:ext cx="1123874" cy="1040917"/>
            <a:chOff x="6175344" y="342254"/>
            <a:chExt cx="7803037" cy="7227071"/>
          </a:xfrm>
        </p:grpSpPr>
        <p:sp>
          <p:nvSpPr>
            <p:cNvPr id="12" name="六边形 11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709077" y="4985964"/>
            <a:ext cx="1077639" cy="994687"/>
            <a:chOff x="6175344" y="342254"/>
            <a:chExt cx="7829785" cy="7227071"/>
          </a:xfrm>
        </p:grpSpPr>
        <p:sp>
          <p:nvSpPr>
            <p:cNvPr id="45" name="六边形 4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4453603" y="2835325"/>
            <a:ext cx="757461" cy="1054024"/>
          </a:xfrm>
          <a:custGeom>
            <a:avLst/>
            <a:gdLst/>
            <a:ahLst/>
            <a:cxnLst/>
            <a:rect l="l" t="t" r="r" b="b"/>
            <a:pathLst>
              <a:path w="757461" h="1054024">
                <a:moveTo>
                  <a:pt x="339552" y="504974"/>
                </a:moveTo>
                <a:lnTo>
                  <a:pt x="339552" y="583332"/>
                </a:lnTo>
                <a:lnTo>
                  <a:pt x="404850" y="583332"/>
                </a:lnTo>
                <a:lnTo>
                  <a:pt x="404850" y="504974"/>
                </a:lnTo>
                <a:close/>
                <a:moveTo>
                  <a:pt x="513681" y="422263"/>
                </a:moveTo>
                <a:cubicBezTo>
                  <a:pt x="563017" y="471599"/>
                  <a:pt x="587685" y="528191"/>
                  <a:pt x="587685" y="592038"/>
                </a:cubicBezTo>
                <a:cubicBezTo>
                  <a:pt x="587685" y="623962"/>
                  <a:pt x="578979" y="642826"/>
                  <a:pt x="561566" y="648630"/>
                </a:cubicBezTo>
                <a:cubicBezTo>
                  <a:pt x="526740" y="654434"/>
                  <a:pt x="510778" y="638473"/>
                  <a:pt x="513681" y="600745"/>
                </a:cubicBezTo>
                <a:cubicBezTo>
                  <a:pt x="519485" y="545604"/>
                  <a:pt x="516583" y="487561"/>
                  <a:pt x="504974" y="426616"/>
                </a:cubicBezTo>
                <a:close/>
                <a:moveTo>
                  <a:pt x="339552" y="365671"/>
                </a:moveTo>
                <a:lnTo>
                  <a:pt x="339552" y="439675"/>
                </a:lnTo>
                <a:lnTo>
                  <a:pt x="404850" y="439675"/>
                </a:lnTo>
                <a:lnTo>
                  <a:pt x="404850" y="365671"/>
                </a:lnTo>
                <a:close/>
                <a:moveTo>
                  <a:pt x="104478" y="252487"/>
                </a:moveTo>
                <a:lnTo>
                  <a:pt x="222015" y="296019"/>
                </a:lnTo>
                <a:lnTo>
                  <a:pt x="187189" y="339551"/>
                </a:lnTo>
                <a:lnTo>
                  <a:pt x="187189" y="796640"/>
                </a:lnTo>
                <a:cubicBezTo>
                  <a:pt x="204602" y="785031"/>
                  <a:pt x="230721" y="766167"/>
                  <a:pt x="265547" y="740048"/>
                </a:cubicBezTo>
                <a:lnTo>
                  <a:pt x="274253" y="748754"/>
                </a:lnTo>
                <a:cubicBezTo>
                  <a:pt x="227819" y="861938"/>
                  <a:pt x="162521" y="949003"/>
                  <a:pt x="78358" y="1009948"/>
                </a:cubicBezTo>
                <a:cubicBezTo>
                  <a:pt x="63848" y="969318"/>
                  <a:pt x="49337" y="927236"/>
                  <a:pt x="34826" y="883704"/>
                </a:cubicBezTo>
                <a:cubicBezTo>
                  <a:pt x="40630" y="880802"/>
                  <a:pt x="49337" y="876449"/>
                  <a:pt x="60946" y="870645"/>
                </a:cubicBezTo>
                <a:cubicBezTo>
                  <a:pt x="66750" y="864840"/>
                  <a:pt x="71103" y="861938"/>
                  <a:pt x="74005" y="861938"/>
                </a:cubicBezTo>
                <a:lnTo>
                  <a:pt x="74005" y="378730"/>
                </a:lnTo>
                <a:lnTo>
                  <a:pt x="0" y="378730"/>
                </a:lnTo>
                <a:lnTo>
                  <a:pt x="0" y="304726"/>
                </a:lnTo>
                <a:lnTo>
                  <a:pt x="65299" y="304726"/>
                </a:lnTo>
                <a:close/>
                <a:moveTo>
                  <a:pt x="339552" y="226368"/>
                </a:moveTo>
                <a:lnTo>
                  <a:pt x="339552" y="291666"/>
                </a:lnTo>
                <a:lnTo>
                  <a:pt x="404850" y="291666"/>
                </a:lnTo>
                <a:lnTo>
                  <a:pt x="404850" y="226368"/>
                </a:lnTo>
                <a:close/>
                <a:moveTo>
                  <a:pt x="605098" y="4353"/>
                </a:moveTo>
                <a:lnTo>
                  <a:pt x="713929" y="4353"/>
                </a:lnTo>
                <a:lnTo>
                  <a:pt x="713929" y="252487"/>
                </a:lnTo>
                <a:lnTo>
                  <a:pt x="757461" y="252487"/>
                </a:lnTo>
                <a:lnTo>
                  <a:pt x="757461" y="330845"/>
                </a:lnTo>
                <a:lnTo>
                  <a:pt x="713929" y="330845"/>
                </a:lnTo>
                <a:lnTo>
                  <a:pt x="713929" y="983828"/>
                </a:lnTo>
                <a:cubicBezTo>
                  <a:pt x="713929" y="1027361"/>
                  <a:pt x="670397" y="1050578"/>
                  <a:pt x="583332" y="1053480"/>
                </a:cubicBezTo>
                <a:cubicBezTo>
                  <a:pt x="568821" y="1053480"/>
                  <a:pt x="561566" y="1047676"/>
                  <a:pt x="561566" y="1036067"/>
                </a:cubicBezTo>
                <a:cubicBezTo>
                  <a:pt x="561566" y="998339"/>
                  <a:pt x="544153" y="975122"/>
                  <a:pt x="509327" y="966415"/>
                </a:cubicBezTo>
                <a:lnTo>
                  <a:pt x="509327" y="953356"/>
                </a:lnTo>
                <a:cubicBezTo>
                  <a:pt x="578979" y="962062"/>
                  <a:pt x="610903" y="956258"/>
                  <a:pt x="605098" y="935943"/>
                </a:cubicBezTo>
                <a:lnTo>
                  <a:pt x="605098" y="330845"/>
                </a:lnTo>
                <a:lnTo>
                  <a:pt x="509327" y="330845"/>
                </a:lnTo>
                <a:lnTo>
                  <a:pt x="509327" y="252487"/>
                </a:lnTo>
                <a:lnTo>
                  <a:pt x="605098" y="252487"/>
                </a:lnTo>
                <a:close/>
                <a:moveTo>
                  <a:pt x="56592" y="4353"/>
                </a:moveTo>
                <a:cubicBezTo>
                  <a:pt x="134950" y="24668"/>
                  <a:pt x="182836" y="62396"/>
                  <a:pt x="200249" y="117537"/>
                </a:cubicBezTo>
                <a:cubicBezTo>
                  <a:pt x="214759" y="158167"/>
                  <a:pt x="201700" y="187189"/>
                  <a:pt x="161070" y="204601"/>
                </a:cubicBezTo>
                <a:cubicBezTo>
                  <a:pt x="123342" y="216210"/>
                  <a:pt x="100125" y="203150"/>
                  <a:pt x="91418" y="165422"/>
                </a:cubicBezTo>
                <a:cubicBezTo>
                  <a:pt x="85614" y="98673"/>
                  <a:pt x="71103" y="46434"/>
                  <a:pt x="47886" y="8706"/>
                </a:cubicBezTo>
                <a:close/>
                <a:moveTo>
                  <a:pt x="313432" y="0"/>
                </a:moveTo>
                <a:lnTo>
                  <a:pt x="430969" y="0"/>
                </a:lnTo>
                <a:cubicBezTo>
                  <a:pt x="413556" y="72554"/>
                  <a:pt x="383084" y="124792"/>
                  <a:pt x="339552" y="156716"/>
                </a:cubicBezTo>
                <a:lnTo>
                  <a:pt x="400497" y="156716"/>
                </a:lnTo>
                <a:lnTo>
                  <a:pt x="426616" y="117537"/>
                </a:lnTo>
                <a:lnTo>
                  <a:pt x="535447" y="152363"/>
                </a:lnTo>
                <a:lnTo>
                  <a:pt x="496268" y="204601"/>
                </a:lnTo>
                <a:lnTo>
                  <a:pt x="496268" y="975122"/>
                </a:lnTo>
                <a:cubicBezTo>
                  <a:pt x="499170" y="1024458"/>
                  <a:pt x="455638" y="1050578"/>
                  <a:pt x="365671" y="1053480"/>
                </a:cubicBezTo>
                <a:cubicBezTo>
                  <a:pt x="348258" y="1056382"/>
                  <a:pt x="341003" y="1047676"/>
                  <a:pt x="343905" y="1027361"/>
                </a:cubicBezTo>
                <a:cubicBezTo>
                  <a:pt x="343905" y="992535"/>
                  <a:pt x="322139" y="972220"/>
                  <a:pt x="278607" y="966415"/>
                </a:cubicBezTo>
                <a:lnTo>
                  <a:pt x="278607" y="953356"/>
                </a:lnTo>
                <a:cubicBezTo>
                  <a:pt x="371475" y="959160"/>
                  <a:pt x="413556" y="951905"/>
                  <a:pt x="404850" y="931590"/>
                </a:cubicBezTo>
                <a:lnTo>
                  <a:pt x="404850" y="766167"/>
                </a:lnTo>
                <a:cubicBezTo>
                  <a:pt x="341003" y="853232"/>
                  <a:pt x="272802" y="912726"/>
                  <a:pt x="200249" y="944649"/>
                </a:cubicBezTo>
                <a:lnTo>
                  <a:pt x="195895" y="935943"/>
                </a:lnTo>
                <a:cubicBezTo>
                  <a:pt x="245232" y="877900"/>
                  <a:pt x="294568" y="782129"/>
                  <a:pt x="343905" y="648630"/>
                </a:cubicBezTo>
                <a:lnTo>
                  <a:pt x="213308" y="648630"/>
                </a:lnTo>
                <a:lnTo>
                  <a:pt x="213308" y="583332"/>
                </a:lnTo>
                <a:lnTo>
                  <a:pt x="248134" y="583332"/>
                </a:lnTo>
                <a:lnTo>
                  <a:pt x="248134" y="130597"/>
                </a:lnTo>
                <a:lnTo>
                  <a:pt x="300373" y="130597"/>
                </a:lnTo>
                <a:cubicBezTo>
                  <a:pt x="311981" y="84162"/>
                  <a:pt x="316335" y="40630"/>
                  <a:pt x="313432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307690" y="2835325"/>
            <a:ext cx="757461" cy="1054024"/>
          </a:xfrm>
          <a:custGeom>
            <a:avLst/>
            <a:gdLst/>
            <a:ahLst/>
            <a:cxnLst/>
            <a:rect l="l" t="t" r="r" b="b"/>
            <a:pathLst>
              <a:path w="757461" h="1054024">
                <a:moveTo>
                  <a:pt x="339552" y="504974"/>
                </a:moveTo>
                <a:lnTo>
                  <a:pt x="339552" y="583332"/>
                </a:lnTo>
                <a:lnTo>
                  <a:pt x="404850" y="583332"/>
                </a:lnTo>
                <a:lnTo>
                  <a:pt x="404850" y="504974"/>
                </a:lnTo>
                <a:close/>
                <a:moveTo>
                  <a:pt x="513681" y="422263"/>
                </a:moveTo>
                <a:cubicBezTo>
                  <a:pt x="563017" y="471599"/>
                  <a:pt x="587685" y="528191"/>
                  <a:pt x="587685" y="592038"/>
                </a:cubicBezTo>
                <a:cubicBezTo>
                  <a:pt x="587685" y="623962"/>
                  <a:pt x="578979" y="642826"/>
                  <a:pt x="561566" y="648630"/>
                </a:cubicBezTo>
                <a:cubicBezTo>
                  <a:pt x="526740" y="654434"/>
                  <a:pt x="510778" y="638473"/>
                  <a:pt x="513681" y="600745"/>
                </a:cubicBezTo>
                <a:cubicBezTo>
                  <a:pt x="519485" y="545604"/>
                  <a:pt x="516583" y="487561"/>
                  <a:pt x="504974" y="426616"/>
                </a:cubicBezTo>
                <a:close/>
                <a:moveTo>
                  <a:pt x="339552" y="365671"/>
                </a:moveTo>
                <a:lnTo>
                  <a:pt x="339552" y="439675"/>
                </a:lnTo>
                <a:lnTo>
                  <a:pt x="404850" y="439675"/>
                </a:lnTo>
                <a:lnTo>
                  <a:pt x="404850" y="365671"/>
                </a:lnTo>
                <a:close/>
                <a:moveTo>
                  <a:pt x="104478" y="252487"/>
                </a:moveTo>
                <a:lnTo>
                  <a:pt x="222015" y="296019"/>
                </a:lnTo>
                <a:lnTo>
                  <a:pt x="187189" y="339551"/>
                </a:lnTo>
                <a:lnTo>
                  <a:pt x="187189" y="796640"/>
                </a:lnTo>
                <a:cubicBezTo>
                  <a:pt x="204602" y="785031"/>
                  <a:pt x="230721" y="766167"/>
                  <a:pt x="265547" y="740048"/>
                </a:cubicBezTo>
                <a:lnTo>
                  <a:pt x="274253" y="748754"/>
                </a:lnTo>
                <a:cubicBezTo>
                  <a:pt x="227819" y="861938"/>
                  <a:pt x="162521" y="949003"/>
                  <a:pt x="78358" y="1009948"/>
                </a:cubicBezTo>
                <a:cubicBezTo>
                  <a:pt x="63848" y="969318"/>
                  <a:pt x="49337" y="927236"/>
                  <a:pt x="34826" y="883704"/>
                </a:cubicBezTo>
                <a:cubicBezTo>
                  <a:pt x="40630" y="880802"/>
                  <a:pt x="49337" y="876449"/>
                  <a:pt x="60946" y="870645"/>
                </a:cubicBezTo>
                <a:cubicBezTo>
                  <a:pt x="66750" y="864840"/>
                  <a:pt x="71103" y="861938"/>
                  <a:pt x="74005" y="861938"/>
                </a:cubicBezTo>
                <a:lnTo>
                  <a:pt x="74005" y="378730"/>
                </a:lnTo>
                <a:lnTo>
                  <a:pt x="0" y="378730"/>
                </a:lnTo>
                <a:lnTo>
                  <a:pt x="0" y="304726"/>
                </a:lnTo>
                <a:lnTo>
                  <a:pt x="65299" y="304726"/>
                </a:lnTo>
                <a:close/>
                <a:moveTo>
                  <a:pt x="339552" y="226368"/>
                </a:moveTo>
                <a:lnTo>
                  <a:pt x="339552" y="291666"/>
                </a:lnTo>
                <a:lnTo>
                  <a:pt x="404850" y="291666"/>
                </a:lnTo>
                <a:lnTo>
                  <a:pt x="404850" y="226368"/>
                </a:lnTo>
                <a:close/>
                <a:moveTo>
                  <a:pt x="605098" y="4353"/>
                </a:moveTo>
                <a:lnTo>
                  <a:pt x="713929" y="4353"/>
                </a:lnTo>
                <a:lnTo>
                  <a:pt x="713929" y="252487"/>
                </a:lnTo>
                <a:lnTo>
                  <a:pt x="757461" y="252487"/>
                </a:lnTo>
                <a:lnTo>
                  <a:pt x="757461" y="330845"/>
                </a:lnTo>
                <a:lnTo>
                  <a:pt x="713929" y="330845"/>
                </a:lnTo>
                <a:lnTo>
                  <a:pt x="713929" y="983828"/>
                </a:lnTo>
                <a:cubicBezTo>
                  <a:pt x="713929" y="1027361"/>
                  <a:pt x="670397" y="1050578"/>
                  <a:pt x="583332" y="1053480"/>
                </a:cubicBezTo>
                <a:cubicBezTo>
                  <a:pt x="568821" y="1053480"/>
                  <a:pt x="561566" y="1047676"/>
                  <a:pt x="561566" y="1036067"/>
                </a:cubicBezTo>
                <a:cubicBezTo>
                  <a:pt x="561566" y="998339"/>
                  <a:pt x="544153" y="975122"/>
                  <a:pt x="509327" y="966415"/>
                </a:cubicBezTo>
                <a:lnTo>
                  <a:pt x="509327" y="953356"/>
                </a:lnTo>
                <a:cubicBezTo>
                  <a:pt x="578979" y="962062"/>
                  <a:pt x="610903" y="956258"/>
                  <a:pt x="605098" y="935943"/>
                </a:cubicBezTo>
                <a:lnTo>
                  <a:pt x="605098" y="330845"/>
                </a:lnTo>
                <a:lnTo>
                  <a:pt x="509327" y="330845"/>
                </a:lnTo>
                <a:lnTo>
                  <a:pt x="509327" y="252487"/>
                </a:lnTo>
                <a:lnTo>
                  <a:pt x="605098" y="252487"/>
                </a:lnTo>
                <a:close/>
                <a:moveTo>
                  <a:pt x="56592" y="4353"/>
                </a:moveTo>
                <a:cubicBezTo>
                  <a:pt x="134950" y="24668"/>
                  <a:pt x="182836" y="62396"/>
                  <a:pt x="200249" y="117537"/>
                </a:cubicBezTo>
                <a:cubicBezTo>
                  <a:pt x="214759" y="158167"/>
                  <a:pt x="201700" y="187189"/>
                  <a:pt x="161070" y="204601"/>
                </a:cubicBezTo>
                <a:cubicBezTo>
                  <a:pt x="123342" y="216210"/>
                  <a:pt x="100125" y="203150"/>
                  <a:pt x="91418" y="165422"/>
                </a:cubicBezTo>
                <a:cubicBezTo>
                  <a:pt x="85614" y="98673"/>
                  <a:pt x="71103" y="46434"/>
                  <a:pt x="47886" y="8706"/>
                </a:cubicBezTo>
                <a:close/>
                <a:moveTo>
                  <a:pt x="313432" y="0"/>
                </a:moveTo>
                <a:lnTo>
                  <a:pt x="430969" y="0"/>
                </a:lnTo>
                <a:cubicBezTo>
                  <a:pt x="413556" y="72554"/>
                  <a:pt x="383084" y="124792"/>
                  <a:pt x="339552" y="156716"/>
                </a:cubicBezTo>
                <a:lnTo>
                  <a:pt x="400497" y="156716"/>
                </a:lnTo>
                <a:lnTo>
                  <a:pt x="426616" y="117537"/>
                </a:lnTo>
                <a:lnTo>
                  <a:pt x="535447" y="152363"/>
                </a:lnTo>
                <a:lnTo>
                  <a:pt x="496268" y="204601"/>
                </a:lnTo>
                <a:lnTo>
                  <a:pt x="496268" y="975122"/>
                </a:lnTo>
                <a:cubicBezTo>
                  <a:pt x="499170" y="1024458"/>
                  <a:pt x="455638" y="1050578"/>
                  <a:pt x="365671" y="1053480"/>
                </a:cubicBezTo>
                <a:cubicBezTo>
                  <a:pt x="348258" y="1056382"/>
                  <a:pt x="341003" y="1047676"/>
                  <a:pt x="343905" y="1027361"/>
                </a:cubicBezTo>
                <a:cubicBezTo>
                  <a:pt x="343905" y="992535"/>
                  <a:pt x="322139" y="972220"/>
                  <a:pt x="278607" y="966415"/>
                </a:cubicBezTo>
                <a:lnTo>
                  <a:pt x="278607" y="953356"/>
                </a:lnTo>
                <a:cubicBezTo>
                  <a:pt x="371475" y="959160"/>
                  <a:pt x="413556" y="951905"/>
                  <a:pt x="404850" y="931590"/>
                </a:cubicBezTo>
                <a:lnTo>
                  <a:pt x="404850" y="766167"/>
                </a:lnTo>
                <a:cubicBezTo>
                  <a:pt x="341003" y="853232"/>
                  <a:pt x="272802" y="912726"/>
                  <a:pt x="200249" y="944649"/>
                </a:cubicBezTo>
                <a:lnTo>
                  <a:pt x="195895" y="935943"/>
                </a:lnTo>
                <a:cubicBezTo>
                  <a:pt x="245232" y="877900"/>
                  <a:pt x="294568" y="782129"/>
                  <a:pt x="343905" y="648630"/>
                </a:cubicBezTo>
                <a:lnTo>
                  <a:pt x="213308" y="648630"/>
                </a:lnTo>
                <a:lnTo>
                  <a:pt x="213308" y="583332"/>
                </a:lnTo>
                <a:lnTo>
                  <a:pt x="248134" y="583332"/>
                </a:lnTo>
                <a:lnTo>
                  <a:pt x="248134" y="130597"/>
                </a:lnTo>
                <a:lnTo>
                  <a:pt x="300373" y="130597"/>
                </a:lnTo>
                <a:cubicBezTo>
                  <a:pt x="311981" y="84162"/>
                  <a:pt x="316335" y="40630"/>
                  <a:pt x="313432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48718" y="2830973"/>
            <a:ext cx="766167" cy="1054879"/>
          </a:xfrm>
          <a:custGeom>
            <a:avLst/>
            <a:gdLst/>
            <a:ahLst/>
            <a:cxnLst/>
            <a:rect l="l" t="t" r="r" b="b"/>
            <a:pathLst>
              <a:path w="766167" h="1054879">
                <a:moveTo>
                  <a:pt x="478854" y="261193"/>
                </a:moveTo>
                <a:lnTo>
                  <a:pt x="578978" y="261193"/>
                </a:lnTo>
                <a:lnTo>
                  <a:pt x="578978" y="470148"/>
                </a:lnTo>
                <a:cubicBezTo>
                  <a:pt x="578978" y="548506"/>
                  <a:pt x="570272" y="619608"/>
                  <a:pt x="552859" y="683456"/>
                </a:cubicBezTo>
                <a:lnTo>
                  <a:pt x="635570" y="683456"/>
                </a:lnTo>
                <a:lnTo>
                  <a:pt x="635570" y="914177"/>
                </a:lnTo>
                <a:cubicBezTo>
                  <a:pt x="635570" y="922883"/>
                  <a:pt x="638472" y="927236"/>
                  <a:pt x="644277" y="927236"/>
                </a:cubicBezTo>
                <a:cubicBezTo>
                  <a:pt x="650081" y="927236"/>
                  <a:pt x="655885" y="924334"/>
                  <a:pt x="661690" y="918530"/>
                </a:cubicBezTo>
                <a:cubicBezTo>
                  <a:pt x="687809" y="874998"/>
                  <a:pt x="712477" y="824210"/>
                  <a:pt x="735694" y="766167"/>
                </a:cubicBezTo>
                <a:lnTo>
                  <a:pt x="748754" y="770520"/>
                </a:lnTo>
                <a:cubicBezTo>
                  <a:pt x="716830" y="854682"/>
                  <a:pt x="718281" y="908372"/>
                  <a:pt x="753107" y="931589"/>
                </a:cubicBezTo>
                <a:cubicBezTo>
                  <a:pt x="761814" y="937394"/>
                  <a:pt x="764716" y="941747"/>
                  <a:pt x="761814" y="944649"/>
                </a:cubicBezTo>
                <a:cubicBezTo>
                  <a:pt x="735694" y="1020105"/>
                  <a:pt x="690711" y="1056382"/>
                  <a:pt x="626864" y="1053480"/>
                </a:cubicBezTo>
                <a:cubicBezTo>
                  <a:pt x="539799" y="1062186"/>
                  <a:pt x="499169" y="1030262"/>
                  <a:pt x="504973" y="957709"/>
                </a:cubicBezTo>
                <a:lnTo>
                  <a:pt x="504973" y="792286"/>
                </a:lnTo>
                <a:cubicBezTo>
                  <a:pt x="458539" y="885155"/>
                  <a:pt x="358415" y="972220"/>
                  <a:pt x="204601" y="1053480"/>
                </a:cubicBezTo>
                <a:lnTo>
                  <a:pt x="200248" y="1040420"/>
                </a:lnTo>
                <a:cubicBezTo>
                  <a:pt x="385985" y="895313"/>
                  <a:pt x="478854" y="705222"/>
                  <a:pt x="478854" y="470148"/>
                </a:cubicBezTo>
                <a:close/>
                <a:moveTo>
                  <a:pt x="644277" y="0"/>
                </a:moveTo>
                <a:lnTo>
                  <a:pt x="766167" y="47885"/>
                </a:lnTo>
                <a:lnTo>
                  <a:pt x="726988" y="100124"/>
                </a:lnTo>
                <a:lnTo>
                  <a:pt x="726988" y="626864"/>
                </a:lnTo>
                <a:lnTo>
                  <a:pt x="605098" y="626864"/>
                </a:lnTo>
                <a:lnTo>
                  <a:pt x="605098" y="134950"/>
                </a:lnTo>
                <a:lnTo>
                  <a:pt x="452735" y="134950"/>
                </a:lnTo>
                <a:lnTo>
                  <a:pt x="452735" y="622511"/>
                </a:lnTo>
                <a:lnTo>
                  <a:pt x="335198" y="622511"/>
                </a:lnTo>
                <a:lnTo>
                  <a:pt x="330845" y="626864"/>
                </a:lnTo>
                <a:lnTo>
                  <a:pt x="330845" y="69651"/>
                </a:lnTo>
                <a:lnTo>
                  <a:pt x="300372" y="117537"/>
                </a:lnTo>
                <a:cubicBezTo>
                  <a:pt x="300372" y="280057"/>
                  <a:pt x="284410" y="415007"/>
                  <a:pt x="252487" y="522386"/>
                </a:cubicBezTo>
                <a:cubicBezTo>
                  <a:pt x="301823" y="618157"/>
                  <a:pt x="327942" y="703771"/>
                  <a:pt x="330845" y="779227"/>
                </a:cubicBezTo>
                <a:cubicBezTo>
                  <a:pt x="330845" y="837270"/>
                  <a:pt x="314883" y="872095"/>
                  <a:pt x="282959" y="883704"/>
                </a:cubicBezTo>
                <a:cubicBezTo>
                  <a:pt x="242329" y="889508"/>
                  <a:pt x="217661" y="866291"/>
                  <a:pt x="208954" y="814052"/>
                </a:cubicBezTo>
                <a:cubicBezTo>
                  <a:pt x="203150" y="767618"/>
                  <a:pt x="197346" y="726988"/>
                  <a:pt x="191541" y="692162"/>
                </a:cubicBezTo>
                <a:cubicBezTo>
                  <a:pt x="142205" y="790835"/>
                  <a:pt x="81260" y="869193"/>
                  <a:pt x="8706" y="927236"/>
                </a:cubicBezTo>
                <a:lnTo>
                  <a:pt x="0" y="922883"/>
                </a:lnTo>
                <a:cubicBezTo>
                  <a:pt x="63847" y="812601"/>
                  <a:pt x="111732" y="679102"/>
                  <a:pt x="143656" y="522386"/>
                </a:cubicBezTo>
                <a:cubicBezTo>
                  <a:pt x="120439" y="444028"/>
                  <a:pt x="87064" y="351160"/>
                  <a:pt x="43532" y="243780"/>
                </a:cubicBezTo>
                <a:cubicBezTo>
                  <a:pt x="40630" y="235074"/>
                  <a:pt x="37728" y="229269"/>
                  <a:pt x="34826" y="226367"/>
                </a:cubicBezTo>
                <a:lnTo>
                  <a:pt x="43532" y="217661"/>
                </a:lnTo>
                <a:cubicBezTo>
                  <a:pt x="84162" y="261193"/>
                  <a:pt x="126243" y="316334"/>
                  <a:pt x="169775" y="383083"/>
                </a:cubicBezTo>
                <a:cubicBezTo>
                  <a:pt x="181384" y="296019"/>
                  <a:pt x="187188" y="216210"/>
                  <a:pt x="187188" y="143656"/>
                </a:cubicBezTo>
                <a:lnTo>
                  <a:pt x="17413" y="143656"/>
                </a:lnTo>
                <a:lnTo>
                  <a:pt x="17413" y="65298"/>
                </a:lnTo>
                <a:lnTo>
                  <a:pt x="187188" y="65298"/>
                </a:lnTo>
                <a:lnTo>
                  <a:pt x="226367" y="13059"/>
                </a:lnTo>
                <a:lnTo>
                  <a:pt x="330845" y="56592"/>
                </a:lnTo>
                <a:lnTo>
                  <a:pt x="330845" y="8706"/>
                </a:lnTo>
                <a:lnTo>
                  <a:pt x="452735" y="8706"/>
                </a:lnTo>
                <a:lnTo>
                  <a:pt x="452735" y="56592"/>
                </a:lnTo>
                <a:lnTo>
                  <a:pt x="600744" y="56592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011511" y="2830973"/>
            <a:ext cx="757461" cy="1057833"/>
          </a:xfrm>
          <a:custGeom>
            <a:avLst/>
            <a:gdLst/>
            <a:ahLst/>
            <a:cxnLst/>
            <a:rect l="l" t="t" r="r" b="b"/>
            <a:pathLst>
              <a:path w="757461" h="1057833">
                <a:moveTo>
                  <a:pt x="252487" y="892410"/>
                </a:moveTo>
                <a:lnTo>
                  <a:pt x="252487" y="940296"/>
                </a:lnTo>
                <a:lnTo>
                  <a:pt x="531093" y="940296"/>
                </a:lnTo>
                <a:lnTo>
                  <a:pt x="531093" y="892410"/>
                </a:lnTo>
                <a:close/>
                <a:moveTo>
                  <a:pt x="252487" y="761814"/>
                </a:moveTo>
                <a:lnTo>
                  <a:pt x="252487" y="818406"/>
                </a:lnTo>
                <a:lnTo>
                  <a:pt x="531093" y="818406"/>
                </a:lnTo>
                <a:lnTo>
                  <a:pt x="531093" y="761814"/>
                </a:lnTo>
                <a:close/>
                <a:moveTo>
                  <a:pt x="252487" y="635570"/>
                </a:moveTo>
                <a:lnTo>
                  <a:pt x="252487" y="692162"/>
                </a:lnTo>
                <a:lnTo>
                  <a:pt x="531093" y="692162"/>
                </a:lnTo>
                <a:lnTo>
                  <a:pt x="531093" y="635570"/>
                </a:lnTo>
                <a:close/>
                <a:moveTo>
                  <a:pt x="565919" y="0"/>
                </a:moveTo>
                <a:lnTo>
                  <a:pt x="687809" y="100124"/>
                </a:lnTo>
                <a:cubicBezTo>
                  <a:pt x="609451" y="123341"/>
                  <a:pt x="525289" y="136401"/>
                  <a:pt x="435322" y="139303"/>
                </a:cubicBezTo>
                <a:cubicBezTo>
                  <a:pt x="435322" y="145107"/>
                  <a:pt x="433871" y="155265"/>
                  <a:pt x="430969" y="169775"/>
                </a:cubicBezTo>
                <a:cubicBezTo>
                  <a:pt x="428067" y="187188"/>
                  <a:pt x="425165" y="198797"/>
                  <a:pt x="422263" y="204601"/>
                </a:cubicBezTo>
                <a:lnTo>
                  <a:pt x="692163" y="204601"/>
                </a:lnTo>
                <a:lnTo>
                  <a:pt x="692163" y="282959"/>
                </a:lnTo>
                <a:lnTo>
                  <a:pt x="400497" y="282959"/>
                </a:lnTo>
                <a:cubicBezTo>
                  <a:pt x="397594" y="291666"/>
                  <a:pt x="391790" y="306176"/>
                  <a:pt x="383084" y="326491"/>
                </a:cubicBezTo>
                <a:cubicBezTo>
                  <a:pt x="374377" y="349709"/>
                  <a:pt x="368573" y="365670"/>
                  <a:pt x="365671" y="374377"/>
                </a:cubicBezTo>
                <a:lnTo>
                  <a:pt x="757461" y="374377"/>
                </a:lnTo>
                <a:lnTo>
                  <a:pt x="757461" y="448382"/>
                </a:lnTo>
                <a:lnTo>
                  <a:pt x="326492" y="448382"/>
                </a:lnTo>
                <a:cubicBezTo>
                  <a:pt x="300372" y="489012"/>
                  <a:pt x="271351" y="526740"/>
                  <a:pt x="239427" y="561565"/>
                </a:cubicBezTo>
                <a:lnTo>
                  <a:pt x="522387" y="561565"/>
                </a:lnTo>
                <a:lnTo>
                  <a:pt x="557213" y="509327"/>
                </a:lnTo>
                <a:lnTo>
                  <a:pt x="692163" y="548506"/>
                </a:lnTo>
                <a:lnTo>
                  <a:pt x="657337" y="600744"/>
                </a:lnTo>
                <a:lnTo>
                  <a:pt x="657337" y="1057833"/>
                </a:lnTo>
                <a:lnTo>
                  <a:pt x="531093" y="1057833"/>
                </a:lnTo>
                <a:lnTo>
                  <a:pt x="531093" y="1009947"/>
                </a:lnTo>
                <a:lnTo>
                  <a:pt x="252487" y="1009947"/>
                </a:lnTo>
                <a:lnTo>
                  <a:pt x="252487" y="1057833"/>
                </a:lnTo>
                <a:lnTo>
                  <a:pt x="126244" y="1057833"/>
                </a:lnTo>
                <a:lnTo>
                  <a:pt x="126244" y="661690"/>
                </a:lnTo>
                <a:cubicBezTo>
                  <a:pt x="120439" y="664592"/>
                  <a:pt x="110282" y="670396"/>
                  <a:pt x="95771" y="679102"/>
                </a:cubicBezTo>
                <a:cubicBezTo>
                  <a:pt x="63847" y="699418"/>
                  <a:pt x="33375" y="716830"/>
                  <a:pt x="4353" y="731341"/>
                </a:cubicBezTo>
                <a:lnTo>
                  <a:pt x="0" y="722635"/>
                </a:lnTo>
                <a:cubicBezTo>
                  <a:pt x="84162" y="635570"/>
                  <a:pt x="149461" y="544153"/>
                  <a:pt x="195895" y="448382"/>
                </a:cubicBezTo>
                <a:lnTo>
                  <a:pt x="8707" y="448382"/>
                </a:lnTo>
                <a:lnTo>
                  <a:pt x="8707" y="374377"/>
                </a:lnTo>
                <a:lnTo>
                  <a:pt x="230721" y="374377"/>
                </a:lnTo>
                <a:cubicBezTo>
                  <a:pt x="242330" y="342453"/>
                  <a:pt x="253938" y="311981"/>
                  <a:pt x="265547" y="282959"/>
                </a:cubicBezTo>
                <a:lnTo>
                  <a:pt x="74005" y="282959"/>
                </a:lnTo>
                <a:lnTo>
                  <a:pt x="74005" y="204601"/>
                </a:lnTo>
                <a:lnTo>
                  <a:pt x="287313" y="204601"/>
                </a:lnTo>
                <a:cubicBezTo>
                  <a:pt x="287313" y="198797"/>
                  <a:pt x="290215" y="184286"/>
                  <a:pt x="296019" y="161069"/>
                </a:cubicBezTo>
                <a:cubicBezTo>
                  <a:pt x="298921" y="152363"/>
                  <a:pt x="300372" y="145107"/>
                  <a:pt x="300372" y="139303"/>
                </a:cubicBezTo>
                <a:cubicBezTo>
                  <a:pt x="236525" y="136401"/>
                  <a:pt x="153814" y="124792"/>
                  <a:pt x="52239" y="104477"/>
                </a:cubicBezTo>
                <a:lnTo>
                  <a:pt x="52239" y="91417"/>
                </a:lnTo>
                <a:cubicBezTo>
                  <a:pt x="240878" y="82711"/>
                  <a:pt x="412105" y="52238"/>
                  <a:pt x="565919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U4YmNlNWMwMjlhM2UyZmExYjU5ZGZkYjU0MmU2OG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3996</Words>
  <Application>Microsoft Office PowerPoint</Application>
  <PresentationFormat>宽屏</PresentationFormat>
  <Paragraphs>626</Paragraphs>
  <Slides>54</Slides>
  <Notes>48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54</vt:i4>
      </vt:variant>
    </vt:vector>
  </HeadingPairs>
  <TitlesOfParts>
    <vt:vector size="75" baseType="lpstr">
      <vt:lpstr>方正美黑简体</vt:lpstr>
      <vt:lpstr>方正颜宋简体_中</vt:lpstr>
      <vt:lpstr>华文中宋</vt:lpstr>
      <vt:lpstr>楷体_GB2312</vt:lpstr>
      <vt:lpstr>宋体</vt:lpstr>
      <vt:lpstr>微软雅黑</vt:lpstr>
      <vt:lpstr>幼圆</vt:lpstr>
      <vt:lpstr>Arial</vt:lpstr>
      <vt:lpstr>Bauhaus 93</vt:lpstr>
      <vt:lpstr>Calibri</vt:lpstr>
      <vt:lpstr>Calibri Light</vt:lpstr>
      <vt:lpstr>Segoe UI Black</vt:lpstr>
      <vt:lpstr>Symbol</vt:lpstr>
      <vt:lpstr>Tahoma</vt:lpstr>
      <vt:lpstr>Times New Roman</vt:lpstr>
      <vt:lpstr>Wingdings</vt:lpstr>
      <vt:lpstr>Office 主题</vt:lpstr>
      <vt:lpstr>Visio</vt:lpstr>
      <vt:lpstr>文档</vt:lpstr>
      <vt:lpstr>公式</vt:lpstr>
      <vt:lpstr>Equation</vt:lpstr>
      <vt:lpstr>PowerPoint 演示文稿</vt:lpstr>
      <vt:lpstr>PowerPoint 演示文稿</vt:lpstr>
      <vt:lpstr>PowerPoint 演示文稿</vt:lpstr>
      <vt:lpstr>11.4.1散列函数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11.4.1常见的散列函数</vt:lpstr>
      <vt:lpstr>散列函数</vt:lpstr>
      <vt:lpstr>散列函数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11.4.2冲突处理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11.4.3 散列表查找算法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11.4.4 查找性能分析</vt:lpstr>
      <vt:lpstr>PowerPoint 演示文稿</vt:lpstr>
      <vt:lpstr>PowerPoint 演示文稿</vt:lpstr>
      <vt:lpstr>PowerPoint 演示文稿</vt:lpstr>
      <vt:lpstr>11.4.5分布式散列表</vt:lpstr>
      <vt:lpstr>11.4.6  作业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think</cp:lastModifiedBy>
  <cp:revision>257</cp:revision>
  <dcterms:created xsi:type="dcterms:W3CDTF">2023-07-28T08:56:00Z</dcterms:created>
  <dcterms:modified xsi:type="dcterms:W3CDTF">2023-08-14T15:51:24Z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E456A48CC34F4B5B84FF1D304CE39A82_13</vt:lpwstr>
  </property>
  <property fmtid="{D5CDD505-2E9C-101B-9397-08002B2CF9AE}" pid="3" name="KSOProductBuildVer">
    <vt:lpwstr>2052-12.1.0.15120</vt:lpwstr>
  </property>
</Properties>
</file>