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62"/>
  </p:notesMasterIdLst>
  <p:handoutMasterIdLst>
    <p:handoutMasterId r:id="rId63"/>
  </p:handoutMasterIdLst>
  <p:sldIdLst>
    <p:sldId id="556" r:id="rId2"/>
    <p:sldId id="378" r:id="rId3"/>
    <p:sldId id="409" r:id="rId4"/>
    <p:sldId id="382" r:id="rId5"/>
    <p:sldId id="432" r:id="rId6"/>
    <p:sldId id="433" r:id="rId7"/>
    <p:sldId id="527" r:id="rId8"/>
    <p:sldId id="434" r:id="rId9"/>
    <p:sldId id="444" r:id="rId10"/>
    <p:sldId id="528" r:id="rId11"/>
    <p:sldId id="529" r:id="rId12"/>
    <p:sldId id="450" r:id="rId13"/>
    <p:sldId id="451" r:id="rId14"/>
    <p:sldId id="453" r:id="rId15"/>
    <p:sldId id="530" r:id="rId16"/>
    <p:sldId id="531" r:id="rId17"/>
    <p:sldId id="457" r:id="rId18"/>
    <p:sldId id="532" r:id="rId19"/>
    <p:sldId id="533" r:id="rId20"/>
    <p:sldId id="463" r:id="rId21"/>
    <p:sldId id="464" r:id="rId22"/>
    <p:sldId id="465" r:id="rId23"/>
    <p:sldId id="534" r:id="rId24"/>
    <p:sldId id="535" r:id="rId25"/>
    <p:sldId id="536" r:id="rId26"/>
    <p:sldId id="537" r:id="rId27"/>
    <p:sldId id="538" r:id="rId28"/>
    <p:sldId id="539" r:id="rId29"/>
    <p:sldId id="540" r:id="rId30"/>
    <p:sldId id="483" r:id="rId31"/>
    <p:sldId id="484" r:id="rId32"/>
    <p:sldId id="485" r:id="rId33"/>
    <p:sldId id="486" r:id="rId34"/>
    <p:sldId id="487" r:id="rId35"/>
    <p:sldId id="541" r:id="rId36"/>
    <p:sldId id="489" r:id="rId37"/>
    <p:sldId id="542" r:id="rId38"/>
    <p:sldId id="543" r:id="rId39"/>
    <p:sldId id="544" r:id="rId40"/>
    <p:sldId id="497" r:id="rId41"/>
    <p:sldId id="498" r:id="rId42"/>
    <p:sldId id="499" r:id="rId43"/>
    <p:sldId id="501" r:id="rId44"/>
    <p:sldId id="502" r:id="rId45"/>
    <p:sldId id="503" r:id="rId46"/>
    <p:sldId id="545" r:id="rId47"/>
    <p:sldId id="546" r:id="rId48"/>
    <p:sldId id="515" r:id="rId49"/>
    <p:sldId id="516" r:id="rId50"/>
    <p:sldId id="547" r:id="rId51"/>
    <p:sldId id="519" r:id="rId52"/>
    <p:sldId id="549" r:id="rId53"/>
    <p:sldId id="550" r:id="rId54"/>
    <p:sldId id="523" r:id="rId55"/>
    <p:sldId id="524" r:id="rId56"/>
    <p:sldId id="551" r:id="rId57"/>
    <p:sldId id="552" r:id="rId58"/>
    <p:sldId id="553" r:id="rId59"/>
    <p:sldId id="554" r:id="rId60"/>
    <p:sldId id="555" r:id="rId61"/>
  </p:sldIdLst>
  <p:sldSz cx="12192000" cy="6858000"/>
  <p:notesSz cx="6761163" cy="99425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" userDrawn="1">
          <p15:clr>
            <a:srgbClr val="A4A3A4"/>
          </p15:clr>
        </p15:guide>
        <p15:guide id="2" pos="3136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488" userDrawn="1">
          <p15:clr>
            <a:srgbClr val="A4A3A4"/>
          </p15:clr>
        </p15:guide>
        <p15:guide id="5" pos="760" userDrawn="1">
          <p15:clr>
            <a:srgbClr val="A4A3A4"/>
          </p15:clr>
        </p15:guide>
        <p15:guide id="6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3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00FF"/>
    <a:srgbClr val="FF0000"/>
    <a:srgbClr val="CC0000"/>
    <a:srgbClr val="E36C0A"/>
    <a:srgbClr val="B2B2B2"/>
    <a:srgbClr val="EAEAEA"/>
    <a:srgbClr val="C0C0C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55" autoAdjust="0"/>
  </p:normalViewPr>
  <p:slideViewPr>
    <p:cSldViewPr snapToGrid="0">
      <p:cViewPr varScale="1">
        <p:scale>
          <a:sx n="120" d="100"/>
          <a:sy n="120" d="100"/>
        </p:scale>
        <p:origin x="174" y="102"/>
      </p:cViewPr>
      <p:guideLst>
        <p:guide orient="horz" pos="144"/>
        <p:guide pos="3136"/>
        <p:guide pos="192"/>
        <p:guide pos="7488"/>
        <p:guide pos="7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2" y="-78"/>
      </p:cViewPr>
      <p:guideLst>
        <p:guide orient="horz" pos="3132"/>
        <p:guide pos="21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7" Type="http://schemas.openxmlformats.org/officeDocument/2006/relationships/image" Target="../media/image11.wmf"/><Relationship Id="rId2" Type="http://schemas.openxmlformats.org/officeDocument/2006/relationships/image" Target="../media/image13.emf"/><Relationship Id="rId1" Type="http://schemas.openxmlformats.org/officeDocument/2006/relationships/image" Target="../media/image12.emf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1.wmf"/><Relationship Id="rId1" Type="http://schemas.openxmlformats.org/officeDocument/2006/relationships/image" Target="../media/image1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image" Target="../media/image29.emf"/><Relationship Id="rId7" Type="http://schemas.openxmlformats.org/officeDocument/2006/relationships/image" Target="../media/image33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Relationship Id="rId6" Type="http://schemas.openxmlformats.org/officeDocument/2006/relationships/image" Target="../media/image32.emf"/><Relationship Id="rId5" Type="http://schemas.openxmlformats.org/officeDocument/2006/relationships/image" Target="../media/image31.emf"/><Relationship Id="rId10" Type="http://schemas.openxmlformats.org/officeDocument/2006/relationships/image" Target="../media/image36.emf"/><Relationship Id="rId4" Type="http://schemas.openxmlformats.org/officeDocument/2006/relationships/image" Target="../media/image30.emf"/><Relationship Id="rId9" Type="http://schemas.openxmlformats.org/officeDocument/2006/relationships/image" Target="../media/image35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53.emf"/><Relationship Id="rId1" Type="http://schemas.openxmlformats.org/officeDocument/2006/relationships/image" Target="../media/image52.emf"/><Relationship Id="rId4" Type="http://schemas.openxmlformats.org/officeDocument/2006/relationships/image" Target="../media/image55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image" Target="../media/image58.emf"/><Relationship Id="rId7" Type="http://schemas.openxmlformats.org/officeDocument/2006/relationships/image" Target="../media/image62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Relationship Id="rId6" Type="http://schemas.openxmlformats.org/officeDocument/2006/relationships/image" Target="../media/image61.emf"/><Relationship Id="rId5" Type="http://schemas.openxmlformats.org/officeDocument/2006/relationships/image" Target="../media/image60.emf"/><Relationship Id="rId4" Type="http://schemas.openxmlformats.org/officeDocument/2006/relationships/image" Target="../media/image59.emf"/><Relationship Id="rId9" Type="http://schemas.openxmlformats.org/officeDocument/2006/relationships/image" Target="../media/image64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3" Type="http://schemas.openxmlformats.org/officeDocument/2006/relationships/image" Target="../media/image67.emf"/><Relationship Id="rId7" Type="http://schemas.openxmlformats.org/officeDocument/2006/relationships/image" Target="../media/image71.emf"/><Relationship Id="rId2" Type="http://schemas.openxmlformats.org/officeDocument/2006/relationships/image" Target="../media/image66.emf"/><Relationship Id="rId1" Type="http://schemas.openxmlformats.org/officeDocument/2006/relationships/image" Target="../media/image65.emf"/><Relationship Id="rId6" Type="http://schemas.openxmlformats.org/officeDocument/2006/relationships/image" Target="../media/image70.emf"/><Relationship Id="rId5" Type="http://schemas.openxmlformats.org/officeDocument/2006/relationships/image" Target="../media/image69.emf"/><Relationship Id="rId4" Type="http://schemas.openxmlformats.org/officeDocument/2006/relationships/image" Target="../media/image68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3" Type="http://schemas.openxmlformats.org/officeDocument/2006/relationships/image" Target="../media/image75.emf"/><Relationship Id="rId7" Type="http://schemas.openxmlformats.org/officeDocument/2006/relationships/image" Target="../media/image79.emf"/><Relationship Id="rId2" Type="http://schemas.openxmlformats.org/officeDocument/2006/relationships/image" Target="../media/image74.emf"/><Relationship Id="rId1" Type="http://schemas.openxmlformats.org/officeDocument/2006/relationships/image" Target="../media/image73.emf"/><Relationship Id="rId6" Type="http://schemas.openxmlformats.org/officeDocument/2006/relationships/image" Target="../media/image78.emf"/><Relationship Id="rId5" Type="http://schemas.openxmlformats.org/officeDocument/2006/relationships/image" Target="../media/image77.emf"/><Relationship Id="rId4" Type="http://schemas.openxmlformats.org/officeDocument/2006/relationships/image" Target="../media/image76.emf"/><Relationship Id="rId9" Type="http://schemas.openxmlformats.org/officeDocument/2006/relationships/image" Target="../media/image11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image" Target="../media/image81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image" Target="../media/image86.emf"/><Relationship Id="rId7" Type="http://schemas.openxmlformats.org/officeDocument/2006/relationships/image" Target="../media/image90.emf"/><Relationship Id="rId2" Type="http://schemas.openxmlformats.org/officeDocument/2006/relationships/image" Target="../media/image85.emf"/><Relationship Id="rId1" Type="http://schemas.openxmlformats.org/officeDocument/2006/relationships/image" Target="../media/image84.emf"/><Relationship Id="rId6" Type="http://schemas.openxmlformats.org/officeDocument/2006/relationships/image" Target="../media/image89.emf"/><Relationship Id="rId5" Type="http://schemas.openxmlformats.org/officeDocument/2006/relationships/image" Target="../media/image88.emf"/><Relationship Id="rId4" Type="http://schemas.openxmlformats.org/officeDocument/2006/relationships/image" Target="../media/image87.emf"/><Relationship Id="rId9" Type="http://schemas.openxmlformats.org/officeDocument/2006/relationships/image" Target="../media/image92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image" Target="../media/image9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9050" y="0"/>
            <a:ext cx="293052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14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4038"/>
            <a:ext cx="293052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14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9050" y="9444038"/>
            <a:ext cx="293052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8A152588-ADA2-42A7-BC38-B5E84A2A14E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10000"/>
              </a:lnSpc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30638" y="0"/>
            <a:ext cx="2930525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110000"/>
              </a:lnSpc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83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8263" y="746125"/>
            <a:ext cx="6624637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1700" y="4722813"/>
            <a:ext cx="4957763" cy="1144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39313"/>
            <a:ext cx="2930525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10000"/>
              </a:lnSpc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0638" y="9739313"/>
            <a:ext cx="2930525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110000"/>
              </a:lnSpc>
              <a:defRPr kumimoji="1" sz="1200">
                <a:latin typeface="Times New Roman" panose="02020603050405020304" pitchFamily="18" charset="0"/>
              </a:defRPr>
            </a:lvl1pPr>
          </a:lstStyle>
          <a:p>
            <a:fld id="{11C57A33-0178-492B-88DE-D38D47535F3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5756365" y="0"/>
            <a:ext cx="992777" cy="3048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6F45B-D0B4-4F96-B167-CB2F7FDE1854}" type="datetime11">
              <a:rPr lang="zh-CN" altLang="en-US" smtClean="0"/>
              <a:t>15:29:47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5CAD8-E8FB-4CF7-A8A9-F1C02A2D48F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3118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39EF64-8CC2-4DF1-9149-412A879741E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0560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A77D26-9DB5-4531-93CB-749A6FF6EE5A}" type="datetime11">
              <a:rPr lang="zh-CN" altLang="en-US" smtClean="0"/>
              <a:t>15:29:47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1E4DA-5E49-4E3F-BA29-DD7EAC055D6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17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5721531" y="0"/>
            <a:ext cx="923109" cy="303621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F5C28A-C0C9-4823-B83E-E044DE2FADA9}" type="datetime11">
              <a:rPr lang="zh-CN" altLang="en-US" smtClean="0"/>
              <a:t>15:29:47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DF58BC-9DEC-44A9-A921-32E0E50F26A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" name="矩形 7"/>
          <p:cNvSpPr/>
          <p:nvPr userDrawn="1"/>
        </p:nvSpPr>
        <p:spPr>
          <a:xfrm>
            <a:off x="9503335" y="-32856"/>
            <a:ext cx="1928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 smtClean="0">
                <a:solidFill>
                  <a:schemeClr val="accent2"/>
                </a:solidFill>
                <a:ea typeface="黑体" panose="02010609060101010101" pitchFamily="49" charset="-122"/>
              </a:rPr>
              <a:t>第七章  微分方程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0094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2F7A5-11EA-494D-B65F-DAED7366AFC4}" type="datetime11">
              <a:rPr lang="zh-CN" altLang="en-US" smtClean="0"/>
              <a:t>15:29:47</a:t>
            </a:fld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826B6A-24EF-4CA8-94A7-DA6CD7719EB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8160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87495-FE47-4543-9216-C2639CA1DDBC}" type="datetime11">
              <a:rPr lang="zh-CN" altLang="en-US" smtClean="0"/>
              <a:t>15:29:47</a:t>
            </a:fld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AE4E16-24FE-4C7D-ACDF-48BD2D08A8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8954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7293EE-6BFD-4799-9936-315F9E115469}" type="datetime11">
              <a:rPr lang="zh-CN" altLang="en-US" smtClean="0"/>
              <a:t>15:29:47</a:t>
            </a:fld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38ACDF-49A7-47DE-98BD-562DAF88223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2961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BE4C2-89B1-4A80-AFC8-6082D33C23A9}" type="datetime11">
              <a:rPr lang="zh-CN" altLang="en-US" smtClean="0"/>
              <a:t>15:29:47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BB2D3-28F4-4D0E-939C-7C170B1115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358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A20D9B-BADA-4E58-ABAF-BD08297E431A}" type="datetime11">
              <a:rPr lang="zh-CN" altLang="en-US" smtClean="0"/>
              <a:t>15:29:47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86ADAE-BDEC-443F-AAD4-0785E086092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869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E4728F-9AAB-4658-A6D9-850E9533471F}" type="datetime11">
              <a:rPr lang="zh-CN" altLang="en-US" smtClean="0"/>
              <a:t>15:29:47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CE368D-DFB1-4B17-B3BA-421977FC6DA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4758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E51070-61D7-42D9-8AFB-03F8684A6DC7}" type="datetime11">
              <a:rPr lang="zh-CN" altLang="en-US" smtClean="0"/>
              <a:t>15:29:47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10B4-EAE6-44E0-A9D5-A193649A6A8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1250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F29E6D-C38C-48BA-ADF2-AD216BB7F747}" type="datetime11">
              <a:rPr lang="zh-CN" altLang="en-US" smtClean="0"/>
              <a:t>15:29:47</a:t>
            </a:fld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EFBEDB-429B-43EA-B98D-573CC86DEF6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6407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6000"/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5498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fld id="{64788F7C-CA3B-4D18-8315-61E7A5A0041F}" type="datetime11">
              <a:rPr lang="zh-CN" altLang="en-US" smtClean="0"/>
              <a:t>15:29:47</a:t>
            </a:fld>
            <a:endParaRPr lang="en-US" altLang="zh-CN"/>
          </a:p>
        </p:txBody>
      </p:sp>
      <p:sp>
        <p:nvSpPr>
          <p:cNvPr id="25498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498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8B6C6D8-502D-46B2-8172-D285533104E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34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emf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69.png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9" Type="http://schemas.openxmlformats.org/officeDocument/2006/relationships/image" Target="../media/image19.png"/><Relationship Id="rId3" Type="http://schemas.openxmlformats.org/officeDocument/2006/relationships/image" Target="../media/image12.png"/><Relationship Id="rId34" Type="http://schemas.openxmlformats.org/officeDocument/2006/relationships/image" Target="../media/image14.png"/><Relationship Id="rId33" Type="http://schemas.openxmlformats.org/officeDocument/2006/relationships/image" Target="../media/image564.png"/><Relationship Id="rId38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37" Type="http://schemas.openxmlformats.org/officeDocument/2006/relationships/image" Target="../media/image17.png"/><Relationship Id="rId36" Type="http://schemas.openxmlformats.org/officeDocument/2006/relationships/image" Target="../media/image16.png"/><Relationship Id="rId4" Type="http://schemas.openxmlformats.org/officeDocument/2006/relationships/image" Target="../media/image13.png"/><Relationship Id="rId35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17" Type="http://schemas.openxmlformats.org/officeDocument/2006/relationships/image" Target="../media/image26.png"/><Relationship Id="rId16" Type="http://schemas.openxmlformats.org/officeDocument/2006/relationships/image" Target="../media/image25.png"/><Relationship Id="rId29" Type="http://schemas.openxmlformats.org/officeDocument/2006/relationships/image" Target="../media/image592.png"/><Relationship Id="rId1" Type="http://schemas.openxmlformats.org/officeDocument/2006/relationships/slideLayout" Target="../slideLayouts/slideLayout4.xml"/><Relationship Id="rId15" Type="http://schemas.openxmlformats.org/officeDocument/2006/relationships/image" Target="../media/image580.png"/><Relationship Id="rId28" Type="http://schemas.openxmlformats.org/officeDocument/2006/relationships/image" Target="../media/image591.png"/><Relationship Id="rId31" Type="http://schemas.openxmlformats.org/officeDocument/2006/relationships/image" Target="../media/image594.png"/><Relationship Id="rId30" Type="http://schemas.openxmlformats.org/officeDocument/2006/relationships/image" Target="../media/image593.png"/></Relationships>
</file>

<file path=ppt/slides/_rels/slide10.xml.rels><?xml version="1.0" encoding="UTF-8" standalone="yes"?>
<Relationships xmlns="http://schemas.openxmlformats.org/package/2006/relationships"><Relationship Id="rId12" Type="http://schemas.openxmlformats.org/officeDocument/2006/relationships/image" Target="../media/image60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8.png"/><Relationship Id="rId11" Type="http://schemas.openxmlformats.org/officeDocument/2006/relationships/image" Target="../media/image601.png"/><Relationship Id="rId5" Type="http://schemas.openxmlformats.org/officeDocument/2006/relationships/image" Target="../media/image597.png"/><Relationship Id="rId10" Type="http://schemas.openxmlformats.org/officeDocument/2006/relationships/image" Target="../media/image600.png"/><Relationship Id="rId4" Type="http://schemas.openxmlformats.org/officeDocument/2006/relationships/image" Target="../media/image59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9.png"/><Relationship Id="rId12" Type="http://schemas.openxmlformats.org/officeDocument/2006/relationships/image" Target="../media/image613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612.png"/><Relationship Id="rId5" Type="http://schemas.openxmlformats.org/officeDocument/2006/relationships/image" Target="../media/image606.png"/><Relationship Id="rId10" Type="http://schemas.openxmlformats.org/officeDocument/2006/relationships/image" Target="../media/image611.png"/><Relationship Id="rId4" Type="http://schemas.openxmlformats.org/officeDocument/2006/relationships/image" Target="../media/image605.png"/><Relationship Id="rId9" Type="http://schemas.openxmlformats.org/officeDocument/2006/relationships/image" Target="../media/image6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29.png"/><Relationship Id="rId3" Type="http://schemas.openxmlformats.org/officeDocument/2006/relationships/oleObject" Target="../embeddings/oleObject7.bin"/><Relationship Id="rId21" Type="http://schemas.openxmlformats.org/officeDocument/2006/relationships/image" Target="../media/image32.png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6.emf"/><Relationship Id="rId17" Type="http://schemas.openxmlformats.org/officeDocument/2006/relationships/image" Target="../media/image11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3.bin"/><Relationship Id="rId20" Type="http://schemas.openxmlformats.org/officeDocument/2006/relationships/image" Target="../media/image31.png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e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image" Target="../media/image28.png"/><Relationship Id="rId23" Type="http://schemas.openxmlformats.org/officeDocument/2006/relationships/image" Target="../media/image34.png"/><Relationship Id="rId10" Type="http://schemas.openxmlformats.org/officeDocument/2006/relationships/image" Target="../media/image15.emf"/><Relationship Id="rId19" Type="http://schemas.openxmlformats.org/officeDocument/2006/relationships/image" Target="../media/image30.png"/><Relationship Id="rId4" Type="http://schemas.openxmlformats.org/officeDocument/2006/relationships/image" Target="../media/image12.e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7.emf"/><Relationship Id="rId22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9" Type="http://schemas.openxmlformats.org/officeDocument/2006/relationships/image" Target="../media/image61.png"/><Relationship Id="rId34" Type="http://schemas.openxmlformats.org/officeDocument/2006/relationships/image" Target="../media/image18.png"/><Relationship Id="rId42" Type="http://schemas.openxmlformats.org/officeDocument/2006/relationships/image" Target="../media/image64.png"/><Relationship Id="rId33" Type="http://schemas.openxmlformats.org/officeDocument/2006/relationships/image" Target="../media/image564.png"/><Relationship Id="rId38" Type="http://schemas.openxmlformats.org/officeDocument/2006/relationships/image" Target="../media/image60.png"/><Relationship Id="rId41" Type="http://schemas.openxmlformats.org/officeDocument/2006/relationships/image" Target="../media/image63.png"/><Relationship Id="rId1" Type="http://schemas.openxmlformats.org/officeDocument/2006/relationships/slideLayout" Target="../slideLayouts/slideLayout4.xml"/><Relationship Id="rId37" Type="http://schemas.openxmlformats.org/officeDocument/2006/relationships/image" Target="../media/image59.png"/><Relationship Id="rId40" Type="http://schemas.openxmlformats.org/officeDocument/2006/relationships/image" Target="../media/image62.png"/><Relationship Id="rId36" Type="http://schemas.openxmlformats.org/officeDocument/2006/relationships/image" Target="../media/image58.png"/><Relationship Id="rId35" Type="http://schemas.openxmlformats.org/officeDocument/2006/relationships/image" Target="../media/image57.png"/><Relationship Id="rId43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71.png"/><Relationship Id="rId3" Type="http://schemas.openxmlformats.org/officeDocument/2006/relationships/oleObject" Target="../embeddings/oleObject14.bin"/><Relationship Id="rId7" Type="http://schemas.openxmlformats.org/officeDocument/2006/relationships/image" Target="../media/image68.png"/><Relationship Id="rId12" Type="http://schemas.openxmlformats.org/officeDocument/2006/relationships/image" Target="../media/image19.wmf"/><Relationship Id="rId17" Type="http://schemas.openxmlformats.org/officeDocument/2006/relationships/image" Target="../media/image74.pn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73.png"/><Relationship Id="rId1" Type="http://schemas.openxmlformats.org/officeDocument/2006/relationships/vmlDrawing" Target="../drawings/vmlDrawing7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5.bin"/><Relationship Id="rId15" Type="http://schemas.openxmlformats.org/officeDocument/2006/relationships/image" Target="../media/image72.png"/><Relationship Id="rId10" Type="http://schemas.openxmlformats.org/officeDocument/2006/relationships/image" Target="../media/image70.png"/><Relationship Id="rId4" Type="http://schemas.openxmlformats.org/officeDocument/2006/relationships/image" Target="../media/image18.emf"/><Relationship Id="rId9" Type="http://schemas.openxmlformats.org/officeDocument/2006/relationships/image" Target="../media/image69.png"/><Relationship Id="rId14" Type="http://schemas.openxmlformats.org/officeDocument/2006/relationships/oleObject" Target="../embeddings/oleObject1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67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6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11.wmf"/><Relationship Id="rId17" Type="http://schemas.openxmlformats.org/officeDocument/2006/relationships/image" Target="../media/image100.pn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99.png"/><Relationship Id="rId1" Type="http://schemas.openxmlformats.org/officeDocument/2006/relationships/vmlDrawing" Target="../drawings/vmlDrawing8.vml"/><Relationship Id="rId6" Type="http://schemas.openxmlformats.org/officeDocument/2006/relationships/image" Target="../media/image91.png"/><Relationship Id="rId11" Type="http://schemas.openxmlformats.org/officeDocument/2006/relationships/oleObject" Target="../embeddings/oleObject19.bin"/><Relationship Id="rId5" Type="http://schemas.openxmlformats.org/officeDocument/2006/relationships/image" Target="../media/image90.png"/><Relationship Id="rId15" Type="http://schemas.openxmlformats.org/officeDocument/2006/relationships/image" Target="../media/image98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102.png"/><Relationship Id="rId7" Type="http://schemas.openxmlformats.org/officeDocument/2006/relationships/image" Target="../media/image24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Relationship Id="rId9" Type="http://schemas.openxmlformats.org/officeDocument/2006/relationships/image" Target="../media/image2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6.emf"/><Relationship Id="rId11" Type="http://schemas.openxmlformats.org/officeDocument/2006/relationships/image" Target="../media/image113.png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112.png"/><Relationship Id="rId4" Type="http://schemas.openxmlformats.org/officeDocument/2006/relationships/image" Target="../media/image25.emf"/><Relationship Id="rId9" Type="http://schemas.openxmlformats.org/officeDocument/2006/relationships/image" Target="../media/image111.png"/><Relationship Id="rId14" Type="http://schemas.openxmlformats.org/officeDocument/2006/relationships/image" Target="../media/image11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660.pn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5" Type="http://schemas.openxmlformats.org/officeDocument/2006/relationships/image" Target="../media/image117.png"/><Relationship Id="rId10" Type="http://schemas.openxmlformats.org/officeDocument/2006/relationships/image" Target="../media/image122.png"/><Relationship Id="rId4" Type="http://schemas.openxmlformats.org/officeDocument/2006/relationships/image" Target="../media/image11.wmf"/><Relationship Id="rId9" Type="http://schemas.openxmlformats.org/officeDocument/2006/relationships/image" Target="../media/image12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670.png"/><Relationship Id="rId7" Type="http://schemas.openxmlformats.org/officeDocument/2006/relationships/image" Target="../media/image105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4.png"/><Relationship Id="rId11" Type="http://schemas.openxmlformats.org/officeDocument/2006/relationships/image" Target="../media/image134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101.png"/><Relationship Id="rId9" Type="http://schemas.openxmlformats.org/officeDocument/2006/relationships/image" Target="../media/image10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7" Type="http://schemas.openxmlformats.org/officeDocument/2006/relationships/image" Target="../media/image126.png"/><Relationship Id="rId2" Type="http://schemas.openxmlformats.org/officeDocument/2006/relationships/image" Target="../media/image135.png"/><Relationship Id="rId16" Type="http://schemas.openxmlformats.org/officeDocument/2006/relationships/image" Target="../media/image14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5" Type="http://schemas.openxmlformats.org/officeDocument/2006/relationships/image" Target="../media/image138.png"/><Relationship Id="rId15" Type="http://schemas.openxmlformats.org/officeDocument/2006/relationships/image" Target="../media/image125.png"/><Relationship Id="rId10" Type="http://schemas.openxmlformats.org/officeDocument/2006/relationships/image" Target="../media/image143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6.png"/><Relationship Id="rId11" Type="http://schemas.openxmlformats.org/officeDocument/2006/relationships/image" Target="../media/image161.png"/><Relationship Id="rId5" Type="http://schemas.openxmlformats.org/officeDocument/2006/relationships/image" Target="../media/image155.png"/><Relationship Id="rId10" Type="http://schemas.openxmlformats.org/officeDocument/2006/relationships/image" Target="../media/image160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Relationship Id="rId9" Type="http://schemas.openxmlformats.org/officeDocument/2006/relationships/image" Target="../media/image16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70.png"/><Relationship Id="rId7" Type="http://schemas.openxmlformats.org/officeDocument/2006/relationships/image" Target="../media/image172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71.png"/><Relationship Id="rId5" Type="http://schemas.openxmlformats.org/officeDocument/2006/relationships/image" Target="../media/image11.wmf"/><Relationship Id="rId4" Type="http://schemas.openxmlformats.org/officeDocument/2006/relationships/oleObject" Target="../embeddings/oleObject2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7" Type="http://schemas.openxmlformats.org/officeDocument/2006/relationships/image" Target="../media/image179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4.emf"/><Relationship Id="rId3" Type="http://schemas.openxmlformats.org/officeDocument/2006/relationships/oleObject" Target="../embeddings/oleObject25.bin"/><Relationship Id="rId21" Type="http://schemas.openxmlformats.org/officeDocument/2006/relationships/oleObject" Target="../embeddings/oleObject34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1.emf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33.emf"/><Relationship Id="rId20" Type="http://schemas.openxmlformats.org/officeDocument/2006/relationships/image" Target="../media/image35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8.e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30.e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27.e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2.emf"/><Relationship Id="rId22" Type="http://schemas.openxmlformats.org/officeDocument/2006/relationships/image" Target="../media/image36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3" Type="http://schemas.openxmlformats.org/officeDocument/2006/relationships/slide" Target="slide15.xml"/><Relationship Id="rId7" Type="http://schemas.openxmlformats.org/officeDocument/2006/relationships/slide" Target="slide2.xml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4.xml"/><Relationship Id="rId6" Type="http://schemas.openxmlformats.org/officeDocument/2006/relationships/slide" Target="slide2.xml"/><Relationship Id="rId5" Type="http://schemas.openxmlformats.org/officeDocument/2006/relationships/image" Target="../media/image191.png"/><Relationship Id="rId4" Type="http://schemas.openxmlformats.org/officeDocument/2006/relationships/slide" Target="slide1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3" Type="http://schemas.openxmlformats.org/officeDocument/2006/relationships/image" Target="../media/image38.emf"/><Relationship Id="rId7" Type="http://schemas.openxmlformats.org/officeDocument/2006/relationships/image" Target="../media/image42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emf"/><Relationship Id="rId5" Type="http://schemas.openxmlformats.org/officeDocument/2006/relationships/image" Target="../media/image40.emf"/><Relationship Id="rId4" Type="http://schemas.openxmlformats.org/officeDocument/2006/relationships/image" Target="../media/image39.emf"/><Relationship Id="rId9" Type="http://schemas.openxmlformats.org/officeDocument/2006/relationships/image" Target="../media/image20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13" Type="http://schemas.openxmlformats.org/officeDocument/2006/relationships/oleObject" Target="../embeddings/oleObject40.bin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7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4.e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image" Target="../media/image207.png"/><Relationship Id="rId10" Type="http://schemas.openxmlformats.org/officeDocument/2006/relationships/image" Target="../media/image46.emf"/><Relationship Id="rId4" Type="http://schemas.openxmlformats.org/officeDocument/2006/relationships/image" Target="../media/image43.e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8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3" Type="http://schemas.openxmlformats.org/officeDocument/2006/relationships/image" Target="../media/image209.png"/><Relationship Id="rId7" Type="http://schemas.openxmlformats.org/officeDocument/2006/relationships/image" Target="../media/image213.png"/><Relationship Id="rId12" Type="http://schemas.openxmlformats.org/officeDocument/2006/relationships/image" Target="../media/image218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2.png"/><Relationship Id="rId11" Type="http://schemas.openxmlformats.org/officeDocument/2006/relationships/image" Target="../media/image217.png"/><Relationship Id="rId5" Type="http://schemas.openxmlformats.org/officeDocument/2006/relationships/image" Target="../media/image211.png"/><Relationship Id="rId10" Type="http://schemas.openxmlformats.org/officeDocument/2006/relationships/image" Target="../media/image216.png"/><Relationship Id="rId4" Type="http://schemas.openxmlformats.org/officeDocument/2006/relationships/image" Target="../media/image210.png"/><Relationship Id="rId9" Type="http://schemas.openxmlformats.org/officeDocument/2006/relationships/image" Target="../media/image21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222.png"/><Relationship Id="rId7" Type="http://schemas.openxmlformats.org/officeDocument/2006/relationships/image" Target="../media/image49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51.emf"/><Relationship Id="rId5" Type="http://schemas.openxmlformats.org/officeDocument/2006/relationships/image" Target="../media/image224.png"/><Relationship Id="rId10" Type="http://schemas.openxmlformats.org/officeDocument/2006/relationships/oleObject" Target="../embeddings/oleObject43.bin"/><Relationship Id="rId4" Type="http://schemas.openxmlformats.org/officeDocument/2006/relationships/image" Target="../media/image223.png"/><Relationship Id="rId9" Type="http://schemas.openxmlformats.org/officeDocument/2006/relationships/image" Target="../media/image50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7" Type="http://schemas.openxmlformats.org/officeDocument/2006/relationships/image" Target="../media/image230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9.png"/><Relationship Id="rId5" Type="http://schemas.openxmlformats.org/officeDocument/2006/relationships/image" Target="../media/image228.png"/><Relationship Id="rId4" Type="http://schemas.openxmlformats.org/officeDocument/2006/relationships/image" Target="../media/image22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13" Type="http://schemas.openxmlformats.org/officeDocument/2006/relationships/image" Target="../media/image128.png"/><Relationship Id="rId3" Type="http://schemas.openxmlformats.org/officeDocument/2006/relationships/image" Target="../media/image232.png"/><Relationship Id="rId7" Type="http://schemas.openxmlformats.org/officeDocument/2006/relationships/image" Target="../media/image236.png"/><Relationship Id="rId12" Type="http://schemas.openxmlformats.org/officeDocument/2006/relationships/image" Target="../media/image241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5.png"/><Relationship Id="rId11" Type="http://schemas.openxmlformats.org/officeDocument/2006/relationships/image" Target="../media/image240.png"/><Relationship Id="rId5" Type="http://schemas.openxmlformats.org/officeDocument/2006/relationships/image" Target="../media/image234.png"/><Relationship Id="rId15" Type="http://schemas.openxmlformats.org/officeDocument/2006/relationships/image" Target="../media/image244.png"/><Relationship Id="rId10" Type="http://schemas.openxmlformats.org/officeDocument/2006/relationships/image" Target="../media/image239.png"/><Relationship Id="rId4" Type="http://schemas.openxmlformats.org/officeDocument/2006/relationships/image" Target="../media/image233.png"/><Relationship Id="rId9" Type="http://schemas.openxmlformats.org/officeDocument/2006/relationships/image" Target="../media/image127.png"/><Relationship Id="rId14" Type="http://schemas.openxmlformats.org/officeDocument/2006/relationships/image" Target="../media/image24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png"/><Relationship Id="rId3" Type="http://schemas.openxmlformats.org/officeDocument/2006/relationships/image" Target="../media/image246.png"/><Relationship Id="rId7" Type="http://schemas.openxmlformats.org/officeDocument/2006/relationships/image" Target="../media/image250.png"/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9.png"/><Relationship Id="rId5" Type="http://schemas.openxmlformats.org/officeDocument/2006/relationships/image" Target="../media/image248.png"/><Relationship Id="rId4" Type="http://schemas.openxmlformats.org/officeDocument/2006/relationships/image" Target="../media/image247.png"/><Relationship Id="rId9" Type="http://schemas.openxmlformats.org/officeDocument/2006/relationships/image" Target="../media/image25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png"/><Relationship Id="rId13" Type="http://schemas.openxmlformats.org/officeDocument/2006/relationships/image" Target="../media/image262.png"/><Relationship Id="rId3" Type="http://schemas.openxmlformats.org/officeDocument/2006/relationships/image" Target="../media/image246.png"/><Relationship Id="rId7" Type="http://schemas.openxmlformats.org/officeDocument/2006/relationships/image" Target="../media/image256.png"/><Relationship Id="rId12" Type="http://schemas.openxmlformats.org/officeDocument/2006/relationships/image" Target="../media/image261.png"/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5.png"/><Relationship Id="rId11" Type="http://schemas.openxmlformats.org/officeDocument/2006/relationships/image" Target="../media/image260.png"/><Relationship Id="rId5" Type="http://schemas.openxmlformats.org/officeDocument/2006/relationships/image" Target="../media/image254.png"/><Relationship Id="rId10" Type="http://schemas.openxmlformats.org/officeDocument/2006/relationships/image" Target="../media/image259.png"/><Relationship Id="rId4" Type="http://schemas.openxmlformats.org/officeDocument/2006/relationships/image" Target="../media/image253.png"/><Relationship Id="rId9" Type="http://schemas.openxmlformats.org/officeDocument/2006/relationships/image" Target="../media/image258.png"/><Relationship Id="rId14" Type="http://schemas.openxmlformats.org/officeDocument/2006/relationships/image" Target="../media/image26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270.png"/><Relationship Id="rId3" Type="http://schemas.openxmlformats.org/officeDocument/2006/relationships/image" Target="../media/image268.png"/><Relationship Id="rId7" Type="http://schemas.openxmlformats.org/officeDocument/2006/relationships/image" Target="../media/image53.emf"/><Relationship Id="rId12" Type="http://schemas.openxmlformats.org/officeDocument/2006/relationships/image" Target="../media/image269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55.emf"/><Relationship Id="rId5" Type="http://schemas.openxmlformats.org/officeDocument/2006/relationships/image" Target="../media/image52.emf"/><Relationship Id="rId15" Type="http://schemas.openxmlformats.org/officeDocument/2006/relationships/image" Target="../media/image272.png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54.emf"/><Relationship Id="rId14" Type="http://schemas.openxmlformats.org/officeDocument/2006/relationships/image" Target="../media/image27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png"/><Relationship Id="rId3" Type="http://schemas.openxmlformats.org/officeDocument/2006/relationships/image" Target="../media/image274.png"/><Relationship Id="rId7" Type="http://schemas.openxmlformats.org/officeDocument/2006/relationships/image" Target="../media/image278.png"/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7.png"/><Relationship Id="rId5" Type="http://schemas.openxmlformats.org/officeDocument/2006/relationships/image" Target="../media/image276.png"/><Relationship Id="rId4" Type="http://schemas.openxmlformats.org/officeDocument/2006/relationships/image" Target="../media/image275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13" Type="http://schemas.openxmlformats.org/officeDocument/2006/relationships/oleObject" Target="../embeddings/oleObject53.bin"/><Relationship Id="rId18" Type="http://schemas.openxmlformats.org/officeDocument/2006/relationships/image" Target="../media/image63.e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60.emf"/><Relationship Id="rId17" Type="http://schemas.openxmlformats.org/officeDocument/2006/relationships/oleObject" Target="../embeddings/oleObject55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62.emf"/><Relationship Id="rId20" Type="http://schemas.openxmlformats.org/officeDocument/2006/relationships/image" Target="../media/image64.e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7.e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10" Type="http://schemas.openxmlformats.org/officeDocument/2006/relationships/image" Target="../media/image59.emf"/><Relationship Id="rId19" Type="http://schemas.openxmlformats.org/officeDocument/2006/relationships/oleObject" Target="../embeddings/oleObject56.bin"/><Relationship Id="rId4" Type="http://schemas.openxmlformats.org/officeDocument/2006/relationships/image" Target="../media/image56.e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61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72.e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9.emf"/><Relationship Id="rId17" Type="http://schemas.openxmlformats.org/officeDocument/2006/relationships/oleObject" Target="../embeddings/oleObject64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71.e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6.e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10" Type="http://schemas.openxmlformats.org/officeDocument/2006/relationships/image" Target="../media/image68.emf"/><Relationship Id="rId4" Type="http://schemas.openxmlformats.org/officeDocument/2006/relationships/image" Target="../media/image65.e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70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80.emf"/><Relationship Id="rId3" Type="http://schemas.openxmlformats.org/officeDocument/2006/relationships/oleObject" Target="../embeddings/oleObject65.bin"/><Relationship Id="rId21" Type="http://schemas.openxmlformats.org/officeDocument/2006/relationships/image" Target="../media/image307.png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77.emf"/><Relationship Id="rId17" Type="http://schemas.openxmlformats.org/officeDocument/2006/relationships/oleObject" Target="../embeddings/oleObject72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79.emf"/><Relationship Id="rId20" Type="http://schemas.openxmlformats.org/officeDocument/2006/relationships/image" Target="../media/image306.png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4.emf"/><Relationship Id="rId11" Type="http://schemas.openxmlformats.org/officeDocument/2006/relationships/oleObject" Target="../embeddings/oleObject69.bin"/><Relationship Id="rId24" Type="http://schemas.openxmlformats.org/officeDocument/2006/relationships/image" Target="../media/image11.wmf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71.bin"/><Relationship Id="rId23" Type="http://schemas.openxmlformats.org/officeDocument/2006/relationships/oleObject" Target="../embeddings/oleObject73.bin"/><Relationship Id="rId10" Type="http://schemas.openxmlformats.org/officeDocument/2006/relationships/image" Target="../media/image76.emf"/><Relationship Id="rId19" Type="http://schemas.openxmlformats.org/officeDocument/2006/relationships/image" Target="../media/image305.png"/><Relationship Id="rId4" Type="http://schemas.openxmlformats.org/officeDocument/2006/relationships/image" Target="../media/image73.e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78.emf"/><Relationship Id="rId22" Type="http://schemas.openxmlformats.org/officeDocument/2006/relationships/image" Target="../media/image30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314.png"/><Relationship Id="rId2" Type="http://schemas.openxmlformats.org/officeDocument/2006/relationships/image" Target="../media/image30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3.png"/><Relationship Id="rId5" Type="http://schemas.openxmlformats.org/officeDocument/2006/relationships/image" Target="../media/image312.png"/><Relationship Id="rId4" Type="http://schemas.openxmlformats.org/officeDocument/2006/relationships/image" Target="../media/image31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png"/><Relationship Id="rId3" Type="http://schemas.openxmlformats.org/officeDocument/2006/relationships/image" Target="../media/image1010.png"/><Relationship Id="rId7" Type="http://schemas.openxmlformats.org/officeDocument/2006/relationships/image" Target="../media/image320.png"/><Relationship Id="rId2" Type="http://schemas.openxmlformats.org/officeDocument/2006/relationships/image" Target="../media/image10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9.png"/><Relationship Id="rId5" Type="http://schemas.openxmlformats.org/officeDocument/2006/relationships/image" Target="../media/image318.png"/><Relationship Id="rId4" Type="http://schemas.openxmlformats.org/officeDocument/2006/relationships/image" Target="../media/image12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0.png"/><Relationship Id="rId3" Type="http://schemas.openxmlformats.org/officeDocument/2006/relationships/image" Target="../media/image323.png"/><Relationship Id="rId7" Type="http://schemas.openxmlformats.org/officeDocument/2006/relationships/image" Target="../media/image327.png"/><Relationship Id="rId2" Type="http://schemas.openxmlformats.org/officeDocument/2006/relationships/image" Target="../media/image3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6.png"/><Relationship Id="rId5" Type="http://schemas.openxmlformats.org/officeDocument/2006/relationships/image" Target="../media/image325.png"/><Relationship Id="rId10" Type="http://schemas.openxmlformats.org/officeDocument/2006/relationships/image" Target="../media/image330.png"/><Relationship Id="rId4" Type="http://schemas.openxmlformats.org/officeDocument/2006/relationships/image" Target="../media/image324.png"/><Relationship Id="rId9" Type="http://schemas.openxmlformats.org/officeDocument/2006/relationships/image" Target="../media/image329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7.png"/><Relationship Id="rId3" Type="http://schemas.openxmlformats.org/officeDocument/2006/relationships/image" Target="../media/image332.png"/><Relationship Id="rId7" Type="http://schemas.openxmlformats.org/officeDocument/2006/relationships/image" Target="../media/image336.png"/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5.png"/><Relationship Id="rId5" Type="http://schemas.openxmlformats.org/officeDocument/2006/relationships/image" Target="../media/image334.png"/><Relationship Id="rId4" Type="http://schemas.openxmlformats.org/officeDocument/2006/relationships/image" Target="../media/image33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0.png"/><Relationship Id="rId3" Type="http://schemas.openxmlformats.org/officeDocument/2006/relationships/image" Target="../media/image339.png"/><Relationship Id="rId7" Type="http://schemas.openxmlformats.org/officeDocument/2006/relationships/image" Target="../media/image343.png"/><Relationship Id="rId2" Type="http://schemas.openxmlformats.org/officeDocument/2006/relationships/image" Target="../media/image3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60.png"/><Relationship Id="rId11" Type="http://schemas.openxmlformats.org/officeDocument/2006/relationships/image" Target="../media/image1080.png"/><Relationship Id="rId5" Type="http://schemas.openxmlformats.org/officeDocument/2006/relationships/image" Target="../media/image1050.png"/><Relationship Id="rId10" Type="http://schemas.openxmlformats.org/officeDocument/2006/relationships/image" Target="../media/image346.png"/><Relationship Id="rId4" Type="http://schemas.openxmlformats.org/officeDocument/2006/relationships/image" Target="../media/image1040.png"/><Relationship Id="rId9" Type="http://schemas.openxmlformats.org/officeDocument/2006/relationships/image" Target="../media/image345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4.png"/><Relationship Id="rId3" Type="http://schemas.openxmlformats.org/officeDocument/2006/relationships/image" Target="../media/image349.png"/><Relationship Id="rId7" Type="http://schemas.openxmlformats.org/officeDocument/2006/relationships/image" Target="../media/image353.png"/><Relationship Id="rId2" Type="http://schemas.openxmlformats.org/officeDocument/2006/relationships/image" Target="../media/image34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0.png"/><Relationship Id="rId5" Type="http://schemas.openxmlformats.org/officeDocument/2006/relationships/image" Target="../media/image351.png"/><Relationship Id="rId4" Type="http://schemas.openxmlformats.org/officeDocument/2006/relationships/image" Target="../media/image35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362.png"/><Relationship Id="rId18" Type="http://schemas.openxmlformats.org/officeDocument/2006/relationships/image" Target="../media/image367.png"/><Relationship Id="rId3" Type="http://schemas.openxmlformats.org/officeDocument/2006/relationships/image" Target="../media/image358.png"/><Relationship Id="rId7" Type="http://schemas.openxmlformats.org/officeDocument/2006/relationships/image" Target="../media/image81.emf"/><Relationship Id="rId12" Type="http://schemas.openxmlformats.org/officeDocument/2006/relationships/image" Target="../media/image361.png"/><Relationship Id="rId17" Type="http://schemas.openxmlformats.org/officeDocument/2006/relationships/image" Target="../media/image366.pn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365.png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83.emf"/><Relationship Id="rId5" Type="http://schemas.openxmlformats.org/officeDocument/2006/relationships/image" Target="../media/image360.png"/><Relationship Id="rId15" Type="http://schemas.openxmlformats.org/officeDocument/2006/relationships/image" Target="../media/image364.png"/><Relationship Id="rId10" Type="http://schemas.openxmlformats.org/officeDocument/2006/relationships/oleObject" Target="../embeddings/oleObject76.bin"/><Relationship Id="rId4" Type="http://schemas.openxmlformats.org/officeDocument/2006/relationships/image" Target="../media/image359.png"/><Relationship Id="rId9" Type="http://schemas.openxmlformats.org/officeDocument/2006/relationships/image" Target="../media/image82.emf"/><Relationship Id="rId14" Type="http://schemas.openxmlformats.org/officeDocument/2006/relationships/image" Target="../media/image363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13" Type="http://schemas.openxmlformats.org/officeDocument/2006/relationships/oleObject" Target="../embeddings/oleObject82.bin"/><Relationship Id="rId18" Type="http://schemas.openxmlformats.org/officeDocument/2006/relationships/image" Target="../media/image91.e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88.emf"/><Relationship Id="rId17" Type="http://schemas.openxmlformats.org/officeDocument/2006/relationships/oleObject" Target="../embeddings/oleObject84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90.emf"/><Relationship Id="rId20" Type="http://schemas.openxmlformats.org/officeDocument/2006/relationships/image" Target="../media/image92.e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85.emf"/><Relationship Id="rId11" Type="http://schemas.openxmlformats.org/officeDocument/2006/relationships/oleObject" Target="../embeddings/oleObject81.bin"/><Relationship Id="rId5" Type="http://schemas.openxmlformats.org/officeDocument/2006/relationships/oleObject" Target="../embeddings/oleObject78.bin"/><Relationship Id="rId15" Type="http://schemas.openxmlformats.org/officeDocument/2006/relationships/oleObject" Target="../embeddings/oleObject83.bin"/><Relationship Id="rId10" Type="http://schemas.openxmlformats.org/officeDocument/2006/relationships/image" Target="../media/image87.emf"/><Relationship Id="rId19" Type="http://schemas.openxmlformats.org/officeDocument/2006/relationships/oleObject" Target="../embeddings/oleObject85.bin"/><Relationship Id="rId4" Type="http://schemas.openxmlformats.org/officeDocument/2006/relationships/image" Target="../media/image84.emf"/><Relationship Id="rId9" Type="http://schemas.openxmlformats.org/officeDocument/2006/relationships/oleObject" Target="../embeddings/oleObject80.bin"/><Relationship Id="rId14" Type="http://schemas.openxmlformats.org/officeDocument/2006/relationships/image" Target="../media/image89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94.e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93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5.png"/><Relationship Id="rId3" Type="http://schemas.openxmlformats.org/officeDocument/2006/relationships/image" Target="../media/image380.png"/><Relationship Id="rId7" Type="http://schemas.openxmlformats.org/officeDocument/2006/relationships/image" Target="../media/image384.png"/><Relationship Id="rId2" Type="http://schemas.openxmlformats.org/officeDocument/2006/relationships/image" Target="../media/image37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3.png"/><Relationship Id="rId5" Type="http://schemas.openxmlformats.org/officeDocument/2006/relationships/image" Target="../media/image382.png"/><Relationship Id="rId4" Type="http://schemas.openxmlformats.org/officeDocument/2006/relationships/image" Target="../media/image381.png"/><Relationship Id="rId9" Type="http://schemas.openxmlformats.org/officeDocument/2006/relationships/image" Target="../media/image386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2.png"/><Relationship Id="rId3" Type="http://schemas.openxmlformats.org/officeDocument/2006/relationships/image" Target="../media/image387.png"/><Relationship Id="rId7" Type="http://schemas.openxmlformats.org/officeDocument/2006/relationships/image" Target="../media/image391.png"/><Relationship Id="rId2" Type="http://schemas.openxmlformats.org/officeDocument/2006/relationships/image" Target="../media/image3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0.png"/><Relationship Id="rId5" Type="http://schemas.openxmlformats.org/officeDocument/2006/relationships/image" Target="../media/image389.png"/><Relationship Id="rId4" Type="http://schemas.openxmlformats.org/officeDocument/2006/relationships/image" Target="../media/image388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png"/><Relationship Id="rId3" Type="http://schemas.openxmlformats.org/officeDocument/2006/relationships/image" Target="../media/image394.png"/><Relationship Id="rId7" Type="http://schemas.openxmlformats.org/officeDocument/2006/relationships/image" Target="../media/image398.png"/><Relationship Id="rId2" Type="http://schemas.openxmlformats.org/officeDocument/2006/relationships/image" Target="../media/image39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7.png"/><Relationship Id="rId5" Type="http://schemas.openxmlformats.org/officeDocument/2006/relationships/image" Target="../media/image396.png"/><Relationship Id="rId10" Type="http://schemas.openxmlformats.org/officeDocument/2006/relationships/image" Target="../media/image401.png"/><Relationship Id="rId4" Type="http://schemas.openxmlformats.org/officeDocument/2006/relationships/image" Target="../media/image395.png"/><Relationship Id="rId9" Type="http://schemas.openxmlformats.org/officeDocument/2006/relationships/image" Target="../media/image40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8.png"/><Relationship Id="rId13" Type="http://schemas.openxmlformats.org/officeDocument/2006/relationships/image" Target="../media/image413.png"/><Relationship Id="rId3" Type="http://schemas.openxmlformats.org/officeDocument/2006/relationships/image" Target="../media/image403.png"/><Relationship Id="rId7" Type="http://schemas.openxmlformats.org/officeDocument/2006/relationships/image" Target="../media/image407.png"/><Relationship Id="rId12" Type="http://schemas.openxmlformats.org/officeDocument/2006/relationships/image" Target="../media/image412.png"/><Relationship Id="rId2" Type="http://schemas.openxmlformats.org/officeDocument/2006/relationships/image" Target="../media/image40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6.png"/><Relationship Id="rId11" Type="http://schemas.openxmlformats.org/officeDocument/2006/relationships/image" Target="../media/image130.png"/><Relationship Id="rId5" Type="http://schemas.openxmlformats.org/officeDocument/2006/relationships/image" Target="../media/image405.png"/><Relationship Id="rId10" Type="http://schemas.openxmlformats.org/officeDocument/2006/relationships/image" Target="../media/image410.png"/><Relationship Id="rId4" Type="http://schemas.openxmlformats.org/officeDocument/2006/relationships/image" Target="../media/image404.png"/><Relationship Id="rId9" Type="http://schemas.openxmlformats.org/officeDocument/2006/relationships/image" Target="../media/image409.png"/><Relationship Id="rId14" Type="http://schemas.openxmlformats.org/officeDocument/2006/relationships/image" Target="../media/image13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61053" y="620486"/>
            <a:ext cx="5094514" cy="601824"/>
          </a:xfrm>
        </p:spPr>
        <p:txBody>
          <a:bodyPr/>
          <a:lstStyle/>
          <a:p>
            <a:pPr algn="l"/>
            <a:r>
              <a:rPr lang="zh-CN" altLang="en-US" dirty="0" smtClean="0"/>
              <a:t>成年人？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16F45B-D0B4-4F96-B167-CB2F7FDE1854}" type="datetime11">
              <a:rPr lang="zh-CN" altLang="en-US" smtClean="0"/>
              <a:t>15:29:47</a:t>
            </a:fld>
            <a:endParaRPr lang="en-US" altLang="zh-CN"/>
          </a:p>
        </p:txBody>
      </p:sp>
      <p:sp>
        <p:nvSpPr>
          <p:cNvPr id="5" name="副标题 2"/>
          <p:cNvSpPr txBox="1">
            <a:spLocks/>
          </p:cNvSpPr>
          <p:nvPr/>
        </p:nvSpPr>
        <p:spPr bwMode="auto">
          <a:xfrm>
            <a:off x="961053" y="1976535"/>
            <a:ext cx="5094514" cy="601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/>
            <a:r>
              <a:rPr lang="zh-CN" altLang="en-US" kern="0" dirty="0" smtClean="0"/>
              <a:t>学生？考生！</a:t>
            </a:r>
            <a:endParaRPr lang="zh-CN" altLang="en-US" kern="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862476"/>
              </p:ext>
            </p:extLst>
          </p:nvPr>
        </p:nvGraphicFramePr>
        <p:xfrm>
          <a:off x="6331889" y="808389"/>
          <a:ext cx="609600" cy="17811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4008051823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469616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202288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49555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932894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4727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57570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李德泽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19925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赵疆渝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56965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黄振宁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7613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姜必烨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53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林鵬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043432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19371"/>
              </p:ext>
            </p:extLst>
          </p:nvPr>
        </p:nvGraphicFramePr>
        <p:xfrm>
          <a:off x="7953954" y="808389"/>
          <a:ext cx="609600" cy="1295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07574969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434009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6961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22449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86383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68541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728455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亢子龙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68968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谢晓华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479608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532645"/>
              </p:ext>
            </p:extLst>
          </p:nvPr>
        </p:nvGraphicFramePr>
        <p:xfrm>
          <a:off x="4598504" y="808389"/>
          <a:ext cx="609600" cy="19431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17752096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09873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79426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10162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590037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836119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08295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雷天宇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2643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冉凯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32191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卜伟博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4079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毛恒瑜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11187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张晟泽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475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朱焌豪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5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11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8"/>
          <p:cNvSpPr>
            <a:spLocks noChangeArrowheads="1"/>
          </p:cNvSpPr>
          <p:nvPr/>
        </p:nvSpPr>
        <p:spPr bwMode="auto">
          <a:xfrm>
            <a:off x="2730500" y="330200"/>
            <a:ext cx="7239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dirty="0">
                <a:solidFill>
                  <a:schemeClr val="tx2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4400" dirty="0">
                <a:solidFill>
                  <a:schemeClr val="accent2"/>
                </a:solidFill>
                <a:ea typeface="黑体" panose="02010609060101010101" pitchFamily="49" charset="-122"/>
              </a:rPr>
              <a:t>第七章  微分方程</a:t>
            </a:r>
          </a:p>
        </p:txBody>
      </p:sp>
      <p:sp>
        <p:nvSpPr>
          <p:cNvPr id="138330" name="Rectangle 90"/>
          <p:cNvSpPr>
            <a:spLocks noGrp="1" noChangeArrowheads="1"/>
          </p:cNvSpPr>
          <p:nvPr/>
        </p:nvSpPr>
        <p:spPr bwMode="auto">
          <a:xfrm>
            <a:off x="801189" y="1422400"/>
            <a:ext cx="10737668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在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力学、物理学等工程技术领域中为了对客观事物运动的规律性进行研究，往往需要寻求变量间的函数关系</a:t>
            </a: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lang="en-US" altLang="zh-CN" sz="2400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但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根据问题的性质，常常只能得到待求函数的导数或</a:t>
            </a: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微分（</a:t>
            </a:r>
            <a:r>
              <a:rPr lang="zh-CN" altLang="en-US" sz="24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变量及变量的变化量</a:t>
            </a: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）的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关系式，这种关系式在数学上称之为微分方程</a:t>
            </a: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en-US" altLang="zh-CN" sz="2400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微分方程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又分为常微分方程和偏微分方程，本章讨论的是前者。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 dirty="0" smtClean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在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本章介绍几种简单类型微分方程的</a:t>
            </a: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求解。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885C2B-CA84-40C3-84EB-66AED787458D}" type="datetime11">
              <a:rPr lang="zh-CN" altLang="en-US" smtClean="0"/>
              <a:t>15:29:48</a:t>
            </a:fld>
            <a:endParaRPr lang="en-US" altLang="zh-CN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8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38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38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38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330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110"/>
          <p:cNvSpPr>
            <a:spLocks noChangeArrowheads="1"/>
          </p:cNvSpPr>
          <p:nvPr/>
        </p:nvSpPr>
        <p:spPr bwMode="auto">
          <a:xfrm>
            <a:off x="1524000" y="0"/>
            <a:ext cx="9144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B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076" name="Rectangle 111"/>
          <p:cNvSpPr>
            <a:spLocks noChangeArrowheads="1"/>
          </p:cNvSpPr>
          <p:nvPr/>
        </p:nvSpPr>
        <p:spPr bwMode="auto">
          <a:xfrm>
            <a:off x="3149600" y="228600"/>
            <a:ext cx="6832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dirty="0">
                <a:latin typeface="华文行楷" panose="02010800040101010101" pitchFamily="2" charset="-122"/>
                <a:ea typeface="华文新魏" panose="02010800040101010101" pitchFamily="2" charset="-122"/>
              </a:rPr>
              <a:t>第一节</a:t>
            </a:r>
            <a:r>
              <a:rPr lang="zh-CN" altLang="en-US" sz="4000" dirty="0">
                <a:ea typeface="华文新魏" panose="02010800040101010101" pitchFamily="2" charset="-122"/>
              </a:rPr>
              <a:t>微分方程的基本概念 </a:t>
            </a:r>
          </a:p>
        </p:txBody>
      </p:sp>
      <p:sp>
        <p:nvSpPr>
          <p:cNvPr id="3077" name="Text Box 126"/>
          <p:cNvSpPr txBox="1">
            <a:spLocks noChangeArrowheads="1"/>
          </p:cNvSpPr>
          <p:nvPr/>
        </p:nvSpPr>
        <p:spPr bwMode="auto">
          <a:xfrm>
            <a:off x="322216" y="1205220"/>
            <a:ext cx="10502537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本节通过几个具体的例题来说明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微分方程的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  <a:r>
              <a:rPr lang="en-US" altLang="zh-CN" sz="24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endParaRPr lang="en-US" altLang="zh-CN" sz="24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35B46B-FE72-4776-94A6-09A5589B385D}" type="datetime11">
              <a:rPr lang="zh-CN" altLang="en-US" smtClean="0"/>
              <a:t>15:29:48</a:t>
            </a:fld>
            <a:endParaRPr lang="en-US" altLang="zh-CN"/>
          </a:p>
        </p:txBody>
      </p:sp>
      <p:sp>
        <p:nvSpPr>
          <p:cNvPr id="13" name="Rectangle 1034"/>
          <p:cNvSpPr>
            <a:spLocks noChangeArrowheads="1"/>
          </p:cNvSpPr>
          <p:nvPr/>
        </p:nvSpPr>
        <p:spPr bwMode="auto">
          <a:xfrm>
            <a:off x="1931851" y="2671388"/>
            <a:ext cx="4876800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设所求曲线的方程为</a:t>
            </a:r>
            <a:r>
              <a:rPr kumimoji="1" lang="en-US" altLang="zh-CN" sz="2400" i="1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</a:t>
            </a:r>
            <a:r>
              <a:rPr kumimoji="1" lang="en-US" altLang="zh-CN" sz="2400" i="1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</a:p>
        </p:txBody>
      </p:sp>
      <p:sp>
        <p:nvSpPr>
          <p:cNvPr id="14" name="Text Box 1035"/>
          <p:cNvSpPr txBox="1">
            <a:spLocks noChangeArrowheads="1"/>
          </p:cNvSpPr>
          <p:nvPr/>
        </p:nvSpPr>
        <p:spPr bwMode="auto">
          <a:xfrm>
            <a:off x="853439" y="1750424"/>
            <a:ext cx="10781211" cy="886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引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一曲线通过点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(1, 2),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且在该曲线上任一点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处的切线的斜率为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求这曲线的方程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5" name="Rectangle 1036"/>
          <p:cNvSpPr>
            <a:spLocks noChangeArrowheads="1"/>
          </p:cNvSpPr>
          <p:nvPr/>
        </p:nvSpPr>
        <p:spPr bwMode="auto">
          <a:xfrm>
            <a:off x="763451" y="2671339"/>
            <a:ext cx="1168400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16" name="Picture 10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133"/>
          <a:stretch>
            <a:fillRect/>
          </a:stretch>
        </p:blipFill>
        <p:spPr bwMode="auto">
          <a:xfrm>
            <a:off x="6096000" y="2584246"/>
            <a:ext cx="914529" cy="643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1039"/>
          <p:cNvSpPr txBox="1">
            <a:spLocks noChangeArrowheads="1"/>
          </p:cNvSpPr>
          <p:nvPr/>
        </p:nvSpPr>
        <p:spPr bwMode="auto">
          <a:xfrm>
            <a:off x="1269944" y="4133827"/>
            <a:ext cx="3000821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上式两端积分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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得 </a:t>
            </a:r>
          </a:p>
        </p:txBody>
      </p:sp>
      <p:sp>
        <p:nvSpPr>
          <p:cNvPr id="18" name="Text Box 1040"/>
          <p:cNvSpPr txBox="1">
            <a:spLocks noChangeArrowheads="1"/>
          </p:cNvSpPr>
          <p:nvPr/>
        </p:nvSpPr>
        <p:spPr bwMode="auto">
          <a:xfrm>
            <a:off x="1931851" y="4976796"/>
            <a:ext cx="3603625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因为曲线通过点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(1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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2)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  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9" name="Text Box 1042"/>
          <p:cNvSpPr txBox="1">
            <a:spLocks noChangeArrowheads="1"/>
          </p:cNvSpPr>
          <p:nvPr/>
        </p:nvSpPr>
        <p:spPr bwMode="auto">
          <a:xfrm>
            <a:off x="5103559" y="5016198"/>
            <a:ext cx="1235943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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en-US" altLang="zh-CN" sz="2400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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  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0" name="Rectangle 1043"/>
          <p:cNvSpPr>
            <a:spLocks noChangeArrowheads="1"/>
          </p:cNvSpPr>
          <p:nvPr/>
        </p:nvSpPr>
        <p:spPr bwMode="auto">
          <a:xfrm>
            <a:off x="6427136" y="5016198"/>
            <a:ext cx="763029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=1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  </a:t>
            </a:r>
          </a:p>
        </p:txBody>
      </p:sp>
      <p:sp>
        <p:nvSpPr>
          <p:cNvPr id="21" name="Text Box 1044"/>
          <p:cNvSpPr txBox="1">
            <a:spLocks noChangeArrowheads="1"/>
          </p:cNvSpPr>
          <p:nvPr/>
        </p:nvSpPr>
        <p:spPr bwMode="auto">
          <a:xfrm>
            <a:off x="1931851" y="5683429"/>
            <a:ext cx="4020331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因此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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 所求曲线方程为 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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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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32" name="Rectangle 1075"/>
          <p:cNvSpPr>
            <a:spLocks noChangeArrowheads="1"/>
          </p:cNvSpPr>
          <p:nvPr/>
        </p:nvSpPr>
        <p:spPr bwMode="auto">
          <a:xfrm>
            <a:off x="7252116" y="2740826"/>
            <a:ext cx="1905971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990000"/>
                </a:solidFill>
                <a:latin typeface="Times New Roman" panose="02020603050405020304" pitchFamily="18" charset="0"/>
              </a:rPr>
              <a:t>－</a:t>
            </a:r>
            <a:r>
              <a:rPr kumimoji="1" lang="en-US" altLang="zh-CN" sz="2400" b="1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(1)</a:t>
            </a:r>
            <a:r>
              <a:rPr kumimoji="1" lang="zh-CN" altLang="en-US" sz="2400" b="1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微分方程</a:t>
            </a:r>
          </a:p>
        </p:txBody>
      </p:sp>
      <p:sp>
        <p:nvSpPr>
          <p:cNvPr id="33" name="Rectangle 1076"/>
          <p:cNvSpPr>
            <a:spLocks noChangeArrowheads="1"/>
          </p:cNvSpPr>
          <p:nvPr/>
        </p:nvSpPr>
        <p:spPr bwMode="auto">
          <a:xfrm>
            <a:off x="7252116" y="3470976"/>
            <a:ext cx="2008563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990000"/>
                </a:solidFill>
                <a:latin typeface="Times New Roman" panose="02020603050405020304" pitchFamily="18" charset="0"/>
              </a:rPr>
              <a:t>－</a:t>
            </a:r>
            <a:r>
              <a:rPr kumimoji="1" lang="en-US" altLang="zh-CN" sz="2400" b="1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(2)</a:t>
            </a:r>
            <a:r>
              <a:rPr kumimoji="1" lang="zh-CN" altLang="en-US" sz="2400" b="1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初始条件</a:t>
            </a:r>
            <a:r>
              <a:rPr kumimoji="1" lang="en-US" altLang="zh-CN" sz="2400" b="1" dirty="0">
                <a:solidFill>
                  <a:srgbClr val="990000"/>
                </a:solidFill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34" name="Object 10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890775"/>
              </p:ext>
            </p:extLst>
          </p:nvPr>
        </p:nvGraphicFramePr>
        <p:xfrm>
          <a:off x="6111965" y="3420502"/>
          <a:ext cx="982790" cy="421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Equation" r:id="rId4" imgW="514551" imgH="209731" progId="Equation.3">
                  <p:embed/>
                </p:oleObj>
              </mc:Choice>
              <mc:Fallback>
                <p:oleObj name="Equation" r:id="rId4" imgW="514551" imgH="209731" progId="Equation.3">
                  <p:embed/>
                  <p:pic>
                    <p:nvPicPr>
                      <p:cNvPr id="219193" name="Object 108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965" y="3420502"/>
                        <a:ext cx="982790" cy="4215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1083"/>
          <p:cNvSpPr>
            <a:spLocks noChangeArrowheads="1"/>
          </p:cNvSpPr>
          <p:nvPr/>
        </p:nvSpPr>
        <p:spPr bwMode="auto">
          <a:xfrm>
            <a:off x="7252116" y="4207695"/>
            <a:ext cx="2834109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990000"/>
                </a:solidFill>
                <a:latin typeface="Times New Roman" panose="02020603050405020304" pitchFamily="18" charset="0"/>
              </a:rPr>
              <a:t>－</a:t>
            </a:r>
            <a:r>
              <a:rPr kumimoji="1" lang="en-US" altLang="zh-CN" sz="2400" b="1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(3)</a:t>
            </a:r>
            <a:r>
              <a:rPr kumimoji="1" lang="zh-CN" altLang="en-US" sz="2400" b="1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微分方程的通解</a:t>
            </a:r>
          </a:p>
        </p:txBody>
      </p:sp>
      <p:sp>
        <p:nvSpPr>
          <p:cNvPr id="36" name="Rectangle 1085"/>
          <p:cNvSpPr>
            <a:spLocks noChangeArrowheads="1"/>
          </p:cNvSpPr>
          <p:nvPr/>
        </p:nvSpPr>
        <p:spPr bwMode="auto">
          <a:xfrm>
            <a:off x="7175171" y="5683429"/>
            <a:ext cx="2987997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solidFill>
                  <a:srgbClr val="99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990000"/>
                </a:solidFill>
                <a:latin typeface="Times New Roman" panose="02020603050405020304" pitchFamily="18" charset="0"/>
              </a:rPr>
              <a:t>－</a:t>
            </a:r>
            <a:r>
              <a:rPr kumimoji="1" lang="en-US" altLang="zh-CN" sz="2400" b="1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(4)</a:t>
            </a:r>
            <a:r>
              <a:rPr kumimoji="1" lang="zh-CN" altLang="en-US" sz="2400" b="1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微分方程的特解</a:t>
            </a:r>
            <a:r>
              <a:rPr kumimoji="1" lang="zh-CN" altLang="en-US" sz="2400" b="1" dirty="0">
                <a:solidFill>
                  <a:srgbClr val="990000"/>
                </a:solidFill>
                <a:latin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241314" y="3917060"/>
                <a:ext cx="2926250" cy="968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314" y="3917060"/>
                <a:ext cx="2926250" cy="9687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603990" y="12824"/>
            <a:ext cx="3018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 smtClean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第一节</a:t>
            </a:r>
            <a:r>
              <a:rPr lang="zh-CN" altLang="en-US" sz="1800" dirty="0" smtClean="0">
                <a:solidFill>
                  <a:srgbClr val="7030A0"/>
                </a:solidFill>
                <a:ea typeface="华文新魏" panose="02010800040101010101" pitchFamily="2" charset="-122"/>
              </a:rPr>
              <a:t>微分方程的基本概念 </a:t>
            </a:r>
            <a:endParaRPr lang="zh-CN" altLang="en-US" sz="1800" dirty="0">
              <a:solidFill>
                <a:srgbClr val="7030A0"/>
              </a:solidFill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utoUpdateAnimBg="0"/>
      <p:bldP spid="14" grpId="0" build="p" autoUpdateAnimBg="0"/>
      <p:bldP spid="15" grpId="0" build="p" autoUpdateAnimBg="0"/>
      <p:bldP spid="17" grpId="0"/>
      <p:bldP spid="18" grpId="0" build="p" autoUpdateAnimBg="0"/>
      <p:bldP spid="19" grpId="0" build="p" autoUpdateAnimBg="0"/>
      <p:bldP spid="20" grpId="0" build="p" autoUpdateAnimBg="0"/>
      <p:bldP spid="21" grpId="0" build="p" autoUpdateAnimBg="0"/>
      <p:bldP spid="32" grpId="0"/>
      <p:bldP spid="33" grpId="0"/>
      <p:bldP spid="35" grpId="0"/>
      <p:bldP spid="36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47" name="Text Box 1331"/>
          <p:cNvSpPr txBox="1">
            <a:spLocks noChangeArrowheads="1"/>
          </p:cNvSpPr>
          <p:nvPr/>
        </p:nvSpPr>
        <p:spPr bwMode="auto">
          <a:xfrm>
            <a:off x="3793417" y="1154260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常微分方程</a:t>
            </a:r>
            <a:endParaRPr kumimoji="1"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9748" name="Text Box 1332"/>
          <p:cNvSpPr txBox="1">
            <a:spLocks noChangeArrowheads="1"/>
          </p:cNvSpPr>
          <p:nvPr/>
        </p:nvSpPr>
        <p:spPr bwMode="auto">
          <a:xfrm>
            <a:off x="3793417" y="1854348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偏微分方程</a:t>
            </a:r>
            <a:endParaRPr kumimoji="1" lang="zh-CN" altLang="en-US" sz="240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9749" name="Text Box 1333"/>
          <p:cNvSpPr txBox="1">
            <a:spLocks noChangeArrowheads="1"/>
          </p:cNvSpPr>
          <p:nvPr/>
        </p:nvSpPr>
        <p:spPr bwMode="auto">
          <a:xfrm>
            <a:off x="879565" y="508000"/>
            <a:ext cx="98668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含有自变量、未知函数、</a:t>
            </a:r>
            <a:r>
              <a:rPr kumimoji="1" lang="zh-CN" altLang="en-US" sz="2400" b="1" u="sng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未知函数导数</a:t>
            </a:r>
            <a:r>
              <a:rPr kumimoji="1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的方程</a:t>
            </a:r>
            <a:r>
              <a:rPr kumimoji="1" lang="zh-CN" altLang="en-US" sz="2400" b="1" dirty="0">
                <a:latin typeface="Times New Roman" pitchFamily="18" charset="0"/>
                <a:ea typeface="黑体" pitchFamily="2" charset="-122"/>
              </a:rPr>
              <a:t>叫做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</a:rPr>
              <a:t>微分方程 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itchFamily="18" charset="0"/>
                <a:ea typeface="黑体" pitchFamily="2" charset="-122"/>
              </a:rPr>
              <a:t>.</a:t>
            </a:r>
          </a:p>
        </p:txBody>
      </p:sp>
      <p:sp>
        <p:nvSpPr>
          <p:cNvPr id="189750" name="Text Box 1334"/>
          <p:cNvSpPr txBox="1">
            <a:spLocks noChangeArrowheads="1"/>
          </p:cNvSpPr>
          <p:nvPr/>
        </p:nvSpPr>
        <p:spPr bwMode="auto">
          <a:xfrm>
            <a:off x="879565" y="2726328"/>
            <a:ext cx="830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方程中所含未知函数导数的最高阶数叫做微分方程</a:t>
            </a:r>
          </a:p>
        </p:txBody>
      </p:sp>
      <p:sp>
        <p:nvSpPr>
          <p:cNvPr id="189751" name="Text Box 1335"/>
          <p:cNvSpPr txBox="1">
            <a:spLocks noChangeArrowheads="1"/>
          </p:cNvSpPr>
          <p:nvPr/>
        </p:nvSpPr>
        <p:spPr bwMode="auto">
          <a:xfrm>
            <a:off x="5698417" y="1154260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本章内容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89757" name="Text Box 1341"/>
          <p:cNvSpPr txBox="1">
            <a:spLocks noChangeArrowheads="1"/>
          </p:cNvSpPr>
          <p:nvPr/>
        </p:nvSpPr>
        <p:spPr bwMode="auto">
          <a:xfrm>
            <a:off x="7629526" y="2726328"/>
            <a:ext cx="8787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阶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89758" name="AutoShape 1342"/>
          <p:cNvSpPr>
            <a:spLocks/>
          </p:cNvSpPr>
          <p:nvPr/>
        </p:nvSpPr>
        <p:spPr bwMode="auto">
          <a:xfrm>
            <a:off x="3641017" y="1368572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89759" name="Text Box 1343"/>
          <p:cNvSpPr txBox="1">
            <a:spLocks noChangeArrowheads="1"/>
          </p:cNvSpPr>
          <p:nvPr/>
        </p:nvSpPr>
        <p:spPr bwMode="auto">
          <a:xfrm>
            <a:off x="2710742" y="1489223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分类</a:t>
            </a:r>
          </a:p>
        </p:txBody>
      </p:sp>
      <p:graphicFrame>
        <p:nvGraphicFramePr>
          <p:cNvPr id="189768" name="Object 13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710654"/>
              </p:ext>
            </p:extLst>
          </p:nvPr>
        </p:nvGraphicFramePr>
        <p:xfrm>
          <a:off x="2192383" y="4466308"/>
          <a:ext cx="4160837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2" name="Equation" r:id="rId3" imgW="1704924" imgH="466820" progId="Equation.3">
                  <p:embed/>
                </p:oleObj>
              </mc:Choice>
              <mc:Fallback>
                <p:oleObj name="Equation" r:id="rId3" imgW="1704924" imgH="466820" progId="Equation.3">
                  <p:embed/>
                  <p:pic>
                    <p:nvPicPr>
                      <p:cNvPr id="0" name="Object 13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2383" y="4466308"/>
                        <a:ext cx="4160837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769" name="Rectangle 1353"/>
          <p:cNvSpPr>
            <a:spLocks noChangeArrowheads="1"/>
          </p:cNvSpPr>
          <p:nvPr/>
        </p:nvSpPr>
        <p:spPr bwMode="auto">
          <a:xfrm>
            <a:off x="1324065" y="3778767"/>
            <a:ext cx="78613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 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试说出下列各微分方程的阶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数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E86BFC-2C97-4215-9EE2-3ED032F9AD94}" type="datetime11">
              <a:rPr lang="zh-CN" altLang="en-US" smtClean="0"/>
              <a:t>15:29:48</a:t>
            </a:fld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603990" y="12824"/>
            <a:ext cx="3018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 smtClean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第一节</a:t>
            </a:r>
            <a:r>
              <a:rPr lang="zh-CN" altLang="en-US" sz="1800" dirty="0" smtClean="0">
                <a:solidFill>
                  <a:srgbClr val="7030A0"/>
                </a:solidFill>
                <a:ea typeface="华文新魏" panose="02010800040101010101" pitchFamily="2" charset="-122"/>
              </a:rPr>
              <a:t>微分方程的基本概念 </a:t>
            </a:r>
            <a:endParaRPr lang="zh-CN" altLang="en-US" sz="1800" dirty="0">
              <a:solidFill>
                <a:srgbClr val="7030A0"/>
              </a:solidFill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97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9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9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747" grpId="0" autoUpdateAnimBg="0"/>
      <p:bldP spid="189748" grpId="0" autoUpdateAnimBg="0"/>
      <p:bldP spid="189749" grpId="0" autoUpdateAnimBg="0"/>
      <p:bldP spid="189750" grpId="0" autoUpdateAnimBg="0"/>
      <p:bldP spid="189751" grpId="0" build="p" autoUpdateAnimBg="0"/>
      <p:bldP spid="189757" grpId="0" build="p" autoUpdateAnimBg="0" advAuto="0"/>
      <p:bldP spid="189758" grpId="0" animBg="1"/>
      <p:bldP spid="189759" grpId="0" build="p" autoUpdateAnimBg="0"/>
      <p:bldP spid="1897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707742"/>
              </p:ext>
            </p:extLst>
          </p:nvPr>
        </p:nvGraphicFramePr>
        <p:xfrm>
          <a:off x="3461657" y="1287417"/>
          <a:ext cx="3289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" name="Equation" r:id="rId3" imgW="3267104" imgH="485848" progId="Equation.3">
                  <p:embed/>
                </p:oleObj>
              </mc:Choice>
              <mc:Fallback>
                <p:oleObj name="Equation" r:id="rId3" imgW="3267104" imgH="48584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1657" y="1287417"/>
                        <a:ext cx="3289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987804"/>
              </p:ext>
            </p:extLst>
          </p:nvPr>
        </p:nvGraphicFramePr>
        <p:xfrm>
          <a:off x="3004458" y="1973217"/>
          <a:ext cx="39338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8" name="Equation" r:id="rId5" imgW="3914714" imgH="485848" progId="Equation.3">
                  <p:embed/>
                </p:oleObj>
              </mc:Choice>
              <mc:Fallback>
                <p:oleObj name="Equation" r:id="rId5" imgW="3914714" imgH="48584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4458" y="1973217"/>
                        <a:ext cx="39338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29" name="Text Box 9"/>
          <p:cNvSpPr txBox="1">
            <a:spLocks noChangeArrowheads="1"/>
          </p:cNvSpPr>
          <p:nvPr/>
        </p:nvSpPr>
        <p:spPr bwMode="auto">
          <a:xfrm>
            <a:off x="7080068" y="1989016"/>
            <a:ext cx="3352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 n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阶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显式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微分方程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235530" name="Text Box 10"/>
          <p:cNvSpPr txBox="1">
            <a:spLocks noChangeArrowheads="1"/>
          </p:cNvSpPr>
          <p:nvPr/>
        </p:nvSpPr>
        <p:spPr bwMode="auto">
          <a:xfrm>
            <a:off x="1005840" y="647952"/>
            <a:ext cx="563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一般地 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rPr>
              <a:t> n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阶常微分方程的形式是</a:t>
            </a:r>
          </a:p>
        </p:txBody>
      </p:sp>
      <p:sp>
        <p:nvSpPr>
          <p:cNvPr id="235534" name="Text Box 14"/>
          <p:cNvSpPr txBox="1">
            <a:spLocks noChangeArrowheads="1"/>
          </p:cNvSpPr>
          <p:nvPr/>
        </p:nvSpPr>
        <p:spPr bwMode="auto">
          <a:xfrm>
            <a:off x="1974171" y="1987505"/>
            <a:ext cx="6492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或</a:t>
            </a:r>
          </a:p>
        </p:txBody>
      </p:sp>
      <p:sp>
        <p:nvSpPr>
          <p:cNvPr id="235535" name="Text Box 15"/>
          <p:cNvSpPr txBox="1">
            <a:spLocks noChangeArrowheads="1"/>
          </p:cNvSpPr>
          <p:nvPr/>
        </p:nvSpPr>
        <p:spPr bwMode="auto">
          <a:xfrm>
            <a:off x="3302907" y="2740919"/>
            <a:ext cx="487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—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使方程成为恒等式的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函数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8200" name="Line 23"/>
          <p:cNvSpPr>
            <a:spLocks noChangeShapeType="1"/>
          </p:cNvSpPr>
          <p:nvPr/>
        </p:nvSpPr>
        <p:spPr bwMode="auto">
          <a:xfrm>
            <a:off x="1899557" y="2582817"/>
            <a:ext cx="80010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235544" name="Text Box 24"/>
          <p:cNvSpPr txBox="1">
            <a:spLocks noChangeArrowheads="1"/>
          </p:cNvSpPr>
          <p:nvPr/>
        </p:nvSpPr>
        <p:spPr bwMode="auto">
          <a:xfrm>
            <a:off x="1107803" y="2740919"/>
            <a:ext cx="21098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微分方程的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35549" name="Rectangle 29"/>
          <p:cNvSpPr>
            <a:spLocks noChangeArrowheads="1"/>
          </p:cNvSpPr>
          <p:nvPr/>
        </p:nvSpPr>
        <p:spPr bwMode="auto">
          <a:xfrm>
            <a:off x="1156788" y="3531109"/>
            <a:ext cx="876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新魏" panose="02010800040101010101" pitchFamily="2" charset="-122"/>
              </a:rPr>
              <a:t>1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指出下列各题中的函数是否为所给微分方程的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35550" name="Rectangle 30"/>
          <p:cNvSpPr>
            <a:spLocks noChangeArrowheads="1"/>
          </p:cNvSpPr>
          <p:nvPr/>
        </p:nvSpPr>
        <p:spPr bwMode="auto">
          <a:xfrm>
            <a:off x="1156788" y="4464554"/>
            <a:ext cx="100946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 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验证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所给二元方程所确定的函数为所给微分方程的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35551" name="Rectangle 31"/>
          <p:cNvSpPr>
            <a:spLocks noChangeArrowheads="1"/>
          </p:cNvSpPr>
          <p:nvPr/>
        </p:nvSpPr>
        <p:spPr bwMode="auto">
          <a:xfrm>
            <a:off x="1156788" y="5560031"/>
            <a:ext cx="9955349" cy="81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微分方程的通解：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微分方程的解中含有任意常数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且其个数与微分方程的阶数相同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这样的解叫做微分方程的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通解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6F5CB9-A039-417D-9E3A-798BFA17492F}" type="datetime11">
              <a:rPr lang="zh-CN" altLang="en-US" smtClean="0"/>
              <a:t>15:29:48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2068" y="4006307"/>
            <a:ext cx="3342857" cy="35238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2068" y="4980869"/>
            <a:ext cx="3838095" cy="3904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1531" y="4006306"/>
            <a:ext cx="5438095" cy="352381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603990" y="12824"/>
            <a:ext cx="3018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 smtClean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第一节</a:t>
            </a:r>
            <a:r>
              <a:rPr lang="zh-CN" altLang="en-US" sz="1800" dirty="0" smtClean="0">
                <a:solidFill>
                  <a:srgbClr val="7030A0"/>
                </a:solidFill>
                <a:ea typeface="华文新魏" panose="02010800040101010101" pitchFamily="2" charset="-122"/>
              </a:rPr>
              <a:t>微分方程的基本概念 </a:t>
            </a:r>
            <a:endParaRPr lang="zh-CN" altLang="en-US" sz="1800" dirty="0">
              <a:solidFill>
                <a:srgbClr val="7030A0"/>
              </a:solidFill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55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5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9" grpId="0" autoUpdateAnimBg="0"/>
      <p:bldP spid="235530" grpId="0" autoUpdateAnimBg="0"/>
      <p:bldP spid="235534" grpId="0" autoUpdateAnimBg="0"/>
      <p:bldP spid="235535" grpId="0" build="p" autoUpdateAnimBg="0"/>
      <p:bldP spid="235544" grpId="0" build="p" autoUpdateAnimBg="0"/>
      <p:bldP spid="235549" grpId="0"/>
      <p:bldP spid="235550" grpId="0"/>
      <p:bldP spid="23555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65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896096"/>
              </p:ext>
            </p:extLst>
          </p:nvPr>
        </p:nvGraphicFramePr>
        <p:xfrm>
          <a:off x="2164491" y="1072682"/>
          <a:ext cx="6578916" cy="505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2" name="Equation" r:id="rId3" imgW="6924542" imgH="514178" progId="Equation.3">
                  <p:embed/>
                </p:oleObj>
              </mc:Choice>
              <mc:Fallback>
                <p:oleObj name="Equation" r:id="rId3" imgW="6924542" imgH="51417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4491" y="1072682"/>
                        <a:ext cx="6578916" cy="505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6" name="Text Box 12"/>
          <p:cNvSpPr txBox="1">
            <a:spLocks noChangeArrowheads="1"/>
          </p:cNvSpPr>
          <p:nvPr/>
        </p:nvSpPr>
        <p:spPr bwMode="auto">
          <a:xfrm>
            <a:off x="1012009" y="447438"/>
            <a:ext cx="586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n 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阶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微分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方程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初始条件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或初值条件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236565" name="Rectangle 21"/>
          <p:cNvSpPr>
            <a:spLocks noChangeArrowheads="1"/>
          </p:cNvSpPr>
          <p:nvPr/>
        </p:nvSpPr>
        <p:spPr bwMode="auto">
          <a:xfrm>
            <a:off x="1106886" y="1878967"/>
            <a:ext cx="2646558" cy="36933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400" b="1" dirty="0">
                <a:solidFill>
                  <a:srgbClr val="99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微分方程的特解？</a:t>
            </a:r>
          </a:p>
        </p:txBody>
      </p:sp>
      <p:sp>
        <p:nvSpPr>
          <p:cNvPr id="236567" name="Rectangle 23"/>
          <p:cNvSpPr>
            <a:spLocks noChangeArrowheads="1"/>
          </p:cNvSpPr>
          <p:nvPr/>
        </p:nvSpPr>
        <p:spPr bwMode="auto">
          <a:xfrm>
            <a:off x="4297680" y="1887815"/>
            <a:ext cx="2462213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不含任意常数的解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6569" name="Rectangle 25"/>
              <p:cNvSpPr>
                <a:spLocks noChangeArrowheads="1"/>
              </p:cNvSpPr>
              <p:nvPr/>
            </p:nvSpPr>
            <p:spPr bwMode="auto">
              <a:xfrm>
                <a:off x="4372765" y="2706894"/>
                <a:ext cx="2387128" cy="4062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t" hangingPunct="1">
                  <a:lnSpc>
                    <a:spcPct val="110000"/>
                  </a:lnSpc>
                  <a:spcBef>
                    <a:spcPct val="0"/>
                  </a:spcBef>
                  <a:buNone/>
                </a:pPr>
                <a:r>
                  <a:rPr kumimoji="1" lang="zh-CN" altLang="en-US" sz="2400" dirty="0" smtClean="0"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引例中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kumimoji="1" lang="en-US" altLang="zh-CN" sz="2400" dirty="0"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236569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2765" y="2706894"/>
                <a:ext cx="2387128" cy="406265"/>
              </a:xfrm>
              <a:prstGeom prst="rect">
                <a:avLst/>
              </a:prstGeom>
              <a:blipFill>
                <a:blip r:embed="rId5"/>
                <a:stretch>
                  <a:fillRect l="-7653" t="-13433" r="-3061" b="-447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6570" name="Rectangle 26"/>
          <p:cNvSpPr>
            <a:spLocks noChangeArrowheads="1"/>
          </p:cNvSpPr>
          <p:nvPr/>
        </p:nvSpPr>
        <p:spPr bwMode="auto">
          <a:xfrm>
            <a:off x="1106886" y="2659580"/>
            <a:ext cx="29543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微分方程的积分曲线</a:t>
            </a:r>
          </a:p>
        </p:txBody>
      </p:sp>
      <p:sp>
        <p:nvSpPr>
          <p:cNvPr id="236571" name="Rectangle 27"/>
          <p:cNvSpPr>
            <a:spLocks noChangeArrowheads="1"/>
          </p:cNvSpPr>
          <p:nvPr/>
        </p:nvSpPr>
        <p:spPr bwMode="auto">
          <a:xfrm>
            <a:off x="1106886" y="3389624"/>
            <a:ext cx="73660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初值问题的几何意义？</a:t>
            </a:r>
          </a:p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Times New Roman" panose="02020603050405020304" pitchFamily="18" charset="0"/>
              </a:rPr>
              <a:t>  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(1)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一阶微分方程的初值问题；</a:t>
            </a:r>
          </a:p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(2)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二阶微分方程的初值问题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3A80DD-1305-4DBF-BAEF-D0B0B3BC3163}" type="datetime11">
              <a:rPr lang="zh-CN" altLang="en-US" smtClean="0"/>
              <a:t>15:29:48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106886" y="5367001"/>
            <a:ext cx="94179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微分方程主要学习两个方面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）建立微分方程；（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2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）求解微分方程</a:t>
            </a:r>
            <a:endParaRPr lang="zh-CN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603990" y="12824"/>
            <a:ext cx="3018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 smtClean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第一节</a:t>
            </a:r>
            <a:r>
              <a:rPr lang="zh-CN" altLang="en-US" sz="1800" dirty="0" smtClean="0">
                <a:solidFill>
                  <a:srgbClr val="7030A0"/>
                </a:solidFill>
                <a:ea typeface="华文新魏" panose="02010800040101010101" pitchFamily="2" charset="-122"/>
              </a:rPr>
              <a:t>微分方程的基本概念 </a:t>
            </a:r>
            <a:endParaRPr lang="zh-CN" altLang="en-US" sz="1800" dirty="0">
              <a:solidFill>
                <a:srgbClr val="7030A0"/>
              </a:solidFill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6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6" grpId="0" build="p" autoUpdateAnimBg="0"/>
      <p:bldP spid="236565" grpId="0" animBg="1"/>
      <p:bldP spid="236567" grpId="0"/>
      <p:bldP spid="236569" grpId="0"/>
      <p:bldP spid="236570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15:29:48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576465" y="1837466"/>
                <a:ext cx="7416630" cy="8855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E36C0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建立微分方程  </a:t>
                </a:r>
                <a:r>
                  <a:rPr lang="zh-CN" altLang="en-US" sz="2400" dirty="0" smtClean="0"/>
                  <a:t>设水流速度为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zh-CN" altLang="en-US" sz="2400" i="0">
                        <a:latin typeface="Cambria Math" panose="02040503050406030204" pitchFamily="18" charset="0"/>
                      </a:rPr>
                      <m:t>(|</m:t>
                    </m:r>
                    <m:acc>
                      <m:accPr>
                        <m:chr m:val="⃗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zh-CN" altLang="en-US" sz="2400" i="0">
                        <a:latin typeface="Cambria Math" panose="02040503050406030204" pitchFamily="18" charset="0"/>
                      </a:rPr>
                      <m:t>|=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/>
                  <a:t>鸭子游速为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zh-CN" altLang="en-US" sz="2400" i="0">
                        <a:latin typeface="Cambria Math" panose="02040503050406030204" pitchFamily="18" charset="0"/>
                      </a:rPr>
                      <m:t>(|</m:t>
                    </m:r>
                    <m:acc>
                      <m:accPr>
                        <m:chr m:val="⃗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zh-CN" altLang="en-US" sz="2400" i="0">
                        <a:latin typeface="Cambria Math" panose="02040503050406030204" pitchFamily="18" charset="0"/>
                      </a:rPr>
                      <m:t>|=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/>
                  <a:t>  则鸭子实际运动速度为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zh-CN" altLang="en-US" sz="24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65" y="1837466"/>
                <a:ext cx="7416630" cy="885563"/>
              </a:xfrm>
              <a:prstGeom prst="rect">
                <a:avLst/>
              </a:prstGeom>
              <a:blipFill>
                <a:blip r:embed="rId2"/>
                <a:stretch>
                  <a:fillRect l="-1316" t="-8904" b="-12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552449" y="2665124"/>
                <a:ext cx="8058604" cy="14688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/>
                  <a:t>设在时刻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 smtClean="0"/>
                  <a:t> 鸭子位于点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/>
                  <a:t>，位置时间函数为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400" dirty="0" smtClean="0"/>
                  <a:t>则鸭子运动速度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49" y="2665124"/>
                <a:ext cx="8058604" cy="1468864"/>
              </a:xfrm>
              <a:prstGeom prst="rect">
                <a:avLst/>
              </a:prstGeom>
              <a:blipFill>
                <a:blip r:embed="rId3"/>
                <a:stretch>
                  <a:fillRect l="-1210" b="-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12"/>
          <p:cNvSpPr>
            <a:spLocks noChangeArrowheads="1"/>
          </p:cNvSpPr>
          <p:nvPr/>
        </p:nvSpPr>
        <p:spPr bwMode="auto">
          <a:xfrm>
            <a:off x="454318" y="1131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497207" y="4178339"/>
                <a:ext cx="3799053" cy="12508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f>
                              <m:f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</m:e>
                          <m:e>
                            <m:f>
                              <m:f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f>
                              <m:f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</m:e>
                        </m:eqArr>
                      </m:e>
                    </m:d>
                  </m:oMath>
                </a14:m>
                <a:r>
                  <a:rPr lang="zh-CN" altLang="en-US" sz="2000" dirty="0" smtClean="0"/>
                  <a:t>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207" y="4178339"/>
                <a:ext cx="3799053" cy="12508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组合 45"/>
          <p:cNvGrpSpPr/>
          <p:nvPr/>
        </p:nvGrpSpPr>
        <p:grpSpPr>
          <a:xfrm>
            <a:off x="8611053" y="1275499"/>
            <a:ext cx="3171825" cy="3188345"/>
            <a:chOff x="8841242" y="2189798"/>
            <a:chExt cx="3171825" cy="3188345"/>
          </a:xfrm>
        </p:grpSpPr>
        <p:grpSp>
          <p:nvGrpSpPr>
            <p:cNvPr id="11" name="组合 10"/>
            <p:cNvGrpSpPr/>
            <p:nvPr/>
          </p:nvGrpSpPr>
          <p:grpSpPr>
            <a:xfrm>
              <a:off x="8841242" y="2189798"/>
              <a:ext cx="3171825" cy="3188345"/>
              <a:chOff x="8101013" y="2128838"/>
              <a:chExt cx="3171825" cy="3188345"/>
            </a:xfrm>
          </p:grpSpPr>
          <p:cxnSp>
            <p:nvCxnSpPr>
              <p:cNvPr id="12" name="直接箭头连接符 11"/>
              <p:cNvCxnSpPr/>
              <p:nvPr/>
            </p:nvCxnSpPr>
            <p:spPr>
              <a:xfrm>
                <a:off x="8101013" y="4972050"/>
                <a:ext cx="3171825" cy="0"/>
              </a:xfrm>
              <a:prstGeom prst="straightConnector1">
                <a:avLst/>
              </a:prstGeom>
              <a:ln w="9525">
                <a:solidFill>
                  <a:schemeClr val="tx1">
                    <a:lumMod val="95000"/>
                    <a:lumOff val="5000"/>
                  </a:schemeClr>
                </a:solidFill>
                <a:tailEnd type="triangle" w="med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/>
              <p:cNvCxnSpPr/>
              <p:nvPr/>
            </p:nvCxnSpPr>
            <p:spPr>
              <a:xfrm flipV="1">
                <a:off x="8693944" y="2128838"/>
                <a:ext cx="0" cy="3043238"/>
              </a:xfrm>
              <a:prstGeom prst="straightConnector1">
                <a:avLst/>
              </a:prstGeom>
              <a:ln w="9525">
                <a:solidFill>
                  <a:schemeClr val="tx1">
                    <a:lumMod val="95000"/>
                    <a:lumOff val="5000"/>
                  </a:schemeClr>
                </a:solidFill>
                <a:tailEnd type="triangle" w="med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>
                <a:off x="8693944" y="2643188"/>
                <a:ext cx="2066058" cy="0"/>
              </a:xfrm>
              <a:prstGeom prst="line">
                <a:avLst/>
              </a:prstGeom>
              <a:ln w="9525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/>
              <p:cNvCxnSpPr>
                <a:stCxn id="22" idx="2"/>
              </p:cNvCxnSpPr>
              <p:nvPr/>
            </p:nvCxnSpPr>
            <p:spPr>
              <a:xfrm flipH="1">
                <a:off x="9364234" y="3433860"/>
                <a:ext cx="574260" cy="725926"/>
              </a:xfrm>
              <a:prstGeom prst="straightConnector1">
                <a:avLst/>
              </a:prstGeom>
              <a:ln w="9525">
                <a:solidFill>
                  <a:schemeClr val="tx1">
                    <a:lumMod val="95000"/>
                    <a:lumOff val="5000"/>
                  </a:schemeClr>
                </a:solidFill>
                <a:tailEnd type="triangle" w="med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/>
              <p:cNvCxnSpPr>
                <a:stCxn id="22" idx="2"/>
              </p:cNvCxnSpPr>
              <p:nvPr/>
            </p:nvCxnSpPr>
            <p:spPr>
              <a:xfrm flipV="1">
                <a:off x="9938494" y="3412840"/>
                <a:ext cx="821508" cy="21020"/>
              </a:xfrm>
              <a:prstGeom prst="straightConnector1">
                <a:avLst/>
              </a:prstGeom>
              <a:ln w="9525">
                <a:solidFill>
                  <a:schemeClr val="tx1">
                    <a:lumMod val="95000"/>
                    <a:lumOff val="5000"/>
                  </a:schemeClr>
                </a:solidFill>
                <a:tailEnd type="triangle" w="med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/>
              <p:cNvCxnSpPr/>
              <p:nvPr/>
            </p:nvCxnSpPr>
            <p:spPr>
              <a:xfrm>
                <a:off x="8924925" y="3880917"/>
                <a:ext cx="165423" cy="0"/>
              </a:xfrm>
              <a:prstGeom prst="straightConnector1">
                <a:avLst/>
              </a:prstGeom>
              <a:ln w="9525"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27"/>
              <p:cNvSpPr txBox="1"/>
              <p:nvPr/>
            </p:nvSpPr>
            <p:spPr>
              <a:xfrm>
                <a:off x="8693311" y="4855518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cs typeface="Times New Roman" pitchFamily="18" charset="0"/>
                  </a:rPr>
                  <a:t>o</a:t>
                </a:r>
                <a:endParaRPr lang="zh-CN" altLang="en-US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" name="TextBox 30"/>
              <p:cNvSpPr txBox="1"/>
              <p:nvPr/>
            </p:nvSpPr>
            <p:spPr>
              <a:xfrm>
                <a:off x="8255446" y="3609814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i="1" dirty="0" smtClean="0">
                    <a:latin typeface="Times New Roman" pitchFamily="18" charset="0"/>
                    <a:cs typeface="Times New Roman" pitchFamily="18" charset="0"/>
                  </a:rPr>
                  <a:t>h</a:t>
                </a:r>
                <a:endParaRPr lang="zh-CN" alt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" name="TextBox 31"/>
              <p:cNvSpPr txBox="1"/>
              <p:nvPr/>
            </p:nvSpPr>
            <p:spPr>
              <a:xfrm>
                <a:off x="8255446" y="2493690"/>
                <a:ext cx="3417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i="1" dirty="0" smtClean="0">
                    <a:latin typeface="Times New Roman" pitchFamily="18" charset="0"/>
                    <a:cs typeface="Times New Roman" pitchFamily="18" charset="0"/>
                  </a:rPr>
                  <a:t>A</a:t>
                </a:r>
                <a:endParaRPr lang="zh-CN" alt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1" name="TextBox 33"/>
              <p:cNvSpPr txBox="1"/>
              <p:nvPr/>
            </p:nvSpPr>
            <p:spPr>
              <a:xfrm>
                <a:off x="8828565" y="3846014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i="1" dirty="0" smtClean="0">
                    <a:latin typeface="Times New Roman" pitchFamily="18" charset="0"/>
                    <a:cs typeface="Times New Roman" pitchFamily="18" charset="0"/>
                  </a:rPr>
                  <a:t>b</a:t>
                </a:r>
                <a:endParaRPr lang="zh-CN" alt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" name="TextBox 34"/>
              <p:cNvSpPr txBox="1"/>
              <p:nvPr/>
            </p:nvSpPr>
            <p:spPr>
              <a:xfrm>
                <a:off x="9767614" y="3033750"/>
                <a:ext cx="3417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i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endParaRPr lang="zh-CN" alt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" name="TextBox 35"/>
              <p:cNvSpPr txBox="1"/>
              <p:nvPr/>
            </p:nvSpPr>
            <p:spPr>
              <a:xfrm>
                <a:off x="10789443" y="3210719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i="1" dirty="0" smtClean="0">
                    <a:latin typeface="Times New Roman" pitchFamily="18" charset="0"/>
                    <a:cs typeface="Times New Roman" pitchFamily="18" charset="0"/>
                  </a:rPr>
                  <a:t>a</a:t>
                </a:r>
                <a:endParaRPr lang="zh-CN" alt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24" name="直接箭头连接符 23"/>
              <p:cNvCxnSpPr/>
              <p:nvPr/>
            </p:nvCxnSpPr>
            <p:spPr>
              <a:xfrm>
                <a:off x="10863547" y="3282727"/>
                <a:ext cx="165423" cy="0"/>
              </a:xfrm>
              <a:prstGeom prst="straightConnector1">
                <a:avLst/>
              </a:prstGeom>
              <a:ln w="9525"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" name="直接连接符 37"/>
            <p:cNvCxnSpPr>
              <a:stCxn id="22" idx="2"/>
            </p:cNvCxnSpPr>
            <p:nvPr/>
          </p:nvCxnSpPr>
          <p:spPr bwMode="auto">
            <a:xfrm flipH="1">
              <a:off x="9433541" y="3494820"/>
              <a:ext cx="1245182" cy="153819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3" name="弧形 42"/>
            <p:cNvSpPr/>
            <p:nvPr/>
          </p:nvSpPr>
          <p:spPr bwMode="auto">
            <a:xfrm>
              <a:off x="9463029" y="4719238"/>
              <a:ext cx="467339" cy="644297"/>
            </a:xfrm>
            <a:prstGeom prst="arc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/>
                <p:cNvSpPr/>
                <p:nvPr/>
              </p:nvSpPr>
              <p:spPr>
                <a:xfrm>
                  <a:off x="9863993" y="4566934"/>
                  <a:ext cx="3826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矩形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3993" y="4566934"/>
                  <a:ext cx="382669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/>
              <p:cNvSpPr/>
              <p:nvPr/>
            </p:nvSpPr>
            <p:spPr>
              <a:xfrm>
                <a:off x="4409280" y="4421265"/>
                <a:ext cx="2421112" cy="7345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𝑏𝑦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ad>
                            <m:radPr>
                              <m:degHide m:val="on"/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5" name="矩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280" y="4421265"/>
                <a:ext cx="2421112" cy="73456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6938076" y="4459968"/>
                <a:ext cx="2713435" cy="7345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𝑏𝑦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ad>
                            <m:radPr>
                              <m:degHide m:val="on"/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076" y="4459968"/>
                <a:ext cx="2713435" cy="73456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/>
              <p:cNvSpPr/>
              <p:nvPr/>
            </p:nvSpPr>
            <p:spPr>
              <a:xfrm>
                <a:off x="9680366" y="4454260"/>
                <a:ext cx="2416302" cy="741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ad>
                            <m:radPr>
                              <m:degHide m:val="on"/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𝑏𝑦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8" name="矩形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0366" y="4454260"/>
                <a:ext cx="2416302" cy="741037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/>
              <p:cNvSpPr/>
              <p:nvPr/>
            </p:nvSpPr>
            <p:spPr>
              <a:xfrm>
                <a:off x="454318" y="5870894"/>
                <a:ext cx="9079986" cy="7269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zh-CN" altLang="en-US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f>
                            <m:f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f>
                            <m:fPr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9" name="矩形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18" y="5870894"/>
                <a:ext cx="9079986" cy="72693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矩形 49"/>
          <p:cNvSpPr/>
          <p:nvPr/>
        </p:nvSpPr>
        <p:spPr>
          <a:xfrm>
            <a:off x="603990" y="12824"/>
            <a:ext cx="3018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 smtClean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第一节</a:t>
            </a:r>
            <a:r>
              <a:rPr lang="zh-CN" altLang="en-US" sz="1800" dirty="0" smtClean="0">
                <a:solidFill>
                  <a:srgbClr val="7030A0"/>
                </a:solidFill>
                <a:ea typeface="华文新魏" panose="02010800040101010101" pitchFamily="2" charset="-122"/>
              </a:rPr>
              <a:t>微分方程的基本概念 </a:t>
            </a:r>
            <a:endParaRPr lang="zh-CN" altLang="en-US" sz="1800" dirty="0">
              <a:solidFill>
                <a:srgbClr val="7030A0"/>
              </a:solidFill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603990" y="490755"/>
                <a:ext cx="10992265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rgbClr val="E36C0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zh-CN" altLang="en-US" sz="2400" dirty="0"/>
                  <a:t> 设河边点</a:t>
                </a:r>
                <a:r>
                  <a:rPr lang="en-US" altLang="zh-CN" sz="2400" i="1" dirty="0"/>
                  <a:t>O</a:t>
                </a:r>
                <a:r>
                  <a:rPr lang="zh-CN" altLang="en-US" sz="2400" dirty="0"/>
                  <a:t>的正对岸为点</a:t>
                </a:r>
                <a:r>
                  <a:rPr lang="en-US" altLang="zh-CN" sz="2400" i="1" dirty="0"/>
                  <a:t>A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河</a:t>
                </a:r>
                <a:r>
                  <a:rPr lang="zh-CN" altLang="en-US" sz="2400" dirty="0" smtClean="0"/>
                  <a:t>宽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𝑂𝐴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两岸为平行直线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水流速度为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有一鸭子从点</a:t>
                </a:r>
                <a:r>
                  <a:rPr lang="en-US" altLang="zh-CN" sz="2400" i="1" dirty="0"/>
                  <a:t>A</a:t>
                </a:r>
                <a:r>
                  <a:rPr lang="zh-CN" altLang="en-US" sz="2400" dirty="0"/>
                  <a:t>游向点</a:t>
                </a:r>
                <a:r>
                  <a:rPr lang="en-US" altLang="zh-CN" sz="2400" i="1" dirty="0"/>
                  <a:t>O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设鸭子</a:t>
                </a:r>
                <a:r>
                  <a:rPr lang="en-US" altLang="zh-CN" sz="2400" dirty="0"/>
                  <a:t>(</a:t>
                </a:r>
                <a:r>
                  <a:rPr lang="zh-CN" altLang="en-US" sz="2400" dirty="0"/>
                  <a:t>在静水中</a:t>
                </a:r>
                <a:r>
                  <a:rPr lang="en-US" altLang="zh-CN" sz="2400" dirty="0"/>
                  <a:t>)</a:t>
                </a:r>
                <a:r>
                  <a:rPr lang="zh-CN" altLang="en-US" sz="2400" dirty="0"/>
                  <a:t>的游速为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且鸭子游动方向始终朝着点</a:t>
                </a:r>
                <a:r>
                  <a:rPr lang="en-US" altLang="zh-CN" sz="2400" i="1" dirty="0"/>
                  <a:t>O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求鸭子游过的迹线的方程</a:t>
                </a:r>
                <a:r>
                  <a:rPr lang="en-US" altLang="zh-CN" sz="2400" dirty="0"/>
                  <a:t>.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90" y="490755"/>
                <a:ext cx="10992265" cy="1200329"/>
              </a:xfrm>
              <a:prstGeom prst="rect">
                <a:avLst/>
              </a:prstGeom>
              <a:blipFill>
                <a:blip r:embed="rId38"/>
                <a:stretch>
                  <a:fillRect l="-832" t="-5612" b="-1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996320" y="5380567"/>
                <a:ext cx="3018455" cy="4908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初值条件：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320" y="5380567"/>
                <a:ext cx="3018455" cy="490840"/>
              </a:xfrm>
              <a:prstGeom prst="rect">
                <a:avLst/>
              </a:prstGeom>
              <a:blipFill>
                <a:blip r:embed="rId39"/>
                <a:stretch>
                  <a:fillRect l="-3232" t="-13750"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0199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5" grpId="0"/>
      <p:bldP spid="45" grpId="0"/>
      <p:bldP spid="47" grpId="0"/>
      <p:bldP spid="48" grpId="0"/>
      <p:bldP spid="49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9"/>
          <p:cNvSpPr>
            <a:spLocks noChangeArrowheads="1"/>
          </p:cNvSpPr>
          <p:nvPr/>
        </p:nvSpPr>
        <p:spPr bwMode="auto">
          <a:xfrm>
            <a:off x="1524000" y="0"/>
            <a:ext cx="9144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B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0244" name="Rectangle 10"/>
          <p:cNvSpPr>
            <a:spLocks noChangeArrowheads="1"/>
          </p:cNvSpPr>
          <p:nvPr/>
        </p:nvSpPr>
        <p:spPr bwMode="auto">
          <a:xfrm>
            <a:off x="3149600" y="228600"/>
            <a:ext cx="6832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dirty="0">
                <a:latin typeface="华文行楷" panose="02010800040101010101" pitchFamily="2" charset="-122"/>
                <a:ea typeface="华文新魏" panose="02010800040101010101" pitchFamily="2" charset="-122"/>
              </a:rPr>
              <a:t>第二节可分离变量的</a:t>
            </a:r>
            <a:r>
              <a:rPr lang="zh-CN" altLang="en-US" sz="4000" dirty="0">
                <a:ea typeface="华文新魏" panose="02010800040101010101" pitchFamily="2" charset="-122"/>
              </a:rPr>
              <a:t>微分方程</a:t>
            </a:r>
          </a:p>
        </p:txBody>
      </p:sp>
      <p:sp>
        <p:nvSpPr>
          <p:cNvPr id="237586" name="Rectangle 18"/>
          <p:cNvSpPr>
            <a:spLocks noChangeArrowheads="1"/>
          </p:cNvSpPr>
          <p:nvPr/>
        </p:nvSpPr>
        <p:spPr bwMode="auto">
          <a:xfrm>
            <a:off x="833039" y="1258570"/>
            <a:ext cx="90598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第二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~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第四节讨论一阶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微分方程</a:t>
            </a:r>
            <a:r>
              <a:rPr kumimoji="1" lang="en-US" altLang="zh-CN" sz="2400" i="1" dirty="0" smtClean="0">
                <a:latin typeface="Times New Roman" panose="02020603050405020304" pitchFamily="18" charset="0"/>
              </a:rPr>
              <a:t>y</a:t>
            </a:r>
            <a:r>
              <a:rPr kumimoji="1" lang="en-US" altLang="zh-CN" sz="2400" dirty="0" smtClean="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kumimoji="1" lang="en-US" altLang="zh-CN" sz="2400" dirty="0" smtClean="0">
                <a:latin typeface="Times New Roman" panose="02020603050405020304" pitchFamily="18" charset="0"/>
              </a:rPr>
              <a:t>= </a:t>
            </a:r>
            <a:r>
              <a:rPr kumimoji="1" lang="en-US" altLang="zh-CN" sz="2400" i="1" dirty="0" smtClean="0">
                <a:latin typeface="Times New Roman" panose="02020603050405020304" pitchFamily="18" charset="0"/>
              </a:rPr>
              <a:t>f</a:t>
            </a:r>
            <a:r>
              <a:rPr kumimoji="1" lang="en-US" altLang="zh-CN" sz="2400" dirty="0" smtClean="0"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 dirty="0" smtClean="0">
                <a:latin typeface="Times New Roman" panose="02020603050405020304" pitchFamily="18" charset="0"/>
              </a:rPr>
              <a:t>x</a:t>
            </a:r>
            <a:r>
              <a:rPr kumimoji="1" lang="en-US" altLang="zh-CN" sz="2400" dirty="0" smtClean="0">
                <a:latin typeface="Times New Roman" panose="02020603050405020304" pitchFamily="18" charset="0"/>
              </a:rPr>
              <a:t>, </a:t>
            </a:r>
            <a:r>
              <a:rPr kumimoji="1" lang="en-US" altLang="zh-CN" sz="2400" i="1" dirty="0" smtClean="0">
                <a:latin typeface="Times New Roman" panose="02020603050405020304" pitchFamily="18" charset="0"/>
              </a:rPr>
              <a:t>y</a:t>
            </a:r>
            <a:r>
              <a:rPr kumimoji="1" lang="en-US" altLang="zh-CN" sz="2400" dirty="0" smtClean="0">
                <a:latin typeface="Times New Roman" panose="02020603050405020304" pitchFamily="18" charset="0"/>
              </a:rPr>
              <a:t>)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的解法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37587" name="Rectangle 19"/>
          <p:cNvSpPr>
            <a:spLocks noChangeArrowheads="1"/>
          </p:cNvSpPr>
          <p:nvPr/>
        </p:nvSpPr>
        <p:spPr bwMode="auto">
          <a:xfrm>
            <a:off x="795040" y="1911986"/>
            <a:ext cx="334707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可分离变量的微分方程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237588" name="Rectangle 20"/>
          <p:cNvSpPr>
            <a:spLocks noChangeArrowheads="1"/>
          </p:cNvSpPr>
          <p:nvPr/>
        </p:nvSpPr>
        <p:spPr bwMode="auto">
          <a:xfrm>
            <a:off x="1771651" y="2642833"/>
            <a:ext cx="12551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zh-CN" sz="2400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= 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f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, </a:t>
            </a:r>
            <a:r>
              <a:rPr kumimoji="1" lang="en-US" altLang="zh-CN" sz="2400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)</a:t>
            </a:r>
            <a:endParaRPr kumimoji="1" lang="en-US" altLang="zh-CN" sz="2400" i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589" name="Line 21"/>
          <p:cNvSpPr>
            <a:spLocks noChangeShapeType="1"/>
          </p:cNvSpPr>
          <p:nvPr/>
        </p:nvSpPr>
        <p:spPr bwMode="auto">
          <a:xfrm>
            <a:off x="3403600" y="2852089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237591" name="Rectangle 23"/>
          <p:cNvSpPr>
            <a:spLocks noChangeArrowheads="1"/>
          </p:cNvSpPr>
          <p:nvPr/>
        </p:nvSpPr>
        <p:spPr bwMode="auto">
          <a:xfrm>
            <a:off x="1771651" y="3170548"/>
            <a:ext cx="828753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kumimoji="1" lang="en-US" altLang="zh-CN" sz="2400">
                <a:latin typeface="Times New Roman" panose="02020603050405020304" pitchFamily="18" charset="0"/>
              </a:rPr>
              <a:t>= 2</a:t>
            </a:r>
            <a:r>
              <a:rPr kumimoji="1" lang="en-US" altLang="zh-CN" sz="2400" i="1">
                <a:latin typeface="Times New Roman" panose="02020603050405020304" pitchFamily="18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7592" name="Rectangle 24"/>
              <p:cNvSpPr>
                <a:spLocks noChangeArrowheads="1"/>
              </p:cNvSpPr>
              <p:nvPr/>
            </p:nvSpPr>
            <p:spPr bwMode="auto">
              <a:xfrm>
                <a:off x="5149851" y="3145148"/>
                <a:ext cx="1163780" cy="4062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t" hangingPunct="1">
                  <a:lnSpc>
                    <a:spcPct val="11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dirty="0" err="1">
                    <a:latin typeface="Times New Roman" panose="02020603050405020304" pitchFamily="18" charset="0"/>
                  </a:rPr>
                  <a:t>d</a:t>
                </a:r>
                <a:r>
                  <a:rPr kumimoji="1" lang="en-US" altLang="zh-CN" sz="2400" i="1" dirty="0" err="1">
                    <a:latin typeface="Times New Roman" panose="02020603050405020304" pitchFamily="18" charset="0"/>
                  </a:rPr>
                  <a:t>y</a:t>
                </a:r>
                <a:r>
                  <a:rPr kumimoji="1" lang="en-US" altLang="zh-CN" sz="2400" i="1" dirty="0">
                    <a:latin typeface="Times New Roman" panose="02020603050405020304" pitchFamily="18" charset="0"/>
                  </a:rPr>
                  <a:t>=</a:t>
                </a:r>
                <a:r>
                  <a:rPr kumimoji="1" lang="en-US" altLang="zh-CN" sz="2400" dirty="0">
                    <a:latin typeface="Times New Roman" panose="02020603050405020304" pitchFamily="18" charset="0"/>
                  </a:rPr>
                  <a:t>2</a:t>
                </a:r>
                <a:r>
                  <a:rPr kumimoji="1" lang="en-US" altLang="zh-CN" sz="2400" i="1" dirty="0">
                    <a:latin typeface="Times New Roman" panose="02020603050405020304" pitchFamily="18" charset="0"/>
                  </a:rPr>
                  <a:t>x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400" i="1" dirty="0">
                    <a:latin typeface="Times New Roman" panose="02020603050405020304" pitchFamily="18" charset="0"/>
                  </a:rPr>
                  <a:t>x</a:t>
                </a:r>
              </a:p>
            </p:txBody>
          </p:sp>
        </mc:Choice>
        <mc:Fallback xmlns="">
          <p:sp>
            <p:nvSpPr>
              <p:cNvPr id="237592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9851" y="3145148"/>
                <a:ext cx="1163780" cy="406265"/>
              </a:xfrm>
              <a:prstGeom prst="rect">
                <a:avLst/>
              </a:prstGeom>
              <a:blipFill>
                <a:blip r:embed="rId3"/>
                <a:stretch>
                  <a:fillRect l="-16230" t="-14925" r="-14660" b="-432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593" name="Line 25"/>
          <p:cNvSpPr>
            <a:spLocks noChangeShapeType="1"/>
          </p:cNvSpPr>
          <p:nvPr/>
        </p:nvSpPr>
        <p:spPr bwMode="auto">
          <a:xfrm>
            <a:off x="3433672" y="337368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237594" name="Rectangle 26"/>
          <p:cNvSpPr>
            <a:spLocks noChangeArrowheads="1"/>
          </p:cNvSpPr>
          <p:nvPr/>
        </p:nvSpPr>
        <p:spPr bwMode="auto">
          <a:xfrm>
            <a:off x="1724938" y="3760779"/>
            <a:ext cx="1067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y</a:t>
            </a:r>
            <a:r>
              <a:rPr kumimoji="1"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 </a:t>
            </a:r>
            <a:r>
              <a:rPr kumimoji="1" lang="en-US" altLang="zh-CN" sz="2400">
                <a:latin typeface="Times New Roman" panose="02020603050405020304" pitchFamily="18" charset="0"/>
              </a:rPr>
              <a:t>= 2</a:t>
            </a:r>
            <a:r>
              <a:rPr kumimoji="1" lang="en-US" altLang="zh-CN" sz="2400" i="1">
                <a:latin typeface="Times New Roman" panose="02020603050405020304" pitchFamily="18" charset="0"/>
              </a:rPr>
              <a:t>xy</a:t>
            </a:r>
            <a:r>
              <a:rPr kumimoji="1" lang="en-US" altLang="zh-CN" sz="2400" baseline="30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37596" name="Line 28"/>
          <p:cNvSpPr>
            <a:spLocks noChangeShapeType="1"/>
          </p:cNvSpPr>
          <p:nvPr/>
        </p:nvSpPr>
        <p:spPr bwMode="auto">
          <a:xfrm>
            <a:off x="3445787" y="3945445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CDA44AF-8442-430F-B79B-ADE6E110A157}" type="datetime11">
              <a:rPr lang="zh-CN" altLang="en-US" smtClean="0"/>
              <a:t>15:29:48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36"/>
              <p:cNvSpPr txBox="1">
                <a:spLocks noChangeArrowheads="1"/>
              </p:cNvSpPr>
              <p:nvPr/>
            </p:nvSpPr>
            <p:spPr bwMode="auto">
              <a:xfrm>
                <a:off x="998583" y="4302319"/>
                <a:ext cx="9847757" cy="8863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dirty="0" smtClean="0">
                    <a:latin typeface="Times New Roman" panose="02020603050405020304" pitchFamily="18" charset="0"/>
                  </a:rPr>
                  <a:t>       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如果一个一阶微分方程能写</a:t>
                </a: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成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CN" sz="2400" i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(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或写成</a:t>
                </a:r>
                <a:r>
                  <a:rPr kumimoji="1" lang="en-US" altLang="zh-CN" sz="2400" i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y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</a:t>
                </a:r>
                <a:r>
                  <a:rPr kumimoji="1" lang="en-US" altLang="zh-CN" sz="2400" i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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400" i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x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)</a:t>
                </a:r>
                <a:r>
                  <a:rPr kumimoji="1" lang="en-US" altLang="zh-CN" sz="2400" i="1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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(</a:t>
                </a:r>
                <a:r>
                  <a:rPr kumimoji="1" lang="en-US" altLang="zh-CN" sz="2400" i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y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)) </a:t>
                </a:r>
              </a:p>
              <a:p>
                <a:pPr algn="just"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的形式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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那么原方程就称为可分离变量的微分方程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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  </a:t>
                </a:r>
              </a:p>
            </p:txBody>
          </p:sp>
        </mc:Choice>
        <mc:Fallback xmlns="">
          <p:sp>
            <p:nvSpPr>
              <p:cNvPr id="23" name="Text 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8583" y="4302319"/>
                <a:ext cx="9847757" cy="886397"/>
              </a:xfrm>
              <a:prstGeom prst="rect">
                <a:avLst/>
              </a:prstGeom>
              <a:blipFill>
                <a:blip r:embed="rId4"/>
                <a:stretch>
                  <a:fillRect l="-1920" t="-9655" b="-1517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227380"/>
              </p:ext>
            </p:extLst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9" name="Equation" r:id="rId5" imgW="114120" imgH="177480" progId="Equation.DSMT4">
                  <p:embed/>
                </p:oleObj>
              </mc:Choice>
              <mc:Fallback>
                <p:oleObj name="Equation" r:id="rId5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691974" y="3607055"/>
                <a:ext cx="3616055" cy="6753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=2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/>
                      </m:mr>
                    </m:m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≠0!</m:t>
                    </m:r>
                  </m:oMath>
                </a14:m>
                <a:r>
                  <a:rPr lang="en-US" altLang="zh-CN" sz="2400" dirty="0" smtClean="0"/>
                  <a:t>)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974" y="3607055"/>
                <a:ext cx="3616055" cy="675378"/>
              </a:xfrm>
              <a:prstGeom prst="rect">
                <a:avLst/>
              </a:prstGeom>
              <a:blipFill>
                <a:blip r:embed="rId7"/>
                <a:stretch>
                  <a:fillRect b="-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868840" y="5347962"/>
            <a:ext cx="10021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求解</a:t>
            </a:r>
            <a:r>
              <a:rPr kumimoji="1" lang="en-US" altLang="zh-CN" sz="28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203051" y="5166766"/>
                <a:ext cx="3217676" cy="10610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051" y="5166766"/>
                <a:ext cx="3217676" cy="10610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454569" y="2606079"/>
                <a:ext cx="259571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569" y="2606079"/>
                <a:ext cx="2595711" cy="461665"/>
              </a:xfrm>
              <a:prstGeom prst="rect">
                <a:avLst/>
              </a:prstGeom>
              <a:blipFill>
                <a:blip r:embed="rId9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437278" y="-32856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第二节可分离变量的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微分方程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86" grpId="0"/>
      <p:bldP spid="237587" grpId="0"/>
      <p:bldP spid="237588" grpId="0"/>
      <p:bldP spid="237591" grpId="0"/>
      <p:bldP spid="237592" grpId="0"/>
      <p:bldP spid="237594" grpId="0"/>
      <p:bldP spid="23" grpId="0" uiExpand="1" build="p" autoUpdateAnimBg="0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24" name="Rectangle 16"/>
          <p:cNvSpPr>
            <a:spLocks noChangeArrowheads="1"/>
          </p:cNvSpPr>
          <p:nvPr/>
        </p:nvSpPr>
        <p:spPr bwMode="auto">
          <a:xfrm>
            <a:off x="1972003" y="2358165"/>
            <a:ext cx="13849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1" lang="zh-CN" altLang="en-US" sz="2400" dirty="0">
                <a:latin typeface="+mj-ea"/>
                <a:ea typeface="+mj-ea"/>
              </a:rPr>
              <a:t>两边积分</a:t>
            </a:r>
            <a:r>
              <a:rPr kumimoji="1" lang="en-US" altLang="zh-CN" sz="2400" dirty="0">
                <a:latin typeface="+mj-ea"/>
                <a:ea typeface="+mj-ea"/>
              </a:rPr>
              <a:t>,</a:t>
            </a:r>
          </a:p>
        </p:txBody>
      </p:sp>
      <p:sp>
        <p:nvSpPr>
          <p:cNvPr id="247825" name="Rectangle 17"/>
          <p:cNvSpPr>
            <a:spLocks noChangeArrowheads="1"/>
          </p:cNvSpPr>
          <p:nvPr/>
        </p:nvSpPr>
        <p:spPr bwMode="auto">
          <a:xfrm>
            <a:off x="1969773" y="1461865"/>
            <a:ext cx="2000548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+mj-ea"/>
                <a:ea typeface="+mj-ea"/>
              </a:rPr>
              <a:t>分离变量后</a:t>
            </a:r>
            <a:r>
              <a:rPr kumimoji="1" lang="en-US" altLang="zh-CN" sz="2400" dirty="0">
                <a:latin typeface="+mj-ea"/>
                <a:ea typeface="+mj-ea"/>
              </a:rPr>
              <a:t>,</a:t>
            </a:r>
            <a:r>
              <a:rPr kumimoji="1" lang="zh-CN" altLang="en-US" sz="2400" dirty="0" smtClean="0">
                <a:latin typeface="+mj-ea"/>
                <a:ea typeface="+mj-ea"/>
              </a:rPr>
              <a:t>得</a:t>
            </a:r>
            <a:endParaRPr kumimoji="1" lang="en-US" altLang="zh-CN" sz="2400" dirty="0">
              <a:latin typeface="+mj-ea"/>
              <a:ea typeface="+mj-ea"/>
            </a:endParaRPr>
          </a:p>
        </p:txBody>
      </p:sp>
      <p:sp>
        <p:nvSpPr>
          <p:cNvPr id="247826" name="Rectangle 18"/>
          <p:cNvSpPr>
            <a:spLocks noChangeArrowheads="1"/>
          </p:cNvSpPr>
          <p:nvPr/>
        </p:nvSpPr>
        <p:spPr bwMode="auto">
          <a:xfrm>
            <a:off x="1464584" y="1453952"/>
            <a:ext cx="538609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i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400" dirty="0" smtClean="0">
                <a:latin typeface="+mj-ea"/>
                <a:ea typeface="+mj-ea"/>
              </a:rPr>
              <a:t>解</a:t>
            </a:r>
            <a:r>
              <a:rPr kumimoji="1" lang="en-US" altLang="zh-CN" sz="2400" dirty="0" smtClean="0">
                <a:latin typeface="+mj-ea"/>
                <a:ea typeface="+mj-ea"/>
              </a:rPr>
              <a:t>:</a:t>
            </a:r>
            <a:endParaRPr kumimoji="1" lang="zh-CN" altLang="en-US" sz="2400" dirty="0">
              <a:latin typeface="+mj-ea"/>
              <a:ea typeface="+mj-ea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26D881-F495-4D63-8EFA-DE6635EE4877}" type="datetime11">
              <a:rPr lang="zh-CN" altLang="en-US" smtClean="0"/>
              <a:t>15:29:49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771759" y="597228"/>
                <a:ext cx="4532716" cy="5438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例</a:t>
                </a:r>
                <a:r>
                  <a:rPr kumimoji="1" lang="en-US" altLang="zh-CN" sz="2800" dirty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1 </a:t>
                </a:r>
                <a:r>
                  <a:rPr lang="zh-CN" altLang="en-US" sz="2400" dirty="0" smtClean="0"/>
                  <a:t>求微分方程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zh-CN" altLang="en-US" sz="2400" dirty="0" smtClean="0"/>
                  <a:t> 的通解</a:t>
                </a:r>
                <a:r>
                  <a:rPr lang="en-US" altLang="zh-CN" sz="2400" dirty="0" smtClean="0"/>
                  <a:t>.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759" y="597228"/>
                <a:ext cx="4532716" cy="543867"/>
              </a:xfrm>
              <a:prstGeom prst="rect">
                <a:avLst/>
              </a:prstGeom>
              <a:blipFill>
                <a:blip r:embed="rId15"/>
                <a:stretch>
                  <a:fillRect l="-2826" t="-19101" r="-1077" b="-247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15450" y="1214791"/>
                <a:ext cx="2794355" cy="8568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≠0</m:t>
                          </m:r>
                        </m:e>
                      </m:d>
                    </m:oMath>
                  </m:oMathPara>
                </a14:m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450" y="1214791"/>
                <a:ext cx="2794355" cy="85683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390865" y="2092373"/>
                <a:ext cx="2226059" cy="8767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zh-CN" alt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nary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865" y="2092373"/>
                <a:ext cx="2226059" cy="87671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5850164" y="2220606"/>
                <a:ext cx="23547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</a:rPr>
                  <a:t> </a:t>
                </a:r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164" y="2220606"/>
                <a:ext cx="2354747" cy="461665"/>
              </a:xfrm>
              <a:prstGeom prst="rect">
                <a:avLst/>
              </a:prstGeom>
              <a:blipFill>
                <a:blip r:embed="rId31"/>
                <a:stretch>
                  <a:fillRect l="-777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3390865" y="2921224"/>
                <a:ext cx="4481676" cy="5123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</a:rPr>
                  <a:t> </a:t>
                </a:r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865" y="2921224"/>
                <a:ext cx="4481676" cy="5123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593306" y="3523092"/>
                <a:ext cx="3990644" cy="5123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=±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306" y="3523092"/>
                <a:ext cx="3990644" cy="51232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16"/>
              <p:cNvSpPr>
                <a:spLocks noChangeArrowheads="1"/>
              </p:cNvSpPr>
              <p:nvPr/>
            </p:nvSpPr>
            <p:spPr bwMode="auto">
              <a:xfrm>
                <a:off x="1969861" y="4321948"/>
                <a:ext cx="9277861" cy="4199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kumimoji="1" lang="zh-CN" altLang="en-US" sz="2400" dirty="0" smtClean="0">
                    <a:latin typeface="+mj-ea"/>
                    <a:ea typeface="+mj-ea"/>
                  </a:rPr>
                  <a:t>经验证，</a:t>
                </a:r>
                <a:r>
                  <a:rPr lang="en-US" altLang="zh-CN" sz="2400" b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2400" dirty="0" smtClean="0">
                    <a:latin typeface="+mj-ea"/>
                    <a:ea typeface="+mj-ea"/>
                  </a:rPr>
                  <a:t>是微分方程的解，所以微分方程的通解为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𝐶𝑒</m:t>
                        </m:r>
                      </m:e>
                      <m:sup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400" dirty="0" smtClean="0">
                    <a:latin typeface="+mj-ea"/>
                    <a:ea typeface="+mj-ea"/>
                  </a:rPr>
                  <a:t>。</a:t>
                </a:r>
                <a:endParaRPr kumimoji="1" lang="en-US" altLang="zh-CN" sz="24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26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9861" y="4321948"/>
                <a:ext cx="9277861" cy="419987"/>
              </a:xfrm>
              <a:prstGeom prst="rect">
                <a:avLst/>
              </a:prstGeom>
              <a:blipFill>
                <a:blip r:embed="rId30"/>
                <a:stretch>
                  <a:fillRect l="-1971" t="-15942" r="-131" b="-3768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8701918" y="2266772"/>
            <a:ext cx="1697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隐式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通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</a:t>
            </a:r>
            <a:endParaRPr lang="zh-CN" altLang="en-US" sz="2400" dirty="0"/>
          </a:p>
        </p:txBody>
      </p:sp>
      <p:sp>
        <p:nvSpPr>
          <p:cNvPr id="18" name="矩形 17"/>
          <p:cNvSpPr/>
          <p:nvPr/>
        </p:nvSpPr>
        <p:spPr>
          <a:xfrm>
            <a:off x="437278" y="-32856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第二节可分离变量的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微分方程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24" grpId="0"/>
      <p:bldP spid="247825" grpId="0"/>
      <p:bldP spid="247826" grpId="0"/>
      <p:bldP spid="5" grpId="0"/>
      <p:bldP spid="6" grpId="0"/>
      <p:bldP spid="23" grpId="0"/>
      <p:bldP spid="24" grpId="0"/>
      <p:bldP spid="7" grpId="0"/>
      <p:bldP spid="2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771759" y="597228"/>
                <a:ext cx="679840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例</a:t>
                </a:r>
                <a:r>
                  <a:rPr kumimoji="1" lang="en-US" altLang="zh-CN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2 </a:t>
                </a:r>
                <a:r>
                  <a:rPr lang="zh-CN" altLang="en-US" sz="2400" dirty="0" smtClean="0"/>
                  <a:t>求微分方程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𝑥𝑦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dirty="0" smtClean="0"/>
                  <a:t>的通解</a:t>
                </a:r>
                <a:r>
                  <a:rPr lang="en-US" altLang="zh-CN" sz="2400" dirty="0" smtClean="0"/>
                  <a:t>.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759" y="597228"/>
                <a:ext cx="6798400" cy="523220"/>
              </a:xfrm>
              <a:prstGeom prst="rect">
                <a:avLst/>
              </a:prstGeom>
              <a:blipFill>
                <a:blip r:embed="rId2"/>
                <a:stretch>
                  <a:fillRect l="-1883" t="-16279" r="-448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7"/>
          <p:cNvSpPr>
            <a:spLocks noChangeArrowheads="1"/>
          </p:cNvSpPr>
          <p:nvPr/>
        </p:nvSpPr>
        <p:spPr bwMode="auto">
          <a:xfrm>
            <a:off x="1969773" y="1461865"/>
            <a:ext cx="2000548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+mj-ea"/>
                <a:ea typeface="+mj-ea"/>
              </a:rPr>
              <a:t>分离变量后</a:t>
            </a:r>
            <a:r>
              <a:rPr kumimoji="1" lang="en-US" altLang="zh-CN" sz="2400" dirty="0">
                <a:latin typeface="+mj-ea"/>
                <a:ea typeface="+mj-ea"/>
              </a:rPr>
              <a:t>,</a:t>
            </a:r>
            <a:r>
              <a:rPr kumimoji="1" lang="zh-CN" altLang="en-US" sz="2400" dirty="0" smtClean="0">
                <a:latin typeface="+mj-ea"/>
                <a:ea typeface="+mj-ea"/>
              </a:rPr>
              <a:t>得</a:t>
            </a:r>
            <a:endParaRPr kumimoji="1" lang="en-US" altLang="zh-CN" sz="2400" dirty="0">
              <a:latin typeface="+mj-ea"/>
              <a:ea typeface="+mj-ea"/>
            </a:endParaRPr>
          </a:p>
        </p:txBody>
      </p:sp>
      <p:sp>
        <p:nvSpPr>
          <p:cNvPr id="5" name="Rectangle 18"/>
          <p:cNvSpPr>
            <a:spLocks noChangeArrowheads="1"/>
          </p:cNvSpPr>
          <p:nvPr/>
        </p:nvSpPr>
        <p:spPr bwMode="auto">
          <a:xfrm>
            <a:off x="1464584" y="1453952"/>
            <a:ext cx="538609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i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400" dirty="0" smtClean="0">
                <a:latin typeface="+mj-ea"/>
                <a:ea typeface="+mj-ea"/>
              </a:rPr>
              <a:t>解</a:t>
            </a:r>
            <a:r>
              <a:rPr kumimoji="1" lang="en-US" altLang="zh-CN" sz="2400" dirty="0" smtClean="0">
                <a:latin typeface="+mj-ea"/>
                <a:ea typeface="+mj-ea"/>
              </a:rPr>
              <a:t>:</a:t>
            </a:r>
            <a:endParaRPr kumimoji="1" lang="zh-CN" altLang="en-US" sz="2400" dirty="0"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033164" y="1228665"/>
                <a:ext cx="4903202" cy="8568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4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m:rPr>
                          <m:nor/>
                        </m:rPr>
                        <a:rPr lang="zh-CN" altLang="en-US" sz="240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164" y="1228665"/>
                <a:ext cx="4903202" cy="8568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16"/>
          <p:cNvSpPr>
            <a:spLocks noChangeArrowheads="1"/>
          </p:cNvSpPr>
          <p:nvPr/>
        </p:nvSpPr>
        <p:spPr bwMode="auto">
          <a:xfrm>
            <a:off x="1972003" y="2358165"/>
            <a:ext cx="13849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1" lang="zh-CN" altLang="en-US" sz="2400" dirty="0">
                <a:latin typeface="+mj-ea"/>
                <a:ea typeface="+mj-ea"/>
              </a:rPr>
              <a:t>两边积分</a:t>
            </a:r>
            <a:r>
              <a:rPr kumimoji="1" lang="en-US" altLang="zh-CN" sz="2400" dirty="0">
                <a:latin typeface="+mj-ea"/>
                <a:ea typeface="+mj-ea"/>
              </a:rPr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390865" y="2092373"/>
                <a:ext cx="2541401" cy="8476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grow m:val="on"/>
                        <m:subHide m:val="on"/>
                        <m:supHide m:val="on"/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zh-CN" altLang="en-US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nary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bHide m:val="on"/>
                        <m:supHide m:val="on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</a:rPr>
                  <a:t> </a:t>
                </a:r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865" y="2092373"/>
                <a:ext cx="2541401" cy="847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070636" y="2191545"/>
                <a:ext cx="4130746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</a:rPr>
                  <a:t> </a:t>
                </a:r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636" y="2191545"/>
                <a:ext cx="4130746" cy="613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390865" y="2921224"/>
                <a:ext cx="7228646" cy="4846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865" y="2921224"/>
                <a:ext cx="7228646" cy="4846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3593306" y="3523092"/>
                <a:ext cx="59886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=±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306" y="3523092"/>
                <a:ext cx="5988691" cy="461665"/>
              </a:xfrm>
              <a:prstGeom prst="rect">
                <a:avLst/>
              </a:prstGeom>
              <a:blipFill>
                <a:blip r:embed="rId11"/>
                <a:stretch>
                  <a:fillRect l="-305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6"/>
              <p:cNvSpPr>
                <a:spLocks noChangeArrowheads="1"/>
              </p:cNvSpPr>
              <p:nvPr/>
            </p:nvSpPr>
            <p:spPr bwMode="auto">
              <a:xfrm>
                <a:off x="1969861" y="4321948"/>
                <a:ext cx="6066597" cy="8125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kumimoji="1" lang="zh-CN" altLang="en-US" sz="2400" dirty="0" smtClean="0">
                    <a:latin typeface="+mj-ea"/>
                    <a:ea typeface="+mj-ea"/>
                  </a:rPr>
                  <a:t>经验证，</a:t>
                </a:r>
                <a:r>
                  <a:rPr lang="en-US" altLang="zh-CN" sz="2400" b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=±1,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zh-CN" altLang="en-US" sz="2400" dirty="0" smtClean="0">
                    <a:latin typeface="+mj-ea"/>
                    <a:ea typeface="+mj-ea"/>
                  </a:rPr>
                  <a:t>都是微分方程的解，</a:t>
                </a:r>
                <a:endParaRPr kumimoji="1" lang="en-US" altLang="zh-CN" sz="2400" dirty="0" smtClean="0">
                  <a:latin typeface="+mj-ea"/>
                  <a:ea typeface="+mj-ea"/>
                </a:endParaRPr>
              </a:p>
              <a:p>
                <a:pPr eaLnBrk="1" hangingPunct="1">
                  <a:buFontTx/>
                  <a:buNone/>
                </a:pPr>
                <a:r>
                  <a:rPr kumimoji="1" lang="zh-CN" altLang="en-US" sz="2400" dirty="0" smtClean="0">
                    <a:latin typeface="+mj-ea"/>
                    <a:ea typeface="+mj-ea"/>
                  </a:rPr>
                  <a:t>所以微分方程的通解为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zh-CN" altLang="en-US" sz="2400" dirty="0" smtClean="0">
                    <a:latin typeface="+mj-ea"/>
                    <a:ea typeface="+mj-ea"/>
                  </a:rPr>
                  <a:t>。</a:t>
                </a:r>
                <a:endParaRPr kumimoji="1" lang="en-US" altLang="zh-CN" sz="24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2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9861" y="4321948"/>
                <a:ext cx="6066597" cy="812530"/>
              </a:xfrm>
              <a:prstGeom prst="rect">
                <a:avLst/>
              </a:prstGeom>
              <a:blipFill>
                <a:blip r:embed="rId12"/>
                <a:stretch>
                  <a:fillRect l="-3015" t="-14286" r="-2211" b="-1954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437278" y="-32856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第二节可分离变量的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微分方程</a:t>
            </a:r>
          </a:p>
        </p:txBody>
      </p:sp>
    </p:spTree>
    <p:extLst>
      <p:ext uri="{BB962C8B-B14F-4D97-AF65-F5344CB8AC3E}">
        <p14:creationId xmlns:p14="http://schemas.microsoft.com/office/powerpoint/2010/main" val="72592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771759" y="597228"/>
                <a:ext cx="848545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例</a:t>
                </a:r>
                <a:r>
                  <a:rPr kumimoji="1" lang="en-US" altLang="zh-CN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3 </a:t>
                </a:r>
                <a:r>
                  <a:rPr lang="zh-CN" altLang="en-US" sz="2400" dirty="0" smtClean="0"/>
                  <a:t>求微分方程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 smtClean="0"/>
                  <a:t>满足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/>
                  <a:t>的特解</a:t>
                </a:r>
                <a:r>
                  <a:rPr lang="en-US" altLang="zh-CN" sz="2400" dirty="0" smtClean="0"/>
                  <a:t>.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759" y="597228"/>
                <a:ext cx="8485452" cy="523220"/>
              </a:xfrm>
              <a:prstGeom prst="rect">
                <a:avLst/>
              </a:prstGeom>
              <a:blipFill>
                <a:blip r:embed="rId2"/>
                <a:stretch>
                  <a:fillRect l="-1509" t="-16279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17"/>
          <p:cNvSpPr>
            <a:spLocks noChangeArrowheads="1"/>
          </p:cNvSpPr>
          <p:nvPr/>
        </p:nvSpPr>
        <p:spPr bwMode="auto">
          <a:xfrm>
            <a:off x="1969773" y="1461865"/>
            <a:ext cx="2000548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+mj-ea"/>
                <a:ea typeface="+mj-ea"/>
              </a:rPr>
              <a:t>分离变量后</a:t>
            </a:r>
            <a:r>
              <a:rPr kumimoji="1" lang="en-US" altLang="zh-CN" sz="2400" dirty="0">
                <a:latin typeface="+mj-ea"/>
                <a:ea typeface="+mj-ea"/>
              </a:rPr>
              <a:t>,</a:t>
            </a:r>
            <a:r>
              <a:rPr kumimoji="1" lang="zh-CN" altLang="en-US" sz="2400" dirty="0" smtClean="0">
                <a:latin typeface="+mj-ea"/>
                <a:ea typeface="+mj-ea"/>
              </a:rPr>
              <a:t>得</a:t>
            </a:r>
            <a:endParaRPr kumimoji="1" lang="en-US" altLang="zh-CN" sz="2400" dirty="0">
              <a:latin typeface="+mj-ea"/>
              <a:ea typeface="+mj-ea"/>
            </a:endParaRP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1464584" y="1453952"/>
            <a:ext cx="538609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i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400" dirty="0" smtClean="0">
                <a:latin typeface="+mj-ea"/>
                <a:ea typeface="+mj-ea"/>
              </a:rPr>
              <a:t>解</a:t>
            </a:r>
            <a:r>
              <a:rPr kumimoji="1" lang="en-US" altLang="zh-CN" sz="2400" dirty="0" smtClean="0">
                <a:latin typeface="+mj-ea"/>
                <a:ea typeface="+mj-ea"/>
              </a:rPr>
              <a:t>:</a:t>
            </a:r>
            <a:endParaRPr kumimoji="1" lang="zh-CN" altLang="en-US" sz="2400" dirty="0"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033164" y="1228665"/>
                <a:ext cx="2424190" cy="8095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zh-CN" altLang="en-US" sz="240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zh-CN" altLang="en-US" sz="240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164" y="1228665"/>
                <a:ext cx="2424190" cy="8095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1972003" y="2358165"/>
            <a:ext cx="13849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1" lang="zh-CN" altLang="en-US" sz="2400" dirty="0">
                <a:latin typeface="+mj-ea"/>
                <a:ea typeface="+mj-ea"/>
              </a:rPr>
              <a:t>两边积分</a:t>
            </a:r>
            <a:r>
              <a:rPr kumimoji="1" lang="en-US" altLang="zh-CN" sz="2400" dirty="0">
                <a:latin typeface="+mj-ea"/>
                <a:ea typeface="+mj-ea"/>
              </a:rPr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390865" y="2092373"/>
                <a:ext cx="2654381" cy="8476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grow m:val="on"/>
                        <m:subHide m:val="on"/>
                        <m:supHide m:val="on"/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bHide m:val="on"/>
                        <m:supHide m:val="on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</a:rPr>
                  <a:t> </a:t>
                </a:r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865" y="2092373"/>
                <a:ext cx="2654381" cy="847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390865" y="3010171"/>
                <a:ext cx="6309804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l-GR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</a:rPr>
                  <a:t>  </a:t>
                </a:r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865" y="3010171"/>
                <a:ext cx="6309804" cy="613886"/>
              </a:xfrm>
              <a:prstGeom prst="rect">
                <a:avLst/>
              </a:prstGeom>
              <a:blipFill>
                <a:blip r:embed="rId8"/>
                <a:stretch>
                  <a:fillRect b="-9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880262" y="3940895"/>
                <a:ext cx="209005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err="1"/>
                  <a:t>由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得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262" y="3940895"/>
                <a:ext cx="2090059" cy="461665"/>
              </a:xfrm>
              <a:prstGeom prst="rect">
                <a:avLst/>
              </a:prstGeom>
              <a:blipFill>
                <a:blip r:embed="rId9"/>
                <a:stretch>
                  <a:fillRect l="-4373" t="-14474" r="-1749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4295268" y="3921129"/>
                <a:ext cx="2544094" cy="509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0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zh-CN" altLang="en-US" dirty="0" smtClean="0"/>
                  <a:t>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268" y="3921129"/>
                <a:ext cx="2544094" cy="509178"/>
              </a:xfrm>
              <a:prstGeom prst="rect">
                <a:avLst/>
              </a:prstGeom>
              <a:blipFill>
                <a:blip r:embed="rId10"/>
                <a:stretch>
                  <a:fillRect l="-3837" t="-5952" b="-202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3390865" y="4593273"/>
                <a:ext cx="976678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l-GR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l-GR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865" y="4593273"/>
                <a:ext cx="976678" cy="613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1880262" y="549985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/>
              <a:t>特解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2680481" y="5392571"/>
                <a:ext cx="3344955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l-GR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l-GR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481" y="5392571"/>
                <a:ext cx="3344955" cy="6138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437278" y="-32856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第二节可分离变量的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微分方程</a:t>
            </a:r>
          </a:p>
        </p:txBody>
      </p:sp>
    </p:spTree>
    <p:extLst>
      <p:ext uri="{BB962C8B-B14F-4D97-AF65-F5344CB8AC3E}">
        <p14:creationId xmlns:p14="http://schemas.microsoft.com/office/powerpoint/2010/main" val="74245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9"/>
          <p:cNvSpPr>
            <a:spLocks noChangeArrowheads="1"/>
          </p:cNvSpPr>
          <p:nvPr/>
        </p:nvSpPr>
        <p:spPr bwMode="auto">
          <a:xfrm>
            <a:off x="1524000" y="0"/>
            <a:ext cx="9144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B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0484" name="Rectangle 10"/>
          <p:cNvSpPr>
            <a:spLocks noChangeArrowheads="1"/>
          </p:cNvSpPr>
          <p:nvPr/>
        </p:nvSpPr>
        <p:spPr bwMode="auto">
          <a:xfrm>
            <a:off x="3149600" y="228600"/>
            <a:ext cx="6832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400" dirty="0">
                <a:latin typeface="华文行楷" panose="02010800040101010101" pitchFamily="2" charset="-122"/>
                <a:ea typeface="华文新魏" panose="02010800040101010101" pitchFamily="2" charset="-122"/>
              </a:rPr>
              <a:t>第三节 齐次</a:t>
            </a:r>
            <a:r>
              <a:rPr lang="zh-CN" altLang="en-US" sz="4400" dirty="0">
                <a:ea typeface="华文新魏" panose="02010800040101010101" pitchFamily="2" charset="-122"/>
              </a:rPr>
              <a:t>方程</a:t>
            </a:r>
          </a:p>
        </p:txBody>
      </p:sp>
      <p:sp>
        <p:nvSpPr>
          <p:cNvPr id="264203" name="Text Box 11"/>
          <p:cNvSpPr txBox="1">
            <a:spLocks noChangeArrowheads="1"/>
          </p:cNvSpPr>
          <p:nvPr/>
        </p:nvSpPr>
        <p:spPr bwMode="auto">
          <a:xfrm>
            <a:off x="1923142" y="4343889"/>
            <a:ext cx="41008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可化为齐次的方程 </a:t>
            </a:r>
          </a:p>
        </p:txBody>
      </p:sp>
      <p:sp>
        <p:nvSpPr>
          <p:cNvPr id="264204" name="Text Box 12"/>
          <p:cNvSpPr txBox="1">
            <a:spLocks noChangeArrowheads="1"/>
          </p:cNvSpPr>
          <p:nvPr/>
        </p:nvSpPr>
        <p:spPr bwMode="auto">
          <a:xfrm>
            <a:off x="1923142" y="2211142"/>
            <a:ext cx="245291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kumimoji="1"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齐次方程 </a:t>
            </a:r>
          </a:p>
        </p:txBody>
      </p:sp>
      <p:sp>
        <p:nvSpPr>
          <p:cNvPr id="20487" name="Rectangle 13"/>
          <p:cNvSpPr>
            <a:spLocks noChangeArrowheads="1"/>
          </p:cNvSpPr>
          <p:nvPr/>
        </p:nvSpPr>
        <p:spPr bwMode="auto">
          <a:xfrm>
            <a:off x="1011585" y="1419860"/>
            <a:ext cx="7221529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kumimoji="1" lang="zh-CN" altLang="en-US" dirty="0">
                <a:latin typeface="Times New Roman" panose="02020603050405020304" pitchFamily="18" charset="0"/>
                <a:ea typeface="华文新魏" panose="02010800040101010101" pitchFamily="2" charset="-122"/>
              </a:rPr>
              <a:t>齐次方程是可以化为可分离变量的方程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0290943-4885-4C80-BA1F-C42899BCEE32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480202" y="0"/>
            <a:ext cx="18565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第三节 齐次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4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4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203" grpId="0" build="p" autoUpdateAnimBg="0" advAuto="0"/>
      <p:bldP spid="264204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椭圆形标注 17"/>
          <p:cNvSpPr/>
          <p:nvPr/>
        </p:nvSpPr>
        <p:spPr bwMode="auto">
          <a:xfrm>
            <a:off x="11133331" y="1917607"/>
            <a:ext cx="283089" cy="2337078"/>
          </a:xfrm>
          <a:prstGeom prst="wedgeEllipseCallout">
            <a:avLst>
              <a:gd name="adj1" fmla="val -513393"/>
              <a:gd name="adj2" fmla="val 771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变量可分离？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74638"/>
            <a:ext cx="10972800" cy="11430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66FF66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ea typeface="黑体" panose="02010609060101010101" pitchFamily="49" charset="-122"/>
              </a:rPr>
              <a:t>一、齐次方程</a:t>
            </a:r>
          </a:p>
        </p:txBody>
      </p:sp>
      <p:graphicFrame>
        <p:nvGraphicFramePr>
          <p:cNvPr id="265219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224402521"/>
              </p:ext>
            </p:extLst>
          </p:nvPr>
        </p:nvGraphicFramePr>
        <p:xfrm>
          <a:off x="2574046" y="1948528"/>
          <a:ext cx="4177339" cy="525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3" name="Equation" r:id="rId3" imgW="1800086" imgH="209731" progId="Equation.3">
                  <p:embed/>
                </p:oleObj>
              </mc:Choice>
              <mc:Fallback>
                <p:oleObj name="Equation" r:id="rId3" imgW="1800086" imgH="209731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046" y="1948528"/>
                        <a:ext cx="4177339" cy="5258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20" name="Text Box 4"/>
          <p:cNvSpPr txBox="1">
            <a:spLocks noChangeArrowheads="1"/>
          </p:cNvSpPr>
          <p:nvPr/>
        </p:nvSpPr>
        <p:spPr bwMode="auto">
          <a:xfrm>
            <a:off x="1207790" y="1354137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形如</a:t>
            </a:r>
          </a:p>
        </p:txBody>
      </p:sp>
      <p:graphicFrame>
        <p:nvGraphicFramePr>
          <p:cNvPr id="2652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125353"/>
              </p:ext>
            </p:extLst>
          </p:nvPr>
        </p:nvGraphicFramePr>
        <p:xfrm>
          <a:off x="1975512" y="1210176"/>
          <a:ext cx="1202068" cy="71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4" name="Equation" r:id="rId5" imgW="1533547" imgH="904886" progId="Equation.3">
                  <p:embed/>
                </p:oleObj>
              </mc:Choice>
              <mc:Fallback>
                <p:oleObj name="Equation" r:id="rId5" imgW="1533547" imgH="90488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5512" y="1210176"/>
                        <a:ext cx="1202068" cy="7192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5222" name="Text Box 6"/>
          <p:cNvSpPr txBox="1">
            <a:spLocks noChangeArrowheads="1"/>
          </p:cNvSpPr>
          <p:nvPr/>
        </p:nvSpPr>
        <p:spPr bwMode="auto">
          <a:xfrm>
            <a:off x="3177580" y="1354137"/>
            <a:ext cx="3962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的方程叫做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齐次方程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65223" name="Rectangle 7"/>
          <p:cNvSpPr>
            <a:spLocks noChangeArrowheads="1"/>
          </p:cNvSpPr>
          <p:nvPr/>
        </p:nvSpPr>
        <p:spPr bwMode="auto">
          <a:xfrm>
            <a:off x="1653216" y="2073407"/>
            <a:ext cx="923330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例子：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75E2C8-EC7A-4485-9617-0C648371B749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2571454" y="4541341"/>
            <a:ext cx="617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令</a:t>
            </a: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197627"/>
              </p:ext>
            </p:extLst>
          </p:nvPr>
        </p:nvGraphicFramePr>
        <p:xfrm>
          <a:off x="3138488" y="4452938"/>
          <a:ext cx="935037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5" name="公式" r:id="rId7" imgW="1047629" imgH="828774" progId="Equation.3">
                  <p:embed/>
                </p:oleObj>
              </mc:Choice>
              <mc:Fallback>
                <p:oleObj name="公式" r:id="rId7" imgW="1047629" imgH="828774" progId="Equation.3">
                  <p:embed/>
                  <p:pic>
                    <p:nvPicPr>
                      <p:cNvPr id="266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488" y="4452938"/>
                        <a:ext cx="935037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242016"/>
              </p:ext>
            </p:extLst>
          </p:nvPr>
        </p:nvGraphicFramePr>
        <p:xfrm>
          <a:off x="4270313" y="4648001"/>
          <a:ext cx="1239663" cy="345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6" name="Equation" r:id="rId9" imgW="1533547" imgH="409736" progId="Equation.3">
                  <p:embed/>
                </p:oleObj>
              </mc:Choice>
              <mc:Fallback>
                <p:oleObj name="Equation" r:id="rId9" imgW="1533547" imgH="409736" progId="Equation.3">
                  <p:embed/>
                  <p:pic>
                    <p:nvPicPr>
                      <p:cNvPr id="2662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13" y="4648001"/>
                        <a:ext cx="1239663" cy="345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1558629" y="5379541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代入原方程得</a:t>
            </a:r>
          </a:p>
        </p:txBody>
      </p:sp>
      <p:graphicFrame>
        <p:nvGraphicFramePr>
          <p:cNvPr id="1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534037"/>
              </p:ext>
            </p:extLst>
          </p:nvPr>
        </p:nvGraphicFramePr>
        <p:xfrm>
          <a:off x="5932190" y="4498990"/>
          <a:ext cx="1663667" cy="71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7" name="Equation" r:id="rId11" imgW="2123891" imgH="904886" progId="Equation.3">
                  <p:embed/>
                </p:oleObj>
              </mc:Choice>
              <mc:Fallback>
                <p:oleObj name="Equation" r:id="rId11" imgW="2123891" imgH="904886" progId="Equation.3">
                  <p:embed/>
                  <p:pic>
                    <p:nvPicPr>
                      <p:cNvPr id="2662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2190" y="4498990"/>
                        <a:ext cx="1663667" cy="71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7580767"/>
              </p:ext>
            </p:extLst>
          </p:nvPr>
        </p:nvGraphicFramePr>
        <p:xfrm>
          <a:off x="4074310" y="5264603"/>
          <a:ext cx="2021690" cy="810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8" name="Equation" r:id="rId13" imgW="2295689" imgH="904886" progId="Equation.3">
                  <p:embed/>
                </p:oleObj>
              </mc:Choice>
              <mc:Fallback>
                <p:oleObj name="Equation" r:id="rId13" imgW="2295689" imgH="904886" progId="Equation.3">
                  <p:embed/>
                  <p:pic>
                    <p:nvPicPr>
                      <p:cNvPr id="2662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4310" y="5264603"/>
                        <a:ext cx="2021690" cy="8108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1558629" y="4531816"/>
            <a:ext cx="8851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解法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8256963" y="2158191"/>
                <a:ext cx="982257" cy="5847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963" y="2158191"/>
                <a:ext cx="982257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367125"/>
              </p:ext>
            </p:extLst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9" name="Equation" r:id="rId16" imgW="114120" imgH="177480" progId="Equation.DSMT4">
                  <p:embed/>
                </p:oleObj>
              </mc:Choice>
              <mc:Fallback>
                <p:oleObj name="Equation" r:id="rId16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725855" y="2765792"/>
                <a:ext cx="4085093" cy="9998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𝑥𝑦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𝑥𝑦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1−2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855" y="2765792"/>
                <a:ext cx="4085093" cy="99988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8139086" y="2830055"/>
                <a:ext cx="1035925" cy="6278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086" y="2830055"/>
                <a:ext cx="1035925" cy="62780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8139085" y="3540975"/>
                <a:ext cx="118609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085" y="3540975"/>
                <a:ext cx="1186094" cy="461665"/>
              </a:xfrm>
              <a:prstGeom prst="rect">
                <a:avLst/>
              </a:prstGeom>
              <a:blipFill>
                <a:blip r:embed="rId20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8155044" y="4155473"/>
                <a:ext cx="242040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5044" y="4155473"/>
                <a:ext cx="2420406" cy="461665"/>
              </a:xfrm>
              <a:prstGeom prst="rect">
                <a:avLst/>
              </a:prstGeom>
              <a:blipFill>
                <a:blip r:embed="rId21"/>
                <a:stretch>
                  <a:fillRect l="-756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8139085" y="4745393"/>
                <a:ext cx="3443315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𝑣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085" y="4745393"/>
                <a:ext cx="3443315" cy="63414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8155044" y="5581193"/>
                <a:ext cx="3149388" cy="6753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 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5044" y="5581193"/>
                <a:ext cx="3149388" cy="67537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/>
          <p:cNvSpPr/>
          <p:nvPr/>
        </p:nvSpPr>
        <p:spPr>
          <a:xfrm>
            <a:off x="480202" y="0"/>
            <a:ext cx="18565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第三节 齐次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65220" grpId="0" autoUpdateAnimBg="0"/>
      <p:bldP spid="265222" grpId="0" autoUpdateAnimBg="0"/>
      <p:bldP spid="265223" grpId="0"/>
      <p:bldP spid="10" grpId="0" build="p" autoUpdateAnimBg="0"/>
      <p:bldP spid="13" grpId="0" autoUpdateAnimBg="0"/>
      <p:bldP spid="16" grpId="0" build="p" autoUpdateAnimBg="0"/>
      <p:bldP spid="3" grpId="0"/>
      <p:bldP spid="5" grpId="0"/>
      <p:bldP spid="7" grpId="0"/>
      <p:bldP spid="22" grpId="0"/>
      <p:bldP spid="23" grpId="0"/>
      <p:bldP spid="24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7266" name="Text Box 2"/>
              <p:cNvSpPr txBox="1">
                <a:spLocks noChangeArrowheads="1"/>
              </p:cNvSpPr>
              <p:nvPr/>
            </p:nvSpPr>
            <p:spPr bwMode="auto">
              <a:xfrm>
                <a:off x="2246006" y="1066701"/>
                <a:ext cx="3244030" cy="7407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 dirty="0" smtClean="0"/>
                  <a:t>原方程可写成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kumimoji="1" lang="zh-CN" altLang="en-US" sz="2600" b="1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7266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6006" y="1066701"/>
                <a:ext cx="3244030" cy="740716"/>
              </a:xfrm>
              <a:prstGeom prst="rect">
                <a:avLst/>
              </a:prstGeom>
              <a:blipFill>
                <a:blip r:embed="rId2"/>
                <a:stretch>
                  <a:fillRect l="-5629" b="-41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7267" name="Rectangle 3"/>
          <p:cNvSpPr>
            <a:spLocks noChangeArrowheads="1"/>
          </p:cNvSpPr>
          <p:nvPr/>
        </p:nvSpPr>
        <p:spPr bwMode="auto">
          <a:xfrm>
            <a:off x="968412" y="1218147"/>
            <a:ext cx="1277594" cy="471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400" dirty="0" smtClean="0"/>
              <a:t>解</a:t>
            </a:r>
            <a:r>
              <a:rPr lang="en-US" altLang="zh-CN" sz="2400" dirty="0" smtClean="0"/>
              <a:t>:</a:t>
            </a:r>
            <a:r>
              <a:rPr kumimoji="1" lang="zh-CN" altLang="en-US" sz="2600" b="1" dirty="0" smtClean="0">
                <a:solidFill>
                  <a:schemeClr val="accent2"/>
                </a:solidFill>
                <a:latin typeface="Symbol" panose="05050102010706020507" pitchFamily="18" charset="2"/>
              </a:rPr>
              <a:t>  </a:t>
            </a:r>
            <a:endParaRPr kumimoji="1" lang="zh-CN" altLang="en-US" sz="2600" b="1" dirty="0">
              <a:solidFill>
                <a:schemeClr val="accent2"/>
              </a:solidFill>
              <a:latin typeface="Symbol" panose="05050102010706020507" pitchFamily="18" charset="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1C3A9C-E59A-49F4-B6C3-F75FA12835BD}" type="datetime11">
              <a:rPr lang="zh-CN" altLang="en-US" smtClean="0"/>
              <a:t>15:29:49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968412" y="417005"/>
                <a:ext cx="4254626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例</a:t>
                </a:r>
                <a:r>
                  <a:rPr kumimoji="1" lang="en-US" altLang="zh-CN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1 </a:t>
                </a:r>
                <a:r>
                  <a:rPr lang="zh-CN" altLang="en-US" sz="2400" dirty="0"/>
                  <a:t>解方程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𝑥𝑦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zh-CN" sz="2400" dirty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12" y="417005"/>
                <a:ext cx="4254626" cy="634148"/>
              </a:xfrm>
              <a:prstGeom prst="rect">
                <a:avLst/>
              </a:prstGeom>
              <a:blipFill>
                <a:blip r:embed="rId3"/>
                <a:stretch>
                  <a:fillRect l="-3009" t="-6731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2205482" y="2046557"/>
                <a:ext cx="5500480" cy="668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b="0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即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𝑢𝑥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482" y="2046557"/>
                <a:ext cx="5500480" cy="668388"/>
              </a:xfrm>
              <a:prstGeom prst="rect">
                <a:avLst/>
              </a:prstGeom>
              <a:blipFill>
                <a:blip r:embed="rId4"/>
                <a:stretch>
                  <a:fillRect l="-1774" b="-4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553574" y="2744922"/>
                <a:ext cx="3000373" cy="668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574" y="2744922"/>
                <a:ext cx="3000373" cy="6683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2553573" y="3438971"/>
                <a:ext cx="2054537" cy="6158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573" y="3438971"/>
                <a:ext cx="2054537" cy="6158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521385" y="4094795"/>
                <a:ext cx="306474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385" y="4094795"/>
                <a:ext cx="3064749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2539441" y="4709945"/>
                <a:ext cx="3103927" cy="6423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441" y="4709945"/>
                <a:ext cx="3103927" cy="64235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2536709" y="5352300"/>
                <a:ext cx="2038763" cy="586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709" y="5352300"/>
                <a:ext cx="2038763" cy="5865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2561043" y="5994655"/>
                <a:ext cx="1492716" cy="6000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043" y="5994655"/>
                <a:ext cx="1492716" cy="60003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238262" y="6133026"/>
                <a:ext cx="33937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注意到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</a:rPr>
                  <a:t>是方程的解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262" y="6133026"/>
                <a:ext cx="3393750" cy="461665"/>
              </a:xfrm>
              <a:prstGeom prst="rect">
                <a:avLst/>
              </a:prstGeom>
              <a:blipFill>
                <a:blip r:embed="rId11"/>
                <a:stretch>
                  <a:fillRect l="-2693" t="-14474" r="-1795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5586134" y="1336483"/>
                <a:ext cx="50733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𝑥𝑦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，但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和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=0都不是方程的解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134" y="1336483"/>
                <a:ext cx="5073312" cy="369332"/>
              </a:xfrm>
              <a:prstGeom prst="rect">
                <a:avLst/>
              </a:prstGeom>
              <a:blipFill>
                <a:blip r:embed="rId1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6644640" y="2860396"/>
                <a:ext cx="4914487" cy="5782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0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en-US" sz="20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即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𝑣𝑦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zh-CN" alt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640" y="2860396"/>
                <a:ext cx="4914487" cy="578235"/>
              </a:xfrm>
              <a:prstGeom prst="rect">
                <a:avLst/>
              </a:prstGeom>
              <a:blipFill>
                <a:blip r:embed="rId13"/>
                <a:stretch>
                  <a:fillRect l="-1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778735" y="3556633"/>
                <a:ext cx="1481688" cy="5782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735" y="3556633"/>
                <a:ext cx="1481688" cy="57823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6833543" y="4292188"/>
                <a:ext cx="1729256" cy="5629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altLang="zh-CN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000" dirty="0" smtClean="0"/>
                  <a:t>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543" y="4292188"/>
                <a:ext cx="1729256" cy="562911"/>
              </a:xfrm>
              <a:prstGeom prst="rect">
                <a:avLst/>
              </a:prstGeom>
              <a:blipFill>
                <a:blip r:embed="rId1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矩形 29"/>
          <p:cNvSpPr/>
          <p:nvPr/>
        </p:nvSpPr>
        <p:spPr>
          <a:xfrm>
            <a:off x="480202" y="0"/>
            <a:ext cx="18565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第三节 齐次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873826" y="4988425"/>
                <a:ext cx="1386597" cy="6128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US" altLang="zh-CN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CN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𝐶𝑦</m:t>
                          </m:r>
                        </m:e>
                      </m:d>
                      <m:r>
                        <a:rPr lang="en-US" altLang="zh-CN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26" y="4988425"/>
                <a:ext cx="1386597" cy="61286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7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6" grpId="0" build="p" autoUpdateAnimBg="0"/>
      <p:bldP spid="267267" grpId="0" build="p" autoUpdateAnimBg="0"/>
      <p:bldP spid="17" grpId="0"/>
      <p:bldP spid="4" grpId="0"/>
      <p:bldP spid="19" grpId="0"/>
      <p:bldP spid="5" grpId="0"/>
      <p:bldP spid="21" grpId="0"/>
      <p:bldP spid="22" grpId="0"/>
      <p:bldP spid="23" grpId="0"/>
      <p:bldP spid="6" grpId="0"/>
      <p:bldP spid="7" grpId="0"/>
      <p:bldP spid="26" grpId="0"/>
      <p:bldP spid="8" grpId="0"/>
      <p:bldP spid="29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968412" y="417005"/>
                <a:ext cx="4383829" cy="8438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例</a:t>
                </a:r>
                <a:r>
                  <a:rPr kumimoji="1" lang="en-US" altLang="zh-CN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2 </a:t>
                </a:r>
                <a:r>
                  <a:rPr lang="zh-CN" altLang="en-US" sz="2400" dirty="0"/>
                  <a:t>解方程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 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12" y="417005"/>
                <a:ext cx="4383829" cy="843885"/>
              </a:xfrm>
              <a:prstGeom prst="rect">
                <a:avLst/>
              </a:prstGeom>
              <a:blipFill>
                <a:blip r:embed="rId2"/>
                <a:stretch>
                  <a:fillRect l="-2921" b="-35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583753" y="1457110"/>
                <a:ext cx="7195881" cy="6753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/>
                  <a:t>解：</a:t>
                </a:r>
                <a:r>
                  <a:rPr lang="zh-CN" altLang="en-US" sz="2400" b="0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即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𝑣𝑦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753" y="1457110"/>
                <a:ext cx="7195881" cy="675378"/>
              </a:xfrm>
              <a:prstGeom prst="rect">
                <a:avLst/>
              </a:prstGeom>
              <a:blipFill>
                <a:blip r:embed="rId3"/>
                <a:stretch>
                  <a:fillRect l="-13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215163" y="2215203"/>
                <a:ext cx="2252540" cy="6753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163" y="2215203"/>
                <a:ext cx="2252540" cy="6753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215163" y="2973296"/>
                <a:ext cx="2313582" cy="6571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163" y="2973296"/>
                <a:ext cx="2313582" cy="6571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2215163" y="3814104"/>
                <a:ext cx="3941400" cy="5364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163" y="3814104"/>
                <a:ext cx="3941400" cy="5364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215163" y="4438089"/>
                <a:ext cx="4435381" cy="5364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𝑦𝑣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ad>
                          <m:radPr>
                            <m:degHide m:val="on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sz="24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163" y="4438089"/>
                <a:ext cx="4435381" cy="5364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215162" y="5062074"/>
                <a:ext cx="4244239" cy="6423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162" y="5062074"/>
                <a:ext cx="4244239" cy="64235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215162" y="5782208"/>
                <a:ext cx="2982355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162" y="5782208"/>
                <a:ext cx="2982355" cy="5395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480202" y="0"/>
            <a:ext cx="18565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第三节 齐次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319986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611053" y="1275499"/>
            <a:ext cx="3171825" cy="3188345"/>
            <a:chOff x="8841242" y="2189798"/>
            <a:chExt cx="3171825" cy="3188345"/>
          </a:xfrm>
        </p:grpSpPr>
        <p:grpSp>
          <p:nvGrpSpPr>
            <p:cNvPr id="4" name="组合 3"/>
            <p:cNvGrpSpPr/>
            <p:nvPr/>
          </p:nvGrpSpPr>
          <p:grpSpPr>
            <a:xfrm>
              <a:off x="8841242" y="2189798"/>
              <a:ext cx="3171825" cy="3188345"/>
              <a:chOff x="8101013" y="2128838"/>
              <a:chExt cx="3171825" cy="3188345"/>
            </a:xfrm>
          </p:grpSpPr>
          <p:cxnSp>
            <p:nvCxnSpPr>
              <p:cNvPr id="8" name="直接箭头连接符 7"/>
              <p:cNvCxnSpPr/>
              <p:nvPr/>
            </p:nvCxnSpPr>
            <p:spPr>
              <a:xfrm>
                <a:off x="8101013" y="4972050"/>
                <a:ext cx="3171825" cy="0"/>
              </a:xfrm>
              <a:prstGeom prst="straightConnector1">
                <a:avLst/>
              </a:prstGeom>
              <a:ln w="9525">
                <a:solidFill>
                  <a:schemeClr val="tx1">
                    <a:lumMod val="95000"/>
                    <a:lumOff val="5000"/>
                  </a:schemeClr>
                </a:solidFill>
                <a:tailEnd type="triangle" w="med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/>
              <p:cNvCxnSpPr/>
              <p:nvPr/>
            </p:nvCxnSpPr>
            <p:spPr>
              <a:xfrm flipV="1">
                <a:off x="8693944" y="2128838"/>
                <a:ext cx="0" cy="3043238"/>
              </a:xfrm>
              <a:prstGeom prst="straightConnector1">
                <a:avLst/>
              </a:prstGeom>
              <a:ln w="9525">
                <a:solidFill>
                  <a:schemeClr val="tx1">
                    <a:lumMod val="95000"/>
                    <a:lumOff val="5000"/>
                  </a:schemeClr>
                </a:solidFill>
                <a:tailEnd type="triangle" w="med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8693944" y="2643188"/>
                <a:ext cx="2066058" cy="0"/>
              </a:xfrm>
              <a:prstGeom prst="line">
                <a:avLst/>
              </a:prstGeom>
              <a:ln w="9525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/>
              <p:cNvCxnSpPr>
                <a:stCxn id="18" idx="2"/>
              </p:cNvCxnSpPr>
              <p:nvPr/>
            </p:nvCxnSpPr>
            <p:spPr>
              <a:xfrm flipH="1">
                <a:off x="9364234" y="3433860"/>
                <a:ext cx="574260" cy="725926"/>
              </a:xfrm>
              <a:prstGeom prst="straightConnector1">
                <a:avLst/>
              </a:prstGeom>
              <a:ln w="9525">
                <a:solidFill>
                  <a:schemeClr val="tx1">
                    <a:lumMod val="95000"/>
                    <a:lumOff val="5000"/>
                  </a:schemeClr>
                </a:solidFill>
                <a:tailEnd type="triangle" w="med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/>
              <p:cNvCxnSpPr>
                <a:stCxn id="18" idx="2"/>
              </p:cNvCxnSpPr>
              <p:nvPr/>
            </p:nvCxnSpPr>
            <p:spPr>
              <a:xfrm flipV="1">
                <a:off x="9938494" y="3412840"/>
                <a:ext cx="821508" cy="21020"/>
              </a:xfrm>
              <a:prstGeom prst="straightConnector1">
                <a:avLst/>
              </a:prstGeom>
              <a:ln w="9525">
                <a:solidFill>
                  <a:schemeClr val="tx1">
                    <a:lumMod val="95000"/>
                    <a:lumOff val="5000"/>
                  </a:schemeClr>
                </a:solidFill>
                <a:tailEnd type="triangle" w="med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/>
              <p:cNvCxnSpPr/>
              <p:nvPr/>
            </p:nvCxnSpPr>
            <p:spPr>
              <a:xfrm>
                <a:off x="8924925" y="3880917"/>
                <a:ext cx="165423" cy="0"/>
              </a:xfrm>
              <a:prstGeom prst="straightConnector1">
                <a:avLst/>
              </a:prstGeom>
              <a:ln w="9525"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27"/>
              <p:cNvSpPr txBox="1"/>
              <p:nvPr/>
            </p:nvSpPr>
            <p:spPr>
              <a:xfrm>
                <a:off x="8693311" y="4855518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i="1" dirty="0" smtClean="0">
                    <a:latin typeface="Times New Roman" pitchFamily="18" charset="0"/>
                    <a:cs typeface="Times New Roman" pitchFamily="18" charset="0"/>
                  </a:rPr>
                  <a:t>o</a:t>
                </a:r>
                <a:endParaRPr lang="zh-CN" altLang="en-US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" name="TextBox 30"/>
              <p:cNvSpPr txBox="1"/>
              <p:nvPr/>
            </p:nvSpPr>
            <p:spPr>
              <a:xfrm>
                <a:off x="8255446" y="3609814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i="1" dirty="0" smtClean="0">
                    <a:latin typeface="Times New Roman" pitchFamily="18" charset="0"/>
                    <a:cs typeface="Times New Roman" pitchFamily="18" charset="0"/>
                  </a:rPr>
                  <a:t>h</a:t>
                </a:r>
                <a:endParaRPr lang="zh-CN" alt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" name="TextBox 31"/>
              <p:cNvSpPr txBox="1"/>
              <p:nvPr/>
            </p:nvSpPr>
            <p:spPr>
              <a:xfrm>
                <a:off x="8255446" y="2493690"/>
                <a:ext cx="3417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i="1" dirty="0" smtClean="0">
                    <a:latin typeface="Times New Roman" pitchFamily="18" charset="0"/>
                    <a:cs typeface="Times New Roman" pitchFamily="18" charset="0"/>
                  </a:rPr>
                  <a:t>A</a:t>
                </a:r>
                <a:endParaRPr lang="zh-CN" alt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" name="TextBox 33"/>
              <p:cNvSpPr txBox="1"/>
              <p:nvPr/>
            </p:nvSpPr>
            <p:spPr>
              <a:xfrm>
                <a:off x="8828565" y="3846014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i="1" dirty="0" smtClean="0">
                    <a:latin typeface="Times New Roman" pitchFamily="18" charset="0"/>
                    <a:cs typeface="Times New Roman" pitchFamily="18" charset="0"/>
                  </a:rPr>
                  <a:t>b</a:t>
                </a:r>
                <a:endParaRPr lang="zh-CN" alt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" name="TextBox 34"/>
              <p:cNvSpPr txBox="1"/>
              <p:nvPr/>
            </p:nvSpPr>
            <p:spPr>
              <a:xfrm>
                <a:off x="9767614" y="3033750"/>
                <a:ext cx="3417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i="1" dirty="0" smtClean="0">
                    <a:latin typeface="Times New Roman" pitchFamily="18" charset="0"/>
                    <a:cs typeface="Times New Roman" pitchFamily="18" charset="0"/>
                  </a:rPr>
                  <a:t>P</a:t>
                </a:r>
                <a:endParaRPr lang="zh-CN" alt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" name="TextBox 35"/>
              <p:cNvSpPr txBox="1"/>
              <p:nvPr/>
            </p:nvSpPr>
            <p:spPr>
              <a:xfrm>
                <a:off x="10789443" y="3210719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i="1" dirty="0" smtClean="0">
                    <a:latin typeface="Times New Roman" pitchFamily="18" charset="0"/>
                    <a:cs typeface="Times New Roman" pitchFamily="18" charset="0"/>
                  </a:rPr>
                  <a:t>a</a:t>
                </a:r>
                <a:endParaRPr lang="zh-CN" alt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20" name="直接箭头连接符 19"/>
              <p:cNvCxnSpPr/>
              <p:nvPr/>
            </p:nvCxnSpPr>
            <p:spPr>
              <a:xfrm>
                <a:off x="10863547" y="3282727"/>
                <a:ext cx="165423" cy="0"/>
              </a:xfrm>
              <a:prstGeom prst="straightConnector1">
                <a:avLst/>
              </a:prstGeom>
              <a:ln w="9525">
                <a:solidFill>
                  <a:schemeClr val="tx1">
                    <a:lumMod val="95000"/>
                    <a:lumOff val="5000"/>
                  </a:schemeClr>
                </a:solidFill>
                <a:tailEnd type="triangle" w="sm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直接连接符 4"/>
            <p:cNvCxnSpPr>
              <a:stCxn id="18" idx="2"/>
            </p:cNvCxnSpPr>
            <p:nvPr/>
          </p:nvCxnSpPr>
          <p:spPr bwMode="auto">
            <a:xfrm flipH="1">
              <a:off x="9433541" y="3494820"/>
              <a:ext cx="1245182" cy="153819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" name="弧形 5"/>
            <p:cNvSpPr/>
            <p:nvPr/>
          </p:nvSpPr>
          <p:spPr bwMode="auto">
            <a:xfrm>
              <a:off x="9463029" y="4719238"/>
              <a:ext cx="467339" cy="644297"/>
            </a:xfrm>
            <a:prstGeom prst="arc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/>
                <p:cNvSpPr/>
                <p:nvPr/>
              </p:nvSpPr>
              <p:spPr>
                <a:xfrm>
                  <a:off x="9863993" y="4566934"/>
                  <a:ext cx="3826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矩形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3993" y="4566934"/>
                  <a:ext cx="382669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603990" y="490755"/>
                <a:ext cx="10992265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rgbClr val="E36C0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zh-CN" altLang="en-US" sz="2400" dirty="0"/>
                  <a:t> 设河边点</a:t>
                </a:r>
                <a:r>
                  <a:rPr lang="en-US" altLang="zh-CN" sz="2400" i="1" dirty="0"/>
                  <a:t>O</a:t>
                </a:r>
                <a:r>
                  <a:rPr lang="zh-CN" altLang="en-US" sz="2400" dirty="0"/>
                  <a:t>的正对岸为点</a:t>
                </a:r>
                <a:r>
                  <a:rPr lang="en-US" altLang="zh-CN" sz="2400" i="1" dirty="0"/>
                  <a:t>A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河</a:t>
                </a:r>
                <a:r>
                  <a:rPr lang="zh-CN" altLang="en-US" sz="2400" dirty="0" smtClean="0"/>
                  <a:t>宽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𝑂𝐴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两岸为平行直线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水流速度为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有一鸭子从点</a:t>
                </a:r>
                <a:r>
                  <a:rPr lang="en-US" altLang="zh-CN" sz="2400" i="1" dirty="0"/>
                  <a:t>A</a:t>
                </a:r>
                <a:r>
                  <a:rPr lang="zh-CN" altLang="en-US" sz="2400" dirty="0"/>
                  <a:t>游向点</a:t>
                </a:r>
                <a:r>
                  <a:rPr lang="en-US" altLang="zh-CN" sz="2400" i="1" dirty="0"/>
                  <a:t>O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设鸭子</a:t>
                </a:r>
                <a:r>
                  <a:rPr lang="en-US" altLang="zh-CN" sz="2400" dirty="0"/>
                  <a:t>(</a:t>
                </a:r>
                <a:r>
                  <a:rPr lang="zh-CN" altLang="en-US" sz="2400" dirty="0"/>
                  <a:t>在静水中</a:t>
                </a:r>
                <a:r>
                  <a:rPr lang="en-US" altLang="zh-CN" sz="2400" dirty="0"/>
                  <a:t>)</a:t>
                </a:r>
                <a:r>
                  <a:rPr lang="zh-CN" altLang="en-US" sz="2400" dirty="0"/>
                  <a:t>的游速为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且鸭子游动方向始终朝着点</a:t>
                </a:r>
                <a:r>
                  <a:rPr lang="en-US" altLang="zh-CN" sz="2400" i="1" dirty="0"/>
                  <a:t>O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求鸭子游过的迹线的方程</a:t>
                </a:r>
                <a:r>
                  <a:rPr lang="en-US" altLang="zh-CN" sz="2400" dirty="0"/>
                  <a:t>.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90" y="490755"/>
                <a:ext cx="10992265" cy="1200329"/>
              </a:xfrm>
              <a:prstGeom prst="rect">
                <a:avLst/>
              </a:prstGeom>
              <a:blipFill>
                <a:blip r:embed="rId34"/>
                <a:stretch>
                  <a:fillRect l="-832" t="-5612" b="-1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669830" y="1670057"/>
                <a:ext cx="805860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/>
                  <a:t>解：</a:t>
                </a:r>
                <a:r>
                  <a:rPr lang="zh-CN" altLang="en-US" sz="2400" dirty="0" smtClean="0"/>
                  <a:t>设在时刻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 smtClean="0"/>
                  <a:t> 鸭子位于点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/>
                  <a:t>，由已经建立的微分方程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30" y="1670057"/>
                <a:ext cx="8058604" cy="461665"/>
              </a:xfrm>
              <a:prstGeom prst="rect">
                <a:avLst/>
              </a:prstGeom>
              <a:blipFill>
                <a:blip r:embed="rId35"/>
                <a:stretch>
                  <a:fillRect l="-1210" t="-14474" r="-530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1278902" y="2163860"/>
                <a:ext cx="3313151" cy="741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ad>
                            <m:radPr>
                              <m:degHide m:val="on"/>
                              <m:ctrl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</m:num>
                        <m:den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𝑏𝑦</m:t>
                          </m:r>
                        </m:den>
                      </m:f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&gt;0)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902" y="2163860"/>
                <a:ext cx="3313151" cy="741037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1278901" y="3004473"/>
                <a:ext cx="7156915" cy="6905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即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𝑣𝑦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901" y="3004473"/>
                <a:ext cx="7156915" cy="690574"/>
              </a:xfrm>
              <a:prstGeom prst="rect">
                <a:avLst/>
              </a:prstGeom>
              <a:blipFill>
                <a:blip r:embed="rId37"/>
                <a:stretch>
                  <a:fillRect l="-13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1432981" y="3795481"/>
                <a:ext cx="2791918" cy="6571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981" y="3795481"/>
                <a:ext cx="2791918" cy="657103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1549852" y="4633632"/>
                <a:ext cx="4793748" cy="5952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</m:e>
                    </m:d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zh-CN" altLang="en-US" sz="2400" i="0">
                        <a:latin typeface="Cambria Math" panose="02040503050406030204" pitchFamily="18" charset="0"/>
                      </a:rPr>
                      <m:t>ln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zh-CN" altLang="en-US" sz="2400" i="0">
                        <a:latin typeface="Cambria Math" panose="02040503050406030204" pitchFamily="18" charset="0"/>
                      </a:rPr>
                      <m:t>ln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852" y="4633632"/>
                <a:ext cx="4793748" cy="595228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1406868" y="5228860"/>
                <a:ext cx="7671524" cy="6715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/>
                  <a:t>整理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得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𝐶𝑦</m:t>
                            </m:r>
                          </m:e>
                        </m:d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𝐶𝑦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]=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𝐶𝑦</m:t>
                            </m:r>
                          </m:e>
                        </m:d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𝐶𝑦</m:t>
                            </m:r>
                          </m:e>
                        </m:d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].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868" y="5228860"/>
                <a:ext cx="7671524" cy="671530"/>
              </a:xfrm>
              <a:prstGeom prst="rect">
                <a:avLst/>
              </a:prstGeom>
              <a:blipFill>
                <a:blip r:embed="rId40"/>
                <a:stretch>
                  <a:fillRect l="-1272" b="-4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5064785" y="2240306"/>
                <a:ext cx="1579855" cy="4908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785" y="2240306"/>
                <a:ext cx="1579855" cy="490840"/>
              </a:xfrm>
              <a:prstGeom prst="rect">
                <a:avLst/>
              </a:prstGeom>
              <a:blipFill>
                <a:blip r:embed="rId4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1406868" y="5872378"/>
                <a:ext cx="6775637" cy="6158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代入初值条件得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zh-CN" altLang="en-US" sz="2400" dirty="0" smtClean="0"/>
                  <a:t>，</a:t>
                </a:r>
                <a:r>
                  <a:rPr lang="zh-CN" altLang="en-US" sz="2400" dirty="0"/>
                  <a:t>鸭子游过的迹线的</a:t>
                </a:r>
                <a:r>
                  <a:rPr lang="zh-CN" altLang="en-US" sz="2400" dirty="0" smtClean="0"/>
                  <a:t>方程为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868" y="5872378"/>
                <a:ext cx="6775637" cy="615874"/>
              </a:xfrm>
              <a:prstGeom prst="rect">
                <a:avLst/>
              </a:prstGeom>
              <a:blipFill>
                <a:blip r:embed="rId42"/>
                <a:stretch>
                  <a:fillRect l="-1440" r="-450" b="-4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8085015" y="5775239"/>
                <a:ext cx="3862916" cy="7087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sup>
                          </m:s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,0≤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015" y="5775239"/>
                <a:ext cx="3862916" cy="70872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/>
          <p:cNvSpPr/>
          <p:nvPr/>
        </p:nvSpPr>
        <p:spPr>
          <a:xfrm>
            <a:off x="480202" y="0"/>
            <a:ext cx="18565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第三节 齐次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285090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13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443248"/>
              </p:ext>
            </p:extLst>
          </p:nvPr>
        </p:nvGraphicFramePr>
        <p:xfrm>
          <a:off x="5530244" y="1111453"/>
          <a:ext cx="1452187" cy="390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65" name="Equation" r:id="rId3" imgW="1962199" imgH="514178" progId="Equation.3">
                  <p:embed/>
                </p:oleObj>
              </mc:Choice>
              <mc:Fallback>
                <p:oleObj name="Equation" r:id="rId3" imgW="1962199" imgH="51417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0244" y="1111453"/>
                        <a:ext cx="1452187" cy="3909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80" name="Text Box 20"/>
          <p:cNvSpPr txBox="1">
            <a:spLocks noChangeArrowheads="1"/>
          </p:cNvSpPr>
          <p:nvPr/>
        </p:nvSpPr>
        <p:spPr bwMode="auto">
          <a:xfrm>
            <a:off x="9793547" y="3751050"/>
            <a:ext cx="173620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齐次方程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C037FC-D0B3-4BAE-809E-CFF77F4B364E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950363" y="463878"/>
            <a:ext cx="45127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0" dirty="0" smtClean="0">
                <a:solidFill>
                  <a:srgbClr val="000000"/>
                </a:solidFill>
                <a:latin typeface="Arial"/>
                <a:ea typeface="黑体" panose="02010609060101010101" pitchFamily="49" charset="-122"/>
                <a:cs typeface="+mj-cs"/>
              </a:rPr>
              <a:t>二、</a:t>
            </a:r>
            <a:r>
              <a:rPr lang="zh-CN" altLang="en-US" sz="2800" b="1" kern="0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  <a:cs typeface="+mj-cs"/>
              </a:rPr>
              <a:t>可化为齐次方程的方程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67204"/>
              </p:ext>
            </p:extLst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66" name="Equation" r:id="rId5" imgW="114120" imgH="177480" progId="Equation.DSMT4">
                  <p:embed/>
                </p:oleObj>
              </mc:Choice>
              <mc:Fallback>
                <p:oleObj name="Equation" r:id="rId5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761904" y="1011998"/>
                <a:ext cx="2343014" cy="6780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  <m:r>
                          <m:rPr>
                            <m:nor/>
                          </m:rPr>
                          <a:rPr lang="zh-CN" altLang="en-US" sz="2400" i="1"/>
                          <m:t>​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​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​​​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𝑏𝑦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 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 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904" y="1011998"/>
                <a:ext cx="2343014" cy="6780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7838"/>
              </p:ext>
            </p:extLst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67" name="Equation" r:id="rId8" imgW="114120" imgH="177480" progId="Equation.DSMT4">
                  <p:embed/>
                </p:oleObj>
              </mc:Choice>
              <mc:Fallback>
                <p:oleObj name="Equation" r:id="rId8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427257" y="1905085"/>
                <a:ext cx="9745047" cy="62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 smtClean="0"/>
                  <a:t>1. 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当</m:t>
                    </m:r>
                    <m:r>
                      <m:rPr>
                        <m:nor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nor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 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时，</m:t>
                    </m:r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</a:rPr>
                      <m:t>作变换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nor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，则</m:t>
                    </m:r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</a:rPr>
                      <m:t>原方程化为</m:t>
                    </m:r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</a:rPr>
                      <m:t>  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</a:rPr>
                  <a:t> </a:t>
                </a:r>
                <a:endParaRPr lang="zh-CN" alt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257" y="1905085"/>
                <a:ext cx="9745047" cy="624273"/>
              </a:xfrm>
              <a:prstGeom prst="rect">
                <a:avLst/>
              </a:prstGeom>
              <a:blipFill>
                <a:blip r:embed="rId9"/>
                <a:stretch>
                  <a:fillRect l="-938" b="-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570137" y="2550497"/>
                <a:ext cx="3551998" cy="6780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​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​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​​​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𝑏𝑌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​​​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𝑏𝑘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 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 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 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 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137" y="2550497"/>
                <a:ext cx="3551998" cy="67807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220384"/>
              </p:ext>
            </p:extLst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68" name="Equation" r:id="rId11" imgW="114120" imgH="177480" progId="Equation.DSMT4">
                  <p:embed/>
                </p:oleObj>
              </mc:Choice>
              <mc:Fallback>
                <p:oleObj name="Equation" r:id="rId11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707803" y="3249707"/>
                <a:ext cx="5803897" cy="1459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/>
                  <a:t>令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​​​ 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=0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 </m:t>
                                </m:r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 </m:t>
                                </m:r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400" dirty="0" smtClean="0"/>
                  <a:t>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2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sSub>
                                  <m:sSub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zh-CN" altLang="en-US" sz="24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 </m:t>
                                    </m:r>
                                    <m:r>
                                      <a:rPr lang="zh-CN" altLang="en-US" sz="24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 </m:t>
                                    </m:r>
                                    <m:r>
                                      <a:rPr lang="zh-CN" altLang="en-US" sz="24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sSub>
                                  <m:sSub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 </m:t>
                                    </m:r>
                                    <m:r>
                                      <a:rPr lang="zh-CN" altLang="en-US" sz="24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sSub>
                                  <m:sSub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zh-CN" altLang="en-US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 </m:t>
                                    </m:r>
                                    <m:r>
                                      <a:rPr lang="zh-CN" altLang="en-US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 </m:t>
                                    </m:r>
                                    <m:r>
                                      <a:rPr lang="zh-CN" altLang="en-US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sSub>
                                  <m:sSub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 </m:t>
                                    </m:r>
                                    <m:r>
                                      <a:rPr lang="zh-CN" altLang="en-US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400" dirty="0" smtClean="0"/>
                  <a:t> 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803" y="3249707"/>
                <a:ext cx="5803897" cy="1459887"/>
              </a:xfrm>
              <a:prstGeom prst="rect">
                <a:avLst/>
              </a:prstGeom>
              <a:blipFill>
                <a:blip r:embed="rId13"/>
                <a:stretch>
                  <a:fillRect l="-1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445879"/>
              </p:ext>
            </p:extLst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69" name="Equation" r:id="rId14" imgW="114120" imgH="177480" progId="Equation.DSMT4">
                  <p:embed/>
                </p:oleObj>
              </mc:Choice>
              <mc:Fallback>
                <p:oleObj name="Equation" r:id="rId14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7706950" y="3645552"/>
                <a:ext cx="1982787" cy="6780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​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​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​​​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​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 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 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950" y="3645552"/>
                <a:ext cx="1982787" cy="67807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1427257" y="4709594"/>
                <a:ext cx="7167540" cy="6817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2.</m:t>
                    </m:r>
                    <m:r>
                      <m:rPr>
                        <m:nor/>
                      </m:rPr>
                      <a:rPr lang="zh-CN" altLang="en-US" sz="2400"/>
                      <m:t>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当</m:t>
                    </m:r>
                    <m:r>
                      <m:rPr>
                        <m:nor/>
                      </m:rPr>
                      <a:rPr lang="zh-CN" altLang="en-US" sz="2400"/>
                      <m:t> 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nor/>
                      </m:rPr>
                      <a:rPr lang="zh-CN" altLang="en-US" sz="2400"/>
                      <m:t>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时</m:t>
                    </m:r>
                    <m:r>
                      <m:rPr>
                        <m:nor/>
                      </m:rPr>
                      <a:rPr lang="zh-CN" altLang="en-US" sz="2400"/>
                      <m:t>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CN" altLang="en-US" sz="2400"/>
                      <m:t> </m:t>
                    </m:r>
                  </m:oMath>
                </a14:m>
                <a:r>
                  <a:rPr lang="zh-CN" altLang="en-US" sz="2400" dirty="0"/>
                  <a:t>原方程可化为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/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)+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257" y="4709594"/>
                <a:ext cx="7167540" cy="68179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1707803" y="5593416"/>
                <a:ext cx="6154442" cy="677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</a:rPr>
                          <m:t> 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/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803" y="5593416"/>
                <a:ext cx="6154442" cy="677943"/>
              </a:xfrm>
              <a:prstGeom prst="rect">
                <a:avLst/>
              </a:prstGeom>
              <a:blipFill>
                <a:blip r:embed="rId17"/>
                <a:stretch>
                  <a:fillRect l="-14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 Box 20"/>
          <p:cNvSpPr txBox="1">
            <a:spLocks noChangeArrowheads="1"/>
          </p:cNvSpPr>
          <p:nvPr/>
        </p:nvSpPr>
        <p:spPr bwMode="auto">
          <a:xfrm>
            <a:off x="8208587" y="5703787"/>
            <a:ext cx="223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变量可分离</a:t>
            </a:r>
            <a:r>
              <a:rPr kumimoji="1" lang="en-US" altLang="zh-CN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1"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80202" y="0"/>
            <a:ext cx="18565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第三节 齐次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80" grpId="0" autoUpdateAnimBg="0"/>
      <p:bldP spid="8" grpId="0"/>
      <p:bldP spid="10" grpId="0"/>
      <p:bldP spid="12" grpId="0"/>
      <p:bldP spid="14" grpId="0"/>
      <p:bldP spid="16" grpId="0"/>
      <p:bldP spid="17" grpId="0"/>
      <p:bldP spid="4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968412" y="417005"/>
                <a:ext cx="654922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例</a:t>
                </a:r>
                <a:r>
                  <a:rPr kumimoji="1" lang="en-US" altLang="zh-CN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3 </a:t>
                </a:r>
                <a:r>
                  <a:rPr lang="zh-CN" altLang="en-US" sz="2400" dirty="0"/>
                  <a:t>解方程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12" y="417005"/>
                <a:ext cx="6549229" cy="523220"/>
              </a:xfrm>
              <a:prstGeom prst="rect">
                <a:avLst/>
              </a:prstGeom>
              <a:blipFill>
                <a:blip r:embed="rId2"/>
                <a:stretch>
                  <a:fillRect l="-1955" t="-15116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568519" y="1053609"/>
                <a:ext cx="8481040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解：令</a:t>
                </a:r>
                <a14:m>
                  <m:oMath xmlns:m="http://schemas.openxmlformats.org/officeDocument/2006/math"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nor/>
                      </m:rP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sz="2400" dirty="0" smtClean="0"/>
              </a:p>
              <a:p>
                <a:r>
                  <a:rPr lang="en-US" altLang="zh-CN" sz="2400" dirty="0"/>
                  <a:t> </a:t>
                </a:r>
                <a:r>
                  <a:rPr lang="en-US" altLang="zh-CN" sz="2400" dirty="0" smtClean="0"/>
                  <a:t>       </a:t>
                </a:r>
                <a:r>
                  <a:rPr lang="zh-CN" altLang="en-US" sz="2400" dirty="0" smtClean="0"/>
                  <a:t>则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519" y="1053609"/>
                <a:ext cx="8481040" cy="830997"/>
              </a:xfrm>
              <a:prstGeom prst="rect">
                <a:avLst/>
              </a:prstGeom>
              <a:blipFill>
                <a:blip r:embed="rId3"/>
                <a:stretch>
                  <a:fillRect l="-1078" t="-8088" b="-13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223191" y="1997990"/>
                <a:ext cx="5227585" cy="916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/>
                  <a:t>令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​​​ 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𝑏𝑘</m:t>
                            </m:r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=0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=0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400" dirty="0" smtClean="0"/>
                  <a:t>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−2    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400" dirty="0" smtClean="0"/>
                  <a:t> 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191" y="1997990"/>
                <a:ext cx="5227585" cy="916148"/>
              </a:xfrm>
              <a:prstGeom prst="rect">
                <a:avLst/>
              </a:prstGeom>
              <a:blipFill>
                <a:blip r:embed="rId4"/>
                <a:stretch>
                  <a:fillRect l="-18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7647773" y="2138990"/>
                <a:ext cx="1950983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​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​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​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773" y="2138990"/>
                <a:ext cx="1950983" cy="6341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223191" y="3027522"/>
                <a:ext cx="5882316" cy="6493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b="0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即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𝑢𝑋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191" y="3027522"/>
                <a:ext cx="5882316" cy="649345"/>
              </a:xfrm>
              <a:prstGeom prst="rect">
                <a:avLst/>
              </a:prstGeom>
              <a:blipFill>
                <a:blip r:embed="rId6"/>
                <a:stretch>
                  <a:fillRect l="-1658" b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494927" y="3740022"/>
                <a:ext cx="4166975" cy="668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927" y="3740022"/>
                <a:ext cx="4166975" cy="6683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7183710" y="3739980"/>
                <a:ext cx="2663230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710" y="3739980"/>
                <a:ext cx="2663230" cy="6341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494927" y="4502709"/>
                <a:ext cx="3348032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2+</m:t>
                            </m:r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nary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927" y="4502709"/>
                <a:ext cx="3348032" cy="6341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6183085" y="4589495"/>
                <a:ext cx="4364656" cy="4605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=−2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 smtClean="0"/>
                  <a:t>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085" y="4589495"/>
                <a:ext cx="4364656" cy="460575"/>
              </a:xfrm>
              <a:prstGeom prst="rect">
                <a:avLst/>
              </a:prstGeom>
              <a:blipFill>
                <a:blip r:embed="rId10"/>
                <a:stretch>
                  <a:fillRect l="-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2494927" y="5292975"/>
                <a:ext cx="2949334" cy="4605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927" y="5292975"/>
                <a:ext cx="2949334" cy="460575"/>
              </a:xfrm>
              <a:prstGeom prst="rect">
                <a:avLst/>
              </a:prstGeom>
              <a:blipFill>
                <a:blip r:embed="rId11"/>
                <a:stretch>
                  <a:fillRect l="-4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5713116" y="5072828"/>
                <a:ext cx="4670317" cy="7180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den>
                    </m:f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116" y="5072828"/>
                <a:ext cx="4670317" cy="71801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2445587" y="5790845"/>
                <a:ext cx="591982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587" y="5790845"/>
                <a:ext cx="5919826" cy="461665"/>
              </a:xfrm>
              <a:prstGeom prst="rect">
                <a:avLst/>
              </a:prstGeom>
              <a:blipFill>
                <a:blip r:embed="rId13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2445587" y="6252510"/>
                <a:ext cx="505939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587" y="6252510"/>
                <a:ext cx="5059398" cy="461665"/>
              </a:xfrm>
              <a:prstGeom prst="rect">
                <a:avLst/>
              </a:prstGeom>
              <a:blipFill>
                <a:blip r:embed="rId1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/>
          <p:nvPr/>
        </p:nvSpPr>
        <p:spPr>
          <a:xfrm>
            <a:off x="480202" y="0"/>
            <a:ext cx="18565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第三节 齐次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327136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968412" y="417005"/>
                <a:ext cx="5445401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补例</a:t>
                </a:r>
                <a:r>
                  <a:rPr kumimoji="1" lang="en-US" altLang="zh-CN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1 </a:t>
                </a:r>
                <a:r>
                  <a:rPr lang="zh-CN" altLang="en-US" sz="2400" dirty="0"/>
                  <a:t>解方程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sin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12" y="417005"/>
                <a:ext cx="5445401" cy="634148"/>
              </a:xfrm>
              <a:prstGeom prst="rect">
                <a:avLst/>
              </a:prstGeom>
              <a:blipFill>
                <a:blip r:embed="rId3"/>
                <a:stretch>
                  <a:fillRect l="-2352" t="-6731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568519" y="1053609"/>
                <a:ext cx="8080867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解：令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，则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zh-CN" altLang="en-US" sz="2400" dirty="0" smtClean="0"/>
                  <a:t>，</a:t>
                </a:r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519" y="1053609"/>
                <a:ext cx="8080867" cy="634148"/>
              </a:xfrm>
              <a:prstGeom prst="rect">
                <a:avLst/>
              </a:prstGeom>
              <a:blipFill>
                <a:blip r:embed="rId4"/>
                <a:stretch>
                  <a:fillRect l="-1131" b="-48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645588" y="1914467"/>
                <a:ext cx="1987595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588" y="1914467"/>
                <a:ext cx="1987595" cy="6341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4195490" y="1914467"/>
                <a:ext cx="2454646" cy="6158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csc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490" y="1914467"/>
                <a:ext cx="2454646" cy="6158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799479" y="1976080"/>
                <a:ext cx="431925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csc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m:rPr>
                              <m:nor/>
                            </m:rPr>
                            <a:rPr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cot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479" y="1976080"/>
                <a:ext cx="4319259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568519" y="2674186"/>
                <a:ext cx="242617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csc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m:rPr>
                          <m:nor/>
                        </m:rP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cot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519" y="2674186"/>
                <a:ext cx="242617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4383685" y="2674185"/>
                <a:ext cx="40772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csc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cot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𝐶𝑥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685" y="2674185"/>
                <a:ext cx="4077270" cy="461665"/>
              </a:xfrm>
              <a:prstGeom prst="rect">
                <a:avLst/>
              </a:prstGeom>
              <a:blipFill>
                <a:blip r:embed="rId9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7529706" y="549413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dirty="0">
                <a:solidFill>
                  <a:srgbClr val="009999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变量替换法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976919" y="3199695"/>
                <a:ext cx="4528484" cy="7360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补例</a:t>
                </a:r>
                <a:r>
                  <a:rPr kumimoji="1" lang="en-US" altLang="zh-CN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2 </a:t>
                </a:r>
                <a:r>
                  <a:rPr lang="zh-CN" altLang="en-US" sz="2400" dirty="0"/>
                  <a:t>解方程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919" y="3199695"/>
                <a:ext cx="4528484" cy="736099"/>
              </a:xfrm>
              <a:prstGeom prst="rect">
                <a:avLst/>
              </a:prstGeom>
              <a:blipFill>
                <a:blip r:embed="rId10"/>
                <a:stretch>
                  <a:fillRect l="-2692" t="-2479" b="-3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769161"/>
              </p:ext>
            </p:extLst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05" name="Equation" r:id="rId11" imgW="114120" imgH="177480" progId="Equation.DSMT4">
                  <p:embed/>
                </p:oleObj>
              </mc:Choice>
              <mc:Fallback>
                <p:oleObj name="Equation" r:id="rId11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1568519" y="4002439"/>
                <a:ext cx="7675756" cy="668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解：令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，则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sz="2400" dirty="0" smtClean="0"/>
                  <a:t>，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519" y="4002439"/>
                <a:ext cx="7675756" cy="668388"/>
              </a:xfrm>
              <a:prstGeom prst="rect">
                <a:avLst/>
              </a:prstGeom>
              <a:blipFill>
                <a:blip r:embed="rId13"/>
                <a:stretch>
                  <a:fillRect l="-1191" b="-4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2026768" y="4710109"/>
                <a:ext cx="2242857" cy="6481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>
                          <a:latin typeface="Cambria Math" panose="02040503050406030204" pitchFamily="18" charset="0"/>
                        </a:rPr>
                        <m:t>tan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768" y="4710109"/>
                <a:ext cx="2242857" cy="64819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4798153" y="4710109"/>
                <a:ext cx="2895664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153" y="4710109"/>
                <a:ext cx="2895664" cy="63414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2090967" y="5447732"/>
                <a:ext cx="31248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967" y="5447732"/>
                <a:ext cx="3124830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2090967" y="5989936"/>
                <a:ext cx="1955856" cy="649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zh-CN" altLang="en-US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𝐶𝑥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967" y="5989936"/>
                <a:ext cx="1955856" cy="649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480202" y="0"/>
            <a:ext cx="18565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第三节 齐次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30600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/>
      <p:bldP spid="16" grpId="0"/>
      <p:bldP spid="17" grpId="0"/>
      <p:bldP spid="19" grpId="0"/>
      <p:bldP spid="20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9"/>
          <p:cNvSpPr>
            <a:spLocks noChangeArrowheads="1"/>
          </p:cNvSpPr>
          <p:nvPr/>
        </p:nvSpPr>
        <p:spPr bwMode="auto">
          <a:xfrm>
            <a:off x="1524000" y="0"/>
            <a:ext cx="9144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B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3796" name="Rectangle 10"/>
          <p:cNvSpPr>
            <a:spLocks noChangeArrowheads="1"/>
          </p:cNvSpPr>
          <p:nvPr/>
        </p:nvSpPr>
        <p:spPr bwMode="auto">
          <a:xfrm>
            <a:off x="3149600" y="228600"/>
            <a:ext cx="6832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400" dirty="0">
                <a:latin typeface="华文行楷" panose="02010800040101010101" pitchFamily="2" charset="-122"/>
                <a:ea typeface="华文新魏" panose="02010800040101010101" pitchFamily="2" charset="-122"/>
              </a:rPr>
              <a:t>第四节 一阶线性微分</a:t>
            </a:r>
            <a:r>
              <a:rPr lang="zh-CN" altLang="en-US" sz="4400" dirty="0">
                <a:ea typeface="华文新魏" panose="02010800040101010101" pitchFamily="2" charset="-122"/>
              </a:rPr>
              <a:t>方程</a:t>
            </a:r>
          </a:p>
        </p:txBody>
      </p:sp>
      <p:sp>
        <p:nvSpPr>
          <p:cNvPr id="277515" name="Text Box 11"/>
          <p:cNvSpPr txBox="1">
            <a:spLocks noChangeArrowheads="1"/>
          </p:cNvSpPr>
          <p:nvPr/>
        </p:nvSpPr>
        <p:spPr bwMode="auto">
          <a:xfrm>
            <a:off x="3479801" y="3103564"/>
            <a:ext cx="34718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kumimoji="1"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伯努利方程</a:t>
            </a:r>
          </a:p>
        </p:txBody>
      </p:sp>
      <p:sp>
        <p:nvSpPr>
          <p:cNvPr id="277516" name="Text Box 12"/>
          <p:cNvSpPr txBox="1">
            <a:spLocks noChangeArrowheads="1"/>
          </p:cNvSpPr>
          <p:nvPr/>
        </p:nvSpPr>
        <p:spPr bwMode="auto">
          <a:xfrm>
            <a:off x="3479801" y="1917700"/>
            <a:ext cx="4327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kumimoji="1"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一阶线性微分方程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5DAA22-2B4D-4600-B7F6-AE1F636C2496}" type="datetime11">
              <a:rPr lang="zh-CN" altLang="en-US" smtClean="0"/>
              <a:t>15:29:49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7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7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15" grpId="0" build="p" autoUpdateAnimBg="0" advAuto="0"/>
      <p:bldP spid="277516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C2C5C7-FF85-4631-B38C-2131417578DB}" type="datetime11">
              <a:rPr lang="zh-CN" altLang="en-US" smtClean="0"/>
              <a:t>15:29:49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8531" name="Text Box 3"/>
              <p:cNvSpPr txBox="1">
                <a:spLocks noChangeArrowheads="1"/>
              </p:cNvSpPr>
              <p:nvPr/>
            </p:nvSpPr>
            <p:spPr bwMode="auto">
              <a:xfrm>
                <a:off x="1659775" y="1180937"/>
                <a:ext cx="7833360" cy="6341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9900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一阶线性微分方程标准形式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8531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59775" y="1180937"/>
                <a:ext cx="7833360" cy="634148"/>
              </a:xfrm>
              <a:prstGeom prst="rect">
                <a:avLst/>
              </a:prstGeom>
              <a:blipFill>
                <a:blip r:embed="rId3"/>
                <a:stretch>
                  <a:fillRect l="-1167" b="-86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99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533" name="Text Box 5"/>
          <p:cNvSpPr txBox="1">
            <a:spLocks noChangeArrowheads="1"/>
          </p:cNvSpPr>
          <p:nvPr/>
        </p:nvSpPr>
        <p:spPr bwMode="auto">
          <a:xfrm>
            <a:off x="2819400" y="1828801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若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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0, </a:t>
            </a:r>
          </a:p>
        </p:txBody>
      </p:sp>
      <p:sp>
        <p:nvSpPr>
          <p:cNvPr id="278534" name="Text Box 6"/>
          <p:cNvSpPr txBox="1">
            <a:spLocks noChangeArrowheads="1"/>
          </p:cNvSpPr>
          <p:nvPr/>
        </p:nvSpPr>
        <p:spPr bwMode="auto">
          <a:xfrm>
            <a:off x="2806700" y="2413001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若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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0, </a:t>
            </a:r>
          </a:p>
        </p:txBody>
      </p:sp>
      <p:sp>
        <p:nvSpPr>
          <p:cNvPr id="278535" name="Text Box 7"/>
          <p:cNvSpPr txBox="1">
            <a:spLocks noChangeArrowheads="1"/>
          </p:cNvSpPr>
          <p:nvPr/>
        </p:nvSpPr>
        <p:spPr bwMode="auto">
          <a:xfrm>
            <a:off x="4800600" y="2438401"/>
            <a:ext cx="3352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称为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非齐次方程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78536" name="Text Box 8"/>
          <p:cNvSpPr txBox="1">
            <a:spLocks noChangeArrowheads="1"/>
          </p:cNvSpPr>
          <p:nvPr/>
        </p:nvSpPr>
        <p:spPr bwMode="auto">
          <a:xfrm>
            <a:off x="4800600" y="1828801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称为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齐次方程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278537" name="Text Box 9"/>
          <p:cNvSpPr txBox="1">
            <a:spLocks noChangeArrowheads="1"/>
          </p:cNvSpPr>
          <p:nvPr/>
        </p:nvSpPr>
        <p:spPr bwMode="auto">
          <a:xfrm>
            <a:off x="1765301" y="3132138"/>
            <a:ext cx="6052939" cy="400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考察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下列方程是否是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或能否化为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线性方程？</a:t>
            </a:r>
          </a:p>
        </p:txBody>
      </p:sp>
      <p:sp>
        <p:nvSpPr>
          <p:cNvPr id="278538" name="Rectangle 10"/>
          <p:cNvSpPr>
            <a:spLocks noChangeArrowheads="1"/>
          </p:cNvSpPr>
          <p:nvPr/>
        </p:nvSpPr>
        <p:spPr bwMode="auto">
          <a:xfrm>
            <a:off x="6642100" y="4503738"/>
            <a:ext cx="2693045" cy="400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是非齐次线性方程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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278539" name="Rectangle 11"/>
          <p:cNvSpPr>
            <a:spLocks noChangeArrowheads="1"/>
          </p:cNvSpPr>
          <p:nvPr/>
        </p:nvSpPr>
        <p:spPr bwMode="auto">
          <a:xfrm>
            <a:off x="4813301" y="4503738"/>
            <a:ext cx="1687963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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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 </a:t>
            </a:r>
          </a:p>
        </p:txBody>
      </p:sp>
      <p:sp>
        <p:nvSpPr>
          <p:cNvPr id="278540" name="Rectangle 12"/>
          <p:cNvSpPr>
            <a:spLocks noChangeArrowheads="1"/>
          </p:cNvSpPr>
          <p:nvPr/>
        </p:nvSpPr>
        <p:spPr bwMode="auto">
          <a:xfrm>
            <a:off x="5194300" y="5037138"/>
            <a:ext cx="2693045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是非齐次线性方程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  </a:t>
            </a:r>
          </a:p>
        </p:txBody>
      </p:sp>
      <p:grpSp>
        <p:nvGrpSpPr>
          <p:cNvPr id="278541" name="Group 13"/>
          <p:cNvGrpSpPr>
            <a:grpSpLocks/>
          </p:cNvGrpSpPr>
          <p:nvPr/>
        </p:nvGrpSpPr>
        <p:grpSpPr bwMode="auto">
          <a:xfrm>
            <a:off x="1765300" y="3714751"/>
            <a:ext cx="3195638" cy="2627313"/>
            <a:chOff x="144" y="2148"/>
            <a:chExt cx="2013" cy="1655"/>
          </a:xfrm>
        </p:grpSpPr>
        <p:sp>
          <p:nvSpPr>
            <p:cNvPr id="34833" name="Text Box 14"/>
            <p:cNvSpPr txBox="1">
              <a:spLocks noChangeArrowheads="1"/>
            </p:cNvSpPr>
            <p:nvPr/>
          </p:nvSpPr>
          <p:spPr bwMode="auto">
            <a:xfrm>
              <a:off x="144" y="2669"/>
              <a:ext cx="1689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CC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       (2)3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400" baseline="30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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5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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y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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 </a:t>
              </a:r>
              <a:endPara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834" name="Text Box 15"/>
            <p:cNvSpPr txBox="1">
              <a:spLocks noChangeArrowheads="1"/>
            </p:cNvSpPr>
            <p:nvPr/>
          </p:nvSpPr>
          <p:spPr bwMode="auto">
            <a:xfrm>
              <a:off x="144" y="3005"/>
              <a:ext cx="2013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 cmpd="dbl">
                  <a:solidFill>
                    <a:srgbClr val="CC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       (3)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y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</a:t>
              </a:r>
              <a:r>
                <a:rPr kumimoji="1" lang="en-US" altLang="zh-CN" sz="2400" i="1" dirty="0" err="1">
                  <a:latin typeface="Times New Roman" panose="02020603050405020304" pitchFamily="18" charset="0"/>
                  <a:ea typeface="黑体" panose="02010609060101010101" pitchFamily="49" charset="-122"/>
                </a:rPr>
                <a:t>y</a:t>
              </a:r>
              <a:r>
                <a:rPr kumimoji="1" lang="en-US" altLang="zh-CN" sz="2400" dirty="0" err="1">
                  <a:latin typeface="Times New Roman" panose="02020603050405020304" pitchFamily="18" charset="0"/>
                  <a:ea typeface="黑体" panose="02010609060101010101" pitchFamily="49" charset="-122"/>
                </a:rPr>
                <a:t>cos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kumimoji="1" lang="en-US" altLang="zh-CN" sz="2400" i="1" dirty="0" err="1"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400" dirty="0" err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</a:t>
              </a:r>
              <a:r>
                <a:rPr kumimoji="1" lang="en-US" altLang="zh-CN" sz="2400" i="1" dirty="0" err="1">
                  <a:latin typeface="Times New Roman" panose="02020603050405020304" pitchFamily="18" charset="0"/>
                  <a:ea typeface="黑体" panose="02010609060101010101" pitchFamily="49" charset="-122"/>
                </a:rPr>
                <a:t>e</a:t>
              </a:r>
              <a:r>
                <a:rPr kumimoji="1" lang="en-US" altLang="zh-CN" sz="2400" baseline="30000" dirty="0" err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</a:t>
              </a:r>
              <a:r>
                <a:rPr kumimoji="1" lang="en-US" altLang="zh-CN" sz="2400" baseline="30000" dirty="0" err="1">
                  <a:latin typeface="Times New Roman" panose="02020603050405020304" pitchFamily="18" charset="0"/>
                  <a:ea typeface="黑体" panose="02010609060101010101" pitchFamily="49" charset="-122"/>
                </a:rPr>
                <a:t>sin</a:t>
              </a:r>
              <a:r>
                <a:rPr kumimoji="1" lang="en-US" altLang="zh-CN" sz="2400" baseline="30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kumimoji="1" lang="en-US" altLang="zh-CN" sz="2400" i="1" baseline="30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kumimoji="1" lang="en-US" altLang="zh-CN" sz="2400" baseline="30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  </a:t>
              </a:r>
              <a:endPara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pic>
          <p:nvPicPr>
            <p:cNvPr id="34835" name="Picture 1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6227"/>
            <a:stretch>
              <a:fillRect/>
            </a:stretch>
          </p:blipFill>
          <p:spPr bwMode="auto">
            <a:xfrm>
              <a:off x="191" y="3341"/>
              <a:ext cx="1438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836" name="Picture 1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190"/>
            <a:stretch>
              <a:fillRect/>
            </a:stretch>
          </p:blipFill>
          <p:spPr bwMode="auto">
            <a:xfrm>
              <a:off x="191" y="2148"/>
              <a:ext cx="1543" cy="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78546" name="Picture 1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10" r="51775"/>
          <a:stretch>
            <a:fillRect/>
          </a:stretch>
        </p:blipFill>
        <p:spPr bwMode="auto">
          <a:xfrm>
            <a:off x="4660900" y="3676650"/>
            <a:ext cx="2514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8548" name="Picture 2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73" r="56529"/>
          <a:stretch>
            <a:fillRect/>
          </a:stretch>
        </p:blipFill>
        <p:spPr bwMode="auto">
          <a:xfrm>
            <a:off x="4432300" y="5670550"/>
            <a:ext cx="22098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1"/>
          <p:cNvSpPr/>
          <p:nvPr/>
        </p:nvSpPr>
        <p:spPr>
          <a:xfrm>
            <a:off x="950363" y="463878"/>
            <a:ext cx="37914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0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  <a:cs typeface="+mj-cs"/>
              </a:rPr>
              <a:t>一</a:t>
            </a:r>
            <a:r>
              <a:rPr lang="zh-CN" altLang="en-US" sz="2800" b="1" kern="0" dirty="0" smtClean="0">
                <a:solidFill>
                  <a:srgbClr val="000000"/>
                </a:solidFill>
                <a:latin typeface="Arial"/>
                <a:ea typeface="黑体" panose="02010609060101010101" pitchFamily="49" charset="-122"/>
                <a:cs typeface="+mj-cs"/>
              </a:rPr>
              <a:t>、</a:t>
            </a:r>
            <a:r>
              <a:rPr lang="zh-CN" altLang="en-US" sz="2800" b="1" kern="0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  <a:cs typeface="+mj-cs"/>
              </a:rPr>
              <a:t>一阶线性微分方程</a:t>
            </a:r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7476144" y="3904867"/>
            <a:ext cx="2385268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是齐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次线性方程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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613640"/>
              </p:ext>
            </p:extLst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5" name="Equation" r:id="rId8" imgW="114120" imgH="177480" progId="Equation.DSMT4">
                  <p:embed/>
                </p:oleObj>
              </mc:Choice>
              <mc:Fallback>
                <p:oleObj name="Equation" r:id="rId8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449949" y="4059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第四节 一阶线性微分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8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8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8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8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8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1" grpId="0" autoUpdateAnimBg="0"/>
      <p:bldP spid="278533" grpId="0" autoUpdateAnimBg="0"/>
      <p:bldP spid="278534" grpId="0"/>
      <p:bldP spid="278535" grpId="0" autoUpdateAnimBg="0"/>
      <p:bldP spid="278536" grpId="0" autoUpdateAnimBg="0"/>
      <p:bldP spid="278537" grpId="0" build="p" autoUpdateAnimBg="0"/>
      <p:bldP spid="278538" grpId="0" build="p" autoUpdateAnimBg="0"/>
      <p:bldP spid="278539" grpId="0" build="p" autoUpdateAnimBg="0"/>
      <p:bldP spid="278540" grpId="0" build="p" autoUpdateAnimBg="0"/>
      <p:bldP spid="23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5" name="Text Box 3"/>
          <p:cNvSpPr txBox="1">
            <a:spLocks noChangeArrowheads="1"/>
          </p:cNvSpPr>
          <p:nvPr/>
        </p:nvSpPr>
        <p:spPr bwMode="auto">
          <a:xfrm>
            <a:off x="877888" y="575618"/>
            <a:ext cx="259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解齐次方程</a:t>
            </a:r>
          </a:p>
        </p:txBody>
      </p:sp>
      <p:sp>
        <p:nvSpPr>
          <p:cNvPr id="279556" name="Text Box 4"/>
          <p:cNvSpPr txBox="1">
            <a:spLocks noChangeArrowheads="1"/>
          </p:cNvSpPr>
          <p:nvPr/>
        </p:nvSpPr>
        <p:spPr bwMode="auto">
          <a:xfrm>
            <a:off x="1258888" y="1232842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分离变量</a:t>
            </a:r>
          </a:p>
        </p:txBody>
      </p:sp>
      <p:graphicFrame>
        <p:nvGraphicFramePr>
          <p:cNvPr id="279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100772"/>
              </p:ext>
            </p:extLst>
          </p:nvPr>
        </p:nvGraphicFramePr>
        <p:xfrm>
          <a:off x="3024535" y="1217604"/>
          <a:ext cx="1508991" cy="663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12" name="Equation" r:id="rId3" imgW="2085995" imgH="904886" progId="Equation.3">
                  <p:embed/>
                </p:oleObj>
              </mc:Choice>
              <mc:Fallback>
                <p:oleObj name="Equation" r:id="rId3" imgW="2085995" imgH="90488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535" y="1217604"/>
                        <a:ext cx="1508991" cy="6635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58" name="Text Box 6"/>
          <p:cNvSpPr txBox="1">
            <a:spLocks noChangeArrowheads="1"/>
          </p:cNvSpPr>
          <p:nvPr/>
        </p:nvSpPr>
        <p:spPr bwMode="auto">
          <a:xfrm>
            <a:off x="1261083" y="2102209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两边积分得</a:t>
            </a:r>
          </a:p>
        </p:txBody>
      </p:sp>
      <p:graphicFrame>
        <p:nvGraphicFramePr>
          <p:cNvPr id="279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09221"/>
              </p:ext>
            </p:extLst>
          </p:nvPr>
        </p:nvGraphicFramePr>
        <p:xfrm>
          <a:off x="3138229" y="2109925"/>
          <a:ext cx="3173671" cy="488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13" name="Equation" r:id="rId5" imgW="3781234" imgH="561960" progId="Equation.3">
                  <p:embed/>
                </p:oleObj>
              </mc:Choice>
              <mc:Fallback>
                <p:oleObj name="Equation" r:id="rId5" imgW="3781234" imgH="5619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229" y="2109925"/>
                        <a:ext cx="3173671" cy="4884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60" name="Text Box 8"/>
          <p:cNvSpPr txBox="1">
            <a:spLocks noChangeArrowheads="1"/>
          </p:cNvSpPr>
          <p:nvPr/>
        </p:nvSpPr>
        <p:spPr bwMode="auto">
          <a:xfrm>
            <a:off x="1309688" y="2912566"/>
            <a:ext cx="266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故通解为</a:t>
            </a:r>
          </a:p>
        </p:txBody>
      </p:sp>
      <p:sp>
        <p:nvSpPr>
          <p:cNvPr id="279563" name="Text Box 11"/>
          <p:cNvSpPr txBox="1">
            <a:spLocks noChangeArrowheads="1"/>
          </p:cNvSpPr>
          <p:nvPr/>
        </p:nvSpPr>
        <p:spPr bwMode="auto">
          <a:xfrm>
            <a:off x="1033765" y="4258349"/>
            <a:ext cx="1000274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79564" name="Rectangle 12"/>
          <p:cNvSpPr>
            <a:spLocks noChangeArrowheads="1"/>
          </p:cNvSpPr>
          <p:nvPr/>
        </p:nvSpPr>
        <p:spPr bwMode="auto">
          <a:xfrm>
            <a:off x="2328617" y="4258349"/>
            <a:ext cx="1923604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原方程可变为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79566" name="Text Box 14"/>
          <p:cNvSpPr txBox="1">
            <a:spLocks noChangeArrowheads="1"/>
          </p:cNvSpPr>
          <p:nvPr/>
        </p:nvSpPr>
        <p:spPr bwMode="auto">
          <a:xfrm>
            <a:off x="6661017" y="4263597"/>
            <a:ext cx="2693045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这是齐次线性方程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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279567" name="Text Box 15"/>
          <p:cNvSpPr txBox="1">
            <a:spLocks noChangeArrowheads="1"/>
          </p:cNvSpPr>
          <p:nvPr/>
        </p:nvSpPr>
        <p:spPr bwMode="auto">
          <a:xfrm>
            <a:off x="2296502" y="4931733"/>
            <a:ext cx="4154984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由通解公式得原方程的通解为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08D5C2-CDCE-4AB6-94C7-DAA573D7E077}" type="datetime11">
              <a:rPr lang="zh-CN" altLang="en-US" smtClean="0"/>
              <a:t>15:29:49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1594759" y="5707578"/>
                <a:ext cx="5152372" cy="6293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den>
                              </m:f>
                            </m:e>
                          </m:nary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sup>
                      </m:sSup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759" y="5707578"/>
                <a:ext cx="5152372" cy="6293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252221" y="4131870"/>
                <a:ext cx="2155462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221" y="4131870"/>
                <a:ext cx="2155462" cy="6341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8086594" y="4766018"/>
                <a:ext cx="1598643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594" y="4766018"/>
                <a:ext cx="1598643" cy="6341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/>
              <p:cNvSpPr/>
              <p:nvPr/>
            </p:nvSpPr>
            <p:spPr>
              <a:xfrm>
                <a:off x="9685237" y="4784011"/>
                <a:ext cx="1766189" cy="6753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0" name="矩形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5237" y="4784011"/>
                <a:ext cx="1766189" cy="67537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8086594" y="5707578"/>
                <a:ext cx="318856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 smtClean="0"/>
                  <a:t>  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594" y="5707578"/>
                <a:ext cx="3188565" cy="461665"/>
              </a:xfrm>
              <a:prstGeom prst="rect">
                <a:avLst/>
              </a:prstGeom>
              <a:blipFill>
                <a:blip r:embed="rId11"/>
                <a:stretch>
                  <a:fillRect l="-574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/>
              <p:cNvSpPr/>
              <p:nvPr/>
            </p:nvSpPr>
            <p:spPr>
              <a:xfrm>
                <a:off x="875999" y="3511749"/>
                <a:ext cx="3618042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例</a:t>
                </a:r>
                <a:r>
                  <a:rPr kumimoji="1" lang="en-US" altLang="zh-CN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1 </a:t>
                </a:r>
                <a:r>
                  <a:rPr lang="zh-CN" altLang="en-US" sz="2400" dirty="0"/>
                  <a:t>解方程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52" name="矩形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99" y="3511749"/>
                <a:ext cx="3618042" cy="634148"/>
              </a:xfrm>
              <a:prstGeom prst="rect">
                <a:avLst/>
              </a:prstGeom>
              <a:blipFill>
                <a:blip r:embed="rId12"/>
                <a:stretch>
                  <a:fillRect l="-3541" t="-6731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/>
              <p:cNvSpPr/>
              <p:nvPr/>
            </p:nvSpPr>
            <p:spPr>
              <a:xfrm>
                <a:off x="3468688" y="497327"/>
                <a:ext cx="2316916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i="1" dirty="0" smtClean="0"/>
                  <a:t> </a:t>
                </a:r>
                <a:endParaRPr lang="zh-CN" altLang="en-US" sz="2400" i="1" dirty="0"/>
              </a:p>
            </p:txBody>
          </p:sp>
        </mc:Choice>
        <mc:Fallback xmlns="">
          <p:sp>
            <p:nvSpPr>
              <p:cNvPr id="53" name="矩形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688" y="497327"/>
                <a:ext cx="2316916" cy="63414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855941" y="2854525"/>
                <a:ext cx="2474011" cy="5200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nary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  </m:t>
                        </m:r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941" y="2854525"/>
                <a:ext cx="2474011" cy="52001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矩形 55"/>
          <p:cNvSpPr/>
          <p:nvPr/>
        </p:nvSpPr>
        <p:spPr>
          <a:xfrm>
            <a:off x="449949" y="4059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第四节 一阶线性微分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9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9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9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5" grpId="0"/>
      <p:bldP spid="279556" grpId="0"/>
      <p:bldP spid="279558" grpId="0"/>
      <p:bldP spid="279560" grpId="0"/>
      <p:bldP spid="279563" grpId="0"/>
      <p:bldP spid="279564" grpId="0"/>
      <p:bldP spid="279566" grpId="0"/>
      <p:bldP spid="279567" grpId="0"/>
      <p:bldP spid="3" grpId="0"/>
      <p:bldP spid="4" grpId="0"/>
      <p:bldP spid="5" grpId="0"/>
      <p:bldP spid="50" grpId="0"/>
      <p:bldP spid="6" grpId="0"/>
      <p:bldP spid="52" grpId="0"/>
      <p:bldP spid="53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877888" y="575618"/>
            <a:ext cx="259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非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齐次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方程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268746"/>
              </p:ext>
            </p:extLst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30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468688" y="497327"/>
                <a:ext cx="2793714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i="1" dirty="0" smtClean="0"/>
                  <a:t> </a:t>
                </a:r>
                <a:endParaRPr lang="zh-CN" altLang="en-US" sz="2400" i="1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688" y="497327"/>
                <a:ext cx="2793714" cy="6341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1199712" y="1249280"/>
            <a:ext cx="20906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(1)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常数变易法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3"/>
              <p:cNvSpPr txBox="1">
                <a:spLocks noChangeArrowheads="1"/>
              </p:cNvSpPr>
              <p:nvPr/>
            </p:nvSpPr>
            <p:spPr bwMode="auto">
              <a:xfrm>
                <a:off x="1597429" y="1715882"/>
                <a:ext cx="5110942" cy="6341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对应齐次</a:t>
                </a: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方程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的通解</a:t>
                </a:r>
                <a:r>
                  <a:rPr kumimoji="1" lang="en-US" altLang="zh-CN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:</a:t>
                </a:r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97429" y="1715882"/>
                <a:ext cx="5110942" cy="634148"/>
              </a:xfrm>
              <a:prstGeom prst="rect">
                <a:avLst/>
              </a:prstGeom>
              <a:blipFill>
                <a:blip r:embed="rId6"/>
                <a:stretch>
                  <a:fillRect l="-1790" r="-597" b="-761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644640" y="1710945"/>
                <a:ext cx="2474011" cy="5200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m:rPr>
                          <m:nor/>
                        </m:rPr>
                        <a:rPr lang="zh-CN" altLang="en-US" sz="2400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grow m:val="on"/>
                              <m:subHide m:val="on"/>
                              <m:supHide m:val="on"/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nary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  </m:t>
                          </m:r>
                          <m:r>
                            <m:rPr>
                              <m:sty m:val="p"/>
                            </m:rPr>
                            <a:rPr lang="zh-CN" altLang="en-US" sz="24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 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640" y="1710945"/>
                <a:ext cx="2474011" cy="5200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589167" y="2305591"/>
                <a:ext cx="8045284" cy="5200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作变换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nary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  </m:t>
                        </m:r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sz="2400" dirty="0" smtClean="0"/>
                  <a:t>代入对应的非齐次方程：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167" y="2305591"/>
                <a:ext cx="8045284" cy="520014"/>
              </a:xfrm>
              <a:prstGeom prst="rect">
                <a:avLst/>
              </a:prstGeom>
              <a:blipFill>
                <a:blip r:embed="rId8"/>
                <a:stretch>
                  <a:fillRect l="-1213" t="-2326" b="-209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597429" y="2862938"/>
                <a:ext cx="10098578" cy="6427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nary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  </m:t>
                        </m:r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nary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  </m:t>
                        </m:r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f>
                      <m:f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nary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  </m:t>
                        </m:r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i="1" dirty="0" smtClean="0"/>
                  <a:t>   </a:t>
                </a:r>
                <a:endParaRPr lang="zh-CN" altLang="en-US" sz="2400" i="1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429" y="2862938"/>
                <a:ext cx="10098578" cy="6427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589167" y="3516313"/>
                <a:ext cx="4046862" cy="6427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nary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  </m:t>
                        </m:r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f>
                      <m:f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i="1" dirty="0" smtClean="0"/>
                  <a:t>    </a:t>
                </a:r>
                <a:endParaRPr lang="zh-CN" altLang="en-US" sz="2400" i="1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167" y="3516313"/>
                <a:ext cx="4046862" cy="6427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5141473" y="3543011"/>
                <a:ext cx="4046862" cy="6427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nary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  </m:t>
                        </m:r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sz="2400" i="1" dirty="0" smtClean="0"/>
                  <a:t>    </a:t>
                </a:r>
                <a:endParaRPr lang="zh-CN" altLang="en-US" sz="2400" i="1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473" y="3543011"/>
                <a:ext cx="4046862" cy="6427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597428" y="4275112"/>
                <a:ext cx="4555721" cy="5785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solidFill>
                              <a:srgbClr val="000000"/>
                            </a:solidFill>
                          </a:rPr>
                          <m:t> 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nary>
                              <m:naryPr>
                                <m:grow m:val="on"/>
                                <m:subHide m:val="on"/>
                                <m:supHide m:val="on"/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nary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  </m:t>
                            </m:r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 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428" y="4275112"/>
                <a:ext cx="4555721" cy="57855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1589167" y="5109458"/>
                <a:ext cx="6773393" cy="5785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nary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  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solidFill>
                              <a:srgbClr val="0000FF"/>
                            </a:solidFill>
                          </a:rPr>
                          <m:t> 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nary>
                              <m:naryPr>
                                <m:grow m:val="on"/>
                                <m:subHide m:val="on"/>
                                <m:supHide m:val="on"/>
                                <m:ctrlP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nary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  </m:t>
                            </m:r>
                            <m:r>
                              <m:rPr>
                                <m:sty m:val="p"/>
                              </m:rPr>
                              <a:rPr lang="zh-CN" altLang="en-US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 </m:t>
                            </m:r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FF0066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zh-CN" altLang="en-US" sz="2400" i="1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zh-CN" altLang="en-US" sz="2400" i="1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nary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  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solidFill>
                      <a:srgbClr val="FF0066"/>
                    </a:solidFill>
                  </a:rPr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167" y="5109458"/>
                <a:ext cx="6773393" cy="57855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6395258" y="5812213"/>
            <a:ext cx="3003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齐</a:t>
            </a:r>
            <a:r>
              <a:rPr kumimoji="1" lang="zh-CN" alt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次线性方程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通解</a:t>
            </a: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2475551" y="5812213"/>
            <a:ext cx="32459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非</a:t>
            </a:r>
            <a:r>
              <a:rPr kumimoji="1" lang="zh-CN" alt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齐次线性方程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特解</a:t>
            </a:r>
          </a:p>
        </p:txBody>
      </p:sp>
      <p:sp>
        <p:nvSpPr>
          <p:cNvPr id="17" name="矩形 16"/>
          <p:cNvSpPr/>
          <p:nvPr/>
        </p:nvSpPr>
        <p:spPr>
          <a:xfrm>
            <a:off x="449949" y="4059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第四节 一阶线性微分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277344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877888" y="575618"/>
            <a:ext cx="259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非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齐次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468688" y="497327"/>
                <a:ext cx="2793714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i="1" dirty="0" smtClean="0"/>
                  <a:t> </a:t>
                </a:r>
                <a:endParaRPr lang="zh-CN" altLang="en-US" sz="2400" i="1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688" y="497327"/>
                <a:ext cx="2793714" cy="6341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1199712" y="1249280"/>
            <a:ext cx="17812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(2)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凑微分法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728920" y="1789939"/>
                <a:ext cx="3060966" cy="8091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d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m:rPr>
                              <m:nor/>
                            </m:rPr>
                            <a:rPr lang="zh-CN" altLang="en-US" sz="2400" dirty="0"/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920" y="1789939"/>
                <a:ext cx="3060966" cy="8091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776422" y="2606425"/>
                <a:ext cx="4748159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CN" altLang="en-US" sz="2400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i="1" dirty="0" smtClean="0"/>
                  <a:t>  </a:t>
                </a:r>
                <a:endParaRPr lang="zh-CN" altLang="en-US" sz="2400" i="1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422" y="2606425"/>
                <a:ext cx="4748159" cy="6341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968540" y="2602129"/>
                <a:ext cx="3868623" cy="6427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d>
                          <m:d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ctrlPr>
                          <a:rPr lang="zh-CN" alt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540" y="2602129"/>
                <a:ext cx="3868623" cy="6427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776422" y="3393771"/>
                <a:ext cx="2581989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solidFill>
                      <a:srgbClr val="0000FF"/>
                    </a:solidFill>
                  </a:rPr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422" y="3393771"/>
                <a:ext cx="2581989" cy="6341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5525517" y="3393771"/>
                <a:ext cx="2886046" cy="6427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solidFill>
                      <a:srgbClr val="0000FF"/>
                    </a:solidFill>
                  </a:rPr>
                  <a:t> </a:t>
                </a:r>
                <a:endParaRPr lang="zh-CN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517" y="3393771"/>
                <a:ext cx="2886046" cy="6427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728920" y="4323575"/>
                <a:ext cx="2449132" cy="5200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nary>
                            <m:naryPr>
                              <m:grow m:val="on"/>
                              <m:subHide m:val="on"/>
                              <m:supHide m:val="on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nary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  </m:t>
                          </m:r>
                          <m:r>
                            <m:rPr>
                              <m:sty m:val="p"/>
                            </m:rP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 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920" y="4323575"/>
                <a:ext cx="2449132" cy="52001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5472113" y="4323575"/>
                <a:ext cx="3331810" cy="5187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113" y="4323575"/>
                <a:ext cx="3331810" cy="518796"/>
              </a:xfrm>
              <a:prstGeom prst="rect">
                <a:avLst/>
              </a:prstGeom>
              <a:blipFill>
                <a:blip r:embed="rId9"/>
                <a:stretch>
                  <a:fillRect l="-549" t="-142353" b="-20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6340789" y="4978272"/>
                <a:ext cx="3596690" cy="5785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nary>
                              <m:naryPr>
                                <m:grow m:val="on"/>
                                <m:subHide m:val="on"/>
                                <m:supHide m:val="on"/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nary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  </m:t>
                            </m:r>
                            <m:r>
                              <m:rPr>
                                <m:sty m:val="p"/>
                              </m:rP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 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789" y="4978272"/>
                <a:ext cx="3596690" cy="57855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1888425" y="5556828"/>
                <a:ext cx="6773393" cy="5785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nary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  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solidFill>
                              <a:srgbClr val="000000"/>
                            </a:solidFill>
                          </a:rPr>
                          <m:t> 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nary>
                              <m:naryPr>
                                <m:grow m:val="on"/>
                                <m:subHide m:val="on"/>
                                <m:supHide m:val="on"/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nary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  </m:t>
                            </m:r>
                            <m:r>
                              <m:rPr>
                                <m:sty m:val="p"/>
                              </m:rP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 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nary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  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425" y="5556828"/>
                <a:ext cx="6773393" cy="57855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449949" y="4059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第四节 一阶线性微分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71746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234313" y="426324"/>
                <a:ext cx="3163558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313" y="426324"/>
                <a:ext cx="3163558" cy="6341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556707" y="483246"/>
            <a:ext cx="1736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lang="zh-CN" altLang="en-US" sz="2400" dirty="0"/>
              <a:t>解</a:t>
            </a:r>
            <a:r>
              <a:rPr lang="zh-CN" altLang="en-US" sz="2400" dirty="0" smtClean="0"/>
              <a:t>方程</a:t>
            </a:r>
            <a:endParaRPr lang="zh-CN" altLang="en-US" sz="2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3"/>
              <p:cNvSpPr txBox="1">
                <a:spLocks noChangeArrowheads="1"/>
              </p:cNvSpPr>
              <p:nvPr/>
            </p:nvSpPr>
            <p:spPr bwMode="auto">
              <a:xfrm>
                <a:off x="610828" y="1058275"/>
                <a:ext cx="5599420" cy="6315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dirty="0" smtClean="0">
                    <a:latin typeface="+mj-ea"/>
                    <a:ea typeface="+mj-ea"/>
                  </a:rPr>
                  <a:t>解：对应齐次方程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  <a:ea typeface="+mj-ea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+mj-ea"/>
                            <a:ea typeface="+mj-ea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  <a:ea typeface="+mj-ea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  <a:ea typeface="+mj-ea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+mj-ea"/>
                            <a:ea typeface="+mj-ea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den>
                    </m:f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+mj-ea"/>
                      </a:rPr>
                      <m:t>−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+mj-ea"/>
                      </a:rPr>
                      <m:t>0</m:t>
                    </m:r>
                  </m:oMath>
                </a14:m>
                <a:r>
                  <a:rPr kumimoji="1" lang="zh-CN" altLang="en-US" sz="2400" dirty="0" smtClean="0">
                    <a:latin typeface="+mj-ea"/>
                    <a:ea typeface="+mj-ea"/>
                  </a:rPr>
                  <a:t>的通解</a:t>
                </a:r>
                <a:r>
                  <a:rPr kumimoji="1" lang="en-US" altLang="zh-CN" sz="2400" dirty="0" smtClean="0">
                    <a:latin typeface="+mj-ea"/>
                    <a:ea typeface="+mj-ea"/>
                  </a:rPr>
                  <a:t>:</a:t>
                </a:r>
                <a:endParaRPr kumimoji="1" lang="zh-CN" altLang="en-US" sz="24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0828" y="1058275"/>
                <a:ext cx="5599420" cy="631520"/>
              </a:xfrm>
              <a:prstGeom prst="rect">
                <a:avLst/>
              </a:prstGeom>
              <a:blipFill>
                <a:blip r:embed="rId3"/>
                <a:stretch>
                  <a:fillRect l="-1632" r="-979" b="-48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302327" y="1767257"/>
                <a:ext cx="1863972" cy="6753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宋体"/>
                            <a:ea typeface="宋体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𝑦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j-ea"/>
                      </a:rPr>
                      <m:t>d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宋体"/>
                        <a:ea typeface="宋体"/>
                      </a:rPr>
                      <m:t> 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327" y="1767257"/>
                <a:ext cx="1863972" cy="6753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604318" y="1888917"/>
                <a:ext cx="21512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318" y="1888917"/>
                <a:ext cx="2151295" cy="461665"/>
              </a:xfrm>
              <a:prstGeom prst="rect">
                <a:avLst/>
              </a:prstGeom>
              <a:blipFill>
                <a:blip r:embed="rId5"/>
                <a:stretch>
                  <a:fillRect l="-850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958361" y="2451471"/>
                <a:ext cx="52518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err="1">
                    <a:solidFill>
                      <a:srgbClr val="000000"/>
                    </a:solidFill>
                  </a:rPr>
                  <a:t>作</a:t>
                </a:r>
                <a:r>
                  <a:rPr lang="zh-CN" altLang="en-US" sz="2400" dirty="0" smtClean="0">
                    <a:solidFill>
                      <a:srgbClr val="000000"/>
                    </a:solidFill>
                  </a:rPr>
                  <a:t>变换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 smtClean="0"/>
                  <a:t>代入原方程得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61" y="2451471"/>
                <a:ext cx="5251887" cy="461665"/>
              </a:xfrm>
              <a:prstGeom prst="rect">
                <a:avLst/>
              </a:prstGeom>
              <a:blipFill>
                <a:blip r:embed="rId6"/>
                <a:stretch>
                  <a:fillRect l="-1740" t="-14474" r="-812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424893" y="3772775"/>
                <a:ext cx="2086661" cy="6852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+mj-ea"/>
                          </a:rPr>
                          <m:t> 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+mj-ea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893" y="3772775"/>
                <a:ext cx="2086661" cy="6852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424893" y="4467082"/>
                <a:ext cx="2665794" cy="6859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893" y="4467082"/>
                <a:ext cx="2665794" cy="6859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424893" y="5153039"/>
                <a:ext cx="4120743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893" y="5153039"/>
                <a:ext cx="4120743" cy="7454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6679475" y="1111752"/>
                <a:ext cx="4996084" cy="6341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</m:oMath>
                </a14:m>
                <a:r>
                  <a:rPr lang="zh-CN" altLang="en-US" sz="2400" dirty="0" smtClean="0"/>
                  <a:t> 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475" y="1111752"/>
                <a:ext cx="4996084" cy="63414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6644640" y="1951351"/>
                <a:ext cx="4276107" cy="6427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>
                    <a:solidFill>
                      <a:srgbClr val="000000"/>
                    </a:solidFill>
                    <a:latin typeface="宋体"/>
                    <a:ea typeface="宋体"/>
                  </a:rPr>
                  <a:t>设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640" y="1951351"/>
                <a:ext cx="4276107" cy="642740"/>
              </a:xfrm>
              <a:prstGeom prst="rect">
                <a:avLst/>
              </a:prstGeom>
              <a:blipFill>
                <a:blip r:embed="rId11"/>
                <a:stretch>
                  <a:fillRect l="-2140"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6644640" y="3357003"/>
                <a:ext cx="2828467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 smtClean="0">
                    <a:solidFill>
                      <a:srgbClr val="000000"/>
                    </a:solidFill>
                    <a:latin typeface="宋体"/>
                    <a:ea typeface="宋体"/>
                  </a:rPr>
                  <a:t>则</a:t>
                </a:r>
                <a14:m>
                  <m:oMath xmlns:m="http://schemas.openxmlformats.org/officeDocument/2006/math">
                    <m:r>
                      <a:rPr kumimoji="1" lang="zh-CN" alt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有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640" y="3357003"/>
                <a:ext cx="2828467" cy="634148"/>
              </a:xfrm>
              <a:prstGeom prst="rect">
                <a:avLst/>
              </a:prstGeom>
              <a:blipFill>
                <a:blip r:embed="rId12"/>
                <a:stretch>
                  <a:fillRect l="-3233" b="-48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6988606" y="2591766"/>
                <a:ext cx="3847785" cy="6427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606" y="2591766"/>
                <a:ext cx="3847785" cy="6427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6644640" y="4007534"/>
                <a:ext cx="307680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 smtClean="0">
                    <a:solidFill>
                      <a:srgbClr val="000000"/>
                    </a:solidFill>
                    <a:latin typeface="宋体"/>
                    <a:ea typeface="宋体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640" y="4007534"/>
                <a:ext cx="3076804" cy="461665"/>
              </a:xfrm>
              <a:prstGeom prst="rect">
                <a:avLst/>
              </a:prstGeom>
              <a:blipFill>
                <a:blip r:embed="rId14"/>
                <a:stretch>
                  <a:fillRect l="-2970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6679475" y="4526180"/>
                <a:ext cx="5299912" cy="6852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由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475" y="4526180"/>
                <a:ext cx="5299912" cy="685252"/>
              </a:xfrm>
              <a:prstGeom prst="rect">
                <a:avLst/>
              </a:prstGeom>
              <a:blipFill>
                <a:blip r:embed="rId15"/>
                <a:stretch>
                  <a:fillRect l="-1841" b="-35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6679475" y="5211432"/>
                <a:ext cx="3814890" cy="6859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 smtClean="0">
                    <a:solidFill>
                      <a:srgbClr val="000000"/>
                    </a:solidFill>
                    <a:latin typeface="宋体"/>
                    <a:ea typeface="宋体"/>
                  </a:rPr>
                  <a:t>解得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475" y="5211432"/>
                <a:ext cx="3814890" cy="685957"/>
              </a:xfrm>
              <a:prstGeom prst="rect">
                <a:avLst/>
              </a:prstGeom>
              <a:blipFill>
                <a:blip r:embed="rId16"/>
                <a:stretch>
                  <a:fillRect l="-2556" b="-4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6679475" y="5851492"/>
                <a:ext cx="4316695" cy="689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 smtClean="0">
                    <a:solidFill>
                      <a:srgbClr val="000000"/>
                    </a:solidFill>
                    <a:latin typeface="宋体"/>
                    <a:ea typeface="宋体"/>
                  </a:rPr>
                  <a:t>因此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475" y="5851492"/>
                <a:ext cx="4316695" cy="689997"/>
              </a:xfrm>
              <a:prstGeom prst="rect">
                <a:avLst/>
              </a:prstGeom>
              <a:blipFill>
                <a:blip r:embed="rId17"/>
                <a:stretch>
                  <a:fillRect l="-2260" b="-35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1343790" y="3093624"/>
                <a:ext cx="4823115" cy="498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i="1">
                            <a:solidFill>
                              <a:srgbClr val="000000"/>
                            </a:solidFill>
                            <a:latin typeface="宋体"/>
                          </a:rPr>
                          <m:t> </m:t>
                        </m:r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i="1">
                            <a:solidFill>
                              <a:srgbClr val="000000"/>
                            </a:solidFill>
                            <a:latin typeface="宋体"/>
                          </a:rPr>
                          <m:t> 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zh-CN" alt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f>
                          <m:fPr>
                            <m:type m:val="skw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zh-CN" altLang="en-US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790" y="3093624"/>
                <a:ext cx="4823115" cy="498663"/>
              </a:xfrm>
              <a:prstGeom prst="rect">
                <a:avLst/>
              </a:prstGeom>
              <a:blipFill>
                <a:blip r:embed="rId18"/>
                <a:stretch>
                  <a:fillRect t="-51220" r="-5682" b="-634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/>
          <p:cNvSpPr/>
          <p:nvPr/>
        </p:nvSpPr>
        <p:spPr>
          <a:xfrm>
            <a:off x="449949" y="4059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第四节 一阶线性微分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44937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556707" y="483246"/>
            <a:ext cx="20954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补例</a:t>
            </a:r>
            <a:r>
              <a:rPr kumimoji="1" lang="en-US" altLang="zh-CN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 </a:t>
            </a:r>
            <a:r>
              <a:rPr lang="zh-CN" altLang="en-US" sz="2400" dirty="0"/>
              <a:t>解</a:t>
            </a:r>
            <a:r>
              <a:rPr lang="zh-CN" altLang="en-US" sz="2400" dirty="0" smtClean="0"/>
              <a:t>方程</a:t>
            </a:r>
            <a:endParaRPr lang="zh-CN" altLang="en-US" sz="2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580192" y="414536"/>
                <a:ext cx="3484159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⋅(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zh-CN" altLang="en-US" sz="2400" i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zh-CN" altLang="en-US" sz="2400" i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192" y="414536"/>
                <a:ext cx="3484159" cy="6341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3"/>
              <p:cNvSpPr txBox="1">
                <a:spLocks noChangeArrowheads="1"/>
              </p:cNvSpPr>
              <p:nvPr/>
            </p:nvSpPr>
            <p:spPr bwMode="auto">
              <a:xfrm>
                <a:off x="610828" y="1058275"/>
                <a:ext cx="5599420" cy="6753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dirty="0" smtClean="0">
                    <a:latin typeface="+mj-ea"/>
                    <a:ea typeface="+mj-ea"/>
                  </a:rPr>
                  <a:t>解：方程可变换为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kumimoji="1" lang="zh-CN" altLang="en-US" sz="24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0828" y="1058275"/>
                <a:ext cx="5599420" cy="675378"/>
              </a:xfrm>
              <a:prstGeom prst="rect">
                <a:avLst/>
              </a:prstGeom>
              <a:blipFill>
                <a:blip r:embed="rId3"/>
                <a:stretch>
                  <a:fillRect l="-16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844782" y="5192610"/>
                <a:ext cx="6954981" cy="5785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nary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  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solidFill>
                              <a:srgbClr val="000000"/>
                            </a:solidFill>
                          </a:rPr>
                          <m:t> 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nary>
                              <m:naryPr>
                                <m:grow m:val="on"/>
                                <m:subHide m:val="on"/>
                                <m:supHide m:val="on"/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nary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  </m:t>
                            </m:r>
                            <m:r>
                              <m:rPr>
                                <m:sty m:val="p"/>
                              </m:rP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 </m:t>
                            </m:r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nary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  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782" y="5192610"/>
                <a:ext cx="6954981" cy="5785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109917" y="1733653"/>
                <a:ext cx="5168338" cy="5187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grow m:val="on"/>
                        <m:subHide m:val="on"/>
                        <m:supHide m:val="on"/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bHide m:val="on"/>
                        <m:supHide m:val="on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nary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</m:t>
                    </m:r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917" y="1733653"/>
                <a:ext cx="5168338" cy="518796"/>
              </a:xfrm>
              <a:prstGeom prst="rect">
                <a:avLst/>
              </a:prstGeom>
              <a:blipFill>
                <a:blip r:embed="rId5"/>
                <a:stretch>
                  <a:fillRect l="-10967" t="-142353" b="-20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037223" y="2252449"/>
                <a:ext cx="5392951" cy="5785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solidFill>
                              <a:srgbClr val="000000"/>
                            </a:solidFill>
                          </a:rPr>
                          <m:t> 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nary>
                              <m:naryPr>
                                <m:grow m:val="on"/>
                                <m:subHide m:val="on"/>
                                <m:supHide m:val="on"/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nary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  </m:t>
                            </m:r>
                            <m:r>
                              <m:rPr>
                                <m:sty m:val="p"/>
                              </m:rP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 </m:t>
                            </m:r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223" y="2252449"/>
                <a:ext cx="5392951" cy="5785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820829" y="2880824"/>
                <a:ext cx="3445367" cy="5321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829" y="2880824"/>
                <a:ext cx="3445367" cy="5321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820828" y="3418353"/>
                <a:ext cx="2851806" cy="5321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nary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828" y="3418353"/>
                <a:ext cx="2851806" cy="5321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818319" y="3918723"/>
                <a:ext cx="4826321" cy="5380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319" y="3918723"/>
                <a:ext cx="4826321" cy="5380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1818318" y="4517530"/>
                <a:ext cx="4433458" cy="509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brk/>
                          </m:r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 smtClean="0"/>
                  <a:t>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318" y="4517530"/>
                <a:ext cx="4433458" cy="50917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1102888" y="5833319"/>
                <a:ext cx="6278814" cy="473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/>
                            </m:r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888" y="5833319"/>
                <a:ext cx="6278814" cy="473591"/>
              </a:xfrm>
              <a:prstGeom prst="rect">
                <a:avLst/>
              </a:prstGeom>
              <a:blipFill>
                <a:blip r:embed="rId11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449949" y="4059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第四节 一阶线性微分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253801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556707" y="483246"/>
            <a:ext cx="20954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补例</a:t>
            </a:r>
            <a:r>
              <a:rPr kumimoji="1" lang="en-US" altLang="zh-CN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lang="zh-CN" altLang="en-US" sz="2400" dirty="0"/>
              <a:t>解</a:t>
            </a:r>
            <a:r>
              <a:rPr lang="zh-CN" altLang="en-US" sz="2400" dirty="0" smtClean="0"/>
              <a:t>方程</a:t>
            </a:r>
            <a:endParaRPr lang="zh-CN" altLang="en-US" sz="2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652152" y="403961"/>
                <a:ext cx="2065565" cy="6817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/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d>
                          <m:dPr>
                            <m:begChr m:val="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152" y="403961"/>
                <a:ext cx="2065565" cy="6817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3"/>
              <p:cNvSpPr txBox="1">
                <a:spLocks noChangeArrowheads="1"/>
              </p:cNvSpPr>
              <p:nvPr/>
            </p:nvSpPr>
            <p:spPr bwMode="auto">
              <a:xfrm>
                <a:off x="583665" y="1307657"/>
                <a:ext cx="5599420" cy="6753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dirty="0" smtClean="0">
                    <a:latin typeface="+mj-ea"/>
                    <a:ea typeface="+mj-ea"/>
                  </a:rPr>
                  <a:t>解：方程可变换为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kumimoji="1" lang="zh-CN" altLang="en-US" sz="24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6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3665" y="1307657"/>
                <a:ext cx="5599420" cy="675378"/>
              </a:xfrm>
              <a:prstGeom prst="rect">
                <a:avLst/>
              </a:prstGeom>
              <a:blipFill>
                <a:blip r:embed="rId3"/>
                <a:stretch>
                  <a:fillRect l="-17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276553" y="1942241"/>
                <a:ext cx="4065472" cy="6753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553" y="1942241"/>
                <a:ext cx="4065472" cy="6753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372979" y="2684697"/>
                <a:ext cx="1879361" cy="6839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979" y="2684697"/>
                <a:ext cx="1879361" cy="6839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372979" y="3427153"/>
                <a:ext cx="160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979" y="3427153"/>
                <a:ext cx="1607940" cy="461665"/>
              </a:xfrm>
              <a:prstGeom prst="rect">
                <a:avLst/>
              </a:prstGeom>
              <a:blipFill>
                <a:blip r:embed="rId6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372979" y="3947304"/>
                <a:ext cx="3940887" cy="6839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altLang="en-US" sz="24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979" y="3947304"/>
                <a:ext cx="3940887" cy="6839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372979" y="4689760"/>
                <a:ext cx="3652667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979" y="4689760"/>
                <a:ext cx="3652667" cy="613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372979" y="5391422"/>
                <a:ext cx="2505429" cy="8493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979" y="5391422"/>
                <a:ext cx="2505429" cy="8493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449949" y="4059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第四节 一阶线性微分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255099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950363" y="463878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kern="0" dirty="0" smtClean="0">
                <a:solidFill>
                  <a:srgbClr val="000000"/>
                </a:solidFill>
                <a:latin typeface="Arial"/>
                <a:ea typeface="黑体" panose="02010609060101010101" pitchFamily="49" charset="-122"/>
                <a:cs typeface="+mj-cs"/>
              </a:rPr>
              <a:t>二、</a:t>
            </a:r>
            <a:r>
              <a:rPr lang="zh-CN" altLang="en-US" sz="2800" b="1" kern="0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  <a:cs typeface="+mj-cs"/>
              </a:rPr>
              <a:t>伯努利方程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4981872" y="1052778"/>
                <a:ext cx="4729564" cy="6242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≠0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872" y="1052778"/>
                <a:ext cx="4729564" cy="6242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668087" y="1131069"/>
            <a:ext cx="4191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+mj-ea"/>
                <a:ea typeface="+mj-ea"/>
              </a:rPr>
              <a:t>伯努利方程的标准形式</a:t>
            </a:r>
            <a:r>
              <a:rPr kumimoji="1" lang="en-US" altLang="zh-CN" sz="2400" dirty="0">
                <a:latin typeface="+mj-ea"/>
                <a:ea typeface="+mj-ea"/>
              </a:rPr>
              <a:t>:</a:t>
            </a:r>
            <a:endParaRPr kumimoji="1" lang="en-US" altLang="zh-CN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340632"/>
              </p:ext>
            </p:extLst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98" name="Equation" r:id="rId4" imgW="114120" imgH="177480" progId="Equation.DSMT4">
                  <p:embed/>
                </p:oleObj>
              </mc:Choice>
              <mc:Fallback>
                <p:oleObj name="Equation" r:id="rId4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4981872" y="1801935"/>
                <a:ext cx="3854966" cy="6242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872" y="1801935"/>
                <a:ext cx="3854966" cy="6242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981871" y="2548583"/>
                <a:ext cx="4261359" cy="6675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</m:oMath>
                </a14:m>
                <a:r>
                  <a:rPr lang="zh-CN" altLang="en-US" sz="2400" dirty="0" smtClean="0"/>
                  <a:t> 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871" y="2548583"/>
                <a:ext cx="4261359" cy="66755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4981871" y="3516313"/>
                <a:ext cx="5882957" cy="6675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</m:oMath>
                </a14:m>
                <a:r>
                  <a:rPr lang="zh-CN" altLang="en-US" sz="2400" dirty="0" smtClean="0"/>
                  <a:t>   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871" y="3516313"/>
                <a:ext cx="5882957" cy="66755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449949" y="4059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第四节 一阶线性微分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8758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556707" y="483246"/>
            <a:ext cx="1736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 </a:t>
            </a:r>
            <a:r>
              <a:rPr lang="zh-CN" altLang="en-US" sz="2400" dirty="0"/>
              <a:t>解</a:t>
            </a:r>
            <a:r>
              <a:rPr lang="zh-CN" altLang="en-US" sz="2400" dirty="0" smtClean="0"/>
              <a:t>方程</a:t>
            </a:r>
            <a:endParaRPr lang="zh-CN" altLang="en-US" sz="2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293080" y="432719"/>
                <a:ext cx="2799036" cy="6242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zh-CN" altLang="en-US" sz="2400" i="0">
                        <a:latin typeface="Cambria Math" panose="02040503050406030204" pitchFamily="18" charset="0"/>
                      </a:rPr>
                      <m:t>ln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080" y="432719"/>
                <a:ext cx="2799036" cy="6242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3"/>
              <p:cNvSpPr txBox="1">
                <a:spLocks noChangeArrowheads="1"/>
              </p:cNvSpPr>
              <p:nvPr/>
            </p:nvSpPr>
            <p:spPr bwMode="auto">
              <a:xfrm>
                <a:off x="583665" y="1307657"/>
                <a:ext cx="5599420" cy="6753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dirty="0" smtClean="0">
                    <a:latin typeface="+mj-ea"/>
                    <a:ea typeface="+mj-ea"/>
                  </a:rPr>
                  <a:t>解：方程可变换为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sz="24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6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3665" y="1307657"/>
                <a:ext cx="5599420" cy="675378"/>
              </a:xfrm>
              <a:prstGeom prst="rect">
                <a:avLst/>
              </a:prstGeom>
              <a:blipFill>
                <a:blip r:embed="rId3"/>
                <a:stretch>
                  <a:fillRect l="-17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178671" y="2053393"/>
                <a:ext cx="3407279" cy="6753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 smtClean="0">
                    <a:solidFill>
                      <a:srgbClr val="000000"/>
                    </a:solidFill>
                    <a:latin typeface="宋体"/>
                    <a:ea typeface="宋体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 smtClean="0"/>
                  <a:t> 则有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671" y="2053393"/>
                <a:ext cx="3407279" cy="675378"/>
              </a:xfrm>
              <a:prstGeom prst="rect">
                <a:avLst/>
              </a:prstGeom>
              <a:blipFill>
                <a:blip r:embed="rId4"/>
                <a:stretch>
                  <a:fillRect l="-2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333403" y="2728771"/>
                <a:ext cx="2621743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403" y="2728771"/>
                <a:ext cx="2621743" cy="6341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333403" y="3551051"/>
                <a:ext cx="2988767" cy="6450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403" y="3551051"/>
                <a:ext cx="2988767" cy="6450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333402" y="4418318"/>
                <a:ext cx="3256789" cy="6450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 smtClean="0"/>
                  <a:t> 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402" y="4418318"/>
                <a:ext cx="3256789" cy="6450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449949" y="4059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第四节 一阶线性微分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1700172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2269374" y="576349"/>
            <a:ext cx="2438400" cy="6858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accent2"/>
                </a:solidFill>
                <a:ea typeface="黑体" panose="02010609060101010101" pitchFamily="49" charset="-122"/>
              </a:rPr>
              <a:t>思考与练习</a:t>
            </a:r>
          </a:p>
        </p:txBody>
      </p:sp>
      <p:sp>
        <p:nvSpPr>
          <p:cNvPr id="297987" name="Text Box 3"/>
          <p:cNvSpPr txBox="1">
            <a:spLocks noChangeArrowheads="1"/>
          </p:cNvSpPr>
          <p:nvPr/>
        </p:nvSpPr>
        <p:spPr bwMode="auto">
          <a:xfrm>
            <a:off x="2116974" y="1262150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判别下列方程类型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2979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162492"/>
              </p:ext>
            </p:extLst>
          </p:nvPr>
        </p:nvGraphicFramePr>
        <p:xfrm>
          <a:off x="1920124" y="1871749"/>
          <a:ext cx="3022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37" name="Equation" r:id="rId3" imgW="3000565" imgH="904886" progId="Equation.3">
                  <p:embed/>
                </p:oleObj>
              </mc:Choice>
              <mc:Fallback>
                <p:oleObj name="Equation" r:id="rId3" imgW="3000565" imgH="90488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124" y="1871749"/>
                        <a:ext cx="3022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9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153812"/>
              </p:ext>
            </p:extLst>
          </p:nvPr>
        </p:nvGraphicFramePr>
        <p:xfrm>
          <a:off x="1920124" y="2862349"/>
          <a:ext cx="3505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38" name="Equation" r:id="rId5" imgW="3486062" imgH="904886" progId="Equation.3">
                  <p:embed/>
                </p:oleObj>
              </mc:Choice>
              <mc:Fallback>
                <p:oleObj name="Equation" r:id="rId5" imgW="3486062" imgH="90488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124" y="2862349"/>
                        <a:ext cx="3505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9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175971"/>
              </p:ext>
            </p:extLst>
          </p:nvPr>
        </p:nvGraphicFramePr>
        <p:xfrm>
          <a:off x="1920124" y="3941849"/>
          <a:ext cx="3886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39" name="Equation" r:id="rId7" imgW="3867133" imgH="485848" progId="Equation.3">
                  <p:embed/>
                </p:oleObj>
              </mc:Choice>
              <mc:Fallback>
                <p:oleObj name="Equation" r:id="rId7" imgW="3867133" imgH="48584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124" y="3941849"/>
                        <a:ext cx="3886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9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168731"/>
              </p:ext>
            </p:extLst>
          </p:nvPr>
        </p:nvGraphicFramePr>
        <p:xfrm>
          <a:off x="1920125" y="4932449"/>
          <a:ext cx="39338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40" name="Equation" r:id="rId9" imgW="3914714" imgH="485848" progId="Equation.3">
                  <p:embed/>
                </p:oleObj>
              </mc:Choice>
              <mc:Fallback>
                <p:oleObj name="Equation" r:id="rId9" imgW="3914714" imgH="48584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125" y="4932449"/>
                        <a:ext cx="39338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9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668003"/>
              </p:ext>
            </p:extLst>
          </p:nvPr>
        </p:nvGraphicFramePr>
        <p:xfrm>
          <a:off x="1920124" y="5961149"/>
          <a:ext cx="3835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41" name="Equation" r:id="rId11" imgW="3819552" imgH="390708" progId="Equation.3">
                  <p:embed/>
                </p:oleObj>
              </mc:Choice>
              <mc:Fallback>
                <p:oleObj name="Equation" r:id="rId11" imgW="3819552" imgH="39070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124" y="5961149"/>
                        <a:ext cx="3835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993" name="Text Box 9"/>
          <p:cNvSpPr txBox="1">
            <a:spLocks noChangeArrowheads="1"/>
          </p:cNvSpPr>
          <p:nvPr/>
        </p:nvSpPr>
        <p:spPr bwMode="auto">
          <a:xfrm>
            <a:off x="6307974" y="1338350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提示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2979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139666"/>
              </p:ext>
            </p:extLst>
          </p:nvPr>
        </p:nvGraphicFramePr>
        <p:xfrm>
          <a:off x="6498474" y="1871749"/>
          <a:ext cx="1892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42" name="Equation" r:id="rId13" imgW="1876300" imgH="904886" progId="Equation.3">
                  <p:embed/>
                </p:oleObj>
              </mc:Choice>
              <mc:Fallback>
                <p:oleObj name="Equation" r:id="rId13" imgW="1876300" imgH="90488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8474" y="1871749"/>
                        <a:ext cx="1892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995" name="Text Box 11"/>
          <p:cNvSpPr txBox="1">
            <a:spLocks noChangeArrowheads="1"/>
          </p:cNvSpPr>
          <p:nvPr/>
        </p:nvSpPr>
        <p:spPr bwMode="auto">
          <a:xfrm>
            <a:off x="8898774" y="1840000"/>
            <a:ext cx="152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solidFill>
                  <a:srgbClr val="66FF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可分离  变量方程</a:t>
            </a:r>
          </a:p>
        </p:txBody>
      </p:sp>
      <p:sp>
        <p:nvSpPr>
          <p:cNvPr id="297996" name="Line 12"/>
          <p:cNvSpPr>
            <a:spLocks noChangeShapeType="1"/>
          </p:cNvSpPr>
          <p:nvPr/>
        </p:nvSpPr>
        <p:spPr bwMode="auto">
          <a:xfrm>
            <a:off x="5926974" y="2328949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997" name="Line 13"/>
          <p:cNvSpPr>
            <a:spLocks noChangeShapeType="1"/>
          </p:cNvSpPr>
          <p:nvPr/>
        </p:nvSpPr>
        <p:spPr bwMode="auto">
          <a:xfrm>
            <a:off x="5926974" y="3306849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99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024699"/>
              </p:ext>
            </p:extLst>
          </p:nvPr>
        </p:nvGraphicFramePr>
        <p:xfrm>
          <a:off x="6498474" y="2862349"/>
          <a:ext cx="1663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43" name="Equation" r:id="rId15" imgW="1647658" imgH="904886" progId="Equation.3">
                  <p:embed/>
                </p:oleObj>
              </mc:Choice>
              <mc:Fallback>
                <p:oleObj name="Equation" r:id="rId15" imgW="1647658" imgH="90488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8474" y="2862349"/>
                        <a:ext cx="16637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999" name="Text Box 15"/>
          <p:cNvSpPr txBox="1">
            <a:spLocks noChangeArrowheads="1"/>
          </p:cNvSpPr>
          <p:nvPr/>
        </p:nvSpPr>
        <p:spPr bwMode="auto">
          <a:xfrm>
            <a:off x="8974974" y="2952837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齐次方程</a:t>
            </a:r>
          </a:p>
        </p:txBody>
      </p:sp>
      <p:sp>
        <p:nvSpPr>
          <p:cNvPr id="298000" name="Line 16"/>
          <p:cNvSpPr>
            <a:spLocks noChangeShapeType="1"/>
          </p:cNvSpPr>
          <p:nvPr/>
        </p:nvSpPr>
        <p:spPr bwMode="auto">
          <a:xfrm>
            <a:off x="5926974" y="4208549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80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128561"/>
              </p:ext>
            </p:extLst>
          </p:nvPr>
        </p:nvGraphicFramePr>
        <p:xfrm>
          <a:off x="6498474" y="3675149"/>
          <a:ext cx="2451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44" name="Equation" r:id="rId17" imgW="2428748" imgH="1000026" progId="Equation.3">
                  <p:embed/>
                </p:oleObj>
              </mc:Choice>
              <mc:Fallback>
                <p:oleObj name="Equation" r:id="rId17" imgW="2428748" imgH="100002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8474" y="3675149"/>
                        <a:ext cx="24511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8002" name="Text Box 18"/>
          <p:cNvSpPr txBox="1">
            <a:spLocks noChangeArrowheads="1"/>
          </p:cNvSpPr>
          <p:nvPr/>
        </p:nvSpPr>
        <p:spPr bwMode="auto">
          <a:xfrm>
            <a:off x="9051174" y="3852949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线性方程</a:t>
            </a:r>
          </a:p>
        </p:txBody>
      </p:sp>
      <p:sp>
        <p:nvSpPr>
          <p:cNvPr id="298003" name="Line 19"/>
          <p:cNvSpPr>
            <a:spLocks noChangeShapeType="1"/>
          </p:cNvSpPr>
          <p:nvPr/>
        </p:nvSpPr>
        <p:spPr bwMode="auto">
          <a:xfrm>
            <a:off x="5926974" y="5211849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800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005096"/>
              </p:ext>
            </p:extLst>
          </p:nvPr>
        </p:nvGraphicFramePr>
        <p:xfrm>
          <a:off x="6498474" y="4665749"/>
          <a:ext cx="2476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45" name="Equation" r:id="rId19" imgW="2457381" imgH="1000026" progId="Equation.3">
                  <p:embed/>
                </p:oleObj>
              </mc:Choice>
              <mc:Fallback>
                <p:oleObj name="Equation" r:id="rId19" imgW="2457381" imgH="1000026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8474" y="4665749"/>
                        <a:ext cx="2476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8005" name="Text Box 21"/>
          <p:cNvSpPr txBox="1">
            <a:spLocks noChangeArrowheads="1"/>
          </p:cNvSpPr>
          <p:nvPr/>
        </p:nvSpPr>
        <p:spPr bwMode="auto">
          <a:xfrm>
            <a:off x="9051174" y="4691149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线性方程</a:t>
            </a:r>
          </a:p>
        </p:txBody>
      </p:sp>
      <p:sp>
        <p:nvSpPr>
          <p:cNvPr id="298006" name="Line 22"/>
          <p:cNvSpPr>
            <a:spLocks noChangeShapeType="1"/>
          </p:cNvSpPr>
          <p:nvPr/>
        </p:nvSpPr>
        <p:spPr bwMode="auto">
          <a:xfrm>
            <a:off x="5926974" y="6202449"/>
            <a:ext cx="45720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800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251192"/>
              </p:ext>
            </p:extLst>
          </p:nvPr>
        </p:nvGraphicFramePr>
        <p:xfrm>
          <a:off x="6485774" y="5745249"/>
          <a:ext cx="2717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46" name="Equation" r:id="rId21" imgW="2695708" imgH="904886" progId="Equation.3">
                  <p:embed/>
                </p:oleObj>
              </mc:Choice>
              <mc:Fallback>
                <p:oleObj name="Equation" r:id="rId21" imgW="2695708" imgH="904886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5774" y="5745249"/>
                        <a:ext cx="2717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8008" name="Text Box 24"/>
          <p:cNvSpPr txBox="1">
            <a:spLocks noChangeArrowheads="1"/>
          </p:cNvSpPr>
          <p:nvPr/>
        </p:nvSpPr>
        <p:spPr bwMode="auto">
          <a:xfrm>
            <a:off x="9279774" y="5681750"/>
            <a:ext cx="1295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伯努利方程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C00B19-82D2-476F-80C8-1AC91DAD8129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26" name="矩形 25"/>
          <p:cNvSpPr/>
          <p:nvPr/>
        </p:nvSpPr>
        <p:spPr>
          <a:xfrm>
            <a:off x="449949" y="4059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第四节 一阶线性微分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7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7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7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7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7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7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7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7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97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98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8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9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9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9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8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9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7" grpId="0" autoUpdateAnimBg="0"/>
      <p:bldP spid="297993" grpId="0" autoUpdateAnimBg="0"/>
      <p:bldP spid="297995" grpId="0" autoUpdateAnimBg="0"/>
      <p:bldP spid="297999" grpId="0" autoUpdateAnimBg="0"/>
      <p:bldP spid="298002" grpId="0" autoUpdateAnimBg="0"/>
      <p:bldP spid="298005" grpId="0" autoUpdateAnimBg="0"/>
      <p:bldP spid="298008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9"/>
          <p:cNvSpPr>
            <a:spLocks noChangeArrowheads="1"/>
          </p:cNvSpPr>
          <p:nvPr/>
        </p:nvSpPr>
        <p:spPr bwMode="auto">
          <a:xfrm>
            <a:off x="1524000" y="0"/>
            <a:ext cx="9144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B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55300" name="Rectangle 10"/>
          <p:cNvSpPr>
            <a:spLocks noChangeArrowheads="1"/>
          </p:cNvSpPr>
          <p:nvPr/>
        </p:nvSpPr>
        <p:spPr bwMode="auto">
          <a:xfrm>
            <a:off x="2663190" y="573292"/>
            <a:ext cx="79629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400" dirty="0">
                <a:latin typeface="华文行楷" panose="02010800040101010101" pitchFamily="2" charset="-122"/>
                <a:ea typeface="华文新魏" panose="02010800040101010101" pitchFamily="2" charset="-122"/>
              </a:rPr>
              <a:t>第五节 可降阶的高阶微分</a:t>
            </a:r>
            <a:r>
              <a:rPr lang="zh-CN" altLang="en-US" sz="4400" dirty="0">
                <a:ea typeface="华文新魏" panose="02010800040101010101" pitchFamily="2" charset="-122"/>
              </a:rPr>
              <a:t>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301" name="Rectangle 11">
                <a:hlinkClick r:id="" action="ppaction://noaction"/>
              </p:cNvPr>
              <p:cNvSpPr>
                <a:spLocks noChangeArrowheads="1"/>
              </p:cNvSpPr>
              <p:nvPr/>
            </p:nvSpPr>
            <p:spPr bwMode="auto">
              <a:xfrm>
                <a:off x="3455122" y="2389131"/>
                <a:ext cx="5629683" cy="5259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i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一</a:t>
                </a:r>
                <a:r>
                  <a:rPr kumimoji="1"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、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型的微分方程  </a:t>
                </a:r>
              </a:p>
            </p:txBody>
          </p:sp>
        </mc:Choice>
        <mc:Fallback xmlns="">
          <p:sp>
            <p:nvSpPr>
              <p:cNvPr id="55301" name="Rectangle 11">
                <a:hlinkClick r:id="" action="ppaction://noaction"/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5122" y="2389131"/>
                <a:ext cx="5629683" cy="525913"/>
              </a:xfrm>
              <a:prstGeom prst="rect">
                <a:avLst/>
              </a:prstGeom>
              <a:blipFill>
                <a:blip r:embed="rId2"/>
                <a:stretch>
                  <a:fillRect l="-4442" t="-23256" r="-108" b="-4069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02" name="Rectangle 12">
                <a:hlinkClick r:id="rId3" action="ppaction://hlinksldjump"/>
              </p:cNvPr>
              <p:cNvSpPr>
                <a:spLocks noChangeArrowheads="1"/>
              </p:cNvSpPr>
              <p:nvPr/>
            </p:nvSpPr>
            <p:spPr bwMode="auto">
              <a:xfrm>
                <a:off x="3467823" y="3306706"/>
                <a:ext cx="5992731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二、</a:t>
                </a:r>
                <a:r>
                  <a:rPr lang="zh-CN" altLang="en-US" sz="1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1" lang="zh-CN" altLang="en-US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型</a:t>
                </a:r>
                <a:r>
                  <a:rPr kumimoji="1"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的微分方程  </a:t>
                </a:r>
              </a:p>
            </p:txBody>
          </p:sp>
        </mc:Choice>
        <mc:Fallback xmlns="">
          <p:sp>
            <p:nvSpPr>
              <p:cNvPr id="55302" name="Rectangle 12">
                <a:hlinkClick r:id="rId4" action="ppaction://hlinksldjump"/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67823" y="3306706"/>
                <a:ext cx="5992731" cy="492443"/>
              </a:xfrm>
              <a:prstGeom prst="rect">
                <a:avLst/>
              </a:prstGeom>
              <a:blipFill>
                <a:blip r:embed="rId5"/>
                <a:stretch>
                  <a:fillRect l="-4171" t="-29630" b="-444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03" name="Rectangle 13">
                <a:hlinkClick r:id="rId6" action="ppaction://hlinksldjump"/>
              </p:cNvPr>
              <p:cNvSpPr>
                <a:spLocks noChangeArrowheads="1"/>
              </p:cNvSpPr>
              <p:nvPr/>
            </p:nvSpPr>
            <p:spPr bwMode="auto">
              <a:xfrm>
                <a:off x="3455123" y="4251268"/>
                <a:ext cx="5952655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三、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型的微分方程  </a:t>
                </a:r>
              </a:p>
            </p:txBody>
          </p:sp>
        </mc:Choice>
        <mc:Fallback xmlns="">
          <p:sp>
            <p:nvSpPr>
              <p:cNvPr id="55303" name="Rectangle 13">
                <a:hlinkClick r:id="rId7" action="ppaction://hlinksldjump"/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5123" y="4251268"/>
                <a:ext cx="5952655" cy="492443"/>
              </a:xfrm>
              <a:prstGeom prst="rect">
                <a:avLst/>
              </a:prstGeom>
              <a:blipFill>
                <a:blip r:embed="rId8"/>
                <a:stretch>
                  <a:fillRect l="-4201" t="-29630" r="-205" b="-444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accent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FB634E-E669-4932-9419-5CF836689E6F}" type="datetime11">
              <a:rPr lang="zh-CN" altLang="en-US" smtClean="0"/>
              <a:t>15:29:49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78"/>
          <a:stretch>
            <a:fillRect/>
          </a:stretch>
        </p:blipFill>
        <p:spPr bwMode="auto">
          <a:xfrm>
            <a:off x="1752600" y="5181600"/>
            <a:ext cx="57912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93212C8-83E1-4B8D-86FD-338AB03C9393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300036" name="Text Box 4"/>
          <p:cNvSpPr txBox="1">
            <a:spLocks noChangeArrowheads="1"/>
          </p:cNvSpPr>
          <p:nvPr/>
        </p:nvSpPr>
        <p:spPr bwMode="auto">
          <a:xfrm>
            <a:off x="1699854" y="1071517"/>
            <a:ext cx="1615827" cy="400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方程的解法 </a:t>
            </a:r>
          </a:p>
        </p:txBody>
      </p:sp>
      <p:sp>
        <p:nvSpPr>
          <p:cNvPr id="300037" name="Text Box 5"/>
          <p:cNvSpPr txBox="1">
            <a:spLocks noChangeArrowheads="1"/>
          </p:cNvSpPr>
          <p:nvPr/>
        </p:nvSpPr>
        <p:spPr bwMode="auto">
          <a:xfrm>
            <a:off x="1699854" y="1556751"/>
            <a:ext cx="1769715" cy="400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CD88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40458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solidFill>
                  <a:srgbClr val="66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积分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次</a:t>
            </a:r>
            <a:r>
              <a:rPr kumimoji="1" lang="zh-CN" altLang="en-US" sz="2400" dirty="0">
                <a:solidFill>
                  <a:srgbClr val="66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30003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69"/>
          <a:stretch>
            <a:fillRect/>
          </a:stretch>
        </p:blipFill>
        <p:spPr bwMode="auto">
          <a:xfrm>
            <a:off x="2301039" y="1905000"/>
            <a:ext cx="2819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003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31" r="38190"/>
          <a:stretch>
            <a:fillRect/>
          </a:stretch>
        </p:blipFill>
        <p:spPr bwMode="auto">
          <a:xfrm>
            <a:off x="5257800" y="1905000"/>
            <a:ext cx="41148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004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10" r="33435"/>
          <a:stretch>
            <a:fillRect/>
          </a:stretch>
        </p:blipFill>
        <p:spPr bwMode="auto">
          <a:xfrm>
            <a:off x="9448800" y="1905000"/>
            <a:ext cx="533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0041" name="Rectangle 9"/>
          <p:cNvSpPr>
            <a:spLocks noChangeArrowheads="1"/>
          </p:cNvSpPr>
          <p:nvPr/>
        </p:nvSpPr>
        <p:spPr bwMode="auto">
          <a:xfrm>
            <a:off x="1685486" y="3217641"/>
            <a:ext cx="1231106" cy="400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kumimoji="1" lang="zh-CN" altLang="en-US" sz="2400" dirty="0" smtClean="0">
                <a:latin typeface="+mj-ea"/>
                <a:ea typeface="+mj-ea"/>
              </a:rPr>
              <a:t>解</a:t>
            </a:r>
            <a:r>
              <a:rPr kumimoji="1" lang="en-US" altLang="zh-CN" sz="2400" dirty="0" smtClean="0">
                <a:latin typeface="+mj-ea"/>
                <a:ea typeface="+mj-ea"/>
              </a:rPr>
              <a:t>:</a:t>
            </a:r>
            <a:r>
              <a:rPr kumimoji="1"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endParaRPr kumimoji="1"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00042" name="Rectangle 10"/>
          <p:cNvSpPr>
            <a:spLocks noChangeArrowheads="1"/>
          </p:cNvSpPr>
          <p:nvPr/>
        </p:nvSpPr>
        <p:spPr bwMode="auto">
          <a:xfrm>
            <a:off x="2787535" y="3217355"/>
            <a:ext cx="4078039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CD88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40458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+mj-ea"/>
                <a:ea typeface="+mj-ea"/>
              </a:rPr>
              <a:t>对所给方程接连积分三次</a:t>
            </a:r>
            <a:r>
              <a:rPr kumimoji="1" lang="zh-CN" altLang="en-US" sz="2400" dirty="0">
                <a:latin typeface="+mj-ea"/>
                <a:ea typeface="+mj-ea"/>
                <a:sym typeface="Symbol" panose="05050102010706020507" pitchFamily="18" charset="2"/>
              </a:rPr>
              <a:t></a:t>
            </a:r>
            <a:r>
              <a:rPr kumimoji="1" lang="zh-CN" altLang="en-US" sz="2400" dirty="0">
                <a:latin typeface="+mj-ea"/>
                <a:ea typeface="+mj-ea"/>
              </a:rPr>
              <a:t> 得</a:t>
            </a:r>
            <a:r>
              <a:rPr kumimoji="1" lang="zh-CN" altLang="en-US" sz="2400" dirty="0">
                <a:solidFill>
                  <a:srgbClr val="660066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300044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284"/>
          <a:stretch>
            <a:fillRect/>
          </a:stretch>
        </p:blipFill>
        <p:spPr bwMode="auto">
          <a:xfrm>
            <a:off x="1752600" y="3657600"/>
            <a:ext cx="4343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0045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208"/>
          <a:stretch>
            <a:fillRect/>
          </a:stretch>
        </p:blipFill>
        <p:spPr bwMode="auto">
          <a:xfrm>
            <a:off x="1752600" y="4419600"/>
            <a:ext cx="4800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950363" y="463878"/>
                <a:ext cx="461395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 b="1" kern="0" dirty="0" smtClean="0">
                    <a:solidFill>
                      <a:srgbClr val="000000"/>
                    </a:solidFill>
                    <a:latin typeface="Arial"/>
                    <a:ea typeface="黑体" panose="02010609060101010101" pitchFamily="49" charset="-122"/>
                    <a:cs typeface="+mj-cs"/>
                  </a:rPr>
                  <a:t>一、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b="1" kern="0" dirty="0">
                    <a:solidFill>
                      <a:srgbClr val="000000"/>
                    </a:solidFill>
                    <a:latin typeface="Arial"/>
                    <a:ea typeface="黑体" panose="02010609060101010101" pitchFamily="49" charset="-122"/>
                    <a:cs typeface="+mj-cs"/>
                  </a:rPr>
                  <a:t>型的微分方程</a:t>
                </a: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363" y="463878"/>
                <a:ext cx="4613955" cy="523220"/>
              </a:xfrm>
              <a:prstGeom prst="rect">
                <a:avLst/>
              </a:prstGeom>
              <a:blipFill>
                <a:blip r:embed="rId8"/>
                <a:stretch>
                  <a:fillRect l="-2774" t="-15116" r="-1717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1579308" y="2592509"/>
                <a:ext cx="40833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例</a:t>
                </a:r>
                <a:r>
                  <a:rPr kumimoji="1" lang="en-US" altLang="zh-CN" sz="2800" dirty="0" smtClean="0">
                    <a:solidFill>
                      <a:srgbClr val="99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1 </a:t>
                </a:r>
                <a:r>
                  <a:rPr lang="zh-CN" altLang="en-US" sz="2400" dirty="0"/>
                  <a:t>解</a:t>
                </a:r>
                <a:r>
                  <a:rPr lang="zh-CN" altLang="en-US" sz="2400" dirty="0" smtClean="0"/>
                  <a:t>方程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308" y="2592509"/>
                <a:ext cx="4083362" cy="523220"/>
              </a:xfrm>
              <a:prstGeom prst="rect">
                <a:avLst/>
              </a:prstGeom>
              <a:blipFill>
                <a:blip r:embed="rId9"/>
                <a:stretch>
                  <a:fillRect l="-2985" t="-15116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556346" y="-1025"/>
            <a:ext cx="3241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第五节 可降阶的高阶微分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0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0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0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0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0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0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0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0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0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6" grpId="0"/>
      <p:bldP spid="300037" grpId="0"/>
      <p:bldP spid="300041" grpId="0"/>
      <p:bldP spid="300042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60" name="Text Box 4"/>
          <p:cNvSpPr txBox="1">
            <a:spLocks noChangeArrowheads="1"/>
          </p:cNvSpPr>
          <p:nvPr/>
        </p:nvSpPr>
        <p:spPr bwMode="auto">
          <a:xfrm>
            <a:off x="1555173" y="1211474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+mj-ea"/>
                <a:ea typeface="+mj-ea"/>
              </a:rPr>
              <a:t>设</a:t>
            </a:r>
          </a:p>
        </p:txBody>
      </p:sp>
      <p:graphicFrame>
        <p:nvGraphicFramePr>
          <p:cNvPr id="3010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2168308"/>
              </p:ext>
            </p:extLst>
          </p:nvPr>
        </p:nvGraphicFramePr>
        <p:xfrm>
          <a:off x="2178050" y="1259817"/>
          <a:ext cx="1441450" cy="380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55" name="Equation" r:id="rId3" imgW="1571444" imgH="400010" progId="Equation.3">
                  <p:embed/>
                </p:oleObj>
              </mc:Choice>
              <mc:Fallback>
                <p:oleObj name="Equation" r:id="rId3" imgW="1571444" imgH="4000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0" y="1259817"/>
                        <a:ext cx="1441450" cy="3805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345863"/>
              </p:ext>
            </p:extLst>
          </p:nvPr>
        </p:nvGraphicFramePr>
        <p:xfrm>
          <a:off x="3969327" y="1279525"/>
          <a:ext cx="1334193" cy="371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56" name="Equation" r:id="rId5" imgW="1533547" imgH="409736" progId="Equation.3">
                  <p:embed/>
                </p:oleObj>
              </mc:Choice>
              <mc:Fallback>
                <p:oleObj name="Equation" r:id="rId5" imgW="1533547" imgH="40973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9327" y="1279525"/>
                        <a:ext cx="1334193" cy="3718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63" name="Text Box 7"/>
          <p:cNvSpPr txBox="1">
            <a:spLocks noChangeArrowheads="1"/>
          </p:cNvSpPr>
          <p:nvPr/>
        </p:nvSpPr>
        <p:spPr bwMode="auto">
          <a:xfrm>
            <a:off x="5507297" y="1191914"/>
            <a:ext cx="358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+mj-ea"/>
                <a:ea typeface="+mj-ea"/>
              </a:rPr>
              <a:t>原方程化为一阶方程</a:t>
            </a:r>
          </a:p>
        </p:txBody>
      </p:sp>
      <p:graphicFrame>
        <p:nvGraphicFramePr>
          <p:cNvPr id="3010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420482"/>
              </p:ext>
            </p:extLst>
          </p:nvPr>
        </p:nvGraphicFramePr>
        <p:xfrm>
          <a:off x="4128308" y="1949451"/>
          <a:ext cx="1816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57" name="Equation" r:id="rId7" imgW="1800086" imgH="400010" progId="Equation.3">
                  <p:embed/>
                </p:oleObj>
              </mc:Choice>
              <mc:Fallback>
                <p:oleObj name="Equation" r:id="rId7" imgW="1800086" imgH="40001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8308" y="1949451"/>
                        <a:ext cx="1816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65" name="Text Box 9"/>
          <p:cNvSpPr txBox="1">
            <a:spLocks noChangeArrowheads="1"/>
          </p:cNvSpPr>
          <p:nvPr/>
        </p:nvSpPr>
        <p:spPr bwMode="auto">
          <a:xfrm>
            <a:off x="1555173" y="2461629"/>
            <a:ext cx="228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+mj-ea"/>
                <a:ea typeface="+mj-ea"/>
              </a:rPr>
              <a:t>设其通解为</a:t>
            </a:r>
          </a:p>
        </p:txBody>
      </p:sp>
      <p:graphicFrame>
        <p:nvGraphicFramePr>
          <p:cNvPr id="3010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786533"/>
              </p:ext>
            </p:extLst>
          </p:nvPr>
        </p:nvGraphicFramePr>
        <p:xfrm>
          <a:off x="3383328" y="2469530"/>
          <a:ext cx="1866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58" name="Equation" r:id="rId9" imgW="1847668" imgH="428764" progId="Equation.3">
                  <p:embed/>
                </p:oleObj>
              </mc:Choice>
              <mc:Fallback>
                <p:oleObj name="Equation" r:id="rId9" imgW="1847668" imgH="42876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3328" y="2469530"/>
                        <a:ext cx="1866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67" name="Text Box 11"/>
          <p:cNvSpPr txBox="1">
            <a:spLocks noChangeArrowheads="1"/>
          </p:cNvSpPr>
          <p:nvPr/>
        </p:nvSpPr>
        <p:spPr bwMode="auto">
          <a:xfrm>
            <a:off x="1555173" y="3250119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+mj-ea"/>
                <a:ea typeface="+mj-ea"/>
              </a:rPr>
              <a:t>则得</a:t>
            </a:r>
          </a:p>
        </p:txBody>
      </p:sp>
      <p:graphicFrame>
        <p:nvGraphicFramePr>
          <p:cNvPr id="3010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761966"/>
              </p:ext>
            </p:extLst>
          </p:nvPr>
        </p:nvGraphicFramePr>
        <p:xfrm>
          <a:off x="2898775" y="3272336"/>
          <a:ext cx="1917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59" name="Equation" r:id="rId11" imgW="1895670" imgH="428764" progId="Equation.3">
                  <p:embed/>
                </p:oleObj>
              </mc:Choice>
              <mc:Fallback>
                <p:oleObj name="Equation" r:id="rId11" imgW="1895670" imgH="42876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3272336"/>
                        <a:ext cx="1917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69" name="Text Box 13"/>
          <p:cNvSpPr txBox="1">
            <a:spLocks noChangeArrowheads="1"/>
          </p:cNvSpPr>
          <p:nvPr/>
        </p:nvSpPr>
        <p:spPr bwMode="auto">
          <a:xfrm>
            <a:off x="1555173" y="3858325"/>
            <a:ext cx="49418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+mj-ea"/>
                <a:ea typeface="+mj-ea"/>
              </a:rPr>
              <a:t>再一次积分</a:t>
            </a:r>
            <a:r>
              <a:rPr kumimoji="1" lang="en-US" altLang="zh-CN" sz="2400" dirty="0">
                <a:latin typeface="+mj-ea"/>
                <a:ea typeface="+mj-ea"/>
              </a:rPr>
              <a:t>, </a:t>
            </a:r>
            <a:r>
              <a:rPr kumimoji="1" lang="zh-CN" altLang="en-US" sz="2400" dirty="0">
                <a:latin typeface="+mj-ea"/>
                <a:ea typeface="+mj-ea"/>
              </a:rPr>
              <a:t>得原方程的通解</a:t>
            </a:r>
          </a:p>
        </p:txBody>
      </p:sp>
      <p:graphicFrame>
        <p:nvGraphicFramePr>
          <p:cNvPr id="3010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985437"/>
              </p:ext>
            </p:extLst>
          </p:nvPr>
        </p:nvGraphicFramePr>
        <p:xfrm>
          <a:off x="2836256" y="4573297"/>
          <a:ext cx="31623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60" name="Equation" r:id="rId13" imgW="3143309" imgH="561960" progId="Equation.3">
                  <p:embed/>
                </p:oleObj>
              </mc:Choice>
              <mc:Fallback>
                <p:oleObj name="Equation" r:id="rId13" imgW="3143309" imgH="5619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6256" y="4573297"/>
                        <a:ext cx="31623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5167D3F-EF08-4391-A148-AA4BC56CF733}" type="datetime11">
              <a:rPr lang="zh-CN" altLang="en-US" smtClean="0"/>
              <a:t>15:29:49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950363" y="463878"/>
                <a:ext cx="483132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 b="1" kern="0" dirty="0" smtClean="0">
                    <a:solidFill>
                      <a:srgbClr val="000000"/>
                    </a:solidFill>
                    <a:latin typeface="Arial"/>
                    <a:ea typeface="黑体" panose="02010609060101010101" pitchFamily="49" charset="-122"/>
                    <a:cs typeface="+mj-cs"/>
                  </a:rPr>
                  <a:t>二、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b="1" kern="0" dirty="0">
                    <a:solidFill>
                      <a:srgbClr val="000000"/>
                    </a:solidFill>
                    <a:latin typeface="Arial"/>
                    <a:ea typeface="黑体" panose="02010609060101010101" pitchFamily="49" charset="-122"/>
                    <a:cs typeface="+mj-cs"/>
                  </a:rPr>
                  <a:t>型的微分方程</a:t>
                </a: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363" y="463878"/>
                <a:ext cx="4831323" cy="523220"/>
              </a:xfrm>
              <a:prstGeom prst="rect">
                <a:avLst/>
              </a:prstGeom>
              <a:blipFill>
                <a:blip r:embed="rId15"/>
                <a:stretch>
                  <a:fillRect l="-2652" t="-15116" r="-1641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556346" y="-1025"/>
            <a:ext cx="3241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第五节 可降阶的高阶微分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0" grpId="0"/>
      <p:bldP spid="301063" grpId="0"/>
      <p:bldP spid="301065" grpId="0"/>
      <p:bldP spid="301067" grpId="0"/>
      <p:bldP spid="30106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6" name="Text Box 6"/>
          <p:cNvSpPr txBox="1">
            <a:spLocks noChangeArrowheads="1"/>
          </p:cNvSpPr>
          <p:nvPr/>
        </p:nvSpPr>
        <p:spPr bwMode="auto">
          <a:xfrm>
            <a:off x="1138151" y="1235071"/>
            <a:ext cx="86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 smtClean="0">
                <a:latin typeface="+mn-ea"/>
                <a:ea typeface="+mn-ea"/>
              </a:rPr>
              <a:t>解</a:t>
            </a:r>
            <a:r>
              <a:rPr kumimoji="1" lang="en-US" altLang="zh-CN" sz="2400" dirty="0" smtClean="0">
                <a:latin typeface="+mn-ea"/>
                <a:ea typeface="+mn-ea"/>
              </a:rPr>
              <a:t>:</a:t>
            </a:r>
            <a:r>
              <a:rPr kumimoji="1" lang="zh-CN" altLang="en-US" sz="2400" dirty="0" smtClean="0">
                <a:latin typeface="+mn-ea"/>
                <a:ea typeface="+mn-ea"/>
              </a:rPr>
              <a:t>  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p:sp>
        <p:nvSpPr>
          <p:cNvPr id="302101" name="Text Box 21"/>
          <p:cNvSpPr txBox="1">
            <a:spLocks noChangeArrowheads="1"/>
          </p:cNvSpPr>
          <p:nvPr/>
        </p:nvSpPr>
        <p:spPr bwMode="auto">
          <a:xfrm>
            <a:off x="1672766" y="4300884"/>
            <a:ext cx="259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+mj-ea"/>
                <a:ea typeface="+mj-ea"/>
              </a:rPr>
              <a:t>两端再积分得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18A3DF-CA89-4612-A43A-BCF075F408EA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30" name="矩形 29"/>
          <p:cNvSpPr/>
          <p:nvPr/>
        </p:nvSpPr>
        <p:spPr>
          <a:xfrm>
            <a:off x="556707" y="483246"/>
            <a:ext cx="1736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 </a:t>
            </a:r>
            <a:r>
              <a:rPr lang="zh-CN" altLang="en-US" sz="2400" dirty="0"/>
              <a:t>解</a:t>
            </a:r>
            <a:r>
              <a:rPr lang="zh-CN" altLang="en-US" sz="2400" dirty="0" smtClean="0"/>
              <a:t>方程</a:t>
            </a:r>
            <a:endParaRPr lang="zh-CN" altLang="en-US" sz="2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133600" y="516339"/>
                <a:ext cx="639675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sz="2400"/>
                          <m:t> 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=3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516339"/>
                <a:ext cx="6396751" cy="461665"/>
              </a:xfrm>
              <a:prstGeom prst="rect">
                <a:avLst/>
              </a:prstGeom>
              <a:blipFill>
                <a:blip r:embed="rId2"/>
                <a:stretch>
                  <a:fillRect l="-7340" t="-129333" b="-20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645777" y="1260466"/>
                <a:ext cx="57304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设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400" dirty="0" smtClean="0"/>
                  <a:t>，代入原方程得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777" y="1260466"/>
                <a:ext cx="5730415" cy="461665"/>
              </a:xfrm>
              <a:prstGeom prst="rect">
                <a:avLst/>
              </a:prstGeom>
              <a:blipFill>
                <a:blip r:embed="rId3"/>
                <a:stretch>
                  <a:fillRect l="-851" t="-127632" b="-197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752600" y="1871362"/>
                <a:ext cx="267842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sz="2400"/>
                          <m:t> 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871362"/>
                <a:ext cx="2678426" cy="461665"/>
              </a:xfrm>
              <a:prstGeom prst="rect">
                <a:avLst/>
              </a:prstGeom>
              <a:blipFill>
                <a:blip r:embed="rId4"/>
                <a:stretch>
                  <a:fillRect l="-17768" t="-127632" b="-197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1796299" y="2481538"/>
                <a:ext cx="34955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ln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zh-CN" altLang="en-US" sz="2400" i="0"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1+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)+</m:t>
                    </m:r>
                    <m:r>
                      <m:rPr>
                        <m:sty m:val="p"/>
                      </m:rPr>
                      <a:rPr lang="zh-CN" altLang="en-US" sz="2400" i="0">
                        <a:latin typeface="Cambria Math" panose="02040503050406030204" pitchFamily="18" charset="0"/>
                      </a:rPr>
                      <m:t>ln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299" y="2481538"/>
                <a:ext cx="3495572" cy="461665"/>
              </a:xfrm>
              <a:prstGeom prst="rect">
                <a:avLst/>
              </a:prstGeom>
              <a:blipFill>
                <a:blip r:embed="rId5"/>
                <a:stretch>
                  <a:fillRect l="-524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1826635" y="3148151"/>
                <a:ext cx="236436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635" y="3148151"/>
                <a:ext cx="2364365" cy="461665"/>
              </a:xfrm>
              <a:prstGeom prst="rect">
                <a:avLst/>
              </a:prstGeom>
              <a:blipFill>
                <a:blip r:embed="rId6"/>
                <a:stretch>
                  <a:fillRect l="-773" t="-127632" r="-26546" b="-197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4311913" y="3114078"/>
                <a:ext cx="189333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nor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913" y="3114078"/>
                <a:ext cx="1893339" cy="461665"/>
              </a:xfrm>
              <a:prstGeom prst="rect">
                <a:avLst/>
              </a:prstGeom>
              <a:blipFill>
                <a:blip r:embed="rId7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/>
              <p:cNvSpPr/>
              <p:nvPr/>
            </p:nvSpPr>
            <p:spPr>
              <a:xfrm>
                <a:off x="1826635" y="3692321"/>
                <a:ext cx="114153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5" name="矩形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635" y="3692321"/>
                <a:ext cx="1141531" cy="461665"/>
              </a:xfrm>
              <a:prstGeom prst="rect">
                <a:avLst/>
              </a:prstGeom>
              <a:blipFill>
                <a:blip r:embed="rId8"/>
                <a:stretch>
                  <a:fillRect l="-1604"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/>
              <p:cNvSpPr/>
              <p:nvPr/>
            </p:nvSpPr>
            <p:spPr>
              <a:xfrm>
                <a:off x="3264804" y="3667367"/>
                <a:ext cx="291207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6" name="矩形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804" y="3667367"/>
                <a:ext cx="2912079" cy="461665"/>
              </a:xfrm>
              <a:prstGeom prst="rect">
                <a:avLst/>
              </a:prstGeom>
              <a:blipFill>
                <a:blip r:embed="rId9"/>
                <a:stretch>
                  <a:fillRect l="-629" t="-129333" r="-21593" b="-20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1878179" y="4820100"/>
                <a:ext cx="260455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+3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179" y="4820100"/>
                <a:ext cx="2604559" cy="461665"/>
              </a:xfrm>
              <a:prstGeom prst="rect">
                <a:avLst/>
              </a:prstGeom>
              <a:blipFill>
                <a:blip r:embed="rId10"/>
                <a:stretch>
                  <a:fillRect l="-703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4600791" y="4761127"/>
                <a:ext cx="175336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zh-CN" altLang="en-US" sz="2400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791" y="4761127"/>
                <a:ext cx="1753365" cy="461665"/>
              </a:xfrm>
              <a:prstGeom prst="rect">
                <a:avLst/>
              </a:prstGeom>
              <a:blipFill>
                <a:blip r:embed="rId11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/>
              <p:cNvSpPr/>
              <p:nvPr/>
            </p:nvSpPr>
            <p:spPr>
              <a:xfrm>
                <a:off x="1857297" y="5486713"/>
                <a:ext cx="24655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+3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9" name="矩形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297" y="5486713"/>
                <a:ext cx="2465547" cy="461665"/>
              </a:xfrm>
              <a:prstGeom prst="rect">
                <a:avLst/>
              </a:prstGeom>
              <a:blipFill>
                <a:blip r:embed="rId12"/>
                <a:stretch>
                  <a:fillRect l="-743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矩形 49"/>
          <p:cNvSpPr/>
          <p:nvPr/>
        </p:nvSpPr>
        <p:spPr>
          <a:xfrm>
            <a:off x="556346" y="-1025"/>
            <a:ext cx="3241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第五节 可降阶的高阶微分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6" grpId="0"/>
      <p:bldP spid="302101" grpId="0"/>
      <p:bldP spid="10" grpId="0"/>
      <p:bldP spid="13" grpId="0"/>
      <p:bldP spid="14" grpId="0"/>
      <p:bldP spid="15" grpId="0"/>
      <p:bldP spid="16" grpId="0"/>
      <p:bldP spid="45" grpId="0"/>
      <p:bldP spid="46" grpId="0"/>
      <p:bldP spid="17" grpId="0"/>
      <p:bldP spid="18" grpId="0"/>
      <p:bldP spid="4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950363" y="463878"/>
                <a:ext cx="483132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 b="1" kern="0" dirty="0" smtClean="0">
                    <a:solidFill>
                      <a:srgbClr val="000000"/>
                    </a:solidFill>
                    <a:latin typeface="Arial"/>
                    <a:ea typeface="黑体" panose="02010609060101010101" pitchFamily="49" charset="-122"/>
                    <a:cs typeface="+mj-cs"/>
                  </a:rPr>
                  <a:t>三、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b="1" kern="0" dirty="0">
                    <a:solidFill>
                      <a:srgbClr val="000000"/>
                    </a:solidFill>
                    <a:latin typeface="Arial"/>
                    <a:ea typeface="黑体" panose="02010609060101010101" pitchFamily="49" charset="-122"/>
                    <a:cs typeface="+mj-cs"/>
                  </a:rPr>
                  <a:t>型的微分方程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363" y="463878"/>
                <a:ext cx="4831323" cy="523220"/>
              </a:xfrm>
              <a:prstGeom prst="rect">
                <a:avLst/>
              </a:prstGeom>
              <a:blipFill>
                <a:blip r:embed="rId3"/>
                <a:stretch>
                  <a:fillRect l="-2652" t="-15116" r="-1768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579275" y="1260466"/>
                <a:ext cx="7685822" cy="6655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设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𝑑𝑝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𝑑𝑝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</m:oMath>
                </a14:m>
                <a:r>
                  <a:rPr lang="zh-CN" altLang="en-US" sz="2400" dirty="0" smtClean="0"/>
                  <a:t>，原方程降阶为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275" y="1260466"/>
                <a:ext cx="7685822" cy="6655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018771" y="1943943"/>
                <a:ext cx="2090124" cy="6655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𝑑𝑝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771" y="1943943"/>
                <a:ext cx="2090124" cy="6655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1905000" y="2955926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+mj-ea"/>
                <a:ea typeface="+mj-ea"/>
              </a:rPr>
              <a:t>设其通解为</a:t>
            </a:r>
          </a:p>
        </p:txBody>
      </p:sp>
      <p:graphicFrame>
        <p:nvGraphicFramePr>
          <p:cNvPr id="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004791"/>
              </p:ext>
            </p:extLst>
          </p:nvPr>
        </p:nvGraphicFramePr>
        <p:xfrm>
          <a:off x="3712102" y="2975554"/>
          <a:ext cx="1717148" cy="403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2" name="Equation" r:id="rId6" imgW="1876300" imgH="428764" progId="Equation.3">
                  <p:embed/>
                </p:oleObj>
              </mc:Choice>
              <mc:Fallback>
                <p:oleObj name="Equation" r:id="rId6" imgW="1876300" imgH="428764" progId="Equation.3">
                  <p:embed/>
                  <p:pic>
                    <p:nvPicPr>
                      <p:cNvPr id="30311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2102" y="2975554"/>
                        <a:ext cx="1717148" cy="4033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5791200" y="2946401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+mj-ea"/>
                <a:ea typeface="+mj-ea"/>
              </a:rPr>
              <a:t>即得</a:t>
            </a:r>
          </a:p>
        </p:txBody>
      </p:sp>
      <p:graphicFrame>
        <p:nvGraphicFramePr>
          <p:cNvPr id="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931788"/>
              </p:ext>
            </p:extLst>
          </p:nvPr>
        </p:nvGraphicFramePr>
        <p:xfrm>
          <a:off x="3962400" y="3613838"/>
          <a:ext cx="1655618" cy="394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3" name="Equation" r:id="rId8" imgW="1847668" imgH="428764" progId="Equation.3">
                  <p:embed/>
                </p:oleObj>
              </mc:Choice>
              <mc:Fallback>
                <p:oleObj name="Equation" r:id="rId8" imgW="1847668" imgH="428764" progId="Equation.3">
                  <p:embed/>
                  <p:pic>
                    <p:nvPicPr>
                      <p:cNvPr id="30311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613838"/>
                        <a:ext cx="1655618" cy="394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6"/>
          <p:cNvSpPr txBox="1">
            <a:spLocks noChangeArrowheads="1"/>
          </p:cNvSpPr>
          <p:nvPr/>
        </p:nvSpPr>
        <p:spPr bwMode="auto">
          <a:xfrm>
            <a:off x="1828800" y="4165601"/>
            <a:ext cx="571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+mj-ea"/>
                <a:ea typeface="+mj-ea"/>
              </a:rPr>
              <a:t>分离变量后积分</a:t>
            </a:r>
            <a:r>
              <a:rPr kumimoji="1" lang="en-US" altLang="zh-CN" sz="2400">
                <a:latin typeface="+mj-ea"/>
                <a:ea typeface="+mj-ea"/>
              </a:rPr>
              <a:t>, </a:t>
            </a:r>
            <a:r>
              <a:rPr kumimoji="1" lang="zh-CN" altLang="en-US" sz="2400">
                <a:latin typeface="+mj-ea"/>
                <a:ea typeface="+mj-ea"/>
              </a:rPr>
              <a:t>得原方程的通解</a:t>
            </a:r>
          </a:p>
        </p:txBody>
      </p:sp>
      <p:graphicFrame>
        <p:nvGraphicFramePr>
          <p:cNvPr id="1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634904"/>
              </p:ext>
            </p:extLst>
          </p:nvPr>
        </p:nvGraphicFramePr>
        <p:xfrm>
          <a:off x="4034668" y="4765568"/>
          <a:ext cx="2552822" cy="843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4" name="Equation" r:id="rId10" imgW="2828767" imgH="923914" progId="Equation.3">
                  <p:embed/>
                </p:oleObj>
              </mc:Choice>
              <mc:Fallback>
                <p:oleObj name="Equation" r:id="rId10" imgW="2828767" imgH="923914" progId="Equation.3">
                  <p:embed/>
                  <p:pic>
                    <p:nvPicPr>
                      <p:cNvPr id="30312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4668" y="4765568"/>
                        <a:ext cx="2552822" cy="8433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556346" y="-1025"/>
            <a:ext cx="3241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第五节 可降阶的高阶微分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174194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DBD9A3-0AAA-400A-AE99-5BA1F012EBFC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556707" y="483246"/>
            <a:ext cx="1736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 </a:t>
            </a:r>
            <a:r>
              <a:rPr lang="zh-CN" altLang="en-US" sz="2400" dirty="0"/>
              <a:t>解</a:t>
            </a:r>
            <a:r>
              <a:rPr lang="zh-CN" altLang="en-US" sz="2400" dirty="0" smtClean="0"/>
              <a:t>方程</a:t>
            </a:r>
            <a:endParaRPr lang="zh-CN" altLang="en-US" sz="2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256669" y="465254"/>
                <a:ext cx="2259914" cy="5077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=0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6669" y="465254"/>
                <a:ext cx="2259914" cy="5077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Box 6"/>
          <p:cNvSpPr txBox="1">
            <a:spLocks noChangeArrowheads="1"/>
          </p:cNvSpPr>
          <p:nvPr/>
        </p:nvSpPr>
        <p:spPr bwMode="auto">
          <a:xfrm>
            <a:off x="1138151" y="1235071"/>
            <a:ext cx="86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 smtClean="0">
                <a:latin typeface="+mn-ea"/>
                <a:ea typeface="+mn-ea"/>
              </a:rPr>
              <a:t>解</a:t>
            </a:r>
            <a:r>
              <a:rPr kumimoji="1" lang="en-US" altLang="zh-CN" sz="2400" dirty="0" smtClean="0">
                <a:latin typeface="+mn-ea"/>
                <a:ea typeface="+mn-ea"/>
              </a:rPr>
              <a:t>:</a:t>
            </a:r>
            <a:r>
              <a:rPr kumimoji="1" lang="zh-CN" altLang="en-US" sz="2400" dirty="0" smtClean="0">
                <a:latin typeface="+mn-ea"/>
                <a:ea typeface="+mn-ea"/>
              </a:rPr>
              <a:t>  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1715533" y="1179200"/>
                <a:ext cx="5978175" cy="6753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设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zh-CN" altLang="en-US" sz="2400" dirty="0" smtClean="0"/>
                  <a:t>，原方程降阶为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5533" y="1179200"/>
                <a:ext cx="5978175" cy="6753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145495" y="1824238"/>
                <a:ext cx="2270109" cy="6753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  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𝑝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5495" y="1824238"/>
                <a:ext cx="2270109" cy="6753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122620" y="2657642"/>
                <a:ext cx="31378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>
                        <a:latin typeface="Cambria Math" panose="02040503050406030204" pitchFamily="18" charset="0"/>
                      </a:rPr>
                      <m:t>ln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|=</m:t>
                    </m:r>
                    <m:r>
                      <m:rPr>
                        <m:sty m:val="p"/>
                      </m:rPr>
                      <a:rPr lang="zh-CN" altLang="en-US" sz="2400" i="0">
                        <a:latin typeface="Cambria Math" panose="02040503050406030204" pitchFamily="18" charset="0"/>
                      </a:rPr>
                      <m:t>ln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|+</m:t>
                    </m:r>
                    <m:r>
                      <m:rPr>
                        <m:sty m:val="p"/>
                      </m:rPr>
                      <a:rPr lang="zh-CN" altLang="en-US" sz="2400" i="0">
                        <a:latin typeface="Cambria Math" panose="02040503050406030204" pitchFamily="18" charset="0"/>
                      </a:rPr>
                      <m:t>ln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620" y="2657642"/>
                <a:ext cx="3137847" cy="461665"/>
              </a:xfrm>
              <a:prstGeom prst="rect">
                <a:avLst/>
              </a:prstGeom>
              <a:blipFill>
                <a:blip r:embed="rId5"/>
                <a:stretch>
                  <a:fillRect l="-583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2166514" y="3333237"/>
                <a:ext cx="2009846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514" y="3333237"/>
                <a:ext cx="2009846" cy="6341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166514" y="4261042"/>
                <a:ext cx="1893275" cy="4628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514" y="4261042"/>
                <a:ext cx="1893275" cy="462884"/>
              </a:xfrm>
              <a:prstGeom prst="rect">
                <a:avLst/>
              </a:prstGeom>
              <a:blipFill>
                <a:blip r:embed="rId7"/>
                <a:stretch>
                  <a:fillRect l="-965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/>
          <p:cNvSpPr/>
          <p:nvPr/>
        </p:nvSpPr>
        <p:spPr>
          <a:xfrm>
            <a:off x="556346" y="-1025"/>
            <a:ext cx="3241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第五节 可降阶的高阶微分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5" grpId="0"/>
      <p:bldP spid="6" grpId="0"/>
      <p:bldP spid="7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556707" y="483246"/>
            <a:ext cx="1069872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 </a:t>
            </a:r>
            <a:r>
              <a:rPr lang="zh-CN" altLang="en-US" sz="2400" dirty="0" smtClean="0"/>
              <a:t>一</a:t>
            </a:r>
            <a:r>
              <a:rPr lang="zh-CN" altLang="en-US" sz="2400" dirty="0"/>
              <a:t>链条悬挂在钉子上</a:t>
            </a:r>
            <a:r>
              <a:rPr lang="en-US" altLang="zh-CN" sz="2400" dirty="0"/>
              <a:t>, </a:t>
            </a:r>
            <a:r>
              <a:rPr lang="zh-CN" altLang="en-US" sz="2400" dirty="0"/>
              <a:t>起动时一端离开</a:t>
            </a:r>
            <a:r>
              <a:rPr lang="zh-CN" altLang="en-US" sz="2400" dirty="0" smtClean="0"/>
              <a:t>钉子</a:t>
            </a:r>
            <a:r>
              <a:rPr lang="en-US" altLang="zh-CN" sz="2400" dirty="0" smtClean="0"/>
              <a:t>8</a:t>
            </a:r>
            <a:r>
              <a:rPr lang="zh-CN" altLang="en-US" sz="2400" dirty="0" smtClean="0"/>
              <a:t>米</a:t>
            </a:r>
            <a:r>
              <a:rPr lang="en-US" altLang="zh-CN" sz="2400" dirty="0"/>
              <a:t>, </a:t>
            </a:r>
            <a:r>
              <a:rPr lang="zh-CN" altLang="en-US" sz="2400" dirty="0"/>
              <a:t>另一端离开</a:t>
            </a:r>
            <a:r>
              <a:rPr lang="zh-CN" altLang="en-US" sz="2400" dirty="0" smtClean="0"/>
              <a:t>钉子</a:t>
            </a:r>
            <a:r>
              <a:rPr lang="en-US" altLang="zh-CN" sz="2400" dirty="0" smtClean="0"/>
              <a:t>12</a:t>
            </a:r>
            <a:r>
              <a:rPr lang="zh-CN" altLang="en-US" sz="2400" dirty="0" smtClean="0"/>
              <a:t>米</a:t>
            </a:r>
            <a:r>
              <a:rPr lang="en-US" altLang="zh-CN" sz="2400" dirty="0"/>
              <a:t>, </a:t>
            </a:r>
            <a:r>
              <a:rPr lang="zh-CN" altLang="en-US" sz="2400" dirty="0"/>
              <a:t>求链条全部滑过钉子所需时间</a:t>
            </a:r>
            <a:r>
              <a:rPr lang="en-US" altLang="zh-CN" sz="2400" dirty="0"/>
              <a:t>. </a:t>
            </a:r>
            <a:endParaRPr lang="zh-CN" altLang="en-US" sz="2400" dirty="0"/>
          </a:p>
        </p:txBody>
      </p:sp>
      <p:grpSp>
        <p:nvGrpSpPr>
          <p:cNvPr id="24" name="组合 23"/>
          <p:cNvGrpSpPr/>
          <p:nvPr/>
        </p:nvGrpSpPr>
        <p:grpSpPr>
          <a:xfrm>
            <a:off x="10181720" y="1130358"/>
            <a:ext cx="1597068" cy="4084003"/>
            <a:chOff x="10181720" y="1130358"/>
            <a:chExt cx="1597068" cy="4084003"/>
          </a:xfrm>
        </p:grpSpPr>
        <p:sp>
          <p:nvSpPr>
            <p:cNvPr id="10" name="椭圆 9"/>
            <p:cNvSpPr/>
            <p:nvPr/>
          </p:nvSpPr>
          <p:spPr>
            <a:xfrm>
              <a:off x="10812001" y="1439921"/>
              <a:ext cx="514350" cy="51435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/>
            <p:cNvCxnSpPr>
              <a:stCxn id="10" idx="2"/>
            </p:cNvCxnSpPr>
            <p:nvPr/>
          </p:nvCxnSpPr>
          <p:spPr>
            <a:xfrm>
              <a:off x="10812001" y="1697096"/>
              <a:ext cx="0" cy="1500187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11332799" y="1697096"/>
              <a:ext cx="0" cy="2771775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oval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11066992" y="1697096"/>
              <a:ext cx="0" cy="3443287"/>
            </a:xfrm>
            <a:prstGeom prst="line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med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1434269" y="1697096"/>
              <a:ext cx="344519" cy="0"/>
            </a:xfrm>
            <a:prstGeom prst="line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none" w="med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11434269" y="4468871"/>
              <a:ext cx="344519" cy="0"/>
            </a:xfrm>
            <a:prstGeom prst="line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none" w="med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1637682" y="1697096"/>
              <a:ext cx="0" cy="2771775"/>
            </a:xfrm>
            <a:prstGeom prst="line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headEnd type="triangle" w="med" len="lg"/>
              <a:tailEnd type="triangle" w="med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10338894" y="1697096"/>
              <a:ext cx="344519" cy="0"/>
            </a:xfrm>
            <a:prstGeom prst="line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none" w="med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10338894" y="3197283"/>
              <a:ext cx="344519" cy="0"/>
            </a:xfrm>
            <a:prstGeom prst="line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none" w="med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10541497" y="1697096"/>
              <a:ext cx="0" cy="1500187"/>
            </a:xfrm>
            <a:prstGeom prst="line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headEnd type="triangle" w="med" len="lg"/>
              <a:tailEnd type="triangle" w="med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32"/>
            <p:cNvSpPr txBox="1"/>
            <p:nvPr/>
          </p:nvSpPr>
          <p:spPr>
            <a:xfrm>
              <a:off x="10695317" y="113035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i="1" dirty="0" smtClean="0">
                  <a:latin typeface="Times New Roman" pitchFamily="18" charset="0"/>
                  <a:cs typeface="Times New Roman" pitchFamily="18" charset="0"/>
                </a:rPr>
                <a:t>o</a:t>
              </a:r>
              <a:endParaRPr lang="zh-CN" altLang="en-US" sz="20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TextBox 33"/>
            <p:cNvSpPr txBox="1"/>
            <p:nvPr/>
          </p:nvSpPr>
          <p:spPr>
            <a:xfrm>
              <a:off x="11139000" y="4814251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endParaRPr lang="zh-CN" altLang="en-US" sz="20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TextBox 34"/>
            <p:cNvSpPr txBox="1"/>
            <p:nvPr/>
          </p:nvSpPr>
          <p:spPr>
            <a:xfrm rot="16200000">
              <a:off x="11339055" y="2611781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endParaRPr lang="zh-CN" altLang="en-US" sz="20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TextBox 35"/>
            <p:cNvSpPr txBox="1"/>
            <p:nvPr/>
          </p:nvSpPr>
          <p:spPr>
            <a:xfrm rot="16200000">
              <a:off x="10074639" y="2247133"/>
              <a:ext cx="6142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800" dirty="0" smtClean="0">
                  <a:latin typeface="Times New Roman" pitchFamily="18" charset="0"/>
                  <a:cs typeface="Times New Roman" pitchFamily="18" charset="0"/>
                </a:rPr>
                <a:t>20</a:t>
              </a:r>
              <a:r>
                <a:rPr lang="en-US" altLang="zh-CN" sz="2000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r>
                <a:rPr lang="en-US" altLang="zh-CN" sz="2000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endParaRPr lang="zh-CN" altLang="en-US" sz="2000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1146877" y="1520735"/>
                <a:ext cx="72801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/>
                  <a:t>解</a:t>
                </a:r>
                <a:r>
                  <a:rPr lang="en-US" altLang="zh-CN" sz="2400" dirty="0" smtClean="0"/>
                  <a:t>:</a:t>
                </a:r>
                <a:r>
                  <a:rPr lang="zh-CN" altLang="en-US" sz="2400" dirty="0" smtClean="0"/>
                  <a:t>  </a:t>
                </a:r>
                <a:r>
                  <a:rPr lang="zh-CN" altLang="en-US" sz="2400" dirty="0"/>
                  <a:t>链条所受力是变力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设线密度为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则它所受力是 </a:t>
                </a:r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877" y="1520735"/>
                <a:ext cx="7280134" cy="461665"/>
              </a:xfrm>
              <a:prstGeom prst="rect">
                <a:avLst/>
              </a:prstGeom>
              <a:blipFill>
                <a:blip r:embed="rId2"/>
                <a:stretch>
                  <a:fillRect l="-1256" t="-14474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2122154" y="1993304"/>
                <a:ext cx="537089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20−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=2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154" y="1993304"/>
                <a:ext cx="5370894" cy="461665"/>
              </a:xfrm>
              <a:prstGeom prst="rect">
                <a:avLst/>
              </a:prstGeom>
              <a:blipFill>
                <a:blip r:embed="rId3"/>
                <a:stretch>
                  <a:fillRect l="-227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1601246" y="2434080"/>
                <a:ext cx="6534738" cy="6923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/>
                  <a:t>由牛顿第二定律得</a:t>
                </a:r>
                <a14:m>
                  <m:oMath xmlns:m="http://schemas.openxmlformats.org/officeDocument/2006/math"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</m:d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即 </a:t>
                </a:r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246" y="2434080"/>
                <a:ext cx="6534738" cy="692369"/>
              </a:xfrm>
              <a:prstGeom prst="rect">
                <a:avLst/>
              </a:prstGeom>
              <a:blipFill>
                <a:blip r:embed="rId4"/>
                <a:stretch>
                  <a:fillRect l="-1493" b="-3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1736527" y="3071957"/>
                <a:ext cx="2514984" cy="6687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527" y="3071957"/>
                <a:ext cx="2514984" cy="6687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4618786" y="3958369"/>
                <a:ext cx="6046720" cy="586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−10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786" y="3958369"/>
                <a:ext cx="6046720" cy="5868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1792472" y="5921941"/>
                <a:ext cx="3508589" cy="7573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zh-CN" altLang="en-US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rad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a:rPr lang="zh-CN" altLang="en-US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rad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472" y="5921941"/>
                <a:ext cx="3508589" cy="7573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4454114" y="3175478"/>
                <a:ext cx="48616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初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值</a:t>
                </a:r>
                <a:r>
                  <a:rPr lang="zh-CN" altLang="en-US" sz="2400" dirty="0" smtClean="0">
                    <a:solidFill>
                      <a:srgbClr val="000000"/>
                    </a:solidFill>
                  </a:rPr>
                  <a:t>条件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114" y="3175478"/>
                <a:ext cx="4861652" cy="461665"/>
              </a:xfrm>
              <a:prstGeom prst="rect">
                <a:avLst/>
              </a:prstGeom>
              <a:blipFill>
                <a:blip r:embed="rId8"/>
                <a:stretch>
                  <a:fillRect l="-2008" t="-14474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5933038" y="4586736"/>
                <a:ext cx="187634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US" altLang="zh-C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nor/>
                            </m:rPr>
                            <a:rPr lang="zh-CN" altLang="en-US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zh-CN" altLang="en-US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nor/>
                        </m:rPr>
                        <a:rPr lang="zh-CN" altLang="en-US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40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038" y="4586736"/>
                <a:ext cx="1876346" cy="461665"/>
              </a:xfrm>
              <a:prstGeom prst="rect">
                <a:avLst/>
              </a:prstGeom>
              <a:blipFill>
                <a:blip r:embed="rId9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/>
              <p:cNvSpPr/>
              <p:nvPr/>
            </p:nvSpPr>
            <p:spPr>
              <a:xfrm>
                <a:off x="1817580" y="3865446"/>
                <a:ext cx="2496324" cy="668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7" name="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580" y="3865446"/>
                <a:ext cx="2496324" cy="6683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/>
              <p:cNvSpPr/>
              <p:nvPr/>
            </p:nvSpPr>
            <p:spPr>
              <a:xfrm>
                <a:off x="1798711" y="4598659"/>
                <a:ext cx="3512372" cy="8438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rad>
                    <m:rad>
                      <m:radPr>
                        <m:degHide m:val="on"/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rad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711" y="4598659"/>
                <a:ext cx="3512372" cy="84388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/>
              <p:cNvSpPr/>
              <p:nvPr/>
            </p:nvSpPr>
            <p:spPr>
              <a:xfrm>
                <a:off x="1814469" y="5275362"/>
                <a:ext cx="6241004" cy="8438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−10</m:t>
                            </m:r>
                          </m:e>
                        </m:d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−10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−4</m:t>
                            </m:r>
                          </m:e>
                        </m:rad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ra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469" y="5275362"/>
                <a:ext cx="6241004" cy="84388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/>
              <p:cNvSpPr/>
              <p:nvPr/>
            </p:nvSpPr>
            <p:spPr>
              <a:xfrm>
                <a:off x="7746824" y="4506254"/>
                <a:ext cx="3190169" cy="6154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altLang="zh-CN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40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altLang="zh-CN" dirty="0" smtClean="0">
                    <a:solidFill>
                      <a:srgbClr val="00B0F0"/>
                    </a:solidFill>
                  </a:rPr>
                  <a:t>,</a:t>
                </a:r>
                <a:r>
                  <a:rPr lang="zh-CN" altLang="en-US" dirty="0" smtClean="0">
                    <a:solidFill>
                      <a:srgbClr val="00B0F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CN" alt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zh-CN" altLang="en-US" sz="240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zh-CN" alt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6824" y="4506254"/>
                <a:ext cx="3190169" cy="61542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/>
              <p:cNvSpPr/>
              <p:nvPr/>
            </p:nvSpPr>
            <p:spPr>
              <a:xfrm>
                <a:off x="8417750" y="5435379"/>
                <a:ext cx="140352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7750" y="5435379"/>
                <a:ext cx="1403526" cy="461665"/>
              </a:xfrm>
              <a:prstGeom prst="rect">
                <a:avLst/>
              </a:prstGeom>
              <a:blipFill>
                <a:blip r:embed="rId14"/>
                <a:stretch>
                  <a:fillRect l="-1304"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/>
              <p:cNvSpPr/>
              <p:nvPr/>
            </p:nvSpPr>
            <p:spPr>
              <a:xfrm>
                <a:off x="5554327" y="5952065"/>
                <a:ext cx="4701543" cy="8438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sz="2400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5+2</m:t>
                        </m:r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2" name="矩形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327" y="5952065"/>
                <a:ext cx="4701543" cy="843885"/>
              </a:xfrm>
              <a:prstGeom prst="rect">
                <a:avLst/>
              </a:prstGeom>
              <a:blipFill>
                <a:blip r:embed="rId15"/>
                <a:stretch>
                  <a:fillRect l="-19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矩形 42"/>
          <p:cNvSpPr/>
          <p:nvPr/>
        </p:nvSpPr>
        <p:spPr>
          <a:xfrm>
            <a:off x="556346" y="-1025"/>
            <a:ext cx="3241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第五节 可降阶的高阶微分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80676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556707" y="483246"/>
            <a:ext cx="1069872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 </a:t>
            </a:r>
            <a:r>
              <a:rPr lang="zh-CN" altLang="en-US" sz="2400" dirty="0" smtClean="0"/>
              <a:t>墙</a:t>
            </a:r>
            <a:r>
              <a:rPr lang="zh-CN" altLang="en-US" sz="2400" dirty="0"/>
              <a:t>上有两个钉子</a:t>
            </a:r>
            <a:r>
              <a:rPr lang="en-US" altLang="zh-CN" sz="2400" dirty="0"/>
              <a:t>, </a:t>
            </a:r>
            <a:r>
              <a:rPr lang="zh-CN" altLang="en-US" sz="2400" dirty="0"/>
              <a:t>连接着一条绳子</a:t>
            </a:r>
            <a:r>
              <a:rPr lang="en-US" altLang="zh-CN" sz="2400" dirty="0"/>
              <a:t>, </a:t>
            </a:r>
            <a:r>
              <a:rPr lang="zh-CN" altLang="en-US" sz="2400" dirty="0"/>
              <a:t>绳子仅受到重力作用而下垂</a:t>
            </a:r>
            <a:r>
              <a:rPr lang="en-US" altLang="zh-CN" sz="2400" dirty="0"/>
              <a:t>, </a:t>
            </a:r>
            <a:r>
              <a:rPr lang="zh-CN" altLang="en-US" sz="2400" dirty="0"/>
              <a:t>称之为悬链线</a:t>
            </a:r>
            <a:r>
              <a:rPr lang="en-US" altLang="zh-CN" sz="2400" dirty="0"/>
              <a:t>, </a:t>
            </a:r>
            <a:r>
              <a:rPr lang="zh-CN" altLang="en-US" sz="2400" dirty="0"/>
              <a:t>试推导此曲线方程</a:t>
            </a:r>
            <a:r>
              <a:rPr lang="en-US" altLang="zh-CN" sz="2400" dirty="0"/>
              <a:t>. </a:t>
            </a:r>
            <a:endParaRPr lang="zh-CN" altLang="en-US" sz="2400" dirty="0"/>
          </a:p>
        </p:txBody>
      </p:sp>
      <p:grpSp>
        <p:nvGrpSpPr>
          <p:cNvPr id="26" name="组合 25"/>
          <p:cNvGrpSpPr/>
          <p:nvPr/>
        </p:nvGrpSpPr>
        <p:grpSpPr>
          <a:xfrm>
            <a:off x="8098971" y="582375"/>
            <a:ext cx="3468915" cy="3158807"/>
            <a:chOff x="8098971" y="582375"/>
            <a:chExt cx="3468915" cy="3158807"/>
          </a:xfrm>
        </p:grpSpPr>
        <p:grpSp>
          <p:nvGrpSpPr>
            <p:cNvPr id="24" name="组合 23"/>
            <p:cNvGrpSpPr/>
            <p:nvPr/>
          </p:nvGrpSpPr>
          <p:grpSpPr>
            <a:xfrm>
              <a:off x="8098971" y="948755"/>
              <a:ext cx="3468915" cy="2792427"/>
              <a:chOff x="8098971" y="948755"/>
              <a:chExt cx="3468915" cy="2792427"/>
            </a:xfrm>
          </p:grpSpPr>
          <p:cxnSp>
            <p:nvCxnSpPr>
              <p:cNvPr id="5" name="直接箭头连接符 4"/>
              <p:cNvCxnSpPr/>
              <p:nvPr/>
            </p:nvCxnSpPr>
            <p:spPr>
              <a:xfrm>
                <a:off x="8098971" y="3396343"/>
                <a:ext cx="3468915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  <a:tailEnd type="triangle" w="med" len="lg"/>
              </a:ln>
              <a:effectLst/>
            </p:spPr>
          </p:cxnSp>
          <p:cxnSp>
            <p:nvCxnSpPr>
              <p:cNvPr id="6" name="直接箭头连接符 5"/>
              <p:cNvCxnSpPr/>
              <p:nvPr/>
            </p:nvCxnSpPr>
            <p:spPr>
              <a:xfrm flipV="1">
                <a:off x="9826172" y="1001486"/>
                <a:ext cx="0" cy="2739696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  <a:tailEnd type="triangle" w="med" len="lg"/>
              </a:ln>
              <a:effectLst/>
            </p:spPr>
          </p:cxnSp>
          <p:sp>
            <p:nvSpPr>
              <p:cNvPr id="7" name="椭圆 6"/>
              <p:cNvSpPr/>
              <p:nvPr/>
            </p:nvSpPr>
            <p:spPr>
              <a:xfrm>
                <a:off x="9792906" y="2610971"/>
                <a:ext cx="82614" cy="82614"/>
              </a:xfrm>
              <a:prstGeom prst="ellipse">
                <a:avLst/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0953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10199662" y="2529694"/>
                <a:ext cx="82614" cy="82614"/>
              </a:xfrm>
              <a:prstGeom prst="ellipse">
                <a:avLst/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0953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10559702" y="2313670"/>
                <a:ext cx="82614" cy="82614"/>
              </a:xfrm>
              <a:prstGeom prst="ellipse">
                <a:avLst/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0953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cxnSp>
            <p:nvCxnSpPr>
              <p:cNvPr id="10" name="直接箭头连接符 9"/>
              <p:cNvCxnSpPr/>
              <p:nvPr/>
            </p:nvCxnSpPr>
            <p:spPr>
              <a:xfrm flipH="1">
                <a:off x="8811908" y="2652278"/>
                <a:ext cx="1017892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  <a:tailEnd type="triangle" w="med" len="lg"/>
              </a:ln>
              <a:effectLst/>
            </p:spPr>
          </p:cxnSp>
          <p:cxnSp>
            <p:nvCxnSpPr>
              <p:cNvPr id="11" name="直接箭头连接符 10"/>
              <p:cNvCxnSpPr/>
              <p:nvPr/>
            </p:nvCxnSpPr>
            <p:spPr>
              <a:xfrm rot="16200000" flipH="1">
                <a:off x="9741548" y="3079947"/>
                <a:ext cx="1017892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  <a:tailEnd type="triangle" w="med" len="lg"/>
              </a:ln>
              <a:effectLst/>
            </p:spPr>
          </p:cxnSp>
          <p:cxnSp>
            <p:nvCxnSpPr>
              <p:cNvPr id="12" name="直接连接符 11"/>
              <p:cNvCxnSpPr/>
              <p:nvPr/>
            </p:nvCxnSpPr>
            <p:spPr>
              <a:xfrm flipV="1">
                <a:off x="10601009" y="2343621"/>
                <a:ext cx="533716" cy="7581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</a:ln>
              <a:effectLst/>
            </p:spPr>
          </p:cxnSp>
          <p:cxnSp>
            <p:nvCxnSpPr>
              <p:cNvPr id="13" name="直接连接符 12"/>
              <p:cNvCxnSpPr/>
              <p:nvPr/>
            </p:nvCxnSpPr>
            <p:spPr>
              <a:xfrm flipV="1">
                <a:off x="10595706" y="1981200"/>
                <a:ext cx="199294" cy="37936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</a:ln>
              <a:effectLst/>
            </p:spPr>
          </p:cxnSp>
          <p:sp>
            <p:nvSpPr>
              <p:cNvPr id="14" name="TextBox 28"/>
              <p:cNvSpPr txBox="1"/>
              <p:nvPr/>
            </p:nvSpPr>
            <p:spPr>
              <a:xfrm>
                <a:off x="9505950" y="3267075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09539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i="1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o</a:t>
                </a:r>
                <a:endParaRPr lang="zh-CN" altLang="en-US" sz="2000" i="1" dirty="0">
                  <a:solidFill>
                    <a:prstClr val="black"/>
                  </a:solidFill>
                  <a:latin typeface="Times New Roman" pitchFamily="18" charset="0"/>
                  <a:ea typeface="微软雅黑"/>
                  <a:cs typeface="Times New Roman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29"/>
                  <p:cNvSpPr txBox="1"/>
                  <p:nvPr/>
                </p:nvSpPr>
                <p:spPr>
                  <a:xfrm>
                    <a:off x="10269574" y="3371850"/>
                    <a:ext cx="6254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defTabSz="609539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𝑔𝑠</m:t>
                          </m:r>
                        </m:oMath>
                      </m:oMathPara>
                    </a14:m>
                    <a:endParaRPr lang="zh-CN" altLang="en-US" i="1" dirty="0">
                      <a:solidFill>
                        <a:prstClr val="black"/>
                      </a:solidFill>
                      <a:latin typeface="Times New Roman" pitchFamily="18" charset="0"/>
                      <a:ea typeface="微软雅黑"/>
                      <a:cs typeface="Times New Roman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" name="TextBox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69574" y="3371850"/>
                    <a:ext cx="625428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TextBox 30"/>
              <p:cNvSpPr txBox="1"/>
              <p:nvPr/>
            </p:nvSpPr>
            <p:spPr>
              <a:xfrm>
                <a:off x="9021586" y="2612649"/>
                <a:ext cx="83227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09539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i="1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A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(</a:t>
                </a:r>
                <a:r>
                  <a:rPr lang="en-US" altLang="zh-CN" sz="2000" i="1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a,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0)</a:t>
                </a:r>
                <a:endParaRPr lang="zh-CN" altLang="en-US" sz="2000" dirty="0">
                  <a:solidFill>
                    <a:prstClr val="black"/>
                  </a:solidFill>
                  <a:latin typeface="Times New Roman" pitchFamily="18" charset="0"/>
                  <a:ea typeface="微软雅黑"/>
                  <a:cs typeface="Times New Roman" pitchFamily="18" charset="0"/>
                </a:endParaRPr>
              </a:p>
            </p:txBody>
          </p:sp>
          <p:sp>
            <p:nvSpPr>
              <p:cNvPr id="17" name="TextBox 31"/>
              <p:cNvSpPr txBox="1"/>
              <p:nvPr/>
            </p:nvSpPr>
            <p:spPr>
              <a:xfrm>
                <a:off x="8507474" y="2494831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09539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i="1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H</a:t>
                </a:r>
                <a:endParaRPr lang="zh-CN" altLang="en-US" i="1" dirty="0">
                  <a:solidFill>
                    <a:prstClr val="black"/>
                  </a:solidFill>
                  <a:latin typeface="Times New Roman" pitchFamily="18" charset="0"/>
                  <a:ea typeface="微软雅黑"/>
                  <a:cs typeface="Times New Roman" pitchFamily="18" charset="0"/>
                </a:endParaRPr>
              </a:p>
            </p:txBody>
          </p:sp>
          <p:sp>
            <p:nvSpPr>
              <p:cNvPr id="18" name="TextBox 32"/>
              <p:cNvSpPr txBox="1"/>
              <p:nvPr/>
            </p:nvSpPr>
            <p:spPr>
              <a:xfrm>
                <a:off x="9873530" y="948755"/>
                <a:ext cx="2984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09539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i="1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y</a:t>
                </a:r>
                <a:endParaRPr lang="zh-CN" altLang="en-US" sz="2000" i="1" dirty="0">
                  <a:solidFill>
                    <a:prstClr val="black"/>
                  </a:solidFill>
                  <a:latin typeface="Times New Roman" pitchFamily="18" charset="0"/>
                  <a:ea typeface="微软雅黑"/>
                  <a:cs typeface="Times New Roman" pitchFamily="18" charset="0"/>
                </a:endParaRPr>
              </a:p>
            </p:txBody>
          </p:sp>
          <p:sp>
            <p:nvSpPr>
              <p:cNvPr id="19" name="TextBox 33"/>
              <p:cNvSpPr txBox="1"/>
              <p:nvPr/>
            </p:nvSpPr>
            <p:spPr>
              <a:xfrm>
                <a:off x="10559702" y="2277666"/>
                <a:ext cx="7938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09539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i="1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M</a:t>
                </a:r>
                <a:r>
                  <a:rPr lang="en-US" altLang="zh-CN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(</a:t>
                </a:r>
                <a:r>
                  <a:rPr lang="en-US" altLang="zh-CN" i="1" dirty="0" err="1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x,y</a:t>
                </a:r>
                <a:r>
                  <a:rPr lang="en-US" altLang="zh-CN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)</a:t>
                </a:r>
                <a:endParaRPr lang="zh-CN" altLang="en-US" dirty="0">
                  <a:solidFill>
                    <a:prstClr val="black"/>
                  </a:solidFill>
                  <a:latin typeface="Times New Roman" pitchFamily="18" charset="0"/>
                  <a:ea typeface="微软雅黑"/>
                  <a:cs typeface="Times New Roman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34"/>
                  <p:cNvSpPr txBox="1"/>
                  <p:nvPr/>
                </p:nvSpPr>
                <p:spPr>
                  <a:xfrm>
                    <a:off x="10739722" y="1989634"/>
                    <a:ext cx="37895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defTabSz="609539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 dirty="0" smtClean="0">
                              <a:solidFill>
                                <a:prstClr val="black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zh-CN" altLang="en-US" i="1" dirty="0">
                      <a:solidFill>
                        <a:prstClr val="black"/>
                      </a:solidFill>
                      <a:latin typeface="Times New Roman" pitchFamily="18" charset="0"/>
                      <a:ea typeface="微软雅黑"/>
                      <a:cs typeface="Times New Roman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" name="TextBox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39722" y="1989634"/>
                    <a:ext cx="37895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TextBox 35"/>
              <p:cNvSpPr txBox="1"/>
              <p:nvPr/>
            </p:nvSpPr>
            <p:spPr>
              <a:xfrm>
                <a:off x="10858954" y="1681411"/>
                <a:ext cx="325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09539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T</a:t>
                </a:r>
                <a:endParaRPr lang="zh-CN" altLang="en-US" dirty="0">
                  <a:solidFill>
                    <a:prstClr val="black"/>
                  </a:solidFill>
                  <a:latin typeface="Times New Roman" pitchFamily="18" charset="0"/>
                  <a:ea typeface="微软雅黑"/>
                  <a:cs typeface="Times New Roman" pitchFamily="18" charset="0"/>
                </a:endParaRPr>
              </a:p>
            </p:txBody>
          </p:sp>
          <p:sp>
            <p:nvSpPr>
              <p:cNvPr id="22" name="TextBox 36"/>
              <p:cNvSpPr txBox="1"/>
              <p:nvPr/>
            </p:nvSpPr>
            <p:spPr>
              <a:xfrm>
                <a:off x="11101858" y="3298540"/>
                <a:ext cx="2984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09539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i="1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x</a:t>
                </a:r>
                <a:endParaRPr lang="zh-CN" altLang="en-US" sz="2000" i="1" dirty="0">
                  <a:solidFill>
                    <a:prstClr val="black"/>
                  </a:solidFill>
                  <a:latin typeface="Times New Roman" pitchFamily="18" charset="0"/>
                  <a:ea typeface="微软雅黑"/>
                  <a:cs typeface="Times New Roman" pitchFamily="18" charset="0"/>
                </a:endParaRPr>
              </a:p>
            </p:txBody>
          </p:sp>
          <p:sp>
            <p:nvSpPr>
              <p:cNvPr id="23" name="弧形 22"/>
              <p:cNvSpPr/>
              <p:nvPr/>
            </p:nvSpPr>
            <p:spPr>
              <a:xfrm rot="1995801">
                <a:off x="10608515" y="2200719"/>
                <a:ext cx="173676" cy="217165"/>
              </a:xfrm>
              <a:prstGeom prst="arc">
                <a:avLst>
                  <a:gd name="adj1" fmla="val 13776350"/>
                  <a:gd name="adj2" fmla="val 0"/>
                </a:avLst>
              </a:prstGeom>
              <a:noFill/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0953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sp>
          <p:nvSpPr>
            <p:cNvPr id="25" name="弧形 24"/>
            <p:cNvSpPr/>
            <p:nvPr/>
          </p:nvSpPr>
          <p:spPr>
            <a:xfrm rot="5400000" flipV="1">
              <a:off x="8786228" y="492525"/>
              <a:ext cx="2059076" cy="2238776"/>
            </a:xfrm>
            <a:prstGeom prst="arc">
              <a:avLst>
                <a:gd name="adj1" fmla="val 17069337"/>
                <a:gd name="adj2" fmla="val 4440780"/>
              </a:avLst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630707" y="1510287"/>
                <a:ext cx="756755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/>
                  <a:t>解：设</a:t>
                </a:r>
                <a:r>
                  <a:rPr lang="zh-CN" altLang="en-US" sz="2400" dirty="0"/>
                  <a:t>曲线方程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使悬链线的最低点位于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dirty="0"/>
                  <a:t> 轴上</a:t>
                </a:r>
                <a:r>
                  <a:rPr lang="en-US" altLang="zh-CN" sz="2400" dirty="0"/>
                  <a:t>, </a:t>
                </a:r>
                <a:r>
                  <a:rPr lang="zh-CN" altLang="en-US" sz="2400" dirty="0" smtClean="0"/>
                  <a:t>且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𝑂𝐴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400" dirty="0"/>
                  <a:t>,</a:t>
                </a:r>
                <a:r>
                  <a:rPr lang="zh-CN" altLang="en-US" sz="2400" dirty="0"/>
                  <a:t> </a:t>
                </a:r>
                <a:r>
                  <a:rPr lang="zh-CN" altLang="en-US" sz="2400" dirty="0" smtClean="0"/>
                  <a:t>则</a:t>
                </a:r>
                <a:r>
                  <a:rPr lang="zh-CN" altLang="en-US" sz="2400" dirty="0"/>
                  <a:t>点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/>
                  <a:t>坐标为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.</a:t>
                </a:r>
                <a:r>
                  <a:rPr lang="zh-CN" altLang="en-US" sz="2400" dirty="0"/>
                  <a:t>这样就得到了初始条件</a:t>
                </a:r>
                <a:r>
                  <a:rPr lang="en-US" altLang="zh-CN" sz="2400" dirty="0"/>
                  <a:t>: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400" dirty="0"/>
                  <a:t>.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707" y="1510287"/>
                <a:ext cx="7567559" cy="1200329"/>
              </a:xfrm>
              <a:prstGeom prst="rect">
                <a:avLst/>
              </a:prstGeom>
              <a:blipFill>
                <a:blip r:embed="rId4"/>
                <a:stretch>
                  <a:fillRect l="-1208" t="-5584" b="-11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630707" y="2898430"/>
                <a:ext cx="7358098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/>
                  <a:t>作受力分析</a:t>
                </a:r>
                <a:r>
                  <a:rPr lang="en-US" altLang="zh-CN" sz="2400" dirty="0"/>
                  <a:t>:</a:t>
                </a:r>
                <a:r>
                  <a:rPr lang="zh-CN" altLang="en-US" sz="2400" dirty="0"/>
                  <a:t>取一段弧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(</a:t>
                </a:r>
                <a:r>
                  <a:rPr lang="zh-CN" altLang="en-US" sz="2400" dirty="0"/>
                  <a:t>其中点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400" dirty="0"/>
                  <a:t> 的坐标为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)</a:t>
                </a:r>
                <a:r>
                  <a:rPr lang="zh-CN" altLang="en-US" sz="2400" dirty="0"/>
                  <a:t>设其弧长为</a:t>
                </a:r>
                <a:r>
                  <a:rPr lang="zh-CN" alt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单位弧</a:t>
                </a:r>
                <a:r>
                  <a:rPr lang="zh-CN" altLang="en-US" sz="2400" dirty="0" smtClean="0"/>
                  <a:t>长</a:t>
                </a:r>
                <a:r>
                  <a:rPr lang="zh-CN" altLang="en-US" sz="2400" dirty="0"/>
                  <a:t>密度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altLang="zh-CN" sz="2400" dirty="0" smtClean="0"/>
                  <a:t>, </a:t>
                </a:r>
                <a:r>
                  <a:rPr lang="zh-CN" altLang="en-US" sz="2400" dirty="0"/>
                  <a:t>则弧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𝐴𝑀</m:t>
                    </m:r>
                  </m:oMath>
                </a14:m>
                <a:r>
                  <a:rPr lang="zh-CN" altLang="en-US" sz="2400" dirty="0"/>
                  <a:t> 所受的重力为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2400" dirty="0"/>
                  <a:t>. </a:t>
                </a:r>
                <a:r>
                  <a:rPr lang="zh-CN" altLang="en-US" sz="2400" dirty="0"/>
                  <a:t>设在点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400" dirty="0"/>
                  <a:t> 处受到水平张力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zh-CN" sz="2400" dirty="0" smtClean="0">
                    <a:solidFill>
                      <a:srgbClr val="00B0F0"/>
                    </a:solidFill>
                  </a:rPr>
                  <a:t>(</a:t>
                </a:r>
                <a:r>
                  <a:rPr lang="zh-CN" altLang="en-US" sz="2400" dirty="0">
                    <a:solidFill>
                      <a:srgbClr val="00B0F0"/>
                    </a:solidFill>
                  </a:rPr>
                  <a:t>与点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400" dirty="0" smtClean="0">
                    <a:solidFill>
                      <a:srgbClr val="00B0F0"/>
                    </a:solidFill>
                  </a:rPr>
                  <a:t>无关</a:t>
                </a:r>
                <a:r>
                  <a:rPr lang="en-US" altLang="zh-CN" sz="2400" dirty="0" smtClean="0">
                    <a:solidFill>
                      <a:srgbClr val="00B0F0"/>
                    </a:solidFill>
                  </a:rPr>
                  <a:t>)</a:t>
                </a:r>
                <a:r>
                  <a:rPr lang="zh-CN" altLang="en-US" sz="2400" dirty="0" smtClean="0">
                    <a:solidFill>
                      <a:srgbClr val="00B0F0"/>
                    </a:solidFill>
                  </a:rPr>
                  <a:t> 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在点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400" dirty="0"/>
                  <a:t> 处受到切向张力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,  </a:t>
                </a:r>
                <a:r>
                  <a:rPr lang="zh-CN" altLang="en-US" sz="2400" dirty="0"/>
                  <a:t>与平行于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/>
                  <a:t> 轴的直线的夹角为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则在平衡状态下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应有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𝑔𝑠</m:t>
                    </m:r>
                  </m:oMath>
                </a14:m>
                <a:r>
                  <a:rPr lang="zh-CN" altLang="en-US" sz="2400" dirty="0" smtClean="0"/>
                  <a:t>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707" y="2898430"/>
                <a:ext cx="7358098" cy="1938992"/>
              </a:xfrm>
              <a:prstGeom prst="rect">
                <a:avLst/>
              </a:prstGeom>
              <a:blipFill>
                <a:blip r:embed="rId5"/>
                <a:stretch>
                  <a:fillRect l="-1243" t="-3448" r="-1160" b="-62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748775" y="4913523"/>
                <a:ext cx="2353850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𝑔𝑠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den>
                    </m:f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75" y="4913523"/>
                <a:ext cx="2353850" cy="6341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3558923" y="4837422"/>
                <a:ext cx="3085717" cy="8438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400">
                                            <a:latin typeface="Cambria Math" panose="02040503050406030204" pitchFamily="18" charset="0"/>
                                          </a:rPr>
                                          <m:t>d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400">
                                            <a:latin typeface="Cambria Math" panose="02040503050406030204" pitchFamily="18" charset="0"/>
                                          </a:rPr>
                                          <m:t>d</m:t>
                                        </m:r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923" y="4837422"/>
                <a:ext cx="3085717" cy="8438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748775" y="5764130"/>
                <a:ext cx="2927853" cy="8438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75" y="5764130"/>
                <a:ext cx="2927853" cy="8438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/>
          <p:cNvSpPr/>
          <p:nvPr/>
        </p:nvSpPr>
        <p:spPr>
          <a:xfrm>
            <a:off x="7644884" y="4474845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0000"/>
                </a:solidFill>
              </a:rPr>
              <a:t>因此，建立的微分方程为：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7560480" y="4927634"/>
                <a:ext cx="3138551" cy="1757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  <m:sup>
                                    <m:r>
                                      <a:rPr lang="zh-CN" altLang="en-US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sSup>
                                  <m:sSup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zh-CN" altLang="en-US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den>
                            </m:f>
                            <m:rad>
                              <m:radPr>
                                <m:degHide m:val="on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2400">
                                                <a:latin typeface="Cambria Math" panose="02040503050406030204" pitchFamily="18" charset="0"/>
                                              </a:rPr>
                                              <m:t>d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num>
                                          <m:den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2400">
                                                <a:latin typeface="Cambria Math" panose="02040503050406030204" pitchFamily="18" charset="0"/>
                                              </a:rPr>
                                              <m:t>d</m:t>
                                            </m:r>
                                            <m: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</m:e>
                          <m:e>
                            <m:sSup>
                              <m:sSup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400" dirty="0" smtClean="0">
                    <a:solidFill>
                      <a:srgbClr val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480" y="4927634"/>
                <a:ext cx="3138551" cy="17571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 34"/>
          <p:cNvSpPr/>
          <p:nvPr/>
        </p:nvSpPr>
        <p:spPr>
          <a:xfrm>
            <a:off x="556346" y="-1025"/>
            <a:ext cx="3241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第五节 可降阶的高阶微分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184137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0" grpId="0"/>
      <p:bldP spid="31" grpId="0"/>
      <p:bldP spid="32" grpId="0"/>
      <p:bldP spid="33" grpId="0"/>
      <p:bldP spid="3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556707" y="483246"/>
            <a:ext cx="1069872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 </a:t>
            </a:r>
            <a:r>
              <a:rPr lang="zh-CN" altLang="en-US" sz="2400" dirty="0" smtClean="0"/>
              <a:t>墙</a:t>
            </a:r>
            <a:r>
              <a:rPr lang="zh-CN" altLang="en-US" sz="2400" dirty="0"/>
              <a:t>上有两个钉子</a:t>
            </a:r>
            <a:r>
              <a:rPr lang="en-US" altLang="zh-CN" sz="2400" dirty="0"/>
              <a:t>, </a:t>
            </a:r>
            <a:r>
              <a:rPr lang="zh-CN" altLang="en-US" sz="2400" dirty="0"/>
              <a:t>连接着一条绳子</a:t>
            </a:r>
            <a:r>
              <a:rPr lang="en-US" altLang="zh-CN" sz="2400" dirty="0"/>
              <a:t>, </a:t>
            </a:r>
            <a:r>
              <a:rPr lang="zh-CN" altLang="en-US" sz="2400" dirty="0"/>
              <a:t>绳子仅受到重力作用而下垂</a:t>
            </a:r>
            <a:r>
              <a:rPr lang="en-US" altLang="zh-CN" sz="2400" dirty="0"/>
              <a:t>, </a:t>
            </a:r>
            <a:r>
              <a:rPr lang="zh-CN" altLang="en-US" sz="2400" dirty="0"/>
              <a:t>称之为悬链线</a:t>
            </a:r>
            <a:r>
              <a:rPr lang="en-US" altLang="zh-CN" sz="2400" dirty="0"/>
              <a:t>, </a:t>
            </a:r>
            <a:r>
              <a:rPr lang="zh-CN" altLang="en-US" sz="2400" dirty="0"/>
              <a:t>试推导此曲线方程</a:t>
            </a:r>
            <a:r>
              <a:rPr lang="en-US" altLang="zh-CN" sz="2400" dirty="0"/>
              <a:t>. </a:t>
            </a:r>
            <a:endParaRPr lang="zh-CN" altLang="en-US" sz="2400" dirty="0"/>
          </a:p>
        </p:txBody>
      </p:sp>
      <p:grpSp>
        <p:nvGrpSpPr>
          <p:cNvPr id="4" name="组合 3"/>
          <p:cNvGrpSpPr/>
          <p:nvPr/>
        </p:nvGrpSpPr>
        <p:grpSpPr>
          <a:xfrm>
            <a:off x="8098971" y="582375"/>
            <a:ext cx="3468915" cy="3158807"/>
            <a:chOff x="8098971" y="582375"/>
            <a:chExt cx="3468915" cy="3158807"/>
          </a:xfrm>
        </p:grpSpPr>
        <p:grpSp>
          <p:nvGrpSpPr>
            <p:cNvPr id="5" name="组合 4"/>
            <p:cNvGrpSpPr/>
            <p:nvPr/>
          </p:nvGrpSpPr>
          <p:grpSpPr>
            <a:xfrm>
              <a:off x="8098971" y="948755"/>
              <a:ext cx="3468915" cy="2792427"/>
              <a:chOff x="8098971" y="948755"/>
              <a:chExt cx="3468915" cy="2792427"/>
            </a:xfrm>
          </p:grpSpPr>
          <p:cxnSp>
            <p:nvCxnSpPr>
              <p:cNvPr id="7" name="直接箭头连接符 6"/>
              <p:cNvCxnSpPr/>
              <p:nvPr/>
            </p:nvCxnSpPr>
            <p:spPr>
              <a:xfrm>
                <a:off x="8098971" y="3396343"/>
                <a:ext cx="3468915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  <a:tailEnd type="triangle" w="med" len="lg"/>
              </a:ln>
              <a:effectLst/>
            </p:spPr>
          </p:cxnSp>
          <p:cxnSp>
            <p:nvCxnSpPr>
              <p:cNvPr id="8" name="直接箭头连接符 7"/>
              <p:cNvCxnSpPr/>
              <p:nvPr/>
            </p:nvCxnSpPr>
            <p:spPr>
              <a:xfrm flipV="1">
                <a:off x="9826172" y="1001486"/>
                <a:ext cx="0" cy="2739696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  <a:tailEnd type="triangle" w="med" len="lg"/>
              </a:ln>
              <a:effectLst/>
            </p:spPr>
          </p:cxnSp>
          <p:sp>
            <p:nvSpPr>
              <p:cNvPr id="9" name="椭圆 8"/>
              <p:cNvSpPr/>
              <p:nvPr/>
            </p:nvSpPr>
            <p:spPr>
              <a:xfrm>
                <a:off x="9792906" y="2610971"/>
                <a:ext cx="82614" cy="82614"/>
              </a:xfrm>
              <a:prstGeom prst="ellipse">
                <a:avLst/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0953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10199662" y="2529694"/>
                <a:ext cx="82614" cy="82614"/>
              </a:xfrm>
              <a:prstGeom prst="ellipse">
                <a:avLst/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0953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10559702" y="2313670"/>
                <a:ext cx="82614" cy="82614"/>
              </a:xfrm>
              <a:prstGeom prst="ellipse">
                <a:avLst/>
              </a:prstGeom>
              <a:solidFill>
                <a:sysClr val="windowText" lastClr="000000">
                  <a:lumMod val="95000"/>
                  <a:lumOff val="5000"/>
                </a:sysClr>
              </a:solidFill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0953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  <p:cxnSp>
            <p:nvCxnSpPr>
              <p:cNvPr id="12" name="直接箭头连接符 11"/>
              <p:cNvCxnSpPr/>
              <p:nvPr/>
            </p:nvCxnSpPr>
            <p:spPr>
              <a:xfrm flipH="1">
                <a:off x="8811908" y="2652278"/>
                <a:ext cx="1017892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  <a:tailEnd type="triangle" w="med" len="lg"/>
              </a:ln>
              <a:effectLst/>
            </p:spPr>
          </p:cxnSp>
          <p:cxnSp>
            <p:nvCxnSpPr>
              <p:cNvPr id="13" name="直接箭头连接符 12"/>
              <p:cNvCxnSpPr/>
              <p:nvPr/>
            </p:nvCxnSpPr>
            <p:spPr>
              <a:xfrm rot="16200000" flipH="1">
                <a:off x="9741548" y="3079947"/>
                <a:ext cx="1017892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  <a:tailEnd type="triangle" w="med" len="lg"/>
              </a:ln>
              <a:effectLst/>
            </p:spPr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10601009" y="2343621"/>
                <a:ext cx="533716" cy="7581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</a:ln>
              <a:effectLst/>
            </p:spPr>
          </p:cxnSp>
          <p:cxnSp>
            <p:nvCxnSpPr>
              <p:cNvPr id="15" name="直接连接符 14"/>
              <p:cNvCxnSpPr/>
              <p:nvPr/>
            </p:nvCxnSpPr>
            <p:spPr>
              <a:xfrm flipV="1">
                <a:off x="10595706" y="1981200"/>
                <a:ext cx="199294" cy="379360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</a:ln>
              <a:effectLst/>
            </p:spPr>
          </p:cxnSp>
          <p:sp>
            <p:nvSpPr>
              <p:cNvPr id="16" name="TextBox 28"/>
              <p:cNvSpPr txBox="1"/>
              <p:nvPr/>
            </p:nvSpPr>
            <p:spPr>
              <a:xfrm>
                <a:off x="9505950" y="3267075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09539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i="1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o</a:t>
                </a:r>
                <a:endParaRPr lang="zh-CN" altLang="en-US" sz="2000" i="1" dirty="0">
                  <a:solidFill>
                    <a:prstClr val="black"/>
                  </a:solidFill>
                  <a:latin typeface="Times New Roman" pitchFamily="18" charset="0"/>
                  <a:ea typeface="微软雅黑"/>
                  <a:cs typeface="Times New Roman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29"/>
                  <p:cNvSpPr txBox="1"/>
                  <p:nvPr/>
                </p:nvSpPr>
                <p:spPr>
                  <a:xfrm>
                    <a:off x="10269574" y="3371850"/>
                    <a:ext cx="6254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defTabSz="609539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𝑔𝑠</m:t>
                          </m:r>
                        </m:oMath>
                      </m:oMathPara>
                    </a14:m>
                    <a:endParaRPr lang="zh-CN" altLang="en-US" i="1" dirty="0">
                      <a:solidFill>
                        <a:prstClr val="black"/>
                      </a:solidFill>
                      <a:latin typeface="Times New Roman" pitchFamily="18" charset="0"/>
                      <a:ea typeface="微软雅黑"/>
                      <a:cs typeface="Times New Roman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" name="TextBox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69574" y="3371850"/>
                    <a:ext cx="625428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TextBox 30"/>
              <p:cNvSpPr txBox="1"/>
              <p:nvPr/>
            </p:nvSpPr>
            <p:spPr>
              <a:xfrm>
                <a:off x="9021586" y="2612649"/>
                <a:ext cx="83227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09539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i="1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A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(</a:t>
                </a:r>
                <a:r>
                  <a:rPr lang="en-US" altLang="zh-CN" sz="2000" i="1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a,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0)</a:t>
                </a:r>
                <a:endParaRPr lang="zh-CN" altLang="en-US" sz="2000" dirty="0">
                  <a:solidFill>
                    <a:prstClr val="black"/>
                  </a:solidFill>
                  <a:latin typeface="Times New Roman" pitchFamily="18" charset="0"/>
                  <a:ea typeface="微软雅黑"/>
                  <a:cs typeface="Times New Roman" pitchFamily="18" charset="0"/>
                </a:endParaRPr>
              </a:p>
            </p:txBody>
          </p:sp>
          <p:sp>
            <p:nvSpPr>
              <p:cNvPr id="19" name="TextBox 31"/>
              <p:cNvSpPr txBox="1"/>
              <p:nvPr/>
            </p:nvSpPr>
            <p:spPr>
              <a:xfrm>
                <a:off x="8507474" y="2494831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09539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i="1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H</a:t>
                </a:r>
                <a:endParaRPr lang="zh-CN" altLang="en-US" i="1" dirty="0">
                  <a:solidFill>
                    <a:prstClr val="black"/>
                  </a:solidFill>
                  <a:latin typeface="Times New Roman" pitchFamily="18" charset="0"/>
                  <a:ea typeface="微软雅黑"/>
                  <a:cs typeface="Times New Roman" pitchFamily="18" charset="0"/>
                </a:endParaRPr>
              </a:p>
            </p:txBody>
          </p:sp>
          <p:sp>
            <p:nvSpPr>
              <p:cNvPr id="20" name="TextBox 32"/>
              <p:cNvSpPr txBox="1"/>
              <p:nvPr/>
            </p:nvSpPr>
            <p:spPr>
              <a:xfrm>
                <a:off x="9873530" y="948755"/>
                <a:ext cx="2984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09539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i="1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y</a:t>
                </a:r>
                <a:endParaRPr lang="zh-CN" altLang="en-US" sz="2000" i="1" dirty="0">
                  <a:solidFill>
                    <a:prstClr val="black"/>
                  </a:solidFill>
                  <a:latin typeface="Times New Roman" pitchFamily="18" charset="0"/>
                  <a:ea typeface="微软雅黑"/>
                  <a:cs typeface="Times New Roman" pitchFamily="18" charset="0"/>
                </a:endParaRPr>
              </a:p>
            </p:txBody>
          </p:sp>
          <p:sp>
            <p:nvSpPr>
              <p:cNvPr id="21" name="TextBox 33"/>
              <p:cNvSpPr txBox="1"/>
              <p:nvPr/>
            </p:nvSpPr>
            <p:spPr>
              <a:xfrm>
                <a:off x="10559702" y="2277666"/>
                <a:ext cx="7938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09539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i="1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M</a:t>
                </a:r>
                <a:r>
                  <a:rPr lang="en-US" altLang="zh-CN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(</a:t>
                </a:r>
                <a:r>
                  <a:rPr lang="en-US" altLang="zh-CN" i="1" dirty="0" err="1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x,y</a:t>
                </a:r>
                <a:r>
                  <a:rPr lang="en-US" altLang="zh-CN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)</a:t>
                </a:r>
                <a:endParaRPr lang="zh-CN" altLang="en-US" dirty="0">
                  <a:solidFill>
                    <a:prstClr val="black"/>
                  </a:solidFill>
                  <a:latin typeface="Times New Roman" pitchFamily="18" charset="0"/>
                  <a:ea typeface="微软雅黑"/>
                  <a:cs typeface="Times New Roman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34"/>
                  <p:cNvSpPr txBox="1"/>
                  <p:nvPr/>
                </p:nvSpPr>
                <p:spPr>
                  <a:xfrm>
                    <a:off x="10739722" y="1989634"/>
                    <a:ext cx="37895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defTabSz="609539" fontAlgn="auto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 dirty="0" smtClean="0">
                              <a:solidFill>
                                <a:prstClr val="black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zh-CN" altLang="en-US" i="1" dirty="0">
                      <a:solidFill>
                        <a:prstClr val="black"/>
                      </a:solidFill>
                      <a:latin typeface="Times New Roman" pitchFamily="18" charset="0"/>
                      <a:ea typeface="微软雅黑"/>
                      <a:cs typeface="Times New Roman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2" name="TextBox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39722" y="1989634"/>
                    <a:ext cx="37895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TextBox 35"/>
              <p:cNvSpPr txBox="1"/>
              <p:nvPr/>
            </p:nvSpPr>
            <p:spPr>
              <a:xfrm>
                <a:off x="10858954" y="1681411"/>
                <a:ext cx="325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09539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T</a:t>
                </a:r>
                <a:endParaRPr lang="zh-CN" altLang="en-US" dirty="0">
                  <a:solidFill>
                    <a:prstClr val="black"/>
                  </a:solidFill>
                  <a:latin typeface="Times New Roman" pitchFamily="18" charset="0"/>
                  <a:ea typeface="微软雅黑"/>
                  <a:cs typeface="Times New Roman" pitchFamily="18" charset="0"/>
                </a:endParaRPr>
              </a:p>
            </p:txBody>
          </p:sp>
          <p:sp>
            <p:nvSpPr>
              <p:cNvPr id="24" name="TextBox 36"/>
              <p:cNvSpPr txBox="1"/>
              <p:nvPr/>
            </p:nvSpPr>
            <p:spPr>
              <a:xfrm>
                <a:off x="11101858" y="3298540"/>
                <a:ext cx="2984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09539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 i="1" dirty="0" smtClean="0">
                    <a:solidFill>
                      <a:prstClr val="black"/>
                    </a:solidFill>
                    <a:latin typeface="Times New Roman" pitchFamily="18" charset="0"/>
                    <a:ea typeface="微软雅黑"/>
                    <a:cs typeface="Times New Roman" pitchFamily="18" charset="0"/>
                  </a:rPr>
                  <a:t>x</a:t>
                </a:r>
                <a:endParaRPr lang="zh-CN" altLang="en-US" sz="2000" i="1" dirty="0">
                  <a:solidFill>
                    <a:prstClr val="black"/>
                  </a:solidFill>
                  <a:latin typeface="Times New Roman" pitchFamily="18" charset="0"/>
                  <a:ea typeface="微软雅黑"/>
                  <a:cs typeface="Times New Roman" pitchFamily="18" charset="0"/>
                </a:endParaRPr>
              </a:p>
            </p:txBody>
          </p:sp>
          <p:sp>
            <p:nvSpPr>
              <p:cNvPr id="25" name="弧形 24"/>
              <p:cNvSpPr/>
              <p:nvPr/>
            </p:nvSpPr>
            <p:spPr>
              <a:xfrm rot="1995801">
                <a:off x="10608515" y="2200719"/>
                <a:ext cx="173676" cy="217165"/>
              </a:xfrm>
              <a:prstGeom prst="arc">
                <a:avLst>
                  <a:gd name="adj1" fmla="val 13776350"/>
                  <a:gd name="adj2" fmla="val 0"/>
                </a:avLst>
              </a:prstGeom>
              <a:noFill/>
              <a:ln w="9525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0953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p:grpSp>
        <p:sp>
          <p:nvSpPr>
            <p:cNvPr id="6" name="弧形 5"/>
            <p:cNvSpPr/>
            <p:nvPr/>
          </p:nvSpPr>
          <p:spPr>
            <a:xfrm rot="5400000" flipV="1">
              <a:off x="8786228" y="492525"/>
              <a:ext cx="2059076" cy="2238776"/>
            </a:xfrm>
            <a:prstGeom prst="arc">
              <a:avLst>
                <a:gd name="adj1" fmla="val 17069337"/>
                <a:gd name="adj2" fmla="val 4440780"/>
              </a:avLst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1364242" y="1348865"/>
                <a:ext cx="2927853" cy="8438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242" y="1348865"/>
                <a:ext cx="2927853" cy="8438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/>
          <p:cNvSpPr/>
          <p:nvPr/>
        </p:nvSpPr>
        <p:spPr>
          <a:xfrm>
            <a:off x="556707" y="1565982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解：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1356926" y="2309848"/>
                <a:ext cx="349102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设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/>
                  <a:t>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926" y="2309848"/>
                <a:ext cx="3491020" cy="461665"/>
              </a:xfrm>
              <a:prstGeom prst="rect">
                <a:avLst/>
              </a:prstGeom>
              <a:blipFill>
                <a:blip r:embed="rId5"/>
                <a:stretch>
                  <a:fillRect l="-1399" t="-127632" b="-197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1356926" y="2864163"/>
                <a:ext cx="2213619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926" y="2864163"/>
                <a:ext cx="2213619" cy="6341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3403839" y="2945562"/>
                <a:ext cx="1691425" cy="4614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mtClean="0">
                        <a:latin typeface="Cambria Math" panose="02040503050406030204" pitchFamily="18" charset="0"/>
                      </a:rPr>
                      <m:t>设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常数</m:t>
                    </m:r>
                    <m:f>
                      <m:f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den>
                    </m:f>
                  </m:oMath>
                </a14:m>
                <a:r>
                  <a:rPr lang="zh-CN" altLang="en-US" dirty="0" smtClean="0"/>
                  <a:t>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839" y="2945562"/>
                <a:ext cx="1691425" cy="461473"/>
              </a:xfrm>
              <a:prstGeom prst="rect">
                <a:avLst/>
              </a:prstGeom>
              <a:blipFill>
                <a:blip r:embed="rId7"/>
                <a:stretch>
                  <a:fillRect l="-1079" t="-3947" r="-360"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1427593" y="3653051"/>
                <a:ext cx="3945632" cy="6450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/>
                  <a:t> 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93" y="3653051"/>
                <a:ext cx="3945632" cy="6450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1427593" y="4837646"/>
                <a:ext cx="3432158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𝑏𝑥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𝑏𝑥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93" y="4837646"/>
                <a:ext cx="3432158" cy="6341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1427593" y="4311145"/>
                <a:ext cx="2751907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zh-CN" alt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𝑏𝑥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593" y="4311145"/>
                <a:ext cx="2751907" cy="53957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1428663" y="5517319"/>
                <a:ext cx="3632789" cy="7861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𝑏𝑥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𝑏𝑥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663" y="5517319"/>
                <a:ext cx="3632789" cy="7861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5298069" y="3712557"/>
                <a:ext cx="430412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代入初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值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 </a:t>
                </a:r>
                <a:r>
                  <a:rPr lang="zh-CN" altLang="en-US" sz="2400" dirty="0" smtClean="0">
                    <a:solidFill>
                      <a:srgbClr val="000000"/>
                    </a:solidFill>
                  </a:rPr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069" y="3712557"/>
                <a:ext cx="4304127" cy="461665"/>
              </a:xfrm>
              <a:prstGeom prst="rect">
                <a:avLst/>
              </a:prstGeom>
              <a:blipFill>
                <a:blip r:embed="rId12"/>
                <a:stretch>
                  <a:fillRect l="-2125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5314388" y="4929532"/>
                <a:ext cx="4741106" cy="6158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代入初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值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</a:rPr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4388" y="4929532"/>
                <a:ext cx="4741106" cy="615874"/>
              </a:xfrm>
              <a:prstGeom prst="rect">
                <a:avLst/>
              </a:prstGeom>
              <a:blipFill>
                <a:blip r:embed="rId13"/>
                <a:stretch>
                  <a:fillRect l="-2057" b="-4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/>
              <p:cNvSpPr/>
              <p:nvPr/>
            </p:nvSpPr>
            <p:spPr>
              <a:xfrm>
                <a:off x="5298069" y="5617715"/>
                <a:ext cx="6006260" cy="6158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该</a:t>
                </a:r>
                <a:r>
                  <a:rPr lang="zh-CN" altLang="en-US" sz="2400" dirty="0"/>
                  <a:t>悬链线</a:t>
                </a:r>
                <a:r>
                  <a:rPr lang="zh-CN" altLang="en-US" sz="2400" dirty="0" smtClean="0">
                    <a:solidFill>
                      <a:srgbClr val="000000"/>
                    </a:solidFill>
                  </a:rPr>
                  <a:t>方程为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𝑏𝑥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𝑏𝑥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7" name="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069" y="5617715"/>
                <a:ext cx="6006260" cy="615874"/>
              </a:xfrm>
              <a:prstGeom prst="rect">
                <a:avLst/>
              </a:prstGeom>
              <a:blipFill>
                <a:blip r:embed="rId14"/>
                <a:stretch>
                  <a:fillRect l="-1523" b="-4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/>
          <p:cNvSpPr/>
          <p:nvPr/>
        </p:nvSpPr>
        <p:spPr>
          <a:xfrm>
            <a:off x="556346" y="-1025"/>
            <a:ext cx="3241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第五节 可降阶的高阶微分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366319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9"/>
          <p:cNvSpPr>
            <a:spLocks noChangeArrowheads="1"/>
          </p:cNvSpPr>
          <p:nvPr/>
        </p:nvSpPr>
        <p:spPr bwMode="auto">
          <a:xfrm>
            <a:off x="1524000" y="0"/>
            <a:ext cx="9144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B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8612" name="Rectangle 10"/>
          <p:cNvSpPr>
            <a:spLocks noChangeArrowheads="1"/>
          </p:cNvSpPr>
          <p:nvPr/>
        </p:nvSpPr>
        <p:spPr bwMode="auto">
          <a:xfrm>
            <a:off x="2705100" y="611348"/>
            <a:ext cx="79629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400" dirty="0">
                <a:latin typeface="华文行楷" panose="02010800040101010101" pitchFamily="2" charset="-122"/>
                <a:ea typeface="华文新魏" panose="02010800040101010101" pitchFamily="2" charset="-122"/>
              </a:rPr>
              <a:t>第六节 高阶线性微分</a:t>
            </a:r>
            <a:r>
              <a:rPr lang="zh-CN" altLang="en-US" sz="4400" dirty="0">
                <a:ea typeface="华文新魏" panose="02010800040101010101" pitchFamily="2" charset="-122"/>
              </a:rPr>
              <a:t>方程</a:t>
            </a:r>
          </a:p>
        </p:txBody>
      </p:sp>
      <p:sp>
        <p:nvSpPr>
          <p:cNvPr id="68613" name="Rectangle 11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579814" y="1738314"/>
            <a:ext cx="492442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i="1" dirty="0">
                <a:latin typeface="Times New Roman" panose="02020603050405020304" pitchFamily="18" charset="0"/>
                <a:ea typeface="黑体" panose="02010609060101010101" pitchFamily="49" charset="-122"/>
              </a:rPr>
              <a:t>一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、二阶线性</a:t>
            </a:r>
            <a:r>
              <a:rPr kumimoji="1"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微分方程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概念</a:t>
            </a:r>
          </a:p>
        </p:txBody>
      </p:sp>
      <p:sp>
        <p:nvSpPr>
          <p:cNvPr id="68614" name="Rectangle 1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592514" y="2655889"/>
            <a:ext cx="615553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二、齐次线性微分方程的解的结构</a:t>
            </a:r>
          </a:p>
        </p:txBody>
      </p:sp>
      <p:sp>
        <p:nvSpPr>
          <p:cNvPr id="68615" name="Rectangle 13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3554413" y="3671889"/>
            <a:ext cx="65659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三</a:t>
            </a:r>
            <a:r>
              <a:rPr kumimoji="1"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非</a:t>
            </a:r>
            <a:r>
              <a:rPr kumimoji="1"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齐次线性微分方程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的解的结构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BB3958-B6A0-4F34-903F-ED97B71F4B04}" type="datetime11">
              <a:rPr lang="zh-CN" altLang="en-US" smtClean="0"/>
              <a:t>15:29:49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ChangeArrowheads="1"/>
          </p:cNvSpPr>
          <p:nvPr/>
        </p:nvSpPr>
        <p:spPr bwMode="auto">
          <a:xfrm>
            <a:off x="1485900" y="1025934"/>
            <a:ext cx="5410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solidFill>
                  <a:srgbClr val="0000FF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ea typeface="黑体" panose="02010609060101010101" pitchFamily="49" charset="-122"/>
              </a:rPr>
              <a:t>阶线性微分方程</a:t>
            </a:r>
            <a:r>
              <a:rPr lang="zh-CN" altLang="en-US" sz="2400" dirty="0">
                <a:ea typeface="黑体" panose="02010609060101010101" pitchFamily="49" charset="-122"/>
              </a:rPr>
              <a:t>的一般形式为</a:t>
            </a:r>
          </a:p>
        </p:txBody>
      </p:sp>
      <p:sp>
        <p:nvSpPr>
          <p:cNvPr id="313354" name="Text Box 10"/>
          <p:cNvSpPr txBox="1">
            <a:spLocks noChangeArrowheads="1"/>
          </p:cNvSpPr>
          <p:nvPr/>
        </p:nvSpPr>
        <p:spPr bwMode="auto">
          <a:xfrm>
            <a:off x="5888241" y="2260801"/>
            <a:ext cx="38122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其余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称为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非齐次线性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方程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3356" name="Text Box 12"/>
              <p:cNvSpPr txBox="1">
                <a:spLocks noChangeArrowheads="1"/>
              </p:cNvSpPr>
              <p:nvPr/>
            </p:nvSpPr>
            <p:spPr bwMode="auto">
              <a:xfrm>
                <a:off x="1491365" y="2260874"/>
                <a:ext cx="436382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eaLnBrk="1" hangingPunct="1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)≡0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时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称为齐次线性</a:t>
                </a: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方程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313356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1365" y="2260874"/>
                <a:ext cx="4363823" cy="461665"/>
              </a:xfrm>
              <a:prstGeom prst="rect">
                <a:avLst/>
              </a:prstGeom>
              <a:blipFill>
                <a:blip r:embed="rId3"/>
                <a:stretch>
                  <a:fillRect l="-1259" t="-14474" r="-1259" b="-302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3358" name="Text Box 14"/>
          <p:cNvSpPr txBox="1">
            <a:spLocks noChangeArrowheads="1"/>
          </p:cNvSpPr>
          <p:nvPr/>
        </p:nvSpPr>
        <p:spPr bwMode="auto">
          <a:xfrm>
            <a:off x="1485900" y="3809471"/>
            <a:ext cx="3505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复习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一阶线性方程</a:t>
            </a:r>
          </a:p>
        </p:txBody>
      </p:sp>
      <p:graphicFrame>
        <p:nvGraphicFramePr>
          <p:cNvPr id="31335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635805"/>
              </p:ext>
            </p:extLst>
          </p:nvPr>
        </p:nvGraphicFramePr>
        <p:xfrm>
          <a:off x="4639129" y="3879726"/>
          <a:ext cx="2256971" cy="356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26" name="Equation" r:id="rId4" imgW="2638442" imgH="400010" progId="Equation.3">
                  <p:embed/>
                </p:oleObj>
              </mc:Choice>
              <mc:Fallback>
                <p:oleObj name="Equation" r:id="rId4" imgW="2638442" imgH="40001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9129" y="3879726"/>
                        <a:ext cx="2256971" cy="3563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60" name="Text Box 16"/>
          <p:cNvSpPr txBox="1">
            <a:spLocks noChangeArrowheads="1"/>
          </p:cNvSpPr>
          <p:nvPr/>
        </p:nvSpPr>
        <p:spPr bwMode="auto">
          <a:xfrm>
            <a:off x="1714500" y="4509558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通解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31336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019452"/>
              </p:ext>
            </p:extLst>
          </p:nvPr>
        </p:nvGraphicFramePr>
        <p:xfrm>
          <a:off x="4728495" y="4425147"/>
          <a:ext cx="3832290" cy="596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27" name="Equation" r:id="rId6" imgW="4390947" imgH="666825" progId="Equation.3">
                  <p:embed/>
                </p:oleObj>
              </mc:Choice>
              <mc:Fallback>
                <p:oleObj name="Equation" r:id="rId6" imgW="4390947" imgH="66682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8495" y="4425147"/>
                        <a:ext cx="3832290" cy="5963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6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188080"/>
              </p:ext>
            </p:extLst>
          </p:nvPr>
        </p:nvGraphicFramePr>
        <p:xfrm>
          <a:off x="2717800" y="4444582"/>
          <a:ext cx="1921329" cy="512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28" name="Equation" r:id="rId8" imgW="2267056" imgH="590713" progId="Equation.3">
                  <p:embed/>
                </p:oleObj>
              </mc:Choice>
              <mc:Fallback>
                <p:oleObj name="Equation" r:id="rId8" imgW="2267056" imgH="590713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4444582"/>
                        <a:ext cx="1921329" cy="512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63" name="Line 19"/>
          <p:cNvSpPr>
            <a:spLocks noChangeShapeType="1"/>
          </p:cNvSpPr>
          <p:nvPr/>
        </p:nvSpPr>
        <p:spPr bwMode="auto">
          <a:xfrm>
            <a:off x="5308600" y="5028670"/>
            <a:ext cx="3124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13364" name="Text Box 20"/>
          <p:cNvSpPr txBox="1">
            <a:spLocks noChangeArrowheads="1"/>
          </p:cNvSpPr>
          <p:nvPr/>
        </p:nvSpPr>
        <p:spPr bwMode="auto">
          <a:xfrm>
            <a:off x="5613400" y="5104870"/>
            <a:ext cx="34746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非齐</a:t>
            </a:r>
            <a:r>
              <a:rPr kumimoji="1" lang="zh-CN" alt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次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线性</a:t>
            </a:r>
            <a:r>
              <a:rPr kumimoji="1" lang="zh-CN" alt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方程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特解</a:t>
            </a:r>
          </a:p>
        </p:txBody>
      </p:sp>
      <p:sp>
        <p:nvSpPr>
          <p:cNvPr id="313365" name="Line 21"/>
          <p:cNvSpPr>
            <a:spLocks noChangeShapeType="1"/>
          </p:cNvSpPr>
          <p:nvPr/>
        </p:nvSpPr>
        <p:spPr bwMode="auto">
          <a:xfrm>
            <a:off x="3314700" y="5028670"/>
            <a:ext cx="1238639" cy="1428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/>
          </a:p>
        </p:txBody>
      </p:sp>
      <p:sp>
        <p:nvSpPr>
          <p:cNvPr id="313366" name="Text Box 22"/>
          <p:cNvSpPr txBox="1">
            <a:spLocks noChangeArrowheads="1"/>
          </p:cNvSpPr>
          <p:nvPr/>
        </p:nvSpPr>
        <p:spPr bwMode="auto">
          <a:xfrm>
            <a:off x="2610239" y="5119698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齐</a:t>
            </a:r>
            <a:r>
              <a:rPr kumimoji="1" lang="zh-CN" alt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次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线性</a:t>
            </a:r>
            <a:r>
              <a:rPr kumimoji="1" lang="zh-CN" altLang="en-US" sz="2400" dirty="0" smtClean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方程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通解</a:t>
            </a:r>
            <a:r>
              <a:rPr kumimoji="1"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</a:p>
        </p:txBody>
      </p:sp>
      <p:graphicFrame>
        <p:nvGraphicFramePr>
          <p:cNvPr id="31336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12186"/>
              </p:ext>
            </p:extLst>
          </p:nvPr>
        </p:nvGraphicFramePr>
        <p:xfrm>
          <a:off x="8432800" y="5021526"/>
          <a:ext cx="381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29" name="Equation" r:id="rId10" imgW="362123" imgH="485848" progId="Equation.3">
                  <p:embed/>
                </p:oleObj>
              </mc:Choice>
              <mc:Fallback>
                <p:oleObj name="Equation" r:id="rId10" imgW="362123" imgH="485848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2800" y="5021526"/>
                        <a:ext cx="381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71" name="Line 27"/>
          <p:cNvSpPr>
            <a:spLocks noChangeShapeType="1"/>
          </p:cNvSpPr>
          <p:nvPr/>
        </p:nvSpPr>
        <p:spPr bwMode="auto">
          <a:xfrm>
            <a:off x="1562100" y="3733270"/>
            <a:ext cx="3962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69658" name="Rectangle 28"/>
          <p:cNvSpPr>
            <a:spLocks noChangeArrowheads="1"/>
          </p:cNvSpPr>
          <p:nvPr/>
        </p:nvSpPr>
        <p:spPr bwMode="auto">
          <a:xfrm>
            <a:off x="705434" y="412762"/>
            <a:ext cx="5410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4700"/>
                    </a:gs>
                    <a:gs pos="100000">
                      <a:srgbClr val="009900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一</a:t>
            </a:r>
            <a:r>
              <a:rPr lang="zh-CN" altLang="en-US" sz="2800" b="1" dirty="0" smtClean="0">
                <a:ea typeface="黑体" panose="02010609060101010101" pitchFamily="49" charset="-122"/>
              </a:rPr>
              <a:t>、</a:t>
            </a:r>
            <a:r>
              <a:rPr lang="en-US" altLang="zh-CN" sz="2800" b="1" i="1" dirty="0" smtClean="0">
                <a:ea typeface="黑体" panose="02010609060101010101" pitchFamily="49" charset="-122"/>
              </a:rPr>
              <a:t>n </a:t>
            </a:r>
            <a:r>
              <a:rPr lang="zh-CN" altLang="en-US" sz="2800" b="1" dirty="0" smtClean="0">
                <a:ea typeface="黑体" panose="02010609060101010101" pitchFamily="49" charset="-122"/>
              </a:rPr>
              <a:t>阶</a:t>
            </a:r>
            <a:r>
              <a:rPr lang="zh-CN" altLang="en-US" sz="2800" b="1" dirty="0">
                <a:ea typeface="黑体" panose="02010609060101010101" pitchFamily="49" charset="-122"/>
              </a:rPr>
              <a:t>线性</a:t>
            </a:r>
            <a:r>
              <a:rPr lang="zh-CN" altLang="en-US" sz="2800" b="1" dirty="0" smtClean="0">
                <a:ea typeface="黑体" panose="02010609060101010101" pitchFamily="49" charset="-122"/>
              </a:rPr>
              <a:t>微分方程概念 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E6136EE-1FFE-4510-8D8A-9D185EA3D288}" type="datetime11">
              <a:rPr lang="zh-CN" altLang="en-US" smtClean="0"/>
              <a:t>15:29:49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209800" y="1703463"/>
                <a:ext cx="7374776" cy="5162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 smtClean="0">
                                <a:solidFill>
                                  <a:srgbClr val="CC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CC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CC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CC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en-US" sz="2400" i="1" smtClean="0">
                                <a:solidFill>
                                  <a:srgbClr val="CC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CC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CC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CC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sz="2400" i="0">
                                    <a:solidFill>
                                      <a:srgbClr val="CC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+⋯+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en-US" sz="2400" i="1" smtClean="0">
                                <a:solidFill>
                                  <a:srgbClr val="CC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CC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 i="0">
                                <a:solidFill>
                                  <a:srgbClr val="CC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sz="2400" i="1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1703463"/>
                <a:ext cx="7374776" cy="51629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4719942" y="2762521"/>
                <a:ext cx="2514984" cy="6687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942" y="2762521"/>
                <a:ext cx="2514984" cy="6687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7661210" y="2674803"/>
                <a:ext cx="2927853" cy="8438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210" y="2674803"/>
                <a:ext cx="2927853" cy="84388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355941" y="2865912"/>
                <a:ext cx="285071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400" smtClean="0">
                          <a:solidFill>
                            <a:srgbClr val="000000"/>
                          </a:solidFill>
                        </a:rPr>
                        <m:t> 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 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nor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 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 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941" y="2865912"/>
                <a:ext cx="2850717" cy="461665"/>
              </a:xfrm>
              <a:prstGeom prst="rect">
                <a:avLst/>
              </a:prstGeom>
              <a:blipFill>
                <a:blip r:embed="rId15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458572" y="-4289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第六节 高阶线性微分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3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3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3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3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6" grpId="0"/>
      <p:bldP spid="313354" grpId="0"/>
      <p:bldP spid="313356" grpId="0"/>
      <p:bldP spid="313358" grpId="0"/>
      <p:bldP spid="313360" grpId="0"/>
      <p:bldP spid="313363" grpId="0" animBg="1"/>
      <p:bldP spid="313364" grpId="0"/>
      <p:bldP spid="313365" grpId="0" animBg="1"/>
      <p:bldP spid="313366" grpId="0"/>
      <p:bldP spid="313371" grpId="0" animBg="1"/>
      <p:bldP spid="4" grpId="0"/>
      <p:bldP spid="33" grpId="0"/>
      <p:bldP spid="34" grpId="0"/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3" name="Text Box 5"/>
          <p:cNvSpPr txBox="1">
            <a:spLocks noChangeArrowheads="1"/>
          </p:cNvSpPr>
          <p:nvPr/>
        </p:nvSpPr>
        <p:spPr bwMode="auto">
          <a:xfrm>
            <a:off x="1846877" y="5877467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证毕</a:t>
            </a:r>
          </a:p>
        </p:txBody>
      </p:sp>
      <p:sp>
        <p:nvSpPr>
          <p:cNvPr id="314378" name="Text Box 10"/>
          <p:cNvSpPr txBox="1">
            <a:spLocks noChangeArrowheads="1"/>
          </p:cNvSpPr>
          <p:nvPr/>
        </p:nvSpPr>
        <p:spPr bwMode="auto">
          <a:xfrm>
            <a:off x="2384086" y="2134547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Cambria Math" panose="02040503050406030204" pitchFamily="18" charset="0"/>
              </a:rPr>
              <a:t>的两个解</a:t>
            </a:r>
            <a:r>
              <a:rPr lang="en-US" altLang="zh-CN" sz="2400" dirty="0">
                <a:latin typeface="Cambria Math" panose="02040503050406030204" pitchFamily="18" charset="0"/>
              </a:rPr>
              <a:t>,</a:t>
            </a:r>
          </a:p>
        </p:txBody>
      </p:sp>
      <p:sp>
        <p:nvSpPr>
          <p:cNvPr id="314379" name="Text Box 11"/>
          <p:cNvSpPr txBox="1">
            <a:spLocks noChangeArrowheads="1"/>
          </p:cNvSpPr>
          <p:nvPr/>
        </p:nvSpPr>
        <p:spPr bwMode="auto">
          <a:xfrm>
            <a:off x="2342177" y="2735264"/>
            <a:ext cx="2819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Cambria Math" panose="02040503050406030204" pitchFamily="18" charset="0"/>
              </a:rPr>
              <a:t>也是该方程的解</a:t>
            </a:r>
            <a:r>
              <a:rPr lang="en-US" altLang="zh-CN" sz="2400" dirty="0">
                <a:latin typeface="Cambria Math" panose="02040503050406030204" pitchFamily="18" charset="0"/>
              </a:rPr>
              <a:t>.</a:t>
            </a:r>
          </a:p>
        </p:txBody>
      </p:sp>
      <p:sp>
        <p:nvSpPr>
          <p:cNvPr id="314380" name="Text Box 12"/>
          <p:cNvSpPr txBox="1">
            <a:spLocks noChangeArrowheads="1"/>
          </p:cNvSpPr>
          <p:nvPr/>
        </p:nvSpPr>
        <p:spPr bwMode="auto">
          <a:xfrm>
            <a:off x="1371600" y="3358212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kumimoji="1"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14382" name="Text Box 14"/>
          <p:cNvSpPr txBox="1">
            <a:spLocks noChangeArrowheads="1"/>
          </p:cNvSpPr>
          <p:nvPr/>
        </p:nvSpPr>
        <p:spPr bwMode="auto">
          <a:xfrm>
            <a:off x="5626894" y="3356297"/>
            <a:ext cx="3048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>
                <a:latin typeface="Cambria Math" panose="02040503050406030204" pitchFamily="18" charset="0"/>
              </a:rPr>
              <a:t>代入方程左边</a:t>
            </a:r>
            <a:r>
              <a:rPr lang="en-US" altLang="zh-CN" sz="2400" dirty="0">
                <a:latin typeface="Cambria Math" panose="02040503050406030204" pitchFamily="18" charset="0"/>
              </a:rPr>
              <a:t>, </a:t>
            </a:r>
            <a:r>
              <a:rPr lang="zh-CN" altLang="en-US" sz="2400" dirty="0">
                <a:latin typeface="Cambria Math" panose="02040503050406030204" pitchFamily="18" charset="0"/>
              </a:rPr>
              <a:t>得</a:t>
            </a:r>
          </a:p>
        </p:txBody>
      </p:sp>
      <p:sp>
        <p:nvSpPr>
          <p:cNvPr id="314389" name="Text Box 21"/>
          <p:cNvSpPr txBox="1">
            <a:spLocks noChangeArrowheads="1"/>
          </p:cNvSpPr>
          <p:nvPr/>
        </p:nvSpPr>
        <p:spPr bwMode="auto">
          <a:xfrm>
            <a:off x="4873324" y="2708275"/>
            <a:ext cx="16979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叠加原理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</a:p>
        </p:txBody>
      </p:sp>
      <p:sp>
        <p:nvSpPr>
          <p:cNvPr id="70679" name="Text Box 23"/>
          <p:cNvSpPr txBox="1">
            <a:spLocks noChangeArrowheads="1"/>
          </p:cNvSpPr>
          <p:nvPr/>
        </p:nvSpPr>
        <p:spPr bwMode="auto">
          <a:xfrm>
            <a:off x="7375525" y="2101851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1" lang="zh-CN" altLang="zh-CN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14393" name="Text Box 25"/>
          <p:cNvSpPr txBox="1">
            <a:spLocks noChangeArrowheads="1"/>
          </p:cNvSpPr>
          <p:nvPr/>
        </p:nvSpPr>
        <p:spPr bwMode="auto">
          <a:xfrm>
            <a:off x="1349829" y="1051249"/>
            <a:ext cx="10342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7FC881-37D1-4FCD-8631-9B313D8D8416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27" name="Rectangle 28"/>
          <p:cNvSpPr>
            <a:spLocks noChangeArrowheads="1"/>
          </p:cNvSpPr>
          <p:nvPr/>
        </p:nvSpPr>
        <p:spPr bwMode="auto">
          <a:xfrm>
            <a:off x="705434" y="412762"/>
            <a:ext cx="5410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4700"/>
                    </a:gs>
                    <a:gs pos="100000">
                      <a:srgbClr val="009900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 smtClean="0">
                <a:ea typeface="黑体" panose="02010609060101010101" pitchFamily="49" charset="-122"/>
              </a:rPr>
              <a:t>二、齐次线性微分方程</a:t>
            </a:r>
            <a:r>
              <a:rPr lang="zh-CN" altLang="en-US" sz="2800" b="1" dirty="0">
                <a:ea typeface="黑体" panose="02010609060101010101" pitchFamily="49" charset="-122"/>
              </a:rPr>
              <a:t>解的结构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384086" y="1030613"/>
                <a:ext cx="555498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函数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</a:rPr>
                  <a:t>是二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阶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齐次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线性方程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086" y="1030613"/>
                <a:ext cx="5554982" cy="461665"/>
              </a:xfrm>
              <a:prstGeom prst="rect">
                <a:avLst/>
              </a:prstGeom>
              <a:blipFill>
                <a:blip r:embed="rId2"/>
                <a:stretch>
                  <a:fillRect l="-878" t="-127632" r="-768" b="-197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900751" y="2130574"/>
                <a:ext cx="629871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则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)+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为任意常数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751" y="2130574"/>
                <a:ext cx="6298712" cy="461665"/>
              </a:xfrm>
              <a:prstGeom prst="rect">
                <a:avLst/>
              </a:prstGeom>
              <a:blipFill>
                <a:blip r:embed="rId3"/>
                <a:stretch>
                  <a:fillRect l="-871" t="-129333" b="-20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2079225" y="3356297"/>
                <a:ext cx="364304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 smtClean="0">
                            <a:latin typeface="Cambria Math" panose="02040503050406030204" pitchFamily="18" charset="0"/>
                          </a:rPr>
                          <m:t>将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)+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225" y="3356297"/>
                <a:ext cx="3643049" cy="461665"/>
              </a:xfrm>
              <a:prstGeom prst="rect">
                <a:avLst/>
              </a:prstGeom>
              <a:blipFill>
                <a:blip r:embed="rId4"/>
                <a:stretch>
                  <a:fillRect l="-1338" t="-129333" r="-17057" b="-20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863077" y="3981474"/>
                <a:ext cx="8595238" cy="4984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zh-CN" altLang="en-US" sz="2400"/>
                      <m:t> 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]+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)[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b="0" smtClean="0"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nor/>
                      </m:rPr>
                      <a:rPr lang="zh-CN" altLang="en-US" sz="2400">
                        <a:latin typeface="Cambria Math" panose="02040503050406030204" pitchFamily="18" charset="0"/>
                      </a:rPr>
                      <m:t> </m:t>
                    </m:r>
                  </m:oMath>
                </a14:m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]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077" y="3981474"/>
                <a:ext cx="8595238" cy="498406"/>
              </a:xfrm>
              <a:prstGeom prst="rect">
                <a:avLst/>
              </a:prstGeom>
              <a:blipFill>
                <a:blip r:embed="rId5"/>
                <a:stretch>
                  <a:fillRect l="-638" t="-119512" r="-4326" b="-174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863077" y="4657791"/>
                <a:ext cx="8452057" cy="5248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endChr m:val="]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″</m:t>
                                </m:r>
                              </m:sup>
                            </m:sSup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]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″</m:t>
                                </m:r>
                              </m:sup>
                            </m:sSup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077" y="4657791"/>
                <a:ext cx="8452057" cy="5248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821204" y="5403332"/>
                <a:ext cx="75424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204" y="5403332"/>
                <a:ext cx="75424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椭圆形标注 13"/>
          <p:cNvSpPr/>
          <p:nvPr/>
        </p:nvSpPr>
        <p:spPr bwMode="auto">
          <a:xfrm>
            <a:off x="8229600" y="3106462"/>
            <a:ext cx="3570536" cy="389513"/>
          </a:xfrm>
          <a:prstGeom prst="wedgeEllipseCallout">
            <a:avLst>
              <a:gd name="adj1" fmla="val -91262"/>
              <a:gd name="adj2" fmla="val -16358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  <a:ea typeface="宋体" pitchFamily="2" charset="-122"/>
              </a:rPr>
              <a:t>两个任意常数！通解否？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3301847" y="1557447"/>
                <a:ext cx="37719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nor/>
                        </m:rPr>
                        <a:rPr lang="zh-CN" altLang="en-US" sz="2400" i="1">
                          <a:latin typeface="Cambria Math" panose="02040503050406030204" pitchFamily="18" charset="0"/>
                        </a:rPr>
                        <m:t>  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400" i="1">
                          <a:latin typeface="Cambria Math" panose="02040503050406030204" pitchFamily="18" charset="0"/>
                        </a:rPr>
                        <m:t>  </m:t>
                      </m:r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m:rPr>
                          <m:nor/>
                        </m:rPr>
                        <a:rPr lang="zh-CN" altLang="en-US" sz="2400" i="1">
                          <a:latin typeface="Cambria Math" panose="02040503050406030204" pitchFamily="18" charset="0"/>
                        </a:rPr>
                        <m:t>  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400" i="1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847" y="1557447"/>
                <a:ext cx="3771995" cy="461665"/>
              </a:xfrm>
              <a:prstGeom prst="rect">
                <a:avLst/>
              </a:prstGeom>
              <a:blipFill>
                <a:blip r:embed="rId8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矩形 42"/>
          <p:cNvSpPr/>
          <p:nvPr/>
        </p:nvSpPr>
        <p:spPr>
          <a:xfrm>
            <a:off x="458572" y="-4289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第六节 高阶线性微分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4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4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4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3" grpId="0"/>
      <p:bldP spid="314378" grpId="0"/>
      <p:bldP spid="314379" grpId="0"/>
      <p:bldP spid="314380" grpId="0"/>
      <p:bldP spid="314382" grpId="0"/>
      <p:bldP spid="314389" grpId="0"/>
      <p:bldP spid="70679" grpId="0"/>
      <p:bldP spid="314393" grpId="0"/>
      <p:bldP spid="4" grpId="0"/>
      <p:bldP spid="6" grpId="0"/>
      <p:bldP spid="32" grpId="0"/>
      <p:bldP spid="8" grpId="0"/>
      <p:bldP spid="10" grpId="0"/>
      <p:bldP spid="13" grpId="0"/>
      <p:bldP spid="14" grpId="0" animBg="1"/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875426" y="489081"/>
            <a:ext cx="15938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定义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:</a:t>
            </a:r>
            <a:endParaRPr lang="en-US" altLang="zh-CN" sz="2400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3164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210353"/>
              </p:ext>
            </p:extLst>
          </p:nvPr>
        </p:nvGraphicFramePr>
        <p:xfrm>
          <a:off x="1986555" y="599174"/>
          <a:ext cx="3578466" cy="423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45" name="公式" r:id="rId3" imgW="3753022" imgH="428764" progId="Equation.3">
                  <p:embed/>
                </p:oleObj>
              </mc:Choice>
              <mc:Fallback>
                <p:oleObj name="公式" r:id="rId3" imgW="3753022" imgH="42876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6555" y="599174"/>
                        <a:ext cx="3578466" cy="4233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20" name="Text Box 4"/>
          <p:cNvSpPr txBox="1">
            <a:spLocks noChangeArrowheads="1"/>
          </p:cNvSpPr>
          <p:nvPr/>
        </p:nvSpPr>
        <p:spPr bwMode="auto">
          <a:xfrm>
            <a:off x="5800644" y="563047"/>
            <a:ext cx="34178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是定义在区间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上的</a:t>
            </a:r>
          </a:p>
        </p:txBody>
      </p:sp>
      <p:sp>
        <p:nvSpPr>
          <p:cNvPr id="316421" name="Text Box 5"/>
          <p:cNvSpPr txBox="1">
            <a:spLocks noChangeArrowheads="1"/>
          </p:cNvSpPr>
          <p:nvPr/>
        </p:nvSpPr>
        <p:spPr bwMode="auto">
          <a:xfrm>
            <a:off x="8501655" y="552234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n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个函数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3164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736624"/>
              </p:ext>
            </p:extLst>
          </p:nvPr>
        </p:nvGraphicFramePr>
        <p:xfrm>
          <a:off x="5163198" y="1232125"/>
          <a:ext cx="1788108" cy="374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46" name="Equation" r:id="rId5" imgW="2104943" imgH="428764" progId="Equation.3">
                  <p:embed/>
                </p:oleObj>
              </mc:Choice>
              <mc:Fallback>
                <p:oleObj name="Equation" r:id="rId5" imgW="2104943" imgH="42876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3198" y="1232125"/>
                        <a:ext cx="1788108" cy="3747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23" name="Text Box 7"/>
          <p:cNvSpPr txBox="1">
            <a:spLocks noChangeArrowheads="1"/>
          </p:cNvSpPr>
          <p:nvPr/>
        </p:nvSpPr>
        <p:spPr bwMode="auto">
          <a:xfrm>
            <a:off x="7014288" y="1187957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使得</a:t>
            </a:r>
          </a:p>
        </p:txBody>
      </p:sp>
      <p:graphicFrame>
        <p:nvGraphicFramePr>
          <p:cNvPr id="3164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30119"/>
              </p:ext>
            </p:extLst>
          </p:nvPr>
        </p:nvGraphicFramePr>
        <p:xfrm>
          <a:off x="2704411" y="1781694"/>
          <a:ext cx="5721220" cy="402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47" name="Equation" r:id="rId7" imgW="6295881" imgH="428764" progId="Equation.3">
                  <p:embed/>
                </p:oleObj>
              </mc:Choice>
              <mc:Fallback>
                <p:oleObj name="Equation" r:id="rId7" imgW="6295881" imgH="42876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4411" y="1781694"/>
                        <a:ext cx="5721220" cy="4029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25" name="Text Box 9"/>
          <p:cNvSpPr txBox="1">
            <a:spLocks noChangeArrowheads="1"/>
          </p:cNvSpPr>
          <p:nvPr/>
        </p:nvSpPr>
        <p:spPr bwMode="auto">
          <a:xfrm>
            <a:off x="2017657" y="2322662"/>
            <a:ext cx="518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则称这</a:t>
            </a:r>
            <a:r>
              <a:rPr kumimoji="1"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个函数在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上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线性相关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316426" name="Text Box 10"/>
          <p:cNvSpPr txBox="1">
            <a:spLocks noChangeArrowheads="1"/>
          </p:cNvSpPr>
          <p:nvPr/>
        </p:nvSpPr>
        <p:spPr bwMode="auto">
          <a:xfrm>
            <a:off x="6455488" y="2322661"/>
            <a:ext cx="327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否则称为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线性无关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kumimoji="1" lang="en-US" altLang="zh-CN" sz="2400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16427" name="Text Box 11"/>
          <p:cNvSpPr txBox="1">
            <a:spLocks noChangeArrowheads="1"/>
          </p:cNvSpPr>
          <p:nvPr/>
        </p:nvSpPr>
        <p:spPr bwMode="auto">
          <a:xfrm>
            <a:off x="2010133" y="3029080"/>
            <a:ext cx="1409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例如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zh-CN" altLang="en-US" sz="2400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3164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135185"/>
              </p:ext>
            </p:extLst>
          </p:nvPr>
        </p:nvGraphicFramePr>
        <p:xfrm>
          <a:off x="2912188" y="3031918"/>
          <a:ext cx="2205361" cy="443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48" name="Equation" r:id="rId9" imgW="2504962" imgH="485848" progId="Equation.3">
                  <p:embed/>
                </p:oleObj>
              </mc:Choice>
              <mc:Fallback>
                <p:oleObj name="Equation" r:id="rId9" imgW="2504962" imgH="48584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2188" y="3031918"/>
                        <a:ext cx="2205361" cy="4432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29" name="Text Box 13"/>
          <p:cNvSpPr txBox="1">
            <a:spLocks noChangeArrowheads="1"/>
          </p:cNvSpPr>
          <p:nvPr/>
        </p:nvSpPr>
        <p:spPr bwMode="auto">
          <a:xfrm>
            <a:off x="5117549" y="3046993"/>
            <a:ext cx="327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在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 , 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)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上都有</a:t>
            </a:r>
            <a:endParaRPr kumimoji="1"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164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854870"/>
              </p:ext>
            </p:extLst>
          </p:nvPr>
        </p:nvGraphicFramePr>
        <p:xfrm>
          <a:off x="4232194" y="3553432"/>
          <a:ext cx="2820194" cy="388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49" name="Equation" r:id="rId11" imgW="3114676" imgH="409736" progId="Equation.3">
                  <p:embed/>
                </p:oleObj>
              </mc:Choice>
              <mc:Fallback>
                <p:oleObj name="Equation" r:id="rId11" imgW="3114676" imgH="40973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2194" y="3553432"/>
                        <a:ext cx="2820194" cy="388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31" name="Text Box 15"/>
          <p:cNvSpPr txBox="1">
            <a:spLocks noChangeArrowheads="1"/>
          </p:cNvSpPr>
          <p:nvPr/>
        </p:nvSpPr>
        <p:spPr bwMode="auto">
          <a:xfrm>
            <a:off x="2023188" y="4067068"/>
            <a:ext cx="632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故它们在任何区间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上都</a:t>
            </a:r>
            <a:r>
              <a:rPr kumimoji="1"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线性相关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316432" name="Text Box 16"/>
          <p:cNvSpPr txBox="1">
            <a:spLocks noChangeArrowheads="1"/>
          </p:cNvSpPr>
          <p:nvPr/>
        </p:nvSpPr>
        <p:spPr bwMode="auto">
          <a:xfrm>
            <a:off x="2048588" y="4641465"/>
            <a:ext cx="1422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又如，</a:t>
            </a:r>
          </a:p>
        </p:txBody>
      </p:sp>
      <p:graphicFrame>
        <p:nvGraphicFramePr>
          <p:cNvPr id="31643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245435"/>
              </p:ext>
            </p:extLst>
          </p:nvPr>
        </p:nvGraphicFramePr>
        <p:xfrm>
          <a:off x="3115388" y="4641464"/>
          <a:ext cx="1136481" cy="445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50" name="Equation" r:id="rId13" imgW="1276272" imgH="485848" progId="Equation.3">
                  <p:embed/>
                </p:oleObj>
              </mc:Choice>
              <mc:Fallback>
                <p:oleObj name="Equation" r:id="rId13" imgW="1276272" imgH="485848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5388" y="4641464"/>
                        <a:ext cx="1136481" cy="445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34" name="Text Box 18"/>
          <p:cNvSpPr txBox="1">
            <a:spLocks noChangeArrowheads="1"/>
          </p:cNvSpPr>
          <p:nvPr/>
        </p:nvSpPr>
        <p:spPr bwMode="auto">
          <a:xfrm>
            <a:off x="4410788" y="4655752"/>
            <a:ext cx="32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若在某区间</a:t>
            </a:r>
            <a:r>
              <a:rPr kumimoji="1"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上</a:t>
            </a:r>
            <a:endParaRPr kumimoji="1"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1643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229094"/>
              </p:ext>
            </p:extLst>
          </p:nvPr>
        </p:nvGraphicFramePr>
        <p:xfrm>
          <a:off x="6755849" y="4653150"/>
          <a:ext cx="2596243" cy="466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51" name="Equation" r:id="rId15" imgW="2876348" imgH="504876" progId="Equation.3">
                  <p:embed/>
                </p:oleObj>
              </mc:Choice>
              <mc:Fallback>
                <p:oleObj name="Equation" r:id="rId15" imgW="2876348" imgH="504876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5849" y="4653150"/>
                        <a:ext cx="2596243" cy="4668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36" name="Text Box 20"/>
          <p:cNvSpPr txBox="1">
            <a:spLocks noChangeArrowheads="1"/>
          </p:cNvSpPr>
          <p:nvPr/>
        </p:nvSpPr>
        <p:spPr bwMode="auto">
          <a:xfrm>
            <a:off x="2061288" y="5251065"/>
            <a:ext cx="624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则根据二次多项式至多只有两个零点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graphicFrame>
        <p:nvGraphicFramePr>
          <p:cNvPr id="31643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1022271"/>
              </p:ext>
            </p:extLst>
          </p:nvPr>
        </p:nvGraphicFramePr>
        <p:xfrm>
          <a:off x="8053970" y="5283940"/>
          <a:ext cx="1130300" cy="376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52" name="Equation" r:id="rId17" imgW="1314589" imgH="428764" progId="Equation.3">
                  <p:embed/>
                </p:oleObj>
              </mc:Choice>
              <mc:Fallback>
                <p:oleObj name="Equation" r:id="rId17" imgW="1314589" imgH="428764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3970" y="5283940"/>
                        <a:ext cx="1130300" cy="3767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38" name="Text Box 22"/>
          <p:cNvSpPr txBox="1">
            <a:spLocks noChangeArrowheads="1"/>
          </p:cNvSpPr>
          <p:nvPr/>
        </p:nvSpPr>
        <p:spPr bwMode="auto">
          <a:xfrm>
            <a:off x="2048588" y="5838177"/>
            <a:ext cx="228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必须全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0 ,</a:t>
            </a:r>
          </a:p>
        </p:txBody>
      </p:sp>
      <p:sp>
        <p:nvSpPr>
          <p:cNvPr id="316439" name="Text Box 23"/>
          <p:cNvSpPr txBox="1">
            <a:spLocks noChangeArrowheads="1"/>
          </p:cNvSpPr>
          <p:nvPr/>
        </p:nvSpPr>
        <p:spPr bwMode="auto">
          <a:xfrm>
            <a:off x="7236538" y="5223286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可见</a:t>
            </a:r>
          </a:p>
        </p:txBody>
      </p:sp>
      <p:graphicFrame>
        <p:nvGraphicFramePr>
          <p:cNvPr id="31644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539016"/>
              </p:ext>
            </p:extLst>
          </p:nvPr>
        </p:nvGraphicFramePr>
        <p:xfrm>
          <a:off x="3885163" y="5838176"/>
          <a:ext cx="1441295" cy="461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53" name="Equation" r:id="rId19" imgW="1609761" imgH="504876" progId="Equation.3">
                  <p:embed/>
                </p:oleObj>
              </mc:Choice>
              <mc:Fallback>
                <p:oleObj name="Equation" r:id="rId19" imgW="1609761" imgH="504876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5163" y="5838176"/>
                        <a:ext cx="1441295" cy="461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41" name="Text Box 25"/>
          <p:cNvSpPr txBox="1">
            <a:spLocks noChangeArrowheads="1"/>
          </p:cNvSpPr>
          <p:nvPr/>
        </p:nvSpPr>
        <p:spPr bwMode="auto">
          <a:xfrm>
            <a:off x="5256256" y="5864334"/>
            <a:ext cx="487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在任何区间</a:t>
            </a:r>
            <a:r>
              <a:rPr kumimoji="1"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上都 </a:t>
            </a: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线性无关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16442" name="Text Box 26"/>
          <p:cNvSpPr txBox="1">
            <a:spLocks noChangeArrowheads="1"/>
          </p:cNvSpPr>
          <p:nvPr/>
        </p:nvSpPr>
        <p:spPr bwMode="auto">
          <a:xfrm>
            <a:off x="1977873" y="1187958"/>
            <a:ext cx="3962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若存在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不全为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的常数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22CA57-4283-4D74-9380-8C27935D195C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28" name="矩形 27"/>
          <p:cNvSpPr/>
          <p:nvPr/>
        </p:nvSpPr>
        <p:spPr>
          <a:xfrm>
            <a:off x="458572" y="-4289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第六节 高阶线性微分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6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6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1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/>
      <p:bldP spid="316420" grpId="0"/>
      <p:bldP spid="316421" grpId="0"/>
      <p:bldP spid="316423" grpId="0"/>
      <p:bldP spid="316425" grpId="0"/>
      <p:bldP spid="316426" grpId="0"/>
      <p:bldP spid="316427" grpId="0"/>
      <p:bldP spid="316429" grpId="0"/>
      <p:bldP spid="316431" grpId="0"/>
      <p:bldP spid="316432" grpId="0"/>
      <p:bldP spid="316434" grpId="0"/>
      <p:bldP spid="316436" grpId="0"/>
      <p:bldP spid="316438" grpId="0"/>
      <p:bldP spid="316439" grpId="0"/>
      <p:bldP spid="316441" grpId="0"/>
      <p:bldP spid="31644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1066800" y="565151"/>
            <a:ext cx="8610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ea typeface="黑体" panose="02010609060101010101" pitchFamily="49" charset="-122"/>
              </a:rPr>
              <a:t>两个函数在区间 </a:t>
            </a:r>
            <a:r>
              <a:rPr lang="en-US" altLang="zh-CN" sz="2400" i="1" dirty="0">
                <a:ea typeface="黑体" panose="02010609060101010101" pitchFamily="49" charset="-122"/>
              </a:rPr>
              <a:t>I</a:t>
            </a: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ea typeface="黑体" panose="02010609060101010101" pitchFamily="49" charset="-122"/>
              </a:rPr>
              <a:t>上线性相关与线性无关的</a:t>
            </a:r>
            <a:r>
              <a:rPr lang="zh-CN" altLang="en-US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充要条件</a:t>
            </a:r>
            <a:r>
              <a:rPr lang="en-US" altLang="zh-CN" sz="2400" b="1" dirty="0">
                <a:solidFill>
                  <a:schemeClr val="accent2"/>
                </a:solidFill>
                <a:ea typeface="黑体" panose="02010609060101010101" pitchFamily="49" charset="-122"/>
              </a:rPr>
              <a:t>:</a:t>
            </a:r>
            <a:endParaRPr lang="en-US" altLang="zh-CN" sz="2400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3174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976376"/>
              </p:ext>
            </p:extLst>
          </p:nvPr>
        </p:nvGraphicFramePr>
        <p:xfrm>
          <a:off x="1782764" y="1422725"/>
          <a:ext cx="1650901" cy="4040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26" name="Equation" r:id="rId3" imgW="1800086" imgH="428764" progId="Equation.3">
                  <p:embed/>
                </p:oleObj>
              </mc:Choice>
              <mc:Fallback>
                <p:oleObj name="Equation" r:id="rId3" imgW="1800086" imgH="42876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764" y="1422725"/>
                        <a:ext cx="1650901" cy="4040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4" name="Text Box 4"/>
          <p:cNvSpPr txBox="1">
            <a:spLocks noChangeArrowheads="1"/>
          </p:cNvSpPr>
          <p:nvPr/>
        </p:nvSpPr>
        <p:spPr bwMode="auto">
          <a:xfrm>
            <a:off x="3509865" y="1394941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线性相关</a:t>
            </a:r>
          </a:p>
        </p:txBody>
      </p:sp>
      <p:grpSp>
        <p:nvGrpSpPr>
          <p:cNvPr id="317445" name="Group 5"/>
          <p:cNvGrpSpPr>
            <a:grpSpLocks/>
          </p:cNvGrpSpPr>
          <p:nvPr/>
        </p:nvGrpSpPr>
        <p:grpSpPr bwMode="auto">
          <a:xfrm>
            <a:off x="4963269" y="1531140"/>
            <a:ext cx="1008063" cy="152400"/>
            <a:chOff x="2304" y="1056"/>
            <a:chExt cx="720" cy="96"/>
          </a:xfrm>
        </p:grpSpPr>
        <p:sp>
          <p:nvSpPr>
            <p:cNvPr id="73756" name="Line 6"/>
            <p:cNvSpPr>
              <a:spLocks noChangeShapeType="1"/>
            </p:cNvSpPr>
            <p:nvPr/>
          </p:nvSpPr>
          <p:spPr bwMode="auto">
            <a:xfrm>
              <a:off x="2304" y="105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73757" name="Line 7"/>
            <p:cNvSpPr>
              <a:spLocks noChangeShapeType="1"/>
            </p:cNvSpPr>
            <p:nvPr/>
          </p:nvSpPr>
          <p:spPr bwMode="auto">
            <a:xfrm flipH="1">
              <a:off x="2304" y="1152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317448" name="Text Box 8"/>
          <p:cNvSpPr txBox="1">
            <a:spLocks noChangeArrowheads="1"/>
          </p:cNvSpPr>
          <p:nvPr/>
        </p:nvSpPr>
        <p:spPr bwMode="auto">
          <a:xfrm>
            <a:off x="6083430" y="1327152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存在不全为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0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</a:p>
        </p:txBody>
      </p:sp>
      <p:graphicFrame>
        <p:nvGraphicFramePr>
          <p:cNvPr id="3174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054564"/>
              </p:ext>
            </p:extLst>
          </p:nvPr>
        </p:nvGraphicFramePr>
        <p:xfrm>
          <a:off x="8441483" y="1381268"/>
          <a:ext cx="721178" cy="386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27" name="Equation" r:id="rId5" imgW="809723" imgH="428764" progId="Equation.3">
                  <p:embed/>
                </p:oleObj>
              </mc:Choice>
              <mc:Fallback>
                <p:oleObj name="Equation" r:id="rId5" imgW="809723" imgH="42876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1483" y="1381268"/>
                        <a:ext cx="721178" cy="3867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50" name="Text Box 10"/>
          <p:cNvSpPr txBox="1">
            <a:spLocks noChangeArrowheads="1"/>
          </p:cNvSpPr>
          <p:nvPr/>
        </p:nvSpPr>
        <p:spPr bwMode="auto">
          <a:xfrm>
            <a:off x="9162661" y="1306342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使</a:t>
            </a:r>
          </a:p>
        </p:txBody>
      </p:sp>
      <p:graphicFrame>
        <p:nvGraphicFramePr>
          <p:cNvPr id="3174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762135"/>
              </p:ext>
            </p:extLst>
          </p:nvPr>
        </p:nvGraphicFramePr>
        <p:xfrm>
          <a:off x="6729606" y="1920060"/>
          <a:ext cx="2809131" cy="39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28" name="Equation" r:id="rId7" imgW="3133624" imgH="428764" progId="Equation.3">
                  <p:embed/>
                </p:oleObj>
              </mc:Choice>
              <mc:Fallback>
                <p:oleObj name="Equation" r:id="rId7" imgW="3133624" imgH="42876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9606" y="1920060"/>
                        <a:ext cx="2809131" cy="39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452" name="Group 12"/>
          <p:cNvGrpSpPr>
            <a:grpSpLocks/>
          </p:cNvGrpSpPr>
          <p:nvPr/>
        </p:nvGrpSpPr>
        <p:grpSpPr bwMode="auto">
          <a:xfrm>
            <a:off x="4963269" y="2703935"/>
            <a:ext cx="1008063" cy="152400"/>
            <a:chOff x="2352" y="1824"/>
            <a:chExt cx="720" cy="96"/>
          </a:xfrm>
        </p:grpSpPr>
        <p:sp>
          <p:nvSpPr>
            <p:cNvPr id="73754" name="Line 13"/>
            <p:cNvSpPr>
              <a:spLocks noChangeShapeType="1"/>
            </p:cNvSpPr>
            <p:nvPr/>
          </p:nvSpPr>
          <p:spPr bwMode="auto">
            <a:xfrm>
              <a:off x="2352" y="182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73755" name="Line 14"/>
            <p:cNvSpPr>
              <a:spLocks noChangeShapeType="1"/>
            </p:cNvSpPr>
            <p:nvPr/>
          </p:nvSpPr>
          <p:spPr bwMode="auto">
            <a:xfrm flipH="1">
              <a:off x="2352" y="192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aphicFrame>
        <p:nvGraphicFramePr>
          <p:cNvPr id="3174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289629"/>
              </p:ext>
            </p:extLst>
          </p:nvPr>
        </p:nvGraphicFramePr>
        <p:xfrm>
          <a:off x="6204857" y="2409924"/>
          <a:ext cx="1635967" cy="82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29" name="Equation" r:id="rId9" imgW="1857352" imgH="933639" progId="Equation.3">
                  <p:embed/>
                </p:oleObj>
              </mc:Choice>
              <mc:Fallback>
                <p:oleObj name="Equation" r:id="rId9" imgW="1857352" imgH="93363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4857" y="2409924"/>
                        <a:ext cx="1635967" cy="82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456" name="Group 16"/>
          <p:cNvGrpSpPr>
            <a:grpSpLocks/>
          </p:cNvGrpSpPr>
          <p:nvPr/>
        </p:nvGrpSpPr>
        <p:grpSpPr bwMode="auto">
          <a:xfrm>
            <a:off x="8324461" y="2390155"/>
            <a:ext cx="1676400" cy="914400"/>
            <a:chOff x="4464" y="1248"/>
            <a:chExt cx="1056" cy="576"/>
          </a:xfrm>
        </p:grpSpPr>
        <p:sp>
          <p:nvSpPr>
            <p:cNvPr id="73751" name="Rectangle 17"/>
            <p:cNvSpPr>
              <a:spLocks noChangeArrowheads="1"/>
            </p:cNvSpPr>
            <p:nvPr/>
          </p:nvSpPr>
          <p:spPr bwMode="auto">
            <a:xfrm>
              <a:off x="4464" y="1248"/>
              <a:ext cx="912" cy="576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6600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73752" name="Text Box 18"/>
            <p:cNvSpPr txBox="1">
              <a:spLocks noChangeArrowheads="1"/>
            </p:cNvSpPr>
            <p:nvPr/>
          </p:nvSpPr>
          <p:spPr bwMode="auto">
            <a:xfrm>
              <a:off x="4464" y="1248"/>
              <a:ext cx="10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( </a:t>
              </a:r>
              <a:r>
                <a:rPr kumimoji="1" lang="zh-CN" altLang="en-US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无妨设</a:t>
              </a:r>
            </a:p>
          </p:txBody>
        </p:sp>
        <p:graphicFrame>
          <p:nvGraphicFramePr>
            <p:cNvPr id="73753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3495528"/>
                </p:ext>
              </p:extLst>
            </p:nvPr>
          </p:nvGraphicFramePr>
          <p:xfrm>
            <a:off x="4560" y="1553"/>
            <a:ext cx="625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30" name="公式" r:id="rId11" imgW="476233" imgH="200005" progId="Equation.3">
                    <p:embed/>
                  </p:oleObj>
                </mc:Choice>
                <mc:Fallback>
                  <p:oleObj name="公式" r:id="rId11" imgW="476233" imgH="20000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553"/>
                          <a:ext cx="625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746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217898"/>
              </p:ext>
            </p:extLst>
          </p:nvPr>
        </p:nvGraphicFramePr>
        <p:xfrm>
          <a:off x="1782764" y="3923877"/>
          <a:ext cx="1625600" cy="397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31" name="Equation" r:id="rId13" imgW="1800086" imgH="428764" progId="Equation.3">
                  <p:embed/>
                </p:oleObj>
              </mc:Choice>
              <mc:Fallback>
                <p:oleObj name="Equation" r:id="rId13" imgW="1800086" imgH="428764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764" y="3923877"/>
                        <a:ext cx="1625600" cy="3978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61" name="Text Box 21"/>
          <p:cNvSpPr txBox="1">
            <a:spLocks noChangeArrowheads="1"/>
          </p:cNvSpPr>
          <p:nvPr/>
        </p:nvSpPr>
        <p:spPr bwMode="auto">
          <a:xfrm>
            <a:off x="3484564" y="3923877"/>
            <a:ext cx="1905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线性无关</a:t>
            </a:r>
          </a:p>
        </p:txBody>
      </p:sp>
      <p:grpSp>
        <p:nvGrpSpPr>
          <p:cNvPr id="317462" name="Group 22"/>
          <p:cNvGrpSpPr>
            <a:grpSpLocks/>
          </p:cNvGrpSpPr>
          <p:nvPr/>
        </p:nvGrpSpPr>
        <p:grpSpPr bwMode="auto">
          <a:xfrm>
            <a:off x="4962284" y="4103764"/>
            <a:ext cx="1008063" cy="152400"/>
            <a:chOff x="2352" y="1824"/>
            <a:chExt cx="720" cy="96"/>
          </a:xfrm>
        </p:grpSpPr>
        <p:sp>
          <p:nvSpPr>
            <p:cNvPr id="73749" name="Line 23"/>
            <p:cNvSpPr>
              <a:spLocks noChangeShapeType="1"/>
            </p:cNvSpPr>
            <p:nvPr/>
          </p:nvSpPr>
          <p:spPr bwMode="auto">
            <a:xfrm>
              <a:off x="2352" y="182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73750" name="Line 24"/>
            <p:cNvSpPr>
              <a:spLocks noChangeShapeType="1"/>
            </p:cNvSpPr>
            <p:nvPr/>
          </p:nvSpPr>
          <p:spPr bwMode="auto">
            <a:xfrm flipH="1">
              <a:off x="2352" y="192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aphicFrame>
        <p:nvGraphicFramePr>
          <p:cNvPr id="31746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888545"/>
              </p:ext>
            </p:extLst>
          </p:nvPr>
        </p:nvGraphicFramePr>
        <p:xfrm>
          <a:off x="6540599" y="3703714"/>
          <a:ext cx="889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32" name="Equation" r:id="rId15" imgW="866568" imgH="933639" progId="Equation.3">
                  <p:embed/>
                </p:oleObj>
              </mc:Choice>
              <mc:Fallback>
                <p:oleObj name="Equation" r:id="rId15" imgW="866568" imgH="933639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99" y="3703714"/>
                        <a:ext cx="8890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466" name="Group 26"/>
          <p:cNvGrpSpPr>
            <a:grpSpLocks/>
          </p:cNvGrpSpPr>
          <p:nvPr/>
        </p:nvGrpSpPr>
        <p:grpSpPr bwMode="auto">
          <a:xfrm>
            <a:off x="7505799" y="3970414"/>
            <a:ext cx="495300" cy="457200"/>
            <a:chOff x="3744" y="2448"/>
            <a:chExt cx="312" cy="288"/>
          </a:xfrm>
        </p:grpSpPr>
        <p:graphicFrame>
          <p:nvGraphicFramePr>
            <p:cNvPr id="73747" name="Object 27"/>
            <p:cNvGraphicFramePr>
              <a:graphicFrameLocks noChangeAspect="1"/>
            </p:cNvGraphicFramePr>
            <p:nvPr/>
          </p:nvGraphicFramePr>
          <p:xfrm>
            <a:off x="3744" y="2448"/>
            <a:ext cx="312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33" name="公式" r:id="rId17" imgW="104847" imgH="95140" progId="Equation.3">
                    <p:embed/>
                  </p:oleObj>
                </mc:Choice>
                <mc:Fallback>
                  <p:oleObj name="公式" r:id="rId17" imgW="104847" imgH="9514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448"/>
                          <a:ext cx="312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48" name="Line 28"/>
            <p:cNvSpPr>
              <a:spLocks noChangeShapeType="1"/>
            </p:cNvSpPr>
            <p:nvPr/>
          </p:nvSpPr>
          <p:spPr bwMode="auto">
            <a:xfrm>
              <a:off x="3840" y="2448"/>
              <a:ext cx="96" cy="28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317469" name="Text Box 29"/>
          <p:cNvSpPr txBox="1">
            <a:spLocks noChangeArrowheads="1"/>
          </p:cNvSpPr>
          <p:nvPr/>
        </p:nvSpPr>
        <p:spPr bwMode="auto">
          <a:xfrm>
            <a:off x="7932934" y="3970414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常数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9AD877-C913-4FF4-8C55-26104402BCA6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31" name="矩形 30"/>
          <p:cNvSpPr/>
          <p:nvPr/>
        </p:nvSpPr>
        <p:spPr>
          <a:xfrm>
            <a:off x="458572" y="-4289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第六节 高阶线性微分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7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7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7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4" grpId="0"/>
      <p:bldP spid="317448" grpId="0"/>
      <p:bldP spid="317450" grpId="0"/>
      <p:bldP spid="317461" grpId="0"/>
      <p:bldP spid="31746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72" name="Text Box 8"/>
          <p:cNvSpPr txBox="1">
            <a:spLocks noChangeArrowheads="1"/>
          </p:cNvSpPr>
          <p:nvPr/>
        </p:nvSpPr>
        <p:spPr bwMode="auto">
          <a:xfrm>
            <a:off x="2699496" y="1555263"/>
            <a:ext cx="901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方程</a:t>
            </a:r>
          </a:p>
        </p:txBody>
      </p:sp>
      <p:graphicFrame>
        <p:nvGraphicFramePr>
          <p:cNvPr id="3184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689121"/>
              </p:ext>
            </p:extLst>
          </p:nvPr>
        </p:nvGraphicFramePr>
        <p:xfrm>
          <a:off x="3545918" y="1615008"/>
          <a:ext cx="1275859" cy="36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82" name="Equation" r:id="rId3" imgW="1457333" imgH="400010" progId="Equation.3">
                  <p:embed/>
                </p:oleObj>
              </mc:Choice>
              <mc:Fallback>
                <p:oleObj name="Equation" r:id="rId3" imgW="1457333" imgH="40001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5918" y="1615008"/>
                        <a:ext cx="1275859" cy="362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74" name="Text Box 10"/>
          <p:cNvSpPr txBox="1">
            <a:spLocks noChangeArrowheads="1"/>
          </p:cNvSpPr>
          <p:nvPr/>
        </p:nvSpPr>
        <p:spPr bwMode="auto">
          <a:xfrm>
            <a:off x="2699496" y="2127624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猜特解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184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133862"/>
              </p:ext>
            </p:extLst>
          </p:nvPr>
        </p:nvGraphicFramePr>
        <p:xfrm>
          <a:off x="3974031" y="2148090"/>
          <a:ext cx="1336870" cy="383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83" name="Equation" r:id="rId5" imgW="1533547" imgH="428764" progId="Equation.3">
                  <p:embed/>
                </p:oleObj>
              </mc:Choice>
              <mc:Fallback>
                <p:oleObj name="Equation" r:id="rId5" imgW="1533547" imgH="42876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4031" y="2148090"/>
                        <a:ext cx="1336870" cy="383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2021757"/>
              </p:ext>
            </p:extLst>
          </p:nvPr>
        </p:nvGraphicFramePr>
        <p:xfrm>
          <a:off x="5496995" y="2126895"/>
          <a:ext cx="1410749" cy="404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84" name="Equation" r:id="rId7" imgW="1533547" imgH="428764" progId="Equation.3">
                  <p:embed/>
                </p:oleObj>
              </mc:Choice>
              <mc:Fallback>
                <p:oleObj name="Equation" r:id="rId7" imgW="1533547" imgH="42876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6995" y="2126895"/>
                        <a:ext cx="1410749" cy="404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77" name="Text Box 13"/>
          <p:cNvSpPr txBox="1">
            <a:spLocks noChangeArrowheads="1"/>
          </p:cNvSpPr>
          <p:nvPr/>
        </p:nvSpPr>
        <p:spPr bwMode="auto">
          <a:xfrm>
            <a:off x="6980845" y="2109021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且</a:t>
            </a:r>
          </a:p>
        </p:txBody>
      </p:sp>
      <p:grpSp>
        <p:nvGrpSpPr>
          <p:cNvPr id="318478" name="Group 14"/>
          <p:cNvGrpSpPr>
            <a:grpSpLocks/>
          </p:cNvGrpSpPr>
          <p:nvPr/>
        </p:nvGrpSpPr>
        <p:grpSpPr bwMode="auto">
          <a:xfrm>
            <a:off x="9151096" y="2068588"/>
            <a:ext cx="495300" cy="457200"/>
            <a:chOff x="3744" y="2448"/>
            <a:chExt cx="312" cy="288"/>
          </a:xfrm>
        </p:grpSpPr>
        <p:graphicFrame>
          <p:nvGraphicFramePr>
            <p:cNvPr id="74780" name="Object 15"/>
            <p:cNvGraphicFramePr>
              <a:graphicFrameLocks noChangeAspect="1"/>
            </p:cNvGraphicFramePr>
            <p:nvPr/>
          </p:nvGraphicFramePr>
          <p:xfrm>
            <a:off x="3744" y="2448"/>
            <a:ext cx="312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285" name="公式" r:id="rId9" imgW="104847" imgH="95140" progId="Equation.3">
                    <p:embed/>
                  </p:oleObj>
                </mc:Choice>
                <mc:Fallback>
                  <p:oleObj name="公式" r:id="rId9" imgW="104847" imgH="9514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448"/>
                          <a:ext cx="312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781" name="Line 16"/>
            <p:cNvSpPr>
              <a:spLocks noChangeShapeType="1"/>
            </p:cNvSpPr>
            <p:nvPr/>
          </p:nvSpPr>
          <p:spPr bwMode="auto">
            <a:xfrm>
              <a:off x="3840" y="2448"/>
              <a:ext cx="96" cy="28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318481" name="Text Box 17"/>
          <p:cNvSpPr txBox="1">
            <a:spLocks noChangeArrowheads="1"/>
          </p:cNvSpPr>
          <p:nvPr/>
        </p:nvSpPr>
        <p:spPr bwMode="auto">
          <a:xfrm>
            <a:off x="9622445" y="2098423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常数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</a:p>
        </p:txBody>
      </p:sp>
      <p:sp>
        <p:nvSpPr>
          <p:cNvPr id="318482" name="Text Box 18"/>
          <p:cNvSpPr txBox="1">
            <a:spLocks noChangeArrowheads="1"/>
          </p:cNvSpPr>
          <p:nvPr/>
        </p:nvSpPr>
        <p:spPr bwMode="auto">
          <a:xfrm>
            <a:off x="2699496" y="2647462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故方程的通解为</a:t>
            </a:r>
          </a:p>
        </p:txBody>
      </p:sp>
      <p:graphicFrame>
        <p:nvGraphicFramePr>
          <p:cNvPr id="31848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283719"/>
              </p:ext>
            </p:extLst>
          </p:nvPr>
        </p:nvGraphicFramePr>
        <p:xfrm>
          <a:off x="4932304" y="2733306"/>
          <a:ext cx="2734341" cy="378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86" name="Equation" r:id="rId11" imgW="3190890" imgH="428764" progId="Equation.3">
                  <p:embed/>
                </p:oleObj>
              </mc:Choice>
              <mc:Fallback>
                <p:oleObj name="Equation" r:id="rId11" imgW="3190890" imgH="428764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04" y="2733306"/>
                        <a:ext cx="2734341" cy="3782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85" name="Text Box 21"/>
          <p:cNvSpPr txBox="1">
            <a:spLocks noChangeArrowheads="1"/>
          </p:cNvSpPr>
          <p:nvPr/>
        </p:nvSpPr>
        <p:spPr bwMode="auto">
          <a:xfrm>
            <a:off x="1144284" y="4398343"/>
            <a:ext cx="9573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推论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</a:p>
        </p:txBody>
      </p:sp>
      <p:grpSp>
        <p:nvGrpSpPr>
          <p:cNvPr id="318486" name="Group 22"/>
          <p:cNvGrpSpPr>
            <a:grpSpLocks/>
          </p:cNvGrpSpPr>
          <p:nvPr/>
        </p:nvGrpSpPr>
        <p:grpSpPr bwMode="auto">
          <a:xfrm>
            <a:off x="7627096" y="1865389"/>
            <a:ext cx="1524000" cy="939800"/>
            <a:chOff x="768" y="1616"/>
            <a:chExt cx="960" cy="592"/>
          </a:xfrm>
        </p:grpSpPr>
        <p:graphicFrame>
          <p:nvGraphicFramePr>
            <p:cNvPr id="74778" name="Object 23"/>
            <p:cNvGraphicFramePr>
              <a:graphicFrameLocks noChangeAspect="1"/>
            </p:cNvGraphicFramePr>
            <p:nvPr/>
          </p:nvGraphicFramePr>
          <p:xfrm>
            <a:off x="768" y="1616"/>
            <a:ext cx="960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287" name="Equation" r:id="rId13" imgW="1504914" imgH="923914" progId="Equation.3">
                    <p:embed/>
                  </p:oleObj>
                </mc:Choice>
                <mc:Fallback>
                  <p:oleObj name="Equation" r:id="rId13" imgW="1504914" imgH="923914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616"/>
                          <a:ext cx="960" cy="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779" name="Object 24"/>
            <p:cNvGraphicFramePr>
              <a:graphicFrameLocks noChangeAspect="1"/>
            </p:cNvGraphicFramePr>
            <p:nvPr/>
          </p:nvGraphicFramePr>
          <p:xfrm>
            <a:off x="820" y="1868"/>
            <a:ext cx="20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5288" name="Equation" r:id="rId15" imgW="314120" imgH="428764" progId="Equation.3">
                    <p:embed/>
                  </p:oleObj>
                </mc:Choice>
                <mc:Fallback>
                  <p:oleObj name="Equation" r:id="rId15" imgW="314120" imgH="428764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0" y="1868"/>
                          <a:ext cx="208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4774" name="Rectangle 26"/>
          <p:cNvSpPr>
            <a:spLocks noChangeArrowheads="1"/>
          </p:cNvSpPr>
          <p:nvPr/>
        </p:nvSpPr>
        <p:spPr bwMode="auto">
          <a:xfrm>
            <a:off x="2153382" y="3244579"/>
            <a:ext cx="359073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(2)</a:t>
            </a:r>
          </a:p>
        </p:txBody>
      </p:sp>
      <p:sp>
        <p:nvSpPr>
          <p:cNvPr id="74775" name="Rectangle 27"/>
          <p:cNvSpPr>
            <a:spLocks noChangeArrowheads="1"/>
          </p:cNvSpPr>
          <p:nvPr/>
        </p:nvSpPr>
        <p:spPr bwMode="auto">
          <a:xfrm>
            <a:off x="2188108" y="1571703"/>
            <a:ext cx="359073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(1)</a:t>
            </a:r>
          </a:p>
        </p:txBody>
      </p:sp>
      <p:graphicFrame>
        <p:nvGraphicFramePr>
          <p:cNvPr id="7477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10535"/>
              </p:ext>
            </p:extLst>
          </p:nvPr>
        </p:nvGraphicFramePr>
        <p:xfrm>
          <a:off x="5595096" y="3702951"/>
          <a:ext cx="1980654" cy="478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89" name="Equation" r:id="rId17" imgW="933518" imgH="209731" progId="Equation.3">
                  <p:embed/>
                </p:oleObj>
              </mc:Choice>
              <mc:Fallback>
                <p:oleObj name="Equation" r:id="rId17" imgW="933518" imgH="209731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096" y="3702951"/>
                        <a:ext cx="1980654" cy="4780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BF3E4EC-4533-4887-BF2D-D2F59563F8EA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37" name="Text Box 25"/>
          <p:cNvSpPr txBox="1">
            <a:spLocks noChangeArrowheads="1"/>
          </p:cNvSpPr>
          <p:nvPr/>
        </p:nvSpPr>
        <p:spPr bwMode="auto">
          <a:xfrm>
            <a:off x="1144284" y="528941"/>
            <a:ext cx="10342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  <a:r>
              <a:rPr kumimoji="1" lang="en-US" altLang="zh-CN" sz="24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</a:t>
            </a:r>
            <a:endParaRPr kumimoji="1"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/>
              <p:cNvSpPr/>
              <p:nvPr/>
            </p:nvSpPr>
            <p:spPr>
              <a:xfrm>
                <a:off x="2178541" y="508305"/>
                <a:ext cx="8675965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函数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</a:rPr>
                  <a:t>是二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阶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齐次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线性方程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两个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线性无关的</a:t>
                </a:r>
                <a:r>
                  <a:rPr lang="zh-CN" altLang="en-US" sz="2400" dirty="0" smtClean="0">
                    <a:solidFill>
                      <a:srgbClr val="0000FF"/>
                    </a:solidFill>
                    <a:latin typeface="Cambria Math" panose="02040503050406030204" pitchFamily="18" charset="0"/>
                  </a:rPr>
                  <a:t>特解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，</a:t>
                </a:r>
                <a:endParaRPr lang="zh-CN" altLang="en-US" sz="240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则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)+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为任意常数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是该方程的通解</a:t>
                </a: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8" name="矩形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541" y="508305"/>
                <a:ext cx="8675965" cy="830997"/>
              </a:xfrm>
              <a:prstGeom prst="rect">
                <a:avLst/>
              </a:prstGeom>
              <a:blipFill>
                <a:blip r:embed="rId19"/>
                <a:stretch>
                  <a:fillRect l="-562" t="-70803" r="-140" b="-1087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 Box 10"/>
          <p:cNvSpPr txBox="1">
            <a:spLocks noChangeArrowheads="1"/>
          </p:cNvSpPr>
          <p:nvPr/>
        </p:nvSpPr>
        <p:spPr bwMode="auto">
          <a:xfrm>
            <a:off x="4867120" y="1555262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</a:rPr>
              <a:t>的通解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661182" y="3224969"/>
                <a:ext cx="512339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方程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end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−1)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=0</m:t>
                        </m:r>
                        <m:r>
                          <m:rPr>
                            <m:nor/>
                          </m:rPr>
                          <a:rPr kumimoji="1"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</a:rPr>
                          <m:t>的通解</m:t>
                        </m:r>
                        <m:r>
                          <m:rPr>
                            <m:nor/>
                          </m:rPr>
                          <a:rPr kumimoji="1" lang="zh-CN" altLang="en-US" sz="2400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</a:rPr>
                          <m:t> </m:t>
                        </m:r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182" y="3224969"/>
                <a:ext cx="5123390" cy="461665"/>
              </a:xfrm>
              <a:prstGeom prst="rect">
                <a:avLst/>
              </a:prstGeom>
              <a:blipFill>
                <a:blip r:embed="rId20"/>
                <a:stretch>
                  <a:fillRect l="-1905" t="-127632" b="-197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014058" y="3750107"/>
                <a:ext cx="216770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058" y="3750107"/>
                <a:ext cx="2167709" cy="461665"/>
              </a:xfrm>
              <a:prstGeom prst="rect">
                <a:avLst/>
              </a:prstGeom>
              <a:blipFill>
                <a:blip r:embed="rId21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/>
              <p:cNvSpPr/>
              <p:nvPr/>
            </p:nvSpPr>
            <p:spPr>
              <a:xfrm>
                <a:off x="2153382" y="4398562"/>
                <a:ext cx="964984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/>
                  <a:t>若函数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</a:rPr>
                  <a:t> 阶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齐次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线性方程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</a:rPr>
                  <a:t> 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个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线性无关的</a:t>
                </a:r>
                <a:r>
                  <a:rPr lang="zh-CN" altLang="en-US" sz="2400" dirty="0" smtClean="0">
                    <a:solidFill>
                      <a:srgbClr val="0000FF"/>
                    </a:solidFill>
                    <a:latin typeface="Cambria Math" panose="02040503050406030204" pitchFamily="18" charset="0"/>
                  </a:rPr>
                  <a:t>特解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，</a:t>
                </a:r>
                <a:endParaRPr lang="zh-CN" altLang="en-US" sz="2400" dirty="0">
                  <a:latin typeface="Cambria Math" panose="020405030504060302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则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)+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为任意常数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是该方程的通解</a:t>
                </a: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6" name="矩形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382" y="4398562"/>
                <a:ext cx="9649842" cy="1200329"/>
              </a:xfrm>
              <a:prstGeom prst="rect">
                <a:avLst/>
              </a:prstGeom>
              <a:blipFill>
                <a:blip r:embed="rId22"/>
                <a:stretch>
                  <a:fillRect l="-948" t="-18878" r="-4169" b="-45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710475"/>
              </p:ext>
            </p:extLst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90" name="Equation" r:id="rId23" imgW="114120" imgH="177480" progId="Equation.DSMT4">
                  <p:embed/>
                </p:oleObj>
              </mc:Choice>
              <mc:Fallback>
                <p:oleObj name="Equation" r:id="rId2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矩形 50"/>
          <p:cNvSpPr/>
          <p:nvPr/>
        </p:nvSpPr>
        <p:spPr>
          <a:xfrm>
            <a:off x="458572" y="-4289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第六节 高阶线性微分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4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72" grpId="0"/>
      <p:bldP spid="318474" grpId="0"/>
      <p:bldP spid="318477" grpId="0"/>
      <p:bldP spid="318481" grpId="0"/>
      <p:bldP spid="318482" grpId="0"/>
      <p:bldP spid="318485" grpId="0"/>
      <p:bldP spid="74774" grpId="0"/>
      <p:bldP spid="74775" grpId="0"/>
      <p:bldP spid="37" grpId="0"/>
      <p:bldP spid="38" grpId="0"/>
      <p:bldP spid="41" grpId="0"/>
      <p:bldP spid="5" grpId="0"/>
      <p:bldP spid="6" grpId="0"/>
      <p:bldP spid="4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3" name="Rectangle 28"/>
          <p:cNvSpPr>
            <a:spLocks noChangeArrowheads="1"/>
          </p:cNvSpPr>
          <p:nvPr/>
        </p:nvSpPr>
        <p:spPr bwMode="auto">
          <a:xfrm>
            <a:off x="705434" y="412762"/>
            <a:ext cx="609658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4700"/>
                    </a:gs>
                    <a:gs pos="100000">
                      <a:srgbClr val="009900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 smtClean="0">
                <a:ea typeface="黑体" panose="02010609060101010101" pitchFamily="49" charset="-122"/>
              </a:rPr>
              <a:t>三、</a:t>
            </a:r>
            <a:r>
              <a:rPr lang="zh-CN" altLang="en-US" sz="2800" b="1" dirty="0">
                <a:ea typeface="黑体" panose="02010609060101010101" pitchFamily="49" charset="-122"/>
              </a:rPr>
              <a:t>非</a:t>
            </a:r>
            <a:r>
              <a:rPr lang="zh-CN" altLang="en-US" sz="2800" b="1" dirty="0" smtClean="0">
                <a:ea typeface="黑体" panose="02010609060101010101" pitchFamily="49" charset="-122"/>
              </a:rPr>
              <a:t>齐次线性微分方程</a:t>
            </a:r>
            <a:r>
              <a:rPr lang="zh-CN" altLang="en-US" sz="2800" b="1" dirty="0">
                <a:ea typeface="黑体" panose="02010609060101010101" pitchFamily="49" charset="-122"/>
              </a:rPr>
              <a:t>解的结构</a:t>
            </a:r>
          </a:p>
        </p:txBody>
      </p:sp>
      <p:sp>
        <p:nvSpPr>
          <p:cNvPr id="8" name="Text Box 25"/>
          <p:cNvSpPr txBox="1">
            <a:spLocks noChangeArrowheads="1"/>
          </p:cNvSpPr>
          <p:nvPr/>
        </p:nvSpPr>
        <p:spPr bwMode="auto">
          <a:xfrm>
            <a:off x="1349829" y="1051249"/>
            <a:ext cx="10342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  <a:r>
              <a:rPr kumimoji="1" lang="en-US" altLang="zh-CN" sz="24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</a:t>
            </a:r>
            <a:endParaRPr kumimoji="1"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384086" y="1049351"/>
                <a:ext cx="8280803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若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函数</m:t>
                        </m:r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</a:rPr>
                  <a:t>是二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阶非齐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次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线性方程 </a:t>
                </a:r>
                <a:endParaRPr lang="en-US" altLang="zh-CN" sz="2400" i="1" dirty="0" smtClean="0">
                  <a:latin typeface="Cambria Math" panose="02040503050406030204" pitchFamily="18" charset="0"/>
                </a:endParaRPr>
              </a:p>
              <a:p>
                <a:r>
                  <a:rPr lang="en-US" altLang="zh-CN" sz="2400" dirty="0" smtClean="0"/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  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  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  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</a:rPr>
                  <a:t>             </a:t>
                </a: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①</a:t>
                </a:r>
                <a:endParaRPr lang="en-US" altLang="zh-CN" sz="2400" dirty="0" smtClean="0">
                  <a:latin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</a:rPr>
                  <a:t>的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一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个特解，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/>
                  <a:t>是对应的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齐次线性方程 </a:t>
                </a:r>
                <a:endParaRPr lang="en-US" altLang="zh-CN" sz="2400" dirty="0" smtClean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zh-CN" sz="2400" dirty="0" smtClean="0">
                    <a:solidFill>
                      <a:srgbClr val="000000"/>
                    </a:solidFill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400" dirty="0" smtClean="0"/>
                  <a:t> </a:t>
                </a:r>
              </a:p>
              <a:p>
                <a:r>
                  <a:rPr lang="zh-CN" altLang="en-US" sz="2400" dirty="0" smtClean="0"/>
                  <a:t>的通解。则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zh-CN" alt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FF006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/>
                  <a:t>是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非齐次线性方程 </a:t>
                </a:r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的通解。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086" y="1049351"/>
                <a:ext cx="8280803" cy="1938992"/>
              </a:xfrm>
              <a:prstGeom prst="rect">
                <a:avLst/>
              </a:prstGeom>
              <a:blipFill>
                <a:blip r:embed="rId2"/>
                <a:stretch>
                  <a:fillRect l="-1105" t="-30503" b="-53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2"/>
              <p:cNvSpPr txBox="1">
                <a:spLocks noChangeArrowheads="1"/>
              </p:cNvSpPr>
              <p:nvPr/>
            </p:nvSpPr>
            <p:spPr bwMode="auto">
              <a:xfrm>
                <a:off x="1282648" y="3033560"/>
                <a:ext cx="774938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kumimoji="1" lang="zh-CN" altLang="en-US" sz="2400" b="1" dirty="0" smtClean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证</a:t>
                </a:r>
                <a:r>
                  <a:rPr kumimoji="1" lang="en-US" altLang="zh-CN" sz="24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:</a:t>
                </a:r>
                <a:r>
                  <a:rPr kumimoji="1" lang="en-US" altLang="zh-CN" sz="2400" b="1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将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代入</a:t>
                </a: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方程①左端</a:t>
                </a:r>
                <a:r>
                  <a:rPr kumimoji="1" lang="en-US" altLang="zh-CN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得</a:t>
                </a:r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2648" y="3033560"/>
                <a:ext cx="7749384" cy="461665"/>
              </a:xfrm>
              <a:prstGeom prst="rect">
                <a:avLst/>
              </a:prstGeom>
              <a:blipFill>
                <a:blip r:embed="rId3"/>
                <a:stretch>
                  <a:fillRect l="-1179" t="-14667" b="-32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1984309" y="3495225"/>
                <a:ext cx="8559283" cy="16646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en-US" altLang="zh-CN" sz="2400" dirty="0" smtClean="0"/>
                  <a:t>	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altLang="zh-CN" sz="2400" i="1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en-US" altLang="zh-CN" sz="2400" dirty="0" smtClean="0"/>
                  <a:t>	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>
                        <a:latin typeface="Cambria Math" panose="02040503050406030204" pitchFamily="18" charset="0"/>
                      </a:rPr>
                      <m:t>+0</m:t>
                    </m:r>
                  </m:oMath>
                </a14:m>
                <a:r>
                  <a:rPr lang="en-US" altLang="zh-CN" sz="2400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en-US" altLang="zh-CN" sz="2400" dirty="0" smtClean="0"/>
                  <a:t>	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309" y="3495225"/>
                <a:ext cx="8559283" cy="1664686"/>
              </a:xfrm>
              <a:prstGeom prst="rect">
                <a:avLst/>
              </a:prstGeom>
              <a:blipFill>
                <a:blip r:embed="rId4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8"/>
              <p:cNvSpPr txBox="1">
                <a:spLocks noChangeArrowheads="1"/>
              </p:cNvSpPr>
              <p:nvPr/>
            </p:nvSpPr>
            <p:spPr bwMode="auto">
              <a:xfrm>
                <a:off x="1861217" y="5335756"/>
                <a:ext cx="318513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CN" altLang="en-US" sz="240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的</a:t>
                </a:r>
                <a:r>
                  <a:rPr kumimoji="1" lang="zh-CN" altLang="en-US" sz="2400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通解</a:t>
                </a:r>
                <a:endParaRPr kumimoji="1" lang="zh-CN" altLang="en-US" sz="240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1217" y="5335756"/>
                <a:ext cx="3185130" cy="461665"/>
              </a:xfrm>
              <a:prstGeom prst="rect">
                <a:avLst/>
              </a:prstGeom>
              <a:blipFill>
                <a:blip r:embed="rId5"/>
                <a:stretch>
                  <a:fillRect l="-2868" t="-14474" r="-1530" b="-2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1349829" y="5352196"/>
            <a:ext cx="359073" cy="40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1899953" y="5842638"/>
                <a:ext cx="39493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</m:t>
                      </m:r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953" y="5842638"/>
                <a:ext cx="3949350" cy="461665"/>
              </a:xfrm>
              <a:prstGeom prst="rect">
                <a:avLst/>
              </a:prstGeom>
              <a:blipFill>
                <a:blip r:embed="rId6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5969456" y="5842637"/>
                <a:ext cx="37916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kumimoji="1" lang="zh-CN" altLang="en-US" sz="24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通解为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1"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456" y="5842637"/>
                <a:ext cx="3791615" cy="461665"/>
              </a:xfrm>
              <a:prstGeom prst="rect">
                <a:avLst/>
              </a:prstGeom>
              <a:blipFill>
                <a:blip r:embed="rId7"/>
                <a:stretch>
                  <a:fillRect l="-2412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/>
          <p:cNvSpPr/>
          <p:nvPr/>
        </p:nvSpPr>
        <p:spPr>
          <a:xfrm>
            <a:off x="458572" y="-4289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第六节 高阶线性微分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</p:spTree>
    <p:extLst>
      <p:ext uri="{BB962C8B-B14F-4D97-AF65-F5344CB8AC3E}">
        <p14:creationId xmlns:p14="http://schemas.microsoft.com/office/powerpoint/2010/main" val="73166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25" grpId="0"/>
      <p:bldP spid="26" grpId="0"/>
      <p:bldP spid="28" grpId="0"/>
      <p:bldP spid="31" grpId="0"/>
      <p:bldP spid="3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15:29:49</a:t>
            </a:fld>
            <a:endParaRPr lang="en-US" altLang="zh-CN"/>
          </a:p>
        </p:txBody>
      </p:sp>
      <p:sp>
        <p:nvSpPr>
          <p:cNvPr id="3" name="Text Box 25"/>
          <p:cNvSpPr txBox="1">
            <a:spLocks noChangeArrowheads="1"/>
          </p:cNvSpPr>
          <p:nvPr/>
        </p:nvSpPr>
        <p:spPr bwMode="auto">
          <a:xfrm>
            <a:off x="1321838" y="566058"/>
            <a:ext cx="10342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  <a:r>
              <a:rPr kumimoji="1" lang="en-US" altLang="zh-CN" sz="24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</a:t>
            </a:r>
            <a:endParaRPr kumimoji="1"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356095" y="564160"/>
                <a:ext cx="8280803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smtClean="0">
                        <a:latin typeface="Cambria Math" panose="02040503050406030204" pitchFamily="18" charset="0"/>
                      </a:rPr>
                      <m:t>若函数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</a:rPr>
                  <a:t>分别是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二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阶非齐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次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线性方程 </a:t>
                </a:r>
                <a:endParaRPr lang="en-US" altLang="zh-CN" sz="2400" i="1" dirty="0" smtClean="0">
                  <a:latin typeface="Cambria Math" panose="02040503050406030204" pitchFamily="18" charset="0"/>
                </a:endParaRPr>
              </a:p>
              <a:p>
                <a:r>
                  <a:rPr lang="en-US" altLang="zh-CN" sz="2400" dirty="0" smtClean="0"/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  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  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  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sz="2400" i="1" dirty="0" smtClean="0">
                  <a:latin typeface="Cambria Math" panose="02040503050406030204" pitchFamily="18" charset="0"/>
                </a:endParaRPr>
              </a:p>
              <a:p>
                <a:r>
                  <a:rPr lang="en-US" altLang="zh-CN" sz="2400" dirty="0" smtClean="0">
                    <a:solidFill>
                      <a:srgbClr val="000000"/>
                    </a:solidFill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endParaRPr lang="en-US" altLang="zh-CN" sz="2400" dirty="0" smtClean="0">
                  <a:latin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latin typeface="Cambria Math" panose="02040503050406030204" pitchFamily="18" charset="0"/>
                  </a:rPr>
                  <a:t>的特解，</a:t>
                </a:r>
                <a:r>
                  <a:rPr lang="zh-CN" altLang="en-US" sz="2400" dirty="0" smtClean="0"/>
                  <a:t>则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rgbClr val="000000"/>
                        </a:solidFill>
                      </a:rPr>
                      <m:t> </m:t>
                    </m:r>
                    <m:sSubSup>
                      <m:sSub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是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非齐次线性方程 </a:t>
                </a:r>
                <a:endParaRPr lang="en-US" altLang="zh-CN" sz="2400" dirty="0" smtClean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zh-CN" sz="2400" dirty="0" smtClean="0">
                    <a:solidFill>
                      <a:srgbClr val="000000"/>
                    </a:solidFill>
                  </a:rPr>
                  <a:t>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altLang="zh-CN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endParaRPr lang="en-US" altLang="zh-CN" sz="2400" dirty="0">
                  <a:latin typeface="Cambria Math" panose="02040503050406030204" pitchFamily="18" charset="0"/>
                </a:endParaRPr>
              </a:p>
              <a:p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的特解。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095" y="564160"/>
                <a:ext cx="8280803" cy="2308324"/>
              </a:xfrm>
              <a:prstGeom prst="rect">
                <a:avLst/>
              </a:prstGeom>
              <a:blipFill>
                <a:blip r:embed="rId2"/>
                <a:stretch>
                  <a:fillRect l="-1104" t="-2910" b="-44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3548877" y="2410819"/>
            <a:ext cx="1697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en-US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4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叠加原理</a:t>
            </a:r>
            <a:r>
              <a:rPr kumimoji="1" lang="en-US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</a:p>
        </p:txBody>
      </p:sp>
      <p:sp>
        <p:nvSpPr>
          <p:cNvPr id="6" name="矩形 5"/>
          <p:cNvSpPr/>
          <p:nvPr/>
        </p:nvSpPr>
        <p:spPr>
          <a:xfrm>
            <a:off x="1321838" y="2923702"/>
            <a:ext cx="74302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3,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均可推广到 </a:t>
            </a:r>
            <a:r>
              <a:rPr kumimoji="1"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阶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非齐次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线性方程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7" name="矩形 6"/>
          <p:cNvSpPr/>
          <p:nvPr/>
        </p:nvSpPr>
        <p:spPr>
          <a:xfrm>
            <a:off x="458572" y="-4289"/>
            <a:ext cx="2779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第六节 高阶线性微分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321838" y="3436585"/>
                <a:ext cx="10360089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dirty="0" smtClean="0">
                    <a:latin typeface="+mn-ea"/>
                    <a:ea typeface="+mn-ea"/>
                  </a:rPr>
                  <a:t>已知</a:t>
                </a:r>
                <a:r>
                  <a:rPr kumimoji="1" lang="zh-CN" altLang="en-US" sz="2400" dirty="0">
                    <a:latin typeface="+mn-ea"/>
                    <a:ea typeface="+mn-ea"/>
                  </a:rPr>
                  <a:t>微分方程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有三个解，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+mn-ea"/>
                    <a:ea typeface="+mn-ea"/>
                  </a:rPr>
                  <a:t>求此方程满足初值条件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 smtClean="0">
                    <a:latin typeface="+mn-ea"/>
                    <a:ea typeface="+mn-ea"/>
                  </a:rPr>
                  <a:t>的特解。</a:t>
                </a:r>
                <a:endParaRPr lang="zh-CN" altLang="en-US" sz="24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838" y="3436585"/>
                <a:ext cx="10360089" cy="830997"/>
              </a:xfrm>
              <a:prstGeom prst="rect">
                <a:avLst/>
              </a:prstGeom>
              <a:blipFill>
                <a:blip r:embed="rId3"/>
                <a:stretch>
                  <a:fillRect l="-942" t="-8088" b="-13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1356093" y="4431573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dirty="0" smtClean="0">
                <a:solidFill>
                  <a:srgbClr val="000000"/>
                </a:solidFill>
                <a:latin typeface="宋体"/>
                <a:ea typeface="宋体"/>
              </a:rPr>
              <a:t>解：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235150" y="4431572"/>
                <a:ext cx="87869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/>
                  <a:t>，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 smtClean="0"/>
                  <a:t>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 smtClean="0"/>
                  <a:t>的解，且线性无关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150" y="4431572"/>
                <a:ext cx="8786957" cy="461665"/>
              </a:xfrm>
              <a:prstGeom prst="rect">
                <a:avLst/>
              </a:prstGeom>
              <a:blipFill>
                <a:blip r:embed="rId4"/>
                <a:stretch>
                  <a:fillRect l="-208" t="-14474" r="-69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235150" y="5050513"/>
                <a:ext cx="833112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</a:rPr>
                  <a:t>的通解为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150" y="5050513"/>
                <a:ext cx="8331127" cy="461665"/>
              </a:xfrm>
              <a:prstGeom prst="rect">
                <a:avLst/>
              </a:prstGeom>
              <a:blipFill>
                <a:blip r:embed="rId5"/>
                <a:stretch>
                  <a:fillRect l="-220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156312" y="5586805"/>
                <a:ext cx="92152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  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</a:rPr>
                  <a:t>的通解为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CN" altLang="en-US" i="1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312" y="5586805"/>
                <a:ext cx="9215215" cy="461665"/>
              </a:xfrm>
              <a:prstGeom prst="rect">
                <a:avLst/>
              </a:prstGeom>
              <a:blipFill>
                <a:blip r:embed="rId6"/>
                <a:stretch>
                  <a:fillRect l="-199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2156312" y="6123097"/>
                <a:ext cx="340144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400" dirty="0" smtClean="0"/>
                  <a:t>,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+1=3</m:t>
                    </m:r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312" y="6123097"/>
                <a:ext cx="3401444" cy="461665"/>
              </a:xfrm>
              <a:prstGeom prst="rect">
                <a:avLst/>
              </a:prstGeom>
              <a:blipFill>
                <a:blip r:embed="rId7"/>
                <a:stretch>
                  <a:fillRect l="-538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5854454" y="6150905"/>
                <a:ext cx="600254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sz="2400" i="1" dirty="0" smtClean="0"/>
                  <a:t> </a:t>
                </a:r>
                <a:endParaRPr lang="zh-CN" altLang="en-US" sz="2400" i="1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454" y="6150905"/>
                <a:ext cx="6002541" cy="461665"/>
              </a:xfrm>
              <a:prstGeom prst="rect">
                <a:avLst/>
              </a:prstGeom>
              <a:blipFill>
                <a:blip r:embed="rId8"/>
                <a:stretch>
                  <a:fillRect l="-305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672849" y="3385367"/>
            <a:ext cx="8130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0073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9"/>
          <p:cNvSpPr>
            <a:spLocks noChangeArrowheads="1"/>
          </p:cNvSpPr>
          <p:nvPr/>
        </p:nvSpPr>
        <p:spPr bwMode="auto">
          <a:xfrm>
            <a:off x="1524000" y="0"/>
            <a:ext cx="9144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9B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6020" name="Rectangle 10"/>
          <p:cNvSpPr>
            <a:spLocks noChangeArrowheads="1"/>
          </p:cNvSpPr>
          <p:nvPr/>
        </p:nvSpPr>
        <p:spPr bwMode="auto">
          <a:xfrm>
            <a:off x="1943100" y="700881"/>
            <a:ext cx="8305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 dirty="0">
                <a:latin typeface="华文行楷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4400" dirty="0">
                <a:latin typeface="华文行楷" panose="02010800040101010101" pitchFamily="2" charset="-122"/>
                <a:ea typeface="华文新魏" panose="02010800040101010101" pitchFamily="2" charset="-122"/>
              </a:rPr>
              <a:t>第七节 常系数齐次线性微分</a:t>
            </a:r>
            <a:r>
              <a:rPr lang="zh-CN" altLang="en-US" sz="4400" dirty="0">
                <a:ea typeface="华文新魏" panose="02010800040101010101" pitchFamily="2" charset="-122"/>
              </a:rPr>
              <a:t>方程</a:t>
            </a:r>
          </a:p>
        </p:txBody>
      </p:sp>
      <p:sp>
        <p:nvSpPr>
          <p:cNvPr id="330763" name="Text Box 11"/>
          <p:cNvSpPr txBox="1">
            <a:spLocks noChangeArrowheads="1"/>
          </p:cNvSpPr>
          <p:nvPr/>
        </p:nvSpPr>
        <p:spPr bwMode="auto">
          <a:xfrm>
            <a:off x="3146426" y="2098675"/>
            <a:ext cx="20240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基本思路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: </a:t>
            </a:r>
          </a:p>
        </p:txBody>
      </p:sp>
      <p:sp>
        <p:nvSpPr>
          <p:cNvPr id="330764" name="Text Box 12"/>
          <p:cNvSpPr txBox="1">
            <a:spLocks noChangeArrowheads="1"/>
          </p:cNvSpPr>
          <p:nvPr/>
        </p:nvSpPr>
        <p:spPr bwMode="auto">
          <a:xfrm>
            <a:off x="3924300" y="2708275"/>
            <a:ext cx="5568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求解常系数线性齐次微分方程 </a:t>
            </a:r>
          </a:p>
        </p:txBody>
      </p:sp>
      <p:sp>
        <p:nvSpPr>
          <p:cNvPr id="330765" name="Text Box 13"/>
          <p:cNvSpPr txBox="1">
            <a:spLocks noChangeArrowheads="1"/>
          </p:cNvSpPr>
          <p:nvPr/>
        </p:nvSpPr>
        <p:spPr bwMode="auto">
          <a:xfrm>
            <a:off x="4060826" y="4157664"/>
            <a:ext cx="49244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求特征方程</a:t>
            </a:r>
            <a:r>
              <a:rPr kumimoji="1"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代数方程</a:t>
            </a:r>
            <a:r>
              <a:rPr kumimoji="1"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之根</a:t>
            </a:r>
          </a:p>
        </p:txBody>
      </p:sp>
      <p:sp>
        <p:nvSpPr>
          <p:cNvPr id="330766" name="Text Box 14"/>
          <p:cNvSpPr txBox="1">
            <a:spLocks noChangeArrowheads="1"/>
          </p:cNvSpPr>
          <p:nvPr/>
        </p:nvSpPr>
        <p:spPr bwMode="auto">
          <a:xfrm>
            <a:off x="2943225" y="3455988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转化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22D6E2-05C5-4CE0-82B5-15C17D8A99DD}" type="datetime11">
              <a:rPr lang="zh-CN" altLang="en-US" smtClean="0"/>
              <a:t>15:29:49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/>
        </p:nvSpPr>
        <p:spPr bwMode="auto">
          <a:xfrm>
            <a:off x="711200" y="340500"/>
            <a:ext cx="2971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一、定义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31779" name="Rectangle 3"/>
          <p:cNvSpPr>
            <a:spLocks noChangeArrowheads="1"/>
          </p:cNvSpPr>
          <p:nvPr/>
        </p:nvSpPr>
        <p:spPr bwMode="auto">
          <a:xfrm>
            <a:off x="1418254" y="1062058"/>
            <a:ext cx="60928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二阶常系数齐次线性方程的标准形式</a:t>
            </a:r>
            <a:endParaRPr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31781" name="Rectangle 5"/>
          <p:cNvSpPr>
            <a:spLocks noChangeArrowheads="1"/>
          </p:cNvSpPr>
          <p:nvPr/>
        </p:nvSpPr>
        <p:spPr bwMode="auto">
          <a:xfrm>
            <a:off x="1418254" y="1631303"/>
            <a:ext cx="629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二阶常系数非齐次线性方程的标准形式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E2324D-181E-4919-AE00-6EECB642830C}" type="datetime11">
              <a:rPr lang="zh-CN" altLang="en-US" smtClean="0"/>
              <a:t>15:29:50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405564" y="1062057"/>
                <a:ext cx="27114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nor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 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564" y="1062057"/>
                <a:ext cx="2711447" cy="461665"/>
              </a:xfrm>
              <a:prstGeom prst="rect">
                <a:avLst/>
              </a:prstGeom>
              <a:blipFill>
                <a:blip r:embed="rId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6772568" y="1611086"/>
                <a:ext cx="314977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nor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 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2568" y="1611086"/>
                <a:ext cx="3149773" cy="46166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"/>
          <p:cNvSpPr>
            <a:spLocks noGrp="1" noChangeArrowheads="1"/>
          </p:cNvSpPr>
          <p:nvPr/>
        </p:nvSpPr>
        <p:spPr bwMode="auto">
          <a:xfrm>
            <a:off x="711200" y="2092968"/>
            <a:ext cx="80391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二、二阶常系数齐次线性方程解法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1418254" y="2662213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猜想</a:t>
            </a:r>
            <a:endParaRPr kumimoji="1"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56207" y="2641996"/>
            <a:ext cx="48253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函数和其各阶导数只相差常数因子</a:t>
            </a:r>
            <a:endParaRPr kumimoji="1" lang="zh-CN" altLang="en-US" sz="20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7181567" y="2636999"/>
                <a:ext cx="141564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𝑟𝑥</m:t>
                          </m:r>
                        </m:sup>
                      </m:sSup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567" y="2636999"/>
                <a:ext cx="1415644" cy="461665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8547554" y="2590390"/>
                <a:ext cx="346101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</a:rPr>
                  <a:t> </a:t>
                </a:r>
                <a:endParaRPr lang="zh-CN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554" y="2590390"/>
                <a:ext cx="3461012" cy="461665"/>
              </a:xfrm>
              <a:prstGeom prst="rect">
                <a:avLst/>
              </a:prstGeom>
              <a:blipFill>
                <a:blip r:embed="rId5"/>
                <a:stretch>
                  <a:fillRect l="-528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418254" y="3231458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验证</a:t>
            </a:r>
            <a:endParaRPr kumimoji="1"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2485054" y="3235878"/>
                <a:ext cx="12858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𝑟𝑥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054" y="3235878"/>
                <a:ext cx="1285801" cy="461665"/>
              </a:xfrm>
              <a:prstGeom prst="rect">
                <a:avLst/>
              </a:prstGeom>
              <a:blipFill>
                <a:blip r:embed="rId6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2485054" y="3718503"/>
                <a:ext cx="271144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nor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 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054" y="3718503"/>
                <a:ext cx="2711447" cy="461665"/>
              </a:xfrm>
              <a:prstGeom prst="rect">
                <a:avLst/>
              </a:prstGeom>
              <a:blipFill>
                <a:blip r:embed="rId7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235626" y="4201128"/>
                <a:ext cx="369152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𝑟𝑥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𝑝𝑟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𝑟𝑥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𝑟𝑥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626" y="4201128"/>
                <a:ext cx="3691523" cy="461665"/>
              </a:xfrm>
              <a:prstGeom prst="rect">
                <a:avLst/>
              </a:prstGeom>
              <a:blipFill>
                <a:blip r:embed="rId8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356207" y="4717800"/>
                <a:ext cx="23738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𝑝𝑟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207" y="4717800"/>
                <a:ext cx="2373855" cy="461665"/>
              </a:xfrm>
              <a:prstGeom prst="rect">
                <a:avLst/>
              </a:prstGeom>
              <a:blipFill>
                <a:blip r:embed="rId9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4794788" y="4734662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特征方程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2356207" y="5277635"/>
            <a:ext cx="62167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特征根可能有三种情况：（</a:t>
            </a:r>
            <a:r>
              <a:rPr kumimoji="1"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）两个不同实根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5721531" y="5641459"/>
            <a:ext cx="28135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两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个相同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实根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721530" y="6024365"/>
            <a:ext cx="28135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）一对共轭复根</a:t>
            </a:r>
            <a:endParaRPr lang="zh-CN" altLang="en-US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15"/>
              <p:cNvSpPr>
                <a:spLocks noChangeArrowheads="1"/>
              </p:cNvSpPr>
              <p:nvPr/>
            </p:nvSpPr>
            <p:spPr bwMode="auto">
              <a:xfrm>
                <a:off x="7181567" y="4391542"/>
                <a:ext cx="4922766" cy="8309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满足特征方程的根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kumimoji="1" lang="zh-CN" altLang="en-US" sz="2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对应的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1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𝑟𝑥</m:t>
                        </m:r>
                      </m:sup>
                    </m:sSup>
                  </m:oMath>
                </a14:m>
                <a:r>
                  <a:rPr kumimoji="1" lang="zh-CN" altLang="en-US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是微分方程的解</a:t>
                </a:r>
                <a:endParaRPr kumimoji="1"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81567" y="4391542"/>
                <a:ext cx="4922766" cy="830997"/>
              </a:xfrm>
              <a:prstGeom prst="rect">
                <a:avLst/>
              </a:prstGeom>
              <a:blipFill>
                <a:blip r:embed="rId10"/>
                <a:stretch>
                  <a:fillRect l="-1856" t="-8029" b="-1313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/>
          <p:nvPr/>
        </p:nvSpPr>
        <p:spPr>
          <a:xfrm>
            <a:off x="619994" y="4014"/>
            <a:ext cx="3472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第七节 常系数齐次线性微分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4" grpId="0"/>
      <p:bldP spid="5" grpId="0"/>
      <p:bldP spid="6" grpId="0"/>
      <p:bldP spid="16" grpId="0"/>
      <p:bldP spid="7" grpId="0"/>
      <p:bldP spid="18" grpId="0"/>
      <p:bldP spid="8" grpId="0"/>
      <p:bldP spid="9" grpId="0"/>
      <p:bldP spid="13" grpId="0"/>
      <p:bldP spid="14" grpId="0"/>
      <p:bldP spid="15" grpId="0"/>
      <p:bldP spid="24" grpId="0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15:29:50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601893" y="557615"/>
            <a:ext cx="43604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）特征方程有两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个不同实根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611879" y="1123985"/>
                <a:ext cx="918456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𝑟</m:t>
                        </m:r>
                      </m:e>
                      <m:sub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𝑟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为两个不同实根，则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𝑟</m:t>
                            </m:r>
                          </m:e>
                          <m:sub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  <a:ea typeface="+mn-ea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+mn-ea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 i="1"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为两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+mn-ea"/>
                    <a:ea typeface="+mn-ea"/>
                  </a:rPr>
                  <a:t>个线性无关的特解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879" y="1123985"/>
                <a:ext cx="9184566" cy="461665"/>
              </a:xfrm>
              <a:prstGeom prst="rect">
                <a:avLst/>
              </a:prstGeom>
              <a:blipFill>
                <a:blip r:embed="rId2"/>
                <a:stretch>
                  <a:fillRect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611879" y="1681035"/>
                <a:ext cx="70941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 smtClean="0"/>
                  <a:t>的通解为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879" y="1681035"/>
                <a:ext cx="7094186" cy="461665"/>
              </a:xfrm>
              <a:prstGeom prst="rect">
                <a:avLst/>
              </a:prstGeom>
              <a:blipFill>
                <a:blip r:embed="rId3"/>
                <a:stretch>
                  <a:fillRect l="-1289" t="-14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611879" y="2284436"/>
                <a:ext cx="9794861" cy="10380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如第五节中的例</a:t>
                </a:r>
                <a:r>
                  <a:rPr lang="en-US" altLang="zh-CN" sz="2400" dirty="0" smtClean="0">
                    <a:solidFill>
                      <a:srgbClr val="000000"/>
                    </a:solidFill>
                  </a:rPr>
                  <a:t>4</a:t>
                </a:r>
                <a:r>
                  <a:rPr lang="zh-CN" altLang="en-US" sz="2400" dirty="0" smtClean="0">
                    <a:solidFill>
                      <a:srgbClr val="000000"/>
                    </a:solidFill>
                  </a:rPr>
                  <a:t>中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，设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−10</m:t>
                    </m:r>
                  </m:oMath>
                </a14:m>
                <a:r>
                  <a:rPr lang="en-US" altLang="zh-CN" sz="2400" dirty="0" smtClean="0"/>
                  <a:t>, </a:t>
                </a:r>
                <a:r>
                  <a:rPr lang="zh-CN" altLang="en-US" sz="2400" dirty="0" smtClean="0"/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zh-CN" sz="2400" dirty="0" smtClean="0"/>
              </a:p>
              <a:p>
                <a:r>
                  <a:rPr lang="zh-CN" altLang="en-US" sz="2400" dirty="0" smtClean="0"/>
                  <a:t>是一个二阶常系数齐次线性微分方程。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879" y="2284436"/>
                <a:ext cx="9794861" cy="1038041"/>
              </a:xfrm>
              <a:prstGeom prst="rect">
                <a:avLst/>
              </a:prstGeom>
              <a:blipFill>
                <a:blip r:embed="rId4"/>
                <a:stretch>
                  <a:fillRect l="-933" b="-11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611879" y="3422589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 smtClean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特征方程：</a:t>
            </a:r>
            <a:endParaRPr lang="zh-CN" altLang="en-US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193436" y="3359975"/>
                <a:ext cx="1768946" cy="586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</a:rPr>
                  <a:t> </a:t>
                </a:r>
                <a:endParaRPr lang="zh-CN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436" y="3359975"/>
                <a:ext cx="1768946" cy="5868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5277936" y="3422589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 smtClean="0">
                <a:solidFill>
                  <a:srgbClr val="00B0F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特征根：</a:t>
            </a:r>
            <a:endParaRPr lang="zh-CN" altLang="en-US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6564789" y="3231478"/>
                <a:ext cx="3108159" cy="8438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zh-CN" alt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ra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ad>
                        <m:radPr>
                          <m:degHide m:val="on"/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zh-CN" alt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789" y="3231478"/>
                <a:ext cx="3108159" cy="8438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611879" y="4289275"/>
                <a:ext cx="6706964" cy="7573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zh-CN" altLang="en-US" sz="2400" dirty="0" smtClean="0">
                    <a:solidFill>
                      <a:srgbClr val="000000"/>
                    </a:solidFill>
                  </a:rPr>
                  <a:t>方程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</a:rPr>
                  <a:t>的通解为：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ad>
                          <m:radPr>
                            <m:degHide m:val="on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num>
                              <m:den>
                                <m:r>
                                  <a:rPr lang="zh-CN" alt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rad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num>
                              <m:den>
                                <m:r>
                                  <a:rPr lang="zh-CN" alt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rad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879" y="4289275"/>
                <a:ext cx="6706964" cy="757387"/>
              </a:xfrm>
              <a:prstGeom prst="rect">
                <a:avLst/>
              </a:prstGeom>
              <a:blipFill>
                <a:blip r:embed="rId7"/>
                <a:stretch>
                  <a:fillRect l="-1362"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611879" y="5188400"/>
                <a:ext cx="8357224" cy="7573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zh-CN" altLang="en-US" sz="2400" dirty="0" smtClean="0">
                    <a:solidFill>
                      <a:srgbClr val="000000"/>
                    </a:solidFill>
                  </a:rPr>
                  <a:t>方程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−10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</a:rPr>
                  <a:t>的通解为：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ad>
                          <m:radPr>
                            <m:degHide m:val="on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num>
                              <m:den>
                                <m:r>
                                  <a:rPr lang="zh-CN" alt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rad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num>
                              <m:den>
                                <m:r>
                                  <a:rPr lang="zh-CN" alt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rad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+10</m:t>
                    </m:r>
                  </m:oMath>
                </a14:m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879" y="5188400"/>
                <a:ext cx="8357224" cy="757387"/>
              </a:xfrm>
              <a:prstGeom prst="rect">
                <a:avLst/>
              </a:prstGeom>
              <a:blipFill>
                <a:blip r:embed="rId8"/>
                <a:stretch>
                  <a:fillRect l="-1094"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619994" y="4014"/>
            <a:ext cx="3472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第七节 常系数齐次线性微分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2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椭圆形标注 5"/>
              <p:cNvSpPr/>
              <p:nvPr/>
            </p:nvSpPr>
            <p:spPr bwMode="auto">
              <a:xfrm>
                <a:off x="9293289" y="3421477"/>
                <a:ext cx="2817846" cy="1675898"/>
              </a:xfrm>
              <a:prstGeom prst="wedgeEllipseCallout">
                <a:avLst>
                  <a:gd name="adj1" fmla="val 1298"/>
                  <a:gd name="adj2" fmla="val -176287"/>
                </a:avLst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只找到一个解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zh-CN" alt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，要是还有一个解，而且还线性无关就好了。</a:t>
                </a:r>
              </a:p>
            </p:txBody>
          </p:sp>
        </mc:Choice>
        <mc:Fallback xmlns="">
          <p:sp>
            <p:nvSpPr>
              <p:cNvPr id="6" name="椭圆形标注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93289" y="3421477"/>
                <a:ext cx="2817846" cy="1675898"/>
              </a:xfrm>
              <a:prstGeom prst="wedgeEllipseCallout">
                <a:avLst>
                  <a:gd name="adj1" fmla="val 1298"/>
                  <a:gd name="adj2" fmla="val -176287"/>
                </a:avLst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82895A-5A7A-40C5-B580-E8CE48FC4954}" type="datetime11">
              <a:rPr lang="zh-CN" altLang="en-US" smtClean="0"/>
              <a:t>15:29:50</a:t>
            </a:fld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601893" y="557615"/>
            <a:ext cx="43604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）特征方程有两个相同实根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1357832" y="1019280"/>
                <a:ext cx="9960201" cy="5845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/>
                  <a:t>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时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特征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方程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𝑝𝑟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有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</a:rPr>
                  <a:t>两个相同实根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832" y="1019280"/>
                <a:ext cx="9960201" cy="584584"/>
              </a:xfrm>
              <a:prstGeom prst="rect">
                <a:avLst/>
              </a:prstGeom>
              <a:blipFill>
                <a:blip r:embed="rId3"/>
                <a:stretch>
                  <a:fillRect l="-979" t="-5208" b="-5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357832" y="1712478"/>
                <a:ext cx="37589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lang="zh-CN" altLang="en-US" sz="2400" dirty="0" smtClean="0">
                    <a:solidFill>
                      <a:srgbClr val="000000"/>
                    </a:solidFill>
                  </a:rPr>
                  <a:t>设另一</a:t>
                </a:r>
                <a:r>
                  <a:rPr lang="zh-CN" altLang="en-US" sz="2400" b="1" dirty="0" smtClean="0">
                    <a:solidFill>
                      <a:srgbClr val="0070C0"/>
                    </a:solidFill>
                  </a:rPr>
                  <a:t>特解</a:t>
                </a:r>
                <a:r>
                  <a:rPr lang="zh-CN" altLang="en-US" sz="2400" dirty="0" smtClean="0">
                    <a:solidFill>
                      <a:srgbClr val="000000"/>
                    </a:solidFill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zh-CN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832" y="1712478"/>
                <a:ext cx="3758914" cy="461665"/>
              </a:xfrm>
              <a:prstGeom prst="rect">
                <a:avLst/>
              </a:prstGeom>
              <a:blipFill>
                <a:blip r:embed="rId4"/>
                <a:stretch>
                  <a:fillRect l="-2597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124174" y="2195596"/>
                <a:ext cx="3215624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174" y="2195596"/>
                <a:ext cx="3215624" cy="6341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124174" y="2976736"/>
                <a:ext cx="5156540" cy="668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bSup>
                      <m:sSubSup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174" y="2976736"/>
                <a:ext cx="5156540" cy="6683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3124174" y="3719144"/>
                <a:ext cx="21413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nor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 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174" y="3719144"/>
                <a:ext cx="2141355" cy="461665"/>
              </a:xfrm>
              <a:prstGeom prst="rect">
                <a:avLst/>
              </a:prstGeom>
              <a:blipFill>
                <a:blip r:embed="rId7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997787" y="4124505"/>
                <a:ext cx="6329553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lang="zh-CN" alt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sSup>
                              <m:sSup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sz="2400" b="0" i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f>
                          <m:f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 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 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240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sz="2400" b="0" i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787" y="4124505"/>
                <a:ext cx="6329553" cy="9221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1357832" y="4961654"/>
                <a:ext cx="2704330" cy="668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/>
                  <a:t>所以只需要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832" y="4961654"/>
                <a:ext cx="2704330" cy="668388"/>
              </a:xfrm>
              <a:prstGeom prst="rect">
                <a:avLst/>
              </a:prstGeom>
              <a:blipFill>
                <a:blip r:embed="rId9"/>
                <a:stretch>
                  <a:fillRect l="-3612" b="-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4603368" y="5071791"/>
                <a:ext cx="102675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400" i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368" y="5071791"/>
                <a:ext cx="1026756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1357832" y="5778660"/>
                <a:ext cx="791569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因此原方程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 smtClean="0"/>
                  <a:t>的通解为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832" y="5778660"/>
                <a:ext cx="7915693" cy="461665"/>
              </a:xfrm>
              <a:prstGeom prst="rect">
                <a:avLst/>
              </a:prstGeom>
              <a:blipFill>
                <a:blip r:embed="rId11"/>
                <a:stretch>
                  <a:fillRect l="-1233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 27"/>
          <p:cNvSpPr/>
          <p:nvPr/>
        </p:nvSpPr>
        <p:spPr>
          <a:xfrm>
            <a:off x="619994" y="4014"/>
            <a:ext cx="3472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第七节 常系数齐次线性微分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/>
      <p:bldP spid="7" grpId="0"/>
      <p:bldP spid="9" grpId="0"/>
      <p:bldP spid="10" grpId="0"/>
      <p:bldP spid="11" grpId="0"/>
      <p:bldP spid="12" grpId="0"/>
      <p:bldP spid="15" grpId="0"/>
      <p:bldP spid="16" grpId="0"/>
      <p:bldP spid="2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15:29:50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601893" y="557615"/>
            <a:ext cx="43604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）特征方程有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一对共轭复根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357832" y="1019280"/>
                <a:ext cx="9960201" cy="10786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/>
                  <a:t>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时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特征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方程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𝑝𝑟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有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</a:rPr>
                  <a:t>一对共轭复根</a:t>
                </a:r>
              </a:p>
              <a:p>
                <a:r>
                  <a:rPr lang="en-US" altLang="zh-CN" sz="2400" dirty="0" smtClean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zh-CN" alt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zh-CN" alt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zh-CN" alt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altLang="zh-C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zh-CN" alt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zh-CN" altLang="en-US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 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</a:rPr>
                  <a:t> </a:t>
                </a:r>
                <a:endParaRPr lang="zh-CN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832" y="1019280"/>
                <a:ext cx="9960201" cy="1078693"/>
              </a:xfrm>
              <a:prstGeom prst="rect">
                <a:avLst/>
              </a:prstGeom>
              <a:blipFill>
                <a:blip r:embed="rId2"/>
                <a:stretch>
                  <a:fillRect l="-979" t="-6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357832" y="2199792"/>
                <a:ext cx="5169813" cy="4789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欧拉公式：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</m:sup>
                    </m:sSup>
                    <m:d>
                      <m:d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endParaRPr lang="zh-CN" altLang="en-US" sz="24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832" y="2199792"/>
                <a:ext cx="5169813" cy="478977"/>
              </a:xfrm>
              <a:prstGeom prst="rect">
                <a:avLst/>
              </a:prstGeom>
              <a:blipFill>
                <a:blip r:embed="rId3"/>
                <a:stretch>
                  <a:fillRect l="-1887" t="-11538" b="-243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901164" y="2780588"/>
                <a:ext cx="5486951" cy="4866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endChr m:val="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164" y="2780588"/>
                <a:ext cx="5486951" cy="4866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901164" y="3361384"/>
                <a:ext cx="5486951" cy="4866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endChr m:val=""/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m:rPr>
                                <m:nor/>
                              </m:r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1164" y="3361384"/>
                <a:ext cx="5486951" cy="486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1357832" y="3143055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400" dirty="0" smtClean="0">
                <a:solidFill>
                  <a:srgbClr val="000000"/>
                </a:solidFill>
                <a:latin typeface="Cambria Math" panose="02040503050406030204" pitchFamily="18" charset="0"/>
              </a:rPr>
              <a:t>微分方程的解为：</a:t>
            </a:r>
            <a:endParaRPr lang="zh-CN" altLang="en-US" sz="2400" dirty="0">
              <a:solidFill>
                <a:srgbClr val="000000"/>
              </a:solidFill>
              <a:latin typeface="Cambria Math" panose="020405030504060302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357832" y="3896255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Cambria Math" panose="02040503050406030204" pitchFamily="18" charset="0"/>
              </a:rPr>
              <a:t>构造实函数解：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690206" y="3928503"/>
                <a:ext cx="4628126" cy="6407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24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sz="240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都是微分方程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的解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206" y="3928503"/>
                <a:ext cx="4628126" cy="640753"/>
              </a:xfrm>
              <a:prstGeom prst="rect">
                <a:avLst/>
              </a:prstGeom>
              <a:blipFill>
                <a:blip r:embed="rId6"/>
                <a:stretch>
                  <a:fillRect r="-1053"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3676850" y="4556764"/>
                <a:ext cx="57416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/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zh-CN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zh-CN" alt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zh-CN" alt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zh-CN" alt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zh-CN" altLang="en-US" sz="240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zh-CN" alt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zh-CN" alt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都是微分方程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的解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850" y="4556764"/>
                <a:ext cx="5741636" cy="461665"/>
              </a:xfrm>
              <a:prstGeom prst="rect">
                <a:avLst/>
              </a:prstGeom>
              <a:blipFill>
                <a:blip r:embed="rId7"/>
                <a:stretch>
                  <a:fillRect l="-1592" t="-14667" r="-743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357832" y="5397095"/>
                <a:ext cx="925939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因此原方程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 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 smtClean="0"/>
                  <a:t>的通解为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832" y="5397095"/>
                <a:ext cx="9259394" cy="461665"/>
              </a:xfrm>
              <a:prstGeom prst="rect">
                <a:avLst/>
              </a:prstGeom>
              <a:blipFill>
                <a:blip r:embed="rId8"/>
                <a:stretch>
                  <a:fillRect l="-1053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619994" y="4014"/>
            <a:ext cx="3472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第七节 常系数齐次线性微分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2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15:29:50</a:t>
            </a:fld>
            <a:endParaRPr lang="en-US" altLang="zh-CN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91869" y="4500457"/>
            <a:ext cx="914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</a:t>
            </a:r>
            <a:endParaRPr kumimoji="1" lang="en-US" altLang="zh-CN" sz="2800" dirty="0">
              <a:solidFill>
                <a:srgbClr val="99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395643" y="4432963"/>
                <a:ext cx="5375702" cy="668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求微分方程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latin typeface="+mn-ea"/>
                    <a:ea typeface="+mn-ea"/>
                  </a:rPr>
                  <a:t>的通解</a:t>
                </a:r>
                <a:endParaRPr lang="zh-CN" altLang="en-US" sz="24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643" y="4432963"/>
                <a:ext cx="5375702" cy="668388"/>
              </a:xfrm>
              <a:prstGeom prst="rect">
                <a:avLst/>
              </a:prstGeom>
              <a:blipFill>
                <a:blip r:embed="rId3"/>
                <a:stretch>
                  <a:fillRect l="-1814" b="-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395644" y="5201204"/>
            <a:ext cx="6159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 smtClean="0">
                <a:latin typeface="+mn-ea"/>
                <a:ea typeface="+mn-ea"/>
              </a:rPr>
              <a:t>解</a:t>
            </a:r>
            <a:r>
              <a:rPr kumimoji="1" lang="en-US" altLang="zh-CN" sz="2400" dirty="0" smtClean="0">
                <a:latin typeface="+mn-ea"/>
                <a:ea typeface="+mn-ea"/>
              </a:rPr>
              <a:t>: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011580" y="5201203"/>
                <a:ext cx="71690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kumimoji="1" lang="zh-CN" altLang="en-US" sz="2400" dirty="0" smtClean="0">
                    <a:solidFill>
                      <a:srgbClr val="000000"/>
                    </a:solidFill>
                    <a:latin typeface="宋体"/>
                    <a:ea typeface="宋体"/>
                  </a:rPr>
                  <a:t>特征方程：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+5=0</m:t>
                    </m:r>
                  </m:oMath>
                </a14:m>
                <a:r>
                  <a:rPr kumimoji="1" lang="zh-CN" altLang="en-US" sz="2400" dirty="0">
                    <a:solidFill>
                      <a:srgbClr val="000000"/>
                    </a:solidFill>
                    <a:latin typeface="宋体"/>
                    <a:ea typeface="宋体"/>
                  </a:rPr>
                  <a:t>，特征根：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=1±2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kumimoji="1" lang="zh-CN" altLang="en-US" sz="2400" dirty="0">
                  <a:solidFill>
                    <a:srgbClr val="000000"/>
                  </a:solidFill>
                  <a:latin typeface="宋体"/>
                  <a:ea typeface="宋体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580" y="5201203"/>
                <a:ext cx="7169020" cy="461665"/>
              </a:xfrm>
              <a:prstGeom prst="rect">
                <a:avLst/>
              </a:prstGeom>
              <a:blipFill>
                <a:blip r:embed="rId4"/>
                <a:stretch>
                  <a:fillRect l="-1361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994784" y="5662868"/>
                <a:ext cx="566732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方程</a:t>
                </a:r>
                <a:r>
                  <a:rPr lang="zh-CN" altLang="en-US" sz="2400" dirty="0" smtClean="0"/>
                  <a:t>的通解为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784" y="5662868"/>
                <a:ext cx="5667321" cy="461665"/>
              </a:xfrm>
              <a:prstGeom prst="rect">
                <a:avLst/>
              </a:prstGeom>
              <a:blipFill>
                <a:blip r:embed="rId5"/>
                <a:stretch>
                  <a:fillRect l="-1613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91869" y="403473"/>
            <a:ext cx="914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382221" y="933117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+mn-ea"/>
                <a:ea typeface="+mn-ea"/>
              </a:rPr>
              <a:t>解</a:t>
            </a:r>
            <a:r>
              <a:rPr kumimoji="1" lang="en-US" altLang="zh-CN" sz="2400" dirty="0">
                <a:latin typeface="+mn-ea"/>
                <a:ea typeface="+mn-ea"/>
              </a:rPr>
              <a:t>:  </a:t>
            </a:r>
            <a:r>
              <a:rPr kumimoji="1" lang="zh-CN" altLang="en-US" sz="2400" dirty="0">
                <a:latin typeface="+mn-ea"/>
                <a:ea typeface="+mn-ea"/>
              </a:rPr>
              <a:t>特征方程</a:t>
            </a:r>
          </a:p>
        </p:txBody>
      </p:sp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9138995"/>
              </p:ext>
            </p:extLst>
          </p:nvPr>
        </p:nvGraphicFramePr>
        <p:xfrm>
          <a:off x="3668221" y="928354"/>
          <a:ext cx="1918847" cy="452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88" name="Equation" r:id="rId6" imgW="2190842" imgH="504876" progId="Equation.3">
                  <p:embed/>
                </p:oleObj>
              </mc:Choice>
              <mc:Fallback>
                <p:oleObj name="Equation" r:id="rId6" imgW="2190842" imgH="504876" progId="Equation.3">
                  <p:embed/>
                  <p:pic>
                    <p:nvPicPr>
                      <p:cNvPr id="1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221" y="928354"/>
                        <a:ext cx="1918847" cy="4521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5878021" y="933117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>
                <a:latin typeface="+mn-ea"/>
                <a:ea typeface="+mn-ea"/>
              </a:rPr>
              <a:t>特征根</a:t>
            </a:r>
            <a:r>
              <a:rPr kumimoji="1" lang="en-US" altLang="zh-CN" sz="2400"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1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280638"/>
              </p:ext>
            </p:extLst>
          </p:nvPr>
        </p:nvGraphicFramePr>
        <p:xfrm>
          <a:off x="7275021" y="998204"/>
          <a:ext cx="2011784" cy="40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89" name="Equation" r:id="rId8" imgW="2162209" imgH="428764" progId="Equation.3">
                  <p:embed/>
                </p:oleObj>
              </mc:Choice>
              <mc:Fallback>
                <p:oleObj name="Equation" r:id="rId8" imgW="2162209" imgH="428764" progId="Equation.3">
                  <p:embed/>
                  <p:pic>
                    <p:nvPicPr>
                      <p:cNvPr id="1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5021" y="998204"/>
                        <a:ext cx="2011784" cy="40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2142596" y="1477211"/>
            <a:ext cx="365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+mn-ea"/>
                <a:ea typeface="+mn-ea"/>
              </a:rPr>
              <a:t>因此原方程的通解为</a:t>
            </a:r>
          </a:p>
        </p:txBody>
      </p:sp>
      <p:graphicFrame>
        <p:nvGraphicFramePr>
          <p:cNvPr id="1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003834"/>
              </p:ext>
            </p:extLst>
          </p:nvPr>
        </p:nvGraphicFramePr>
        <p:xfrm>
          <a:off x="5122171" y="1504294"/>
          <a:ext cx="2301551" cy="435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90" name="Equation" r:id="rId10" imgW="2800555" imgH="514178" progId="Equation.3">
                  <p:embed/>
                </p:oleObj>
              </mc:Choice>
              <mc:Fallback>
                <p:oleObj name="Equation" r:id="rId10" imgW="2800555" imgH="514178" progId="Equation.3">
                  <p:embed/>
                  <p:pic>
                    <p:nvPicPr>
                      <p:cNvPr id="2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2171" y="1504294"/>
                        <a:ext cx="2301551" cy="4354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1382221" y="485507"/>
                <a:ext cx="49203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求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方程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−2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−3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通解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221" y="485507"/>
                <a:ext cx="4920386" cy="461665"/>
              </a:xfrm>
              <a:prstGeom prst="rect">
                <a:avLst/>
              </a:prstGeom>
              <a:blipFill>
                <a:blip r:embed="rId12"/>
                <a:stretch>
                  <a:fillRect l="-1115" t="-14667" r="-8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691869" y="2047271"/>
            <a:ext cx="914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</a:t>
            </a:r>
            <a:endParaRPr kumimoji="1" lang="en-US" altLang="zh-CN" sz="2800" dirty="0">
              <a:solidFill>
                <a:srgbClr val="99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1395643" y="1979777"/>
                <a:ext cx="7551683" cy="668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求解初值问题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=4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zh-CN" altLang="en-US" sz="24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643" y="1979777"/>
                <a:ext cx="7551683" cy="668388"/>
              </a:xfrm>
              <a:prstGeom prst="rect">
                <a:avLst/>
              </a:prstGeom>
              <a:blipFill>
                <a:blip r:embed="rId13"/>
                <a:stretch>
                  <a:fillRect l="-1291" b="-4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1395644" y="2748018"/>
            <a:ext cx="6159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 smtClean="0">
                <a:latin typeface="+mn-ea"/>
                <a:ea typeface="+mn-ea"/>
              </a:rPr>
              <a:t>解</a:t>
            </a:r>
            <a:r>
              <a:rPr kumimoji="1" lang="en-US" altLang="zh-CN" sz="2400" dirty="0" smtClean="0">
                <a:latin typeface="+mn-ea"/>
                <a:ea typeface="+mn-ea"/>
              </a:rPr>
              <a:t>: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2011580" y="2748017"/>
                <a:ext cx="71690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kumimoji="1" lang="zh-CN" altLang="en-US" sz="2400" dirty="0">
                    <a:solidFill>
                      <a:srgbClr val="000000"/>
                    </a:solidFill>
                    <a:latin typeface="宋体"/>
                    <a:ea typeface="宋体"/>
                  </a:rPr>
                  <a:t>特征方程：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kumimoji="1" lang="zh-CN" altLang="en-US" sz="2400" dirty="0">
                    <a:solidFill>
                      <a:srgbClr val="000000"/>
                    </a:solidFill>
                    <a:latin typeface="宋体"/>
                    <a:ea typeface="宋体"/>
                  </a:rPr>
                  <a:t>，特征根：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kumimoji="1" lang="zh-CN" altLang="en-US" sz="2400" dirty="0">
                  <a:solidFill>
                    <a:srgbClr val="000000"/>
                  </a:solidFill>
                  <a:latin typeface="宋体"/>
                  <a:ea typeface="宋体"/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580" y="2748017"/>
                <a:ext cx="7169020" cy="461665"/>
              </a:xfrm>
              <a:prstGeom prst="rect">
                <a:avLst/>
              </a:prstGeom>
              <a:blipFill>
                <a:blip r:embed="rId14"/>
                <a:stretch>
                  <a:fillRect l="-1361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1994784" y="3209682"/>
                <a:ext cx="445372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方程</a:t>
                </a:r>
                <a:r>
                  <a:rPr lang="zh-CN" altLang="en-US" sz="2400" dirty="0" smtClean="0"/>
                  <a:t>的通解为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784" y="3209682"/>
                <a:ext cx="4453720" cy="461665"/>
              </a:xfrm>
              <a:prstGeom prst="rect">
                <a:avLst/>
              </a:prstGeom>
              <a:blipFill>
                <a:blip r:embed="rId15"/>
                <a:stretch>
                  <a:fillRect l="-2052" t="-14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2011580" y="3671347"/>
                <a:ext cx="3409267" cy="634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=4</m:t>
                    </m:r>
                    <m:r>
                      <m:rPr>
                        <m:nor/>
                      </m:rP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  <a:latin typeface="宋体"/>
                    <a:ea typeface="宋体"/>
                  </a:rPr>
                  <a:t> </a:t>
                </a:r>
                <a:endParaRPr lang="zh-CN" altLang="en-US" sz="2400" dirty="0">
                  <a:solidFill>
                    <a:srgbClr val="000000"/>
                  </a:solidFill>
                  <a:latin typeface="宋体"/>
                  <a:ea typeface="宋体"/>
                </a:endParaRPr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580" y="3671347"/>
                <a:ext cx="3409267" cy="63414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5523838" y="3757588"/>
                <a:ext cx="213436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=4, 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3838" y="3757588"/>
                <a:ext cx="2134367" cy="461665"/>
              </a:xfrm>
              <a:prstGeom prst="rect">
                <a:avLst/>
              </a:prstGeom>
              <a:blipFill>
                <a:blip r:embed="rId1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7865207" y="3757587"/>
                <a:ext cx="235987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207" y="3757587"/>
                <a:ext cx="2359877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/>
          <p:cNvSpPr/>
          <p:nvPr/>
        </p:nvSpPr>
        <p:spPr>
          <a:xfrm>
            <a:off x="619994" y="4014"/>
            <a:ext cx="3472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第七节 常系数齐次线性微分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52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12" grpId="0"/>
      <p:bldP spid="14" grpId="0"/>
      <p:bldP spid="16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1981200" y="381000"/>
            <a:ext cx="1371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accent2"/>
                </a:solidFill>
                <a:ea typeface="黑体" panose="02010609060101010101" pitchFamily="49" charset="-122"/>
              </a:rPr>
              <a:t>小结</a:t>
            </a:r>
            <a:r>
              <a:rPr lang="en-US" altLang="zh-CN" sz="2800" b="1">
                <a:solidFill>
                  <a:schemeClr val="accent2"/>
                </a:solidFill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94211" name="Object 3"/>
          <p:cNvGraphicFramePr>
            <a:graphicFrameLocks noChangeAspect="1"/>
          </p:cNvGraphicFramePr>
          <p:nvPr/>
        </p:nvGraphicFramePr>
        <p:xfrm>
          <a:off x="3252788" y="990600"/>
          <a:ext cx="50530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35" name="Equation" r:id="rId3" imgW="5038557" imgH="438066" progId="Equation.3">
                  <p:embed/>
                </p:oleObj>
              </mc:Choice>
              <mc:Fallback>
                <p:oleObj name="Equation" r:id="rId3" imgW="5038557" imgH="43806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2788" y="990600"/>
                        <a:ext cx="50530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48" name="Object 4"/>
          <p:cNvGraphicFramePr>
            <a:graphicFrameLocks noChangeAspect="1"/>
          </p:cNvGraphicFramePr>
          <p:nvPr/>
        </p:nvGraphicFramePr>
        <p:xfrm>
          <a:off x="3898901" y="1671638"/>
          <a:ext cx="2347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36" name="Equation" r:id="rId5" imgW="2333586" imgH="504876" progId="Equation.3">
                  <p:embed/>
                </p:oleObj>
              </mc:Choice>
              <mc:Fallback>
                <p:oleObj name="Equation" r:id="rId5" imgW="2333586" imgH="50487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901" y="1671638"/>
                        <a:ext cx="2347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49" name="Text Box 5"/>
          <p:cNvSpPr txBox="1">
            <a:spLocks noChangeArrowheads="1"/>
          </p:cNvSpPr>
          <p:nvPr/>
        </p:nvSpPr>
        <p:spPr bwMode="auto">
          <a:xfrm>
            <a:off x="2133600" y="1647826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特征方程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graphicFrame>
        <p:nvGraphicFramePr>
          <p:cNvPr id="338950" name="Object 6"/>
          <p:cNvGraphicFramePr>
            <a:graphicFrameLocks noChangeAspect="1"/>
          </p:cNvGraphicFramePr>
          <p:nvPr/>
        </p:nvGraphicFramePr>
        <p:xfrm>
          <a:off x="5257801" y="3284538"/>
          <a:ext cx="29702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37" name="Equation" r:id="rId7" imgW="2952563" imgH="552657" progId="Equation.3">
                  <p:embed/>
                </p:oleObj>
              </mc:Choice>
              <mc:Fallback>
                <p:oleObj name="Equation" r:id="rId7" imgW="2952563" imgH="55265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3284538"/>
                        <a:ext cx="297021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51" name="Object 7"/>
          <p:cNvGraphicFramePr>
            <a:graphicFrameLocks noChangeAspect="1"/>
          </p:cNvGraphicFramePr>
          <p:nvPr/>
        </p:nvGraphicFramePr>
        <p:xfrm>
          <a:off x="6400800" y="1752600"/>
          <a:ext cx="2019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38" name="Equation" r:id="rId9" imgW="2000096" imgH="438066" progId="Equation.3">
                  <p:embed/>
                </p:oleObj>
              </mc:Choice>
              <mc:Fallback>
                <p:oleObj name="Equation" r:id="rId9" imgW="2000096" imgH="43806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752600"/>
                        <a:ext cx="2019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52" name="Object 8"/>
          <p:cNvGraphicFramePr>
            <a:graphicFrameLocks noChangeAspect="1"/>
          </p:cNvGraphicFramePr>
          <p:nvPr/>
        </p:nvGraphicFramePr>
        <p:xfrm>
          <a:off x="3060700" y="3322638"/>
          <a:ext cx="901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39" name="Equation" r:id="rId11" imgW="885937" imgH="428764" progId="Equation.3">
                  <p:embed/>
                </p:oleObj>
              </mc:Choice>
              <mc:Fallback>
                <p:oleObj name="Equation" r:id="rId11" imgW="885937" imgH="42876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3322638"/>
                        <a:ext cx="901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53" name="Text Box 9"/>
          <p:cNvSpPr txBox="1">
            <a:spLocks noChangeArrowheads="1"/>
          </p:cNvSpPr>
          <p:nvPr/>
        </p:nvSpPr>
        <p:spPr bwMode="auto">
          <a:xfrm>
            <a:off x="3962400" y="3276601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实根 </a:t>
            </a:r>
          </a:p>
        </p:txBody>
      </p:sp>
      <p:graphicFrame>
        <p:nvGraphicFramePr>
          <p:cNvPr id="338954" name="Object 10"/>
          <p:cNvGraphicFramePr>
            <a:graphicFrameLocks noChangeAspect="1"/>
          </p:cNvGraphicFramePr>
          <p:nvPr/>
        </p:nvGraphicFramePr>
        <p:xfrm>
          <a:off x="3048000" y="3924300"/>
          <a:ext cx="1752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40" name="Equation" r:id="rId13" imgW="1733557" imgH="552657" progId="Equation.3">
                  <p:embed/>
                </p:oleObj>
              </mc:Choice>
              <mc:Fallback>
                <p:oleObj name="Equation" r:id="rId13" imgW="1733557" imgH="55265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924300"/>
                        <a:ext cx="1752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55" name="Object 11"/>
          <p:cNvGraphicFramePr>
            <a:graphicFrameLocks noChangeAspect="1"/>
          </p:cNvGraphicFramePr>
          <p:nvPr/>
        </p:nvGraphicFramePr>
        <p:xfrm>
          <a:off x="5219701" y="3875088"/>
          <a:ext cx="29321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41" name="Equation" r:id="rId15" imgW="2914666" imgH="552657" progId="Equation.3">
                  <p:embed/>
                </p:oleObj>
              </mc:Choice>
              <mc:Fallback>
                <p:oleObj name="Equation" r:id="rId15" imgW="2914666" imgH="55265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1" y="3875088"/>
                        <a:ext cx="293211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56" name="Object 12"/>
          <p:cNvGraphicFramePr>
            <a:graphicFrameLocks noChangeAspect="1"/>
          </p:cNvGraphicFramePr>
          <p:nvPr/>
        </p:nvGraphicFramePr>
        <p:xfrm>
          <a:off x="2971801" y="4686300"/>
          <a:ext cx="18653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42" name="Equation" r:id="rId17" imgW="1847668" imgH="476122" progId="Equation.3">
                  <p:embed/>
                </p:oleObj>
              </mc:Choice>
              <mc:Fallback>
                <p:oleObj name="Equation" r:id="rId17" imgW="1847668" imgH="47612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4686300"/>
                        <a:ext cx="186531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57" name="Object 13"/>
          <p:cNvGraphicFramePr>
            <a:graphicFrameLocks noChangeAspect="1"/>
          </p:cNvGraphicFramePr>
          <p:nvPr/>
        </p:nvGraphicFramePr>
        <p:xfrm>
          <a:off x="5232401" y="4565650"/>
          <a:ext cx="46720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43" name="Equation" r:id="rId19" imgW="4657907" imgH="504876" progId="Equation.3">
                  <p:embed/>
                </p:oleObj>
              </mc:Choice>
              <mc:Fallback>
                <p:oleObj name="Equation" r:id="rId19" imgW="4657907" imgH="50487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1" y="4565650"/>
                        <a:ext cx="46720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8958" name="Group 14"/>
          <p:cNvGrpSpPr>
            <a:grpSpLocks/>
          </p:cNvGrpSpPr>
          <p:nvPr/>
        </p:nvGrpSpPr>
        <p:grpSpPr bwMode="auto">
          <a:xfrm>
            <a:off x="2895600" y="2590800"/>
            <a:ext cx="7010400" cy="2590800"/>
            <a:chOff x="864" y="1728"/>
            <a:chExt cx="4416" cy="1632"/>
          </a:xfrm>
        </p:grpSpPr>
        <p:sp>
          <p:nvSpPr>
            <p:cNvPr id="94226" name="Line 15"/>
            <p:cNvSpPr>
              <a:spLocks noChangeShapeType="1"/>
            </p:cNvSpPr>
            <p:nvPr/>
          </p:nvSpPr>
          <p:spPr bwMode="auto">
            <a:xfrm>
              <a:off x="912" y="2064"/>
              <a:ext cx="43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27" name="Line 16"/>
            <p:cNvSpPr>
              <a:spLocks noChangeShapeType="1"/>
            </p:cNvSpPr>
            <p:nvPr/>
          </p:nvSpPr>
          <p:spPr bwMode="auto">
            <a:xfrm>
              <a:off x="2208" y="1776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28" name="Text Box 17"/>
            <p:cNvSpPr txBox="1">
              <a:spLocks noChangeArrowheads="1"/>
            </p:cNvSpPr>
            <p:nvPr/>
          </p:nvSpPr>
          <p:spPr bwMode="auto">
            <a:xfrm>
              <a:off x="864" y="1728"/>
              <a:ext cx="12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  <a:ea typeface="黑体" panose="02010609060101010101" pitchFamily="49" charset="-122"/>
                </a:rPr>
                <a:t>特 征 根</a:t>
              </a:r>
            </a:p>
          </p:txBody>
        </p:sp>
        <p:sp>
          <p:nvSpPr>
            <p:cNvPr id="94229" name="Text Box 18"/>
            <p:cNvSpPr txBox="1">
              <a:spLocks noChangeArrowheads="1"/>
            </p:cNvSpPr>
            <p:nvPr/>
          </p:nvSpPr>
          <p:spPr bwMode="auto">
            <a:xfrm>
              <a:off x="2496" y="1728"/>
              <a:ext cx="14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  <a:ea typeface="黑体" panose="02010609060101010101" pitchFamily="49" charset="-122"/>
                </a:rPr>
                <a:t>通              解</a:t>
              </a:r>
            </a:p>
          </p:txBody>
        </p:sp>
      </p:grpSp>
      <p:sp>
        <p:nvSpPr>
          <p:cNvPr id="338963" name="Text Box 19"/>
          <p:cNvSpPr txBox="1">
            <a:spLocks noChangeArrowheads="1"/>
          </p:cNvSpPr>
          <p:nvPr/>
        </p:nvSpPr>
        <p:spPr bwMode="auto">
          <a:xfrm>
            <a:off x="2133600" y="5486401"/>
            <a:ext cx="7118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以上结论可推广到高阶常系数线性微分方程 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338964" name="Line 20"/>
          <p:cNvSpPr>
            <a:spLocks noChangeShapeType="1"/>
          </p:cNvSpPr>
          <p:nvPr/>
        </p:nvSpPr>
        <p:spPr bwMode="auto">
          <a:xfrm>
            <a:off x="3048000" y="2590800"/>
            <a:ext cx="685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965" name="Line 21"/>
          <p:cNvSpPr>
            <a:spLocks noChangeShapeType="1"/>
          </p:cNvSpPr>
          <p:nvPr/>
        </p:nvSpPr>
        <p:spPr bwMode="auto">
          <a:xfrm>
            <a:off x="2895600" y="5181600"/>
            <a:ext cx="716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EF6AEB-459C-4648-88AD-F22B5548E9DD}" type="datetime11">
              <a:rPr lang="zh-CN" altLang="en-US" smtClean="0"/>
              <a:t>15:29:50</a:t>
            </a:fld>
            <a:endParaRPr lang="en-US" altLang="zh-CN"/>
          </a:p>
        </p:txBody>
      </p:sp>
      <p:sp>
        <p:nvSpPr>
          <p:cNvPr id="23" name="矩形 22"/>
          <p:cNvSpPr/>
          <p:nvPr/>
        </p:nvSpPr>
        <p:spPr>
          <a:xfrm>
            <a:off x="619994" y="4014"/>
            <a:ext cx="3472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第七节 常系数齐次线性微分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F0E066-1E96-411C-86F3-08BA98B1BEF7}" type="datetime11">
              <a:rPr lang="zh-CN" altLang="en-US" smtClean="0"/>
              <a:t>15:29:50</a:t>
            </a:fld>
            <a:endParaRPr lang="en-US" altLang="zh-CN"/>
          </a:p>
        </p:txBody>
      </p:sp>
      <p:sp>
        <p:nvSpPr>
          <p:cNvPr id="95234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700154" y="468517"/>
            <a:ext cx="8229600" cy="609600"/>
          </a:xfrm>
        </p:spPr>
        <p:txBody>
          <a:bodyPr/>
          <a:lstStyle/>
          <a:p>
            <a:pPr eaLnBrk="1" hangingPunct="1"/>
            <a:r>
              <a:rPr lang="en-US" altLang="zh-CN" i="1" dirty="0" smtClean="0"/>
              <a:t>n</a:t>
            </a:r>
            <a:r>
              <a:rPr lang="zh-CN" altLang="en-US" dirty="0" smtClean="0"/>
              <a:t>阶</a:t>
            </a:r>
            <a:r>
              <a:rPr lang="zh-CN" altLang="en-US" dirty="0" smtClean="0">
                <a:ea typeface="方正舒体" panose="02010601030101010101" pitchFamily="2" charset="-122"/>
              </a:rPr>
              <a:t>常系数</a:t>
            </a:r>
            <a:r>
              <a:rPr lang="zh-CN" altLang="en-US" dirty="0" smtClean="0"/>
              <a:t>齐次线性微分方程：</a:t>
            </a:r>
          </a:p>
        </p:txBody>
      </p:sp>
      <p:graphicFrame>
        <p:nvGraphicFramePr>
          <p:cNvPr id="95235" name="Object 3"/>
          <p:cNvGraphicFramePr>
            <a:graphicFrameLocks noChangeAspect="1"/>
          </p:cNvGraphicFramePr>
          <p:nvPr/>
        </p:nvGraphicFramePr>
        <p:xfrm>
          <a:off x="2425701" y="1243013"/>
          <a:ext cx="73882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27" name="Equation" r:id="rId3" imgW="3057410" imgH="219033" progId="Equation.3">
                  <p:embed/>
                </p:oleObj>
              </mc:Choice>
              <mc:Fallback>
                <p:oleObj name="Equation" r:id="rId3" imgW="3057410" imgH="21903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1" y="1243013"/>
                        <a:ext cx="738822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6" name="Object 4"/>
          <p:cNvGraphicFramePr>
            <a:graphicFrameLocks noChangeAspect="1"/>
          </p:cNvGraphicFramePr>
          <p:nvPr/>
        </p:nvGraphicFramePr>
        <p:xfrm>
          <a:off x="2954339" y="2930525"/>
          <a:ext cx="644207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28" name="Equation" r:id="rId5" imgW="2657391" imgH="219033" progId="Equation.3">
                  <p:embed/>
                </p:oleObj>
              </mc:Choice>
              <mc:Fallback>
                <p:oleObj name="Equation" r:id="rId5" imgW="2657391" imgH="21903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4339" y="2930525"/>
                        <a:ext cx="644207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7" name="Rectangle 5"/>
          <p:cNvSpPr>
            <a:spLocks noChangeArrowheads="1"/>
          </p:cNvSpPr>
          <p:nvPr/>
        </p:nvSpPr>
        <p:spPr bwMode="auto">
          <a:xfrm>
            <a:off x="700154" y="3908295"/>
            <a:ext cx="869626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 dirty="0">
                <a:latin typeface="Times New Roman" panose="02020603050405020304" pitchFamily="18" charset="0"/>
              </a:rPr>
              <a:t>n</a:t>
            </a:r>
            <a:r>
              <a:rPr kumimoji="1" lang="zh-CN" altLang="en-US" dirty="0">
                <a:latin typeface="Times New Roman" panose="02020603050405020304" pitchFamily="18" charset="0"/>
              </a:rPr>
              <a:t>阶常系数齐次线性微分方程的通解</a:t>
            </a:r>
            <a:r>
              <a:rPr kumimoji="1" lang="en-US" altLang="zh-CN" dirty="0" smtClean="0">
                <a:latin typeface="Times New Roman" panose="02020603050405020304" pitchFamily="18" charset="0"/>
              </a:rPr>
              <a:t>:(</a:t>
            </a:r>
            <a:r>
              <a:rPr kumimoji="1" lang="zh-CN" altLang="en-US" dirty="0">
                <a:latin typeface="Times New Roman" panose="02020603050405020304" pitchFamily="18" charset="0"/>
              </a:rPr>
              <a:t>见书</a:t>
            </a:r>
            <a:r>
              <a:rPr kumimoji="1" lang="en-US" altLang="zh-CN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95238" name="Rectangle 6"/>
          <p:cNvSpPr>
            <a:spLocks noChangeArrowheads="1"/>
          </p:cNvSpPr>
          <p:nvPr/>
        </p:nvSpPr>
        <p:spPr bwMode="auto">
          <a:xfrm>
            <a:off x="700154" y="2129472"/>
            <a:ext cx="7439537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i="1" dirty="0">
                <a:latin typeface="Times New Roman" panose="02020603050405020304" pitchFamily="18" charset="0"/>
              </a:rPr>
              <a:t>n</a:t>
            </a:r>
            <a:r>
              <a:rPr kumimoji="1" lang="zh-CN" altLang="en-US" dirty="0">
                <a:latin typeface="Times New Roman" panose="02020603050405020304" pitchFamily="18" charset="0"/>
              </a:rPr>
              <a:t>阶常系数齐次线性微分方程的特征方程</a:t>
            </a:r>
            <a:r>
              <a:rPr kumimoji="1" lang="en-US" altLang="zh-CN" dirty="0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8" name="矩形 7"/>
          <p:cNvSpPr/>
          <p:nvPr/>
        </p:nvSpPr>
        <p:spPr>
          <a:xfrm>
            <a:off x="619994" y="4014"/>
            <a:ext cx="3472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第七节 常系数齐次线性微分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15:29:50</a:t>
            </a:fld>
            <a:endParaRPr lang="en-US" altLang="zh-CN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91869" y="403473"/>
            <a:ext cx="914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</a:t>
            </a:r>
            <a:endParaRPr kumimoji="1" lang="en-US" altLang="zh-CN" sz="2800" dirty="0">
              <a:solidFill>
                <a:srgbClr val="99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5"/>
              <p:cNvSpPr txBox="1">
                <a:spLocks noChangeArrowheads="1"/>
              </p:cNvSpPr>
              <p:nvPr/>
            </p:nvSpPr>
            <p:spPr bwMode="auto">
              <a:xfrm>
                <a:off x="1382221" y="933117"/>
                <a:ext cx="491594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dirty="0" smtClean="0">
                    <a:latin typeface="+mn-ea"/>
                    <a:ea typeface="+mn-ea"/>
                  </a:rPr>
                  <a:t>解</a:t>
                </a:r>
                <a:r>
                  <a:rPr kumimoji="1" lang="en-US" altLang="zh-CN" sz="2400" dirty="0">
                    <a:latin typeface="+mn-ea"/>
                    <a:ea typeface="+mn-ea"/>
                  </a:rPr>
                  <a:t>:  </a:t>
                </a:r>
                <a:r>
                  <a:rPr kumimoji="1" lang="zh-CN" altLang="en-US" sz="2400" dirty="0">
                    <a:latin typeface="+mn-ea"/>
                    <a:ea typeface="+mn-ea"/>
                  </a:rPr>
                  <a:t>特征</a:t>
                </a:r>
                <a:r>
                  <a:rPr kumimoji="1" lang="zh-CN" altLang="en-US" sz="2400" dirty="0" smtClean="0">
                    <a:latin typeface="+mn-ea"/>
                    <a:ea typeface="+mn-ea"/>
                  </a:rPr>
                  <a:t>方程</a:t>
                </a:r>
                <a:r>
                  <a:rPr kumimoji="1" lang="en-US" altLang="zh-CN" sz="2400" dirty="0" smtClean="0">
                    <a:latin typeface="+mn-ea"/>
                    <a:ea typeface="+mn-ea"/>
                  </a:rPr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zh-CN" altLang="en-US" sz="24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4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2221" y="933117"/>
                <a:ext cx="4915942" cy="461665"/>
              </a:xfrm>
              <a:prstGeom prst="rect">
                <a:avLst/>
              </a:prstGeom>
              <a:blipFill>
                <a:blip r:embed="rId2"/>
                <a:stretch>
                  <a:fillRect l="-1985" t="-14474" b="-2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6341846" y="924841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+mn-ea"/>
                <a:ea typeface="+mn-ea"/>
              </a:rPr>
              <a:t>特征根</a:t>
            </a:r>
            <a:r>
              <a:rPr kumimoji="1" lang="en-US" altLang="zh-CN" sz="2400" dirty="0">
                <a:latin typeface="+mn-ea"/>
                <a:ea typeface="+mn-ea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382221" y="446445"/>
                <a:ext cx="5892800" cy="4866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求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方程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−2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+5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 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通解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221" y="446445"/>
                <a:ext cx="5892800" cy="486672"/>
              </a:xfrm>
              <a:prstGeom prst="rect">
                <a:avLst/>
              </a:prstGeom>
              <a:blipFill>
                <a:blip r:embed="rId3"/>
                <a:stretch>
                  <a:fillRect t="-8750" b="-23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7576272" y="924840"/>
                <a:ext cx="3062120" cy="4778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=1±2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zh-CN" sz="2400" dirty="0" smtClean="0">
                    <a:solidFill>
                      <a:srgbClr val="000000"/>
                    </a:solidFill>
                    <a:latin typeface="宋体"/>
                    <a:ea typeface="宋体"/>
                  </a:rPr>
                  <a:t>,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zh-CN" altLang="en-US" sz="2400" dirty="0">
                  <a:solidFill>
                    <a:srgbClr val="000000"/>
                  </a:solidFill>
                  <a:latin typeface="宋体"/>
                  <a:ea typeface="宋体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272" y="924840"/>
                <a:ext cx="3062120" cy="477888"/>
              </a:xfrm>
              <a:prstGeom prst="rect">
                <a:avLst/>
              </a:prstGeom>
              <a:blipFill>
                <a:blip r:embed="rId4"/>
                <a:stretch>
                  <a:fillRect t="-15385" b="-20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2113202" y="1419789"/>
            <a:ext cx="2116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</a:rPr>
              <a:t>方程的通解</a:t>
            </a:r>
            <a:r>
              <a:rPr lang="zh-CN" altLang="en-US" sz="2400" dirty="0" smtClean="0">
                <a:solidFill>
                  <a:srgbClr val="000000"/>
                </a:solidFill>
              </a:rPr>
              <a:t>为</a:t>
            </a:r>
            <a:r>
              <a:rPr lang="en-US" altLang="zh-CN" sz="2400" dirty="0" smtClean="0">
                <a:solidFill>
                  <a:srgbClr val="000000"/>
                </a:solidFill>
              </a:rPr>
              <a:t>: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4229487" y="1419788"/>
                <a:ext cx="498021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487" y="1419788"/>
                <a:ext cx="4980210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691869" y="3149783"/>
            <a:ext cx="914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5.</a:t>
            </a:r>
            <a:endParaRPr kumimoji="1" lang="en-US" altLang="zh-CN" sz="2800" dirty="0">
              <a:solidFill>
                <a:srgbClr val="99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5"/>
              <p:cNvSpPr txBox="1">
                <a:spLocks noChangeArrowheads="1"/>
              </p:cNvSpPr>
              <p:nvPr/>
            </p:nvSpPr>
            <p:spPr bwMode="auto">
              <a:xfrm>
                <a:off x="1370163" y="3785680"/>
                <a:ext cx="491594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dirty="0" smtClean="0">
                    <a:latin typeface="+mn-ea"/>
                    <a:ea typeface="+mn-ea"/>
                  </a:rPr>
                  <a:t>解</a:t>
                </a:r>
                <a:r>
                  <a:rPr kumimoji="1" lang="en-US" altLang="zh-CN" sz="2400" dirty="0">
                    <a:latin typeface="+mn-ea"/>
                    <a:ea typeface="+mn-ea"/>
                  </a:rPr>
                  <a:t>:  </a:t>
                </a:r>
                <a:r>
                  <a:rPr kumimoji="1" lang="zh-CN" altLang="en-US" sz="2400" dirty="0">
                    <a:latin typeface="+mn-ea"/>
                    <a:ea typeface="+mn-ea"/>
                  </a:rPr>
                  <a:t>特征</a:t>
                </a:r>
                <a:r>
                  <a:rPr kumimoji="1" lang="zh-CN" altLang="en-US" sz="2400" dirty="0" smtClean="0">
                    <a:latin typeface="+mn-ea"/>
                    <a:ea typeface="+mn-ea"/>
                  </a:rPr>
                  <a:t>方程</a:t>
                </a:r>
                <a:r>
                  <a:rPr kumimoji="1" lang="en-US" altLang="zh-CN" sz="2400" dirty="0" smtClean="0">
                    <a:latin typeface="+mn-ea"/>
                    <a:ea typeface="+mn-ea"/>
                  </a:rPr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zh-CN" altLang="en-US" sz="24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4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0163" y="3785680"/>
                <a:ext cx="4915942" cy="461665"/>
              </a:xfrm>
              <a:prstGeom prst="rect">
                <a:avLst/>
              </a:prstGeom>
              <a:blipFill>
                <a:blip r:embed="rId6"/>
                <a:stretch>
                  <a:fillRect l="-1985" t="-14474" b="-2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5464515" y="3760153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>
                <a:latin typeface="+mn-ea"/>
                <a:ea typeface="+mn-ea"/>
              </a:rPr>
              <a:t>特征根</a:t>
            </a:r>
            <a:r>
              <a:rPr kumimoji="1" lang="en-US" altLang="zh-CN" sz="2400" dirty="0">
                <a:latin typeface="+mn-ea"/>
                <a:ea typeface="+mn-ea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1382221" y="3080411"/>
                <a:ext cx="5892800" cy="6683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smtClean="0">
                        <a:latin typeface="Cambria Math" panose="02040503050406030204" pitchFamily="18" charset="0"/>
                      </a:rPr>
                      <m:t>求</m:t>
                    </m:r>
                    <m:r>
                      <a:rPr lang="zh-CN" altLang="en-US" sz="2400" i="0">
                        <a:latin typeface="Cambria Math" panose="02040503050406030204" pitchFamily="18" charset="0"/>
                      </a:rPr>
                      <m:t>方程</m:t>
                    </m:r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 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l-GR" altLang="zh-CN" sz="2400" dirty="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l-GR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&gt;0)</m:t>
                    </m:r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</a:rPr>
                  <a:t>的</a:t>
                </a:r>
                <a:r>
                  <a:rPr lang="zh-CN" altLang="en-US" sz="2400" dirty="0" smtClean="0">
                    <a:latin typeface="Cambria Math" panose="02040503050406030204" pitchFamily="18" charset="0"/>
                  </a:rPr>
                  <a:t>通解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221" y="3080411"/>
                <a:ext cx="5892800" cy="668388"/>
              </a:xfrm>
              <a:prstGeom prst="rect">
                <a:avLst/>
              </a:prstGeom>
              <a:blipFill>
                <a:blip r:embed="rId7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6755178" y="3663204"/>
                <a:ext cx="4814588" cy="6555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1±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kumimoji="1" lang="en-US" altLang="zh-CN" sz="2400" dirty="0" smtClean="0">
                    <a:solidFill>
                      <a:srgbClr val="000000"/>
                    </a:solidFill>
                    <a:latin typeface="宋体"/>
                    <a:ea typeface="宋体"/>
                  </a:rPr>
                  <a:t>,</a:t>
                </a:r>
                <a:r>
                  <a:rPr lang="zh-CN" altLang="en-US" sz="2400" dirty="0" smtClean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1±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kumimoji="1" lang="zh-CN" altLang="en-US" sz="2400" dirty="0">
                  <a:solidFill>
                    <a:srgbClr val="000000"/>
                  </a:solidFill>
                  <a:latin typeface="宋体"/>
                  <a:ea typeface="宋体"/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178" y="3663204"/>
                <a:ext cx="4814588" cy="655564"/>
              </a:xfrm>
              <a:prstGeom prst="rect">
                <a:avLst/>
              </a:prstGeom>
              <a:blipFill>
                <a:blip r:embed="rId8"/>
                <a:stretch>
                  <a:fillRect b="-18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2113202" y="4572818"/>
            <a:ext cx="2116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</a:rPr>
              <a:t>方程的通解</a:t>
            </a:r>
            <a:r>
              <a:rPr lang="zh-CN" altLang="en-US" sz="2400" dirty="0" smtClean="0">
                <a:solidFill>
                  <a:srgbClr val="000000"/>
                </a:solidFill>
              </a:rPr>
              <a:t>为</a:t>
            </a:r>
            <a:r>
              <a:rPr lang="en-US" altLang="zh-CN" sz="2400" dirty="0" smtClean="0">
                <a:solidFill>
                  <a:srgbClr val="000000"/>
                </a:solidFill>
              </a:rPr>
              <a:t>: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4229487" y="4305105"/>
                <a:ext cx="7087453" cy="8743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f>
                            <m:f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f>
                            <m:f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f>
                            <m:f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f>
                            <m:f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487" y="4305105"/>
                <a:ext cx="7087453" cy="8743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619994" y="4014"/>
            <a:ext cx="3472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第七节 常系数齐次线性微分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18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15:29:50</a:t>
            </a:fld>
            <a:endParaRPr lang="en-US" altLang="zh-CN"/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auto">
          <a:xfrm>
            <a:off x="1699726" y="490045"/>
            <a:ext cx="896671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 dirty="0">
                <a:latin typeface="华文行楷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4400" dirty="0" smtClean="0">
                <a:latin typeface="华文行楷" panose="02010800040101010101" pitchFamily="2" charset="-122"/>
                <a:ea typeface="华文新魏" panose="02010800040101010101" pitchFamily="2" charset="-122"/>
              </a:rPr>
              <a:t>第八节 </a:t>
            </a:r>
            <a:r>
              <a:rPr lang="zh-CN" altLang="en-US" sz="4400" dirty="0">
                <a:latin typeface="华文行楷" panose="02010800040101010101" pitchFamily="2" charset="-122"/>
                <a:ea typeface="华文新魏" panose="02010800040101010101" pitchFamily="2" charset="-122"/>
              </a:rPr>
              <a:t>常</a:t>
            </a:r>
            <a:r>
              <a:rPr lang="zh-CN" altLang="en-US" sz="4400" dirty="0" smtClean="0">
                <a:latin typeface="华文行楷" panose="02010800040101010101" pitchFamily="2" charset="-122"/>
                <a:ea typeface="华文新魏" panose="02010800040101010101" pitchFamily="2" charset="-122"/>
              </a:rPr>
              <a:t>系数非齐</a:t>
            </a:r>
            <a:r>
              <a:rPr lang="zh-CN" altLang="en-US" sz="4400" dirty="0">
                <a:latin typeface="华文行楷" panose="02010800040101010101" pitchFamily="2" charset="-122"/>
                <a:ea typeface="华文新魏" panose="02010800040101010101" pitchFamily="2" charset="-122"/>
              </a:rPr>
              <a:t>次线性微分</a:t>
            </a:r>
            <a:r>
              <a:rPr lang="zh-CN" altLang="en-US" sz="4400" dirty="0">
                <a:ea typeface="华文新魏" panose="02010800040101010101" pitchFamily="2" charset="-122"/>
              </a:rPr>
              <a:t>方程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418254" y="1631303"/>
            <a:ext cx="629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二阶常系数非齐次线性方程的标准形式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772568" y="1611086"/>
                <a:ext cx="314977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nor/>
                        </m:rP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 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2568" y="1611086"/>
                <a:ext cx="3149773" cy="461665"/>
              </a:xfrm>
              <a:prstGeom prst="rect">
                <a:avLst/>
              </a:prstGeom>
              <a:blipFill>
                <a:blip r:embed="rId2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1418254" y="2319826"/>
            <a:ext cx="92481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根据线性微分方程解的结构，只需要求解齐次线性微分方程的通解和非齐次微分方程的</a:t>
            </a:r>
            <a:r>
              <a:rPr kumimoji="1"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一个特解</a:t>
            </a:r>
            <a:r>
              <a:rPr kumimoji="1"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15"/>
              <p:cNvSpPr>
                <a:spLocks noChangeArrowheads="1"/>
              </p:cNvSpPr>
              <p:nvPr/>
            </p:nvSpPr>
            <p:spPr bwMode="auto">
              <a:xfrm>
                <a:off x="1418253" y="3268703"/>
                <a:ext cx="877077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:r>
                  <a:rPr kumimoji="1" lang="zh-CN" altLang="en-US" sz="24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猜想：</a:t>
                </a:r>
                <a:r>
                  <a:rPr lang="zh-CN" altLang="en-US" sz="2400" dirty="0"/>
                  <a:t>根据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/>
                  <a:t>猜想特解的基本形式，然后用</a:t>
                </a:r>
                <a:r>
                  <a:rPr lang="zh-CN" altLang="en-US" sz="2400" dirty="0" smtClean="0">
                    <a:solidFill>
                      <a:srgbClr val="0070C0"/>
                    </a:solidFill>
                  </a:rPr>
                  <a:t>待定系数法</a:t>
                </a:r>
                <a:r>
                  <a:rPr lang="zh-CN" altLang="en-US" sz="2400" dirty="0" smtClean="0"/>
                  <a:t>求解。</a:t>
                </a:r>
                <a:endParaRPr kumimoji="1"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8253" y="3268703"/>
                <a:ext cx="8770776" cy="461665"/>
              </a:xfrm>
              <a:prstGeom prst="rect">
                <a:avLst/>
              </a:prstGeom>
              <a:blipFill>
                <a:blip r:embed="rId3"/>
                <a:stretch>
                  <a:fillRect l="-1113" t="-14474" r="-626" b="-2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283531" y="3909669"/>
                <a:ext cx="9249135" cy="4789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kumimoji="1" lang="zh-CN" altLang="en-US" sz="24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一</a:t>
                </a:r>
                <a14:m>
                  <m:oMath xmlns:m="http://schemas.openxmlformats.org/officeDocument/2006/math">
                    <m:r>
                      <a:rPr kumimoji="1" lang="zh-CN" alt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531" y="3909669"/>
                <a:ext cx="9249135" cy="478977"/>
              </a:xfrm>
              <a:prstGeom prst="rect">
                <a:avLst/>
              </a:prstGeom>
              <a:blipFill>
                <a:blip r:embed="rId4"/>
                <a:stretch>
                  <a:fillRect l="-1055" t="-11392" b="-227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088486" y="4541749"/>
                <a:ext cx="5673220" cy="4789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/>
                  <a:t>猜测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是微分方程的一个特解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486" y="4541749"/>
                <a:ext cx="5673220" cy="478977"/>
              </a:xfrm>
              <a:prstGeom prst="rect">
                <a:avLst/>
              </a:prstGeom>
              <a:blipFill>
                <a:blip r:embed="rId5"/>
                <a:stretch>
                  <a:fillRect l="-1720" t="-11392" r="-753" b="-227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288229" y="5037891"/>
                <a:ext cx="3697615" cy="509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229" y="5037891"/>
                <a:ext cx="3697615" cy="5091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6183085" y="5037891"/>
                <a:ext cx="5404108" cy="509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″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3085" y="5037891"/>
                <a:ext cx="5404108" cy="5091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2193197" y="6091824"/>
                <a:ext cx="73380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zh-CN" altLang="en-US" sz="24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zh-CN" altLang="en-US" sz="24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 smtClean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197" y="6091824"/>
                <a:ext cx="7338034" cy="461665"/>
              </a:xfrm>
              <a:prstGeom prst="rect">
                <a:avLst/>
              </a:prstGeom>
              <a:blipFill>
                <a:blip r:embed="rId8"/>
                <a:stretch>
                  <a:fillRect l="-581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2088486" y="5547069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0000"/>
                </a:solidFill>
              </a:rPr>
              <a:t>代入并化简得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41905" y="0"/>
            <a:ext cx="3703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第八节 常系数非齐次线性微分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63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2" grpId="0"/>
      <p:bldP spid="13" grpId="0"/>
      <p:bldP spid="1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15:29:50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751686" y="410690"/>
                <a:ext cx="9560118" cy="4789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kumimoji="1" lang="zh-CN" altLang="en-US" sz="24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一、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zh-CN" alt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solidFill>
                      <a:srgbClr val="000000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86" y="410690"/>
                <a:ext cx="9560118" cy="478977"/>
              </a:xfrm>
              <a:prstGeom prst="rect">
                <a:avLst/>
              </a:prstGeom>
              <a:blipFill>
                <a:blip r:embed="rId2"/>
                <a:stretch>
                  <a:fillRect l="-956" t="-11392" b="-227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499276" y="889667"/>
                <a:ext cx="2064860" cy="4789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276" y="889667"/>
                <a:ext cx="2064860" cy="4789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16724" y="906979"/>
                <a:ext cx="73380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zh-CN" altLang="en-US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zh-CN" altLang="en-US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sSup>
                      <m:sSup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zh-CN" altLang="en-US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zh-CN" altLang="en-US" sz="2400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zh-CN" altLang="en-US" sz="24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2400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solidFill>
                      <a:srgbClr val="0000FF"/>
                    </a:solidFill>
                  </a:rPr>
                  <a:t> </a:t>
                </a:r>
                <a:endParaRPr lang="zh-CN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6724" y="906979"/>
                <a:ext cx="7338034" cy="461665"/>
              </a:xfrm>
              <a:prstGeom prst="rect">
                <a:avLst/>
              </a:prstGeom>
              <a:blipFill>
                <a:blip r:embed="rId4"/>
                <a:stretch>
                  <a:fillRect l="-581" b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890698" y="1594561"/>
                <a:ext cx="909236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/>
                  <a:t>（</a:t>
                </a:r>
                <a:r>
                  <a:rPr lang="en-US" altLang="zh-CN" sz="2400" dirty="0" smtClean="0"/>
                  <a:t>1</a:t>
                </a:r>
                <a:r>
                  <a:rPr lang="zh-CN" altLang="en-US" sz="2400" dirty="0" smtClean="0"/>
                  <a:t>）若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2400" dirty="0"/>
                  <a:t>不是对应齐次方程的特征方程的特征</a:t>
                </a:r>
                <a:r>
                  <a:rPr lang="zh-CN" altLang="en-US" sz="2400" dirty="0" smtClean="0"/>
                  <a:t>根</a:t>
                </a:r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698" y="1594561"/>
                <a:ext cx="9092361" cy="461665"/>
              </a:xfrm>
              <a:prstGeom prst="rect">
                <a:avLst/>
              </a:prstGeom>
              <a:blipFill>
                <a:blip r:embed="rId5"/>
                <a:stretch>
                  <a:fillRect l="-1005" t="-14667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156867" y="2056226"/>
                <a:ext cx="208351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867" y="2056226"/>
                <a:ext cx="2083519" cy="461665"/>
              </a:xfrm>
              <a:prstGeom prst="rect">
                <a:avLst/>
              </a:prstGeom>
              <a:blipFill>
                <a:blip r:embed="rId6"/>
                <a:stretch>
                  <a:fillRect l="-2047"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890698" y="2727131"/>
                <a:ext cx="109304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/>
                  <a:t>（</a:t>
                </a:r>
                <a:r>
                  <a:rPr lang="en-US" altLang="zh-CN" sz="2400" dirty="0" smtClean="0"/>
                  <a:t>2</a:t>
                </a:r>
                <a:r>
                  <a:rPr lang="zh-CN" altLang="en-US" sz="2400" dirty="0" smtClean="0"/>
                  <a:t>）若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2400" dirty="0"/>
                  <a:t>是对应齐次方程的特征方程</a:t>
                </a:r>
                <a:r>
                  <a:rPr lang="zh-CN" altLang="en-US" sz="2400" dirty="0" smtClean="0"/>
                  <a:t>的</a:t>
                </a:r>
                <a:r>
                  <a:rPr lang="zh-CN" altLang="en-US" sz="2400" dirty="0" smtClean="0">
                    <a:solidFill>
                      <a:srgbClr val="0000FF"/>
                    </a:solidFill>
                  </a:rPr>
                  <a:t>单</a:t>
                </a:r>
                <a:r>
                  <a:rPr lang="zh-CN" altLang="en-US" sz="2400" dirty="0" smtClean="0"/>
                  <a:t>特征根</a:t>
                </a:r>
                <a:r>
                  <a:rPr lang="zh-CN" altLang="en-US" sz="2400" dirty="0"/>
                  <a:t>，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698" y="2727131"/>
                <a:ext cx="10930428" cy="461665"/>
              </a:xfrm>
              <a:prstGeom prst="rect">
                <a:avLst/>
              </a:prstGeom>
              <a:blipFill>
                <a:blip r:embed="rId7"/>
                <a:stretch>
                  <a:fillRect l="-837" t="-14474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156867" y="3235468"/>
                <a:ext cx="225632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867" y="3235468"/>
                <a:ext cx="2256323" cy="461665"/>
              </a:xfrm>
              <a:prstGeom prst="rect">
                <a:avLst/>
              </a:prstGeom>
              <a:blipFill>
                <a:blip r:embed="rId8"/>
                <a:stretch>
                  <a:fillRect l="-1892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890698" y="3813318"/>
                <a:ext cx="109304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/>
                  <a:t>（</a:t>
                </a:r>
                <a:r>
                  <a:rPr lang="en-US" altLang="zh-CN" sz="2400" dirty="0" smtClean="0"/>
                  <a:t>3</a:t>
                </a:r>
                <a:r>
                  <a:rPr lang="zh-CN" altLang="en-US" sz="2400" dirty="0" smtClean="0"/>
                  <a:t>）若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2400" dirty="0"/>
                  <a:t>是对应齐次方程的特征方程</a:t>
                </a:r>
                <a:r>
                  <a:rPr lang="zh-CN" altLang="en-US" sz="2400" dirty="0" smtClean="0"/>
                  <a:t>的</a:t>
                </a:r>
                <a:r>
                  <a:rPr lang="zh-CN" altLang="en-US" sz="2400" dirty="0" smtClean="0">
                    <a:solidFill>
                      <a:srgbClr val="0000FF"/>
                    </a:solidFill>
                  </a:rPr>
                  <a:t>重</a:t>
                </a:r>
                <a:r>
                  <a:rPr lang="zh-CN" altLang="en-US" sz="2400" dirty="0" smtClean="0"/>
                  <a:t>特征根</a:t>
                </a:r>
                <a:r>
                  <a:rPr lang="zh-CN" altLang="en-US" sz="2400" dirty="0"/>
                  <a:t>，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698" y="3813318"/>
                <a:ext cx="10930428" cy="461665"/>
              </a:xfrm>
              <a:prstGeom prst="rect">
                <a:avLst/>
              </a:prstGeom>
              <a:blipFill>
                <a:blip r:embed="rId9"/>
                <a:stretch>
                  <a:fillRect l="-837" t="-14667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2156867" y="4391168"/>
                <a:ext cx="240642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867" y="4391168"/>
                <a:ext cx="2406428" cy="461665"/>
              </a:xfrm>
              <a:prstGeom prst="rect">
                <a:avLst/>
              </a:prstGeom>
              <a:blipFill>
                <a:blip r:embed="rId10"/>
                <a:stretch>
                  <a:fillRect l="-1772"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641905" y="0"/>
            <a:ext cx="3703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第八节 常系数非齐次线性微分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88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15:29:50</a:t>
            </a:fld>
            <a:endParaRPr lang="en-US" altLang="zh-CN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63877" y="371115"/>
            <a:ext cx="914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</a:t>
            </a:r>
            <a:endParaRPr kumimoji="1" lang="en-US" altLang="zh-CN" sz="2800" dirty="0">
              <a:solidFill>
                <a:srgbClr val="99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367652" y="406982"/>
                <a:ext cx="533671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求微分方程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+5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+6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+mn-ea"/>
                    <a:ea typeface="+mn-ea"/>
                  </a:rPr>
                  <a:t>的通解</a:t>
                </a:r>
                <a:endParaRPr lang="zh-CN" altLang="en-US" sz="24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652" y="406982"/>
                <a:ext cx="5336717" cy="461665"/>
              </a:xfrm>
              <a:prstGeom prst="rect">
                <a:avLst/>
              </a:prstGeom>
              <a:blipFill>
                <a:blip r:embed="rId2"/>
                <a:stretch>
                  <a:fillRect l="-1712" t="-14667" r="-799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367652" y="1071862"/>
            <a:ext cx="6159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 smtClean="0">
                <a:latin typeface="+mn-ea"/>
                <a:ea typeface="+mn-ea"/>
              </a:rPr>
              <a:t>解</a:t>
            </a:r>
            <a:r>
              <a:rPr kumimoji="1" lang="en-US" altLang="zh-CN" sz="2400" dirty="0" smtClean="0">
                <a:latin typeface="+mn-ea"/>
                <a:ea typeface="+mn-ea"/>
              </a:rPr>
              <a:t>: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983588" y="1071861"/>
                <a:ext cx="71690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kumimoji="1" lang="zh-CN" altLang="en-US" sz="2400" dirty="0" smtClean="0">
                    <a:solidFill>
                      <a:srgbClr val="000000"/>
                    </a:solidFill>
                    <a:latin typeface="宋体"/>
                    <a:ea typeface="宋体"/>
                  </a:rPr>
                  <a:t>特征方程：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+5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+6=0</m:t>
                    </m:r>
                  </m:oMath>
                </a14:m>
                <a:r>
                  <a:rPr kumimoji="1" lang="zh-CN" altLang="en-US" sz="2400" dirty="0">
                    <a:solidFill>
                      <a:srgbClr val="000000"/>
                    </a:solidFill>
                    <a:latin typeface="宋体"/>
                    <a:ea typeface="宋体"/>
                  </a:rPr>
                  <a:t>，特征根：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=−2, −3</m:t>
                    </m:r>
                  </m:oMath>
                </a14:m>
                <a:endParaRPr kumimoji="1" lang="zh-CN" altLang="en-US" sz="2400" dirty="0">
                  <a:solidFill>
                    <a:srgbClr val="000000"/>
                  </a:solidFill>
                  <a:latin typeface="宋体"/>
                  <a:ea typeface="宋体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588" y="1071861"/>
                <a:ext cx="7169020" cy="461665"/>
              </a:xfrm>
              <a:prstGeom prst="rect">
                <a:avLst/>
              </a:prstGeom>
              <a:blipFill>
                <a:blip r:embed="rId3"/>
                <a:stretch>
                  <a:fillRect l="-1276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966792" y="1533526"/>
                <a:ext cx="696742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对应的齐次线性方程</a:t>
                </a:r>
                <a:r>
                  <a:rPr lang="zh-CN" altLang="en-US" sz="2400" dirty="0" smtClean="0"/>
                  <a:t>的通解为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792" y="1533526"/>
                <a:ext cx="6967420" cy="461665"/>
              </a:xfrm>
              <a:prstGeom prst="rect">
                <a:avLst/>
              </a:prstGeom>
              <a:blipFill>
                <a:blip r:embed="rId4"/>
                <a:stretch>
                  <a:fillRect l="-1400" t="-14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983588" y="1995191"/>
                <a:ext cx="9436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设特解为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/>
                  <a:t>代入原方程可得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+15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+6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588" y="1995191"/>
                <a:ext cx="9436686" cy="461665"/>
              </a:xfrm>
              <a:prstGeom prst="rect">
                <a:avLst/>
              </a:prstGeom>
              <a:blipFill>
                <a:blip r:embed="rId5"/>
                <a:stretch>
                  <a:fillRect l="-969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100768" y="2456855"/>
                <a:ext cx="1700594" cy="616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768" y="2456855"/>
                <a:ext cx="1700594" cy="6161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4460102" y="253411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</a:rPr>
              <a:t>通解</a:t>
            </a:r>
            <a:r>
              <a:rPr lang="zh-CN" altLang="en-US" sz="2400" dirty="0" smtClean="0">
                <a:solidFill>
                  <a:srgbClr val="000000"/>
                </a:solidFill>
              </a:rPr>
              <a:t>为</a:t>
            </a:r>
            <a:r>
              <a:rPr lang="zh-CN" altLang="en-US" sz="2400" dirty="0">
                <a:solidFill>
                  <a:srgbClr val="000000"/>
                </a:solidFill>
              </a:rPr>
              <a:t>：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5721531" y="2456855"/>
                <a:ext cx="4139851" cy="616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rgbClr val="000000"/>
                    </a:solidFill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531" y="2456855"/>
                <a:ext cx="4139851" cy="6161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663877" y="3150482"/>
            <a:ext cx="914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dirty="0" smtClean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</a:t>
            </a:r>
            <a:endParaRPr kumimoji="1" lang="en-US" altLang="zh-CN" sz="2800" dirty="0">
              <a:solidFill>
                <a:srgbClr val="99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1367652" y="3186349"/>
                <a:ext cx="668029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40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求微分方程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4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+mn-ea"/>
                    <a:ea typeface="+mn-ea"/>
                  </a:rPr>
                  <a:t>的通解</a:t>
                </a:r>
                <a:endParaRPr lang="zh-CN" altLang="en-US" sz="240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652" y="3186349"/>
                <a:ext cx="6680290" cy="461665"/>
              </a:xfrm>
              <a:prstGeom prst="rect">
                <a:avLst/>
              </a:prstGeom>
              <a:blipFill>
                <a:blip r:embed="rId8"/>
                <a:stretch>
                  <a:fillRect l="-1369" t="-14667" r="-1004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367652" y="3737450"/>
            <a:ext cx="6159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dirty="0" smtClean="0">
                <a:latin typeface="+mn-ea"/>
                <a:ea typeface="+mn-ea"/>
              </a:rPr>
              <a:t>解</a:t>
            </a:r>
            <a:r>
              <a:rPr kumimoji="1" lang="en-US" altLang="zh-CN" sz="2400" dirty="0" smtClean="0">
                <a:latin typeface="+mn-ea"/>
                <a:ea typeface="+mn-ea"/>
              </a:rPr>
              <a:t>:</a:t>
            </a:r>
            <a:endParaRPr kumimoji="1" lang="zh-CN" altLang="en-US" sz="240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1983588" y="3737449"/>
                <a:ext cx="71690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spcBef>
                    <a:spcPct val="50000"/>
                  </a:spcBef>
                </a:pPr>
                <a:r>
                  <a:rPr kumimoji="1" lang="zh-CN" altLang="en-US" sz="2400" dirty="0" smtClean="0">
                    <a:solidFill>
                      <a:srgbClr val="000000"/>
                    </a:solidFill>
                    <a:latin typeface="宋体"/>
                    <a:ea typeface="宋体"/>
                  </a:rPr>
                  <a:t>特征方程：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kumimoji="1" lang="zh-CN" altLang="en-US" sz="2400" dirty="0">
                    <a:solidFill>
                      <a:srgbClr val="000000"/>
                    </a:solidFill>
                    <a:latin typeface="宋体"/>
                    <a:ea typeface="宋体"/>
                  </a:rPr>
                  <a:t>，特征根：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=−1,</m:t>
                    </m:r>
                  </m:oMath>
                </a14:m>
                <a:endParaRPr kumimoji="1" lang="zh-CN" altLang="en-US" sz="2400" dirty="0">
                  <a:solidFill>
                    <a:srgbClr val="000000"/>
                  </a:solidFill>
                  <a:latin typeface="宋体"/>
                  <a:ea typeface="宋体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588" y="3737449"/>
                <a:ext cx="7169020" cy="461665"/>
              </a:xfrm>
              <a:prstGeom prst="rect">
                <a:avLst/>
              </a:prstGeom>
              <a:blipFill>
                <a:blip r:embed="rId9"/>
                <a:stretch>
                  <a:fillRect l="-1276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1966792" y="4199114"/>
                <a:ext cx="66518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对应的齐次线性方程</a:t>
                </a:r>
                <a:r>
                  <a:rPr lang="zh-CN" altLang="en-US" sz="2400" dirty="0" smtClean="0"/>
                  <a:t>的通解为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792" y="4199114"/>
                <a:ext cx="6651886" cy="461665"/>
              </a:xfrm>
              <a:prstGeom prst="rect">
                <a:avLst/>
              </a:prstGeom>
              <a:blipFill>
                <a:blip r:embed="rId10"/>
                <a:stretch>
                  <a:fillRect l="-1467" t="-14474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1983588" y="4660779"/>
                <a:ext cx="756335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00"/>
                    </a:solidFill>
                  </a:rPr>
                  <a:t>设特解为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sz="2400" dirty="0" smtClean="0"/>
                  <a:t>，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代入原方程可得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588" y="4660779"/>
                <a:ext cx="7563353" cy="461665"/>
              </a:xfrm>
              <a:prstGeom prst="rect">
                <a:avLst/>
              </a:prstGeom>
              <a:blipFill>
                <a:blip r:embed="rId11"/>
                <a:stretch>
                  <a:fillRect l="-1209" t="-14667" r="-725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2023056" y="5584108"/>
                <a:ext cx="3431004" cy="6450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056" y="5584108"/>
                <a:ext cx="3431004" cy="64504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5440502" y="568235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</a:rPr>
              <a:t>通解</a:t>
            </a:r>
            <a:r>
              <a:rPr lang="zh-CN" altLang="en-US" sz="2400" dirty="0" smtClean="0">
                <a:solidFill>
                  <a:srgbClr val="000000"/>
                </a:solidFill>
              </a:rPr>
              <a:t>为</a:t>
            </a:r>
            <a:r>
              <a:rPr lang="zh-CN" altLang="en-US" sz="2400" dirty="0">
                <a:solidFill>
                  <a:srgbClr val="000000"/>
                </a:solidFill>
              </a:rPr>
              <a:t>：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6701931" y="5605094"/>
                <a:ext cx="4552721" cy="6450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 smtClean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1931" y="5605094"/>
                <a:ext cx="4552721" cy="64504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2023056" y="5122443"/>
                <a:ext cx="913635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056" y="5122443"/>
                <a:ext cx="9136355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/>
          <p:cNvSpPr/>
          <p:nvPr/>
        </p:nvSpPr>
        <p:spPr>
          <a:xfrm>
            <a:off x="641905" y="0"/>
            <a:ext cx="3703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第八节 常系数非齐次线性微分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  <a:endParaRPr lang="zh-CN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04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F5C28A-C0C9-4823-B83E-E044DE2FADA9}" type="datetime11">
              <a:rPr lang="zh-CN" altLang="en-US" smtClean="0"/>
              <a:t>15:29:50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751686" y="410690"/>
                <a:ext cx="5921301" cy="4789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kumimoji="1" lang="zh-CN" altLang="en-US" sz="2400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二、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zh-CN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86" y="410690"/>
                <a:ext cx="5921301" cy="478977"/>
              </a:xfrm>
              <a:prstGeom prst="rect">
                <a:avLst/>
              </a:prstGeom>
              <a:blipFill>
                <a:blip r:embed="rId2"/>
                <a:stretch>
                  <a:fillRect l="-1543" t="-11392" b="-227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641905" y="0"/>
            <a:ext cx="3703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华文行楷" panose="02010800040101010101" pitchFamily="2" charset="-122"/>
                <a:ea typeface="华文新魏" panose="02010800040101010101" pitchFamily="2" charset="-122"/>
              </a:rPr>
              <a:t>第八节 常系数非齐次线性微分</a:t>
            </a:r>
            <a:r>
              <a:rPr lang="zh-CN" altLang="en-US" dirty="0">
                <a:solidFill>
                  <a:srgbClr val="7030A0"/>
                </a:solidFill>
                <a:ea typeface="华文新魏" panose="02010800040101010101" pitchFamily="2" charset="-122"/>
              </a:rPr>
              <a:t>方程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62635" y="1138518"/>
            <a:ext cx="1649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略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6659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7.1~7.3luo">
  <a:themeElements>
    <a:clrScheme name="D7.1~7.3lu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7.1~7.3luo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0" tIns="0" rIns="0" bIns="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0" tIns="0" rIns="0" bIns="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D7.1~7.3lu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7.1~7.3lu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7.1~7.3lu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7.1~7.3lu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7.1~7.3lu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7.1~7.3lu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7.1~7.3lu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7.1~7.3lu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7.1~7.3lu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7.1~7.3lu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7.1~7.3lu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7.1~7.3lu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D8.4~8.6luo</Template>
  <TotalTime>19759</TotalTime>
  <Words>13002</Words>
  <Application>Microsoft Office PowerPoint</Application>
  <PresentationFormat>宽屏</PresentationFormat>
  <Paragraphs>818</Paragraphs>
  <Slides>60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60</vt:i4>
      </vt:variant>
    </vt:vector>
  </HeadingPairs>
  <TitlesOfParts>
    <vt:vector size="75" baseType="lpstr">
      <vt:lpstr>方正舒体</vt:lpstr>
      <vt:lpstr>黑体</vt:lpstr>
      <vt:lpstr>华文新魏</vt:lpstr>
      <vt:lpstr>华文行楷</vt:lpstr>
      <vt:lpstr>宋体</vt:lpstr>
      <vt:lpstr>宋体</vt:lpstr>
      <vt:lpstr>微软雅黑</vt:lpstr>
      <vt:lpstr>Arial</vt:lpstr>
      <vt:lpstr>Cambria Math</vt:lpstr>
      <vt:lpstr>Symbol</vt:lpstr>
      <vt:lpstr>Times New Roman</vt:lpstr>
      <vt:lpstr>Wingdings</vt:lpstr>
      <vt:lpstr>D7.1~7.3luo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一、齐次方程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山东农业大学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12.1微分方程的基本概念</dc:title>
  <dc:creator>sbt</dc:creator>
  <cp:lastModifiedBy>Windows User</cp:lastModifiedBy>
  <cp:revision>465</cp:revision>
  <dcterms:created xsi:type="dcterms:W3CDTF">2001-06-16T12:46:24Z</dcterms:created>
  <dcterms:modified xsi:type="dcterms:W3CDTF">2025-02-21T08:03:59Z</dcterms:modified>
</cp:coreProperties>
</file>