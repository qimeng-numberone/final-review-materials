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8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59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0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6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041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85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2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19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65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9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0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0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1000"/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3A5CB-C729-48E6-BA88-DC482D717985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85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复习课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6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25937" y="421260"/>
            <a:ext cx="446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28C2"/>
                </a:solidFill>
              </a:rPr>
              <a:t>第七章  微分方程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25937" y="944480"/>
            <a:ext cx="1484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基本概念 </a:t>
            </a:r>
          </a:p>
        </p:txBody>
      </p:sp>
      <p:sp>
        <p:nvSpPr>
          <p:cNvPr id="6" name="矩形 5"/>
          <p:cNvSpPr/>
          <p:nvPr/>
        </p:nvSpPr>
        <p:spPr>
          <a:xfrm>
            <a:off x="1625937" y="1602632"/>
            <a:ext cx="9417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一阶微分方程求解方法：变量分离法、齐次方程、一阶线性微分方程</a:t>
            </a:r>
          </a:p>
        </p:txBody>
      </p:sp>
      <p:sp>
        <p:nvSpPr>
          <p:cNvPr id="7" name="矩形 6"/>
          <p:cNvSpPr/>
          <p:nvPr/>
        </p:nvSpPr>
        <p:spPr>
          <a:xfrm>
            <a:off x="1625937" y="2457271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可降阶微分方程求解方法</a:t>
            </a:r>
          </a:p>
        </p:txBody>
      </p:sp>
      <p:sp>
        <p:nvSpPr>
          <p:cNvPr id="8" name="矩形 7"/>
          <p:cNvSpPr/>
          <p:nvPr/>
        </p:nvSpPr>
        <p:spPr>
          <a:xfrm>
            <a:off x="1625937" y="3401368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线性微分方程解的结构</a:t>
            </a:r>
          </a:p>
        </p:txBody>
      </p:sp>
      <p:sp>
        <p:nvSpPr>
          <p:cNvPr id="9" name="矩形 8"/>
          <p:cNvSpPr/>
          <p:nvPr/>
        </p:nvSpPr>
        <p:spPr>
          <a:xfrm>
            <a:off x="1625937" y="4345465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二阶常系数线性微分方程求解方法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13052" y="2076118"/>
            <a:ext cx="140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</a:rPr>
              <a:t>变量替换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21757" y="2087939"/>
            <a:ext cx="1437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</a:rPr>
              <a:t>常数变易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97750" y="2850245"/>
            <a:ext cx="2996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</a:rPr>
              <a:t>变量替换</a:t>
            </a:r>
            <a:r>
              <a:rPr lang="en-US" altLang="zh-CN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降阶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97749" y="4827897"/>
            <a:ext cx="429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</a:rPr>
              <a:t>特征方程</a:t>
            </a:r>
            <a:r>
              <a:rPr lang="en-US" altLang="zh-CN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特征根</a:t>
            </a:r>
            <a:r>
              <a:rPr lang="en-US" altLang="zh-CN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通解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97749" y="379434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通解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3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8885" y="441281"/>
            <a:ext cx="5397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428C2"/>
                </a:solidFill>
              </a:rPr>
              <a:t>第八章  空间解析几何与向量代数</a:t>
            </a:r>
          </a:p>
        </p:txBody>
      </p:sp>
      <p:sp>
        <p:nvSpPr>
          <p:cNvPr id="3" name="矩形 2"/>
          <p:cNvSpPr/>
          <p:nvPr/>
        </p:nvSpPr>
        <p:spPr>
          <a:xfrm>
            <a:off x="1283161" y="1073788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向量的运算：线性运算、数量积、向量积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111919" y="1775751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投影、距离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283161" y="2634734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平面方程、直线方程、曲面方程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283161" y="3734015"/>
            <a:ext cx="7919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向</a:t>
            </a: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量值函数：参数方程、函数的极限、导数与微分、积分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111919" y="4447661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速度、速率、切向量、主法向量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3111918" y="5161307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位移、路程（弧长）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992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3161" y="434310"/>
            <a:ext cx="5479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428C2"/>
                </a:solidFill>
              </a:rPr>
              <a:t>第九章   多元函数微分法及其应用</a:t>
            </a:r>
          </a:p>
        </p:txBody>
      </p:sp>
      <p:sp>
        <p:nvSpPr>
          <p:cNvPr id="3" name="矩形 2"/>
          <p:cNvSpPr/>
          <p:nvPr/>
        </p:nvSpPr>
        <p:spPr>
          <a:xfrm>
            <a:off x="1283161" y="1073788"/>
            <a:ext cx="6372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极限与连续：极限的计算、极限不存在的判定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283161" y="1918915"/>
            <a:ext cx="7919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偏导数：定义、复合函数及隐函数的偏导数计算、全微分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283161" y="2911895"/>
            <a:ext cx="9775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方向导数与梯度：空间曲线的切线与法线、空间曲面的切平面与法线、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682000" y="416073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方向导数、梯度、极值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50540" y="1483100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一元函数的极限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14228" y="148309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逼近路线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482063" y="2352899"/>
                <a:ext cx="1974451" cy="6353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的区别</a:t>
                </a:r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063" y="2352899"/>
                <a:ext cx="1974451" cy="635367"/>
              </a:xfrm>
              <a:prstGeom prst="rect">
                <a:avLst/>
              </a:prstGeom>
              <a:blipFill>
                <a:blip r:embed="rId2"/>
                <a:stretch>
                  <a:fillRect r="-4012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537828" y="3320030"/>
                <a:ext cx="3151376" cy="677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𝛻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828" y="3320030"/>
                <a:ext cx="3151376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682000" y="3320030"/>
                <a:ext cx="1703480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d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000" y="3320030"/>
                <a:ext cx="1703480" cy="645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788951" y="4622404"/>
                <a:ext cx="1858650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𝛻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51" y="4622404"/>
                <a:ext cx="1858650" cy="794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170877" y="477760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极值判定与拉格朗日乘数法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94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3161" y="458151"/>
            <a:ext cx="2420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428C2"/>
                </a:solidFill>
              </a:rPr>
              <a:t>第十章 重积分</a:t>
            </a:r>
          </a:p>
        </p:txBody>
      </p:sp>
      <p:sp>
        <p:nvSpPr>
          <p:cNvPr id="3" name="矩形 2"/>
          <p:cNvSpPr/>
          <p:nvPr/>
        </p:nvSpPr>
        <p:spPr>
          <a:xfrm>
            <a:off x="1283161" y="1073788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二重积分：概念与性质、二重积分的计算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866198" y="1720287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直角坐标系、极坐标系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866198" y="2366786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二次积分、积分次序的改变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83161" y="3258188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三重积分：概念与性质、三重积分的计算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866198" y="3904687"/>
            <a:ext cx="5444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直角坐标系、柱面坐标系、球面坐标系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866198" y="4551186"/>
            <a:ext cx="7300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三次积分（先一后二与先二后一）、积分次序的改变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0822" y="2698297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各积分限的确定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3161" y="5320807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重积分的应用：曲面的面积、质心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870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3161" y="447463"/>
            <a:ext cx="4955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428C2"/>
                </a:solidFill>
              </a:rPr>
              <a:t>第十一章 曲线积分与曲面积分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3161" y="1073788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曲线积分：概念与性质、曲线积分的计算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851406" y="2228147"/>
                <a:ext cx="3237553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nary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406" y="2228147"/>
                <a:ext cx="3237553" cy="6243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851406" y="1535453"/>
                <a:ext cx="5987793" cy="626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altLang="zh-CN" sz="2400" i="1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zh-CN" altLang="en-US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  <m:e>
                        <m: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1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ker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zh-CN" altLang="en-US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406" y="1535453"/>
                <a:ext cx="5987793" cy="6263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845302" y="2228147"/>
                <a:ext cx="6343788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nary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02" y="2228147"/>
                <a:ext cx="6343788" cy="6243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851406" y="3373846"/>
                <a:ext cx="7599645" cy="695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limLoc m:val="subSup"/>
                        <m:grow m:val="on"/>
                        <m:supHide m:val="on"/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406" y="3373846"/>
                <a:ext cx="7599645" cy="6955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2851406" y="300641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格林公式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678094" y="428195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00B050"/>
                </a:solidFill>
                <a:sym typeface="Wingdings" panose="05000000000000000000" pitchFamily="2" charset="2"/>
              </a:rPr>
              <a:t>一阶连续偏导数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3161" y="428499"/>
            <a:ext cx="4934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428C2"/>
                </a:solidFill>
              </a:rPr>
              <a:t>第十一章 曲线积分与曲面积分</a:t>
            </a:r>
          </a:p>
        </p:txBody>
      </p:sp>
      <p:sp>
        <p:nvSpPr>
          <p:cNvPr id="3" name="矩形 2"/>
          <p:cNvSpPr/>
          <p:nvPr/>
        </p:nvSpPr>
        <p:spPr>
          <a:xfrm>
            <a:off x="1283161" y="1073788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曲面积分</a:t>
            </a:r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：概念与性质、</a:t>
            </a: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曲面积分</a:t>
            </a:r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的计算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33040" y="505448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高斯</a:t>
            </a: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公式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833040" y="1535453"/>
                <a:ext cx="2287870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∬"/>
                        <m:ctrlPr>
                          <a:rPr kumimoji="0" lang="zh-CN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kumimoji="0" lang="el-GR" altLang="zh-CN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r>
                          <a:rPr kumimoji="0" lang="zh-CN" altLang="en-US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kumimoji="0" lang="zh-CN" altLang="en-US" sz="24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zh-CN" altLang="en-US" sz="24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zh-CN" altLang="en-US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0" lang="en-US" altLang="zh-CN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zh-CN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zh-CN" altLang="en-US" sz="24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kumimoji="0" lang="en-US" altLang="zh-CN" sz="24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altLang="zh-CN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</m:oMath>
                </a14:m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 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40" y="1535453"/>
                <a:ext cx="2287870" cy="6243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996255" y="1488004"/>
                <a:ext cx="4503028" cy="1935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24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𝑥𝑧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𝑥𝑧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24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𝑦𝑧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255" y="1488004"/>
                <a:ext cx="4503028" cy="1935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780777" y="3226141"/>
                <a:ext cx="8933984" cy="12223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d>
                          <m:dPr>
                            <m:ctrlPr>
                              <a:rPr lang="el-GR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  <m: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</m:oMath>
                </a14:m>
                <a:r>
                  <a:rPr lang="en-US" altLang="zh-CN" sz="2400" i="1" dirty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 smtClean="0">
                    <a:solidFill>
                      <a:srgbClr val="0000FF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nary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nor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77" y="3226141"/>
                <a:ext cx="8933984" cy="12223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204390" y="4448463"/>
                <a:ext cx="8338245" cy="6063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kumimoji="0" lang="zh-CN" alt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sub>
                      <m:sup/>
                      <m:e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zh-CN" alt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zh-CN" altLang="en-US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kumimoji="0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zh-CN" altLang="en-US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zh-CN" altLang="en-US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kumimoji="0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0" lang="en-US" altLang="zh-CN" sz="20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FF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den>
                        </m:f>
                        <m:r>
                          <m:rPr>
                            <m:nor/>
                          </m:rPr>
                          <a:rPr kumimoji="0" lang="en-US" altLang="zh-CN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altLang="zh-CN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kumimoji="0" lang="en-US" altLang="zh-CN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altLang="zh-CN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r>
                  <a:rPr kumimoji="0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kumimoji="0" lang="zh-CN" alt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sub>
                      <m:sup/>
                      <m:e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0" lang="en-US" altLang="zh-CN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FF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d>
                          </m:den>
                        </m:f>
                        <m:r>
                          <m:rPr>
                            <m:nor/>
                          </m:rPr>
                          <a:rPr lang="en-US" altLang="zh-CN" sz="2000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altLang="zh-CN" sz="2000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nary>
                    <m:r>
                      <a:rPr kumimoji="0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ctrlPr>
                          <a:rPr kumimoji="0" lang="zh-CN" alt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0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sub>
                        </m:sSub>
                      </m:sub>
                      <m:sup/>
                      <m:e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kumimoji="0" lang="zh-CN" alt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lang="en-US" altLang="zh-CN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2000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0" lang="en-US" altLang="zh-CN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FF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den>
                        </m:f>
                        <m:r>
                          <m:rPr>
                            <m:nor/>
                          </m:rPr>
                          <a:rPr lang="en-US" altLang="zh-CN" sz="2000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000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nary>
                  </m:oMath>
                </a14:m>
                <a:r>
                  <a:rPr kumimoji="0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 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390" y="4448463"/>
                <a:ext cx="8338245" cy="6063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833040" y="5515796"/>
                <a:ext cx="9197326" cy="695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∯"/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d>
                          <m:dPr>
                            <m:ctrlPr>
                              <a:rPr lang="el-GR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∭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𝛺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∭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l-GR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𝛺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l-GR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40" y="5515796"/>
                <a:ext cx="9197326" cy="695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89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88980" y="458352"/>
            <a:ext cx="4934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428C2"/>
                </a:solidFill>
              </a:rPr>
              <a:t>第十一章 曲线积分与曲面积分</a:t>
            </a:r>
          </a:p>
        </p:txBody>
      </p:sp>
      <p:sp>
        <p:nvSpPr>
          <p:cNvPr id="3" name="矩形 2"/>
          <p:cNvSpPr/>
          <p:nvPr/>
        </p:nvSpPr>
        <p:spPr>
          <a:xfrm>
            <a:off x="1788981" y="1141181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斯托克斯公式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00073" y="1719827"/>
                <a:ext cx="8843255" cy="5950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sub>
                      <m:sup/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𝑃𝑑𝑥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𝑄𝑑𝑦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𝑅𝑑𝑧</m:t>
                        </m:r>
                      </m:e>
                    </m:nary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supHide m:val="on"/>
                        <m:ctrlPr>
                          <a:rPr lang="zh-CN" alt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zh-CN" altLang="en-US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altLang="zh-CN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0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073" y="1719827"/>
                <a:ext cx="8843255" cy="5950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788980" y="2684070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曲线积分与路径无关的条件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500073" y="3274798"/>
                <a:ext cx="1214179" cy="7302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073" y="3274798"/>
                <a:ext cx="1214179" cy="730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028151" y="3301087"/>
                <a:ext cx="1198533" cy="677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151" y="3301087"/>
                <a:ext cx="1198533" cy="6776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686201" y="3301087"/>
                <a:ext cx="1208151" cy="7302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201" y="3301087"/>
                <a:ext cx="1208151" cy="7302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2500073" y="4195385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梯度场（保守场、无旋场）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500072" y="4847437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曲线积分基本定理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639025" y="5309102"/>
                <a:ext cx="6389121" cy="695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终点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起点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025" y="5309102"/>
                <a:ext cx="6389121" cy="695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51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88980" y="452820"/>
            <a:ext cx="3151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428C2"/>
                </a:solidFill>
              </a:rPr>
              <a:t>第十二章 无穷级数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88981" y="1141181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基本概念与性质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88980" y="1855073"/>
            <a:ext cx="10084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收敛性判定方法：正项级数收敛性判定（</a:t>
            </a:r>
            <a:r>
              <a:rPr lang="zh-CN" altLang="en-US" sz="2400" b="1" dirty="0" smtClean="0">
                <a:solidFill>
                  <a:srgbClr val="00B050"/>
                </a:solidFill>
                <a:ea typeface="黑体" panose="02010609060101010101" pitchFamily="49" charset="-122"/>
              </a:rPr>
              <a:t>比较、极限形式、比值、根值</a:t>
            </a: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）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41609" y="3022675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绝对收敛与条件收敛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241609" y="243887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交错级数收敛性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88980" y="3853950"/>
            <a:ext cx="66816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幂级数：收敛半径、收敛区间、收敛域、和函数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064561" y="5064557"/>
            <a:ext cx="6062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运算（和、差、积、逐项求导、逐项积分）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064561" y="4480756"/>
                <a:ext cx="85363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400" b="1" dirty="0" smtClean="0">
                    <a:solidFill>
                      <a:srgbClr val="0070C0"/>
                    </a:solidFill>
                    <a:ea typeface="黑体" panose="02010609060101010101" pitchFamily="49" charset="-122"/>
                  </a:rPr>
                  <a:t>必须掌握的幂级数展开式（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zh-CN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zh-CN" sz="24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b="1" dirty="0" smtClean="0">
                    <a:solidFill>
                      <a:srgbClr val="0070C0"/>
                    </a:solidFill>
                    <a:ea typeface="黑体" panose="02010609060101010101" pitchFamily="49" charset="-122"/>
                  </a:rPr>
                  <a:t>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561" y="4480756"/>
                <a:ext cx="8536392" cy="461665"/>
              </a:xfrm>
              <a:prstGeom prst="rect">
                <a:avLst/>
              </a:prstGeom>
              <a:blipFill>
                <a:blip r:embed="rId2"/>
                <a:stretch>
                  <a:fillRect l="-1143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55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1174</Words>
  <Application>Microsoft Office PowerPoint</Application>
  <PresentationFormat>宽屏</PresentationFormat>
  <Paragraphs>77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黑体</vt:lpstr>
      <vt:lpstr>宋体</vt:lpstr>
      <vt:lpstr>Arial</vt:lpstr>
      <vt:lpstr>Calibri</vt:lpstr>
      <vt:lpstr>Calibri Light</vt:lpstr>
      <vt:lpstr>Cambria Math</vt:lpstr>
      <vt:lpstr>Wingdings</vt:lpstr>
      <vt:lpstr>Office 主题</vt:lpstr>
      <vt:lpstr>复习课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复习课</dc:title>
  <dc:creator>Windows User</dc:creator>
  <cp:lastModifiedBy>Windows User</cp:lastModifiedBy>
  <cp:revision>18</cp:revision>
  <dcterms:created xsi:type="dcterms:W3CDTF">2023-06-13T03:34:39Z</dcterms:created>
  <dcterms:modified xsi:type="dcterms:W3CDTF">2025-06-15T13:21:29Z</dcterms:modified>
</cp:coreProperties>
</file>