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8"/>
  </p:notesMasterIdLst>
  <p:handoutMasterIdLst>
    <p:handoutMasterId r:id="rId99"/>
  </p:handoutMasterIdLst>
  <p:sldIdLst>
    <p:sldId id="277" r:id="rId2"/>
    <p:sldId id="367" r:id="rId3"/>
    <p:sldId id="525" r:id="rId4"/>
    <p:sldId id="369" r:id="rId5"/>
    <p:sldId id="373" r:id="rId6"/>
    <p:sldId id="372" r:id="rId7"/>
    <p:sldId id="374" r:id="rId8"/>
    <p:sldId id="376" r:id="rId9"/>
    <p:sldId id="386" r:id="rId10"/>
    <p:sldId id="531" r:id="rId11"/>
    <p:sldId id="409" r:id="rId12"/>
    <p:sldId id="411" r:id="rId13"/>
    <p:sldId id="412" r:id="rId14"/>
    <p:sldId id="413" r:id="rId15"/>
    <p:sldId id="415" r:id="rId16"/>
    <p:sldId id="540" r:id="rId17"/>
    <p:sldId id="416" r:id="rId18"/>
    <p:sldId id="417" r:id="rId19"/>
    <p:sldId id="418" r:id="rId20"/>
    <p:sldId id="420" r:id="rId21"/>
    <p:sldId id="421" r:id="rId22"/>
    <p:sldId id="422" r:id="rId23"/>
    <p:sldId id="423" r:id="rId24"/>
    <p:sldId id="539" r:id="rId25"/>
    <p:sldId id="535" r:id="rId26"/>
    <p:sldId id="425" r:id="rId27"/>
    <p:sldId id="426" r:id="rId28"/>
    <p:sldId id="427" r:id="rId29"/>
    <p:sldId id="430" r:id="rId30"/>
    <p:sldId id="431" r:id="rId31"/>
    <p:sldId id="432" r:id="rId32"/>
    <p:sldId id="433" r:id="rId33"/>
    <p:sldId id="434" r:id="rId34"/>
    <p:sldId id="538" r:id="rId35"/>
    <p:sldId id="437" r:id="rId36"/>
    <p:sldId id="438" r:id="rId37"/>
    <p:sldId id="439" r:id="rId38"/>
    <p:sldId id="440" r:id="rId39"/>
    <p:sldId id="541" r:id="rId40"/>
    <p:sldId id="441" r:id="rId41"/>
    <p:sldId id="443" r:id="rId42"/>
    <p:sldId id="444" r:id="rId43"/>
    <p:sldId id="445" r:id="rId44"/>
    <p:sldId id="446" r:id="rId45"/>
    <p:sldId id="447" r:id="rId46"/>
    <p:sldId id="448" r:id="rId47"/>
    <p:sldId id="449" r:id="rId48"/>
    <p:sldId id="450" r:id="rId49"/>
    <p:sldId id="452" r:id="rId50"/>
    <p:sldId id="453" r:id="rId51"/>
    <p:sldId id="454" r:id="rId52"/>
    <p:sldId id="455" r:id="rId53"/>
    <p:sldId id="457" r:id="rId54"/>
    <p:sldId id="458" r:id="rId55"/>
    <p:sldId id="459" r:id="rId56"/>
    <p:sldId id="461" r:id="rId57"/>
    <p:sldId id="462" r:id="rId58"/>
    <p:sldId id="464" r:id="rId59"/>
    <p:sldId id="465" r:id="rId60"/>
    <p:sldId id="466" r:id="rId61"/>
    <p:sldId id="467" r:id="rId62"/>
    <p:sldId id="468" r:id="rId63"/>
    <p:sldId id="469" r:id="rId64"/>
    <p:sldId id="470" r:id="rId65"/>
    <p:sldId id="471" r:id="rId66"/>
    <p:sldId id="472" r:id="rId67"/>
    <p:sldId id="473" r:id="rId68"/>
    <p:sldId id="474" r:id="rId69"/>
    <p:sldId id="475" r:id="rId70"/>
    <p:sldId id="476" r:id="rId71"/>
    <p:sldId id="477" r:id="rId72"/>
    <p:sldId id="478" r:id="rId73"/>
    <p:sldId id="479" r:id="rId74"/>
    <p:sldId id="480" r:id="rId75"/>
    <p:sldId id="481" r:id="rId76"/>
    <p:sldId id="482" r:id="rId77"/>
    <p:sldId id="483" r:id="rId78"/>
    <p:sldId id="484" r:id="rId79"/>
    <p:sldId id="485" r:id="rId80"/>
    <p:sldId id="486" r:id="rId81"/>
    <p:sldId id="487" r:id="rId82"/>
    <p:sldId id="488" r:id="rId83"/>
    <p:sldId id="489" r:id="rId84"/>
    <p:sldId id="490" r:id="rId85"/>
    <p:sldId id="491" r:id="rId86"/>
    <p:sldId id="492" r:id="rId87"/>
    <p:sldId id="493" r:id="rId88"/>
    <p:sldId id="494" r:id="rId89"/>
    <p:sldId id="495" r:id="rId90"/>
    <p:sldId id="496" r:id="rId91"/>
    <p:sldId id="497" r:id="rId92"/>
    <p:sldId id="498" r:id="rId93"/>
    <p:sldId id="499" r:id="rId94"/>
    <p:sldId id="500" r:id="rId95"/>
    <p:sldId id="501" r:id="rId96"/>
    <p:sldId id="502" r:id="rId9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3" autoAdjust="0"/>
    <p:restoredTop sz="86004" autoAdjust="0"/>
  </p:normalViewPr>
  <p:slideViewPr>
    <p:cSldViewPr>
      <p:cViewPr varScale="1">
        <p:scale>
          <a:sx n="76" d="100"/>
          <a:sy n="76" d="100"/>
        </p:scale>
        <p:origin x="16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C44B05-FE51-3863-BF3D-8A3DC6548C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5389A-0719-CE42-5D07-B73E9488BF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CB3D2B9-A252-452C-AB2F-D8EDB87A9B1B}" type="datetimeFigureOut">
              <a:rPr lang="en-US"/>
              <a:pPr>
                <a:defRPr/>
              </a:pPr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EC531-AA0D-981F-B75B-D4CC350383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F6279-7DE6-4B4A-FC67-973A79F5B2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A4D48C-ABB2-4B06-911B-09C34A5B36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EA27701-6E5A-CB17-44DD-D6E9DDAC22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12A9A1-304C-B94E-0944-11C5896F015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A7D062-5C12-4BE1-B780-C68F64D27537}" type="datetimeFigureOut">
              <a:rPr lang="zh-CN" altLang="en-US"/>
              <a:pPr>
                <a:defRPr/>
              </a:pPr>
              <a:t>2025/3/4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2EBC53F-18CE-E984-6CAF-C65E960E7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4F8856E-2180-1100-CDFD-5F28CE9E0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0A12C5-A9B9-3F5E-3CDD-39190D416B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B41A8F-6F0B-EE42-262F-92261B8FA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199A7C-FB6D-42E3-BA56-6DC5AE99D2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应用：密码学编码和加密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199A7C-FB6D-42E3-BA56-6DC5AE99D261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452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199A7C-FB6D-42E3-BA56-6DC5AE99D261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91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29 T1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199A7C-FB6D-42E3-BA56-6DC5AE99D261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7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BFAAE2-6C9E-5930-1374-593BBB7902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F8E798-0FE9-63D4-F167-067A01958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8D8D2A-A571-B296-A392-CD74CFAA7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BE043-AE43-49A5-9879-AF19D87A72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110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09C304-A36B-901B-88AC-376EE7890C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4F99D1-2FB6-7BD4-F574-5B6E0C0F75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011F11-C045-E85C-9A17-D178D556CA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A2617-4D96-4931-AA7C-31929E569B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487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745322-580E-1FA4-F400-18971D60A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692AC3-594E-F6D3-C8D0-42557824B4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754B1F-629A-9C1E-4FC2-3F536367F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D7899-9164-405E-B819-AE33CF6BE5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57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14C7C-FAEB-276C-99F9-31B7031A8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F49E43-E3E1-3363-F4D7-63CD27B8C6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BA438-69C4-FCE2-1372-DD3C08604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EA784-3E38-4E89-8969-E7EB8B643C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0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DD0099-F75B-894A-57A6-4CB937B4E1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51C63E-D853-F4B1-DD7F-FA0C3174F3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02137F-65D4-9006-E2A6-48A045D96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7B4DA-FD92-43F5-A54E-9BE4268674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64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3158DB3-8ACC-861A-EFB0-9D51DE385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B963C6-1B39-241E-7620-75ADBBA943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7110AE-0891-D90B-CD37-6A6358E114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C74FC-F5CC-4388-A3F8-5F2E2349EC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40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11B6CC5-CE21-B8AC-8CC8-4BB5A2221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379E59-6087-14CD-2C5E-988491D35F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A3B40D-577C-AA60-5D87-9F7797A6B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FCE01-52DA-4224-BC18-E5A69E0DD9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75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6878AD-DDC9-3A29-9EE9-2A168D0173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ADF9D-20B2-5F6B-9D12-9C4A1E1E42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4AD2A0-0B03-5248-662C-B6AD69952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4BA70-18CF-46F2-BAB8-3437F5327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413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4227-C3CD-7128-5600-39DDD6063B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70A1CD-789C-700A-7AB6-349F22944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D98AF-98BF-A401-664B-8CC5EFF1CB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46E44-F516-4708-A8FA-72ECACF9C1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019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C8F93-0555-ACC8-CB68-15E54F2E33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30C635-2254-3D36-46AF-07F4780DDA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E26580-EF78-D026-2A59-93759D293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536A9-FDED-4EA0-B617-47E2A3C9E9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425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AEA7AE-87C8-1259-D743-780686AE7E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7E705F-F0A9-2C6C-0CF8-59749B0817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0714AB-F8C8-B153-C5A0-4D63A2363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B9978-196D-4F6F-9A57-967DAD2746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436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60350"/>
            <a:ext cx="8229600" cy="586581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F8A9D6E-3DC8-C575-C346-F8225B41A1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19DCF2-F0EF-B56B-85DD-3184B37FA4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336FEE-C8E2-2A14-094F-D463B5A01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16688" y="58054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837FC-C314-403D-9FF6-FF86968F30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80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680C6D-72EF-BBCD-2580-67287B358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771525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1589B73-2038-BB7C-EEDC-26E9B9482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973332F-126E-847C-30D3-A415CDBBDA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443A20-E193-843F-B5E6-798D5A1AEF0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0157B4-0E30-8602-DC00-DBCACFCED3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EFEAA6B-1BA3-4901-B72D-D6A416673B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10">
            <a:extLst>
              <a:ext uri="{FF2B5EF4-FFF2-40B4-BE49-F238E27FC236}">
                <a16:creationId xmlns:a16="http://schemas.microsoft.com/office/drawing/2014/main" id="{61829FDB-3E4C-6361-1ABB-C9F3D9EC5C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72450" y="333375"/>
            <a:ext cx="720725" cy="107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2" name="Picture 11" descr="图片1">
            <a:extLst>
              <a:ext uri="{FF2B5EF4-FFF2-40B4-BE49-F238E27FC236}">
                <a16:creationId xmlns:a16="http://schemas.microsoft.com/office/drawing/2014/main" id="{F6747B03-18B8-84F7-5CFE-FD576DF13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1188"/>
            <a:ext cx="863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Relationship Id="rId1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2.emf"/><Relationship Id="rId3" Type="http://schemas.openxmlformats.org/officeDocument/2006/relationships/image" Target="../media/image14.emf"/><Relationship Id="rId7" Type="http://schemas.openxmlformats.org/officeDocument/2006/relationships/image" Target="../media/image16.wmf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15.emf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e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7.emf"/><Relationship Id="rId7" Type="http://schemas.openxmlformats.org/officeDocument/2006/relationships/image" Target="../media/image9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3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3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138.png"/><Relationship Id="rId7" Type="http://schemas.openxmlformats.org/officeDocument/2006/relationships/image" Target="../media/image41.emf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43.e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1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1.wmf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0.wmf"/><Relationship Id="rId5" Type="http://schemas.openxmlformats.org/officeDocument/2006/relationships/image" Target="../media/image46.e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5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4.png"/><Relationship Id="rId3" Type="http://schemas.openxmlformats.org/officeDocument/2006/relationships/image" Target="../media/image57.emf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3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oleObject" Target="../embeddings/oleObject57.bin"/><Relationship Id="rId5" Type="http://schemas.openxmlformats.org/officeDocument/2006/relationships/image" Target="../media/image59.png"/><Relationship Id="rId10" Type="http://schemas.openxmlformats.org/officeDocument/2006/relationships/image" Target="../media/image62.emf"/><Relationship Id="rId4" Type="http://schemas.openxmlformats.org/officeDocument/2006/relationships/image" Target="../media/image58.png"/><Relationship Id="rId9" Type="http://schemas.openxmlformats.org/officeDocument/2006/relationships/oleObject" Target="../embeddings/oleObject5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65.e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7" Type="http://schemas.openxmlformats.org/officeDocument/2006/relationships/image" Target="../media/image72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71.emf"/><Relationship Id="rId4" Type="http://schemas.openxmlformats.org/officeDocument/2006/relationships/oleObject" Target="../embeddings/oleObject6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3.emf"/><Relationship Id="rId7" Type="http://schemas.openxmlformats.org/officeDocument/2006/relationships/oleObject" Target="../embeddings/oleObject68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10" Type="http://schemas.openxmlformats.org/officeDocument/2006/relationships/image" Target="../media/image77.emf"/><Relationship Id="rId4" Type="http://schemas.openxmlformats.org/officeDocument/2006/relationships/oleObject" Target="../embeddings/oleObject67.bin"/><Relationship Id="rId9" Type="http://schemas.openxmlformats.org/officeDocument/2006/relationships/oleObject" Target="../embeddings/oleObject6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67.png"/><Relationship Id="rId7" Type="http://schemas.openxmlformats.org/officeDocument/2006/relationships/oleObject" Target="../embeddings/oleObject70.bin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emf"/><Relationship Id="rId4" Type="http://schemas.openxmlformats.org/officeDocument/2006/relationships/oleObject" Target="../embeddings/oleObject7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7" Type="http://schemas.openxmlformats.org/officeDocument/2006/relationships/image" Target="../media/image84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83.emf"/><Relationship Id="rId4" Type="http://schemas.openxmlformats.org/officeDocument/2006/relationships/oleObject" Target="../embeddings/oleObject7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7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92.emf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87.emf"/><Relationship Id="rId21" Type="http://schemas.openxmlformats.org/officeDocument/2006/relationships/image" Target="../media/image96.emf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94.emf"/><Relationship Id="rId25" Type="http://schemas.openxmlformats.org/officeDocument/2006/relationships/image" Target="../media/image98.w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1.e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88.emf"/><Relationship Id="rId15" Type="http://schemas.openxmlformats.org/officeDocument/2006/relationships/image" Target="../media/image93.emf"/><Relationship Id="rId23" Type="http://schemas.openxmlformats.org/officeDocument/2006/relationships/image" Target="../media/image97.e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95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00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oleObject" Target="../embeddings/oleObject93.bin"/><Relationship Id="rId7" Type="http://schemas.openxmlformats.org/officeDocument/2006/relationships/image" Target="../media/image105.emf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3.emf"/><Relationship Id="rId9" Type="http://schemas.openxmlformats.org/officeDocument/2006/relationships/image" Target="../media/image10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109.emf"/><Relationship Id="rId7" Type="http://schemas.openxmlformats.org/officeDocument/2006/relationships/image" Target="../media/image111.e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110.e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12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oleObject" Target="../embeddings/oleObject108.bin"/><Relationship Id="rId18" Type="http://schemas.openxmlformats.org/officeDocument/2006/relationships/oleObject" Target="../embeddings/oleObject111.bin"/><Relationship Id="rId3" Type="http://schemas.openxmlformats.org/officeDocument/2006/relationships/image" Target="../media/image114.emf"/><Relationship Id="rId21" Type="http://schemas.openxmlformats.org/officeDocument/2006/relationships/oleObject" Target="../embeddings/oleObject113.bin"/><Relationship Id="rId7" Type="http://schemas.openxmlformats.org/officeDocument/2006/relationships/image" Target="../media/image116.emf"/><Relationship Id="rId12" Type="http://schemas.openxmlformats.org/officeDocument/2006/relationships/image" Target="../media/image3.emf"/><Relationship Id="rId17" Type="http://schemas.openxmlformats.org/officeDocument/2006/relationships/image" Target="../media/image119.emf"/><Relationship Id="rId2" Type="http://schemas.openxmlformats.org/officeDocument/2006/relationships/oleObject" Target="../embeddings/oleObject102.bin"/><Relationship Id="rId16" Type="http://schemas.openxmlformats.org/officeDocument/2006/relationships/oleObject" Target="../embeddings/oleObject110.bin"/><Relationship Id="rId20" Type="http://schemas.openxmlformats.org/officeDocument/2006/relationships/image" Target="../media/image40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4.bin"/><Relationship Id="rId11" Type="http://schemas.openxmlformats.org/officeDocument/2006/relationships/oleObject" Target="../embeddings/oleObject107.bin"/><Relationship Id="rId5" Type="http://schemas.openxmlformats.org/officeDocument/2006/relationships/image" Target="../media/image115.emf"/><Relationship Id="rId15" Type="http://schemas.openxmlformats.org/officeDocument/2006/relationships/oleObject" Target="../embeddings/oleObject109.bin"/><Relationship Id="rId23" Type="http://schemas.openxmlformats.org/officeDocument/2006/relationships/image" Target="../media/image9.emf"/><Relationship Id="rId10" Type="http://schemas.openxmlformats.org/officeDocument/2006/relationships/image" Target="../media/image117.emf"/><Relationship Id="rId19" Type="http://schemas.openxmlformats.org/officeDocument/2006/relationships/oleObject" Target="../embeddings/oleObject112.bin"/><Relationship Id="rId4" Type="http://schemas.openxmlformats.org/officeDocument/2006/relationships/oleObject" Target="../embeddings/oleObject103.bin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18.emf"/><Relationship Id="rId22" Type="http://schemas.openxmlformats.org/officeDocument/2006/relationships/oleObject" Target="../embeddings/oleObject114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11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22.emf"/><Relationship Id="rId7" Type="http://schemas.openxmlformats.org/officeDocument/2006/relationships/image" Target="../media/image124.e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5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image" Target="../media/image130.emf"/><Relationship Id="rId18" Type="http://schemas.openxmlformats.org/officeDocument/2006/relationships/oleObject" Target="../embeddings/oleObject129.bin"/><Relationship Id="rId3" Type="http://schemas.openxmlformats.org/officeDocument/2006/relationships/image" Target="../media/image126.emf"/><Relationship Id="rId21" Type="http://schemas.openxmlformats.org/officeDocument/2006/relationships/image" Target="../media/image134.emf"/><Relationship Id="rId7" Type="http://schemas.openxmlformats.org/officeDocument/2006/relationships/image" Target="../media/image128.e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32.emf"/><Relationship Id="rId2" Type="http://schemas.openxmlformats.org/officeDocument/2006/relationships/oleObject" Target="../embeddings/oleObject121.bin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29.emf"/><Relationship Id="rId5" Type="http://schemas.openxmlformats.org/officeDocument/2006/relationships/image" Target="../media/image127.emf"/><Relationship Id="rId15" Type="http://schemas.openxmlformats.org/officeDocument/2006/relationships/image" Target="../media/image131.emf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33.e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27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image" Target="../media/image40.emf"/><Relationship Id="rId7" Type="http://schemas.openxmlformats.org/officeDocument/2006/relationships/image" Target="../media/image114.emf"/><Relationship Id="rId12" Type="http://schemas.openxmlformats.org/officeDocument/2006/relationships/image" Target="../media/image135.emf"/><Relationship Id="rId2" Type="http://schemas.openxmlformats.org/officeDocument/2006/relationships/oleObject" Target="../embeddings/oleObject13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3.bin"/><Relationship Id="rId11" Type="http://schemas.openxmlformats.org/officeDocument/2006/relationships/oleObject" Target="../embeddings/oleObject136.bin"/><Relationship Id="rId5" Type="http://schemas.openxmlformats.org/officeDocument/2006/relationships/image" Target="../media/image9.e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1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9.bin"/><Relationship Id="rId5" Type="http://schemas.openxmlformats.org/officeDocument/2006/relationships/image" Target="../media/image137.emf"/><Relationship Id="rId4" Type="http://schemas.openxmlformats.org/officeDocument/2006/relationships/oleObject" Target="../embeddings/oleObject138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141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emf"/><Relationship Id="rId4" Type="http://schemas.openxmlformats.org/officeDocument/2006/relationships/oleObject" Target="../embeddings/oleObject145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4.emf"/><Relationship Id="rId4" Type="http://schemas.openxmlformats.org/officeDocument/2006/relationships/oleObject" Target="../embeddings/oleObject147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149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3" Type="http://schemas.openxmlformats.org/officeDocument/2006/relationships/image" Target="../media/image145.emf"/><Relationship Id="rId7" Type="http://schemas.openxmlformats.org/officeDocument/2006/relationships/image" Target="../media/image147.e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49.emf"/><Relationship Id="rId5" Type="http://schemas.openxmlformats.org/officeDocument/2006/relationships/image" Target="../media/image146.emf"/><Relationship Id="rId10" Type="http://schemas.openxmlformats.org/officeDocument/2006/relationships/oleObject" Target="../embeddings/oleObject155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48.emf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image" Target="../media/image150.emf"/><Relationship Id="rId7" Type="http://schemas.openxmlformats.org/officeDocument/2006/relationships/image" Target="../media/image152.emf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54.emf"/><Relationship Id="rId5" Type="http://schemas.openxmlformats.org/officeDocument/2006/relationships/image" Target="../media/image151.e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5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782A8B2-C8CA-5B5D-8682-AB385DD421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476375"/>
            <a:ext cx="7772400" cy="17367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离散数学</a:t>
            </a:r>
            <a:br>
              <a:rPr lang="zh-CN" altLang="en-US" b="1">
                <a:latin typeface="Times New Roman" panose="02020603050405020304" pitchFamily="18" charset="0"/>
              </a:rPr>
            </a:br>
            <a:r>
              <a:rPr lang="en-US" altLang="zh-CN" b="1">
                <a:latin typeface="Times New Roman" panose="02020603050405020304" pitchFamily="18" charset="0"/>
              </a:rPr>
              <a:t>Discrete Mathematics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676D475-FF30-ACB5-0902-7394AB1261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82850" y="3716338"/>
            <a:ext cx="4537075" cy="13684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曾   霞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xzeng0712@swu.edu.cn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A4E96F6-4B91-8366-FDE8-275E587037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章  集合、映射与运算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77C41781-D0F7-5544-1741-18633DC6A5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1.3 </a:t>
            </a:r>
            <a:r>
              <a:rPr lang="zh-CN" altLang="en-US" b="1">
                <a:latin typeface="宋体" panose="02010600030101010101" pitchFamily="2" charset="-122"/>
              </a:rPr>
              <a:t>运算的定义及性质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1">
            <a:extLst>
              <a:ext uri="{FF2B5EF4-FFF2-40B4-BE49-F238E27FC236}">
                <a16:creationId xmlns:a16="http://schemas.microsoft.com/office/drawing/2014/main" id="{3B15B9C9-0012-C069-985F-F9C28743C00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计算机中主要部件：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运算器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控制器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存储器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输入输出设备</a:t>
            </a:r>
          </a:p>
        </p:txBody>
      </p:sp>
      <p:sp>
        <p:nvSpPr>
          <p:cNvPr id="96259" name="TextBox 3">
            <a:extLst>
              <a:ext uri="{FF2B5EF4-FFF2-40B4-BE49-F238E27FC236}">
                <a16:creationId xmlns:a16="http://schemas.microsoft.com/office/drawing/2014/main" id="{D5106A4C-7393-E4E5-9C51-5C8D612E5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2928938"/>
            <a:ext cx="1282700" cy="7699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>
                <a:latin typeface="Times New Roman" panose="02020603050405020304" pitchFamily="18" charset="0"/>
              </a:rPr>
              <a:t>CPU</a:t>
            </a:r>
            <a:endParaRPr lang="zh-CN" altLang="en-US" sz="4400">
              <a:latin typeface="Times New Roman" panose="02020603050405020304" pitchFamily="18" charset="0"/>
            </a:endParaRPr>
          </a:p>
        </p:txBody>
      </p:sp>
      <p:graphicFrame>
        <p:nvGraphicFramePr>
          <p:cNvPr id="96260" name="Object 13">
            <a:extLst>
              <a:ext uri="{FF2B5EF4-FFF2-40B4-BE49-F238E27FC236}">
                <a16:creationId xmlns:a16="http://schemas.microsoft.com/office/drawing/2014/main" id="{0E12CDBB-F6E1-952A-C7F1-022350629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2857500"/>
          <a:ext cx="50641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123" imgH="25535" progId="Equation.3">
                  <p:embed/>
                </p:oleObj>
              </mc:Choice>
              <mc:Fallback>
                <p:oleObj name="公式" r:id="rId2" imgW="6123" imgH="2553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2857500"/>
                        <a:ext cx="506413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灯片编号占位符 1">
            <a:extLst>
              <a:ext uri="{FF2B5EF4-FFF2-40B4-BE49-F238E27FC236}">
                <a16:creationId xmlns:a16="http://schemas.microsoft.com/office/drawing/2014/main" id="{E85BD3B3-ED62-86A0-4512-C17BBA39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8254F9-85A8-4A2D-B519-71285702536E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2D153EAD-6C43-AF74-7F9E-79D119477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>
                <a:latin typeface="Times New Roman" panose="02020603050405020304" pitchFamily="18" charset="0"/>
              </a:rPr>
              <a:t>运算的定义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F38CCF8F-3099-9B38-EC12-C61039D82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,…,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元运算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</a:t>
            </a:r>
            <a:r>
              <a:rPr lang="en-US" altLang="zh-CN" b="1" dirty="0" err="1">
                <a:latin typeface="Times New Roman" panose="02020603050405020304" pitchFamily="18" charset="0"/>
              </a:rPr>
              <a:t>ary</a:t>
            </a:r>
            <a:r>
              <a:rPr lang="en-US" altLang="zh-CN" b="1" dirty="0">
                <a:latin typeface="Times New Roman" panose="02020603050405020304" pitchFamily="18" charset="0"/>
              </a:rPr>
              <a:t> operation):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/>
          </a:p>
        </p:txBody>
      </p:sp>
      <p:graphicFrame>
        <p:nvGraphicFramePr>
          <p:cNvPr id="97284" name="Object 4">
            <a:extLst>
              <a:ext uri="{FF2B5EF4-FFF2-40B4-BE49-F238E27FC236}">
                <a16:creationId xmlns:a16="http://schemas.microsoft.com/office/drawing/2014/main" id="{0796D1A7-7C99-B4B2-EEEF-F551B938A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3" y="2420938"/>
          <a:ext cx="42005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9758" imgH="31682" progId="Equation.3">
                  <p:embed/>
                </p:oleObj>
              </mc:Choice>
              <mc:Fallback>
                <p:oleObj name="公式" r:id="rId2" imgW="539758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2420938"/>
                        <a:ext cx="4200525" cy="61277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>
            <a:extLst>
              <a:ext uri="{FF2B5EF4-FFF2-40B4-BE49-F238E27FC236}">
                <a16:creationId xmlns:a16="http://schemas.microsoft.com/office/drawing/2014/main" id="{A618C5DC-9143-F12A-9A14-B544BB0FB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712082"/>
              </p:ext>
            </p:extLst>
          </p:nvPr>
        </p:nvGraphicFramePr>
        <p:xfrm>
          <a:off x="2954338" y="3213100"/>
          <a:ext cx="38830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750" imgH="31682" progId="Equation.DSMT4">
                  <p:embed/>
                </p:oleObj>
              </mc:Choice>
              <mc:Fallback>
                <p:oleObj name="Equation" r:id="rId4" imgW="393750" imgH="3168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3213100"/>
                        <a:ext cx="38830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Oval 6">
            <a:extLst>
              <a:ext uri="{FF2B5EF4-FFF2-40B4-BE49-F238E27FC236}">
                <a16:creationId xmlns:a16="http://schemas.microsoft.com/office/drawing/2014/main" id="{E49F1BB5-5C94-FC44-7467-80ABF61C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003675"/>
            <a:ext cx="1727200" cy="2447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97287" name="Object 7">
            <a:extLst>
              <a:ext uri="{FF2B5EF4-FFF2-40B4-BE49-F238E27FC236}">
                <a16:creationId xmlns:a16="http://schemas.microsoft.com/office/drawing/2014/main" id="{613371C4-FFBE-22A5-8F3E-6F700D05A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822813"/>
              </p:ext>
            </p:extLst>
          </p:nvPr>
        </p:nvGraphicFramePr>
        <p:xfrm>
          <a:off x="1619672" y="5229225"/>
          <a:ext cx="28908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4440" imgH="31682" progId="Equation.3">
                  <p:embed/>
                </p:oleObj>
              </mc:Choice>
              <mc:Fallback>
                <p:oleObj name="公式" r:id="rId6" imgW="374440" imgH="3168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229225"/>
                        <a:ext cx="28908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8" name="Object 8">
            <a:extLst>
              <a:ext uri="{FF2B5EF4-FFF2-40B4-BE49-F238E27FC236}">
                <a16:creationId xmlns:a16="http://schemas.microsoft.com/office/drawing/2014/main" id="{0E67C3D4-2138-1863-B035-3054225F8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5300663"/>
          <a:ext cx="342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6147" progId="Equation.3">
                  <p:embed/>
                </p:oleObj>
              </mc:Choice>
              <mc:Fallback>
                <p:oleObj name="公式" r:id="rId8" imgW="0" imgH="61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300663"/>
                        <a:ext cx="3429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9" name="Object 9">
            <a:extLst>
              <a:ext uri="{FF2B5EF4-FFF2-40B4-BE49-F238E27FC236}">
                <a16:creationId xmlns:a16="http://schemas.microsoft.com/office/drawing/2014/main" id="{59EA73C8-6C37-C9A2-8118-5D67ADCE2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113" y="4292600"/>
          <a:ext cx="32877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5307" imgH="31682" progId="Equation.3">
                  <p:embed/>
                </p:oleObj>
              </mc:Choice>
              <mc:Fallback>
                <p:oleObj name="公式" r:id="rId10" imgW="425307" imgH="3168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4292600"/>
                        <a:ext cx="328771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10">
            <a:extLst>
              <a:ext uri="{FF2B5EF4-FFF2-40B4-BE49-F238E27FC236}">
                <a16:creationId xmlns:a16="http://schemas.microsoft.com/office/drawing/2014/main" id="{86525C46-8048-31FF-17D9-8B646906B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4579938"/>
          <a:ext cx="3730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123" imgH="6147" progId="Equation.3">
                  <p:embed/>
                </p:oleObj>
              </mc:Choice>
              <mc:Fallback>
                <p:oleObj name="公式" r:id="rId12" imgW="6123" imgH="614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579938"/>
                        <a:ext cx="3730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1" name="Oval 11">
            <a:extLst>
              <a:ext uri="{FF2B5EF4-FFF2-40B4-BE49-F238E27FC236}">
                <a16:creationId xmlns:a16="http://schemas.microsoft.com/office/drawing/2014/main" id="{37A48323-9FA4-62EA-96AF-21315A9D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652963"/>
            <a:ext cx="1368425" cy="11509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7292" name="Freeform 12">
            <a:extLst>
              <a:ext uri="{FF2B5EF4-FFF2-40B4-BE49-F238E27FC236}">
                <a16:creationId xmlns:a16="http://schemas.microsoft.com/office/drawing/2014/main" id="{FFA66556-0229-7385-7B7D-61A7A4EAF919}"/>
              </a:ext>
            </a:extLst>
          </p:cNvPr>
          <p:cNvSpPr>
            <a:spLocks/>
          </p:cNvSpPr>
          <p:nvPr/>
        </p:nvSpPr>
        <p:spPr bwMode="auto">
          <a:xfrm>
            <a:off x="3203575" y="4208463"/>
            <a:ext cx="3024188" cy="947737"/>
          </a:xfrm>
          <a:custGeom>
            <a:avLst/>
            <a:gdLst>
              <a:gd name="T0" fmla="*/ 0 w 1905"/>
              <a:gd name="T1" fmla="*/ 2147483646 h 597"/>
              <a:gd name="T2" fmla="*/ 2147483646 w 1905"/>
              <a:gd name="T3" fmla="*/ 2147483646 h 597"/>
              <a:gd name="T4" fmla="*/ 2147483646 w 1905"/>
              <a:gd name="T5" fmla="*/ 2147483646 h 597"/>
              <a:gd name="T6" fmla="*/ 0 60000 65536"/>
              <a:gd name="T7" fmla="*/ 0 60000 65536"/>
              <a:gd name="T8" fmla="*/ 0 60000 65536"/>
              <a:gd name="T9" fmla="*/ 0 w 1905"/>
              <a:gd name="T10" fmla="*/ 0 h 597"/>
              <a:gd name="T11" fmla="*/ 1905 w 1905"/>
              <a:gd name="T12" fmla="*/ 597 h 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" h="597">
                <a:moveTo>
                  <a:pt x="0" y="597"/>
                </a:moveTo>
                <a:cubicBezTo>
                  <a:pt x="272" y="305"/>
                  <a:pt x="545" y="14"/>
                  <a:pt x="862" y="7"/>
                </a:cubicBezTo>
                <a:cubicBezTo>
                  <a:pt x="1179" y="0"/>
                  <a:pt x="1542" y="276"/>
                  <a:pt x="1905" y="5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7293" name="Object 13">
            <a:extLst>
              <a:ext uri="{FF2B5EF4-FFF2-40B4-BE49-F238E27FC236}">
                <a16:creationId xmlns:a16="http://schemas.microsoft.com/office/drawing/2014/main" id="{50EDCBDB-0574-4DCE-FB8C-67BBFAD4F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96276"/>
              </p:ext>
            </p:extLst>
          </p:nvPr>
        </p:nvGraphicFramePr>
        <p:xfrm>
          <a:off x="6243869" y="5052463"/>
          <a:ext cx="245807" cy="34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64880" progId="Equation.DSMT4">
                  <p:embed/>
                </p:oleObj>
              </mc:Choice>
              <mc:Fallback>
                <p:oleObj name="Equation" r:id="rId14" imgW="139680" imgH="164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869" y="5052463"/>
                        <a:ext cx="245807" cy="341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4" name="Oval 14">
            <a:extLst>
              <a:ext uri="{FF2B5EF4-FFF2-40B4-BE49-F238E27FC236}">
                <a16:creationId xmlns:a16="http://schemas.microsoft.com/office/drawing/2014/main" id="{05A9DB35-DE84-8C41-757B-D73D0268B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08476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7295" name="Oval 15">
            <a:extLst>
              <a:ext uri="{FF2B5EF4-FFF2-40B4-BE49-F238E27FC236}">
                <a16:creationId xmlns:a16="http://schemas.microsoft.com/office/drawing/2014/main" id="{E5D0C8A7-99C6-B5ED-04E1-57A1857D2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5119688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97296" name="Object 16">
            <a:extLst>
              <a:ext uri="{FF2B5EF4-FFF2-40B4-BE49-F238E27FC236}">
                <a16:creationId xmlns:a16="http://schemas.microsoft.com/office/drawing/2014/main" id="{0549FCB0-EAB2-61EA-37B0-0BC91E4F8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5838" y="4365625"/>
          <a:ext cx="504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123" imgH="6147" progId="Equation.3">
                  <p:embed/>
                </p:oleObj>
              </mc:Choice>
              <mc:Fallback>
                <p:oleObj name="公式" r:id="rId16" imgW="6123" imgH="614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838" y="4365625"/>
                        <a:ext cx="5048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7" name="Line 17">
            <a:extLst>
              <a:ext uri="{FF2B5EF4-FFF2-40B4-BE49-F238E27FC236}">
                <a16:creationId xmlns:a16="http://schemas.microsoft.com/office/drawing/2014/main" id="{F21631C3-20C4-7583-E5F3-8B3AD4EAB9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9475" y="2997200"/>
            <a:ext cx="0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8" name="Line 18">
            <a:extLst>
              <a:ext uri="{FF2B5EF4-FFF2-40B4-BE49-F238E27FC236}">
                <a16:creationId xmlns:a16="http://schemas.microsoft.com/office/drawing/2014/main" id="{99497235-89E0-4993-3E5C-9EDE49B76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175" y="2997200"/>
            <a:ext cx="0" cy="503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9" name="Line 19">
            <a:extLst>
              <a:ext uri="{FF2B5EF4-FFF2-40B4-BE49-F238E27FC236}">
                <a16:creationId xmlns:a16="http://schemas.microsoft.com/office/drawing/2014/main" id="{D59A14FB-4110-DEEB-15B7-E12C576ED0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29972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300" name="Line 20">
            <a:extLst>
              <a:ext uri="{FF2B5EF4-FFF2-40B4-BE49-F238E27FC236}">
                <a16:creationId xmlns:a16="http://schemas.microsoft.com/office/drawing/2014/main" id="{5B43C556-7CD1-84D8-557A-DAA63EE05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6216" y="29972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301" name="灯片编号占位符 1">
            <a:extLst>
              <a:ext uri="{FF2B5EF4-FFF2-40B4-BE49-F238E27FC236}">
                <a16:creationId xmlns:a16="http://schemas.microsoft.com/office/drawing/2014/main" id="{DA18A08C-859D-A3D2-ABF1-A072B3A4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59D0E2-9907-4E0D-9F95-CCC7110D4AE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1A7586FE-3810-6E92-8863-8FDE6911F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587375"/>
            <a:ext cx="8229600" cy="5721350"/>
          </a:xfrm>
        </p:spPr>
        <p:txBody>
          <a:bodyPr/>
          <a:lstStyle/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元运算就是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元函数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i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101379" name="Object 3">
            <a:extLst>
              <a:ext uri="{FF2B5EF4-FFF2-40B4-BE49-F238E27FC236}">
                <a16:creationId xmlns:a16="http://schemas.microsoft.com/office/drawing/2014/main" id="{C975FB86-FB06-5B2E-C6EC-4A0D011C9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5900" y="3433763"/>
          <a:ext cx="33448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9477" imgH="18915" progId="Equation.3">
                  <p:embed/>
                </p:oleObj>
              </mc:Choice>
              <mc:Fallback>
                <p:oleObj name="公式" r:id="rId2" imgW="349477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3433763"/>
                        <a:ext cx="33448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ABA3495C-2C15-2E14-C744-4E163C73D4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293813"/>
          <a:ext cx="38877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1034" imgH="31682" progId="Equation.3">
                  <p:embed/>
                </p:oleObj>
              </mc:Choice>
              <mc:Fallback>
                <p:oleObj name="公式" r:id="rId4" imgW="381034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293813"/>
                        <a:ext cx="38877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>
            <a:extLst>
              <a:ext uri="{FF2B5EF4-FFF2-40B4-BE49-F238E27FC236}">
                <a16:creationId xmlns:a16="http://schemas.microsoft.com/office/drawing/2014/main" id="{32C740ED-18D0-558E-0DD2-2A970E948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3975" y="2393950"/>
          <a:ext cx="37401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50741" imgH="25535" progId="Equation.3">
                  <p:embed/>
                </p:oleObj>
              </mc:Choice>
              <mc:Fallback>
                <p:oleObj name="公式" r:id="rId6" imgW="450741" imgH="255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2393950"/>
                        <a:ext cx="37401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灯片编号占位符 1">
            <a:extLst>
              <a:ext uri="{FF2B5EF4-FFF2-40B4-BE49-F238E27FC236}">
                <a16:creationId xmlns:a16="http://schemas.microsoft.com/office/drawing/2014/main" id="{F8B82594-9841-8B7B-4701-15F7D369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FDE8B5-81F1-4E14-9E13-ABBA3415568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75E27439-B897-401B-5C06-1627E014604A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179511" y="553984"/>
            <a:ext cx="8640959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运算的封闭性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元封闭运算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代数运算</a:t>
            </a:r>
            <a:r>
              <a:rPr lang="en-US" altLang="zh-CN" b="1" dirty="0">
                <a:latin typeface="Times New Roman" panose="02020603050405020304" pitchFamily="18" charset="0"/>
              </a:rPr>
              <a:t>):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例如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{1, 2, 3}, </a:t>
            </a:r>
          </a:p>
          <a:p>
            <a:pPr marL="0" indent="0" eaLnBrk="1" hangingPunct="1"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   A</a:t>
            </a:r>
            <a:r>
              <a:rPr lang="zh-CN" altLang="en-US" b="1" dirty="0">
                <a:latin typeface="Times New Roman" panose="02020603050405020304" pitchFamily="18" charset="0"/>
              </a:rPr>
              <a:t>上的取小运算</a:t>
            </a:r>
            <a:r>
              <a:rPr lang="en-US" altLang="zh-CN" b="1" dirty="0">
                <a:latin typeface="Times New Roman" panose="02020603050405020304" pitchFamily="18" charset="0"/>
              </a:rPr>
              <a:t>min:</a:t>
            </a:r>
          </a:p>
        </p:txBody>
      </p:sp>
      <p:graphicFrame>
        <p:nvGraphicFramePr>
          <p:cNvPr id="100355" name="Object 3">
            <a:extLst>
              <a:ext uri="{FF2B5EF4-FFF2-40B4-BE49-F238E27FC236}">
                <a16:creationId xmlns:a16="http://schemas.microsoft.com/office/drawing/2014/main" id="{068727F7-28C3-50FE-82C6-1105811F1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935489"/>
              </p:ext>
            </p:extLst>
          </p:nvPr>
        </p:nvGraphicFramePr>
        <p:xfrm>
          <a:off x="1959100" y="1274709"/>
          <a:ext cx="38084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6174" imgH="88900" progId="Equation.3">
                  <p:embed/>
                </p:oleObj>
              </mc:Choice>
              <mc:Fallback>
                <p:oleObj name="公式" r:id="rId2" imgW="476174" imgH="88900" progId="Equation.3">
                  <p:embed/>
                  <p:pic>
                    <p:nvPicPr>
                      <p:cNvPr id="100355" name="Object 3">
                        <a:extLst>
                          <a:ext uri="{FF2B5EF4-FFF2-40B4-BE49-F238E27FC236}">
                            <a16:creationId xmlns:a16="http://schemas.microsoft.com/office/drawing/2014/main" id="{068727F7-28C3-50FE-82C6-1105811F1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100" y="1274709"/>
                        <a:ext cx="38084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>
            <a:extLst>
              <a:ext uri="{FF2B5EF4-FFF2-40B4-BE49-F238E27FC236}">
                <a16:creationId xmlns:a16="http://schemas.microsoft.com/office/drawing/2014/main" id="{352992F2-690E-1EAB-7E85-5E43FE186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657985"/>
              </p:ext>
            </p:extLst>
          </p:nvPr>
        </p:nvGraphicFramePr>
        <p:xfrm>
          <a:off x="516062" y="3146372"/>
          <a:ext cx="80232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58943" imgH="31682" progId="Equation.3">
                  <p:embed/>
                </p:oleObj>
              </mc:Choice>
              <mc:Fallback>
                <p:oleObj name="公式" r:id="rId4" imgW="958943" imgH="31682" progId="Equation.3">
                  <p:embed/>
                  <p:pic>
                    <p:nvPicPr>
                      <p:cNvPr id="100356" name="Object 4">
                        <a:extLst>
                          <a:ext uri="{FF2B5EF4-FFF2-40B4-BE49-F238E27FC236}">
                            <a16:creationId xmlns:a16="http://schemas.microsoft.com/office/drawing/2014/main" id="{352992F2-690E-1EAB-7E85-5E43FE186B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62" y="3146372"/>
                        <a:ext cx="80232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>
            <a:extLst>
              <a:ext uri="{FF2B5EF4-FFF2-40B4-BE49-F238E27FC236}">
                <a16:creationId xmlns:a16="http://schemas.microsoft.com/office/drawing/2014/main" id="{BA02AA3B-0CC0-FF5C-C804-55F31F528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129224"/>
              </p:ext>
            </p:extLst>
          </p:nvPr>
        </p:nvGraphicFramePr>
        <p:xfrm>
          <a:off x="2561536" y="2437801"/>
          <a:ext cx="3237358" cy="636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228600" progId="Equation.DSMT4">
                  <p:embed/>
                </p:oleObj>
              </mc:Choice>
              <mc:Fallback>
                <p:oleObj name="Equation" r:id="rId6" imgW="1193760" imgH="228600" progId="Equation.DSMT4">
                  <p:embed/>
                  <p:pic>
                    <p:nvPicPr>
                      <p:cNvPr id="100357" name="Object 5">
                        <a:extLst>
                          <a:ext uri="{FF2B5EF4-FFF2-40B4-BE49-F238E27FC236}">
                            <a16:creationId xmlns:a16="http://schemas.microsoft.com/office/drawing/2014/main" id="{BA02AA3B-0CC0-FF5C-C804-55F31F528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1536" y="2437801"/>
                        <a:ext cx="3237358" cy="636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8" name="Line 6">
            <a:extLst>
              <a:ext uri="{FF2B5EF4-FFF2-40B4-BE49-F238E27FC236}">
                <a16:creationId xmlns:a16="http://schemas.microsoft.com/office/drawing/2014/main" id="{0126FCE9-47CA-F160-7AA7-A73FCC3E67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4450" y="2209747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9" name="Line 7">
            <a:extLst>
              <a:ext uri="{FF2B5EF4-FFF2-40B4-BE49-F238E27FC236}">
                <a16:creationId xmlns:a16="http://schemas.microsoft.com/office/drawing/2014/main" id="{B32075C6-C217-197E-DC77-B7185E452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0712" y="2209747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0" name="Line 8">
            <a:extLst>
              <a:ext uri="{FF2B5EF4-FFF2-40B4-BE49-F238E27FC236}">
                <a16:creationId xmlns:a16="http://schemas.microsoft.com/office/drawing/2014/main" id="{0FFB531A-FC85-D8F3-93B7-8E6B19B29D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1650" y="2138309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1" name="Line 9">
            <a:extLst>
              <a:ext uri="{FF2B5EF4-FFF2-40B4-BE49-F238E27FC236}">
                <a16:creationId xmlns:a16="http://schemas.microsoft.com/office/drawing/2014/main" id="{DF9EB164-CFB0-E29E-74C2-6CF0A0D47D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9712" y="2209747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2" name="Line 10">
            <a:extLst>
              <a:ext uri="{FF2B5EF4-FFF2-40B4-BE49-F238E27FC236}">
                <a16:creationId xmlns:a16="http://schemas.microsoft.com/office/drawing/2014/main" id="{01BC7DD3-CC61-5D18-0BF8-2B702DEEF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7061" y="4802749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3" name="Line 11">
            <a:extLst>
              <a:ext uri="{FF2B5EF4-FFF2-40B4-BE49-F238E27FC236}">
                <a16:creationId xmlns:a16="http://schemas.microsoft.com/office/drawing/2014/main" id="{CD858314-E93D-1D28-707A-027E6B0DF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4761" y="4443974"/>
            <a:ext cx="0" cy="215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364" name="Object 12">
                <a:extLst>
                  <a:ext uri="{FF2B5EF4-FFF2-40B4-BE49-F238E27FC236}">
                    <a16:creationId xmlns:a16="http://schemas.microsoft.com/office/drawing/2014/main" id="{E30045A9-DA83-1F9A-D0BD-8ED0018C201C}"/>
                  </a:ext>
                </a:extLst>
              </p:cNvPr>
              <p:cNvSpPr txBox="1"/>
              <p:nvPr/>
            </p:nvSpPr>
            <p:spPr bwMode="auto">
              <a:xfrm>
                <a:off x="4707061" y="4361805"/>
                <a:ext cx="96837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𝐦𝐢𝐧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364" name="Object 12">
                <a:extLst>
                  <a:ext uri="{FF2B5EF4-FFF2-40B4-BE49-F238E27FC236}">
                    <a16:creationId xmlns:a16="http://schemas.microsoft.com/office/drawing/2014/main" id="{E30045A9-DA83-1F9A-D0BD-8ED0018C2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7061" y="4361805"/>
                <a:ext cx="968375" cy="520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0365" name="Object 13">
            <a:extLst>
              <a:ext uri="{FF2B5EF4-FFF2-40B4-BE49-F238E27FC236}">
                <a16:creationId xmlns:a16="http://schemas.microsoft.com/office/drawing/2014/main" id="{6B4A062D-8123-B98E-4AAF-F2150EDB1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489601"/>
              </p:ext>
            </p:extLst>
          </p:nvPr>
        </p:nvGraphicFramePr>
        <p:xfrm>
          <a:off x="4923432" y="4803493"/>
          <a:ext cx="338912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574" imgH="666750" progId="Equation.DSMT4">
                  <p:embed/>
                </p:oleObj>
              </mc:Choice>
              <mc:Fallback>
                <p:oleObj name="Equation" r:id="rId9" imgW="120574" imgH="666750" progId="Equation.DSMT4">
                  <p:embed/>
                  <p:pic>
                    <p:nvPicPr>
                      <p:cNvPr id="100365" name="Object 13">
                        <a:extLst>
                          <a:ext uri="{FF2B5EF4-FFF2-40B4-BE49-F238E27FC236}">
                            <a16:creationId xmlns:a16="http://schemas.microsoft.com/office/drawing/2014/main" id="{6B4A062D-8123-B98E-4AAF-F2150EDB1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432" y="4803493"/>
                        <a:ext cx="338912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90452924-44C5-CD54-EB3C-6ECB2CB1C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998531"/>
              </p:ext>
            </p:extLst>
          </p:nvPr>
        </p:nvGraphicFramePr>
        <p:xfrm>
          <a:off x="5572248" y="4228074"/>
          <a:ext cx="1574801" cy="61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2602" imgH="25535" progId="Equation.3">
                  <p:embed/>
                </p:oleObj>
              </mc:Choice>
              <mc:Fallback>
                <p:oleObj name="公式" r:id="rId11" imgW="152602" imgH="25535" progId="Equation.3">
                  <p:embed/>
                  <p:pic>
                    <p:nvPicPr>
                      <p:cNvPr id="100366" name="Object 14">
                        <a:extLst>
                          <a:ext uri="{FF2B5EF4-FFF2-40B4-BE49-F238E27FC236}">
                            <a16:creationId xmlns:a16="http://schemas.microsoft.com/office/drawing/2014/main" id="{90452924-44C5-CD54-EB3C-6ECB2CB1C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248" y="4228074"/>
                        <a:ext cx="1574801" cy="618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>
            <a:extLst>
              <a:ext uri="{FF2B5EF4-FFF2-40B4-BE49-F238E27FC236}">
                <a16:creationId xmlns:a16="http://schemas.microsoft.com/office/drawing/2014/main" id="{8F0658BB-3B6F-C407-A900-8B8BB763D1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22967"/>
              </p:ext>
            </p:extLst>
          </p:nvPr>
        </p:nvGraphicFramePr>
        <p:xfrm>
          <a:off x="5611937" y="4802749"/>
          <a:ext cx="1535112" cy="63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6008" imgH="25535" progId="Equation.3">
                  <p:embed/>
                </p:oleObj>
              </mc:Choice>
              <mc:Fallback>
                <p:oleObj name="公式" r:id="rId13" imgW="146008" imgH="25535" progId="Equation.3">
                  <p:embed/>
                  <p:pic>
                    <p:nvPicPr>
                      <p:cNvPr id="100367" name="Object 15">
                        <a:extLst>
                          <a:ext uri="{FF2B5EF4-FFF2-40B4-BE49-F238E27FC236}">
                            <a16:creationId xmlns:a16="http://schemas.microsoft.com/office/drawing/2014/main" id="{8F0658BB-3B6F-C407-A900-8B8BB763D1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937" y="4802749"/>
                        <a:ext cx="1535112" cy="632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>
            <a:extLst>
              <a:ext uri="{FF2B5EF4-FFF2-40B4-BE49-F238E27FC236}">
                <a16:creationId xmlns:a16="http://schemas.microsoft.com/office/drawing/2014/main" id="{6C62928D-C1BD-DF02-EA5E-F58E7DA53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075193"/>
              </p:ext>
            </p:extLst>
          </p:nvPr>
        </p:nvGraphicFramePr>
        <p:xfrm>
          <a:off x="5589712" y="5407588"/>
          <a:ext cx="1574802" cy="61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602" imgH="25535" progId="Equation.3">
                  <p:embed/>
                </p:oleObj>
              </mc:Choice>
              <mc:Fallback>
                <p:oleObj name="公式" r:id="rId15" imgW="152602" imgH="25535" progId="Equation.3">
                  <p:embed/>
                  <p:pic>
                    <p:nvPicPr>
                      <p:cNvPr id="100368" name="Object 16">
                        <a:extLst>
                          <a:ext uri="{FF2B5EF4-FFF2-40B4-BE49-F238E27FC236}">
                            <a16:creationId xmlns:a16="http://schemas.microsoft.com/office/drawing/2014/main" id="{6C62928D-C1BD-DF02-EA5E-F58E7DA533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712" y="5407588"/>
                        <a:ext cx="1574802" cy="618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9" name="Object 17">
            <a:extLst>
              <a:ext uri="{FF2B5EF4-FFF2-40B4-BE49-F238E27FC236}">
                <a16:creationId xmlns:a16="http://schemas.microsoft.com/office/drawing/2014/main" id="{41CF1FDB-0E80-2AFB-2993-6318BA881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244159"/>
              </p:ext>
            </p:extLst>
          </p:nvPr>
        </p:nvGraphicFramePr>
        <p:xfrm>
          <a:off x="5589712" y="5994963"/>
          <a:ext cx="1574802" cy="61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2602" imgH="25535" progId="Equation.3">
                  <p:embed/>
                </p:oleObj>
              </mc:Choice>
              <mc:Fallback>
                <p:oleObj name="公式" r:id="rId17" imgW="152602" imgH="25535" progId="Equation.3">
                  <p:embed/>
                  <p:pic>
                    <p:nvPicPr>
                      <p:cNvPr id="100369" name="Object 17">
                        <a:extLst>
                          <a:ext uri="{FF2B5EF4-FFF2-40B4-BE49-F238E27FC236}">
                            <a16:creationId xmlns:a16="http://schemas.microsoft.com/office/drawing/2014/main" id="{41CF1FDB-0E80-2AFB-2993-6318BA881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712" y="5994963"/>
                        <a:ext cx="1574802" cy="618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1" name="灯片编号占位符 1">
            <a:extLst>
              <a:ext uri="{FF2B5EF4-FFF2-40B4-BE49-F238E27FC236}">
                <a16:creationId xmlns:a16="http://schemas.microsoft.com/office/drawing/2014/main" id="{0B25E802-8DAE-C81F-23B8-D4ABF191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036171-D780-4E6A-BDEE-9F068B2F96E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6C9566B5-58F6-96C8-5E60-B43DCC8737D0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23850" y="-60548"/>
            <a:ext cx="8229600" cy="5865812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考虑运算的目的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运算是由已知对象得出</a:t>
            </a:r>
            <a:r>
              <a:rPr lang="zh-CN" altLang="en-US" b="1" dirty="0">
                <a:latin typeface="Times New Roman" panose="02020603050405020304" pitchFamily="18" charset="0"/>
              </a:rPr>
              <a:t>新对象的一种方法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endParaRPr lang="en-US" altLang="zh-CN" sz="1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1-15(</a:t>
            </a: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模运算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 Z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A4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(mod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dirty="0">
                <a:solidFill>
                  <a:srgbClr val="A4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0 </a:t>
            </a:r>
            <a:r>
              <a:rPr lang="en-US" altLang="zh-CN" b="1" i="1" dirty="0">
                <a:solidFill>
                  <a:srgbClr val="A4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A4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&lt; </a:t>
            </a:r>
            <a:r>
              <a:rPr lang="en-US" altLang="zh-CN" b="1" i="1" dirty="0">
                <a:solidFill>
                  <a:srgbClr val="A4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: 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(mod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1)  8(mod 3)=?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8 = 2·3 + 2;    2) -5(mod 3)=?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-5 = -2·3 + 1.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 = {0, 1, 2,...,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-1}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sz="14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Remark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不同于</a:t>
            </a:r>
            <a:r>
              <a:rPr lang="en-US" altLang="zh-CN" sz="2800" b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语言中的模运算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x%m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2403" name="灯片编号占位符 1">
            <a:extLst>
              <a:ext uri="{FF2B5EF4-FFF2-40B4-BE49-F238E27FC236}">
                <a16:creationId xmlns:a16="http://schemas.microsoft.com/office/drawing/2014/main" id="{D61275B8-D990-2A4C-4876-FA541178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684234-4932-49A0-AF81-19CE9A2F7F8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B8EDD5F2-B10C-52F0-257B-A891EA973F9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20713"/>
            <a:ext cx="8075613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1-17   Z</a:t>
            </a:r>
            <a:r>
              <a:rPr lang="zh-CN" altLang="en-US" b="1" dirty="0">
                <a:latin typeface="Times New Roman" panose="02020603050405020304" pitchFamily="18" charset="0"/>
              </a:rPr>
              <a:t>上的模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加法运算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和模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乘法运算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.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例如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上的模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加法运算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和模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乘法运算</a:t>
            </a:r>
            <a:r>
              <a:rPr lang="en-US" altLang="zh-CN" b="1" baseline="300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是其上的封闭运算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4451" name="Object 3">
            <a:extLst>
              <a:ext uri="{FF2B5EF4-FFF2-40B4-BE49-F238E27FC236}">
                <a16:creationId xmlns:a16="http://schemas.microsoft.com/office/drawing/2014/main" id="{95EED315-12CA-50AF-66DA-29E26D7428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6825" y="1370013"/>
          <a:ext cx="44307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39758" imgH="31682" progId="Equation.3">
                  <p:embed/>
                </p:oleObj>
              </mc:Choice>
              <mc:Fallback>
                <p:oleObj name="公式" r:id="rId3" imgW="539758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370013"/>
                        <a:ext cx="44307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4">
            <a:extLst>
              <a:ext uri="{FF2B5EF4-FFF2-40B4-BE49-F238E27FC236}">
                <a16:creationId xmlns:a16="http://schemas.microsoft.com/office/drawing/2014/main" id="{56A7C1E6-288E-957F-DE16-A1F82B868D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6675" y="2090738"/>
          <a:ext cx="40052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57335" imgH="31682" progId="Equation.3">
                  <p:embed/>
                </p:oleObj>
              </mc:Choice>
              <mc:Fallback>
                <p:oleObj name="公式" r:id="rId5" imgW="457335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2090738"/>
                        <a:ext cx="40052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5">
            <a:extLst>
              <a:ext uri="{FF2B5EF4-FFF2-40B4-BE49-F238E27FC236}">
                <a16:creationId xmlns:a16="http://schemas.microsoft.com/office/drawing/2014/main" id="{0BF90BCB-01FE-C5E3-DEB0-67D8B68CC4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314700"/>
          <a:ext cx="44640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33635" imgH="31682" progId="Equation.3">
                  <p:embed/>
                </p:oleObj>
              </mc:Choice>
              <mc:Fallback>
                <p:oleObj name="公式" r:id="rId7" imgW="533635" imgH="316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314700"/>
                        <a:ext cx="44640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130339F8-D84D-6DBB-D93A-53E61267E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251325"/>
          <a:ext cx="4824412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52475" imgH="31682" progId="Equation.3">
                  <p:embed/>
                </p:oleObj>
              </mc:Choice>
              <mc:Fallback>
                <p:oleObj name="公式" r:id="rId9" imgW="552475" imgH="3168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51325"/>
                        <a:ext cx="4824412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5" name="灯片编号占位符 1">
            <a:extLst>
              <a:ext uri="{FF2B5EF4-FFF2-40B4-BE49-F238E27FC236}">
                <a16:creationId xmlns:a16="http://schemas.microsoft.com/office/drawing/2014/main" id="{D3D59FDC-6D6F-EDBC-8A53-BA669F8C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A18EEF-3CF0-45F5-9C21-E9F0517F928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0F57D57F-D2B3-F030-48C7-434E0234528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92150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运算表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}, *: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思考 </a:t>
            </a:r>
            <a:r>
              <a:rPr lang="zh-CN" altLang="en-US" b="1" i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上封闭的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元运算</a:t>
            </a:r>
            <a:r>
              <a:rPr lang="en-US" altLang="zh-CN" b="1">
                <a:latin typeface="Times New Roman" panose="02020603050405020304" pitchFamily="18" charset="0"/>
              </a:rPr>
              <a:t>, 2</a:t>
            </a:r>
            <a:r>
              <a:rPr lang="zh-CN" altLang="en-US" b="1">
                <a:latin typeface="Times New Roman" panose="02020603050405020304" pitchFamily="18" charset="0"/>
              </a:rPr>
              <a:t>元运算和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元运算的个数是多少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163843" name="Group 3">
            <a:extLst>
              <a:ext uri="{FF2B5EF4-FFF2-40B4-BE49-F238E27FC236}">
                <a16:creationId xmlns:a16="http://schemas.microsoft.com/office/drawing/2014/main" id="{904E001A-9EE8-59E2-27AF-B392231044A7}"/>
              </a:ext>
            </a:extLst>
          </p:cNvPr>
          <p:cNvGraphicFramePr>
            <a:graphicFrameLocks noGrp="1"/>
          </p:cNvGraphicFramePr>
          <p:nvPr/>
        </p:nvGraphicFramePr>
        <p:xfrm>
          <a:off x="3492500" y="1916113"/>
          <a:ext cx="2305050" cy="2160587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b   c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24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  a   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b   c   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   a   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702" name="灯片编号占位符 1">
            <a:extLst>
              <a:ext uri="{FF2B5EF4-FFF2-40B4-BE49-F238E27FC236}">
                <a16:creationId xmlns:a16="http://schemas.microsoft.com/office/drawing/2014/main" id="{AFA1DDB8-0887-D336-91A0-A21C00FE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C07744-68C0-46CA-BF62-8AEF7CFDCE5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9F0DD48D-8E5B-8A73-8A63-5CF6D67AF2C0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B8BFE6B6-BA07-9E4E-E5A8-6AB4803B1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825" y="4000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sz="4000" b="1"/>
              <a:t>本节小结</a:t>
            </a:r>
          </a:p>
        </p:txBody>
      </p:sp>
      <p:grpSp>
        <p:nvGrpSpPr>
          <p:cNvPr id="135172" name="Group 4">
            <a:extLst>
              <a:ext uri="{FF2B5EF4-FFF2-40B4-BE49-F238E27FC236}">
                <a16:creationId xmlns:a16="http://schemas.microsoft.com/office/drawing/2014/main" id="{704E2CD4-D38D-9A8E-B129-AA8F23E2C0DD}"/>
              </a:ext>
            </a:extLst>
          </p:cNvPr>
          <p:cNvGrpSpPr>
            <a:grpSpLocks/>
          </p:cNvGrpSpPr>
          <p:nvPr/>
        </p:nvGrpSpPr>
        <p:grpSpPr bwMode="auto">
          <a:xfrm>
            <a:off x="1697038" y="2082800"/>
            <a:ext cx="498475" cy="482600"/>
            <a:chOff x="1419" y="1491"/>
            <a:chExt cx="344" cy="344"/>
          </a:xfrm>
        </p:grpSpPr>
        <p:sp>
          <p:nvSpPr>
            <p:cNvPr id="305158" name="Oval 6">
              <a:extLst>
                <a:ext uri="{FF2B5EF4-FFF2-40B4-BE49-F238E27FC236}">
                  <a16:creationId xmlns:a16="http://schemas.microsoft.com/office/drawing/2014/main" id="{4C1175C9-F497-782B-E399-AB2E3CDC005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19" y="1491"/>
              <a:ext cx="344" cy="344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05160" name="Oval 8">
              <a:extLst>
                <a:ext uri="{FF2B5EF4-FFF2-40B4-BE49-F238E27FC236}">
                  <a16:creationId xmlns:a16="http://schemas.microsoft.com/office/drawing/2014/main" id="{6E3E7267-9365-E9AD-1E6C-CA90EA4539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9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5193" name="Oval 9">
              <a:extLst>
                <a:ext uri="{FF2B5EF4-FFF2-40B4-BE49-F238E27FC236}">
                  <a16:creationId xmlns:a16="http://schemas.microsoft.com/office/drawing/2014/main" id="{8B13445F-D7FD-341C-9111-BFE1CB1CE9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35173" name="Group 16">
            <a:extLst>
              <a:ext uri="{FF2B5EF4-FFF2-40B4-BE49-F238E27FC236}">
                <a16:creationId xmlns:a16="http://schemas.microsoft.com/office/drawing/2014/main" id="{131B6632-2A04-31DD-92CA-1D3A0B7217FB}"/>
              </a:ext>
            </a:extLst>
          </p:cNvPr>
          <p:cNvGrpSpPr>
            <a:grpSpLocks/>
          </p:cNvGrpSpPr>
          <p:nvPr/>
        </p:nvGrpSpPr>
        <p:grpSpPr bwMode="auto">
          <a:xfrm>
            <a:off x="2251075" y="3573463"/>
            <a:ext cx="5181600" cy="508000"/>
            <a:chOff x="1419" y="1480"/>
            <a:chExt cx="3575" cy="363"/>
          </a:xfrm>
        </p:grpSpPr>
        <p:grpSp>
          <p:nvGrpSpPr>
            <p:cNvPr id="135186" name="Group 17">
              <a:extLst>
                <a:ext uri="{FF2B5EF4-FFF2-40B4-BE49-F238E27FC236}">
                  <a16:creationId xmlns:a16="http://schemas.microsoft.com/office/drawing/2014/main" id="{98BF2385-CCDB-1EDC-95F4-2ADFA22A5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5170" name="Oval 18">
                <a:extLst>
                  <a:ext uri="{FF2B5EF4-FFF2-40B4-BE49-F238E27FC236}">
                    <a16:creationId xmlns:a16="http://schemas.microsoft.com/office/drawing/2014/main" id="{AD3199F6-BD52-3138-A02A-D77C4B2E558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305171" name="AutoShape 19">
                <a:extLst>
                  <a:ext uri="{FF2B5EF4-FFF2-40B4-BE49-F238E27FC236}">
                    <a16:creationId xmlns:a16="http://schemas.microsoft.com/office/drawing/2014/main" id="{2542C903-23C5-B508-24F5-F6F5147AB8E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/>
                  <a:t>运算的性质</a:t>
                </a:r>
              </a:p>
            </p:txBody>
          </p:sp>
        </p:grpSp>
        <p:sp>
          <p:nvSpPr>
            <p:cNvPr id="305172" name="Oval 20">
              <a:extLst>
                <a:ext uri="{FF2B5EF4-FFF2-40B4-BE49-F238E27FC236}">
                  <a16:creationId xmlns:a16="http://schemas.microsoft.com/office/drawing/2014/main" id="{38A16A6A-670A-AEEE-1330-DE8117020E1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5188" name="Oval 21">
              <a:extLst>
                <a:ext uri="{FF2B5EF4-FFF2-40B4-BE49-F238E27FC236}">
                  <a16:creationId xmlns:a16="http://schemas.microsoft.com/office/drawing/2014/main" id="{7E376919-3945-6018-7A1E-2BF49494C91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35174" name="AutoShape 28">
            <a:extLst>
              <a:ext uri="{FF2B5EF4-FFF2-40B4-BE49-F238E27FC236}">
                <a16:creationId xmlns:a16="http://schemas.microsoft.com/office/drawing/2014/main" id="{06EA104F-E8C7-1533-E12B-92DBECBB24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grpSp>
        <p:nvGrpSpPr>
          <p:cNvPr id="135175" name="Group 30">
            <a:extLst>
              <a:ext uri="{FF2B5EF4-FFF2-40B4-BE49-F238E27FC236}">
                <a16:creationId xmlns:a16="http://schemas.microsoft.com/office/drawing/2014/main" id="{2FF0526A-16A5-B8E3-20F0-3042303F39E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300663"/>
            <a:ext cx="5380037" cy="685800"/>
            <a:chOff x="1152" y="2832"/>
            <a:chExt cx="3408" cy="432"/>
          </a:xfrm>
        </p:grpSpPr>
        <p:grpSp>
          <p:nvGrpSpPr>
            <p:cNvPr id="135179" name="Group 31">
              <a:extLst>
                <a:ext uri="{FF2B5EF4-FFF2-40B4-BE49-F238E27FC236}">
                  <a16:creationId xmlns:a16="http://schemas.microsoft.com/office/drawing/2014/main" id="{A6EF2D1B-83A5-DBBE-4163-59042A9B1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35183" name="AutoShape 32">
                <a:extLst>
                  <a:ext uri="{FF2B5EF4-FFF2-40B4-BE49-F238E27FC236}">
                    <a16:creationId xmlns:a16="http://schemas.microsoft.com/office/drawing/2014/main" id="{A472FF44-E02E-6E37-5F65-05DE8959753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5184" name="AutoShape 33">
                <a:extLst>
                  <a:ext uri="{FF2B5EF4-FFF2-40B4-BE49-F238E27FC236}">
                    <a16:creationId xmlns:a16="http://schemas.microsoft.com/office/drawing/2014/main" id="{DEA6A0BD-3CBF-F365-18B1-2FA647FEC24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05186" name="AutoShape 34">
                <a:extLst>
                  <a:ext uri="{FF2B5EF4-FFF2-40B4-BE49-F238E27FC236}">
                    <a16:creationId xmlns:a16="http://schemas.microsoft.com/office/drawing/2014/main" id="{5A602AE2-2D91-5C2A-188D-B38469C3429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35180" name="Line 35">
              <a:extLst>
                <a:ext uri="{FF2B5EF4-FFF2-40B4-BE49-F238E27FC236}">
                  <a16:creationId xmlns:a16="http://schemas.microsoft.com/office/drawing/2014/main" id="{BAE96E07-E09C-9A76-E88F-88DBBF96A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1" name="Text Box 36">
              <a:extLst>
                <a:ext uri="{FF2B5EF4-FFF2-40B4-BE49-F238E27FC236}">
                  <a16:creationId xmlns:a16="http://schemas.microsoft.com/office/drawing/2014/main" id="{E76C2F93-EF1F-E12E-A02E-96AB16044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2832"/>
              <a:ext cx="11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135182" name="Text Box 37">
              <a:extLst>
                <a:ext uri="{FF2B5EF4-FFF2-40B4-BE49-F238E27FC236}">
                  <a16:creationId xmlns:a16="http://schemas.microsoft.com/office/drawing/2014/main" id="{2ADCADF8-FE4F-6BAD-6679-E3EE28346C1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作业</a:t>
              </a:r>
            </a:p>
          </p:txBody>
        </p:sp>
      </p:grpSp>
      <p:sp>
        <p:nvSpPr>
          <p:cNvPr id="135176" name="灯片编号占位符 1">
            <a:extLst>
              <a:ext uri="{FF2B5EF4-FFF2-40B4-BE49-F238E27FC236}">
                <a16:creationId xmlns:a16="http://schemas.microsoft.com/office/drawing/2014/main" id="{9866C864-7CF5-716B-E583-992D4138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04B5A7-5143-4979-A7AA-40E8A7EECC4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/>
          </a:p>
        </p:txBody>
      </p:sp>
      <p:sp>
        <p:nvSpPr>
          <p:cNvPr id="135177" name="Text Box 36">
            <a:extLst>
              <a:ext uri="{FF2B5EF4-FFF2-40B4-BE49-F238E27FC236}">
                <a16:creationId xmlns:a16="http://schemas.microsoft.com/office/drawing/2014/main" id="{933E681E-FD4D-E0AD-85B9-16395AEBE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5291138"/>
            <a:ext cx="22397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/>
              <a:t>习题</a:t>
            </a:r>
            <a:r>
              <a:rPr lang="en-US" altLang="zh-CN" b="1" dirty="0">
                <a:latin typeface="Times New Roman" panose="02020603050405020304" pitchFamily="18" charset="0"/>
              </a:rPr>
              <a:t>1.3     3</a:t>
            </a:r>
          </a:p>
        </p:txBody>
      </p:sp>
      <p:sp>
        <p:nvSpPr>
          <p:cNvPr id="39" name="AutoShape 7">
            <a:extLst>
              <a:ext uri="{FF2B5EF4-FFF2-40B4-BE49-F238E27FC236}">
                <a16:creationId xmlns:a16="http://schemas.microsoft.com/office/drawing/2014/main" id="{2DE008D9-B8BD-A3D2-6784-047C9A5CAE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49475" y="2060575"/>
            <a:ext cx="4799013" cy="50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b="1"/>
              <a:t>运算的定义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F212EE3A-10D8-A936-E509-ED1C773568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章  集合、映射与运算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3CE48E0-73CF-8C3F-27F4-F59980D8FF8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1.4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集合的运算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1.5 </a:t>
            </a:r>
            <a:r>
              <a:rPr lang="zh-CN" altLang="en-US" b="1">
                <a:latin typeface="宋体" panose="02010600030101010101" pitchFamily="2" charset="-122"/>
              </a:rPr>
              <a:t>集合的划分与覆盖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1D501B06-9D9A-2BFB-EE65-80A795F20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最常见的集合运算是并、交和补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1. </a:t>
            </a:r>
            <a:r>
              <a:rPr lang="zh-CN" altLang="en-US" b="1">
                <a:latin typeface="Times New Roman" panose="02020603050405020304" pitchFamily="18" charset="0"/>
              </a:rPr>
              <a:t>并</a:t>
            </a:r>
            <a:r>
              <a:rPr lang="en-US" altLang="zh-CN" b="1">
                <a:latin typeface="Times New Roman" panose="02020603050405020304" pitchFamily="18" charset="0"/>
              </a:rPr>
              <a:t>(union)</a:t>
            </a:r>
            <a:r>
              <a:rPr lang="zh-CN" altLang="en-US" b="1">
                <a:latin typeface="Times New Roman" panose="02020603050405020304" pitchFamily="18" charset="0"/>
              </a:rPr>
              <a:t>运算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137219" name="Object 3">
            <a:extLst>
              <a:ext uri="{FF2B5EF4-FFF2-40B4-BE49-F238E27FC236}">
                <a16:creationId xmlns:a16="http://schemas.microsoft.com/office/drawing/2014/main" id="{248058D0-420D-974C-A3DD-C07F5FAEFF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276475"/>
          <a:ext cx="46085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7909" imgH="25535" progId="Equation.3">
                  <p:embed/>
                </p:oleObj>
              </mc:Choice>
              <mc:Fallback>
                <p:oleObj name="Equation" r:id="rId2" imgW="577909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276475"/>
                        <a:ext cx="460851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0" name="Rectangle 4">
            <a:extLst>
              <a:ext uri="{FF2B5EF4-FFF2-40B4-BE49-F238E27FC236}">
                <a16:creationId xmlns:a16="http://schemas.microsoft.com/office/drawing/2014/main" id="{D25063CF-A0FA-CD24-C5B2-1459E07BE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4005263"/>
            <a:ext cx="3311525" cy="165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7221" name="Oval 5">
            <a:extLst>
              <a:ext uri="{FF2B5EF4-FFF2-40B4-BE49-F238E27FC236}">
                <a16:creationId xmlns:a16="http://schemas.microsoft.com/office/drawing/2014/main" id="{8D360B98-3571-4070-5BE7-1A846991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65625"/>
            <a:ext cx="1223963" cy="719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7222" name="Oval 6">
            <a:extLst>
              <a:ext uri="{FF2B5EF4-FFF2-40B4-BE49-F238E27FC236}">
                <a16:creationId xmlns:a16="http://schemas.microsoft.com/office/drawing/2014/main" id="{5CA284BE-FF40-773A-E403-57C970CED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292600"/>
            <a:ext cx="1368425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7223" name="Line 7">
            <a:extLst>
              <a:ext uri="{FF2B5EF4-FFF2-40B4-BE49-F238E27FC236}">
                <a16:creationId xmlns:a16="http://schemas.microsoft.com/office/drawing/2014/main" id="{F7BC4F36-609E-B9EE-308F-0F83372BE8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4365625"/>
            <a:ext cx="503238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4" name="Line 8">
            <a:extLst>
              <a:ext uri="{FF2B5EF4-FFF2-40B4-BE49-F238E27FC236}">
                <a16:creationId xmlns:a16="http://schemas.microsoft.com/office/drawing/2014/main" id="{05B4EF58-A3C3-EB6B-9D8C-8024B27D4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938" y="4365625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5" name="Line 9">
            <a:extLst>
              <a:ext uri="{FF2B5EF4-FFF2-40B4-BE49-F238E27FC236}">
                <a16:creationId xmlns:a16="http://schemas.microsoft.com/office/drawing/2014/main" id="{A920A318-D2C7-B68B-DB60-0EA1B9326E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4437063"/>
            <a:ext cx="6492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6" name="Line 10">
            <a:extLst>
              <a:ext uri="{FF2B5EF4-FFF2-40B4-BE49-F238E27FC236}">
                <a16:creationId xmlns:a16="http://schemas.microsoft.com/office/drawing/2014/main" id="{3FA6141E-D29A-DFBB-B5FA-7331139EAB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443706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7" name="Line 11">
            <a:extLst>
              <a:ext uri="{FF2B5EF4-FFF2-40B4-BE49-F238E27FC236}">
                <a16:creationId xmlns:a16="http://schemas.microsoft.com/office/drawing/2014/main" id="{BED7B13C-BFEC-4FBD-1C17-3824117DA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5738" y="4365625"/>
            <a:ext cx="7207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8" name="Line 12">
            <a:extLst>
              <a:ext uri="{FF2B5EF4-FFF2-40B4-BE49-F238E27FC236}">
                <a16:creationId xmlns:a16="http://schemas.microsoft.com/office/drawing/2014/main" id="{28616AC7-2FBB-DAAD-30E6-176F5321D2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4292600"/>
            <a:ext cx="7921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9" name="Line 13">
            <a:extLst>
              <a:ext uri="{FF2B5EF4-FFF2-40B4-BE49-F238E27FC236}">
                <a16:creationId xmlns:a16="http://schemas.microsoft.com/office/drawing/2014/main" id="{D00EE389-EB0B-C75C-0517-37947D9BB3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6100" y="4292600"/>
            <a:ext cx="7921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0" name="Line 14">
            <a:extLst>
              <a:ext uri="{FF2B5EF4-FFF2-40B4-BE49-F238E27FC236}">
                <a16:creationId xmlns:a16="http://schemas.microsoft.com/office/drawing/2014/main" id="{9191DA68-4849-87D1-0A0A-3841BE71F3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4365625"/>
            <a:ext cx="7207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1" name="Line 15">
            <a:extLst>
              <a:ext uri="{FF2B5EF4-FFF2-40B4-BE49-F238E27FC236}">
                <a16:creationId xmlns:a16="http://schemas.microsoft.com/office/drawing/2014/main" id="{48B72C86-4F22-156D-394B-3ABF05D373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6463" y="4437063"/>
            <a:ext cx="7191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2" name="Line 16">
            <a:extLst>
              <a:ext uri="{FF2B5EF4-FFF2-40B4-BE49-F238E27FC236}">
                <a16:creationId xmlns:a16="http://schemas.microsoft.com/office/drawing/2014/main" id="{25908EDD-8758-49F7-A132-6F98E7BCB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9338" y="4475163"/>
            <a:ext cx="7207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3" name="Line 17">
            <a:extLst>
              <a:ext uri="{FF2B5EF4-FFF2-40B4-BE49-F238E27FC236}">
                <a16:creationId xmlns:a16="http://schemas.microsoft.com/office/drawing/2014/main" id="{136C3E41-CA07-F03D-5125-570D513B5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3" y="4581525"/>
            <a:ext cx="50323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4" name="Line 18">
            <a:extLst>
              <a:ext uri="{FF2B5EF4-FFF2-40B4-BE49-F238E27FC236}">
                <a16:creationId xmlns:a16="http://schemas.microsoft.com/office/drawing/2014/main" id="{BCB48F8B-BC46-10A4-7CF2-8CA7CEB058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5600" y="4724400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7235" name="Object 19">
            <a:extLst>
              <a:ext uri="{FF2B5EF4-FFF2-40B4-BE49-F238E27FC236}">
                <a16:creationId xmlns:a16="http://schemas.microsoft.com/office/drawing/2014/main" id="{6D085751-4B42-557A-8729-BEA4A4F60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112232"/>
              </p:ext>
            </p:extLst>
          </p:nvPr>
        </p:nvGraphicFramePr>
        <p:xfrm>
          <a:off x="2843213" y="3125534"/>
          <a:ext cx="3445350" cy="567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164880" progId="Equation.DSMT4">
                  <p:embed/>
                </p:oleObj>
              </mc:Choice>
              <mc:Fallback>
                <p:oleObj name="Equation" r:id="rId4" imgW="901440" imgH="1648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125534"/>
                        <a:ext cx="3445350" cy="567243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0">
            <a:extLst>
              <a:ext uri="{FF2B5EF4-FFF2-40B4-BE49-F238E27FC236}">
                <a16:creationId xmlns:a16="http://schemas.microsoft.com/office/drawing/2014/main" id="{DE7DCAD7-5CEC-6227-F5B4-BB41B3ABE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508500"/>
          <a:ext cx="41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123" imgH="6147" progId="Equation.3">
                  <p:embed/>
                </p:oleObj>
              </mc:Choice>
              <mc:Fallback>
                <p:oleObj name="公式" r:id="rId6" imgW="6123" imgH="614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508500"/>
                        <a:ext cx="41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>
            <a:extLst>
              <a:ext uri="{FF2B5EF4-FFF2-40B4-BE49-F238E27FC236}">
                <a16:creationId xmlns:a16="http://schemas.microsoft.com/office/drawing/2014/main" id="{7807D865-96FC-63F0-D810-121A17C11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508500"/>
          <a:ext cx="41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123" imgH="6147" progId="Equation.3">
                  <p:embed/>
                </p:oleObj>
              </mc:Choice>
              <mc:Fallback>
                <p:oleObj name="公式" r:id="rId8" imgW="6123" imgH="614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508500"/>
                        <a:ext cx="41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38" name="灯片编号占位符 1">
            <a:extLst>
              <a:ext uri="{FF2B5EF4-FFF2-40B4-BE49-F238E27FC236}">
                <a16:creationId xmlns:a16="http://schemas.microsoft.com/office/drawing/2014/main" id="{BAD1CA86-D682-6114-D0D0-45986183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D71C5-EC83-428E-9166-A2A3C4324DB0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358DAAFA-ACBD-1A29-8805-0C467985EF2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587375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Theorem1-17 (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并运算满足的性质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(4)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  =  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(5)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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43" name="Object 3">
                <a:extLst>
                  <a:ext uri="{FF2B5EF4-FFF2-40B4-BE49-F238E27FC236}">
                    <a16:creationId xmlns:a16="http://schemas.microsoft.com/office/drawing/2014/main" id="{82F5A8B6-F0C9-59D3-EF2F-F4EF1596D1A5}"/>
                  </a:ext>
                </a:extLst>
              </p:cNvPr>
              <p:cNvSpPr txBox="1"/>
              <p:nvPr/>
            </p:nvSpPr>
            <p:spPr bwMode="auto">
              <a:xfrm>
                <a:off x="1698471" y="1395412"/>
                <a:ext cx="1849438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8243" name="Object 3">
                <a:extLst>
                  <a:ext uri="{FF2B5EF4-FFF2-40B4-BE49-F238E27FC236}">
                    <a16:creationId xmlns:a16="http://schemas.microsoft.com/office/drawing/2014/main" id="{82F5A8B6-F0C9-59D3-EF2F-F4EF1596D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8471" y="1395412"/>
                <a:ext cx="1849438" cy="454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44" name="Object 4">
                <a:extLst>
                  <a:ext uri="{FF2B5EF4-FFF2-40B4-BE49-F238E27FC236}">
                    <a16:creationId xmlns:a16="http://schemas.microsoft.com/office/drawing/2014/main" id="{43F1A100-D653-5DE5-EE88-668F4A2EA8A1}"/>
                  </a:ext>
                </a:extLst>
              </p:cNvPr>
              <p:cNvSpPr txBox="1"/>
              <p:nvPr/>
            </p:nvSpPr>
            <p:spPr bwMode="auto">
              <a:xfrm>
                <a:off x="1663700" y="2060575"/>
                <a:ext cx="2547938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8244" name="Object 4">
                <a:extLst>
                  <a:ext uri="{FF2B5EF4-FFF2-40B4-BE49-F238E27FC236}">
                    <a16:creationId xmlns:a16="http://schemas.microsoft.com/office/drawing/2014/main" id="{43F1A100-D653-5DE5-EE88-668F4A2EA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3700" y="2060575"/>
                <a:ext cx="2547938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245" name="Object 5">
            <a:extLst>
              <a:ext uri="{FF2B5EF4-FFF2-40B4-BE49-F238E27FC236}">
                <a16:creationId xmlns:a16="http://schemas.microsoft.com/office/drawing/2014/main" id="{91BD6AED-67DB-BF6C-CE17-E96B8EFDA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725738"/>
          <a:ext cx="46069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77909" imgH="18915" progId="Equation.3">
                  <p:embed/>
                </p:oleObj>
              </mc:Choice>
              <mc:Fallback>
                <p:oleObj name="公式" r:id="rId4" imgW="577909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25738"/>
                        <a:ext cx="46069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灯片编号占位符 1">
            <a:extLst>
              <a:ext uri="{FF2B5EF4-FFF2-40B4-BE49-F238E27FC236}">
                <a16:creationId xmlns:a16="http://schemas.microsoft.com/office/drawing/2014/main" id="{B4C86B6D-50A8-B2C8-2228-0F805A9F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597A45-8D0B-4DC6-86F6-D9C9528CC52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37C8D65-286C-78B8-4FF3-F9364DD71BA1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aphicFrame>
        <p:nvGraphicFramePr>
          <p:cNvPr id="139267" name="Object 3">
            <a:extLst>
              <a:ext uri="{FF2B5EF4-FFF2-40B4-BE49-F238E27FC236}">
                <a16:creationId xmlns:a16="http://schemas.microsoft.com/office/drawing/2014/main" id="{5008D2BD-8184-0310-3085-FDEC9D51C4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110053"/>
              </p:ext>
            </p:extLst>
          </p:nvPr>
        </p:nvGraphicFramePr>
        <p:xfrm>
          <a:off x="1835150" y="1305446"/>
          <a:ext cx="42926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9758" imgH="114435" progId="Equation.3">
                  <p:embed/>
                </p:oleObj>
              </mc:Choice>
              <mc:Fallback>
                <p:oleObj name="公式" r:id="rId2" imgW="539758" imgH="1144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305446"/>
                        <a:ext cx="42926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>
            <a:extLst>
              <a:ext uri="{FF2B5EF4-FFF2-40B4-BE49-F238E27FC236}">
                <a16:creationId xmlns:a16="http://schemas.microsoft.com/office/drawing/2014/main" id="{06013BAF-ABC8-E666-CA46-BA5C69FCFE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106869"/>
              </p:ext>
            </p:extLst>
          </p:nvPr>
        </p:nvGraphicFramePr>
        <p:xfrm>
          <a:off x="1809750" y="2745606"/>
          <a:ext cx="5059363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7616" imgH="114435" progId="Equation.3">
                  <p:embed/>
                </p:oleObj>
              </mc:Choice>
              <mc:Fallback>
                <p:oleObj name="公式" r:id="rId4" imgW="647616" imgH="1144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745606"/>
                        <a:ext cx="5059363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>
            <a:extLst>
              <a:ext uri="{FF2B5EF4-FFF2-40B4-BE49-F238E27FC236}">
                <a16:creationId xmlns:a16="http://schemas.microsoft.com/office/drawing/2014/main" id="{629C8103-A707-7DD4-B414-426F4A632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035215"/>
              </p:ext>
            </p:extLst>
          </p:nvPr>
        </p:nvGraphicFramePr>
        <p:xfrm>
          <a:off x="1798638" y="4500832"/>
          <a:ext cx="950532" cy="944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342720" progId="Equation.DSMT4">
                  <p:embed/>
                </p:oleObj>
              </mc:Choice>
              <mc:Fallback>
                <p:oleObj name="Equation" r:id="rId6" imgW="393480" imgH="3427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4500832"/>
                        <a:ext cx="950532" cy="944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0" name="灯片编号占位符 1">
            <a:extLst>
              <a:ext uri="{FF2B5EF4-FFF2-40B4-BE49-F238E27FC236}">
                <a16:creationId xmlns:a16="http://schemas.microsoft.com/office/drawing/2014/main" id="{C5ECE611-C054-3C85-65C7-21BF182B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C7728D-81EE-48AC-B7A7-8A087F6FCA3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D9E2A271-2ED5-1417-7C89-9CCE7AFCEB6F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804863" y="692696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交</a:t>
            </a:r>
            <a:r>
              <a:rPr lang="en-US" altLang="zh-CN" b="1" dirty="0">
                <a:latin typeface="Times New Roman" panose="02020603050405020304" pitchFamily="18" charset="0"/>
              </a:rPr>
              <a:t>(intersection)</a:t>
            </a:r>
            <a:r>
              <a:rPr lang="zh-CN" altLang="en-US" b="1" dirty="0">
                <a:latin typeface="Times New Roman" panose="02020603050405020304" pitchFamily="18" charset="0"/>
              </a:rPr>
              <a:t>运算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0291" name="Object 3">
            <a:extLst>
              <a:ext uri="{FF2B5EF4-FFF2-40B4-BE49-F238E27FC236}">
                <a16:creationId xmlns:a16="http://schemas.microsoft.com/office/drawing/2014/main" id="{9B636D28-34D5-A285-3A0E-090CCEF6F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74095"/>
              </p:ext>
            </p:extLst>
          </p:nvPr>
        </p:nvGraphicFramePr>
        <p:xfrm>
          <a:off x="1691680" y="1502295"/>
          <a:ext cx="460851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7909" imgH="25535" progId="Equation.3">
                  <p:embed/>
                </p:oleObj>
              </mc:Choice>
              <mc:Fallback>
                <p:oleObj name="Equation" r:id="rId2" imgW="577909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502295"/>
                        <a:ext cx="460851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0292" name="Object 4">
                <a:extLst>
                  <a:ext uri="{FF2B5EF4-FFF2-40B4-BE49-F238E27FC236}">
                    <a16:creationId xmlns:a16="http://schemas.microsoft.com/office/drawing/2014/main" id="{4FD3834B-8111-5207-BD21-01DEB3F81EC9}"/>
                  </a:ext>
                </a:extLst>
              </p:cNvPr>
              <p:cNvSpPr txBox="1"/>
              <p:nvPr/>
            </p:nvSpPr>
            <p:spPr bwMode="auto">
              <a:xfrm>
                <a:off x="3060105" y="2831009"/>
                <a:ext cx="4191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0292" name="Object 4">
                <a:extLst>
                  <a:ext uri="{FF2B5EF4-FFF2-40B4-BE49-F238E27FC236}">
                    <a16:creationId xmlns:a16="http://schemas.microsoft.com/office/drawing/2014/main" id="{4FD3834B-8111-5207-BD21-01DEB3F81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0105" y="2831009"/>
                <a:ext cx="419100" cy="454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293" name="Rectangle 5">
            <a:extLst>
              <a:ext uri="{FF2B5EF4-FFF2-40B4-BE49-F238E27FC236}">
                <a16:creationId xmlns:a16="http://schemas.microsoft.com/office/drawing/2014/main" id="{92E161D3-62CB-9FA3-95C5-6407772CB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405" y="2254746"/>
            <a:ext cx="2881312" cy="158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0294" name="Oval 6">
            <a:extLst>
              <a:ext uri="{FF2B5EF4-FFF2-40B4-BE49-F238E27FC236}">
                <a16:creationId xmlns:a16="http://schemas.microsoft.com/office/drawing/2014/main" id="{F687E81A-708D-0ED2-29BC-85F6CF634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642" y="2543671"/>
            <a:ext cx="1081088" cy="935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0295" name="Oval 7">
            <a:extLst>
              <a:ext uri="{FF2B5EF4-FFF2-40B4-BE49-F238E27FC236}">
                <a16:creationId xmlns:a16="http://schemas.microsoft.com/office/drawing/2014/main" id="{49F253FB-4573-C558-B63A-EB9146F37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367" y="2470646"/>
            <a:ext cx="863600" cy="10810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0296" name="Line 8">
            <a:extLst>
              <a:ext uri="{FF2B5EF4-FFF2-40B4-BE49-F238E27FC236}">
                <a16:creationId xmlns:a16="http://schemas.microsoft.com/office/drawing/2014/main" id="{934AC56C-5901-3ACC-654E-A4FA65DF86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7805" y="2686546"/>
            <a:ext cx="144462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7" name="Line 9">
            <a:extLst>
              <a:ext uri="{FF2B5EF4-FFF2-40B4-BE49-F238E27FC236}">
                <a16:creationId xmlns:a16="http://schemas.microsoft.com/office/drawing/2014/main" id="{308B9F0A-1CDA-DB44-2617-849DAC0C53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7805" y="2759571"/>
            <a:ext cx="1444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8" name="Line 10">
            <a:extLst>
              <a:ext uri="{FF2B5EF4-FFF2-40B4-BE49-F238E27FC236}">
                <a16:creationId xmlns:a16="http://schemas.microsoft.com/office/drawing/2014/main" id="{FF17A9CD-092C-643E-DDBB-6A6EC9D6A5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7805" y="2831009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9" name="Line 11">
            <a:extLst>
              <a:ext uri="{FF2B5EF4-FFF2-40B4-BE49-F238E27FC236}">
                <a16:creationId xmlns:a16="http://schemas.microsoft.com/office/drawing/2014/main" id="{53870131-D9ED-546D-AE4F-88F9CE03E6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7805" y="2975471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0" name="Line 12">
            <a:extLst>
              <a:ext uri="{FF2B5EF4-FFF2-40B4-BE49-F238E27FC236}">
                <a16:creationId xmlns:a16="http://schemas.microsoft.com/office/drawing/2014/main" id="{01A8A4F2-9FD5-C98E-61FA-AF93F641BF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7805" y="3118346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301" name="Object 13">
                <a:extLst>
                  <a:ext uri="{FF2B5EF4-FFF2-40B4-BE49-F238E27FC236}">
                    <a16:creationId xmlns:a16="http://schemas.microsoft.com/office/drawing/2014/main" id="{0D5D6724-2D35-9951-825B-5E063CA4A973}"/>
                  </a:ext>
                </a:extLst>
              </p:cNvPr>
              <p:cNvSpPr txBox="1"/>
              <p:nvPr/>
            </p:nvSpPr>
            <p:spPr bwMode="auto">
              <a:xfrm>
                <a:off x="2267731" y="4415135"/>
                <a:ext cx="3456409" cy="45402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140301" name="Object 13">
                <a:extLst>
                  <a:ext uri="{FF2B5EF4-FFF2-40B4-BE49-F238E27FC236}">
                    <a16:creationId xmlns:a16="http://schemas.microsoft.com/office/drawing/2014/main" id="{0D5D6724-2D35-9951-825B-5E063CA4A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31" y="4415135"/>
                <a:ext cx="3456409" cy="454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02" name="Object 14">
                <a:extLst>
                  <a:ext uri="{FF2B5EF4-FFF2-40B4-BE49-F238E27FC236}">
                    <a16:creationId xmlns:a16="http://schemas.microsoft.com/office/drawing/2014/main" id="{E697F287-8C15-1B01-33A2-4CCD976671B0}"/>
                  </a:ext>
                </a:extLst>
              </p:cNvPr>
              <p:cNvSpPr txBox="1"/>
              <p:nvPr/>
            </p:nvSpPr>
            <p:spPr bwMode="auto">
              <a:xfrm>
                <a:off x="3996730" y="2831009"/>
                <a:ext cx="4191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0302" name="Object 14">
                <a:extLst>
                  <a:ext uri="{FF2B5EF4-FFF2-40B4-BE49-F238E27FC236}">
                    <a16:creationId xmlns:a16="http://schemas.microsoft.com/office/drawing/2014/main" id="{E697F287-8C15-1B01-33A2-4CCD9766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6730" y="2831009"/>
                <a:ext cx="419100" cy="454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303" name="灯片编号占位符 1">
            <a:extLst>
              <a:ext uri="{FF2B5EF4-FFF2-40B4-BE49-F238E27FC236}">
                <a16:creationId xmlns:a16="http://schemas.microsoft.com/office/drawing/2014/main" id="{C29C61CB-6A50-4FB5-E9DC-B5B6779A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3A27BB-4BC2-4B8D-A38C-9BEA2EFFD70A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52B504D-110E-10BE-C572-2D385B30BBA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51520" y="332656"/>
                <a:ext cx="8892480" cy="5865813"/>
              </a:xfrm>
            </p:spPr>
            <p:txBody>
              <a:bodyPr/>
              <a:lstStyle/>
              <a:p>
                <a:endParaRPr lang="en-US" altLang="zh-CN" sz="18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800" kern="10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</a:rPr>
                  <a:t>课堂练习</a:t>
                </a:r>
                <a:endParaRPr lang="en-US" altLang="zh-CN" sz="2800" kern="100" dirty="0"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i="1" kern="1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 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= {-</a:t>
                </a:r>
                <a:r>
                  <a:rPr lang="en-US" altLang="zh-CN" sz="2800" i="1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 -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+1,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⋯</m:t>
                    </m:r>
                  </m:oMath>
                </a14:m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 -2, -1, 0, 1, 2,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⋯</m:t>
                    </m:r>
                  </m:oMath>
                </a14:m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i-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800" i="1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},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i="1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= 1, 2, 3, 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⋯</m:t>
                    </m:r>
                  </m:oMath>
                </a14:m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.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(a)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undOvr"/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⋂"/>
                        <m:limLoc m:val="undOvr"/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(c)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</a:t>
                </a:r>
                <a14:m>
                  <m:oMath xmlns:m="http://schemas.openxmlformats.org/officeDocument/2006/math">
                    <m:nary>
                      <m:naryPr>
                        <m:chr m:val="⋂"/>
                        <m:limLoc m:val="undOvr"/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，请计算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的幂集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8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52B504D-110E-10BE-C572-2D385B30B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51520" y="332656"/>
                <a:ext cx="8892480" cy="5865813"/>
              </a:xfrm>
              <a:blipFill>
                <a:blip r:embed="rId2"/>
                <a:stretch>
                  <a:fillRect l="-1234" r="-1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57997F-8882-3784-1E1B-2CB7E24D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C837FC-C314-403D-9FF6-FF86968F305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809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FA4A2DF8-50E7-D813-2FD5-3A30E401BFE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620713"/>
            <a:ext cx="822960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Theorem1-19 (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交运算满足的性质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(4)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  =  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(5)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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Object 3">
                <a:extLst>
                  <a:ext uri="{FF2B5EF4-FFF2-40B4-BE49-F238E27FC236}">
                    <a16:creationId xmlns:a16="http://schemas.microsoft.com/office/drawing/2014/main" id="{3039B4FA-4B02-0552-1C68-B06E097D0184}"/>
                  </a:ext>
                </a:extLst>
              </p:cNvPr>
              <p:cNvSpPr txBox="1"/>
              <p:nvPr/>
            </p:nvSpPr>
            <p:spPr bwMode="auto">
              <a:xfrm>
                <a:off x="1609725" y="1412875"/>
                <a:ext cx="1849438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1315" name="Object 3">
                <a:extLst>
                  <a:ext uri="{FF2B5EF4-FFF2-40B4-BE49-F238E27FC236}">
                    <a16:creationId xmlns:a16="http://schemas.microsoft.com/office/drawing/2014/main" id="{3039B4FA-4B02-0552-1C68-B06E097D0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9725" y="1412875"/>
                <a:ext cx="1849438" cy="454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16" name="Object 4">
                <a:extLst>
                  <a:ext uri="{FF2B5EF4-FFF2-40B4-BE49-F238E27FC236}">
                    <a16:creationId xmlns:a16="http://schemas.microsoft.com/office/drawing/2014/main" id="{B0E1C7A5-028E-8710-CDF0-0E66262DC33B}"/>
                  </a:ext>
                </a:extLst>
              </p:cNvPr>
              <p:cNvSpPr txBox="1"/>
              <p:nvPr/>
            </p:nvSpPr>
            <p:spPr bwMode="auto">
              <a:xfrm>
                <a:off x="1538288" y="2133600"/>
                <a:ext cx="2547937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1316" name="Object 4">
                <a:extLst>
                  <a:ext uri="{FF2B5EF4-FFF2-40B4-BE49-F238E27FC236}">
                    <a16:creationId xmlns:a16="http://schemas.microsoft.com/office/drawing/2014/main" id="{B0E1C7A5-028E-8710-CDF0-0E66262DC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8288" y="2133600"/>
                <a:ext cx="2547937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317" name="Object 5">
            <a:extLst>
              <a:ext uri="{FF2B5EF4-FFF2-40B4-BE49-F238E27FC236}">
                <a16:creationId xmlns:a16="http://schemas.microsoft.com/office/drawing/2014/main" id="{6518F61D-EB78-D26C-D672-461B7BE2C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5263" y="2781300"/>
          <a:ext cx="46069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77909" imgH="18915" progId="Equation.3">
                  <p:embed/>
                </p:oleObj>
              </mc:Choice>
              <mc:Fallback>
                <p:oleObj name="公式" r:id="rId4" imgW="577909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2781300"/>
                        <a:ext cx="46069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灯片编号占位符 1">
            <a:extLst>
              <a:ext uri="{FF2B5EF4-FFF2-40B4-BE49-F238E27FC236}">
                <a16:creationId xmlns:a16="http://schemas.microsoft.com/office/drawing/2014/main" id="{35FC16CE-450D-F30C-E07F-83E7D54C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99CC95-D223-42A8-BFEA-3D527350B0A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9372E22D-8B34-27B1-9A91-FA488CE1475E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20688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Theorem 1-20(</a:t>
            </a:r>
            <a:r>
              <a:rPr lang="zh-CN" altLang="en-US" b="1" dirty="0">
                <a:latin typeface="Times New Roman" panose="02020603050405020304" pitchFamily="18" charset="0"/>
              </a:rPr>
              <a:t>并运算与交运算之间所满足的性质</a:t>
            </a:r>
            <a:r>
              <a:rPr lang="en-US" altLang="zh-CN" b="1" dirty="0">
                <a:latin typeface="Times New Roman" panose="02020603050405020304" pitchFamily="18" charset="0"/>
              </a:rPr>
              <a:t>.)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吸收性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分配性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2339" name="Object 3">
            <a:extLst>
              <a:ext uri="{FF2B5EF4-FFF2-40B4-BE49-F238E27FC236}">
                <a16:creationId xmlns:a16="http://schemas.microsoft.com/office/drawing/2014/main" id="{89AC4C5F-ED40-C2F9-0318-31D3D3433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980181"/>
              </p:ext>
            </p:extLst>
          </p:nvPr>
        </p:nvGraphicFramePr>
        <p:xfrm>
          <a:off x="3348038" y="1701776"/>
          <a:ext cx="293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5600" imgH="18915" progId="Equation.3">
                  <p:embed/>
                </p:oleObj>
              </mc:Choice>
              <mc:Fallback>
                <p:oleObj name="公式" r:id="rId2" imgW="355600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01776"/>
                        <a:ext cx="293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0" name="Object 4">
            <a:extLst>
              <a:ext uri="{FF2B5EF4-FFF2-40B4-BE49-F238E27FC236}">
                <a16:creationId xmlns:a16="http://schemas.microsoft.com/office/drawing/2014/main" id="{D3661F32-A19F-A224-64BD-8235210B90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396177"/>
              </p:ext>
            </p:extLst>
          </p:nvPr>
        </p:nvGraphicFramePr>
        <p:xfrm>
          <a:off x="3348038" y="2276451"/>
          <a:ext cx="293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5600" imgH="18915" progId="Equation.3">
                  <p:embed/>
                </p:oleObj>
              </mc:Choice>
              <mc:Fallback>
                <p:oleObj name="公式" r:id="rId4" imgW="355600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276451"/>
                        <a:ext cx="293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>
            <a:extLst>
              <a:ext uri="{FF2B5EF4-FFF2-40B4-BE49-F238E27FC236}">
                <a16:creationId xmlns:a16="http://schemas.microsoft.com/office/drawing/2014/main" id="{7255C82D-6045-BCA4-226E-B6725286A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598952"/>
              </p:ext>
            </p:extLst>
          </p:nvPr>
        </p:nvGraphicFramePr>
        <p:xfrm>
          <a:off x="2195513" y="4076676"/>
          <a:ext cx="5727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6634" imgH="18915" progId="Equation.3">
                  <p:embed/>
                </p:oleObj>
              </mc:Choice>
              <mc:Fallback>
                <p:oleObj name="公式" r:id="rId6" imgW="736634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76676"/>
                        <a:ext cx="5727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>
            <a:extLst>
              <a:ext uri="{FF2B5EF4-FFF2-40B4-BE49-F238E27FC236}">
                <a16:creationId xmlns:a16="http://schemas.microsoft.com/office/drawing/2014/main" id="{428C2E77-44E6-4048-E62F-70FB11313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955257"/>
              </p:ext>
            </p:extLst>
          </p:nvPr>
        </p:nvGraphicFramePr>
        <p:xfrm>
          <a:off x="2124075" y="5084738"/>
          <a:ext cx="5727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6634" imgH="18915" progId="Equation.3">
                  <p:embed/>
                </p:oleObj>
              </mc:Choice>
              <mc:Fallback>
                <p:oleObj name="公式" r:id="rId8" imgW="736634" imgH="1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084738"/>
                        <a:ext cx="5727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3" name="灯片编号占位符 1">
            <a:extLst>
              <a:ext uri="{FF2B5EF4-FFF2-40B4-BE49-F238E27FC236}">
                <a16:creationId xmlns:a16="http://schemas.microsoft.com/office/drawing/2014/main" id="{24CF0691-F633-B22C-7D4E-BC7365E2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4A2F34-C75D-46F4-BA43-9CA7CED596E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F057781A-A05D-3684-F149-B0D45F049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636838"/>
            <a:ext cx="3744912" cy="2447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2C789B97-8D9A-C09C-9FCB-B2A309C10EB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450975"/>
            <a:ext cx="8229600" cy="176212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1-38</a:t>
            </a:r>
          </a:p>
        </p:txBody>
      </p:sp>
      <p:graphicFrame>
        <p:nvGraphicFramePr>
          <p:cNvPr id="143364" name="Object 4">
            <a:extLst>
              <a:ext uri="{FF2B5EF4-FFF2-40B4-BE49-F238E27FC236}">
                <a16:creationId xmlns:a16="http://schemas.microsoft.com/office/drawing/2014/main" id="{A822E8BD-B2AE-CA88-AFCC-678742DC2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485900"/>
          <a:ext cx="59372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8190" imgH="18915" progId="Equation.3">
                  <p:embed/>
                </p:oleObj>
              </mc:Choice>
              <mc:Fallback>
                <p:oleObj name="Equation" r:id="rId2" imgW="768190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85900"/>
                        <a:ext cx="59372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3365" name="Object 5">
                <a:extLst>
                  <a:ext uri="{FF2B5EF4-FFF2-40B4-BE49-F238E27FC236}">
                    <a16:creationId xmlns:a16="http://schemas.microsoft.com/office/drawing/2014/main" id="{647DE171-F1ED-83EB-2EA6-F71B35000A5B}"/>
                  </a:ext>
                </a:extLst>
              </p:cNvPr>
              <p:cNvSpPr txBox="1"/>
              <p:nvPr/>
            </p:nvSpPr>
            <p:spPr bwMode="auto">
              <a:xfrm>
                <a:off x="5795963" y="2708275"/>
                <a:ext cx="423862" cy="455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65" name="Object 5">
                <a:extLst>
                  <a:ext uri="{FF2B5EF4-FFF2-40B4-BE49-F238E27FC236}">
                    <a16:creationId xmlns:a16="http://schemas.microsoft.com/office/drawing/2014/main" id="{647DE171-F1ED-83EB-2EA6-F71B35000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5963" y="2708275"/>
                <a:ext cx="423862" cy="455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366" name="Object 6">
                <a:extLst>
                  <a:ext uri="{FF2B5EF4-FFF2-40B4-BE49-F238E27FC236}">
                    <a16:creationId xmlns:a16="http://schemas.microsoft.com/office/drawing/2014/main" id="{BE6CDB53-8629-1E92-18C2-7C79C7501FF7}"/>
                  </a:ext>
                </a:extLst>
              </p:cNvPr>
              <p:cNvSpPr txBox="1"/>
              <p:nvPr/>
            </p:nvSpPr>
            <p:spPr bwMode="auto">
              <a:xfrm>
                <a:off x="4067175" y="3573463"/>
                <a:ext cx="392113" cy="422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66" name="Object 6">
                <a:extLst>
                  <a:ext uri="{FF2B5EF4-FFF2-40B4-BE49-F238E27FC236}">
                    <a16:creationId xmlns:a16="http://schemas.microsoft.com/office/drawing/2014/main" id="{BE6CDB53-8629-1E92-18C2-7C79C7501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175" y="3573463"/>
                <a:ext cx="392113" cy="422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367" name="Object 7">
                <a:extLst>
                  <a:ext uri="{FF2B5EF4-FFF2-40B4-BE49-F238E27FC236}">
                    <a16:creationId xmlns:a16="http://schemas.microsoft.com/office/drawing/2014/main" id="{C3344DBD-0DED-F8EA-0597-12805C6EC76B}"/>
                  </a:ext>
                </a:extLst>
              </p:cNvPr>
              <p:cNvSpPr txBox="1"/>
              <p:nvPr/>
            </p:nvSpPr>
            <p:spPr bwMode="auto">
              <a:xfrm>
                <a:off x="5076825" y="3573463"/>
                <a:ext cx="390525" cy="422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67" name="Object 7">
                <a:extLst>
                  <a:ext uri="{FF2B5EF4-FFF2-40B4-BE49-F238E27FC236}">
                    <a16:creationId xmlns:a16="http://schemas.microsoft.com/office/drawing/2014/main" id="{C3344DBD-0DED-F8EA-0597-12805C6EC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825" y="3573463"/>
                <a:ext cx="390525" cy="422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368" name="Oval 8">
            <a:extLst>
              <a:ext uri="{FF2B5EF4-FFF2-40B4-BE49-F238E27FC236}">
                <a16:creationId xmlns:a16="http://schemas.microsoft.com/office/drawing/2014/main" id="{D7B78AC5-FC32-0164-9BFD-E3996CB9A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284538"/>
            <a:ext cx="2016125" cy="10080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369" name="Oval 9">
            <a:extLst>
              <a:ext uri="{FF2B5EF4-FFF2-40B4-BE49-F238E27FC236}">
                <a16:creationId xmlns:a16="http://schemas.microsoft.com/office/drawing/2014/main" id="{25725DAD-DCB9-052C-D041-CC94BAC7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3573463"/>
            <a:ext cx="1008062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370" name="灯片编号占位符 1">
            <a:extLst>
              <a:ext uri="{FF2B5EF4-FFF2-40B4-BE49-F238E27FC236}">
                <a16:creationId xmlns:a16="http://schemas.microsoft.com/office/drawing/2014/main" id="{5B56DC5C-7925-30F1-2ECD-0D53E8BE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4C16FF-4DD0-48D3-AE8E-198BAF21A60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ED424F2C-0B52-1078-30C8-C51072DF8E9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15938"/>
            <a:ext cx="8229600" cy="5865812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3. </a:t>
            </a:r>
            <a:r>
              <a:rPr lang="zh-CN" altLang="en-US" b="1">
                <a:latin typeface="Times New Roman" panose="02020603050405020304" pitchFamily="18" charset="0"/>
              </a:rPr>
              <a:t>补</a:t>
            </a:r>
            <a:r>
              <a:rPr lang="en-US" altLang="zh-CN" b="1">
                <a:latin typeface="Times New Roman" panose="02020603050405020304" pitchFamily="18" charset="0"/>
              </a:rPr>
              <a:t>(complement)</a:t>
            </a:r>
            <a:r>
              <a:rPr lang="zh-CN" altLang="en-US" b="1">
                <a:latin typeface="Times New Roman" panose="02020603050405020304" pitchFamily="18" charset="0"/>
              </a:rPr>
              <a:t>运算</a:t>
            </a:r>
          </a:p>
          <a:p>
            <a:pPr eaLnBrk="1" hangingPunct="1"/>
            <a:endParaRPr lang="zh-CN" altLang="en-US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1-42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的补集依赖于全集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zh-CN" altLang="en-US" b="1">
                <a:latin typeface="Times New Roman" panose="02020603050405020304" pitchFamily="18" charset="0"/>
              </a:rPr>
              <a:t>的选取</a:t>
            </a:r>
            <a:r>
              <a:rPr lang="en-US" altLang="zh-CN" b="1">
                <a:latin typeface="Times New Roman" panose="02020603050405020304" pitchFamily="18" charset="0"/>
              </a:rPr>
              <a:t>.) 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={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}: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c, d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c, </a:t>
            </a: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a,b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en-US" altLang="zh-CN" b="1" i="1">
                <a:latin typeface="Times New Roman" panose="02020603050405020304" pitchFamily="18" charset="0"/>
              </a:rPr>
              <a:t>,</a:t>
            </a: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b,c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en-US" altLang="zh-CN" b="1" i="1">
                <a:latin typeface="Times New Roman" panose="02020603050405020304" pitchFamily="18" charset="0"/>
              </a:rPr>
              <a:t>,</a:t>
            </a:r>
            <a:r>
              <a:rPr lang="en-US" altLang="zh-CN" b="1">
                <a:latin typeface="Times New Roman" panose="02020603050405020304" pitchFamily="18" charset="0"/>
              </a:rPr>
              <a:t>{{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}}}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CE243D3E-66DC-33A4-460E-8189CF724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414463"/>
            <a:ext cx="2879725" cy="15827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4388" name="Oval 4">
            <a:extLst>
              <a:ext uri="{FF2B5EF4-FFF2-40B4-BE49-F238E27FC236}">
                <a16:creationId xmlns:a16="http://schemas.microsoft.com/office/drawing/2014/main" id="{13921B11-67B0-88CC-00C6-C526EC2A2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846263"/>
            <a:ext cx="1368425" cy="7207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389" name="Object 5">
                <a:extLst>
                  <a:ext uri="{FF2B5EF4-FFF2-40B4-BE49-F238E27FC236}">
                    <a16:creationId xmlns:a16="http://schemas.microsoft.com/office/drawing/2014/main" id="{57A9492D-9A32-A730-DE15-5F4BC0C747ED}"/>
                  </a:ext>
                </a:extLst>
              </p:cNvPr>
              <p:cNvSpPr txBox="1"/>
              <p:nvPr/>
            </p:nvSpPr>
            <p:spPr bwMode="auto">
              <a:xfrm>
                <a:off x="4932363" y="1414463"/>
                <a:ext cx="454025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44389" name="Object 5">
                <a:extLst>
                  <a:ext uri="{FF2B5EF4-FFF2-40B4-BE49-F238E27FC236}">
                    <a16:creationId xmlns:a16="http://schemas.microsoft.com/office/drawing/2014/main" id="{57A9492D-9A32-A730-DE15-5F4BC0C74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363" y="1414463"/>
                <a:ext cx="454025" cy="488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390" name="Object 6">
                <a:extLst>
                  <a:ext uri="{FF2B5EF4-FFF2-40B4-BE49-F238E27FC236}">
                    <a16:creationId xmlns:a16="http://schemas.microsoft.com/office/drawing/2014/main" id="{93B800F2-769E-B3F9-4934-3550F5DF8B9B}"/>
                  </a:ext>
                </a:extLst>
              </p:cNvPr>
              <p:cNvSpPr txBox="1"/>
              <p:nvPr/>
            </p:nvSpPr>
            <p:spPr bwMode="auto">
              <a:xfrm>
                <a:off x="3941763" y="2006600"/>
                <a:ext cx="4191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44390" name="Object 6">
                <a:extLst>
                  <a:ext uri="{FF2B5EF4-FFF2-40B4-BE49-F238E27FC236}">
                    <a16:creationId xmlns:a16="http://schemas.microsoft.com/office/drawing/2014/main" id="{93B800F2-769E-B3F9-4934-3550F5DF8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1763" y="2006600"/>
                <a:ext cx="419100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4391" name="Object 7">
            <a:extLst>
              <a:ext uri="{FF2B5EF4-FFF2-40B4-BE49-F238E27FC236}">
                <a16:creationId xmlns:a16="http://schemas.microsoft.com/office/drawing/2014/main" id="{86F05E3D-FEE2-6125-7149-8FEF58161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917700"/>
          <a:ext cx="419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23" imgH="18915" progId="Equation.3">
                  <p:embed/>
                </p:oleObj>
              </mc:Choice>
              <mc:Fallback>
                <p:oleObj name="Equation" r:id="rId4" imgW="6123" imgH="189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917700"/>
                        <a:ext cx="419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2" name="Object 8">
            <a:extLst>
              <a:ext uri="{FF2B5EF4-FFF2-40B4-BE49-F238E27FC236}">
                <a16:creationId xmlns:a16="http://schemas.microsoft.com/office/drawing/2014/main" id="{3B6FC4CA-FE72-54FB-2FD5-9D90AB2A6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565650"/>
          <a:ext cx="18859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9592" imgH="38303" progId="Equation.3">
                  <p:embed/>
                </p:oleObj>
              </mc:Choice>
              <mc:Fallback>
                <p:oleObj name="公式" r:id="rId6" imgW="209592" imgH="3830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565650"/>
                        <a:ext cx="18859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3" name="Object 9">
            <a:extLst>
              <a:ext uri="{FF2B5EF4-FFF2-40B4-BE49-F238E27FC236}">
                <a16:creationId xmlns:a16="http://schemas.microsoft.com/office/drawing/2014/main" id="{EF30D07A-6BCA-B3A4-7DD0-E27785DCE7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5934075"/>
          <a:ext cx="47148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6749" imgH="38303" progId="Equation.3">
                  <p:embed/>
                </p:oleObj>
              </mc:Choice>
              <mc:Fallback>
                <p:oleObj name="公式" r:id="rId8" imgW="596749" imgH="3830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934075"/>
                        <a:ext cx="471487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4" name="灯片编号占位符 1">
            <a:extLst>
              <a:ext uri="{FF2B5EF4-FFF2-40B4-BE49-F238E27FC236}">
                <a16:creationId xmlns:a16="http://schemas.microsoft.com/office/drawing/2014/main" id="{4F14F786-5AAC-8C71-811E-1A4F75BD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1FC603-18D7-4A7B-8038-95F54E813FA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E8C8308-3FF8-A870-F6AC-A1D1C0C6564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87375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宋体" panose="02010600030101010101" pitchFamily="2" charset="-122"/>
              </a:rPr>
              <a:t>排中律成立</a:t>
            </a:r>
            <a:r>
              <a:rPr lang="en-US" altLang="zh-CN" b="1">
                <a:latin typeface="宋体" panose="02010600030101010101" pitchFamily="2" charset="-122"/>
              </a:rPr>
              <a:t>:                   </a:t>
            </a:r>
            <a:r>
              <a:rPr lang="en-US" altLang="zh-CN" b="1">
                <a:latin typeface="宋体" panose="02010600030101010101" pitchFamily="2" charset="-122"/>
                <a:sym typeface="Symbol" panose="05050102010706020507" pitchFamily="18" charset="2"/>
              </a:rPr>
              <a:t>.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排中律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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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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二者必居其一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没有中间情况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graphicFrame>
        <p:nvGraphicFramePr>
          <p:cNvPr id="145411" name="Object 3">
            <a:extLst>
              <a:ext uri="{FF2B5EF4-FFF2-40B4-BE49-F238E27FC236}">
                <a16:creationId xmlns:a16="http://schemas.microsoft.com/office/drawing/2014/main" id="{A8D22A0F-014B-8CB3-0C3E-F64F5BFAE9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87375"/>
          <a:ext cx="19907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309" imgH="38303" progId="Equation.3">
                  <p:embed/>
                </p:oleObj>
              </mc:Choice>
              <mc:Fallback>
                <p:oleObj name="Equation" r:id="rId2" imgW="222309" imgH="383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87375"/>
                        <a:ext cx="19907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2" name="Object 4">
            <a:extLst>
              <a:ext uri="{FF2B5EF4-FFF2-40B4-BE49-F238E27FC236}">
                <a16:creationId xmlns:a16="http://schemas.microsoft.com/office/drawing/2014/main" id="{7DA8829A-50EB-4AF4-F757-9BFA1E805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587375"/>
          <a:ext cx="1466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08" imgH="18915" progId="Equation.3">
                  <p:embed/>
                </p:oleObj>
              </mc:Choice>
              <mc:Fallback>
                <p:oleObj name="Equation" r:id="rId4" imgW="146008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87375"/>
                        <a:ext cx="1466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3" name="Rectangle 5">
            <a:extLst>
              <a:ext uri="{FF2B5EF4-FFF2-40B4-BE49-F238E27FC236}">
                <a16:creationId xmlns:a16="http://schemas.microsoft.com/office/drawing/2014/main" id="{89C1ED27-A88A-1C02-AA1C-5783A690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74825"/>
            <a:ext cx="2879725" cy="15827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5414" name="Oval 6">
            <a:extLst>
              <a:ext uri="{FF2B5EF4-FFF2-40B4-BE49-F238E27FC236}">
                <a16:creationId xmlns:a16="http://schemas.microsoft.com/office/drawing/2014/main" id="{F1E0E858-C4AB-39A4-729B-03C77E38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135188"/>
            <a:ext cx="1368425" cy="7207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45415" name="Object 7">
            <a:extLst>
              <a:ext uri="{FF2B5EF4-FFF2-40B4-BE49-F238E27FC236}">
                <a16:creationId xmlns:a16="http://schemas.microsoft.com/office/drawing/2014/main" id="{83F9141A-2B0C-0B23-B8B7-0B5CF28CC0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206625"/>
          <a:ext cx="419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123" imgH="18915" progId="Equation.3">
                  <p:embed/>
                </p:oleObj>
              </mc:Choice>
              <mc:Fallback>
                <p:oleObj name="Equation" r:id="rId6" imgW="6123" imgH="189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206625"/>
                        <a:ext cx="419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5416" name="Object 8">
                <a:extLst>
                  <a:ext uri="{FF2B5EF4-FFF2-40B4-BE49-F238E27FC236}">
                    <a16:creationId xmlns:a16="http://schemas.microsoft.com/office/drawing/2014/main" id="{A8BE86CF-7535-693E-6980-843E00250411}"/>
                  </a:ext>
                </a:extLst>
              </p:cNvPr>
              <p:cNvSpPr txBox="1"/>
              <p:nvPr/>
            </p:nvSpPr>
            <p:spPr bwMode="auto">
              <a:xfrm>
                <a:off x="3941763" y="2295525"/>
                <a:ext cx="4191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45416" name="Object 8">
                <a:extLst>
                  <a:ext uri="{FF2B5EF4-FFF2-40B4-BE49-F238E27FC236}">
                    <a16:creationId xmlns:a16="http://schemas.microsoft.com/office/drawing/2014/main" id="{A8BE86CF-7535-693E-6980-843E00250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1763" y="2295525"/>
                <a:ext cx="419100" cy="454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17" name="Object 9">
                <a:extLst>
                  <a:ext uri="{FF2B5EF4-FFF2-40B4-BE49-F238E27FC236}">
                    <a16:creationId xmlns:a16="http://schemas.microsoft.com/office/drawing/2014/main" id="{86F533B4-A810-4BC7-C4E9-436D5A95554F}"/>
                  </a:ext>
                </a:extLst>
              </p:cNvPr>
              <p:cNvSpPr txBox="1"/>
              <p:nvPr/>
            </p:nvSpPr>
            <p:spPr bwMode="auto">
              <a:xfrm>
                <a:off x="4932363" y="1703388"/>
                <a:ext cx="454025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45417" name="Object 9">
                <a:extLst>
                  <a:ext uri="{FF2B5EF4-FFF2-40B4-BE49-F238E27FC236}">
                    <a16:creationId xmlns:a16="http://schemas.microsoft.com/office/drawing/2014/main" id="{86F533B4-A810-4BC7-C4E9-436D5A955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363" y="1703388"/>
                <a:ext cx="454025" cy="4889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18" name="灯片编号占位符 1">
            <a:extLst>
              <a:ext uri="{FF2B5EF4-FFF2-40B4-BE49-F238E27FC236}">
                <a16:creationId xmlns:a16="http://schemas.microsoft.com/office/drawing/2014/main" id="{C7816B75-6BC4-8FDE-92FE-1BF5708C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8C98C1-4EF1-4D68-9308-8F6165EBCD0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046C635F-CEE0-313B-16EF-C28377FD242B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集合的补运算和集合的并交运算满足</a:t>
            </a:r>
            <a:r>
              <a:rPr lang="en-US" altLang="zh-CN" b="1">
                <a:latin typeface="Times New Roman" panose="02020603050405020304" pitchFamily="18" charset="0"/>
              </a:rPr>
              <a:t>De Morgan</a:t>
            </a:r>
            <a:r>
              <a:rPr lang="zh-CN" altLang="en-US" b="1">
                <a:latin typeface="Times New Roman" panose="02020603050405020304" pitchFamily="18" charset="0"/>
              </a:rPr>
              <a:t>律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推广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146435" name="Object 3">
            <a:extLst>
              <a:ext uri="{FF2B5EF4-FFF2-40B4-BE49-F238E27FC236}">
                <a16:creationId xmlns:a16="http://schemas.microsoft.com/office/drawing/2014/main" id="{89D574F1-74A6-3C37-017A-15A91188E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1625" y="1431925"/>
          <a:ext cx="26193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327" imgH="25535" progId="Equation.3">
                  <p:embed/>
                </p:oleObj>
              </mc:Choice>
              <mc:Fallback>
                <p:oleObj name="Equation" r:id="rId2" imgW="311327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1431925"/>
                        <a:ext cx="26193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>
            <a:extLst>
              <a:ext uri="{FF2B5EF4-FFF2-40B4-BE49-F238E27FC236}">
                <a16:creationId xmlns:a16="http://schemas.microsoft.com/office/drawing/2014/main" id="{20F23123-8EB1-DEEE-728D-A787B2D51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276475"/>
          <a:ext cx="26193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327" imgH="25535" progId="Equation.3">
                  <p:embed/>
                </p:oleObj>
              </mc:Choice>
              <mc:Fallback>
                <p:oleObj name="Equation" r:id="rId4" imgW="311327" imgH="255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276475"/>
                        <a:ext cx="26193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7" name="Object 5">
            <a:extLst>
              <a:ext uri="{FF2B5EF4-FFF2-40B4-BE49-F238E27FC236}">
                <a16:creationId xmlns:a16="http://schemas.microsoft.com/office/drawing/2014/main" id="{8DEADE29-0E68-87D0-7F79-0989DF9B9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933825"/>
          <a:ext cx="642143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31774" imgH="44450" progId="Equation.3">
                  <p:embed/>
                </p:oleObj>
              </mc:Choice>
              <mc:Fallback>
                <p:oleObj name="公式" r:id="rId6" imgW="831774" imgH="4445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642143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8" name="Object 6">
            <a:extLst>
              <a:ext uri="{FF2B5EF4-FFF2-40B4-BE49-F238E27FC236}">
                <a16:creationId xmlns:a16="http://schemas.microsoft.com/office/drawing/2014/main" id="{A8898FC0-3DA3-3695-0667-DE513CCE4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084763"/>
          <a:ext cx="64214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31774" imgH="44450" progId="Equation.3">
                  <p:embed/>
                </p:oleObj>
              </mc:Choice>
              <mc:Fallback>
                <p:oleObj name="公式" r:id="rId8" imgW="831774" imgH="444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084763"/>
                        <a:ext cx="64214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9" name="灯片编号占位符 1">
            <a:extLst>
              <a:ext uri="{FF2B5EF4-FFF2-40B4-BE49-F238E27FC236}">
                <a16:creationId xmlns:a16="http://schemas.microsoft.com/office/drawing/2014/main" id="{A8334A34-0DBB-4A7C-41DA-7380F41B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9B8C23-C9B5-42A9-9D57-30893C90AF9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741C1C7F-4493-853A-BAA9-AB3FCE387F7D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476672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), 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宋体" panose="02010600030101010101" pitchFamily="2" charset="-122"/>
              </a:rPr>
              <a:t>≥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第一数学归纳法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成立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假定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</a:rPr>
              <a:t>-1)</a:t>
            </a:r>
            <a:r>
              <a:rPr lang="zh-CN" altLang="en-US" b="1" dirty="0">
                <a:latin typeface="Times New Roman" panose="02020603050405020304" pitchFamily="18" charset="0"/>
              </a:rPr>
              <a:t>时成立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证明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成立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第二数学归纳法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成立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假定比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小的都成立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证明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成立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47459" name="灯片编号占位符 1">
            <a:extLst>
              <a:ext uri="{FF2B5EF4-FFF2-40B4-BE49-F238E27FC236}">
                <a16:creationId xmlns:a16="http://schemas.microsoft.com/office/drawing/2014/main" id="{D974C875-F0C6-9CFA-B89A-C3D99E9D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F26196-5360-4928-A73C-D9F20DFAD41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83E740CA-DCBA-C987-88C9-D023141046B3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集合的补运算和集合的并交运算满足</a:t>
            </a:r>
            <a:r>
              <a:rPr lang="en-US" altLang="zh-CN" b="1">
                <a:latin typeface="Times New Roman" panose="02020603050405020304" pitchFamily="18" charset="0"/>
              </a:rPr>
              <a:t>De Morgan</a:t>
            </a:r>
            <a:r>
              <a:rPr lang="zh-CN" altLang="en-US" b="1">
                <a:latin typeface="Times New Roman" panose="02020603050405020304" pitchFamily="18" charset="0"/>
              </a:rPr>
              <a:t>律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推广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148483" name="Object 3">
            <a:extLst>
              <a:ext uri="{FF2B5EF4-FFF2-40B4-BE49-F238E27FC236}">
                <a16:creationId xmlns:a16="http://schemas.microsoft.com/office/drawing/2014/main" id="{F2431DF8-F5A1-1028-D475-2D74FEB17E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1625" y="1431925"/>
          <a:ext cx="26193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327" imgH="25535" progId="Equation.3">
                  <p:embed/>
                </p:oleObj>
              </mc:Choice>
              <mc:Fallback>
                <p:oleObj name="Equation" r:id="rId2" imgW="311327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1431925"/>
                        <a:ext cx="26193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>
            <a:extLst>
              <a:ext uri="{FF2B5EF4-FFF2-40B4-BE49-F238E27FC236}">
                <a16:creationId xmlns:a16="http://schemas.microsoft.com/office/drawing/2014/main" id="{DF80E428-F024-23A6-6AB8-9DEFF055E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276475"/>
          <a:ext cx="26193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327" imgH="25535" progId="Equation.3">
                  <p:embed/>
                </p:oleObj>
              </mc:Choice>
              <mc:Fallback>
                <p:oleObj name="Equation" r:id="rId4" imgW="311327" imgH="255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276475"/>
                        <a:ext cx="26193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5" name="Object 5">
            <a:extLst>
              <a:ext uri="{FF2B5EF4-FFF2-40B4-BE49-F238E27FC236}">
                <a16:creationId xmlns:a16="http://schemas.microsoft.com/office/drawing/2014/main" id="{331686C2-43C7-FF32-AA6A-B1F7395C7D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2500" y="3079750"/>
          <a:ext cx="64214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1774" imgH="44450" progId="Equation.DSMT4">
                  <p:embed/>
                </p:oleObj>
              </mc:Choice>
              <mc:Fallback>
                <p:oleObj name="Equation" r:id="rId6" imgW="831774" imgH="444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079750"/>
                        <a:ext cx="64214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6" name="灯片编号占位符 1">
            <a:extLst>
              <a:ext uri="{FF2B5EF4-FFF2-40B4-BE49-F238E27FC236}">
                <a16:creationId xmlns:a16="http://schemas.microsoft.com/office/drawing/2014/main" id="{B69CAFF7-96C3-A244-FCCE-75E10AB5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83C4EE-4A67-4296-BEB0-ABE48D46BE6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/>
          </a:p>
        </p:txBody>
      </p:sp>
      <p:sp>
        <p:nvSpPr>
          <p:cNvPr id="148487" name="文本框 1">
            <a:extLst>
              <a:ext uri="{FF2B5EF4-FFF2-40B4-BE49-F238E27FC236}">
                <a16:creationId xmlns:a16="http://schemas.microsoft.com/office/drawing/2014/main" id="{521E1182-BBE8-469D-07A0-093C8F15A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87800"/>
            <a:ext cx="4805363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=2</a:t>
            </a:r>
            <a:r>
              <a:rPr lang="zh-CN" altLang="en-US" sz="2400" b="1">
                <a:latin typeface="Times New Roman" panose="02020603050405020304" pitchFamily="18" charset="0"/>
              </a:rPr>
              <a:t>时，显然成立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100" b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假设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</a:rPr>
              <a:t>时上式成立，即，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100" b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证明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的情况：</a:t>
            </a:r>
            <a:endParaRPr lang="zh-CN" altLang="en-US" sz="2400"/>
          </a:p>
        </p:txBody>
      </p:sp>
      <p:graphicFrame>
        <p:nvGraphicFramePr>
          <p:cNvPr id="148488" name="Object 5">
            <a:extLst>
              <a:ext uri="{FF2B5EF4-FFF2-40B4-BE49-F238E27FC236}">
                <a16:creationId xmlns:a16="http://schemas.microsoft.com/office/drawing/2014/main" id="{0572B057-E157-80BB-DB30-32F33F008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4511675"/>
          <a:ext cx="43211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200" imgH="254000" progId="Equation.DSMT4">
                  <p:embed/>
                </p:oleObj>
              </mc:Choice>
              <mc:Fallback>
                <p:oleObj name="Equation" r:id="rId8" imgW="2489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4511675"/>
                        <a:ext cx="43211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9" name="Object 5">
            <a:extLst>
              <a:ext uri="{FF2B5EF4-FFF2-40B4-BE49-F238E27FC236}">
                <a16:creationId xmlns:a16="http://schemas.microsoft.com/office/drawing/2014/main" id="{A73D2396-8D55-DE07-B31F-5BE5334DB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7025" y="5105400"/>
          <a:ext cx="42370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2100" imgH="254000" progId="Equation.DSMT4">
                  <p:embed/>
                </p:oleObj>
              </mc:Choice>
              <mc:Fallback>
                <p:oleObj name="Equation" r:id="rId10" imgW="28321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5105400"/>
                        <a:ext cx="42370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0" name="Object 5">
            <a:extLst>
              <a:ext uri="{FF2B5EF4-FFF2-40B4-BE49-F238E27FC236}">
                <a16:creationId xmlns:a16="http://schemas.microsoft.com/office/drawing/2014/main" id="{91B26325-8C34-CD14-F259-2BED82FCA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643563"/>
          <a:ext cx="24320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600" imgH="254000" progId="Equation.DSMT4">
                  <p:embed/>
                </p:oleObj>
              </mc:Choice>
              <mc:Fallback>
                <p:oleObj name="Equation" r:id="rId12" imgW="16256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643563"/>
                        <a:ext cx="24320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6B16ABF-50AD-06EA-9F1E-41F7922C28E9}"/>
              </a:ext>
            </a:extLst>
          </p:cNvPr>
          <p:cNvSpPr txBox="1"/>
          <p:nvPr/>
        </p:nvSpPr>
        <p:spPr>
          <a:xfrm>
            <a:off x="2916338" y="616561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利用归纳假设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7656A34-B9DF-7D73-108B-CEEB5C839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562919"/>
              </p:ext>
            </p:extLst>
          </p:nvPr>
        </p:nvGraphicFramePr>
        <p:xfrm>
          <a:off x="4526239" y="6140450"/>
          <a:ext cx="292608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253800" progId="Equation.DSMT4">
                  <p:embed/>
                </p:oleObj>
              </mc:Choice>
              <mc:Fallback>
                <p:oleObj name="Equation" r:id="rId14" imgW="162540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91BB1EC-0A2F-89B4-2FFF-FA55F8BCB6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26239" y="6140450"/>
                        <a:ext cx="2926081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编号占位符 2">
            <a:extLst>
              <a:ext uri="{FF2B5EF4-FFF2-40B4-BE49-F238E27FC236}">
                <a16:creationId xmlns:a16="http://schemas.microsoft.com/office/drawing/2014/main" id="{625FDFA8-3CBE-55AD-DC53-A4C5D0AB38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FD9CE5-BE40-4AA7-A919-99836BC2EEF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/>
          </a:p>
        </p:txBody>
      </p:sp>
      <p:pic>
        <p:nvPicPr>
          <p:cNvPr id="149507" name="Rectangle 2">
            <a:extLst>
              <a:ext uri="{FF2B5EF4-FFF2-40B4-BE49-F238E27FC236}">
                <a16:creationId xmlns:a16="http://schemas.microsoft.com/office/drawing/2014/main" id="{82A5EA5D-CE91-CD93-B748-56CABB2BFCB5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229600" cy="5880100"/>
          </a:xfrm>
        </p:spPr>
      </p:pic>
      <p:sp>
        <p:nvSpPr>
          <p:cNvPr id="149508" name="Oval 5">
            <a:extLst>
              <a:ext uri="{FF2B5EF4-FFF2-40B4-BE49-F238E27FC236}">
                <a16:creationId xmlns:a16="http://schemas.microsoft.com/office/drawing/2014/main" id="{915EEC78-2C4A-41AA-1C92-6A4189A29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3357563"/>
            <a:ext cx="1223963" cy="1439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49509" name="Rectangle 6">
            <a:extLst>
              <a:ext uri="{FF2B5EF4-FFF2-40B4-BE49-F238E27FC236}">
                <a16:creationId xmlns:a16="http://schemas.microsoft.com/office/drawing/2014/main" id="{4BBBA05D-A57B-35A8-A3FD-D1769CFF1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3213100"/>
            <a:ext cx="2663825" cy="1728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49510" name="Oval 7">
            <a:extLst>
              <a:ext uri="{FF2B5EF4-FFF2-40B4-BE49-F238E27FC236}">
                <a16:creationId xmlns:a16="http://schemas.microsoft.com/office/drawing/2014/main" id="{A7C8D508-FE06-96F0-5512-8F534CCCA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500438"/>
            <a:ext cx="1152525" cy="10080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B78D630D-21E2-ABD5-7FE5-951B5C293EF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14799" y="3711361"/>
            <a:ext cx="550985" cy="5847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032735D-7ED3-4BC2-11ED-D5F97E4105D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66927" y="3706595"/>
            <a:ext cx="567591" cy="58477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5B87BF3C-ECD5-3419-4E1B-B783AE894C3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34518" y="3212380"/>
            <a:ext cx="577401" cy="5847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F2CE502A-7DFD-74B2-9B5F-26CED51FA7EE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87523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4. </a:t>
            </a:r>
            <a:r>
              <a:rPr lang="zh-CN" altLang="en-US" b="1" dirty="0">
                <a:latin typeface="Times New Roman" panose="02020603050405020304" pitchFamily="18" charset="0"/>
              </a:rPr>
              <a:t>差</a:t>
            </a:r>
            <a:r>
              <a:rPr lang="en-US" altLang="zh-CN" b="1" dirty="0">
                <a:latin typeface="Times New Roman" panose="02020603050405020304" pitchFamily="18" charset="0"/>
              </a:rPr>
              <a:t>(subtraction)</a:t>
            </a:r>
            <a:r>
              <a:rPr lang="zh-CN" altLang="en-US" b="1" dirty="0">
                <a:latin typeface="Times New Roman" panose="02020603050405020304" pitchFamily="18" charset="0"/>
              </a:rPr>
              <a:t>运算</a:t>
            </a: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1-43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0531" name="Object 3">
            <a:extLst>
              <a:ext uri="{FF2B5EF4-FFF2-40B4-BE49-F238E27FC236}">
                <a16:creationId xmlns:a16="http://schemas.microsoft.com/office/drawing/2014/main" id="{4E692AA3-46CF-4CDB-A0A7-41AB798F00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611703"/>
              </p:ext>
            </p:extLst>
          </p:nvPr>
        </p:nvGraphicFramePr>
        <p:xfrm>
          <a:off x="2163763" y="1325711"/>
          <a:ext cx="47482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3343" imgH="18915" progId="Equation.3">
                  <p:embed/>
                </p:oleObj>
              </mc:Choice>
              <mc:Fallback>
                <p:oleObj name="公式" r:id="rId2" imgW="603343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1325711"/>
                        <a:ext cx="47482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Rectangle 4">
            <a:extLst>
              <a:ext uri="{FF2B5EF4-FFF2-40B4-BE49-F238E27FC236}">
                <a16:creationId xmlns:a16="http://schemas.microsoft.com/office/drawing/2014/main" id="{F6D78939-5778-BF3B-B113-054137E59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243286"/>
            <a:ext cx="2592387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0533" name="Oval 5">
            <a:extLst>
              <a:ext uri="{FF2B5EF4-FFF2-40B4-BE49-F238E27FC236}">
                <a16:creationId xmlns:a16="http://schemas.microsoft.com/office/drawing/2014/main" id="{FE1B0B55-8A05-199F-986D-21CDC62A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748111"/>
            <a:ext cx="1223962" cy="86360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0534" name="Oval 6">
            <a:extLst>
              <a:ext uri="{FF2B5EF4-FFF2-40B4-BE49-F238E27FC236}">
                <a16:creationId xmlns:a16="http://schemas.microsoft.com/office/drawing/2014/main" id="{AC3AB22A-FBEF-1759-A125-386B8FA84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603648"/>
            <a:ext cx="1008063" cy="1081088"/>
          </a:xfrm>
          <a:prstGeom prst="ellips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535" name="Object 7">
                <a:extLst>
                  <a:ext uri="{FF2B5EF4-FFF2-40B4-BE49-F238E27FC236}">
                    <a16:creationId xmlns:a16="http://schemas.microsoft.com/office/drawing/2014/main" id="{5EEFD569-4FE5-46D0-A616-952B92347AF3}"/>
                  </a:ext>
                </a:extLst>
              </p:cNvPr>
              <p:cNvSpPr txBox="1"/>
              <p:nvPr/>
            </p:nvSpPr>
            <p:spPr bwMode="auto">
              <a:xfrm>
                <a:off x="4787900" y="2316311"/>
                <a:ext cx="454025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535" name="Object 7">
                <a:extLst>
                  <a:ext uri="{FF2B5EF4-FFF2-40B4-BE49-F238E27FC236}">
                    <a16:creationId xmlns:a16="http://schemas.microsoft.com/office/drawing/2014/main" id="{5EEFD569-4FE5-46D0-A616-952B92347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900" y="2316311"/>
                <a:ext cx="454025" cy="488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536" name="Object 8">
                <a:extLst>
                  <a:ext uri="{FF2B5EF4-FFF2-40B4-BE49-F238E27FC236}">
                    <a16:creationId xmlns:a16="http://schemas.microsoft.com/office/drawing/2014/main" id="{31928E88-CD13-AE05-D2F5-218C76979084}"/>
                  </a:ext>
                </a:extLst>
              </p:cNvPr>
              <p:cNvSpPr txBox="1"/>
              <p:nvPr/>
            </p:nvSpPr>
            <p:spPr bwMode="auto">
              <a:xfrm>
                <a:off x="4481513" y="2601561"/>
                <a:ext cx="10477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0536" name="Object 8">
                <a:extLst>
                  <a:ext uri="{FF2B5EF4-FFF2-40B4-BE49-F238E27FC236}">
                    <a16:creationId xmlns:a16="http://schemas.microsoft.com/office/drawing/2014/main" id="{31928E88-CD13-AE05-D2F5-218C76979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1513" y="2601561"/>
                <a:ext cx="1047750" cy="454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537" name="Object 9">
                <a:extLst>
                  <a:ext uri="{FF2B5EF4-FFF2-40B4-BE49-F238E27FC236}">
                    <a16:creationId xmlns:a16="http://schemas.microsoft.com/office/drawing/2014/main" id="{C3C75BDB-C993-5619-22FF-C2ED27BED0CF}"/>
                  </a:ext>
                </a:extLst>
              </p:cNvPr>
              <p:cNvSpPr txBox="1"/>
              <p:nvPr/>
            </p:nvSpPr>
            <p:spPr bwMode="auto">
              <a:xfrm>
                <a:off x="2991273" y="3202186"/>
                <a:ext cx="10477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537" name="Object 9">
                <a:extLst>
                  <a:ext uri="{FF2B5EF4-FFF2-40B4-BE49-F238E27FC236}">
                    <a16:creationId xmlns:a16="http://schemas.microsoft.com/office/drawing/2014/main" id="{C3C75BDB-C993-5619-22FF-C2ED27BED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1273" y="3202186"/>
                <a:ext cx="1047750" cy="454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0538" name="Object 10">
            <a:extLst>
              <a:ext uri="{FF2B5EF4-FFF2-40B4-BE49-F238E27FC236}">
                <a16:creationId xmlns:a16="http://schemas.microsoft.com/office/drawing/2014/main" id="{F9698555-A82E-07FF-9863-B924B57C5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963715"/>
              </p:ext>
            </p:extLst>
          </p:nvPr>
        </p:nvGraphicFramePr>
        <p:xfrm>
          <a:off x="2484438" y="4692798"/>
          <a:ext cx="54006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65" imgH="18915" progId="Equation.3">
                  <p:embed/>
                </p:oleObj>
              </mc:Choice>
              <mc:Fallback>
                <p:oleObj name="Equation" r:id="rId7" imgW="609465" imgH="189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692798"/>
                        <a:ext cx="54006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9" name="Object 11">
            <a:extLst>
              <a:ext uri="{FF2B5EF4-FFF2-40B4-BE49-F238E27FC236}">
                <a16:creationId xmlns:a16="http://schemas.microsoft.com/office/drawing/2014/main" id="{20959068-4D89-ECC6-84CB-686863E1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42609"/>
              </p:ext>
            </p:extLst>
          </p:nvPr>
        </p:nvGraphicFramePr>
        <p:xfrm>
          <a:off x="2484438" y="5700861"/>
          <a:ext cx="56229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23917" imgH="18915" progId="Equation.3">
                  <p:embed/>
                </p:oleObj>
              </mc:Choice>
              <mc:Fallback>
                <p:oleObj name="公式" r:id="rId9" imgW="723917" imgH="1891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700861"/>
                        <a:ext cx="56229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0" name="Line 12">
            <a:extLst>
              <a:ext uri="{FF2B5EF4-FFF2-40B4-BE49-F238E27FC236}">
                <a16:creationId xmlns:a16="http://schemas.microsoft.com/office/drawing/2014/main" id="{DA3740A1-C009-535C-6B45-6FA35718E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748111"/>
            <a:ext cx="7302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1" name="Line 13">
            <a:extLst>
              <a:ext uri="{FF2B5EF4-FFF2-40B4-BE49-F238E27FC236}">
                <a16:creationId xmlns:a16="http://schemas.microsoft.com/office/drawing/2014/main" id="{7B1811C2-D1E5-CA81-0C2D-E79173765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2748111"/>
            <a:ext cx="2873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2" name="Line 14">
            <a:extLst>
              <a:ext uri="{FF2B5EF4-FFF2-40B4-BE49-F238E27FC236}">
                <a16:creationId xmlns:a16="http://schemas.microsoft.com/office/drawing/2014/main" id="{9CC31CDA-27C8-A39C-B155-29868F95D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2819548"/>
            <a:ext cx="287337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3" name="Line 15">
            <a:extLst>
              <a:ext uri="{FF2B5EF4-FFF2-40B4-BE49-F238E27FC236}">
                <a16:creationId xmlns:a16="http://schemas.microsoft.com/office/drawing/2014/main" id="{8B4CE682-5374-ED4B-DEFF-3F73431C6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819548"/>
            <a:ext cx="2889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4" name="Line 16">
            <a:extLst>
              <a:ext uri="{FF2B5EF4-FFF2-40B4-BE49-F238E27FC236}">
                <a16:creationId xmlns:a16="http://schemas.microsoft.com/office/drawing/2014/main" id="{940E6F8D-67A5-BBF2-8A31-F51DBDBE2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892573"/>
            <a:ext cx="2159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5" name="Line 17">
            <a:extLst>
              <a:ext uri="{FF2B5EF4-FFF2-40B4-BE49-F238E27FC236}">
                <a16:creationId xmlns:a16="http://schemas.microsoft.com/office/drawing/2014/main" id="{5E163644-BA17-7DFB-6399-B4A1367AD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035448"/>
            <a:ext cx="14287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6" name="Line 18">
            <a:extLst>
              <a:ext uri="{FF2B5EF4-FFF2-40B4-BE49-F238E27FC236}">
                <a16:creationId xmlns:a16="http://schemas.microsoft.com/office/drawing/2014/main" id="{77868F0D-7FF8-4235-00DA-110BFA45C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036093"/>
            <a:ext cx="1444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0554" name="Object 26">
            <a:extLst>
              <a:ext uri="{FF2B5EF4-FFF2-40B4-BE49-F238E27FC236}">
                <a16:creationId xmlns:a16="http://schemas.microsoft.com/office/drawing/2014/main" id="{EA7B91AB-CDE9-D2E9-9912-2B8A223EA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467210"/>
              </p:ext>
            </p:extLst>
          </p:nvPr>
        </p:nvGraphicFramePr>
        <p:xfrm>
          <a:off x="5580063" y="2892573"/>
          <a:ext cx="28797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25307" imgH="18915" progId="Equation.3">
                  <p:embed/>
                </p:oleObj>
              </mc:Choice>
              <mc:Fallback>
                <p:oleObj name="公式" r:id="rId11" imgW="425307" imgH="1891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92573"/>
                        <a:ext cx="2879725" cy="4699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55" name="灯片编号占位符 1">
            <a:extLst>
              <a:ext uri="{FF2B5EF4-FFF2-40B4-BE49-F238E27FC236}">
                <a16:creationId xmlns:a16="http://schemas.microsoft.com/office/drawing/2014/main" id="{06EC0BF7-47D8-3D95-7215-1D78A9B6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DE57BA-6AF8-4E41-925F-F054A5F5B6A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9">
                <a:extLst>
                  <a:ext uri="{FF2B5EF4-FFF2-40B4-BE49-F238E27FC236}">
                    <a16:creationId xmlns:a16="http://schemas.microsoft.com/office/drawing/2014/main" id="{CEC4D65C-D9E2-CD4E-629C-3E248AD1CC6B}"/>
                  </a:ext>
                </a:extLst>
              </p:cNvPr>
              <p:cNvSpPr txBox="1"/>
              <p:nvPr/>
            </p:nvSpPr>
            <p:spPr bwMode="auto">
              <a:xfrm>
                <a:off x="3451793" y="2663973"/>
                <a:ext cx="10477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Object 9">
                <a:extLst>
                  <a:ext uri="{FF2B5EF4-FFF2-40B4-BE49-F238E27FC236}">
                    <a16:creationId xmlns:a16="http://schemas.microsoft.com/office/drawing/2014/main" id="{CEC4D65C-D9E2-CD4E-629C-3E248AD1C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793" y="2663973"/>
                <a:ext cx="1047750" cy="4540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1364C466-B383-E6B7-1877-9DA46566455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87523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Theorem 1-23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Proof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151555" name="Object 3">
            <a:extLst>
              <a:ext uri="{FF2B5EF4-FFF2-40B4-BE49-F238E27FC236}">
                <a16:creationId xmlns:a16="http://schemas.microsoft.com/office/drawing/2014/main" id="{D9A535A4-E9A4-16FA-0F6D-150362A7F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357071"/>
              </p:ext>
            </p:extLst>
          </p:nvPr>
        </p:nvGraphicFramePr>
        <p:xfrm>
          <a:off x="3635375" y="587523"/>
          <a:ext cx="25495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610" imgH="25535" progId="Equation.3">
                  <p:embed/>
                </p:oleObj>
              </mc:Choice>
              <mc:Fallback>
                <p:oleObj name="Equation" r:id="rId2" imgW="298610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7523"/>
                        <a:ext cx="2549525" cy="59372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3" name="Object 4">
            <a:extLst>
              <a:ext uri="{FF2B5EF4-FFF2-40B4-BE49-F238E27FC236}">
                <a16:creationId xmlns:a16="http://schemas.microsoft.com/office/drawing/2014/main" id="{7549B963-377A-FE7A-21E1-FAEDE5735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722882"/>
              </p:ext>
            </p:extLst>
          </p:nvPr>
        </p:nvGraphicFramePr>
        <p:xfrm>
          <a:off x="2268538" y="2460773"/>
          <a:ext cx="48545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6059" imgH="127203" progId="Equation.3">
                  <p:embed/>
                </p:oleObj>
              </mc:Choice>
              <mc:Fallback>
                <p:oleObj name="公式" r:id="rId4" imgW="616059" imgH="1272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60773"/>
                        <a:ext cx="485457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4" name="Object 5">
            <a:extLst>
              <a:ext uri="{FF2B5EF4-FFF2-40B4-BE49-F238E27FC236}">
                <a16:creationId xmlns:a16="http://schemas.microsoft.com/office/drawing/2014/main" id="{BF12DDED-4FE7-B255-D28A-8F18EEC9A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1991"/>
              </p:ext>
            </p:extLst>
          </p:nvPr>
        </p:nvGraphicFramePr>
        <p:xfrm>
          <a:off x="2339975" y="4908698"/>
          <a:ext cx="50292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41493" imgH="127203" progId="Equation.3">
                  <p:embed/>
                </p:oleObj>
              </mc:Choice>
              <mc:Fallback>
                <p:oleObj name="公式" r:id="rId6" imgW="641493" imgH="12720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908698"/>
                        <a:ext cx="50292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6">
            <a:extLst>
              <a:ext uri="{FF2B5EF4-FFF2-40B4-BE49-F238E27FC236}">
                <a16:creationId xmlns:a16="http://schemas.microsoft.com/office/drawing/2014/main" id="{6A8803F5-E294-F3F2-24B6-A15DD65DE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531705"/>
              </p:ext>
            </p:extLst>
          </p:nvPr>
        </p:nvGraphicFramePr>
        <p:xfrm>
          <a:off x="1331913" y="1740048"/>
          <a:ext cx="26193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1327" imgH="31682" progId="Equation.3">
                  <p:embed/>
                </p:oleObj>
              </mc:Choice>
              <mc:Fallback>
                <p:oleObj name="公式" r:id="rId8" imgW="311327" imgH="3168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40048"/>
                        <a:ext cx="26193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7">
            <a:extLst>
              <a:ext uri="{FF2B5EF4-FFF2-40B4-BE49-F238E27FC236}">
                <a16:creationId xmlns:a16="http://schemas.microsoft.com/office/drawing/2014/main" id="{7D2D53B9-4981-8F32-68DB-496D1E95E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094723"/>
              </p:ext>
            </p:extLst>
          </p:nvPr>
        </p:nvGraphicFramePr>
        <p:xfrm>
          <a:off x="1403350" y="4043511"/>
          <a:ext cx="26193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1327" imgH="31682" progId="Equation.3">
                  <p:embed/>
                </p:oleObj>
              </mc:Choice>
              <mc:Fallback>
                <p:oleObj name="公式" r:id="rId10" imgW="311327" imgH="3168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043511"/>
                        <a:ext cx="26193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灯片编号占位符 1">
            <a:extLst>
              <a:ext uri="{FF2B5EF4-FFF2-40B4-BE49-F238E27FC236}">
                <a16:creationId xmlns:a16="http://schemas.microsoft.com/office/drawing/2014/main" id="{E5F7FC28-E6AC-4882-82A4-5AB2F40B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D5867D-398B-45C5-80CE-D6B7994B7AD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00E2578A-392D-16BC-2841-26240284C1F9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341438"/>
            <a:ext cx="822960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1-45  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对于任意集合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: (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) –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 – (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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Poof</a:t>
            </a:r>
          </a:p>
        </p:txBody>
      </p:sp>
      <p:graphicFrame>
        <p:nvGraphicFramePr>
          <p:cNvPr id="152579" name="Object 3">
            <a:extLst>
              <a:ext uri="{FF2B5EF4-FFF2-40B4-BE49-F238E27FC236}">
                <a16:creationId xmlns:a16="http://schemas.microsoft.com/office/drawing/2014/main" id="{BB8BC646-032A-2B60-9C07-C5E317A73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788736"/>
              </p:ext>
            </p:extLst>
          </p:nvPr>
        </p:nvGraphicFramePr>
        <p:xfrm>
          <a:off x="302840" y="3429000"/>
          <a:ext cx="68453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89235" imgH="38303" progId="Equation.3">
                  <p:embed/>
                </p:oleObj>
              </mc:Choice>
              <mc:Fallback>
                <p:oleObj name="公式" r:id="rId2" imgW="889235" imgH="383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40" y="3429000"/>
                        <a:ext cx="68453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0" name="Object 4">
            <a:extLst>
              <a:ext uri="{FF2B5EF4-FFF2-40B4-BE49-F238E27FC236}">
                <a16:creationId xmlns:a16="http://schemas.microsoft.com/office/drawing/2014/main" id="{8279C998-D8D9-F26A-7AA5-960550B51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681099"/>
              </p:ext>
            </p:extLst>
          </p:nvPr>
        </p:nvGraphicFramePr>
        <p:xfrm>
          <a:off x="1907704" y="4365104"/>
          <a:ext cx="71247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26915" imgH="38303" progId="Equation.3">
                  <p:embed/>
                </p:oleObj>
              </mc:Choice>
              <mc:Fallback>
                <p:oleObj name="公式" r:id="rId4" imgW="926915" imgH="383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365104"/>
                        <a:ext cx="71247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1" name="灯片编号占位符 1">
            <a:extLst>
              <a:ext uri="{FF2B5EF4-FFF2-40B4-BE49-F238E27FC236}">
                <a16:creationId xmlns:a16="http://schemas.microsoft.com/office/drawing/2014/main" id="{74FB4D35-6185-6126-AABA-8C273308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46FDCF-98D6-4BF5-A8AA-618896F1BEF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67CF53-C432-C332-FEE5-DAD649A72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805488"/>
            <a:ext cx="8229600" cy="79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kern="0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kern="0" dirty="0">
                <a:latin typeface="Times New Roman" panose="02020603050405020304" pitchFamily="18" charset="0"/>
                <a:ea typeface="华文新魏" panose="02010800040101010101" pitchFamily="2" charset="-122"/>
              </a:rPr>
              <a:t>1-46                                     </a:t>
            </a:r>
            <a:r>
              <a:rPr lang="en-US" altLang="zh-CN" b="1" kern="0" dirty="0">
                <a:latin typeface="Times New Roman" panose="02020603050405020304" pitchFamily="18" charset="0"/>
                <a:ea typeface="华文新魏" panose="02010800040101010101" pitchFamily="2" charset="-122"/>
                <a:sym typeface="Symbol" panose="05050102010706020507" pitchFamily="18" charset="2"/>
              </a:rPr>
              <a:t>.</a:t>
            </a:r>
            <a:endParaRPr lang="en-US" altLang="zh-CN" b="1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2887BDB-794D-54DB-2947-E364C63D6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461151"/>
              </p:ext>
            </p:extLst>
          </p:nvPr>
        </p:nvGraphicFramePr>
        <p:xfrm>
          <a:off x="2854698" y="5878512"/>
          <a:ext cx="3073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317" imgH="18915" progId="Equation.3">
                  <p:embed/>
                </p:oleObj>
              </mc:Choice>
              <mc:Fallback>
                <p:oleObj name="Equation" r:id="rId6" imgW="368317" imgH="18915" progId="Equation.3">
                  <p:embed/>
                  <p:pic>
                    <p:nvPicPr>
                      <p:cNvPr id="153603" name="Object 3">
                        <a:extLst>
                          <a:ext uri="{FF2B5EF4-FFF2-40B4-BE49-F238E27FC236}">
                            <a16:creationId xmlns:a16="http://schemas.microsoft.com/office/drawing/2014/main" id="{CC1064BC-7895-8E75-9DE7-397F7804F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698" y="5878512"/>
                        <a:ext cx="30734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9DB15525-9948-CF9F-05CD-E8D4CA88DFF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87523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5. </a:t>
            </a:r>
            <a:r>
              <a:rPr lang="zh-CN" altLang="en-US" b="1" dirty="0">
                <a:latin typeface="Times New Roman" panose="02020603050405020304" pitchFamily="18" charset="0"/>
              </a:rPr>
              <a:t>对称差</a:t>
            </a:r>
            <a:r>
              <a:rPr lang="en-US" altLang="zh-CN" b="1" dirty="0">
                <a:latin typeface="Times New Roman" panose="02020603050405020304" pitchFamily="18" charset="0"/>
              </a:rPr>
              <a:t>(symmetric difference)</a:t>
            </a:r>
            <a:r>
              <a:rPr lang="zh-CN" altLang="en-US" b="1" dirty="0">
                <a:latin typeface="Times New Roman" panose="02020603050405020304" pitchFamily="18" charset="0"/>
              </a:rPr>
              <a:t>运算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See Venn Figure below.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1-48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</p:txBody>
      </p:sp>
      <p:graphicFrame>
        <p:nvGraphicFramePr>
          <p:cNvPr id="154627" name="Object 3">
            <a:extLst>
              <a:ext uri="{FF2B5EF4-FFF2-40B4-BE49-F238E27FC236}">
                <a16:creationId xmlns:a16="http://schemas.microsoft.com/office/drawing/2014/main" id="{2C2DDB32-E410-A64C-DB2E-1BCF9386C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680061"/>
              </p:ext>
            </p:extLst>
          </p:nvPr>
        </p:nvGraphicFramePr>
        <p:xfrm>
          <a:off x="2268538" y="1308248"/>
          <a:ext cx="4540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15" imgH="18915" progId="Equation.3">
                  <p:embed/>
                </p:oleObj>
              </mc:Choice>
              <mc:Fallback>
                <p:oleObj name="Equation" r:id="rId2" imgW="571315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308248"/>
                        <a:ext cx="4540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8" name="Object 4">
            <a:extLst>
              <a:ext uri="{FF2B5EF4-FFF2-40B4-BE49-F238E27FC236}">
                <a16:creationId xmlns:a16="http://schemas.microsoft.com/office/drawing/2014/main" id="{BB05C8A6-0C51-2FF9-9337-3541CC45A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558843"/>
              </p:ext>
            </p:extLst>
          </p:nvPr>
        </p:nvGraphicFramePr>
        <p:xfrm>
          <a:off x="2268538" y="3395811"/>
          <a:ext cx="50990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54210" imgH="18915" progId="Equation.3">
                  <p:embed/>
                </p:oleObj>
              </mc:Choice>
              <mc:Fallback>
                <p:oleObj name="Equation" r:id="rId4" imgW="654210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95811"/>
                        <a:ext cx="50990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9" name="Object 5">
            <a:extLst>
              <a:ext uri="{FF2B5EF4-FFF2-40B4-BE49-F238E27FC236}">
                <a16:creationId xmlns:a16="http://schemas.microsoft.com/office/drawing/2014/main" id="{2D81F275-66D0-D1CC-B9D9-9DA114A52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138587"/>
              </p:ext>
            </p:extLst>
          </p:nvPr>
        </p:nvGraphicFramePr>
        <p:xfrm>
          <a:off x="2339975" y="4187973"/>
          <a:ext cx="4540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15" imgH="18915" progId="Equation.3">
                  <p:embed/>
                </p:oleObj>
              </mc:Choice>
              <mc:Fallback>
                <p:oleObj name="Equation" r:id="rId2" imgW="571315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87973"/>
                        <a:ext cx="4540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>
            <a:extLst>
              <a:ext uri="{FF2B5EF4-FFF2-40B4-BE49-F238E27FC236}">
                <a16:creationId xmlns:a16="http://schemas.microsoft.com/office/drawing/2014/main" id="{B0CC77B5-D439-601C-0923-53232C740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460835"/>
              </p:ext>
            </p:extLst>
          </p:nvPr>
        </p:nvGraphicFramePr>
        <p:xfrm>
          <a:off x="3419475" y="4835673"/>
          <a:ext cx="27590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0166" imgH="18915" progId="Equation.3">
                  <p:embed/>
                </p:oleObj>
              </mc:Choice>
              <mc:Fallback>
                <p:oleObj name="公式" r:id="rId7" imgW="330166" imgH="1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835673"/>
                        <a:ext cx="27590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>
            <a:extLst>
              <a:ext uri="{FF2B5EF4-FFF2-40B4-BE49-F238E27FC236}">
                <a16:creationId xmlns:a16="http://schemas.microsoft.com/office/drawing/2014/main" id="{88740A51-2B74-802D-8409-11731D190D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380765"/>
              </p:ext>
            </p:extLst>
          </p:nvPr>
        </p:nvGraphicFramePr>
        <p:xfrm>
          <a:off x="3492500" y="5484961"/>
          <a:ext cx="21653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47743" imgH="18915" progId="Equation.3">
                  <p:embed/>
                </p:oleObj>
              </mc:Choice>
              <mc:Fallback>
                <p:oleObj name="公式" r:id="rId9" imgW="247743" imgH="189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484961"/>
                        <a:ext cx="21653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2" name="灯片编号占位符 1">
            <a:extLst>
              <a:ext uri="{FF2B5EF4-FFF2-40B4-BE49-F238E27FC236}">
                <a16:creationId xmlns:a16="http://schemas.microsoft.com/office/drawing/2014/main" id="{DA2B7A17-9C19-B843-724E-2C20A503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942BC5-BFA6-4C83-A5F3-15B0BE50681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9BAA1010-61CB-E64A-2A8D-C69735002381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00AEFC56-6EF2-90F2-30E2-9E4E7FB00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437482"/>
            <a:ext cx="2592387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5652" name="Oval 4">
            <a:extLst>
              <a:ext uri="{FF2B5EF4-FFF2-40B4-BE49-F238E27FC236}">
                <a16:creationId xmlns:a16="http://schemas.microsoft.com/office/drawing/2014/main" id="{2CF1E61A-FAF9-10E9-FCA5-812CA8BE0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942307"/>
            <a:ext cx="1223962" cy="86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5653" name="Oval 5">
            <a:extLst>
              <a:ext uri="{FF2B5EF4-FFF2-40B4-BE49-F238E27FC236}">
                <a16:creationId xmlns:a16="http://schemas.microsoft.com/office/drawing/2014/main" id="{865B941F-0686-8BD4-031F-4B02FF6DF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797844"/>
            <a:ext cx="1008063" cy="10810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54" name="Object 6">
                <a:extLst>
                  <a:ext uri="{FF2B5EF4-FFF2-40B4-BE49-F238E27FC236}">
                    <a16:creationId xmlns:a16="http://schemas.microsoft.com/office/drawing/2014/main" id="{3C42FB85-9124-141F-92C6-1639A6E4E9BC}"/>
                  </a:ext>
                </a:extLst>
              </p:cNvPr>
              <p:cNvSpPr txBox="1"/>
              <p:nvPr/>
            </p:nvSpPr>
            <p:spPr bwMode="auto">
              <a:xfrm>
                <a:off x="4787900" y="2510507"/>
                <a:ext cx="454025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5654" name="Object 6">
                <a:extLst>
                  <a:ext uri="{FF2B5EF4-FFF2-40B4-BE49-F238E27FC236}">
                    <a16:creationId xmlns:a16="http://schemas.microsoft.com/office/drawing/2014/main" id="{3C42FB85-9124-141F-92C6-1639A6E4E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900" y="2510507"/>
                <a:ext cx="454025" cy="488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5" name="Object 7">
                <a:extLst>
                  <a:ext uri="{FF2B5EF4-FFF2-40B4-BE49-F238E27FC236}">
                    <a16:creationId xmlns:a16="http://schemas.microsoft.com/office/drawing/2014/main" id="{07729258-B501-C2D3-4194-1D383F2842A2}"/>
                  </a:ext>
                </a:extLst>
              </p:cNvPr>
              <p:cNvSpPr txBox="1"/>
              <p:nvPr/>
            </p:nvSpPr>
            <p:spPr bwMode="auto">
              <a:xfrm>
                <a:off x="4356100" y="3158207"/>
                <a:ext cx="10477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5655" name="Object 7">
                <a:extLst>
                  <a:ext uri="{FF2B5EF4-FFF2-40B4-BE49-F238E27FC236}">
                    <a16:creationId xmlns:a16="http://schemas.microsoft.com/office/drawing/2014/main" id="{07729258-B501-C2D3-4194-1D383F284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6100" y="3158207"/>
                <a:ext cx="1047750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6" name="Object 8">
                <a:extLst>
                  <a:ext uri="{FF2B5EF4-FFF2-40B4-BE49-F238E27FC236}">
                    <a16:creationId xmlns:a16="http://schemas.microsoft.com/office/drawing/2014/main" id="{2EB6D872-14CC-6A87-AC33-C0660B7E0736}"/>
                  </a:ext>
                </a:extLst>
              </p:cNvPr>
              <p:cNvSpPr txBox="1"/>
              <p:nvPr/>
            </p:nvSpPr>
            <p:spPr bwMode="auto">
              <a:xfrm>
                <a:off x="2700338" y="3158207"/>
                <a:ext cx="104775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5656" name="Object 8">
                <a:extLst>
                  <a:ext uri="{FF2B5EF4-FFF2-40B4-BE49-F238E27FC236}">
                    <a16:creationId xmlns:a16="http://schemas.microsoft.com/office/drawing/2014/main" id="{2EB6D872-14CC-6A87-AC33-C0660B7E0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3158207"/>
                <a:ext cx="1047750" cy="454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657" name="Line 9">
            <a:extLst>
              <a:ext uri="{FF2B5EF4-FFF2-40B4-BE49-F238E27FC236}">
                <a16:creationId xmlns:a16="http://schemas.microsoft.com/office/drawing/2014/main" id="{D16EE7E4-1C3C-E928-12F1-2CCEB3248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942307"/>
            <a:ext cx="7302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8" name="Line 10">
            <a:extLst>
              <a:ext uri="{FF2B5EF4-FFF2-40B4-BE49-F238E27FC236}">
                <a16:creationId xmlns:a16="http://schemas.microsoft.com/office/drawing/2014/main" id="{32045F1D-5F86-A147-D50D-7AAEEB6E3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2942307"/>
            <a:ext cx="2873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9" name="Line 11">
            <a:extLst>
              <a:ext uri="{FF2B5EF4-FFF2-40B4-BE49-F238E27FC236}">
                <a16:creationId xmlns:a16="http://schemas.microsoft.com/office/drawing/2014/main" id="{DFA5AEA9-010E-E5B1-3EC7-B6BC3A634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013744"/>
            <a:ext cx="287337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0" name="Line 12">
            <a:extLst>
              <a:ext uri="{FF2B5EF4-FFF2-40B4-BE49-F238E27FC236}">
                <a16:creationId xmlns:a16="http://schemas.microsoft.com/office/drawing/2014/main" id="{CFC7CAFC-37C8-260F-26B5-96A8E9A1A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013744"/>
            <a:ext cx="2889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1" name="Line 13">
            <a:extLst>
              <a:ext uri="{FF2B5EF4-FFF2-40B4-BE49-F238E27FC236}">
                <a16:creationId xmlns:a16="http://schemas.microsoft.com/office/drawing/2014/main" id="{603B13BD-FEEE-99DA-6DF0-DCED495E7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3086769"/>
            <a:ext cx="2159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2" name="Line 14">
            <a:extLst>
              <a:ext uri="{FF2B5EF4-FFF2-40B4-BE49-F238E27FC236}">
                <a16:creationId xmlns:a16="http://schemas.microsoft.com/office/drawing/2014/main" id="{083DF583-E8E6-C219-EE17-0174D73E0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29644"/>
            <a:ext cx="14287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3" name="Line 15">
            <a:extLst>
              <a:ext uri="{FF2B5EF4-FFF2-40B4-BE49-F238E27FC236}">
                <a16:creationId xmlns:a16="http://schemas.microsoft.com/office/drawing/2014/main" id="{708F73B6-3040-1FBB-9D52-1293B0F4D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230289"/>
            <a:ext cx="1444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4" name="Line 16">
            <a:extLst>
              <a:ext uri="{FF2B5EF4-FFF2-40B4-BE49-F238E27FC236}">
                <a16:creationId xmlns:a16="http://schemas.microsoft.com/office/drawing/2014/main" id="{692FFF31-E595-6FC8-CA29-6DD0FA5CEF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200" y="2870869"/>
            <a:ext cx="43180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5" name="Line 17">
            <a:extLst>
              <a:ext uri="{FF2B5EF4-FFF2-40B4-BE49-F238E27FC236}">
                <a16:creationId xmlns:a16="http://schemas.microsoft.com/office/drawing/2014/main" id="{9601E06D-7960-51DC-EB2C-6D2971D0E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638" y="2942307"/>
            <a:ext cx="4318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6" name="Line 18">
            <a:extLst>
              <a:ext uri="{FF2B5EF4-FFF2-40B4-BE49-F238E27FC236}">
                <a16:creationId xmlns:a16="http://schemas.microsoft.com/office/drawing/2014/main" id="{1899A79C-A573-D90C-8333-12691002EE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4663" y="3086769"/>
            <a:ext cx="503237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7" name="Line 19">
            <a:extLst>
              <a:ext uri="{FF2B5EF4-FFF2-40B4-BE49-F238E27FC236}">
                <a16:creationId xmlns:a16="http://schemas.microsoft.com/office/drawing/2014/main" id="{19882690-3345-CCDA-69F5-104FCA65FB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8" y="3229644"/>
            <a:ext cx="4318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8" name="Line 20">
            <a:extLst>
              <a:ext uri="{FF2B5EF4-FFF2-40B4-BE49-F238E27FC236}">
                <a16:creationId xmlns:a16="http://schemas.microsoft.com/office/drawing/2014/main" id="{D88AF915-C6D8-A3D8-1A13-69EF7783F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6100" y="3374107"/>
            <a:ext cx="503238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9" name="Line 21">
            <a:extLst>
              <a:ext uri="{FF2B5EF4-FFF2-40B4-BE49-F238E27FC236}">
                <a16:creationId xmlns:a16="http://schemas.microsoft.com/office/drawing/2014/main" id="{97880E1E-9CA4-A4D6-DE9B-1CDCD5A1B9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4663" y="3518569"/>
            <a:ext cx="503237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70" name="Line 22">
            <a:extLst>
              <a:ext uri="{FF2B5EF4-FFF2-40B4-BE49-F238E27FC236}">
                <a16:creationId xmlns:a16="http://schemas.microsoft.com/office/drawing/2014/main" id="{52EACD2B-546F-39FA-8755-9E3534193D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6100" y="3663032"/>
            <a:ext cx="43180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5671" name="Object 23">
            <a:extLst>
              <a:ext uri="{FF2B5EF4-FFF2-40B4-BE49-F238E27FC236}">
                <a16:creationId xmlns:a16="http://schemas.microsoft.com/office/drawing/2014/main" id="{FACF749B-F1E0-54D1-F59C-F8D8E1A28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85272"/>
              </p:ext>
            </p:extLst>
          </p:nvPr>
        </p:nvGraphicFramePr>
        <p:xfrm>
          <a:off x="1979613" y="1358032"/>
          <a:ext cx="4540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15" imgH="18915" progId="Equation.3">
                  <p:embed/>
                </p:oleObj>
              </mc:Choice>
              <mc:Fallback>
                <p:oleObj name="Equation" r:id="rId5" imgW="571315" imgH="1891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358032"/>
                        <a:ext cx="4540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72" name="Object 24">
            <a:extLst>
              <a:ext uri="{FF2B5EF4-FFF2-40B4-BE49-F238E27FC236}">
                <a16:creationId xmlns:a16="http://schemas.microsoft.com/office/drawing/2014/main" id="{26A4C3D1-BC73-CA03-4BC7-5C93C8694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502812"/>
              </p:ext>
            </p:extLst>
          </p:nvPr>
        </p:nvGraphicFramePr>
        <p:xfrm>
          <a:off x="2124075" y="4958432"/>
          <a:ext cx="4610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7909" imgH="18915" progId="Equation.3">
                  <p:embed/>
                </p:oleObj>
              </mc:Choice>
              <mc:Fallback>
                <p:oleObj name="Equation" r:id="rId7" imgW="577909" imgH="1891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958432"/>
                        <a:ext cx="4610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73" name="灯片编号占位符 1">
            <a:extLst>
              <a:ext uri="{FF2B5EF4-FFF2-40B4-BE49-F238E27FC236}">
                <a16:creationId xmlns:a16="http://schemas.microsoft.com/office/drawing/2014/main" id="{C83609B6-910A-78BD-288D-87D1D928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E6B980-3F6D-46F3-B715-D7A856F7B02E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2FF17DE0-5424-04DC-1CA6-9650938193F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59531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Theorem(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对称差运算的性质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交换性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单位元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 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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 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(4)</a:t>
            </a:r>
            <a:r>
              <a:rPr lang="zh-CN" altLang="en-US" b="1" dirty="0">
                <a:latin typeface="Times New Roman" panose="02020603050405020304" pitchFamily="18" charset="0"/>
              </a:rPr>
              <a:t>结合性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6675" name="Object 3">
            <a:extLst>
              <a:ext uri="{FF2B5EF4-FFF2-40B4-BE49-F238E27FC236}">
                <a16:creationId xmlns:a16="http://schemas.microsoft.com/office/drawing/2014/main" id="{7E8EC947-9F79-2AC2-7176-AB24358A4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297178"/>
              </p:ext>
            </p:extLst>
          </p:nvPr>
        </p:nvGraphicFramePr>
        <p:xfrm>
          <a:off x="2843213" y="1451917"/>
          <a:ext cx="26543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327" imgH="18915" progId="Equation.3">
                  <p:embed/>
                </p:oleObj>
              </mc:Choice>
              <mc:Fallback>
                <p:oleObj name="Equation" r:id="rId2" imgW="311327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451917"/>
                        <a:ext cx="26543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6" name="Object 4">
            <a:extLst>
              <a:ext uri="{FF2B5EF4-FFF2-40B4-BE49-F238E27FC236}">
                <a16:creationId xmlns:a16="http://schemas.microsoft.com/office/drawing/2014/main" id="{DC6058F6-E6C8-71C4-5BE9-544CF2459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094153"/>
              </p:ext>
            </p:extLst>
          </p:nvPr>
        </p:nvGraphicFramePr>
        <p:xfrm>
          <a:off x="2843213" y="5537936"/>
          <a:ext cx="47148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749" imgH="18915" progId="Equation.3">
                  <p:embed/>
                </p:oleObj>
              </mc:Choice>
              <mc:Fallback>
                <p:oleObj name="Equation" r:id="rId4" imgW="596749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537936"/>
                        <a:ext cx="47148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" name="灯片编号占位符 1">
            <a:extLst>
              <a:ext uri="{FF2B5EF4-FFF2-40B4-BE49-F238E27FC236}">
                <a16:creationId xmlns:a16="http://schemas.microsoft.com/office/drawing/2014/main" id="{BE90020C-D2F2-6C6B-4D0F-2A12A44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F2B4DD-6B41-4BCD-A31E-9B4CACAD491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B770C0F8-8EC5-0D6C-7AC1-AF813E31FA60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15515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1-49(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消去律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Hint</a:t>
            </a:r>
          </a:p>
        </p:txBody>
      </p:sp>
      <p:graphicFrame>
        <p:nvGraphicFramePr>
          <p:cNvPr id="157699" name="Object 3">
            <a:extLst>
              <a:ext uri="{FF2B5EF4-FFF2-40B4-BE49-F238E27FC236}">
                <a16:creationId xmlns:a16="http://schemas.microsoft.com/office/drawing/2014/main" id="{0F49F120-A654-102A-666F-BC5A3875F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182231"/>
              </p:ext>
            </p:extLst>
          </p:nvPr>
        </p:nvGraphicFramePr>
        <p:xfrm>
          <a:off x="3708400" y="635794"/>
          <a:ext cx="42259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635" imgH="18915" progId="Equation.3">
                  <p:embed/>
                </p:oleObj>
              </mc:Choice>
              <mc:Fallback>
                <p:oleObj name="Equation" r:id="rId2" imgW="533635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635794"/>
                        <a:ext cx="42259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>
            <a:extLst>
              <a:ext uri="{FF2B5EF4-FFF2-40B4-BE49-F238E27FC236}">
                <a16:creationId xmlns:a16="http://schemas.microsoft.com/office/drawing/2014/main" id="{76DFE058-056F-8942-8143-397931F2A4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1989138"/>
          <a:ext cx="4645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0626" imgH="18915" progId="Equation.3">
                  <p:embed/>
                </p:oleObj>
              </mc:Choice>
              <mc:Fallback>
                <p:oleObj name="Equation" r:id="rId4" imgW="590626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989138"/>
                        <a:ext cx="46450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1" name="Object 5">
            <a:extLst>
              <a:ext uri="{FF2B5EF4-FFF2-40B4-BE49-F238E27FC236}">
                <a16:creationId xmlns:a16="http://schemas.microsoft.com/office/drawing/2014/main" id="{874EC365-9BAC-7C99-8E07-056090811A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213100"/>
          <a:ext cx="4645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0626" imgH="18915" progId="Equation.3">
                  <p:embed/>
                </p:oleObj>
              </mc:Choice>
              <mc:Fallback>
                <p:oleObj name="Equation" r:id="rId6" imgW="590626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213100"/>
                        <a:ext cx="46450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2" name="灯片编号占位符 1">
            <a:extLst>
              <a:ext uri="{FF2B5EF4-FFF2-40B4-BE49-F238E27FC236}">
                <a16:creationId xmlns:a16="http://schemas.microsoft.com/office/drawing/2014/main" id="{31E75621-37A6-E0C0-94A3-DECACA34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1CFA36-DE4B-4864-9D55-5CFC29615CE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6E10EDDD-9444-722E-2AB0-940A5F398A08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20999" y="620688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1-50 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 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 (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显然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 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158723" name="Object 3">
            <a:extLst>
              <a:ext uri="{FF2B5EF4-FFF2-40B4-BE49-F238E27FC236}">
                <a16:creationId xmlns:a16="http://schemas.microsoft.com/office/drawing/2014/main" id="{267838FB-B99B-3EAF-4590-2974F29085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833572"/>
              </p:ext>
            </p:extLst>
          </p:nvPr>
        </p:nvGraphicFramePr>
        <p:xfrm>
          <a:off x="1827512" y="2133576"/>
          <a:ext cx="4540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15" imgH="18915" progId="Equation.3">
                  <p:embed/>
                </p:oleObj>
              </mc:Choice>
              <mc:Fallback>
                <p:oleObj name="Equation" r:id="rId2" imgW="571315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512" y="2133576"/>
                        <a:ext cx="4540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4" name="Object 4">
            <a:extLst>
              <a:ext uri="{FF2B5EF4-FFF2-40B4-BE49-F238E27FC236}">
                <a16:creationId xmlns:a16="http://schemas.microsoft.com/office/drawing/2014/main" id="{D0A39516-9FF1-549D-417E-C3A903831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21329"/>
              </p:ext>
            </p:extLst>
          </p:nvPr>
        </p:nvGraphicFramePr>
        <p:xfrm>
          <a:off x="2907012" y="3502001"/>
          <a:ext cx="43783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7909" imgH="18915" progId="Equation.3">
                  <p:embed/>
                </p:oleObj>
              </mc:Choice>
              <mc:Fallback>
                <p:oleObj name="Equation" r:id="rId4" imgW="577909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012" y="3502001"/>
                        <a:ext cx="43783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5" name="灯片编号占位符 1">
            <a:extLst>
              <a:ext uri="{FF2B5EF4-FFF2-40B4-BE49-F238E27FC236}">
                <a16:creationId xmlns:a16="http://schemas.microsoft.com/office/drawing/2014/main" id="{4DEC584A-4E38-8910-625A-7DFAF1E7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8EB3FE-DCE0-4F5A-B24A-E9BA4C6F17D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AutoShape 2">
            <a:extLst>
              <a:ext uri="{FF2B5EF4-FFF2-40B4-BE49-F238E27FC236}">
                <a16:creationId xmlns:a16="http://schemas.microsoft.com/office/drawing/2014/main" id="{DB0A4F8B-1A13-B01F-C752-F7B1D46144FE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C662675F-8516-B620-2884-078F3E3B0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/>
              <a:t>小结与作业</a:t>
            </a:r>
          </a:p>
        </p:txBody>
      </p:sp>
      <p:grpSp>
        <p:nvGrpSpPr>
          <p:cNvPr id="161796" name="Group 4">
            <a:extLst>
              <a:ext uri="{FF2B5EF4-FFF2-40B4-BE49-F238E27FC236}">
                <a16:creationId xmlns:a16="http://schemas.microsoft.com/office/drawing/2014/main" id="{A54D5F99-3EDF-C87E-8156-99C9C75925AC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7338"/>
            <a:ext cx="5181600" cy="508000"/>
            <a:chOff x="1419" y="1480"/>
            <a:chExt cx="3575" cy="363"/>
          </a:xfrm>
        </p:grpSpPr>
        <p:grpSp>
          <p:nvGrpSpPr>
            <p:cNvPr id="161825" name="Group 5">
              <a:extLst>
                <a:ext uri="{FF2B5EF4-FFF2-40B4-BE49-F238E27FC236}">
                  <a16:creationId xmlns:a16="http://schemas.microsoft.com/office/drawing/2014/main" id="{4FBB1425-3133-9FC9-02AB-31E4073B62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38" name="Oval 6">
                <a:extLst>
                  <a:ext uri="{FF2B5EF4-FFF2-40B4-BE49-F238E27FC236}">
                    <a16:creationId xmlns:a16="http://schemas.microsoft.com/office/drawing/2014/main" id="{D2ED74A9-1EDE-B8F1-CE51-E4792F4D7F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39" name="AutoShape 7">
                <a:extLst>
                  <a:ext uri="{FF2B5EF4-FFF2-40B4-BE49-F238E27FC236}">
                    <a16:creationId xmlns:a16="http://schemas.microsoft.com/office/drawing/2014/main" id="{FE6E2837-F88D-D50E-9D62-809748C8F4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>
                    <a:solidFill>
                      <a:schemeClr val="tx2"/>
                    </a:solidFill>
                  </a:rPr>
                  <a:t>集合的并、交、补运算及其性质</a:t>
                </a:r>
              </a:p>
            </p:txBody>
          </p:sp>
        </p:grpSp>
        <p:sp>
          <p:nvSpPr>
            <p:cNvPr id="223240" name="Oval 8">
              <a:extLst>
                <a:ext uri="{FF2B5EF4-FFF2-40B4-BE49-F238E27FC236}">
                  <a16:creationId xmlns:a16="http://schemas.microsoft.com/office/drawing/2014/main" id="{650ED443-BA49-5730-E9B4-6A59E0E744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1827" name="Oval 9">
              <a:extLst>
                <a:ext uri="{FF2B5EF4-FFF2-40B4-BE49-F238E27FC236}">
                  <a16:creationId xmlns:a16="http://schemas.microsoft.com/office/drawing/2014/main" id="{CF3A25F7-7450-5A02-B54B-503B197681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1797" name="Group 10">
            <a:extLst>
              <a:ext uri="{FF2B5EF4-FFF2-40B4-BE49-F238E27FC236}">
                <a16:creationId xmlns:a16="http://schemas.microsoft.com/office/drawing/2014/main" id="{A86096F4-D42D-648B-C83D-37EFAFCA2180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2349500"/>
            <a:ext cx="5181600" cy="508000"/>
            <a:chOff x="1419" y="1480"/>
            <a:chExt cx="3575" cy="363"/>
          </a:xfrm>
        </p:grpSpPr>
        <p:grpSp>
          <p:nvGrpSpPr>
            <p:cNvPr id="161820" name="Group 11">
              <a:extLst>
                <a:ext uri="{FF2B5EF4-FFF2-40B4-BE49-F238E27FC236}">
                  <a16:creationId xmlns:a16="http://schemas.microsoft.com/office/drawing/2014/main" id="{29EE3BB9-AC1A-6B50-3F92-1CA29DFE40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44" name="Oval 12">
                <a:extLst>
                  <a:ext uri="{FF2B5EF4-FFF2-40B4-BE49-F238E27FC236}">
                    <a16:creationId xmlns:a16="http://schemas.microsoft.com/office/drawing/2014/main" id="{F22F202B-4A4B-010E-4FFB-7A46854BE6B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45" name="AutoShape 13">
                <a:extLst>
                  <a:ext uri="{FF2B5EF4-FFF2-40B4-BE49-F238E27FC236}">
                    <a16:creationId xmlns:a16="http://schemas.microsoft.com/office/drawing/2014/main" id="{BC5A8D8F-4E81-8622-B00F-9266E623677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>
                    <a:solidFill>
                      <a:schemeClr val="tx2"/>
                    </a:solidFill>
                  </a:rPr>
                  <a:t>集合的差和对称差运算及结论</a:t>
                </a:r>
              </a:p>
            </p:txBody>
          </p:sp>
        </p:grpSp>
        <p:sp>
          <p:nvSpPr>
            <p:cNvPr id="223246" name="Oval 14">
              <a:extLst>
                <a:ext uri="{FF2B5EF4-FFF2-40B4-BE49-F238E27FC236}">
                  <a16:creationId xmlns:a16="http://schemas.microsoft.com/office/drawing/2014/main" id="{7C27CAA5-7EF8-964C-6C36-E41763EA48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1822" name="Oval 15">
              <a:extLst>
                <a:ext uri="{FF2B5EF4-FFF2-40B4-BE49-F238E27FC236}">
                  <a16:creationId xmlns:a16="http://schemas.microsoft.com/office/drawing/2014/main" id="{B109055F-D06F-62B1-0C2F-8AAF20A1A8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1798" name="Group 16">
            <a:extLst>
              <a:ext uri="{FF2B5EF4-FFF2-40B4-BE49-F238E27FC236}">
                <a16:creationId xmlns:a16="http://schemas.microsoft.com/office/drawing/2014/main" id="{D7B147F7-50E0-7EB7-3E7B-F781DCA4A510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209925"/>
            <a:ext cx="5181600" cy="508000"/>
            <a:chOff x="1419" y="1480"/>
            <a:chExt cx="3575" cy="363"/>
          </a:xfrm>
        </p:grpSpPr>
        <p:grpSp>
          <p:nvGrpSpPr>
            <p:cNvPr id="161815" name="Group 17">
              <a:extLst>
                <a:ext uri="{FF2B5EF4-FFF2-40B4-BE49-F238E27FC236}">
                  <a16:creationId xmlns:a16="http://schemas.microsoft.com/office/drawing/2014/main" id="{7B8958D6-D1A9-FD73-4322-362F531697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50" name="Oval 18">
                <a:extLst>
                  <a:ext uri="{FF2B5EF4-FFF2-40B4-BE49-F238E27FC236}">
                    <a16:creationId xmlns:a16="http://schemas.microsoft.com/office/drawing/2014/main" id="{ACC8997D-7810-7AA0-1EAB-6C6F7D9ABCE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51" name="AutoShape 19">
                <a:extLst>
                  <a:ext uri="{FF2B5EF4-FFF2-40B4-BE49-F238E27FC236}">
                    <a16:creationId xmlns:a16="http://schemas.microsoft.com/office/drawing/2014/main" id="{DBB24C3F-E8EE-4E7A-2ED3-E14F0DD11BC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/>
                  <a:t>数学归纳法</a:t>
                </a:r>
              </a:p>
            </p:txBody>
          </p:sp>
        </p:grpSp>
        <p:sp>
          <p:nvSpPr>
            <p:cNvPr id="223252" name="Oval 20">
              <a:extLst>
                <a:ext uri="{FF2B5EF4-FFF2-40B4-BE49-F238E27FC236}">
                  <a16:creationId xmlns:a16="http://schemas.microsoft.com/office/drawing/2014/main" id="{D60EE466-3EDA-636E-0FBB-5232A50678E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1817" name="Oval 21">
              <a:extLst>
                <a:ext uri="{FF2B5EF4-FFF2-40B4-BE49-F238E27FC236}">
                  <a16:creationId xmlns:a16="http://schemas.microsoft.com/office/drawing/2014/main" id="{ADEAE7CB-4A43-DF61-D538-87BA981854C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1799" name="Group 22">
            <a:extLst>
              <a:ext uri="{FF2B5EF4-FFF2-40B4-BE49-F238E27FC236}">
                <a16:creationId xmlns:a16="http://schemas.microsoft.com/office/drawing/2014/main" id="{AE382F32-6396-EDD8-1F7C-BE000C0A96E2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4073525"/>
            <a:ext cx="5181600" cy="508000"/>
            <a:chOff x="1419" y="1480"/>
            <a:chExt cx="3575" cy="363"/>
          </a:xfrm>
        </p:grpSpPr>
        <p:grpSp>
          <p:nvGrpSpPr>
            <p:cNvPr id="161810" name="Group 23">
              <a:extLst>
                <a:ext uri="{FF2B5EF4-FFF2-40B4-BE49-F238E27FC236}">
                  <a16:creationId xmlns:a16="http://schemas.microsoft.com/office/drawing/2014/main" id="{8E02777B-D1C4-7736-338A-7EE307F58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56" name="Oval 24">
                <a:extLst>
                  <a:ext uri="{FF2B5EF4-FFF2-40B4-BE49-F238E27FC236}">
                    <a16:creationId xmlns:a16="http://schemas.microsoft.com/office/drawing/2014/main" id="{D8946945-285B-280C-A8B0-A6F1F780E75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57" name="AutoShape 25">
                <a:extLst>
                  <a:ext uri="{FF2B5EF4-FFF2-40B4-BE49-F238E27FC236}">
                    <a16:creationId xmlns:a16="http://schemas.microsoft.com/office/drawing/2014/main" id="{990CC69C-AF4B-2851-CB64-CFE2DE09653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3200" b="1">
                    <a:latin typeface="Arial" charset="0"/>
                  </a:rPr>
                  <a:t>容斥原理</a:t>
                </a:r>
              </a:p>
            </p:txBody>
          </p:sp>
        </p:grpSp>
        <p:sp>
          <p:nvSpPr>
            <p:cNvPr id="223258" name="Oval 26">
              <a:extLst>
                <a:ext uri="{FF2B5EF4-FFF2-40B4-BE49-F238E27FC236}">
                  <a16:creationId xmlns:a16="http://schemas.microsoft.com/office/drawing/2014/main" id="{AD39AE03-6921-24E9-E236-A4580452CF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1812" name="Oval 27">
              <a:extLst>
                <a:ext uri="{FF2B5EF4-FFF2-40B4-BE49-F238E27FC236}">
                  <a16:creationId xmlns:a16="http://schemas.microsoft.com/office/drawing/2014/main" id="{6962EF1C-D095-687C-EE70-67DDD0040A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1800" name="AutoShape 28">
            <a:extLst>
              <a:ext uri="{FF2B5EF4-FFF2-40B4-BE49-F238E27FC236}">
                <a16:creationId xmlns:a16="http://schemas.microsoft.com/office/drawing/2014/main" id="{A87A6BFD-6F30-D0B5-770F-62826FB54E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grpSp>
        <p:nvGrpSpPr>
          <p:cNvPr id="161801" name="Group 30">
            <a:extLst>
              <a:ext uri="{FF2B5EF4-FFF2-40B4-BE49-F238E27FC236}">
                <a16:creationId xmlns:a16="http://schemas.microsoft.com/office/drawing/2014/main" id="{B8E0058A-596D-BCF5-A043-7626574CDE9A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5518150"/>
            <a:ext cx="5381625" cy="685800"/>
            <a:chOff x="1152" y="2832"/>
            <a:chExt cx="3408" cy="432"/>
          </a:xfrm>
        </p:grpSpPr>
        <p:grpSp>
          <p:nvGrpSpPr>
            <p:cNvPr id="161803" name="Group 31">
              <a:extLst>
                <a:ext uri="{FF2B5EF4-FFF2-40B4-BE49-F238E27FC236}">
                  <a16:creationId xmlns:a16="http://schemas.microsoft.com/office/drawing/2014/main" id="{79912889-02C0-5850-6E4E-A768FFF510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61807" name="AutoShape 32">
                <a:extLst>
                  <a:ext uri="{FF2B5EF4-FFF2-40B4-BE49-F238E27FC236}">
                    <a16:creationId xmlns:a16="http://schemas.microsoft.com/office/drawing/2014/main" id="{7DDA30A9-E1D7-8E8D-0596-EA9F5AE8052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61808" name="AutoShape 33">
                <a:extLst>
                  <a:ext uri="{FF2B5EF4-FFF2-40B4-BE49-F238E27FC236}">
                    <a16:creationId xmlns:a16="http://schemas.microsoft.com/office/drawing/2014/main" id="{7C43DEAC-33BA-1070-18CD-3C7DF5D4097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3266" name="AutoShape 34">
                <a:extLst>
                  <a:ext uri="{FF2B5EF4-FFF2-40B4-BE49-F238E27FC236}">
                    <a16:creationId xmlns:a16="http://schemas.microsoft.com/office/drawing/2014/main" id="{0B84E89D-DE53-F5F4-4D0E-0E1A347F26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6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61804" name="Line 35">
              <a:extLst>
                <a:ext uri="{FF2B5EF4-FFF2-40B4-BE49-F238E27FC236}">
                  <a16:creationId xmlns:a16="http://schemas.microsoft.com/office/drawing/2014/main" id="{99BF4407-88C2-4987-ECEE-58D00E14A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5" name="Text Box 36">
              <a:extLst>
                <a:ext uri="{FF2B5EF4-FFF2-40B4-BE49-F238E27FC236}">
                  <a16:creationId xmlns:a16="http://schemas.microsoft.com/office/drawing/2014/main" id="{1BFA0DAB-60C5-1EE3-2492-FE1B2CA73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2832"/>
              <a:ext cx="198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习题</a:t>
              </a:r>
              <a:r>
                <a:rPr lang="en-US" altLang="zh-CN" b="1">
                  <a:latin typeface="Times New Roman" panose="02020603050405020304" pitchFamily="18" charset="0"/>
                </a:rPr>
                <a:t>1.4   8, 10(2)</a:t>
              </a:r>
            </a:p>
          </p:txBody>
        </p:sp>
        <p:sp>
          <p:nvSpPr>
            <p:cNvPr id="161806" name="Text Box 37">
              <a:extLst>
                <a:ext uri="{FF2B5EF4-FFF2-40B4-BE49-F238E27FC236}">
                  <a16:creationId xmlns:a16="http://schemas.microsoft.com/office/drawing/2014/main" id="{FD4425B2-D245-FB52-5BD7-FD56EB7329B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作业</a:t>
              </a:r>
            </a:p>
          </p:txBody>
        </p:sp>
      </p:grpSp>
      <p:sp>
        <p:nvSpPr>
          <p:cNvPr id="161802" name="灯片编号占位符 1">
            <a:extLst>
              <a:ext uri="{FF2B5EF4-FFF2-40B4-BE49-F238E27FC236}">
                <a16:creationId xmlns:a16="http://schemas.microsoft.com/office/drawing/2014/main" id="{36A14B85-3D76-B01A-F47B-2876BBB0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5AE0BB-7BD4-429F-BC51-60D2386A9720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DF89FEA8-FCA9-9A9F-60C1-F450562338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249237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1.5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集合的划分与覆盖</a:t>
            </a:r>
            <a:b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055B3875-7B48-BCD0-CF85-59EB6E872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08100"/>
            <a:ext cx="8229600" cy="550545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集合的划分就是集合元素间的一种</a:t>
            </a:r>
            <a:r>
              <a:rPr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分类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流行术语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聚类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比集合的划分更广的概念是集合的覆盖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这些内容在下章会用到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1. </a:t>
            </a:r>
            <a:r>
              <a:rPr lang="zh-CN" altLang="en-US" b="1">
                <a:latin typeface="Times New Roman" panose="02020603050405020304" pitchFamily="18" charset="0"/>
              </a:rPr>
              <a:t>集合的划分</a:t>
            </a:r>
            <a:r>
              <a:rPr lang="en-US" altLang="zh-CN" b="1">
                <a:latin typeface="Times New Roman" panose="02020603050405020304" pitchFamily="18" charset="0"/>
              </a:rPr>
              <a:t>(partition)</a:t>
            </a:r>
            <a:r>
              <a:rPr lang="en-US" altLang="zh-CN" b="1"/>
              <a:t> </a:t>
            </a:r>
          </a:p>
        </p:txBody>
      </p:sp>
      <p:sp>
        <p:nvSpPr>
          <p:cNvPr id="163843" name="灯片编号占位符 1">
            <a:extLst>
              <a:ext uri="{FF2B5EF4-FFF2-40B4-BE49-F238E27FC236}">
                <a16:creationId xmlns:a16="http://schemas.microsoft.com/office/drawing/2014/main" id="{5B81CE27-139D-98FC-6DDB-C6354526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D380B9-39A8-4B52-A3D9-A6E243BBD82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019ED4AE-9620-FFE0-7450-B4BE933B256D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731539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 1-31</a:t>
            </a:r>
            <a:r>
              <a:rPr lang="zh-CN" altLang="en-US" b="1" dirty="0">
                <a:latin typeface="Times New Roman" panose="02020603050405020304" pitchFamily="18" charset="0"/>
              </a:rPr>
              <a:t>任意集合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的划分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的若干子集构成的集合：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(1)      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, 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(2)              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, 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(3)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分组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磁盘分区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?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64867" name="Oval 3">
            <a:extLst>
              <a:ext uri="{FF2B5EF4-FFF2-40B4-BE49-F238E27FC236}">
                <a16:creationId xmlns:a16="http://schemas.microsoft.com/office/drawing/2014/main" id="{EF3F27FE-8A73-F3F8-E506-51CF25C8C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596727"/>
            <a:ext cx="3527425" cy="2374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64868" name="Object 10">
            <a:extLst>
              <a:ext uri="{FF2B5EF4-FFF2-40B4-BE49-F238E27FC236}">
                <a16:creationId xmlns:a16="http://schemas.microsoft.com/office/drawing/2014/main" id="{FA1C6BD7-1635-88B0-425D-54E534F1B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983071"/>
              </p:ext>
            </p:extLst>
          </p:nvPr>
        </p:nvGraphicFramePr>
        <p:xfrm>
          <a:off x="827402" y="2117031"/>
          <a:ext cx="37369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3457" imgH="31682" progId="Equation.3">
                  <p:embed/>
                </p:oleObj>
              </mc:Choice>
              <mc:Fallback>
                <p:oleObj name="公式" r:id="rId2" imgW="463457" imgH="3168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02" y="2117031"/>
                        <a:ext cx="3736975" cy="6286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11">
            <a:extLst>
              <a:ext uri="{FF2B5EF4-FFF2-40B4-BE49-F238E27FC236}">
                <a16:creationId xmlns:a16="http://schemas.microsoft.com/office/drawing/2014/main" id="{2AFA2F1D-F1E4-24FB-1B88-A02082D68C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485908"/>
              </p:ext>
            </p:extLst>
          </p:nvPr>
        </p:nvGraphicFramePr>
        <p:xfrm>
          <a:off x="1552554" y="2981027"/>
          <a:ext cx="838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584" imgH="31682" progId="Equation.3">
                  <p:embed/>
                </p:oleObj>
              </mc:Choice>
              <mc:Fallback>
                <p:oleObj name="公式" r:id="rId4" imgW="63584" imgH="3168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54" y="2981027"/>
                        <a:ext cx="838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12">
            <a:extLst>
              <a:ext uri="{FF2B5EF4-FFF2-40B4-BE49-F238E27FC236}">
                <a16:creationId xmlns:a16="http://schemas.microsoft.com/office/drawing/2014/main" id="{D4C4E337-DE32-797C-B7DC-7D44B0B2D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669545"/>
              </p:ext>
            </p:extLst>
          </p:nvPr>
        </p:nvGraphicFramePr>
        <p:xfrm>
          <a:off x="1552554" y="3577133"/>
          <a:ext cx="1711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158" imgH="38303" progId="Equation.3">
                  <p:embed/>
                </p:oleObj>
              </mc:Choice>
              <mc:Fallback>
                <p:oleObj name="公式" r:id="rId6" imgW="184158" imgH="3830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54" y="3577133"/>
                        <a:ext cx="17113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13">
            <a:extLst>
              <a:ext uri="{FF2B5EF4-FFF2-40B4-BE49-F238E27FC236}">
                <a16:creationId xmlns:a16="http://schemas.microsoft.com/office/drawing/2014/main" id="{C50C2B18-D1EF-147E-C625-9F1BAB7F7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52791"/>
              </p:ext>
            </p:extLst>
          </p:nvPr>
        </p:nvGraphicFramePr>
        <p:xfrm>
          <a:off x="1623991" y="4080370"/>
          <a:ext cx="17113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158" imgH="76132" progId="Equation.3">
                  <p:embed/>
                </p:oleObj>
              </mc:Choice>
              <mc:Fallback>
                <p:oleObj name="公式" r:id="rId8" imgW="184158" imgH="7613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991" y="4080370"/>
                        <a:ext cx="17113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2" name="Freeform 14">
            <a:extLst>
              <a:ext uri="{FF2B5EF4-FFF2-40B4-BE49-F238E27FC236}">
                <a16:creationId xmlns:a16="http://schemas.microsoft.com/office/drawing/2014/main" id="{0D321BD3-B838-7E7B-4CC5-1EA790C66A57}"/>
              </a:ext>
            </a:extLst>
          </p:cNvPr>
          <p:cNvSpPr>
            <a:spLocks/>
          </p:cNvSpPr>
          <p:nvPr/>
        </p:nvSpPr>
        <p:spPr bwMode="auto">
          <a:xfrm>
            <a:off x="4859338" y="2387302"/>
            <a:ext cx="1406525" cy="1081087"/>
          </a:xfrm>
          <a:custGeom>
            <a:avLst/>
            <a:gdLst>
              <a:gd name="T0" fmla="*/ 0 w 704"/>
              <a:gd name="T1" fmla="*/ 0 h 681"/>
              <a:gd name="T2" fmla="*/ 2147483646 w 704"/>
              <a:gd name="T3" fmla="*/ 2147483646 h 681"/>
              <a:gd name="T4" fmla="*/ 2147483646 w 704"/>
              <a:gd name="T5" fmla="*/ 2147483646 h 681"/>
              <a:gd name="T6" fmla="*/ 0 60000 65536"/>
              <a:gd name="T7" fmla="*/ 0 60000 65536"/>
              <a:gd name="T8" fmla="*/ 0 60000 65536"/>
              <a:gd name="T9" fmla="*/ 0 w 704"/>
              <a:gd name="T10" fmla="*/ 0 h 681"/>
              <a:gd name="T11" fmla="*/ 704 w 704"/>
              <a:gd name="T12" fmla="*/ 681 h 6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04" h="681">
                <a:moveTo>
                  <a:pt x="0" y="0"/>
                </a:moveTo>
                <a:cubicBezTo>
                  <a:pt x="329" y="12"/>
                  <a:pt x="658" y="24"/>
                  <a:pt x="681" y="137"/>
                </a:cubicBezTo>
                <a:cubicBezTo>
                  <a:pt x="704" y="250"/>
                  <a:pt x="420" y="465"/>
                  <a:pt x="137" y="681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3" name="Freeform 15">
            <a:extLst>
              <a:ext uri="{FF2B5EF4-FFF2-40B4-BE49-F238E27FC236}">
                <a16:creationId xmlns:a16="http://schemas.microsoft.com/office/drawing/2014/main" id="{F1ACB684-DDB0-E055-D509-5EC406967F5D}"/>
              </a:ext>
            </a:extLst>
          </p:cNvPr>
          <p:cNvSpPr>
            <a:spLocks/>
          </p:cNvSpPr>
          <p:nvPr/>
        </p:nvSpPr>
        <p:spPr bwMode="auto">
          <a:xfrm>
            <a:off x="6156325" y="2747664"/>
            <a:ext cx="815975" cy="1223963"/>
          </a:xfrm>
          <a:custGeom>
            <a:avLst/>
            <a:gdLst>
              <a:gd name="T0" fmla="*/ 0 w 514"/>
              <a:gd name="T1" fmla="*/ 0 h 771"/>
              <a:gd name="T2" fmla="*/ 2147483646 w 514"/>
              <a:gd name="T3" fmla="*/ 2147483646 h 771"/>
              <a:gd name="T4" fmla="*/ 2147483646 w 514"/>
              <a:gd name="T5" fmla="*/ 2147483646 h 771"/>
              <a:gd name="T6" fmla="*/ 0 60000 65536"/>
              <a:gd name="T7" fmla="*/ 0 60000 65536"/>
              <a:gd name="T8" fmla="*/ 0 60000 65536"/>
              <a:gd name="T9" fmla="*/ 0 w 514"/>
              <a:gd name="T10" fmla="*/ 0 h 771"/>
              <a:gd name="T11" fmla="*/ 514 w 514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4" h="771">
                <a:moveTo>
                  <a:pt x="0" y="0"/>
                </a:moveTo>
                <a:cubicBezTo>
                  <a:pt x="197" y="72"/>
                  <a:pt x="394" y="144"/>
                  <a:pt x="454" y="272"/>
                </a:cubicBezTo>
                <a:cubicBezTo>
                  <a:pt x="514" y="400"/>
                  <a:pt x="438" y="585"/>
                  <a:pt x="363" y="771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4" name="Freeform 16">
            <a:extLst>
              <a:ext uri="{FF2B5EF4-FFF2-40B4-BE49-F238E27FC236}">
                <a16:creationId xmlns:a16="http://schemas.microsoft.com/office/drawing/2014/main" id="{99F31002-0B54-0AE7-34D3-91770E81D3BC}"/>
              </a:ext>
            </a:extLst>
          </p:cNvPr>
          <p:cNvSpPr>
            <a:spLocks/>
          </p:cNvSpPr>
          <p:nvPr/>
        </p:nvSpPr>
        <p:spPr bwMode="auto">
          <a:xfrm>
            <a:off x="6011863" y="1596727"/>
            <a:ext cx="1009650" cy="863600"/>
          </a:xfrm>
          <a:custGeom>
            <a:avLst/>
            <a:gdLst>
              <a:gd name="T0" fmla="*/ 0 w 636"/>
              <a:gd name="T1" fmla="*/ 2147483646 h 544"/>
              <a:gd name="T2" fmla="*/ 2147483646 w 636"/>
              <a:gd name="T3" fmla="*/ 2147483646 h 544"/>
              <a:gd name="T4" fmla="*/ 2147483646 w 636"/>
              <a:gd name="T5" fmla="*/ 0 h 544"/>
              <a:gd name="T6" fmla="*/ 0 60000 65536"/>
              <a:gd name="T7" fmla="*/ 0 60000 65536"/>
              <a:gd name="T8" fmla="*/ 0 60000 65536"/>
              <a:gd name="T9" fmla="*/ 0 w 636"/>
              <a:gd name="T10" fmla="*/ 0 h 544"/>
              <a:gd name="T11" fmla="*/ 636 w 636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6" h="544">
                <a:moveTo>
                  <a:pt x="0" y="544"/>
                </a:moveTo>
                <a:cubicBezTo>
                  <a:pt x="227" y="498"/>
                  <a:pt x="454" y="453"/>
                  <a:pt x="545" y="362"/>
                </a:cubicBezTo>
                <a:cubicBezTo>
                  <a:pt x="636" y="271"/>
                  <a:pt x="590" y="135"/>
                  <a:pt x="545" y="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5" name="Freeform 17">
            <a:extLst>
              <a:ext uri="{FF2B5EF4-FFF2-40B4-BE49-F238E27FC236}">
                <a16:creationId xmlns:a16="http://schemas.microsoft.com/office/drawing/2014/main" id="{26A40E2C-DCE1-350B-C3F7-0C0DD23A5CF9}"/>
              </a:ext>
            </a:extLst>
          </p:cNvPr>
          <p:cNvSpPr>
            <a:spLocks/>
          </p:cNvSpPr>
          <p:nvPr/>
        </p:nvSpPr>
        <p:spPr bwMode="auto">
          <a:xfrm>
            <a:off x="6877050" y="2244427"/>
            <a:ext cx="585788" cy="935037"/>
          </a:xfrm>
          <a:custGeom>
            <a:avLst/>
            <a:gdLst>
              <a:gd name="T0" fmla="*/ 0 w 369"/>
              <a:gd name="T1" fmla="*/ 0 h 589"/>
              <a:gd name="T2" fmla="*/ 2147483646 w 369"/>
              <a:gd name="T3" fmla="*/ 2147483646 h 589"/>
              <a:gd name="T4" fmla="*/ 2147483646 w 369"/>
              <a:gd name="T5" fmla="*/ 2147483646 h 589"/>
              <a:gd name="T6" fmla="*/ 0 60000 65536"/>
              <a:gd name="T7" fmla="*/ 0 60000 65536"/>
              <a:gd name="T8" fmla="*/ 0 60000 65536"/>
              <a:gd name="T9" fmla="*/ 0 w 369"/>
              <a:gd name="T10" fmla="*/ 0 h 589"/>
              <a:gd name="T11" fmla="*/ 369 w 369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9" h="589">
                <a:moveTo>
                  <a:pt x="0" y="0"/>
                </a:moveTo>
                <a:cubicBezTo>
                  <a:pt x="177" y="64"/>
                  <a:pt x="355" y="129"/>
                  <a:pt x="362" y="227"/>
                </a:cubicBezTo>
                <a:cubicBezTo>
                  <a:pt x="369" y="325"/>
                  <a:pt x="207" y="457"/>
                  <a:pt x="45" y="589"/>
                </a:cubicBezTo>
              </a:path>
            </a:pathLst>
          </a:custGeom>
          <a:noFill/>
          <a:ln w="571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6" name="Freeform 18">
            <a:extLst>
              <a:ext uri="{FF2B5EF4-FFF2-40B4-BE49-F238E27FC236}">
                <a16:creationId xmlns:a16="http://schemas.microsoft.com/office/drawing/2014/main" id="{CA0FDADC-562C-CFF2-16E3-E795B3D9582A}"/>
              </a:ext>
            </a:extLst>
          </p:cNvPr>
          <p:cNvSpPr>
            <a:spLocks/>
          </p:cNvSpPr>
          <p:nvPr/>
        </p:nvSpPr>
        <p:spPr bwMode="auto">
          <a:xfrm>
            <a:off x="7451725" y="2315864"/>
            <a:ext cx="600075" cy="360363"/>
          </a:xfrm>
          <a:custGeom>
            <a:avLst/>
            <a:gdLst>
              <a:gd name="T0" fmla="*/ 0 w 378"/>
              <a:gd name="T1" fmla="*/ 2147483646 h 227"/>
              <a:gd name="T2" fmla="*/ 2147483646 w 378"/>
              <a:gd name="T3" fmla="*/ 2147483646 h 227"/>
              <a:gd name="T4" fmla="*/ 2147483646 w 378"/>
              <a:gd name="T5" fmla="*/ 0 h 227"/>
              <a:gd name="T6" fmla="*/ 0 60000 65536"/>
              <a:gd name="T7" fmla="*/ 0 60000 65536"/>
              <a:gd name="T8" fmla="*/ 0 60000 65536"/>
              <a:gd name="T9" fmla="*/ 0 w 378"/>
              <a:gd name="T10" fmla="*/ 0 h 227"/>
              <a:gd name="T11" fmla="*/ 378 w 378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" h="227">
                <a:moveTo>
                  <a:pt x="0" y="227"/>
                </a:moveTo>
                <a:cubicBezTo>
                  <a:pt x="129" y="200"/>
                  <a:pt x="258" y="174"/>
                  <a:pt x="318" y="136"/>
                </a:cubicBezTo>
                <a:cubicBezTo>
                  <a:pt x="378" y="98"/>
                  <a:pt x="370" y="49"/>
                  <a:pt x="363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7" name="Freeform 19">
            <a:extLst>
              <a:ext uri="{FF2B5EF4-FFF2-40B4-BE49-F238E27FC236}">
                <a16:creationId xmlns:a16="http://schemas.microsoft.com/office/drawing/2014/main" id="{A1B50FE5-BA98-113D-7F9B-0AEE34535C41}"/>
              </a:ext>
            </a:extLst>
          </p:cNvPr>
          <p:cNvSpPr>
            <a:spLocks/>
          </p:cNvSpPr>
          <p:nvPr/>
        </p:nvSpPr>
        <p:spPr bwMode="auto">
          <a:xfrm>
            <a:off x="7308850" y="2892127"/>
            <a:ext cx="863600" cy="215900"/>
          </a:xfrm>
          <a:custGeom>
            <a:avLst/>
            <a:gdLst>
              <a:gd name="T0" fmla="*/ 0 w 544"/>
              <a:gd name="T1" fmla="*/ 0 h 136"/>
              <a:gd name="T2" fmla="*/ 2147483646 w 544"/>
              <a:gd name="T3" fmla="*/ 2147483646 h 136"/>
              <a:gd name="T4" fmla="*/ 2147483646 w 544"/>
              <a:gd name="T5" fmla="*/ 2147483646 h 136"/>
              <a:gd name="T6" fmla="*/ 0 60000 65536"/>
              <a:gd name="T7" fmla="*/ 0 60000 65536"/>
              <a:gd name="T8" fmla="*/ 0 60000 65536"/>
              <a:gd name="T9" fmla="*/ 0 w 544"/>
              <a:gd name="T10" fmla="*/ 0 h 136"/>
              <a:gd name="T11" fmla="*/ 544 w 544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4" h="136">
                <a:moveTo>
                  <a:pt x="0" y="0"/>
                </a:moveTo>
                <a:cubicBezTo>
                  <a:pt x="181" y="11"/>
                  <a:pt x="362" y="22"/>
                  <a:pt x="453" y="45"/>
                </a:cubicBezTo>
                <a:cubicBezTo>
                  <a:pt x="544" y="68"/>
                  <a:pt x="544" y="102"/>
                  <a:pt x="544" y="136"/>
                </a:cubicBezTo>
              </a:path>
            </a:pathLst>
          </a:custGeom>
          <a:noFill/>
          <a:ln w="571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4878" name="Object 20">
            <a:extLst>
              <a:ext uri="{FF2B5EF4-FFF2-40B4-BE49-F238E27FC236}">
                <a16:creationId xmlns:a16="http://schemas.microsoft.com/office/drawing/2014/main" id="{8B7D3A8A-7253-866C-AEAD-2C9DF696B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369589"/>
              </p:ext>
            </p:extLst>
          </p:nvPr>
        </p:nvGraphicFramePr>
        <p:xfrm>
          <a:off x="4962525" y="2477789"/>
          <a:ext cx="4889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717" imgH="25535" progId="Equation.3">
                  <p:embed/>
                </p:oleObj>
              </mc:Choice>
              <mc:Fallback>
                <p:oleObj name="公式" r:id="rId10" imgW="12717" imgH="2553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2477789"/>
                        <a:ext cx="4889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9" name="Object 21">
            <a:extLst>
              <a:ext uri="{FF2B5EF4-FFF2-40B4-BE49-F238E27FC236}">
                <a16:creationId xmlns:a16="http://schemas.microsoft.com/office/drawing/2014/main" id="{EDA316EC-2A05-BC08-822A-1A26989EA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042409"/>
              </p:ext>
            </p:extLst>
          </p:nvPr>
        </p:nvGraphicFramePr>
        <p:xfrm>
          <a:off x="5778500" y="1739602"/>
          <a:ext cx="5238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717" imgH="25535" progId="Equation.3">
                  <p:embed/>
                </p:oleObj>
              </mc:Choice>
              <mc:Fallback>
                <p:oleObj name="公式" r:id="rId12" imgW="12717" imgH="2553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1739602"/>
                        <a:ext cx="5238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0" name="Object 22">
            <a:extLst>
              <a:ext uri="{FF2B5EF4-FFF2-40B4-BE49-F238E27FC236}">
                <a16:creationId xmlns:a16="http://schemas.microsoft.com/office/drawing/2014/main" id="{DC5569A3-C882-B101-B592-7D29D1836F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763228"/>
              </p:ext>
            </p:extLst>
          </p:nvPr>
        </p:nvGraphicFramePr>
        <p:xfrm>
          <a:off x="5922963" y="3090564"/>
          <a:ext cx="523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717" imgH="31682" progId="Equation.3">
                  <p:embed/>
                </p:oleObj>
              </mc:Choice>
              <mc:Fallback>
                <p:oleObj name="公式" r:id="rId14" imgW="12717" imgH="31682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3090564"/>
                        <a:ext cx="523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1" name="Object 23">
            <a:extLst>
              <a:ext uri="{FF2B5EF4-FFF2-40B4-BE49-F238E27FC236}">
                <a16:creationId xmlns:a16="http://schemas.microsoft.com/office/drawing/2014/main" id="{7785B582-7B1E-4DA7-1224-13175276D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814518"/>
              </p:ext>
            </p:extLst>
          </p:nvPr>
        </p:nvGraphicFramePr>
        <p:xfrm>
          <a:off x="7235825" y="2981027"/>
          <a:ext cx="5238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717" imgH="25535" progId="Equation.3">
                  <p:embed/>
                </p:oleObj>
              </mc:Choice>
              <mc:Fallback>
                <p:oleObj name="公式" r:id="rId16" imgW="12717" imgH="2553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81027"/>
                        <a:ext cx="5238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2" name="Object 24">
            <a:extLst>
              <a:ext uri="{FF2B5EF4-FFF2-40B4-BE49-F238E27FC236}">
                <a16:creationId xmlns:a16="http://schemas.microsoft.com/office/drawing/2014/main" id="{55ED5BF1-DD72-DED5-B264-034D50D9A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063954"/>
              </p:ext>
            </p:extLst>
          </p:nvPr>
        </p:nvGraphicFramePr>
        <p:xfrm>
          <a:off x="7667625" y="2442864"/>
          <a:ext cx="523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717" imgH="31682" progId="Equation.3">
                  <p:embed/>
                </p:oleObj>
              </mc:Choice>
              <mc:Fallback>
                <p:oleObj name="公式" r:id="rId18" imgW="12717" imgH="3168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442864"/>
                        <a:ext cx="523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3" name="Object 25">
            <a:extLst>
              <a:ext uri="{FF2B5EF4-FFF2-40B4-BE49-F238E27FC236}">
                <a16:creationId xmlns:a16="http://schemas.microsoft.com/office/drawing/2014/main" id="{756838B2-95F4-3A73-0624-653CDFEE5B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942649"/>
              </p:ext>
            </p:extLst>
          </p:nvPr>
        </p:nvGraphicFramePr>
        <p:xfrm>
          <a:off x="6659563" y="2226964"/>
          <a:ext cx="523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717" imgH="31682" progId="Equation.3">
                  <p:embed/>
                </p:oleObj>
              </mc:Choice>
              <mc:Fallback>
                <p:oleObj name="公式" r:id="rId20" imgW="12717" imgH="3168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226964"/>
                        <a:ext cx="523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4" name="Object 26">
            <a:extLst>
              <a:ext uri="{FF2B5EF4-FFF2-40B4-BE49-F238E27FC236}">
                <a16:creationId xmlns:a16="http://schemas.microsoft.com/office/drawing/2014/main" id="{D4D3ABF6-37A5-1766-B3C2-1BFDB9325C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706435"/>
              </p:ext>
            </p:extLst>
          </p:nvPr>
        </p:nvGraphicFramePr>
        <p:xfrm>
          <a:off x="7164388" y="1812627"/>
          <a:ext cx="523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717" imgH="31682" progId="Equation.3">
                  <p:embed/>
                </p:oleObj>
              </mc:Choice>
              <mc:Fallback>
                <p:oleObj name="公式" r:id="rId22" imgW="12717" imgH="31682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1812627"/>
                        <a:ext cx="523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5" name="灯片编号占位符 1">
            <a:extLst>
              <a:ext uri="{FF2B5EF4-FFF2-40B4-BE49-F238E27FC236}">
                <a16:creationId xmlns:a16="http://schemas.microsoft.com/office/drawing/2014/main" id="{1EFADA1D-AD6D-2A82-F37C-F94B8EBE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BB3C36-B1D2-4942-BD9A-B1835689CBA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2318C1B-C482-42BA-D43F-C6A05DFB8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940373"/>
              </p:ext>
            </p:extLst>
          </p:nvPr>
        </p:nvGraphicFramePr>
        <p:xfrm>
          <a:off x="7362825" y="3642382"/>
          <a:ext cx="523875" cy="56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280" imgH="164880" progId="Equation.DSMT4">
                  <p:embed/>
                </p:oleObj>
              </mc:Choice>
              <mc:Fallback>
                <p:oleObj name="Equation" r:id="rId24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362825" y="3642382"/>
                        <a:ext cx="523875" cy="567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B9DB0C66-6E9E-14BD-E5ED-B0C59103E98A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1-53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的所有不同的划分分别为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65891" name="Object 3">
            <a:extLst>
              <a:ext uri="{FF2B5EF4-FFF2-40B4-BE49-F238E27FC236}">
                <a16:creationId xmlns:a16="http://schemas.microsoft.com/office/drawing/2014/main" id="{D6D59B52-ACB5-6986-053A-570AB9B36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628775"/>
          <a:ext cx="6480175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784" imgH="209482" progId="Equation.3">
                  <p:embed/>
                </p:oleObj>
              </mc:Choice>
              <mc:Fallback>
                <p:oleObj name="Equation" r:id="rId2" imgW="774784" imgH="2094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628775"/>
                        <a:ext cx="6480175" cy="20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Oval 4">
            <a:extLst>
              <a:ext uri="{FF2B5EF4-FFF2-40B4-BE49-F238E27FC236}">
                <a16:creationId xmlns:a16="http://schemas.microsoft.com/office/drawing/2014/main" id="{33EBFA05-5E06-8FB6-26D7-5BE79AE2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149725"/>
            <a:ext cx="2663825" cy="1439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5893" name="Oval 5">
            <a:extLst>
              <a:ext uri="{FF2B5EF4-FFF2-40B4-BE49-F238E27FC236}">
                <a16:creationId xmlns:a16="http://schemas.microsoft.com/office/drawing/2014/main" id="{5F567C09-ADAE-A8DC-315D-9ED05E658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508500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5894" name="Oval 6">
            <a:extLst>
              <a:ext uri="{FF2B5EF4-FFF2-40B4-BE49-F238E27FC236}">
                <a16:creationId xmlns:a16="http://schemas.microsoft.com/office/drawing/2014/main" id="{CB3D4AD1-EDE2-865F-2563-CC1DC102F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581525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5895" name="Oval 7">
            <a:extLst>
              <a:ext uri="{FF2B5EF4-FFF2-40B4-BE49-F238E27FC236}">
                <a16:creationId xmlns:a16="http://schemas.microsoft.com/office/drawing/2014/main" id="{6B620CFE-D231-CC16-0425-B3ED51A9B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01332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896" name="Object 8">
                <a:extLst>
                  <a:ext uri="{FF2B5EF4-FFF2-40B4-BE49-F238E27FC236}">
                    <a16:creationId xmlns:a16="http://schemas.microsoft.com/office/drawing/2014/main" id="{94EDD1BA-2B1F-58A9-1F6E-73E042337836}"/>
                  </a:ext>
                </a:extLst>
              </p:cNvPr>
              <p:cNvSpPr txBox="1"/>
              <p:nvPr/>
            </p:nvSpPr>
            <p:spPr bwMode="auto">
              <a:xfrm>
                <a:off x="4049160" y="4371152"/>
                <a:ext cx="349250" cy="384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5896" name="Object 8">
                <a:extLst>
                  <a:ext uri="{FF2B5EF4-FFF2-40B4-BE49-F238E27FC236}">
                    <a16:creationId xmlns:a16="http://schemas.microsoft.com/office/drawing/2014/main" id="{94EDD1BA-2B1F-58A9-1F6E-73E042337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9160" y="4371152"/>
                <a:ext cx="349250" cy="384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7" name="Object 9">
                <a:extLst>
                  <a:ext uri="{FF2B5EF4-FFF2-40B4-BE49-F238E27FC236}">
                    <a16:creationId xmlns:a16="http://schemas.microsoft.com/office/drawing/2014/main" id="{F8A614B0-00EB-1316-DAA7-45586A588B11}"/>
                  </a:ext>
                </a:extLst>
              </p:cNvPr>
              <p:cNvSpPr txBox="1"/>
              <p:nvPr/>
            </p:nvSpPr>
            <p:spPr bwMode="auto">
              <a:xfrm>
                <a:off x="5193725" y="4380706"/>
                <a:ext cx="349250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5897" name="Object 9">
                <a:extLst>
                  <a:ext uri="{FF2B5EF4-FFF2-40B4-BE49-F238E27FC236}">
                    <a16:creationId xmlns:a16="http://schemas.microsoft.com/office/drawing/2014/main" id="{F8A614B0-00EB-1316-DAA7-45586A588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3725" y="4380706"/>
                <a:ext cx="349250" cy="488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8" name="Object 10">
                <a:extLst>
                  <a:ext uri="{FF2B5EF4-FFF2-40B4-BE49-F238E27FC236}">
                    <a16:creationId xmlns:a16="http://schemas.microsoft.com/office/drawing/2014/main" id="{61D79A05-D4D6-D3C0-D4BD-E73A7ACF5931}"/>
                  </a:ext>
                </a:extLst>
              </p:cNvPr>
              <p:cNvSpPr txBox="1"/>
              <p:nvPr/>
            </p:nvSpPr>
            <p:spPr bwMode="auto">
              <a:xfrm>
                <a:off x="4643438" y="5037137"/>
                <a:ext cx="314325" cy="384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5898" name="Object 10">
                <a:extLst>
                  <a:ext uri="{FF2B5EF4-FFF2-40B4-BE49-F238E27FC236}">
                    <a16:creationId xmlns:a16="http://schemas.microsoft.com/office/drawing/2014/main" id="{61D79A05-D4D6-D3C0-D4BD-E73A7ACF5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438" y="5037137"/>
                <a:ext cx="314325" cy="3841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899" name="灯片编号占位符 1">
            <a:extLst>
              <a:ext uri="{FF2B5EF4-FFF2-40B4-BE49-F238E27FC236}">
                <a16:creationId xmlns:a16="http://schemas.microsoft.com/office/drawing/2014/main" id="{4A7CECFB-DAFC-3FCA-4272-C19E51C1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19DF89-914F-4641-9112-BD5A8956B35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065699CB-CA7D-90AC-D124-995B47863966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764704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highlight>
                  <a:srgbClr val="C0C0C0"/>
                </a:highlight>
                <a:latin typeface="Times New Roman" panose="02020603050405020304" pitchFamily="18" charset="0"/>
              </a:rPr>
              <a:t>|</a:t>
            </a:r>
            <a:r>
              <a:rPr lang="en-US" altLang="zh-CN" b="1" i="1" dirty="0">
                <a:highlight>
                  <a:srgbClr val="C0C0C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highlight>
                  <a:srgbClr val="C0C0C0"/>
                </a:highlight>
                <a:latin typeface="Times New Roman" panose="02020603050405020304" pitchFamily="18" charset="0"/>
              </a:rPr>
              <a:t>| = </a:t>
            </a:r>
            <a:r>
              <a:rPr lang="en-US" altLang="zh-CN" b="1" i="1" dirty="0">
                <a:highlight>
                  <a:srgbClr val="C0C0C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highlight>
                  <a:srgbClr val="C0C0C0"/>
                </a:highlight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highlight>
                  <a:srgbClr val="C0C0C0"/>
                </a:highlight>
                <a:latin typeface="Times New Roman" panose="02020603050405020304" pitchFamily="18" charset="0"/>
              </a:rPr>
              <a:t>的不同划分的个数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highlight>
                  <a:srgbClr val="FFFF00"/>
                </a:highlight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</a:p>
          <a:p>
            <a:pPr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个元素划分成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</a:rPr>
              <a:t>个块的方案数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Theorem 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&gt; 1.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Proof(?)</a:t>
            </a:r>
          </a:p>
        </p:txBody>
      </p:sp>
      <p:graphicFrame>
        <p:nvGraphicFramePr>
          <p:cNvPr id="167939" name="Object 3">
            <a:extLst>
              <a:ext uri="{FF2B5EF4-FFF2-40B4-BE49-F238E27FC236}">
                <a16:creationId xmlns:a16="http://schemas.microsoft.com/office/drawing/2014/main" id="{FB580CD3-AEEB-B27B-FF83-81115BF82C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1917229"/>
          <a:ext cx="38068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70051" imgH="114435" progId="Equation.3">
                  <p:embed/>
                </p:oleObj>
              </mc:Choice>
              <mc:Fallback>
                <p:oleObj name="公式" r:id="rId3" imgW="470051" imgH="114435" progId="Equation.3">
                  <p:embed/>
                  <p:pic>
                    <p:nvPicPr>
                      <p:cNvPr id="167939" name="Object 3">
                        <a:extLst>
                          <a:ext uri="{FF2B5EF4-FFF2-40B4-BE49-F238E27FC236}">
                            <a16:creationId xmlns:a16="http://schemas.microsoft.com/office/drawing/2014/main" id="{FB580CD3-AEEB-B27B-FF83-81115BF82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917229"/>
                        <a:ext cx="3806825" cy="11874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C0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0" name="Object 4">
            <a:extLst>
              <a:ext uri="{FF2B5EF4-FFF2-40B4-BE49-F238E27FC236}">
                <a16:creationId xmlns:a16="http://schemas.microsoft.com/office/drawing/2014/main" id="{18497E14-0188-52BD-29E4-E991A10CD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077817"/>
          <a:ext cx="60769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501" imgH="18915" progId="Equation.3">
                  <p:embed/>
                </p:oleObj>
              </mc:Choice>
              <mc:Fallback>
                <p:oleObj name="Equation" r:id="rId5" imgW="787501" imgH="18915" progId="Equation.3">
                  <p:embed/>
                  <p:pic>
                    <p:nvPicPr>
                      <p:cNvPr id="167940" name="Object 4">
                        <a:extLst>
                          <a:ext uri="{FF2B5EF4-FFF2-40B4-BE49-F238E27FC236}">
                            <a16:creationId xmlns:a16="http://schemas.microsoft.com/office/drawing/2014/main" id="{18497E14-0188-52BD-29E4-E991A10CD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077817"/>
                        <a:ext cx="60769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1" name="灯片编号占位符 1">
            <a:extLst>
              <a:ext uri="{FF2B5EF4-FFF2-40B4-BE49-F238E27FC236}">
                <a16:creationId xmlns:a16="http://schemas.microsoft.com/office/drawing/2014/main" id="{A664F650-6B9F-B80E-BC26-5C066708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FBD8C0-B84D-4D0A-82E8-75C09AE65FE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4" name="Rectangle 2">
            <a:extLst>
              <a:ext uri="{FF2B5EF4-FFF2-40B4-BE49-F238E27FC236}">
                <a16:creationId xmlns:a16="http://schemas.microsoft.com/office/drawing/2014/main" id="{E0BC4DB2-9823-3AC3-5B5B-D01D79AFE708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54000"/>
            <a:ext cx="8229600" cy="5867400"/>
          </a:xfrm>
        </p:spPr>
      </p:pic>
      <p:graphicFrame>
        <p:nvGraphicFramePr>
          <p:cNvPr id="166915" name="Object 3">
            <a:extLst>
              <a:ext uri="{FF2B5EF4-FFF2-40B4-BE49-F238E27FC236}">
                <a16:creationId xmlns:a16="http://schemas.microsoft.com/office/drawing/2014/main" id="{4BB2DD05-00E8-7248-5BD4-173ED621D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981075"/>
          <a:ext cx="55530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200" imgH="38303" progId="Equation.3">
                  <p:embed/>
                </p:oleObj>
              </mc:Choice>
              <mc:Fallback>
                <p:oleObj name="Equation" r:id="rId3" imgW="711200" imgH="383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981075"/>
                        <a:ext cx="555307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6" name="Object 4">
            <a:extLst>
              <a:ext uri="{FF2B5EF4-FFF2-40B4-BE49-F238E27FC236}">
                <a16:creationId xmlns:a16="http://schemas.microsoft.com/office/drawing/2014/main" id="{98397EDB-7A6C-BBAE-D7C2-F84E917F0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700213"/>
          <a:ext cx="64262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1774" imgH="38303" progId="Equation.3">
                  <p:embed/>
                </p:oleObj>
              </mc:Choice>
              <mc:Fallback>
                <p:oleObj name="Equation" r:id="rId5" imgW="831774" imgH="383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00213"/>
                        <a:ext cx="64262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7" name="Object 5">
            <a:extLst>
              <a:ext uri="{FF2B5EF4-FFF2-40B4-BE49-F238E27FC236}">
                <a16:creationId xmlns:a16="http://schemas.microsoft.com/office/drawing/2014/main" id="{977E374A-520E-AFA6-0228-9899B627C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437063"/>
          <a:ext cx="55530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200" imgH="38303" progId="Equation.3">
                  <p:embed/>
                </p:oleObj>
              </mc:Choice>
              <mc:Fallback>
                <p:oleObj name="Equation" r:id="rId3" imgW="711200" imgH="3830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437063"/>
                        <a:ext cx="555307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8" name="Object 6">
            <a:extLst>
              <a:ext uri="{FF2B5EF4-FFF2-40B4-BE49-F238E27FC236}">
                <a16:creationId xmlns:a16="http://schemas.microsoft.com/office/drawing/2014/main" id="{6732656B-4A36-878C-87CD-671C3218D2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068888"/>
          <a:ext cx="32131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750" imgH="38303" progId="Equation.3">
                  <p:embed/>
                </p:oleObj>
              </mc:Choice>
              <mc:Fallback>
                <p:oleObj name="Equation" r:id="rId8" imgW="393750" imgH="3830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068888"/>
                        <a:ext cx="32131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9" name="灯片编号占位符 1">
            <a:extLst>
              <a:ext uri="{FF2B5EF4-FFF2-40B4-BE49-F238E27FC236}">
                <a16:creationId xmlns:a16="http://schemas.microsoft.com/office/drawing/2014/main" id="{1876FA8B-1B45-6C58-C8F6-6A756EE2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FD7FDD-38FF-4806-800A-442D2D4203A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11F6291F-2842-A3BE-101A-57ACE4E57D9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230832" y="587523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集合的覆盖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Def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是集合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的若干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非空子集</a:t>
            </a:r>
            <a:r>
              <a:rPr lang="zh-CN" altLang="en-US" b="1" dirty="0">
                <a:latin typeface="Times New Roman" panose="02020603050405020304" pitchFamily="18" charset="0"/>
              </a:rPr>
              <a:t>构成的集合称为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覆盖</a:t>
            </a:r>
            <a:r>
              <a:rPr lang="en-US" altLang="zh-CN" b="1" dirty="0">
                <a:latin typeface="Times New Roman" panose="02020603050405020304" pitchFamily="18" charset="0"/>
              </a:rPr>
              <a:t>(covering), </a:t>
            </a:r>
            <a:r>
              <a:rPr lang="zh-CN" altLang="en-US" b="1" dirty="0">
                <a:latin typeface="Times New Roman" panose="02020603050405020304" pitchFamily="18" charset="0"/>
              </a:rPr>
              <a:t>如果这些非空子集的并等于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{{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{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}}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集合的划分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集合的覆盖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但反过来不成立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68963" name="Oval 3">
            <a:extLst>
              <a:ext uri="{FF2B5EF4-FFF2-40B4-BE49-F238E27FC236}">
                <a16:creationId xmlns:a16="http://schemas.microsoft.com/office/drawing/2014/main" id="{4B9D244A-BB3F-1BFB-F2CF-3CBB2813F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429000"/>
            <a:ext cx="2663825" cy="1439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8964" name="Oval 4">
            <a:extLst>
              <a:ext uri="{FF2B5EF4-FFF2-40B4-BE49-F238E27FC236}">
                <a16:creationId xmlns:a16="http://schemas.microsoft.com/office/drawing/2014/main" id="{6C7D6418-D9C8-543C-DC2A-00C88BE7C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78936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8965" name="Oval 5">
            <a:extLst>
              <a:ext uri="{FF2B5EF4-FFF2-40B4-BE49-F238E27FC236}">
                <a16:creationId xmlns:a16="http://schemas.microsoft.com/office/drawing/2014/main" id="{1049645B-39DE-7649-2343-F777C3CB4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43706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8966" name="Oval 6">
            <a:extLst>
              <a:ext uri="{FF2B5EF4-FFF2-40B4-BE49-F238E27FC236}">
                <a16:creationId xmlns:a16="http://schemas.microsoft.com/office/drawing/2014/main" id="{D93E138C-E9E7-68D0-68ED-9FE0A3B1D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8608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967" name="Object 7">
                <a:extLst>
                  <a:ext uri="{FF2B5EF4-FFF2-40B4-BE49-F238E27FC236}">
                    <a16:creationId xmlns:a16="http://schemas.microsoft.com/office/drawing/2014/main" id="{5D8F24BB-AA14-14A9-033A-AF306FDE2FDD}"/>
                  </a:ext>
                </a:extLst>
              </p:cNvPr>
              <p:cNvSpPr txBox="1"/>
              <p:nvPr/>
            </p:nvSpPr>
            <p:spPr bwMode="auto">
              <a:xfrm>
                <a:off x="5076825" y="3573463"/>
                <a:ext cx="349250" cy="384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8967" name="Object 7">
                <a:extLst>
                  <a:ext uri="{FF2B5EF4-FFF2-40B4-BE49-F238E27FC236}">
                    <a16:creationId xmlns:a16="http://schemas.microsoft.com/office/drawing/2014/main" id="{5D8F24BB-AA14-14A9-033A-AF306FDE2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825" y="3573463"/>
                <a:ext cx="349250" cy="384175"/>
              </a:xfrm>
              <a:prstGeom prst="rect">
                <a:avLst/>
              </a:prstGeom>
              <a:blipFill>
                <a:blip r:embed="rId2"/>
                <a:stretch>
                  <a:fillRect b="-95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968" name="Object 8">
                <a:extLst>
                  <a:ext uri="{FF2B5EF4-FFF2-40B4-BE49-F238E27FC236}">
                    <a16:creationId xmlns:a16="http://schemas.microsoft.com/office/drawing/2014/main" id="{AEE131EF-A75C-4BAD-15AB-447043416906}"/>
                  </a:ext>
                </a:extLst>
              </p:cNvPr>
              <p:cNvSpPr txBox="1"/>
              <p:nvPr/>
            </p:nvSpPr>
            <p:spPr bwMode="auto">
              <a:xfrm>
                <a:off x="5409573" y="4224950"/>
                <a:ext cx="349250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8968" name="Object 8">
                <a:extLst>
                  <a:ext uri="{FF2B5EF4-FFF2-40B4-BE49-F238E27FC236}">
                    <a16:creationId xmlns:a16="http://schemas.microsoft.com/office/drawing/2014/main" id="{AEE131EF-A75C-4BAD-15AB-447043416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9573" y="4224950"/>
                <a:ext cx="349250" cy="488950"/>
              </a:xfrm>
              <a:prstGeom prst="rect">
                <a:avLst/>
              </a:prstGeom>
              <a:blipFill>
                <a:blip r:embed="rId3"/>
                <a:stretch>
                  <a:fillRect l="-5172" r="-34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969" name="Object 9">
                <a:extLst>
                  <a:ext uri="{FF2B5EF4-FFF2-40B4-BE49-F238E27FC236}">
                    <a16:creationId xmlns:a16="http://schemas.microsoft.com/office/drawing/2014/main" id="{4E7D3BA1-D178-13E5-31DD-46F9A6C58932}"/>
                  </a:ext>
                </a:extLst>
              </p:cNvPr>
              <p:cNvSpPr txBox="1"/>
              <p:nvPr/>
            </p:nvSpPr>
            <p:spPr bwMode="auto">
              <a:xfrm>
                <a:off x="6297380" y="3743478"/>
                <a:ext cx="314325" cy="384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8969" name="Object 9">
                <a:extLst>
                  <a:ext uri="{FF2B5EF4-FFF2-40B4-BE49-F238E27FC236}">
                    <a16:creationId xmlns:a16="http://schemas.microsoft.com/office/drawing/2014/main" id="{4E7D3BA1-D178-13E5-31DD-46F9A6C58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7380" y="3743478"/>
                <a:ext cx="314325" cy="384175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970" name="灯片编号占位符 1">
            <a:extLst>
              <a:ext uri="{FF2B5EF4-FFF2-40B4-BE49-F238E27FC236}">
                <a16:creationId xmlns:a16="http://schemas.microsoft.com/office/drawing/2014/main" id="{500FFBD7-5058-D261-23E9-53ABF3B1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D5681F-17EA-4D33-9473-BF060A7A63C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AutoShape 2">
            <a:extLst>
              <a:ext uri="{FF2B5EF4-FFF2-40B4-BE49-F238E27FC236}">
                <a16:creationId xmlns:a16="http://schemas.microsoft.com/office/drawing/2014/main" id="{3A5D5307-279F-4275-455F-1719CFFBD6AC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C52A1B87-A381-79F7-EBF3-CEC65F70A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/>
              <a:t>小结与作业</a:t>
            </a:r>
          </a:p>
        </p:txBody>
      </p:sp>
      <p:grpSp>
        <p:nvGrpSpPr>
          <p:cNvPr id="169988" name="Group 4">
            <a:extLst>
              <a:ext uri="{FF2B5EF4-FFF2-40B4-BE49-F238E27FC236}">
                <a16:creationId xmlns:a16="http://schemas.microsoft.com/office/drawing/2014/main" id="{7F3ABF2B-79B5-7066-A7FC-8DE46D120627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7338"/>
            <a:ext cx="5181600" cy="508000"/>
            <a:chOff x="1419" y="1480"/>
            <a:chExt cx="3575" cy="363"/>
          </a:xfrm>
        </p:grpSpPr>
        <p:grpSp>
          <p:nvGrpSpPr>
            <p:cNvPr id="170024" name="Group 5">
              <a:extLst>
                <a:ext uri="{FF2B5EF4-FFF2-40B4-BE49-F238E27FC236}">
                  <a16:creationId xmlns:a16="http://schemas.microsoft.com/office/drawing/2014/main" id="{1CC54631-6C6E-D186-64D3-A0A647F0C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38" name="Oval 6">
                <a:extLst>
                  <a:ext uri="{FF2B5EF4-FFF2-40B4-BE49-F238E27FC236}">
                    <a16:creationId xmlns:a16="http://schemas.microsoft.com/office/drawing/2014/main" id="{949F5CE0-CDCE-7324-D5B6-4D210D5A29C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39" name="AutoShape 7">
                <a:extLst>
                  <a:ext uri="{FF2B5EF4-FFF2-40B4-BE49-F238E27FC236}">
                    <a16:creationId xmlns:a16="http://schemas.microsoft.com/office/drawing/2014/main" id="{35CE2FEB-2E72-390E-6B7D-D23F6D2EABF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>
                    <a:solidFill>
                      <a:schemeClr val="tx2"/>
                    </a:solidFill>
                  </a:rPr>
                  <a:t>集合的并、交、补运算及其性质</a:t>
                </a:r>
              </a:p>
            </p:txBody>
          </p:sp>
        </p:grpSp>
        <p:sp>
          <p:nvSpPr>
            <p:cNvPr id="223240" name="Oval 8">
              <a:extLst>
                <a:ext uri="{FF2B5EF4-FFF2-40B4-BE49-F238E27FC236}">
                  <a16:creationId xmlns:a16="http://schemas.microsoft.com/office/drawing/2014/main" id="{D623E761-BE31-33D0-3E06-F8966A82C5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0026" name="Oval 9">
              <a:extLst>
                <a:ext uri="{FF2B5EF4-FFF2-40B4-BE49-F238E27FC236}">
                  <a16:creationId xmlns:a16="http://schemas.microsoft.com/office/drawing/2014/main" id="{0A521DAB-EB9D-B10E-DE26-4098BA26CBE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9989" name="Group 10">
            <a:extLst>
              <a:ext uri="{FF2B5EF4-FFF2-40B4-BE49-F238E27FC236}">
                <a16:creationId xmlns:a16="http://schemas.microsoft.com/office/drawing/2014/main" id="{21A87FD5-61BF-845E-CEB8-36EBC1AA01EA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2349500"/>
            <a:ext cx="5181600" cy="508000"/>
            <a:chOff x="1419" y="1480"/>
            <a:chExt cx="3575" cy="363"/>
          </a:xfrm>
        </p:grpSpPr>
        <p:grpSp>
          <p:nvGrpSpPr>
            <p:cNvPr id="170019" name="Group 11">
              <a:extLst>
                <a:ext uri="{FF2B5EF4-FFF2-40B4-BE49-F238E27FC236}">
                  <a16:creationId xmlns:a16="http://schemas.microsoft.com/office/drawing/2014/main" id="{B65F56B2-FEF9-5F2D-9181-DC950FF42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44" name="Oval 12">
                <a:extLst>
                  <a:ext uri="{FF2B5EF4-FFF2-40B4-BE49-F238E27FC236}">
                    <a16:creationId xmlns:a16="http://schemas.microsoft.com/office/drawing/2014/main" id="{C42C5287-8B75-66F5-650F-35FC2518F39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45" name="AutoShape 13">
                <a:extLst>
                  <a:ext uri="{FF2B5EF4-FFF2-40B4-BE49-F238E27FC236}">
                    <a16:creationId xmlns:a16="http://schemas.microsoft.com/office/drawing/2014/main" id="{D367182B-F16A-593F-D887-A4AD9920F25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>
                    <a:solidFill>
                      <a:schemeClr val="tx2"/>
                    </a:solidFill>
                  </a:rPr>
                  <a:t>集合的差和对称差运算及结论</a:t>
                </a:r>
              </a:p>
            </p:txBody>
          </p:sp>
        </p:grpSp>
        <p:sp>
          <p:nvSpPr>
            <p:cNvPr id="223246" name="Oval 14">
              <a:extLst>
                <a:ext uri="{FF2B5EF4-FFF2-40B4-BE49-F238E27FC236}">
                  <a16:creationId xmlns:a16="http://schemas.microsoft.com/office/drawing/2014/main" id="{36271EEC-B081-F611-A5C4-368084AD12F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0021" name="Oval 15">
              <a:extLst>
                <a:ext uri="{FF2B5EF4-FFF2-40B4-BE49-F238E27FC236}">
                  <a16:creationId xmlns:a16="http://schemas.microsoft.com/office/drawing/2014/main" id="{30988DD3-2145-8F36-A476-F2DD3A52EE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9990" name="Group 16">
            <a:extLst>
              <a:ext uri="{FF2B5EF4-FFF2-40B4-BE49-F238E27FC236}">
                <a16:creationId xmlns:a16="http://schemas.microsoft.com/office/drawing/2014/main" id="{28FE93FC-905F-E6F9-217E-3A440DE9E0B3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141663"/>
            <a:ext cx="5181600" cy="508000"/>
            <a:chOff x="1419" y="1480"/>
            <a:chExt cx="3575" cy="363"/>
          </a:xfrm>
        </p:grpSpPr>
        <p:grpSp>
          <p:nvGrpSpPr>
            <p:cNvPr id="170014" name="Group 17">
              <a:extLst>
                <a:ext uri="{FF2B5EF4-FFF2-40B4-BE49-F238E27FC236}">
                  <a16:creationId xmlns:a16="http://schemas.microsoft.com/office/drawing/2014/main" id="{B46BCCDA-FD75-CCA0-E3B7-F6718DC8E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50" name="Oval 18">
                <a:extLst>
                  <a:ext uri="{FF2B5EF4-FFF2-40B4-BE49-F238E27FC236}">
                    <a16:creationId xmlns:a16="http://schemas.microsoft.com/office/drawing/2014/main" id="{AF5C656D-A2FE-BC4D-B297-439668E99B0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51" name="AutoShape 19">
                <a:extLst>
                  <a:ext uri="{FF2B5EF4-FFF2-40B4-BE49-F238E27FC236}">
                    <a16:creationId xmlns:a16="http://schemas.microsoft.com/office/drawing/2014/main" id="{9B1AEC17-7672-C4E1-3433-BE2ABA58DC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/>
                  <a:t>数学归纳法</a:t>
                </a:r>
              </a:p>
            </p:txBody>
          </p:sp>
        </p:grpSp>
        <p:sp>
          <p:nvSpPr>
            <p:cNvPr id="223252" name="Oval 20">
              <a:extLst>
                <a:ext uri="{FF2B5EF4-FFF2-40B4-BE49-F238E27FC236}">
                  <a16:creationId xmlns:a16="http://schemas.microsoft.com/office/drawing/2014/main" id="{A51B9027-05AD-0C24-3DFA-AC8FE3FA395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0016" name="Oval 21">
              <a:extLst>
                <a:ext uri="{FF2B5EF4-FFF2-40B4-BE49-F238E27FC236}">
                  <a16:creationId xmlns:a16="http://schemas.microsoft.com/office/drawing/2014/main" id="{9732D388-4F0A-1C5D-BE4F-1E084E7B21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9991" name="Group 22">
            <a:extLst>
              <a:ext uri="{FF2B5EF4-FFF2-40B4-BE49-F238E27FC236}">
                <a16:creationId xmlns:a16="http://schemas.microsoft.com/office/drawing/2014/main" id="{D0C53196-565A-20F8-79A3-A85EFDC69390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4005263"/>
            <a:ext cx="5181600" cy="508000"/>
            <a:chOff x="1419" y="1480"/>
            <a:chExt cx="3575" cy="363"/>
          </a:xfrm>
        </p:grpSpPr>
        <p:grpSp>
          <p:nvGrpSpPr>
            <p:cNvPr id="170009" name="Group 23">
              <a:extLst>
                <a:ext uri="{FF2B5EF4-FFF2-40B4-BE49-F238E27FC236}">
                  <a16:creationId xmlns:a16="http://schemas.microsoft.com/office/drawing/2014/main" id="{9466A9C9-BB0D-B6D2-F713-42F4D20F82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56" name="Oval 24">
                <a:extLst>
                  <a:ext uri="{FF2B5EF4-FFF2-40B4-BE49-F238E27FC236}">
                    <a16:creationId xmlns:a16="http://schemas.microsoft.com/office/drawing/2014/main" id="{1AE463E0-B24C-F4CA-3CB8-D64984FD9A0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57" name="AutoShape 25">
                <a:extLst>
                  <a:ext uri="{FF2B5EF4-FFF2-40B4-BE49-F238E27FC236}">
                    <a16:creationId xmlns:a16="http://schemas.microsoft.com/office/drawing/2014/main" id="{1200DE8D-F0F8-7C80-B68B-395CE46EED7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3200" b="1">
                    <a:latin typeface="Arial" charset="0"/>
                  </a:rPr>
                  <a:t>容斥原理</a:t>
                </a:r>
              </a:p>
            </p:txBody>
          </p:sp>
        </p:grpSp>
        <p:sp>
          <p:nvSpPr>
            <p:cNvPr id="223258" name="Oval 26">
              <a:extLst>
                <a:ext uri="{FF2B5EF4-FFF2-40B4-BE49-F238E27FC236}">
                  <a16:creationId xmlns:a16="http://schemas.microsoft.com/office/drawing/2014/main" id="{1D7FD0BE-A3DC-3D8D-5B55-8A05302BD4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0011" name="Oval 27">
              <a:extLst>
                <a:ext uri="{FF2B5EF4-FFF2-40B4-BE49-F238E27FC236}">
                  <a16:creationId xmlns:a16="http://schemas.microsoft.com/office/drawing/2014/main" id="{60EFF9B1-AB6E-62C1-A332-45D41A71DC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9992" name="AutoShape 28">
            <a:extLst>
              <a:ext uri="{FF2B5EF4-FFF2-40B4-BE49-F238E27FC236}">
                <a16:creationId xmlns:a16="http://schemas.microsoft.com/office/drawing/2014/main" id="{636661B4-331C-AAC4-6C3A-4467193FEB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grpSp>
        <p:nvGrpSpPr>
          <p:cNvPr id="169995" name="Group 38">
            <a:extLst>
              <a:ext uri="{FF2B5EF4-FFF2-40B4-BE49-F238E27FC236}">
                <a16:creationId xmlns:a16="http://schemas.microsoft.com/office/drawing/2014/main" id="{53FA57D8-3CCD-0C6D-E9FF-A38BB8080488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4797425"/>
            <a:ext cx="5181600" cy="508000"/>
            <a:chOff x="1419" y="1480"/>
            <a:chExt cx="3575" cy="363"/>
          </a:xfrm>
        </p:grpSpPr>
        <p:grpSp>
          <p:nvGrpSpPr>
            <p:cNvPr id="169997" name="Group 39">
              <a:extLst>
                <a:ext uri="{FF2B5EF4-FFF2-40B4-BE49-F238E27FC236}">
                  <a16:creationId xmlns:a16="http://schemas.microsoft.com/office/drawing/2014/main" id="{BD3C7F02-4DC7-ECEF-B31A-24F1874ED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72" name="Oval 40">
                <a:extLst>
                  <a:ext uri="{FF2B5EF4-FFF2-40B4-BE49-F238E27FC236}">
                    <a16:creationId xmlns:a16="http://schemas.microsoft.com/office/drawing/2014/main" id="{4AF81EDC-01A3-1EFE-A93D-9DEA9109034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23273" name="AutoShape 41">
                <a:extLst>
                  <a:ext uri="{FF2B5EF4-FFF2-40B4-BE49-F238E27FC236}">
                    <a16:creationId xmlns:a16="http://schemas.microsoft.com/office/drawing/2014/main" id="{2FF4BCAD-13FE-6A16-6DC5-2013C1402DE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b="1"/>
                  <a:t>集合的划分与覆盖</a:t>
                </a:r>
              </a:p>
            </p:txBody>
          </p:sp>
        </p:grpSp>
        <p:sp>
          <p:nvSpPr>
            <p:cNvPr id="223274" name="Oval 42">
              <a:extLst>
                <a:ext uri="{FF2B5EF4-FFF2-40B4-BE49-F238E27FC236}">
                  <a16:creationId xmlns:a16="http://schemas.microsoft.com/office/drawing/2014/main" id="{A6D2706A-53C6-8C80-3DD2-5C4932E1BE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9999" name="Oval 43">
              <a:extLst>
                <a:ext uri="{FF2B5EF4-FFF2-40B4-BE49-F238E27FC236}">
                  <a16:creationId xmlns:a16="http://schemas.microsoft.com/office/drawing/2014/main" id="{1CC5D3F4-7B6F-396B-71C7-B905EBB24D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9996" name="灯片编号占位符 1">
            <a:extLst>
              <a:ext uri="{FF2B5EF4-FFF2-40B4-BE49-F238E27FC236}">
                <a16:creationId xmlns:a16="http://schemas.microsoft.com/office/drawing/2014/main" id="{4D456352-DD61-ED9B-36F3-081DA96D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B31D45-6A70-4935-8F3F-91F3B271281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759CA258-07DD-15C0-C735-A9B9A9732E8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5518152"/>
            <a:ext cx="6651886" cy="1077913"/>
            <a:chOff x="1152" y="2832"/>
            <a:chExt cx="4213" cy="679"/>
          </a:xfrm>
        </p:grpSpPr>
        <p:grpSp>
          <p:nvGrpSpPr>
            <p:cNvPr id="3" name="Group 31">
              <a:extLst>
                <a:ext uri="{FF2B5EF4-FFF2-40B4-BE49-F238E27FC236}">
                  <a16:creationId xmlns:a16="http://schemas.microsoft.com/office/drawing/2014/main" id="{CA96CC5A-0544-31E5-495A-F71E02FFE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7" name="AutoShape 32">
                <a:extLst>
                  <a:ext uri="{FF2B5EF4-FFF2-40B4-BE49-F238E27FC236}">
                    <a16:creationId xmlns:a16="http://schemas.microsoft.com/office/drawing/2014/main" id="{D1F11482-94B1-A325-0D6B-10C5C6E6510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" name="AutoShape 33">
                <a:extLst>
                  <a:ext uri="{FF2B5EF4-FFF2-40B4-BE49-F238E27FC236}">
                    <a16:creationId xmlns:a16="http://schemas.microsoft.com/office/drawing/2014/main" id="{F273C711-B090-7D48-CAF5-D01A2AF42A8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9" name="AutoShape 34">
                <a:extLst>
                  <a:ext uri="{FF2B5EF4-FFF2-40B4-BE49-F238E27FC236}">
                    <a16:creationId xmlns:a16="http://schemas.microsoft.com/office/drawing/2014/main" id="{3302AAB0-35BC-D86D-D0C4-CA09DBF1DE1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4" name="Line 35">
              <a:extLst>
                <a:ext uri="{FF2B5EF4-FFF2-40B4-BE49-F238E27FC236}">
                  <a16:creationId xmlns:a16="http://schemas.microsoft.com/office/drawing/2014/main" id="{754E8B50-1219-60AE-7F43-3DBCFA9B8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36">
              <a:extLst>
                <a:ext uri="{FF2B5EF4-FFF2-40B4-BE49-F238E27FC236}">
                  <a16:creationId xmlns:a16="http://schemas.microsoft.com/office/drawing/2014/main" id="{9B694518-D32F-A639-1B6B-3911C2854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2832"/>
              <a:ext cx="3437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/>
                <a:t>阅读</a:t>
              </a:r>
              <a:r>
                <a:rPr lang="en-US" altLang="zh-CN" b="1" dirty="0">
                  <a:latin typeface="Times New Roman" panose="02020603050405020304" pitchFamily="18" charset="0"/>
                </a:rPr>
                <a:t>1.3   </a:t>
              </a:r>
              <a:r>
                <a:rPr lang="zh-CN" altLang="en-US" b="1"/>
                <a:t>运算的定义和性质</a:t>
              </a:r>
              <a:endParaRPr lang="en-US" altLang="zh-CN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习题</a:t>
              </a:r>
              <a:r>
                <a:rPr lang="en-US" altLang="zh-CN" b="1" dirty="0">
                  <a:latin typeface="Times New Roman" panose="02020603050405020304" pitchFamily="18" charset="0"/>
                </a:rPr>
                <a:t>1.4   8   </a:t>
              </a:r>
              <a:r>
                <a:rPr lang="zh-CN" altLang="en-US" b="1" dirty="0"/>
                <a:t>习题</a:t>
              </a:r>
              <a:r>
                <a:rPr lang="en-US" altLang="zh-CN" b="1" dirty="0">
                  <a:latin typeface="Times New Roman" panose="02020603050405020304" pitchFamily="18" charset="0"/>
                </a:rPr>
                <a:t>1.5   1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" name="Text Box 37">
              <a:extLst>
                <a:ext uri="{FF2B5EF4-FFF2-40B4-BE49-F238E27FC236}">
                  <a16:creationId xmlns:a16="http://schemas.microsoft.com/office/drawing/2014/main" id="{969237FA-BF96-D5F8-F199-55324BB7C76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作业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CA3D186-9228-DAF5-B914-D215B646785D}"/>
              </a:ext>
            </a:extLst>
          </p:cNvPr>
          <p:cNvSpPr txBox="1"/>
          <p:nvPr/>
        </p:nvSpPr>
        <p:spPr>
          <a:xfrm>
            <a:off x="394775" y="5678639"/>
            <a:ext cx="1140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第二周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0E64BBCE-EE8E-8E7C-82EE-D1FF9AF1D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章  集合、映射与运算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C568CE86-55D5-B834-02D4-5592F7DB3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1.6 </a:t>
            </a:r>
            <a:r>
              <a:rPr lang="zh-CN" altLang="en-US" b="1">
                <a:latin typeface="Times New Roman" panose="02020603050405020304" pitchFamily="18" charset="0"/>
              </a:rPr>
              <a:t>集合的对等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0843E602-A79E-E214-1A8B-19325DE4F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本讲内容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D180D359-FDFC-7DEF-4181-5C0BBA9D1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72036" name="Group 4">
            <a:extLst>
              <a:ext uri="{FF2B5EF4-FFF2-40B4-BE49-F238E27FC236}">
                <a16:creationId xmlns:a16="http://schemas.microsoft.com/office/drawing/2014/main" id="{249A6770-BCCB-BDAB-4135-FB764AA819C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341438"/>
            <a:ext cx="5410200" cy="712787"/>
            <a:chOff x="1152" y="1677"/>
            <a:chExt cx="3408" cy="449"/>
          </a:xfrm>
        </p:grpSpPr>
        <p:grpSp>
          <p:nvGrpSpPr>
            <p:cNvPr id="172082" name="Group 5">
              <a:extLst>
                <a:ext uri="{FF2B5EF4-FFF2-40B4-BE49-F238E27FC236}">
                  <a16:creationId xmlns:a16="http://schemas.microsoft.com/office/drawing/2014/main" id="{1BF87BDD-3E4F-6EAB-1691-5EC41BAC9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72086" name="AutoShape 6">
                <a:extLst>
                  <a:ext uri="{FF2B5EF4-FFF2-40B4-BE49-F238E27FC236}">
                    <a16:creationId xmlns:a16="http://schemas.microsoft.com/office/drawing/2014/main" id="{8C03F8AD-AC99-A4A3-9963-1259A4F367B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87" name="AutoShape 7">
                <a:extLst>
                  <a:ext uri="{FF2B5EF4-FFF2-40B4-BE49-F238E27FC236}">
                    <a16:creationId xmlns:a16="http://schemas.microsoft.com/office/drawing/2014/main" id="{73A99719-8B67-0B84-4782-555429B29E8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288" name="AutoShape 8">
                <a:extLst>
                  <a:ext uri="{FF2B5EF4-FFF2-40B4-BE49-F238E27FC236}">
                    <a16:creationId xmlns:a16="http://schemas.microsoft.com/office/drawing/2014/main" id="{A70B8F57-62EC-8064-1EF1-AC73D825A8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83" name="Line 9">
              <a:extLst>
                <a:ext uri="{FF2B5EF4-FFF2-40B4-BE49-F238E27FC236}">
                  <a16:creationId xmlns:a16="http://schemas.microsoft.com/office/drawing/2014/main" id="{870B90B8-9BBE-6961-93EA-E338FE5F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84" name="Text Box 10">
              <a:extLst>
                <a:ext uri="{FF2B5EF4-FFF2-40B4-BE49-F238E27FC236}">
                  <a16:creationId xmlns:a16="http://schemas.microsoft.com/office/drawing/2014/main" id="{94CDD279-7D18-E725-7F52-40E78CD8A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77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集合对等的定义</a:t>
              </a:r>
            </a:p>
          </p:txBody>
        </p:sp>
        <p:sp>
          <p:nvSpPr>
            <p:cNvPr id="172085" name="Text Box 11">
              <a:extLst>
                <a:ext uri="{FF2B5EF4-FFF2-40B4-BE49-F238E27FC236}">
                  <a16:creationId xmlns:a16="http://schemas.microsoft.com/office/drawing/2014/main" id="{7AA7E17E-5514-8218-9379-404046F585F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72037" name="Group 12">
            <a:extLst>
              <a:ext uri="{FF2B5EF4-FFF2-40B4-BE49-F238E27FC236}">
                <a16:creationId xmlns:a16="http://schemas.microsoft.com/office/drawing/2014/main" id="{A37EB874-F989-4A7A-0617-A5B19B823F8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060575"/>
            <a:ext cx="5410200" cy="712788"/>
            <a:chOff x="1152" y="2239"/>
            <a:chExt cx="3408" cy="449"/>
          </a:xfrm>
        </p:grpSpPr>
        <p:grpSp>
          <p:nvGrpSpPr>
            <p:cNvPr id="172075" name="Group 13">
              <a:extLst>
                <a:ext uri="{FF2B5EF4-FFF2-40B4-BE49-F238E27FC236}">
                  <a16:creationId xmlns:a16="http://schemas.microsoft.com/office/drawing/2014/main" id="{14309861-D61C-A030-7E21-38DECE96B8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2079" name="AutoShape 14">
                <a:extLst>
                  <a:ext uri="{FF2B5EF4-FFF2-40B4-BE49-F238E27FC236}">
                    <a16:creationId xmlns:a16="http://schemas.microsoft.com/office/drawing/2014/main" id="{40D8F479-FD35-C6A3-2CB4-7C5241DFA72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80" name="AutoShape 15">
                <a:extLst>
                  <a:ext uri="{FF2B5EF4-FFF2-40B4-BE49-F238E27FC236}">
                    <a16:creationId xmlns:a16="http://schemas.microsoft.com/office/drawing/2014/main" id="{9223E5B5-23B2-31DB-EA8F-4B872EFDC4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296" name="AutoShape 16">
                <a:extLst>
                  <a:ext uri="{FF2B5EF4-FFF2-40B4-BE49-F238E27FC236}">
                    <a16:creationId xmlns:a16="http://schemas.microsoft.com/office/drawing/2014/main" id="{E3C969CC-0443-9046-C2F1-2D8921623B8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76" name="Line 17">
              <a:extLst>
                <a:ext uri="{FF2B5EF4-FFF2-40B4-BE49-F238E27FC236}">
                  <a16:creationId xmlns:a16="http://schemas.microsoft.com/office/drawing/2014/main" id="{0A103B4A-D921-C531-7735-6D9FD4A2F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77" name="Text Box 18">
              <a:extLst>
                <a:ext uri="{FF2B5EF4-FFF2-40B4-BE49-F238E27FC236}">
                  <a16:creationId xmlns:a16="http://schemas.microsoft.com/office/drawing/2014/main" id="{1B433188-5338-42B7-0CB3-044E7A21F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2078" name="Text Box 19">
              <a:extLst>
                <a:ext uri="{FF2B5EF4-FFF2-40B4-BE49-F238E27FC236}">
                  <a16:creationId xmlns:a16="http://schemas.microsoft.com/office/drawing/2014/main" id="{37019943-BF81-6D86-4661-F14C73D7FBD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72038" name="Group 20">
            <a:extLst>
              <a:ext uri="{FF2B5EF4-FFF2-40B4-BE49-F238E27FC236}">
                <a16:creationId xmlns:a16="http://schemas.microsoft.com/office/drawing/2014/main" id="{D0DEA2BC-739E-8F84-9383-1600397B53D2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852738"/>
            <a:ext cx="5410200" cy="712787"/>
            <a:chOff x="1152" y="2815"/>
            <a:chExt cx="3408" cy="449"/>
          </a:xfrm>
        </p:grpSpPr>
        <p:grpSp>
          <p:nvGrpSpPr>
            <p:cNvPr id="172068" name="Group 21">
              <a:extLst>
                <a:ext uri="{FF2B5EF4-FFF2-40B4-BE49-F238E27FC236}">
                  <a16:creationId xmlns:a16="http://schemas.microsoft.com/office/drawing/2014/main" id="{044D5ED0-98E0-A356-23B4-9969D5CD2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72072" name="AutoShape 22">
                <a:extLst>
                  <a:ext uri="{FF2B5EF4-FFF2-40B4-BE49-F238E27FC236}">
                    <a16:creationId xmlns:a16="http://schemas.microsoft.com/office/drawing/2014/main" id="{B4E26447-0D67-ABB4-7E99-A4C0AA96DDB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73" name="AutoShape 23">
                <a:extLst>
                  <a:ext uri="{FF2B5EF4-FFF2-40B4-BE49-F238E27FC236}">
                    <a16:creationId xmlns:a16="http://schemas.microsoft.com/office/drawing/2014/main" id="{AF49F6FB-7F0D-4444-6A88-99731C45D2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304" name="AutoShape 24">
                <a:extLst>
                  <a:ext uri="{FF2B5EF4-FFF2-40B4-BE49-F238E27FC236}">
                    <a16:creationId xmlns:a16="http://schemas.microsoft.com/office/drawing/2014/main" id="{1359F11D-0320-2DBE-C7BD-80E7727A0E3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69" name="Line 25">
              <a:extLst>
                <a:ext uri="{FF2B5EF4-FFF2-40B4-BE49-F238E27FC236}">
                  <a16:creationId xmlns:a16="http://schemas.microsoft.com/office/drawing/2014/main" id="{156018EF-7659-9F25-66CA-3D364EF7D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70" name="Text Box 26">
              <a:extLst>
                <a:ext uri="{FF2B5EF4-FFF2-40B4-BE49-F238E27FC236}">
                  <a16:creationId xmlns:a16="http://schemas.microsoft.com/office/drawing/2014/main" id="{AAD1CC3D-C802-94F9-B589-F537EB4EC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15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2071" name="Text Box 27">
              <a:extLst>
                <a:ext uri="{FF2B5EF4-FFF2-40B4-BE49-F238E27FC236}">
                  <a16:creationId xmlns:a16="http://schemas.microsoft.com/office/drawing/2014/main" id="{DF36EBAD-8E7E-6381-8DE6-A2AE74292AF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72039" name="Group 28">
            <a:extLst>
              <a:ext uri="{FF2B5EF4-FFF2-40B4-BE49-F238E27FC236}">
                <a16:creationId xmlns:a16="http://schemas.microsoft.com/office/drawing/2014/main" id="{E72F1B88-188B-9733-EEC1-ACD826979C57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644900"/>
            <a:ext cx="5410200" cy="712788"/>
            <a:chOff x="1152" y="2239"/>
            <a:chExt cx="3408" cy="449"/>
          </a:xfrm>
        </p:grpSpPr>
        <p:grpSp>
          <p:nvGrpSpPr>
            <p:cNvPr id="172061" name="Group 29">
              <a:extLst>
                <a:ext uri="{FF2B5EF4-FFF2-40B4-BE49-F238E27FC236}">
                  <a16:creationId xmlns:a16="http://schemas.microsoft.com/office/drawing/2014/main" id="{E2CE8C3B-3CC8-07CD-C380-1B9C14714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2065" name="AutoShape 30">
                <a:extLst>
                  <a:ext uri="{FF2B5EF4-FFF2-40B4-BE49-F238E27FC236}">
                    <a16:creationId xmlns:a16="http://schemas.microsoft.com/office/drawing/2014/main" id="{124FB985-58A4-2ACB-258C-5A1A84E24E1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66" name="AutoShape 31">
                <a:extLst>
                  <a:ext uri="{FF2B5EF4-FFF2-40B4-BE49-F238E27FC236}">
                    <a16:creationId xmlns:a16="http://schemas.microsoft.com/office/drawing/2014/main" id="{446553F5-E7C7-ABC6-2FE2-A8691031D7F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312" name="AutoShape 32">
                <a:extLst>
                  <a:ext uri="{FF2B5EF4-FFF2-40B4-BE49-F238E27FC236}">
                    <a16:creationId xmlns:a16="http://schemas.microsoft.com/office/drawing/2014/main" id="{1D3797CA-336D-B49B-2E1A-9D8A0496A8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62" name="Line 33">
              <a:extLst>
                <a:ext uri="{FF2B5EF4-FFF2-40B4-BE49-F238E27FC236}">
                  <a16:creationId xmlns:a16="http://schemas.microsoft.com/office/drawing/2014/main" id="{F9EA5E89-5676-8905-2856-DF0CE6EBA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3" name="Text Box 34">
              <a:extLst>
                <a:ext uri="{FF2B5EF4-FFF2-40B4-BE49-F238E27FC236}">
                  <a16:creationId xmlns:a16="http://schemas.microsoft.com/office/drawing/2014/main" id="{E8306689-F7E9-502E-6158-FA29027335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2064" name="Text Box 35">
              <a:extLst>
                <a:ext uri="{FF2B5EF4-FFF2-40B4-BE49-F238E27FC236}">
                  <a16:creationId xmlns:a16="http://schemas.microsoft.com/office/drawing/2014/main" id="{1FCCD9C6-8F3E-4331-7CDD-CE8A69FD572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72040" name="Group 36">
            <a:extLst>
              <a:ext uri="{FF2B5EF4-FFF2-40B4-BE49-F238E27FC236}">
                <a16:creationId xmlns:a16="http://schemas.microsoft.com/office/drawing/2014/main" id="{9262486F-40C3-7B6F-DE6E-06F76B78B70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437063"/>
            <a:ext cx="5410200" cy="712787"/>
            <a:chOff x="1152" y="2815"/>
            <a:chExt cx="3408" cy="449"/>
          </a:xfrm>
        </p:grpSpPr>
        <p:grpSp>
          <p:nvGrpSpPr>
            <p:cNvPr id="172054" name="Group 37">
              <a:extLst>
                <a:ext uri="{FF2B5EF4-FFF2-40B4-BE49-F238E27FC236}">
                  <a16:creationId xmlns:a16="http://schemas.microsoft.com/office/drawing/2014/main" id="{82DC8C62-AC1C-FC04-5FAD-A2444446C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72058" name="AutoShape 38">
                <a:extLst>
                  <a:ext uri="{FF2B5EF4-FFF2-40B4-BE49-F238E27FC236}">
                    <a16:creationId xmlns:a16="http://schemas.microsoft.com/office/drawing/2014/main" id="{CEBAFEED-DE3E-5EC5-4F0A-A714CAC2A0D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59" name="AutoShape 39">
                <a:extLst>
                  <a:ext uri="{FF2B5EF4-FFF2-40B4-BE49-F238E27FC236}">
                    <a16:creationId xmlns:a16="http://schemas.microsoft.com/office/drawing/2014/main" id="{A4040E5B-6F56-7DE1-4FC0-EDA2919D51A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320" name="AutoShape 40">
                <a:extLst>
                  <a:ext uri="{FF2B5EF4-FFF2-40B4-BE49-F238E27FC236}">
                    <a16:creationId xmlns:a16="http://schemas.microsoft.com/office/drawing/2014/main" id="{EC5344F5-4581-E461-FBD6-7E6F043C530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55" name="Line 41">
              <a:extLst>
                <a:ext uri="{FF2B5EF4-FFF2-40B4-BE49-F238E27FC236}">
                  <a16:creationId xmlns:a16="http://schemas.microsoft.com/office/drawing/2014/main" id="{5B69D8BC-9A6E-21B9-CB52-43CFFCA73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6" name="Text Box 42">
              <a:extLst>
                <a:ext uri="{FF2B5EF4-FFF2-40B4-BE49-F238E27FC236}">
                  <a16:creationId xmlns:a16="http://schemas.microsoft.com/office/drawing/2014/main" id="{CF4BAB9E-3843-0263-BD4E-FF8BF2F48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15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不可数集合</a:t>
              </a:r>
            </a:p>
          </p:txBody>
        </p:sp>
        <p:sp>
          <p:nvSpPr>
            <p:cNvPr id="172057" name="Text Box 43">
              <a:extLst>
                <a:ext uri="{FF2B5EF4-FFF2-40B4-BE49-F238E27FC236}">
                  <a16:creationId xmlns:a16="http://schemas.microsoft.com/office/drawing/2014/main" id="{50150DD8-E9AC-B1D5-D192-13A7E936A93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72041" name="Rectangle 44">
            <a:extLst>
              <a:ext uri="{FF2B5EF4-FFF2-40B4-BE49-F238E27FC236}">
                <a16:creationId xmlns:a16="http://schemas.microsoft.com/office/drawing/2014/main" id="{F2F5C814-1BAA-4D0B-D480-D8C73DD6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133600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无限集合</a:t>
            </a:r>
          </a:p>
        </p:txBody>
      </p:sp>
      <p:sp>
        <p:nvSpPr>
          <p:cNvPr id="172042" name="Rectangle 45">
            <a:extLst>
              <a:ext uri="{FF2B5EF4-FFF2-40B4-BE49-F238E27FC236}">
                <a16:creationId xmlns:a16="http://schemas.microsoft.com/office/drawing/2014/main" id="{CD4E3078-EFA0-7FC8-8E82-2DB652210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852738"/>
            <a:ext cx="2224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集合的基数</a:t>
            </a:r>
          </a:p>
        </p:txBody>
      </p:sp>
      <p:sp>
        <p:nvSpPr>
          <p:cNvPr id="172043" name="Rectangle 46">
            <a:extLst>
              <a:ext uri="{FF2B5EF4-FFF2-40B4-BE49-F238E27FC236}">
                <a16:creationId xmlns:a16="http://schemas.microsoft.com/office/drawing/2014/main" id="{E27AFD71-FEBA-DE9E-5219-B564F313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644900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可数集合</a:t>
            </a:r>
          </a:p>
        </p:txBody>
      </p:sp>
      <p:grpSp>
        <p:nvGrpSpPr>
          <p:cNvPr id="172044" name="Group 47">
            <a:extLst>
              <a:ext uri="{FF2B5EF4-FFF2-40B4-BE49-F238E27FC236}">
                <a16:creationId xmlns:a16="http://schemas.microsoft.com/office/drawing/2014/main" id="{E50C7C10-E7D7-CC99-AC1C-3EB0D54FF03B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229225"/>
            <a:ext cx="5410200" cy="712788"/>
            <a:chOff x="1152" y="2239"/>
            <a:chExt cx="3408" cy="449"/>
          </a:xfrm>
        </p:grpSpPr>
        <p:grpSp>
          <p:nvGrpSpPr>
            <p:cNvPr id="172047" name="Group 48">
              <a:extLst>
                <a:ext uri="{FF2B5EF4-FFF2-40B4-BE49-F238E27FC236}">
                  <a16:creationId xmlns:a16="http://schemas.microsoft.com/office/drawing/2014/main" id="{AD108499-C32E-AD02-E7B6-7EC2C0F3C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2051" name="AutoShape 49">
                <a:extLst>
                  <a:ext uri="{FF2B5EF4-FFF2-40B4-BE49-F238E27FC236}">
                    <a16:creationId xmlns:a16="http://schemas.microsoft.com/office/drawing/2014/main" id="{17E53870-A1F9-0CE9-6B0D-189E993749B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2052" name="AutoShape 50">
                <a:extLst>
                  <a:ext uri="{FF2B5EF4-FFF2-40B4-BE49-F238E27FC236}">
                    <a16:creationId xmlns:a16="http://schemas.microsoft.com/office/drawing/2014/main" id="{41FCB1EE-37A5-B354-76CB-34426A0BAA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331" name="AutoShape 51">
                <a:extLst>
                  <a:ext uri="{FF2B5EF4-FFF2-40B4-BE49-F238E27FC236}">
                    <a16:creationId xmlns:a16="http://schemas.microsoft.com/office/drawing/2014/main" id="{DA63C5B8-D5E9-95F8-BBE9-65BB7C5ED43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2048" name="Line 52">
              <a:extLst>
                <a:ext uri="{FF2B5EF4-FFF2-40B4-BE49-F238E27FC236}">
                  <a16:creationId xmlns:a16="http://schemas.microsoft.com/office/drawing/2014/main" id="{10BD55E4-CE9A-1A12-3580-380F2984F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9" name="Text Box 53">
              <a:extLst>
                <a:ext uri="{FF2B5EF4-FFF2-40B4-BE49-F238E27FC236}">
                  <a16:creationId xmlns:a16="http://schemas.microsoft.com/office/drawing/2014/main" id="{D3B54BEA-B194-6D1D-1E6C-A524844F0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2050" name="Text Box 54">
              <a:extLst>
                <a:ext uri="{FF2B5EF4-FFF2-40B4-BE49-F238E27FC236}">
                  <a16:creationId xmlns:a16="http://schemas.microsoft.com/office/drawing/2014/main" id="{AD53C9C7-8D98-7A1C-D855-792964C86CB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</p:grpSp>
      <p:sp>
        <p:nvSpPr>
          <p:cNvPr id="172045" name="Rectangle 55">
            <a:extLst>
              <a:ext uri="{FF2B5EF4-FFF2-40B4-BE49-F238E27FC236}">
                <a16:creationId xmlns:a16="http://schemas.microsoft.com/office/drawing/2014/main" id="{16DC7EF0-AACA-D9C4-E7A1-610A8FEB7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300663"/>
            <a:ext cx="22240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基数的比较</a:t>
            </a:r>
          </a:p>
        </p:txBody>
      </p:sp>
      <p:sp>
        <p:nvSpPr>
          <p:cNvPr id="172046" name="灯片编号占位符 1">
            <a:extLst>
              <a:ext uri="{FF2B5EF4-FFF2-40B4-BE49-F238E27FC236}">
                <a16:creationId xmlns:a16="http://schemas.microsoft.com/office/drawing/2014/main" id="{230257B5-BACB-1486-90F3-3DD7376C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B01793-0AF0-4D83-BF0C-49973A3EB56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C3EAC440-0382-59B9-81FB-AF0CC221450C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集合的对等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它是集合间的另一种关系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通过集合对等以及相关内容的学习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加深对函数概念的理解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提高正确使用函数工具作为研究手段的能力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1.</a:t>
            </a:r>
            <a:r>
              <a:rPr lang="zh-CN" altLang="en-US" b="1">
                <a:latin typeface="Times New Roman" panose="02020603050405020304" pitchFamily="18" charset="0"/>
              </a:rPr>
              <a:t>集合对等</a:t>
            </a:r>
            <a:r>
              <a:rPr lang="en-US" altLang="zh-CN" b="1">
                <a:latin typeface="Times New Roman" panose="02020603050405020304" pitchFamily="18" charset="0"/>
              </a:rPr>
              <a:t>(equivalent)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1-33 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若存在双射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/>
          </a:p>
        </p:txBody>
      </p:sp>
      <p:sp>
        <p:nvSpPr>
          <p:cNvPr id="173059" name="灯片编号占位符 1">
            <a:extLst>
              <a:ext uri="{FF2B5EF4-FFF2-40B4-BE49-F238E27FC236}">
                <a16:creationId xmlns:a16="http://schemas.microsoft.com/office/drawing/2014/main" id="{0BE34795-C5AC-237F-41EB-D58FF6A8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D2EB26-A0B5-41AE-818D-E6A072E542B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4E7748D4-C74E-0695-BD77-5848E1EAFDA3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N ~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Z ~ 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(0, 1) ~ R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N ~ 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N (see below):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083" name="灯片编号占位符 1">
            <a:extLst>
              <a:ext uri="{FF2B5EF4-FFF2-40B4-BE49-F238E27FC236}">
                <a16:creationId xmlns:a16="http://schemas.microsoft.com/office/drawing/2014/main" id="{CC74AA68-90BB-A938-33C2-A71FEF16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ADE60C-A678-4188-850D-8CE3945E142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D52FFD2B-91F4-B1FF-CC73-889A0B23BF8A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aphicFrame>
        <p:nvGraphicFramePr>
          <p:cNvPr id="175107" name="Object 3">
            <a:extLst>
              <a:ext uri="{FF2B5EF4-FFF2-40B4-BE49-F238E27FC236}">
                <a16:creationId xmlns:a16="http://schemas.microsoft.com/office/drawing/2014/main" id="{70DA2EFC-092B-F49F-1EB3-DDEA09BDF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765175"/>
          <a:ext cx="8137525" cy="460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31774" imgH="374515" progId="Equation.3">
                  <p:embed/>
                </p:oleObj>
              </mc:Choice>
              <mc:Fallback>
                <p:oleObj name="公式" r:id="rId2" imgW="831774" imgH="3745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765175"/>
                        <a:ext cx="8137525" cy="460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6" name="Line 4">
            <a:extLst>
              <a:ext uri="{FF2B5EF4-FFF2-40B4-BE49-F238E27FC236}">
                <a16:creationId xmlns:a16="http://schemas.microsoft.com/office/drawing/2014/main" id="{A766A702-A0DD-7AAD-603C-09FF37B6B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148431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57" name="Line 5">
            <a:extLst>
              <a:ext uri="{FF2B5EF4-FFF2-40B4-BE49-F238E27FC236}">
                <a16:creationId xmlns:a16="http://schemas.microsoft.com/office/drawing/2014/main" id="{2BAA666C-6AD5-F9E8-1265-E22576704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1412875"/>
            <a:ext cx="71913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58" name="Line 6">
            <a:extLst>
              <a:ext uri="{FF2B5EF4-FFF2-40B4-BE49-F238E27FC236}">
                <a16:creationId xmlns:a16="http://schemas.microsoft.com/office/drawing/2014/main" id="{63410494-95C1-6313-A2DC-D1CBDF208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1196975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59" name="Line 7">
            <a:extLst>
              <a:ext uri="{FF2B5EF4-FFF2-40B4-BE49-F238E27FC236}">
                <a16:creationId xmlns:a16="http://schemas.microsoft.com/office/drawing/2014/main" id="{B99D1582-0FED-EEAB-38E4-C9C0F66F3F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2138" y="148431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0" name="Line 8">
            <a:extLst>
              <a:ext uri="{FF2B5EF4-FFF2-40B4-BE49-F238E27FC236}">
                <a16:creationId xmlns:a16="http://schemas.microsoft.com/office/drawing/2014/main" id="{C3062D34-9C42-A257-683B-ADDDCE381C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2492375"/>
            <a:ext cx="57467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1" name="Line 9">
            <a:extLst>
              <a:ext uri="{FF2B5EF4-FFF2-40B4-BE49-F238E27FC236}">
                <a16:creationId xmlns:a16="http://schemas.microsoft.com/office/drawing/2014/main" id="{D3F4E0DE-9B47-3FE1-1977-5A3976179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33575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2" name="Line 10">
            <a:extLst>
              <a:ext uri="{FF2B5EF4-FFF2-40B4-BE49-F238E27FC236}">
                <a16:creationId xmlns:a16="http://schemas.microsoft.com/office/drawing/2014/main" id="{8F6271B0-DA2B-F60C-5BC8-26C87C484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3713" y="3429000"/>
            <a:ext cx="5048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3" name="Line 11">
            <a:extLst>
              <a:ext uri="{FF2B5EF4-FFF2-40B4-BE49-F238E27FC236}">
                <a16:creationId xmlns:a16="http://schemas.microsoft.com/office/drawing/2014/main" id="{37B13FDB-0EB4-BA3A-25E1-E0A2419B37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2349500"/>
            <a:ext cx="5048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4" name="Line 12">
            <a:extLst>
              <a:ext uri="{FF2B5EF4-FFF2-40B4-BE49-F238E27FC236}">
                <a16:creationId xmlns:a16="http://schemas.microsoft.com/office/drawing/2014/main" id="{52BC7123-A079-D386-D9DA-9AB78F8E85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3438" y="1412875"/>
            <a:ext cx="5048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65" name="Line 13">
            <a:extLst>
              <a:ext uri="{FF2B5EF4-FFF2-40B4-BE49-F238E27FC236}">
                <a16:creationId xmlns:a16="http://schemas.microsoft.com/office/drawing/2014/main" id="{10E1E939-1C3F-9037-D100-1E508913F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11255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8" name="灯片编号占位符 1">
            <a:extLst>
              <a:ext uri="{FF2B5EF4-FFF2-40B4-BE49-F238E27FC236}">
                <a16:creationId xmlns:a16="http://schemas.microsoft.com/office/drawing/2014/main" id="{87B683E4-8F9B-C48B-4FE6-C3612E2F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246B96-74D7-4104-B7EE-61ED6C08B77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2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2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2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2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1EF4E6A7-BA76-2630-ED23-47B99D1AEDA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Theorem 1-28(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对等的性质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/>
            <a:endParaRPr lang="en-US" altLang="zh-CN"/>
          </a:p>
        </p:txBody>
      </p:sp>
      <p:sp>
        <p:nvSpPr>
          <p:cNvPr id="176131" name="灯片编号占位符 1">
            <a:extLst>
              <a:ext uri="{FF2B5EF4-FFF2-40B4-BE49-F238E27FC236}">
                <a16:creationId xmlns:a16="http://schemas.microsoft.com/office/drawing/2014/main" id="{CA1E6159-CFBC-1441-C8B1-FA685DCF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EA8274-E581-481D-954C-51AC1B5CC0C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F1DD62C6-0614-F55E-AA38-D64E1203B7C8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2. </a:t>
            </a:r>
            <a:r>
              <a:rPr lang="zh-CN" altLang="en-US" b="1">
                <a:latin typeface="Times New Roman" panose="02020603050405020304" pitchFamily="18" charset="0"/>
              </a:rPr>
              <a:t>无限集合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有了集合对等的概念</a:t>
            </a:r>
            <a:r>
              <a:rPr lang="en-US" altLang="zh-CN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zh-CN" altLang="en-US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就可以给出无限集合及有限集合的严格定义</a:t>
            </a:r>
            <a:r>
              <a:rPr lang="en-US" altLang="zh-CN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1-34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的一个子集与自然数集合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对等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为无限集合</a:t>
            </a:r>
            <a:r>
              <a:rPr lang="en-US" altLang="zh-CN" b="1">
                <a:latin typeface="Times New Roman" panose="02020603050405020304" pitchFamily="18" charset="0"/>
              </a:rPr>
              <a:t>(infinite set), </a:t>
            </a:r>
            <a:r>
              <a:rPr lang="zh-CN" altLang="en-US" b="1">
                <a:latin typeface="Times New Roman" panose="02020603050405020304" pitchFamily="18" charset="0"/>
              </a:rPr>
              <a:t>否则称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为有限集合</a:t>
            </a:r>
            <a:r>
              <a:rPr lang="en-US" altLang="zh-CN" b="1">
                <a:latin typeface="Times New Roman" panose="02020603050405020304" pitchFamily="18" charset="0"/>
              </a:rPr>
              <a:t>(finite set).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N.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[0, 1]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}?</a:t>
            </a:r>
          </a:p>
        </p:txBody>
      </p:sp>
      <p:graphicFrame>
        <p:nvGraphicFramePr>
          <p:cNvPr id="177155" name="Object 3">
            <a:extLst>
              <a:ext uri="{FF2B5EF4-FFF2-40B4-BE49-F238E27FC236}">
                <a16:creationId xmlns:a16="http://schemas.microsoft.com/office/drawing/2014/main" id="{5102A2FD-B115-EE35-AFF9-279DAF9F6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581525"/>
          <a:ext cx="509905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54210" imgH="114435" progId="Equation.3">
                  <p:embed/>
                </p:oleObj>
              </mc:Choice>
              <mc:Fallback>
                <p:oleObj name="公式" r:id="rId2" imgW="654210" imgH="1144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509905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6" name="灯片编号占位符 1">
            <a:extLst>
              <a:ext uri="{FF2B5EF4-FFF2-40B4-BE49-F238E27FC236}">
                <a16:creationId xmlns:a16="http://schemas.microsoft.com/office/drawing/2014/main" id="{B9B36BA1-8390-D613-B581-075D87AB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DB919F-9ABE-43F2-96D7-C6FA7FC7259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88AA7CE4-3FEB-29A5-E4FA-278FB9ECF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本讲内容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95E6B2A0-6F6B-2A2D-AC74-BBFD0DE23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78180" name="Group 4">
            <a:extLst>
              <a:ext uri="{FF2B5EF4-FFF2-40B4-BE49-F238E27FC236}">
                <a16:creationId xmlns:a16="http://schemas.microsoft.com/office/drawing/2014/main" id="{3FF3281A-5BFE-78F9-A0C6-FE9D01080071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341438"/>
            <a:ext cx="5410200" cy="712787"/>
            <a:chOff x="1152" y="1677"/>
            <a:chExt cx="3408" cy="449"/>
          </a:xfrm>
        </p:grpSpPr>
        <p:grpSp>
          <p:nvGrpSpPr>
            <p:cNvPr id="178226" name="Group 5">
              <a:extLst>
                <a:ext uri="{FF2B5EF4-FFF2-40B4-BE49-F238E27FC236}">
                  <a16:creationId xmlns:a16="http://schemas.microsoft.com/office/drawing/2014/main" id="{7D398C48-1974-FD24-55CD-BE423C924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78230" name="AutoShape 6">
                <a:extLst>
                  <a:ext uri="{FF2B5EF4-FFF2-40B4-BE49-F238E27FC236}">
                    <a16:creationId xmlns:a16="http://schemas.microsoft.com/office/drawing/2014/main" id="{8D62FA82-EC6D-D957-C0F0-1FD5992F64B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231" name="AutoShape 7">
                <a:extLst>
                  <a:ext uri="{FF2B5EF4-FFF2-40B4-BE49-F238E27FC236}">
                    <a16:creationId xmlns:a16="http://schemas.microsoft.com/office/drawing/2014/main" id="{675AF280-4914-9DA0-DD73-989A59C58BA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56" name="AutoShape 8">
                <a:extLst>
                  <a:ext uri="{FF2B5EF4-FFF2-40B4-BE49-F238E27FC236}">
                    <a16:creationId xmlns:a16="http://schemas.microsoft.com/office/drawing/2014/main" id="{33839503-E2A1-18A8-2ED3-03D9448B968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227" name="Line 9">
              <a:extLst>
                <a:ext uri="{FF2B5EF4-FFF2-40B4-BE49-F238E27FC236}">
                  <a16:creationId xmlns:a16="http://schemas.microsoft.com/office/drawing/2014/main" id="{A2930BD2-A91D-41C3-6BFC-48647F611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8" name="Text Box 10">
              <a:extLst>
                <a:ext uri="{FF2B5EF4-FFF2-40B4-BE49-F238E27FC236}">
                  <a16:creationId xmlns:a16="http://schemas.microsoft.com/office/drawing/2014/main" id="{A0148C10-2F03-14FB-9265-132EDFEFE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77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集合对等的定义</a:t>
              </a:r>
            </a:p>
          </p:txBody>
        </p:sp>
        <p:sp>
          <p:nvSpPr>
            <p:cNvPr id="178229" name="Text Box 11">
              <a:extLst>
                <a:ext uri="{FF2B5EF4-FFF2-40B4-BE49-F238E27FC236}">
                  <a16:creationId xmlns:a16="http://schemas.microsoft.com/office/drawing/2014/main" id="{75BE5E02-527F-AFD9-06C8-E69E1EA7B85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78181" name="Group 12">
            <a:extLst>
              <a:ext uri="{FF2B5EF4-FFF2-40B4-BE49-F238E27FC236}">
                <a16:creationId xmlns:a16="http://schemas.microsoft.com/office/drawing/2014/main" id="{A134DE28-0DA8-E000-B1AF-BA4D8C409E31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060575"/>
            <a:ext cx="5410200" cy="712788"/>
            <a:chOff x="1152" y="2239"/>
            <a:chExt cx="3408" cy="449"/>
          </a:xfrm>
        </p:grpSpPr>
        <p:grpSp>
          <p:nvGrpSpPr>
            <p:cNvPr id="178219" name="Group 13">
              <a:extLst>
                <a:ext uri="{FF2B5EF4-FFF2-40B4-BE49-F238E27FC236}">
                  <a16:creationId xmlns:a16="http://schemas.microsoft.com/office/drawing/2014/main" id="{16B7E7CE-93AF-013C-834A-89C4D6B86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8223" name="AutoShape 14">
                <a:extLst>
                  <a:ext uri="{FF2B5EF4-FFF2-40B4-BE49-F238E27FC236}">
                    <a16:creationId xmlns:a16="http://schemas.microsoft.com/office/drawing/2014/main" id="{9CDD2AAD-329E-D2F7-6D8C-4A99141CDB3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224" name="AutoShape 15">
                <a:extLst>
                  <a:ext uri="{FF2B5EF4-FFF2-40B4-BE49-F238E27FC236}">
                    <a16:creationId xmlns:a16="http://schemas.microsoft.com/office/drawing/2014/main" id="{11D3782C-F92A-C1D2-34D2-6E5E64FCD83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64" name="AutoShape 16">
                <a:extLst>
                  <a:ext uri="{FF2B5EF4-FFF2-40B4-BE49-F238E27FC236}">
                    <a16:creationId xmlns:a16="http://schemas.microsoft.com/office/drawing/2014/main" id="{0D820E2A-1687-8B9D-53FE-BAFB4B11FED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220" name="Line 17">
              <a:extLst>
                <a:ext uri="{FF2B5EF4-FFF2-40B4-BE49-F238E27FC236}">
                  <a16:creationId xmlns:a16="http://schemas.microsoft.com/office/drawing/2014/main" id="{2CA2AEA7-4DDC-7C07-E02E-EC63BC853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1" name="Text Box 18">
              <a:extLst>
                <a:ext uri="{FF2B5EF4-FFF2-40B4-BE49-F238E27FC236}">
                  <a16:creationId xmlns:a16="http://schemas.microsoft.com/office/drawing/2014/main" id="{C6CDDBD0-DF4D-2137-EA35-8A2F71D3C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8222" name="Text Box 19">
              <a:extLst>
                <a:ext uri="{FF2B5EF4-FFF2-40B4-BE49-F238E27FC236}">
                  <a16:creationId xmlns:a16="http://schemas.microsoft.com/office/drawing/2014/main" id="{00FEEB82-79A6-2D84-9DDD-07492334F52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78182" name="Group 20">
            <a:extLst>
              <a:ext uri="{FF2B5EF4-FFF2-40B4-BE49-F238E27FC236}">
                <a16:creationId xmlns:a16="http://schemas.microsoft.com/office/drawing/2014/main" id="{613E470C-60CF-B793-7C2E-D4CD08DA49F9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852738"/>
            <a:ext cx="5410200" cy="712787"/>
            <a:chOff x="1152" y="2815"/>
            <a:chExt cx="3408" cy="449"/>
          </a:xfrm>
        </p:grpSpPr>
        <p:grpSp>
          <p:nvGrpSpPr>
            <p:cNvPr id="178212" name="Group 21">
              <a:extLst>
                <a:ext uri="{FF2B5EF4-FFF2-40B4-BE49-F238E27FC236}">
                  <a16:creationId xmlns:a16="http://schemas.microsoft.com/office/drawing/2014/main" id="{227ED451-B3E0-0D4D-CE80-A913D958E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78216" name="AutoShape 22">
                <a:extLst>
                  <a:ext uri="{FF2B5EF4-FFF2-40B4-BE49-F238E27FC236}">
                    <a16:creationId xmlns:a16="http://schemas.microsoft.com/office/drawing/2014/main" id="{C19F7FA9-9D19-0B63-F46B-00887380BC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217" name="AutoShape 23">
                <a:extLst>
                  <a:ext uri="{FF2B5EF4-FFF2-40B4-BE49-F238E27FC236}">
                    <a16:creationId xmlns:a16="http://schemas.microsoft.com/office/drawing/2014/main" id="{9908CC6C-FD4B-2969-DDC4-8B2E8B1F7D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72" name="AutoShape 24">
                <a:extLst>
                  <a:ext uri="{FF2B5EF4-FFF2-40B4-BE49-F238E27FC236}">
                    <a16:creationId xmlns:a16="http://schemas.microsoft.com/office/drawing/2014/main" id="{6038070E-92F9-3025-1534-49CD77EAE87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213" name="Line 25">
              <a:extLst>
                <a:ext uri="{FF2B5EF4-FFF2-40B4-BE49-F238E27FC236}">
                  <a16:creationId xmlns:a16="http://schemas.microsoft.com/office/drawing/2014/main" id="{9A6C25DC-1536-62CF-2DAA-65123D5AD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14" name="Text Box 26">
              <a:extLst>
                <a:ext uri="{FF2B5EF4-FFF2-40B4-BE49-F238E27FC236}">
                  <a16:creationId xmlns:a16="http://schemas.microsoft.com/office/drawing/2014/main" id="{81BAEEA0-35FA-B7FD-E952-4DD5422B3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15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8215" name="Text Box 27">
              <a:extLst>
                <a:ext uri="{FF2B5EF4-FFF2-40B4-BE49-F238E27FC236}">
                  <a16:creationId xmlns:a16="http://schemas.microsoft.com/office/drawing/2014/main" id="{04EBE23E-1110-151A-9CAB-26D1246C15C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78183" name="Group 28">
            <a:extLst>
              <a:ext uri="{FF2B5EF4-FFF2-40B4-BE49-F238E27FC236}">
                <a16:creationId xmlns:a16="http://schemas.microsoft.com/office/drawing/2014/main" id="{91513706-459C-D675-04C3-430EADAAAE76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644900"/>
            <a:ext cx="5410200" cy="712788"/>
            <a:chOff x="1152" y="2239"/>
            <a:chExt cx="3408" cy="449"/>
          </a:xfrm>
        </p:grpSpPr>
        <p:grpSp>
          <p:nvGrpSpPr>
            <p:cNvPr id="178205" name="Group 29">
              <a:extLst>
                <a:ext uri="{FF2B5EF4-FFF2-40B4-BE49-F238E27FC236}">
                  <a16:creationId xmlns:a16="http://schemas.microsoft.com/office/drawing/2014/main" id="{BF24A688-EB5B-2E6D-C07E-EAB1D42960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8209" name="AutoShape 30">
                <a:extLst>
                  <a:ext uri="{FF2B5EF4-FFF2-40B4-BE49-F238E27FC236}">
                    <a16:creationId xmlns:a16="http://schemas.microsoft.com/office/drawing/2014/main" id="{3ACB3F75-6A4E-391E-DD0A-E4F042B94D6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210" name="AutoShape 31">
                <a:extLst>
                  <a:ext uri="{FF2B5EF4-FFF2-40B4-BE49-F238E27FC236}">
                    <a16:creationId xmlns:a16="http://schemas.microsoft.com/office/drawing/2014/main" id="{030F53B0-C850-759E-4968-1684A081EF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80" name="AutoShape 32">
                <a:extLst>
                  <a:ext uri="{FF2B5EF4-FFF2-40B4-BE49-F238E27FC236}">
                    <a16:creationId xmlns:a16="http://schemas.microsoft.com/office/drawing/2014/main" id="{BAD40679-D9AF-6164-3E6F-6BE6F3CA14F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206" name="Line 33">
              <a:extLst>
                <a:ext uri="{FF2B5EF4-FFF2-40B4-BE49-F238E27FC236}">
                  <a16:creationId xmlns:a16="http://schemas.microsoft.com/office/drawing/2014/main" id="{1ECA1DA5-6BD6-0058-0B28-9E7AB17B9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7" name="Text Box 34">
              <a:extLst>
                <a:ext uri="{FF2B5EF4-FFF2-40B4-BE49-F238E27FC236}">
                  <a16:creationId xmlns:a16="http://schemas.microsoft.com/office/drawing/2014/main" id="{92E80D6B-736A-7A11-2AC9-1B64125C3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8208" name="Text Box 35">
              <a:extLst>
                <a:ext uri="{FF2B5EF4-FFF2-40B4-BE49-F238E27FC236}">
                  <a16:creationId xmlns:a16="http://schemas.microsoft.com/office/drawing/2014/main" id="{81822B03-56F5-4F72-43DE-24720529E51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78184" name="Group 36">
            <a:extLst>
              <a:ext uri="{FF2B5EF4-FFF2-40B4-BE49-F238E27FC236}">
                <a16:creationId xmlns:a16="http://schemas.microsoft.com/office/drawing/2014/main" id="{E68D08BD-7FEF-FC89-8D84-7D77BFB3D79B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437063"/>
            <a:ext cx="5410200" cy="712787"/>
            <a:chOff x="1152" y="2815"/>
            <a:chExt cx="3408" cy="449"/>
          </a:xfrm>
        </p:grpSpPr>
        <p:grpSp>
          <p:nvGrpSpPr>
            <p:cNvPr id="178198" name="Group 37">
              <a:extLst>
                <a:ext uri="{FF2B5EF4-FFF2-40B4-BE49-F238E27FC236}">
                  <a16:creationId xmlns:a16="http://schemas.microsoft.com/office/drawing/2014/main" id="{B1C7FCAD-F54C-B1F0-13B2-D551256185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78202" name="AutoShape 38">
                <a:extLst>
                  <a:ext uri="{FF2B5EF4-FFF2-40B4-BE49-F238E27FC236}">
                    <a16:creationId xmlns:a16="http://schemas.microsoft.com/office/drawing/2014/main" id="{5DD01B89-A424-8A3F-572E-B2A770104F8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203" name="AutoShape 39">
                <a:extLst>
                  <a:ext uri="{FF2B5EF4-FFF2-40B4-BE49-F238E27FC236}">
                    <a16:creationId xmlns:a16="http://schemas.microsoft.com/office/drawing/2014/main" id="{D7DDA7A8-8E66-65AE-7771-58406CA81F2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88" name="AutoShape 40">
                <a:extLst>
                  <a:ext uri="{FF2B5EF4-FFF2-40B4-BE49-F238E27FC236}">
                    <a16:creationId xmlns:a16="http://schemas.microsoft.com/office/drawing/2014/main" id="{1E29BAE6-110A-80BF-5ED3-DDA5B8FA83F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199" name="Line 41">
              <a:extLst>
                <a:ext uri="{FF2B5EF4-FFF2-40B4-BE49-F238E27FC236}">
                  <a16:creationId xmlns:a16="http://schemas.microsoft.com/office/drawing/2014/main" id="{6747E759-F961-A631-28C6-734B2190F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0" name="Text Box 42">
              <a:extLst>
                <a:ext uri="{FF2B5EF4-FFF2-40B4-BE49-F238E27FC236}">
                  <a16:creationId xmlns:a16="http://schemas.microsoft.com/office/drawing/2014/main" id="{7EFFD0E1-57E8-10E1-FA29-05D6B9F24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15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不可数集合</a:t>
              </a:r>
            </a:p>
          </p:txBody>
        </p:sp>
        <p:sp>
          <p:nvSpPr>
            <p:cNvPr id="178201" name="Text Box 43">
              <a:extLst>
                <a:ext uri="{FF2B5EF4-FFF2-40B4-BE49-F238E27FC236}">
                  <a16:creationId xmlns:a16="http://schemas.microsoft.com/office/drawing/2014/main" id="{D9B94177-57BA-BF03-3623-DC849C784AD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78185" name="Rectangle 44">
            <a:extLst>
              <a:ext uri="{FF2B5EF4-FFF2-40B4-BE49-F238E27FC236}">
                <a16:creationId xmlns:a16="http://schemas.microsoft.com/office/drawing/2014/main" id="{051B3E44-5994-EC3E-E2DD-85471CEED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133600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无限集合</a:t>
            </a:r>
          </a:p>
        </p:txBody>
      </p:sp>
      <p:sp>
        <p:nvSpPr>
          <p:cNvPr id="178186" name="Rectangle 45">
            <a:extLst>
              <a:ext uri="{FF2B5EF4-FFF2-40B4-BE49-F238E27FC236}">
                <a16:creationId xmlns:a16="http://schemas.microsoft.com/office/drawing/2014/main" id="{195275E7-E792-DED6-C5D4-01D144AD6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852738"/>
            <a:ext cx="2224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集合的基数</a:t>
            </a:r>
          </a:p>
        </p:txBody>
      </p:sp>
      <p:sp>
        <p:nvSpPr>
          <p:cNvPr id="178187" name="Rectangle 46">
            <a:extLst>
              <a:ext uri="{FF2B5EF4-FFF2-40B4-BE49-F238E27FC236}">
                <a16:creationId xmlns:a16="http://schemas.microsoft.com/office/drawing/2014/main" id="{1F42A8DE-439E-C173-0E88-CDEE9BCB8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644900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可数集合</a:t>
            </a:r>
          </a:p>
        </p:txBody>
      </p:sp>
      <p:grpSp>
        <p:nvGrpSpPr>
          <p:cNvPr id="178188" name="Group 47">
            <a:extLst>
              <a:ext uri="{FF2B5EF4-FFF2-40B4-BE49-F238E27FC236}">
                <a16:creationId xmlns:a16="http://schemas.microsoft.com/office/drawing/2014/main" id="{E692DF25-DEEA-E4E5-0DD7-2E8E913E41C6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229225"/>
            <a:ext cx="5410200" cy="712788"/>
            <a:chOff x="1152" y="2239"/>
            <a:chExt cx="3408" cy="449"/>
          </a:xfrm>
        </p:grpSpPr>
        <p:grpSp>
          <p:nvGrpSpPr>
            <p:cNvPr id="178191" name="Group 48">
              <a:extLst>
                <a:ext uri="{FF2B5EF4-FFF2-40B4-BE49-F238E27FC236}">
                  <a16:creationId xmlns:a16="http://schemas.microsoft.com/office/drawing/2014/main" id="{FAD3C44C-F3D4-95F1-8550-7D1CCD9D09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8195" name="AutoShape 49">
                <a:extLst>
                  <a:ext uri="{FF2B5EF4-FFF2-40B4-BE49-F238E27FC236}">
                    <a16:creationId xmlns:a16="http://schemas.microsoft.com/office/drawing/2014/main" id="{0639878E-32CD-78F1-5FF4-1DB467A78E0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8196" name="AutoShape 50">
                <a:extLst>
                  <a:ext uri="{FF2B5EF4-FFF2-40B4-BE49-F238E27FC236}">
                    <a16:creationId xmlns:a16="http://schemas.microsoft.com/office/drawing/2014/main" id="{58437C00-354C-C4A8-4886-9D4C0CC6FF5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2499" name="AutoShape 51">
                <a:extLst>
                  <a:ext uri="{FF2B5EF4-FFF2-40B4-BE49-F238E27FC236}">
                    <a16:creationId xmlns:a16="http://schemas.microsoft.com/office/drawing/2014/main" id="{22B21D34-771D-9E07-AD38-2503F49ED76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78192" name="Line 52">
              <a:extLst>
                <a:ext uri="{FF2B5EF4-FFF2-40B4-BE49-F238E27FC236}">
                  <a16:creationId xmlns:a16="http://schemas.microsoft.com/office/drawing/2014/main" id="{5253DEDB-3BB0-6503-644F-448B57466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193" name="Text Box 53">
              <a:extLst>
                <a:ext uri="{FF2B5EF4-FFF2-40B4-BE49-F238E27FC236}">
                  <a16:creationId xmlns:a16="http://schemas.microsoft.com/office/drawing/2014/main" id="{AE822163-5D04-199A-4B75-E62EE9126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b="1"/>
            </a:p>
          </p:txBody>
        </p:sp>
        <p:sp>
          <p:nvSpPr>
            <p:cNvPr id="178194" name="Text Box 54">
              <a:extLst>
                <a:ext uri="{FF2B5EF4-FFF2-40B4-BE49-F238E27FC236}">
                  <a16:creationId xmlns:a16="http://schemas.microsoft.com/office/drawing/2014/main" id="{141BCB0A-E3BF-1CFA-8CE6-F9694EC7C01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</p:grpSp>
      <p:sp>
        <p:nvSpPr>
          <p:cNvPr id="178189" name="Rectangle 55">
            <a:extLst>
              <a:ext uri="{FF2B5EF4-FFF2-40B4-BE49-F238E27FC236}">
                <a16:creationId xmlns:a16="http://schemas.microsoft.com/office/drawing/2014/main" id="{04570477-7EDB-6B1E-3321-316E7DB86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300663"/>
            <a:ext cx="22240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基数的比较</a:t>
            </a:r>
          </a:p>
        </p:txBody>
      </p:sp>
      <p:sp>
        <p:nvSpPr>
          <p:cNvPr id="178190" name="灯片编号占位符 1">
            <a:extLst>
              <a:ext uri="{FF2B5EF4-FFF2-40B4-BE49-F238E27FC236}">
                <a16:creationId xmlns:a16="http://schemas.microsoft.com/office/drawing/2014/main" id="{FC22EAEA-B792-6ECC-2A9D-6077619A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EAEE83-BE40-4AC9-870A-709421DE433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67A949AB-72CA-FCF3-AB40-C1C2E2D75CD1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3. </a:t>
            </a:r>
            <a:r>
              <a:rPr lang="zh-CN" altLang="en-US" b="1">
                <a:latin typeface="Times New Roman" panose="02020603050405020304" pitchFamily="18" charset="0"/>
              </a:rPr>
              <a:t>集合的基数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有限集合的基数就是的元素个数</a:t>
            </a:r>
            <a:r>
              <a:rPr lang="en-US" altLang="zh-CN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因为</a:t>
            </a:r>
            <a:r>
              <a:rPr lang="en-US" altLang="zh-CN" b="1">
                <a:latin typeface="Times New Roman" panose="02020603050405020304" pitchFamily="18" charset="0"/>
              </a:rPr>
              <a:t>0 =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>
                <a:latin typeface="Times New Roman" panose="02020603050405020304" pitchFamily="18" charset="0"/>
              </a:rPr>
              <a:t>, 1 = {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+ 1 =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>
                <a:latin typeface="Times New Roman" panose="02020603050405020304" pitchFamily="18" charset="0"/>
              </a:rPr>
              <a:t> {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en-US" altLang="zh-CN" b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),</a:t>
            </a:r>
            <a:r>
              <a:rPr lang="zh-CN" altLang="en-US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无限集合</a:t>
            </a:r>
            <a:r>
              <a:rPr lang="en-US" altLang="zh-CN" b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 </a:t>
            </a:r>
            <a:r>
              <a:rPr lang="zh-CN" altLang="en-US" b="1">
                <a:latin typeface="Times New Roman" panose="02020603050405020304" pitchFamily="18" charset="0"/>
              </a:rPr>
              <a:t>若集合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对等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则称这两个集合的基数</a:t>
            </a:r>
            <a:r>
              <a:rPr lang="en-US" altLang="zh-CN" b="1">
                <a:latin typeface="Times New Roman" panose="02020603050405020304" pitchFamily="18" charset="0"/>
              </a:rPr>
              <a:t>(cardinality)</a:t>
            </a:r>
            <a:r>
              <a:rPr lang="zh-CN" altLang="en-US" b="1">
                <a:latin typeface="Times New Roman" panose="02020603050405020304" pitchFamily="18" charset="0"/>
              </a:rPr>
              <a:t>相同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|, card(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), #(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179203" name="Object 3">
            <a:extLst>
              <a:ext uri="{FF2B5EF4-FFF2-40B4-BE49-F238E27FC236}">
                <a16:creationId xmlns:a16="http://schemas.microsoft.com/office/drawing/2014/main" id="{B9DEA150-D1BD-49C3-5E26-3FC7D4E56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221163"/>
          <a:ext cx="14668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6008" imgH="31682" progId="Equation.3">
                  <p:embed/>
                </p:oleObj>
              </mc:Choice>
              <mc:Fallback>
                <p:oleObj name="公式" r:id="rId2" imgW="146008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221163"/>
                        <a:ext cx="14668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4" name="Object 4">
            <a:extLst>
              <a:ext uri="{FF2B5EF4-FFF2-40B4-BE49-F238E27FC236}">
                <a16:creationId xmlns:a16="http://schemas.microsoft.com/office/drawing/2014/main" id="{0E6CE6FA-1CA6-D31A-141B-567EB2CCA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373688"/>
          <a:ext cx="13271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3291" imgH="18915" progId="Equation.3">
                  <p:embed/>
                </p:oleObj>
              </mc:Choice>
              <mc:Fallback>
                <p:oleObj name="公式" r:id="rId4" imgW="133291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373688"/>
                        <a:ext cx="13271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5" name="Object 5">
            <a:extLst>
              <a:ext uri="{FF2B5EF4-FFF2-40B4-BE49-F238E27FC236}">
                <a16:creationId xmlns:a16="http://schemas.microsoft.com/office/drawing/2014/main" id="{E355CC4B-618E-C342-6329-E5053F84E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8875" y="4149725"/>
          <a:ext cx="31083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4440" imgH="31682" progId="Equation.3">
                  <p:embed/>
                </p:oleObj>
              </mc:Choice>
              <mc:Fallback>
                <p:oleObj name="公式" r:id="rId6" imgW="374440" imgH="316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4149725"/>
                        <a:ext cx="31083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>
            <a:extLst>
              <a:ext uri="{FF2B5EF4-FFF2-40B4-BE49-F238E27FC236}">
                <a16:creationId xmlns:a16="http://schemas.microsoft.com/office/drawing/2014/main" id="{71120C90-2F09-BDF6-2131-6196C63545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5300663"/>
          <a:ext cx="38766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2768" imgH="18915" progId="Equation.3">
                  <p:embed/>
                </p:oleObj>
              </mc:Choice>
              <mc:Fallback>
                <p:oleObj name="公式" r:id="rId8" imgW="482768" imgH="1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300663"/>
                        <a:ext cx="38766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7" name="AutoShape 7">
            <a:extLst>
              <a:ext uri="{FF2B5EF4-FFF2-40B4-BE49-F238E27FC236}">
                <a16:creationId xmlns:a16="http://schemas.microsoft.com/office/drawing/2014/main" id="{7EAEFAC3-5739-DE0B-5286-291B9DC2B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221163"/>
            <a:ext cx="1584325" cy="485775"/>
          </a:xfrm>
          <a:prstGeom prst="rightArrow">
            <a:avLst>
              <a:gd name="adj1" fmla="val 50000"/>
              <a:gd name="adj2" fmla="val 815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9208" name="AutoShape 8">
            <a:extLst>
              <a:ext uri="{FF2B5EF4-FFF2-40B4-BE49-F238E27FC236}">
                <a16:creationId xmlns:a16="http://schemas.microsoft.com/office/drawing/2014/main" id="{71539428-A2DF-8DDC-EDFC-0CC9A5D3F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373688"/>
            <a:ext cx="1584325" cy="485775"/>
          </a:xfrm>
          <a:prstGeom prst="rightArrow">
            <a:avLst>
              <a:gd name="adj1" fmla="val 50000"/>
              <a:gd name="adj2" fmla="val 815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9209" name="灯片编号占位符 1">
            <a:extLst>
              <a:ext uri="{FF2B5EF4-FFF2-40B4-BE49-F238E27FC236}">
                <a16:creationId xmlns:a16="http://schemas.microsoft.com/office/drawing/2014/main" id="{E0C76144-0866-82AD-A01C-D4448EBF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270F0C-4AFF-47F1-8CA3-6D316F750CB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BD0786CB-08F8-4855-4FCF-62262E4AFE01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G. Cantor(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1845－1918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德国数学家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被这些问题所折磨难以自拔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除自己的牙齿外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还有什么不能自拔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).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1884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年后患精神病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受到很多人的批评和攻击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包括他的老师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L.Kronecker(1823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－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1891).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用脑过度吗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</a:rPr>
              <a:t>?</a:t>
            </a:r>
          </a:p>
        </p:txBody>
      </p:sp>
      <p:pic>
        <p:nvPicPr>
          <p:cNvPr id="180227" name="Picture 3" descr="c1">
            <a:extLst>
              <a:ext uri="{FF2B5EF4-FFF2-40B4-BE49-F238E27FC236}">
                <a16:creationId xmlns:a16="http://schemas.microsoft.com/office/drawing/2014/main" id="{1979CCBD-5C83-6EC4-FC86-703040308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333375"/>
            <a:ext cx="18002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8" name="灯片编号占位符 1">
            <a:extLst>
              <a:ext uri="{FF2B5EF4-FFF2-40B4-BE49-F238E27FC236}">
                <a16:creationId xmlns:a16="http://schemas.microsoft.com/office/drawing/2014/main" id="{E65D8129-B36C-E8D1-D1A7-ABD8B845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0A6E27-1CBF-4E3D-84F6-E422C3F9285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81FE7FEF-78A0-3EB2-AD51-AADE9750234E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4. </a:t>
            </a:r>
            <a:r>
              <a:rPr lang="zh-CN" altLang="en-US" b="1">
                <a:latin typeface="Times New Roman" panose="02020603050405020304" pitchFamily="18" charset="0"/>
              </a:rPr>
              <a:t>可数集合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可数名词</a:t>
            </a:r>
            <a:r>
              <a:rPr lang="en-US" altLang="zh-CN" b="1">
                <a:latin typeface="Times New Roman" panose="02020603050405020304" pitchFamily="18" charset="0"/>
              </a:rPr>
              <a:t>?)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1-36 </a:t>
            </a:r>
            <a:r>
              <a:rPr lang="zh-CN" altLang="en-US" b="1">
                <a:latin typeface="Times New Roman" panose="02020603050405020304" pitchFamily="18" charset="0"/>
              </a:rPr>
              <a:t>能与自然数集合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对等的集合称为可数集合</a:t>
            </a:r>
            <a:r>
              <a:rPr lang="en-US" altLang="zh-CN" b="1">
                <a:latin typeface="Times New Roman" panose="02020603050405020304" pitchFamily="18" charset="0"/>
              </a:rPr>
              <a:t>(countable set)</a:t>
            </a:r>
            <a:r>
              <a:rPr lang="zh-CN" altLang="en-US" b="1">
                <a:latin typeface="Times New Roman" panose="02020603050405020304" pitchFamily="18" charset="0"/>
              </a:rPr>
              <a:t>或可列集合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181251" name="Oval 3">
            <a:extLst>
              <a:ext uri="{FF2B5EF4-FFF2-40B4-BE49-F238E27FC236}">
                <a16:creationId xmlns:a16="http://schemas.microsoft.com/office/drawing/2014/main" id="{68ACC5DB-48D5-F497-1163-952762779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565400"/>
            <a:ext cx="1296988" cy="2520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2" name="Oval 4">
            <a:extLst>
              <a:ext uri="{FF2B5EF4-FFF2-40B4-BE49-F238E27FC236}">
                <a16:creationId xmlns:a16="http://schemas.microsoft.com/office/drawing/2014/main" id="{13AFDB14-3833-AE1E-015B-1883F5461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492375"/>
            <a:ext cx="1296988" cy="2520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3" name="Oval 5">
            <a:extLst>
              <a:ext uri="{FF2B5EF4-FFF2-40B4-BE49-F238E27FC236}">
                <a16:creationId xmlns:a16="http://schemas.microsoft.com/office/drawing/2014/main" id="{71CB19F5-377E-B14C-7F39-1455689F4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852738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4" name="Oval 6">
            <a:extLst>
              <a:ext uri="{FF2B5EF4-FFF2-40B4-BE49-F238E27FC236}">
                <a16:creationId xmlns:a16="http://schemas.microsoft.com/office/drawing/2014/main" id="{DF77BB00-D3BD-9F7A-F950-CC852EF32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14166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5" name="Oval 7">
            <a:extLst>
              <a:ext uri="{FF2B5EF4-FFF2-40B4-BE49-F238E27FC236}">
                <a16:creationId xmlns:a16="http://schemas.microsoft.com/office/drawing/2014/main" id="{5A9A164F-DBFC-3283-CE05-A6BCCABA2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500438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6" name="Oval 8">
            <a:extLst>
              <a:ext uri="{FF2B5EF4-FFF2-40B4-BE49-F238E27FC236}">
                <a16:creationId xmlns:a16="http://schemas.microsoft.com/office/drawing/2014/main" id="{57D93812-61A8-A521-E443-47332C93D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8608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7" name="Oval 9">
            <a:extLst>
              <a:ext uri="{FF2B5EF4-FFF2-40B4-BE49-F238E27FC236}">
                <a16:creationId xmlns:a16="http://schemas.microsoft.com/office/drawing/2014/main" id="{89254520-EE79-89DF-9E0C-6BBFD0D5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28082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8" name="Oval 10">
            <a:extLst>
              <a:ext uri="{FF2B5EF4-FFF2-40B4-BE49-F238E27FC236}">
                <a16:creationId xmlns:a16="http://schemas.microsoft.com/office/drawing/2014/main" id="{9D6B777F-0F71-AA58-4CFE-EDC30D145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5" y="313531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59" name="Oval 11">
            <a:extLst>
              <a:ext uri="{FF2B5EF4-FFF2-40B4-BE49-F238E27FC236}">
                <a16:creationId xmlns:a16="http://schemas.microsoft.com/office/drawing/2014/main" id="{98857DEC-ABCB-B172-6D3C-2A60C109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5" y="352901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60" name="Oval 12">
            <a:extLst>
              <a:ext uri="{FF2B5EF4-FFF2-40B4-BE49-F238E27FC236}">
                <a16:creationId xmlns:a16="http://schemas.microsoft.com/office/drawing/2014/main" id="{71D29ACD-5502-2FCB-3082-8EFEC4226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5" y="3860800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1261" name="Line 13">
            <a:extLst>
              <a:ext uri="{FF2B5EF4-FFF2-40B4-BE49-F238E27FC236}">
                <a16:creationId xmlns:a16="http://schemas.microsoft.com/office/drawing/2014/main" id="{4FB8AB6B-9407-8ACE-9A0B-44500C87E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852738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2" name="Line 14">
            <a:extLst>
              <a:ext uri="{FF2B5EF4-FFF2-40B4-BE49-F238E27FC236}">
                <a16:creationId xmlns:a16="http://schemas.microsoft.com/office/drawing/2014/main" id="{9B980338-E1A0-3C4F-D0F3-F16989BEE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186113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3" name="Line 15">
            <a:extLst>
              <a:ext uri="{FF2B5EF4-FFF2-40B4-BE49-F238E27FC236}">
                <a16:creationId xmlns:a16="http://schemas.microsoft.com/office/drawing/2014/main" id="{0DBCEB3E-ABD6-BA23-92FE-B814E13F3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573463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4" name="Line 16">
            <a:extLst>
              <a:ext uri="{FF2B5EF4-FFF2-40B4-BE49-F238E27FC236}">
                <a16:creationId xmlns:a16="http://schemas.microsoft.com/office/drawing/2014/main" id="{F2C01F59-2E41-6013-B4A1-2AA54A03E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894138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1265" name="Object 17">
            <a:extLst>
              <a:ext uri="{FF2B5EF4-FFF2-40B4-BE49-F238E27FC236}">
                <a16:creationId xmlns:a16="http://schemas.microsoft.com/office/drawing/2014/main" id="{3AC2D6E8-D2BA-E519-9392-0FEDD9F63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565400"/>
          <a:ext cx="349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0" imgH="25535" progId="Equation.3">
                  <p:embed/>
                </p:oleObj>
              </mc:Choice>
              <mc:Fallback>
                <p:oleObj name="公式" r:id="rId2" imgW="0" imgH="255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565400"/>
                        <a:ext cx="349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6" name="Object 18">
            <a:extLst>
              <a:ext uri="{FF2B5EF4-FFF2-40B4-BE49-F238E27FC236}">
                <a16:creationId xmlns:a16="http://schemas.microsoft.com/office/drawing/2014/main" id="{92CA2886-6CBF-956A-E913-81DD25EF14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7275" y="2941638"/>
          <a:ext cx="2444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0" imgH="25535" progId="Equation.3">
                  <p:embed/>
                </p:oleObj>
              </mc:Choice>
              <mc:Fallback>
                <p:oleObj name="公式" r:id="rId4" imgW="0" imgH="2553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275" y="2941638"/>
                        <a:ext cx="2444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7" name="Object 19">
            <a:extLst>
              <a:ext uri="{FF2B5EF4-FFF2-40B4-BE49-F238E27FC236}">
                <a16:creationId xmlns:a16="http://schemas.microsoft.com/office/drawing/2014/main" id="{241DE4C7-2C39-F0CE-9528-F022315F5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3938" y="3284538"/>
          <a:ext cx="3492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0" imgH="12768" progId="Equation.3">
                  <p:embed/>
                </p:oleObj>
              </mc:Choice>
              <mc:Fallback>
                <p:oleObj name="公式" r:id="rId6" imgW="0" imgH="1276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38" y="3284538"/>
                        <a:ext cx="3492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8" name="Object 20">
            <a:extLst>
              <a:ext uri="{FF2B5EF4-FFF2-40B4-BE49-F238E27FC236}">
                <a16:creationId xmlns:a16="http://schemas.microsoft.com/office/drawing/2014/main" id="{181C8708-22E2-4C6B-D7D9-3B1447F71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9338" y="3644900"/>
          <a:ext cx="3143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25535" progId="Equation.3">
                  <p:embed/>
                </p:oleObj>
              </mc:Choice>
              <mc:Fallback>
                <p:oleObj name="公式" r:id="rId8" imgW="0" imgH="2553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338" y="3644900"/>
                        <a:ext cx="3143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9" name="Object 21">
            <a:extLst>
              <a:ext uri="{FF2B5EF4-FFF2-40B4-BE49-F238E27FC236}">
                <a16:creationId xmlns:a16="http://schemas.microsoft.com/office/drawing/2014/main" id="{C2805507-20B2-5668-F8DE-DA92710DA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8050" y="2474913"/>
          <a:ext cx="4540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123" imgH="31682" progId="Equation.3">
                  <p:embed/>
                </p:oleObj>
              </mc:Choice>
              <mc:Fallback>
                <p:oleObj name="公式" r:id="rId9" imgW="6123" imgH="3168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2474913"/>
                        <a:ext cx="4540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0" name="Object 22">
            <a:extLst>
              <a:ext uri="{FF2B5EF4-FFF2-40B4-BE49-F238E27FC236}">
                <a16:creationId xmlns:a16="http://schemas.microsoft.com/office/drawing/2014/main" id="{C4BF370C-8FBA-182E-1B73-60A0D1068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1538" y="2798763"/>
          <a:ext cx="4191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123" imgH="25535" progId="Equation.3">
                  <p:embed/>
                </p:oleObj>
              </mc:Choice>
              <mc:Fallback>
                <p:oleObj name="公式" r:id="rId11" imgW="6123" imgH="2553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798763"/>
                        <a:ext cx="4191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1" name="Object 23">
            <a:extLst>
              <a:ext uri="{FF2B5EF4-FFF2-40B4-BE49-F238E27FC236}">
                <a16:creationId xmlns:a16="http://schemas.microsoft.com/office/drawing/2014/main" id="{58764A2C-812B-3D4F-4AE7-F7BB92FBA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141663"/>
          <a:ext cx="4889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2717" imgH="25535" progId="Equation.3">
                  <p:embed/>
                </p:oleObj>
              </mc:Choice>
              <mc:Fallback>
                <p:oleObj name="公式" r:id="rId13" imgW="12717" imgH="2553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141663"/>
                        <a:ext cx="4889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2" name="Object 24">
            <a:extLst>
              <a:ext uri="{FF2B5EF4-FFF2-40B4-BE49-F238E27FC236}">
                <a16:creationId xmlns:a16="http://schemas.microsoft.com/office/drawing/2014/main" id="{99656ECA-D393-E328-55EA-4D26C094A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1538" y="3482975"/>
          <a:ext cx="4540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123" imgH="31682" progId="Equation.3">
                  <p:embed/>
                </p:oleObj>
              </mc:Choice>
              <mc:Fallback>
                <p:oleObj name="公式" r:id="rId15" imgW="6123" imgH="3168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482975"/>
                        <a:ext cx="4540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3" name="Object 25">
            <a:extLst>
              <a:ext uri="{FF2B5EF4-FFF2-40B4-BE49-F238E27FC236}">
                <a16:creationId xmlns:a16="http://schemas.microsoft.com/office/drawing/2014/main" id="{D3B751D5-A8FF-481D-B39D-1AB3F9747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076700"/>
          <a:ext cx="2095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0" imgH="38303" progId="Equation.3">
                  <p:embed/>
                </p:oleObj>
              </mc:Choice>
              <mc:Fallback>
                <p:oleObj name="公式" r:id="rId16" imgW="0" imgH="3830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076700"/>
                        <a:ext cx="2095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4" name="Object 26">
            <a:extLst>
              <a:ext uri="{FF2B5EF4-FFF2-40B4-BE49-F238E27FC236}">
                <a16:creationId xmlns:a16="http://schemas.microsoft.com/office/drawing/2014/main" id="{3F429B89-B388-23BB-444D-3331353E2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4076700"/>
          <a:ext cx="2095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0" imgH="38303" progId="Equation.3">
                  <p:embed/>
                </p:oleObj>
              </mc:Choice>
              <mc:Fallback>
                <p:oleObj name="公式" r:id="rId18" imgW="0" imgH="3830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076700"/>
                        <a:ext cx="2095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5" name="Object 27">
            <a:extLst>
              <a:ext uri="{FF2B5EF4-FFF2-40B4-BE49-F238E27FC236}">
                <a16:creationId xmlns:a16="http://schemas.microsoft.com/office/drawing/2014/main" id="{2A3BEA30-55E1-388C-6820-58A8B48D8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7963" y="2259013"/>
          <a:ext cx="454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6123" imgH="18915" progId="Equation.3">
                  <p:embed/>
                </p:oleObj>
              </mc:Choice>
              <mc:Fallback>
                <p:oleObj name="公式" r:id="rId19" imgW="6123" imgH="1891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963" y="2259013"/>
                        <a:ext cx="4540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6" name="Object 28">
            <a:extLst>
              <a:ext uri="{FF2B5EF4-FFF2-40B4-BE49-F238E27FC236}">
                <a16:creationId xmlns:a16="http://schemas.microsoft.com/office/drawing/2014/main" id="{16AF665E-0D41-4961-EC94-7E71EA28F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8188" y="4741863"/>
          <a:ext cx="454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6123" imgH="18915" progId="Equation.3">
                  <p:embed/>
                </p:oleObj>
              </mc:Choice>
              <mc:Fallback>
                <p:oleObj name="公式" r:id="rId21" imgW="6123" imgH="1891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188" y="4741863"/>
                        <a:ext cx="454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7" name="Object 29">
            <a:extLst>
              <a:ext uri="{FF2B5EF4-FFF2-40B4-BE49-F238E27FC236}">
                <a16:creationId xmlns:a16="http://schemas.microsoft.com/office/drawing/2014/main" id="{E7B64AF6-5CA1-CA9F-5ABE-3D90993928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724400"/>
          <a:ext cx="4540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123" imgH="6147" progId="Equation.3">
                  <p:embed/>
                </p:oleObj>
              </mc:Choice>
              <mc:Fallback>
                <p:oleObj name="公式" r:id="rId22" imgW="6123" imgH="614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724400"/>
                        <a:ext cx="4540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8" name="灯片编号占位符 1">
            <a:extLst>
              <a:ext uri="{FF2B5EF4-FFF2-40B4-BE49-F238E27FC236}">
                <a16:creationId xmlns:a16="http://schemas.microsoft.com/office/drawing/2014/main" id="{AF23C2C7-54A4-C12E-31FD-0890D48F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B52418-9BF4-4869-B03D-00F3E370C06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FC4EC926-11FF-6FD4-25E5-1A51C9A51EF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可列集合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N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{0, 2, 4, 6, …}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Z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Q</a:t>
            </a:r>
          </a:p>
          <a:p>
            <a:pPr eaLnBrk="1" hangingPunct="1"/>
            <a:endParaRPr lang="en-US" altLang="zh-CN"/>
          </a:p>
        </p:txBody>
      </p:sp>
      <p:sp>
        <p:nvSpPr>
          <p:cNvPr id="182275" name="灯片编号占位符 1">
            <a:extLst>
              <a:ext uri="{FF2B5EF4-FFF2-40B4-BE49-F238E27FC236}">
                <a16:creationId xmlns:a16="http://schemas.microsoft.com/office/drawing/2014/main" id="{8FDA6750-FCEC-F77A-6CB2-48A99592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8CB6A2-0BB2-46F0-9E94-C609A7DC579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7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7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7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7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A19FF746-04FE-9A62-F5AD-15D53C57B7B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无限集合的特征性质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Theorem 1-29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是无限集合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的一个真子集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使得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~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Proof </a:t>
            </a:r>
            <a:r>
              <a:rPr lang="zh-CN" altLang="en-US" b="1">
                <a:latin typeface="Times New Roman" panose="02020603050405020304" pitchFamily="18" charset="0"/>
              </a:rPr>
              <a:t>因为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是无限集合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存在可数的子集合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考虑</a:t>
            </a:r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  <p:graphicFrame>
        <p:nvGraphicFramePr>
          <p:cNvPr id="183299" name="Object 3">
            <a:extLst>
              <a:ext uri="{FF2B5EF4-FFF2-40B4-BE49-F238E27FC236}">
                <a16:creationId xmlns:a16="http://schemas.microsoft.com/office/drawing/2014/main" id="{9BB8AEE7-A82F-5841-A305-F52E33732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429000"/>
          <a:ext cx="31432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34" imgH="31682" progId="Equation.3">
                  <p:embed/>
                </p:oleObj>
              </mc:Choice>
              <mc:Fallback>
                <p:oleObj name="公式" r:id="rId2" imgW="381034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429000"/>
                        <a:ext cx="31432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0" name="Object 4">
            <a:extLst>
              <a:ext uri="{FF2B5EF4-FFF2-40B4-BE49-F238E27FC236}">
                <a16:creationId xmlns:a16="http://schemas.microsoft.com/office/drawing/2014/main" id="{CFEEA642-4F8F-5EEB-9959-C0EA63240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221163"/>
          <a:ext cx="28082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99" imgH="31682" progId="Equation.3">
                  <p:embed/>
                </p:oleObj>
              </mc:Choice>
              <mc:Fallback>
                <p:oleObj name="Equation" r:id="rId4" imgW="279299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21163"/>
                        <a:ext cx="280828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1" name="灯片编号占位符 1">
            <a:extLst>
              <a:ext uri="{FF2B5EF4-FFF2-40B4-BE49-F238E27FC236}">
                <a16:creationId xmlns:a16="http://schemas.microsoft.com/office/drawing/2014/main" id="{788511BA-61D1-27F6-2625-20032212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3A3C61-5E7E-4D05-A117-DCD0F11D147D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77385B1F-C056-EF38-51D7-DBD42FC7E13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5. </a:t>
            </a:r>
            <a:r>
              <a:rPr lang="zh-CN" altLang="en-US" b="1">
                <a:latin typeface="Times New Roman" panose="02020603050405020304" pitchFamily="18" charset="0"/>
              </a:rPr>
              <a:t>不可数集合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不可数名词</a:t>
            </a:r>
            <a:r>
              <a:rPr lang="en-US" altLang="zh-CN" b="1">
                <a:latin typeface="Times New Roman" panose="02020603050405020304" pitchFamily="18" charset="0"/>
              </a:rPr>
              <a:t>?)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是否所有无限集合都是可数的</a:t>
            </a:r>
            <a:r>
              <a:rPr lang="en-US" altLang="zh-CN" b="1">
                <a:latin typeface="Times New Roman" panose="02020603050405020304" pitchFamily="18" charset="0"/>
              </a:rPr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zh-CN" altLang="en-US" b="1">
                <a:latin typeface="Times New Roman" panose="02020603050405020304" pitchFamily="18" charset="0"/>
              </a:rPr>
              <a:t> 证明</a:t>
            </a:r>
            <a:r>
              <a:rPr lang="en-US" altLang="zh-CN" b="1">
                <a:latin typeface="Times New Roman" panose="02020603050405020304" pitchFamily="18" charset="0"/>
              </a:rPr>
              <a:t>: (0,1)</a:t>
            </a:r>
            <a:r>
              <a:rPr lang="zh-CN" altLang="en-US" b="1">
                <a:latin typeface="Times New Roman" panose="02020603050405020304" pitchFamily="18" charset="0"/>
              </a:rPr>
              <a:t>是不可数集合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Proof(</a:t>
            </a:r>
            <a:r>
              <a:rPr lang="zh-CN" altLang="en-US" b="1">
                <a:latin typeface="Times New Roman" panose="02020603050405020304" pitchFamily="18" charset="0"/>
              </a:rPr>
              <a:t>反证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取</a:t>
            </a:r>
            <a:r>
              <a:rPr lang="en-US" altLang="zh-CN" b="1">
                <a:latin typeface="Times New Roman" panose="02020603050405020304" pitchFamily="18" charset="0"/>
              </a:rPr>
              <a:t>(see below)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184323" name="Object 3">
            <a:extLst>
              <a:ext uri="{FF2B5EF4-FFF2-40B4-BE49-F238E27FC236}">
                <a16:creationId xmlns:a16="http://schemas.microsoft.com/office/drawing/2014/main" id="{314720A8-9132-C33C-10D1-9491BD860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420938"/>
          <a:ext cx="4330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9758" imgH="31682" progId="Equation.3">
                  <p:embed/>
                </p:oleObj>
              </mc:Choice>
              <mc:Fallback>
                <p:oleObj name="Equation" r:id="rId2" imgW="539758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420938"/>
                        <a:ext cx="43307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4" name="Object 4">
            <a:extLst>
              <a:ext uri="{FF2B5EF4-FFF2-40B4-BE49-F238E27FC236}">
                <a16:creationId xmlns:a16="http://schemas.microsoft.com/office/drawing/2014/main" id="{3A5C6D8B-0981-CB50-4A9A-8F754D0A43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284538"/>
          <a:ext cx="53435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766" imgH="31682" progId="Equation.3">
                  <p:embed/>
                </p:oleObj>
              </mc:Choice>
              <mc:Fallback>
                <p:oleObj name="公式" r:id="rId4" imgW="685766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284538"/>
                        <a:ext cx="53435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5" name="Object 5">
            <a:extLst>
              <a:ext uri="{FF2B5EF4-FFF2-40B4-BE49-F238E27FC236}">
                <a16:creationId xmlns:a16="http://schemas.microsoft.com/office/drawing/2014/main" id="{6F82C457-6879-ED15-FEC9-E4B03336D5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005263"/>
          <a:ext cx="30384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1723" imgH="31682" progId="Equation.3">
                  <p:embed/>
                </p:oleObj>
              </mc:Choice>
              <mc:Fallback>
                <p:oleObj name="公式" r:id="rId6" imgW="361723" imgH="316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005263"/>
                        <a:ext cx="30384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6" name="Object 6">
            <a:extLst>
              <a:ext uri="{FF2B5EF4-FFF2-40B4-BE49-F238E27FC236}">
                <a16:creationId xmlns:a16="http://schemas.microsoft.com/office/drawing/2014/main" id="{32AF612C-6B6E-4FA0-191A-F561C3B59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797425"/>
          <a:ext cx="443547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8598" imgH="133350" progId="Equation.3">
                  <p:embed/>
                </p:oleObj>
              </mc:Choice>
              <mc:Fallback>
                <p:oleObj name="公式" r:id="rId8" imgW="558598" imgH="1333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97425"/>
                        <a:ext cx="443547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7" name="灯片编号占位符 1">
            <a:extLst>
              <a:ext uri="{FF2B5EF4-FFF2-40B4-BE49-F238E27FC236}">
                <a16:creationId xmlns:a16="http://schemas.microsoft.com/office/drawing/2014/main" id="{804DA68F-0A9D-E38C-3452-5544088C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C12790-8E75-4B46-AE15-20773E63B08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8ED6DFA5-FC8A-9778-E6D1-64D63E70CF5B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aphicFrame>
        <p:nvGraphicFramePr>
          <p:cNvPr id="185347" name="Object 3">
            <a:extLst>
              <a:ext uri="{FF2B5EF4-FFF2-40B4-BE49-F238E27FC236}">
                <a16:creationId xmlns:a16="http://schemas.microsoft.com/office/drawing/2014/main" id="{8823BB18-AD3A-5C75-F197-68943D83D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49275"/>
          <a:ext cx="38766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82768" imgH="31682" progId="Equation.3">
                  <p:embed/>
                </p:oleObj>
              </mc:Choice>
              <mc:Fallback>
                <p:oleObj name="公式" r:id="rId2" imgW="482768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49275"/>
                        <a:ext cx="38766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>
            <a:extLst>
              <a:ext uri="{FF2B5EF4-FFF2-40B4-BE49-F238E27FC236}">
                <a16:creationId xmlns:a16="http://schemas.microsoft.com/office/drawing/2014/main" id="{9ED8F285-9B76-3743-385F-B6D8E4B901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412875"/>
          <a:ext cx="37020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7335" imgH="31682" progId="Equation.3">
                  <p:embed/>
                </p:oleObj>
              </mc:Choice>
              <mc:Fallback>
                <p:oleObj name="公式" r:id="rId4" imgW="457335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12875"/>
                        <a:ext cx="37020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>
            <a:extLst>
              <a:ext uri="{FF2B5EF4-FFF2-40B4-BE49-F238E27FC236}">
                <a16:creationId xmlns:a16="http://schemas.microsoft.com/office/drawing/2014/main" id="{30B791D0-C0B9-8E44-4116-A12FBD3C31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420938"/>
          <a:ext cx="37719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3457" imgH="31682" progId="Equation.3">
                  <p:embed/>
                </p:oleObj>
              </mc:Choice>
              <mc:Fallback>
                <p:oleObj name="公式" r:id="rId6" imgW="463457" imgH="316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20938"/>
                        <a:ext cx="37719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>
            <a:extLst>
              <a:ext uri="{FF2B5EF4-FFF2-40B4-BE49-F238E27FC236}">
                <a16:creationId xmlns:a16="http://schemas.microsoft.com/office/drawing/2014/main" id="{B336E75D-D3D9-DBDB-1CBB-A8C1CE6A9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357563"/>
          <a:ext cx="2095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38303" progId="Equation.3">
                  <p:embed/>
                </p:oleObj>
              </mc:Choice>
              <mc:Fallback>
                <p:oleObj name="公式" r:id="rId8" imgW="0" imgH="3830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357563"/>
                        <a:ext cx="2095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>
            <a:extLst>
              <a:ext uri="{FF2B5EF4-FFF2-40B4-BE49-F238E27FC236}">
                <a16:creationId xmlns:a16="http://schemas.microsoft.com/office/drawing/2014/main" id="{D5F020DC-5CDF-43B7-975E-37D02EAA72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076700"/>
          <a:ext cx="30384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1723" imgH="31682" progId="Equation.3">
                  <p:embed/>
                </p:oleObj>
              </mc:Choice>
              <mc:Fallback>
                <p:oleObj name="公式" r:id="rId10" imgW="361723" imgH="3168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76700"/>
                        <a:ext cx="30384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>
            <a:extLst>
              <a:ext uri="{FF2B5EF4-FFF2-40B4-BE49-F238E27FC236}">
                <a16:creationId xmlns:a16="http://schemas.microsoft.com/office/drawing/2014/main" id="{71AA04A2-D8C8-BF20-8B0D-6EEF05271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49275"/>
          <a:ext cx="28987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9477" imgH="31682" progId="Equation.3">
                  <p:embed/>
                </p:oleObj>
              </mc:Choice>
              <mc:Fallback>
                <p:oleObj name="公式" r:id="rId12" imgW="349477" imgH="3168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49275"/>
                        <a:ext cx="28987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9">
            <a:extLst>
              <a:ext uri="{FF2B5EF4-FFF2-40B4-BE49-F238E27FC236}">
                <a16:creationId xmlns:a16="http://schemas.microsoft.com/office/drawing/2014/main" id="{63DADD53-7980-365A-E6D6-BD62D4EF0D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84313"/>
          <a:ext cx="28638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42883" imgH="25535" progId="Equation.3">
                  <p:embed/>
                </p:oleObj>
              </mc:Choice>
              <mc:Fallback>
                <p:oleObj name="公式" r:id="rId14" imgW="342883" imgH="255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84313"/>
                        <a:ext cx="28638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10">
            <a:extLst>
              <a:ext uri="{FF2B5EF4-FFF2-40B4-BE49-F238E27FC236}">
                <a16:creationId xmlns:a16="http://schemas.microsoft.com/office/drawing/2014/main" id="{DFD74AAE-EB46-6AB1-E7ED-A8099F108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420938"/>
          <a:ext cx="29337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55600" imgH="25535" progId="Equation.3">
                  <p:embed/>
                </p:oleObj>
              </mc:Choice>
              <mc:Fallback>
                <p:oleObj name="公式" r:id="rId16" imgW="355600" imgH="255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420938"/>
                        <a:ext cx="29337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11">
            <a:extLst>
              <a:ext uri="{FF2B5EF4-FFF2-40B4-BE49-F238E27FC236}">
                <a16:creationId xmlns:a16="http://schemas.microsoft.com/office/drawing/2014/main" id="{20538BB6-D71B-9013-F795-5B69D44E27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3284538"/>
          <a:ext cx="2095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38303" progId="Equation.3">
                  <p:embed/>
                </p:oleObj>
              </mc:Choice>
              <mc:Fallback>
                <p:oleObj name="公式" r:id="rId8" imgW="0" imgH="3830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284538"/>
                        <a:ext cx="2095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>
            <a:extLst>
              <a:ext uri="{FF2B5EF4-FFF2-40B4-BE49-F238E27FC236}">
                <a16:creationId xmlns:a16="http://schemas.microsoft.com/office/drawing/2014/main" id="{0FA362ED-CBF2-6F40-51CB-055EFF2098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4076700"/>
          <a:ext cx="22701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0459" imgH="18915" progId="Equation.3">
                  <p:embed/>
                </p:oleObj>
              </mc:Choice>
              <mc:Fallback>
                <p:oleObj name="公式" r:id="rId18" imgW="260459" imgH="1891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076700"/>
                        <a:ext cx="22701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7" name="Object 13">
            <a:extLst>
              <a:ext uri="{FF2B5EF4-FFF2-40B4-BE49-F238E27FC236}">
                <a16:creationId xmlns:a16="http://schemas.microsoft.com/office/drawing/2014/main" id="{37CA729C-BC72-8BF1-4ECB-AE6014F86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797425"/>
          <a:ext cx="443547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58598" imgH="133350" progId="Equation.3">
                  <p:embed/>
                </p:oleObj>
              </mc:Choice>
              <mc:Fallback>
                <p:oleObj name="公式" r:id="rId20" imgW="558598" imgH="13335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97425"/>
                        <a:ext cx="443547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8" name="灯片编号占位符 1">
            <a:extLst>
              <a:ext uri="{FF2B5EF4-FFF2-40B4-BE49-F238E27FC236}">
                <a16:creationId xmlns:a16="http://schemas.microsoft.com/office/drawing/2014/main" id="{C28AA0DB-90E6-ED9C-D82A-011D6456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09337C-72D2-4D4D-9113-BAA30F9BDC7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6E4AA48-9EE5-7EB4-BCD4-4E22FA00B12A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6. </a:t>
            </a:r>
            <a:r>
              <a:rPr lang="zh-CN" altLang="en-US" b="1">
                <a:latin typeface="Times New Roman" panose="02020603050405020304" pitchFamily="18" charset="0"/>
              </a:rPr>
              <a:t>基数的比较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1-37 </a:t>
            </a:r>
            <a:r>
              <a:rPr lang="zh-CN" altLang="en-US" b="1">
                <a:latin typeface="Times New Roman" panose="02020603050405020304" pitchFamily="18" charset="0"/>
              </a:rPr>
              <a:t>给定集合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的单射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的基数小于等于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的基数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 |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若进一步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不存在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的双射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的基数小于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的基数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  |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86371" name="Oval 3">
            <a:extLst>
              <a:ext uri="{FF2B5EF4-FFF2-40B4-BE49-F238E27FC236}">
                <a16:creationId xmlns:a16="http://schemas.microsoft.com/office/drawing/2014/main" id="{626D13CD-BD39-C762-6D08-C4555BC38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357563"/>
            <a:ext cx="1366837" cy="2159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6372" name="Oval 4">
            <a:extLst>
              <a:ext uri="{FF2B5EF4-FFF2-40B4-BE49-F238E27FC236}">
                <a16:creationId xmlns:a16="http://schemas.microsoft.com/office/drawing/2014/main" id="{51504AFC-D014-934A-5E5F-4120BCC54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357563"/>
            <a:ext cx="2016125" cy="2232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86373" name="Object 5">
            <a:extLst>
              <a:ext uri="{FF2B5EF4-FFF2-40B4-BE49-F238E27FC236}">
                <a16:creationId xmlns:a16="http://schemas.microsoft.com/office/drawing/2014/main" id="{86B1582C-E464-8813-993D-D7D9334581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013325"/>
          <a:ext cx="454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123" imgH="18915" progId="Equation.3">
                  <p:embed/>
                </p:oleObj>
              </mc:Choice>
              <mc:Fallback>
                <p:oleObj name="公式" r:id="rId2" imgW="6123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013325"/>
                        <a:ext cx="454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>
            <a:extLst>
              <a:ext uri="{FF2B5EF4-FFF2-40B4-BE49-F238E27FC236}">
                <a16:creationId xmlns:a16="http://schemas.microsoft.com/office/drawing/2014/main" id="{4C7774FB-7511-867E-B07A-0457F79FA3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013325"/>
          <a:ext cx="41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23" imgH="6147" progId="Equation.3">
                  <p:embed/>
                </p:oleObj>
              </mc:Choice>
              <mc:Fallback>
                <p:oleObj name="公式" r:id="rId4" imgW="6123" imgH="61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013325"/>
                        <a:ext cx="41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5" name="Line 7">
            <a:extLst>
              <a:ext uri="{FF2B5EF4-FFF2-40B4-BE49-F238E27FC236}">
                <a16:creationId xmlns:a16="http://schemas.microsoft.com/office/drawing/2014/main" id="{987B7693-A9F2-13B7-64CC-D554B9E41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3933825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76" name="Line 8">
            <a:extLst>
              <a:ext uri="{FF2B5EF4-FFF2-40B4-BE49-F238E27FC236}">
                <a16:creationId xmlns:a16="http://schemas.microsoft.com/office/drawing/2014/main" id="{E4678179-5E6B-7C4A-7C81-E553ADDCA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365625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77" name="Line 9">
            <a:extLst>
              <a:ext uri="{FF2B5EF4-FFF2-40B4-BE49-F238E27FC236}">
                <a16:creationId xmlns:a16="http://schemas.microsoft.com/office/drawing/2014/main" id="{746D6895-D52F-3E22-A6DF-F10F4ACDA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797425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78" name="Oval 10">
            <a:extLst>
              <a:ext uri="{FF2B5EF4-FFF2-40B4-BE49-F238E27FC236}">
                <a16:creationId xmlns:a16="http://schemas.microsoft.com/office/drawing/2014/main" id="{1AD2A335-F99E-61BE-69EA-870474088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644900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6379" name="Oval 11">
            <a:extLst>
              <a:ext uri="{FF2B5EF4-FFF2-40B4-BE49-F238E27FC236}">
                <a16:creationId xmlns:a16="http://schemas.microsoft.com/office/drawing/2014/main" id="{16C39202-3E43-4585-3D52-6CE97224D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22116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86380" name="Object 12">
            <a:extLst>
              <a:ext uri="{FF2B5EF4-FFF2-40B4-BE49-F238E27FC236}">
                <a16:creationId xmlns:a16="http://schemas.microsoft.com/office/drawing/2014/main" id="{1A536C03-CE7A-BC60-D03E-3C51C61B4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6825" y="3716338"/>
          <a:ext cx="349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0" imgH="25535" progId="Equation.3">
                  <p:embed/>
                </p:oleObj>
              </mc:Choice>
              <mc:Fallback>
                <p:oleObj name="公式" r:id="rId6" imgW="0" imgH="255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3716338"/>
                        <a:ext cx="349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1" name="Object 13">
            <a:extLst>
              <a:ext uri="{FF2B5EF4-FFF2-40B4-BE49-F238E27FC236}">
                <a16:creationId xmlns:a16="http://schemas.microsoft.com/office/drawing/2014/main" id="{EE932923-7E5C-EF8E-0834-6B7C7C86D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716338"/>
          <a:ext cx="349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0" imgH="25535" progId="Equation.3">
                  <p:embed/>
                </p:oleObj>
              </mc:Choice>
              <mc:Fallback>
                <p:oleObj name="公式" r:id="rId6" imgW="0" imgH="2553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716338"/>
                        <a:ext cx="349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2" name="Object 14">
            <a:extLst>
              <a:ext uri="{FF2B5EF4-FFF2-40B4-BE49-F238E27FC236}">
                <a16:creationId xmlns:a16="http://schemas.microsoft.com/office/drawing/2014/main" id="{890BF88B-3300-359F-854F-9AE47A4F4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4167188"/>
          <a:ext cx="3143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12768" progId="Equation.3">
                  <p:embed/>
                </p:oleObj>
              </mc:Choice>
              <mc:Fallback>
                <p:oleObj name="公式" r:id="rId8" imgW="0" imgH="1276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4167188"/>
                        <a:ext cx="3143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3" name="Object 15">
            <a:extLst>
              <a:ext uri="{FF2B5EF4-FFF2-40B4-BE49-F238E27FC236}">
                <a16:creationId xmlns:a16="http://schemas.microsoft.com/office/drawing/2014/main" id="{CA6DA522-FC8F-5380-8D59-63C0A7E58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4149725"/>
          <a:ext cx="3143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12768" progId="Equation.3">
                  <p:embed/>
                </p:oleObj>
              </mc:Choice>
              <mc:Fallback>
                <p:oleObj name="公式" r:id="rId8" imgW="0" imgH="1276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149725"/>
                        <a:ext cx="3143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4" name="Object 16">
            <a:extLst>
              <a:ext uri="{FF2B5EF4-FFF2-40B4-BE49-F238E27FC236}">
                <a16:creationId xmlns:a16="http://schemas.microsoft.com/office/drawing/2014/main" id="{D623A031-F4D8-86AC-035B-0A944285F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4581525"/>
          <a:ext cx="3492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0" imgH="12768" progId="Equation.3">
                  <p:embed/>
                </p:oleObj>
              </mc:Choice>
              <mc:Fallback>
                <p:oleObj name="公式" r:id="rId10" imgW="0" imgH="1276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4581525"/>
                        <a:ext cx="3492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5" name="Object 17">
            <a:extLst>
              <a:ext uri="{FF2B5EF4-FFF2-40B4-BE49-F238E27FC236}">
                <a16:creationId xmlns:a16="http://schemas.microsoft.com/office/drawing/2014/main" id="{96E871F8-A767-7632-3D32-F6D7BF1EC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4508500"/>
          <a:ext cx="3492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0" imgH="12768" progId="Equation.3">
                  <p:embed/>
                </p:oleObj>
              </mc:Choice>
              <mc:Fallback>
                <p:oleObj name="公式" r:id="rId10" imgW="0" imgH="1276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508500"/>
                        <a:ext cx="3492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6" name="Object 18">
            <a:extLst>
              <a:ext uri="{FF2B5EF4-FFF2-40B4-BE49-F238E27FC236}">
                <a16:creationId xmlns:a16="http://schemas.microsoft.com/office/drawing/2014/main" id="{66CCFBC3-7D41-0523-872C-BF0345A25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589588"/>
          <a:ext cx="30035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61723" imgH="44450" progId="Equation.3">
                  <p:embed/>
                </p:oleObj>
              </mc:Choice>
              <mc:Fallback>
                <p:oleObj name="公式" r:id="rId11" imgW="361723" imgH="4445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589588"/>
                        <a:ext cx="30035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7" name="灯片编号占位符 1">
            <a:extLst>
              <a:ext uri="{FF2B5EF4-FFF2-40B4-BE49-F238E27FC236}">
                <a16:creationId xmlns:a16="http://schemas.microsoft.com/office/drawing/2014/main" id="{298E3FCF-F26F-1C08-ACF6-ABA83ADB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9A24B3-CA4B-4364-8507-AAF44F12698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8B3DC5FF-0D6A-ADC2-0900-52FB77DE5FD8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由定义易知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若存在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的满射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 |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显然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Problem </a:t>
            </a:r>
            <a:r>
              <a:rPr lang="zh-CN" altLang="en-US" b="1">
                <a:latin typeface="Times New Roman" panose="02020603050405020304" pitchFamily="18" charset="0"/>
              </a:rPr>
              <a:t>是否存在集合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满足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著名的连续统假设</a:t>
            </a:r>
            <a:r>
              <a:rPr lang="en-US" altLang="zh-CN" b="1">
                <a:latin typeface="Times New Roman" panose="02020603050405020304" pitchFamily="18" charset="0"/>
              </a:rPr>
              <a:t>: 193?Godel “</a:t>
            </a:r>
            <a:r>
              <a:rPr lang="zh-CN" altLang="en-US" b="1">
                <a:latin typeface="Times New Roman" panose="02020603050405020304" pitchFamily="18" charset="0"/>
              </a:rPr>
              <a:t>不完全性</a:t>
            </a:r>
            <a:r>
              <a:rPr lang="en-US" altLang="zh-CN" b="1">
                <a:latin typeface="Times New Roman" panose="02020603050405020304" pitchFamily="18" charset="0"/>
              </a:rPr>
              <a:t>”</a:t>
            </a:r>
            <a:r>
              <a:rPr lang="zh-CN" altLang="en-US" b="1">
                <a:latin typeface="Times New Roman" panose="02020603050405020304" pitchFamily="18" charset="0"/>
              </a:rPr>
              <a:t>无法证明错误</a:t>
            </a:r>
            <a:r>
              <a:rPr lang="en-US" altLang="zh-CN" b="1">
                <a:latin typeface="Times New Roman" panose="02020603050405020304" pitchFamily="18" charset="0"/>
              </a:rPr>
              <a:t>; 196?Cohen“</a:t>
            </a:r>
            <a:r>
              <a:rPr lang="zh-CN" altLang="en-US" b="1">
                <a:latin typeface="Times New Roman" panose="02020603050405020304" pitchFamily="18" charset="0"/>
              </a:rPr>
              <a:t>独立性</a:t>
            </a:r>
            <a:r>
              <a:rPr lang="en-US" altLang="zh-CN" b="1">
                <a:latin typeface="Times New Roman" panose="02020603050405020304" pitchFamily="18" charset="0"/>
              </a:rPr>
              <a:t>”</a:t>
            </a:r>
            <a:r>
              <a:rPr lang="zh-CN" altLang="en-US" b="1">
                <a:latin typeface="Times New Roman" panose="02020603050405020304" pitchFamily="18" charset="0"/>
              </a:rPr>
              <a:t>无法证明正确</a:t>
            </a:r>
            <a:r>
              <a:rPr lang="en-US" altLang="zh-CN" b="1">
                <a:latin typeface="Times New Roman" panose="02020603050405020304" pitchFamily="18" charset="0"/>
              </a:rPr>
              <a:t>?!)</a:t>
            </a:r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187395" name="Object 3">
            <a:extLst>
              <a:ext uri="{FF2B5EF4-FFF2-40B4-BE49-F238E27FC236}">
                <a16:creationId xmlns:a16="http://schemas.microsoft.com/office/drawing/2014/main" id="{E889CDA7-3527-2C98-E344-5298C44D9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773238"/>
          <a:ext cx="13620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291" imgH="31682" progId="Equation.3">
                  <p:embed/>
                </p:oleObj>
              </mc:Choice>
              <mc:Fallback>
                <p:oleObj name="Equation" r:id="rId2" imgW="133291" imgH="316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13620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>
            <a:extLst>
              <a:ext uri="{FF2B5EF4-FFF2-40B4-BE49-F238E27FC236}">
                <a16:creationId xmlns:a16="http://schemas.microsoft.com/office/drawing/2014/main" id="{66235593-DE57-F3EF-D17C-063416159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3714750"/>
          <a:ext cx="23050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2" imgH="31682" progId="Equation.3">
                  <p:embed/>
                </p:oleObj>
              </mc:Choice>
              <mc:Fallback>
                <p:oleObj name="Equation" r:id="rId4" imgW="266582" imgH="316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3714750"/>
                        <a:ext cx="2305050" cy="6286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Object 5">
            <a:extLst>
              <a:ext uri="{FF2B5EF4-FFF2-40B4-BE49-F238E27FC236}">
                <a16:creationId xmlns:a16="http://schemas.microsoft.com/office/drawing/2014/main" id="{3C5EA623-F825-5669-B5A1-0A862A8B7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708275"/>
          <a:ext cx="489743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65192" imgH="31682" progId="Equation.3">
                  <p:embed/>
                </p:oleObj>
              </mc:Choice>
              <mc:Fallback>
                <p:oleObj name="公式" r:id="rId6" imgW="565192" imgH="316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708275"/>
                        <a:ext cx="4897437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8" name="灯片编号占位符 1">
            <a:extLst>
              <a:ext uri="{FF2B5EF4-FFF2-40B4-BE49-F238E27FC236}">
                <a16:creationId xmlns:a16="http://schemas.microsoft.com/office/drawing/2014/main" id="{18287BCA-AF7F-0B26-CFE2-12199D69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E9A9B8-CBBA-4328-83B3-039D49E8A48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AutoShape 2">
            <a:extLst>
              <a:ext uri="{FF2B5EF4-FFF2-40B4-BE49-F238E27FC236}">
                <a16:creationId xmlns:a16="http://schemas.microsoft.com/office/drawing/2014/main" id="{AD3783DA-20A1-C2DE-ABB9-462350B42390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3205C9C5-8ED3-759F-A5AE-FC18CA71A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/>
              <a:t>小结与作业</a:t>
            </a:r>
          </a:p>
        </p:txBody>
      </p:sp>
      <p:grpSp>
        <p:nvGrpSpPr>
          <p:cNvPr id="188420" name="Group 4">
            <a:extLst>
              <a:ext uri="{FF2B5EF4-FFF2-40B4-BE49-F238E27FC236}">
                <a16:creationId xmlns:a16="http://schemas.microsoft.com/office/drawing/2014/main" id="{F4A05EE7-E830-12DF-1A2D-3620EBA6ECF3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700213"/>
            <a:ext cx="5181600" cy="508000"/>
            <a:chOff x="1419" y="1480"/>
            <a:chExt cx="3575" cy="363"/>
          </a:xfrm>
        </p:grpSpPr>
        <p:grpSp>
          <p:nvGrpSpPr>
            <p:cNvPr id="188450" name="Group 5">
              <a:extLst>
                <a:ext uri="{FF2B5EF4-FFF2-40B4-BE49-F238E27FC236}">
                  <a16:creationId xmlns:a16="http://schemas.microsoft.com/office/drawing/2014/main" id="{D09FB7A1-6640-AA36-E861-3AD265F643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45766" name="Oval 6">
                <a:extLst>
                  <a:ext uri="{FF2B5EF4-FFF2-40B4-BE49-F238E27FC236}">
                    <a16:creationId xmlns:a16="http://schemas.microsoft.com/office/drawing/2014/main" id="{957EBC2A-010E-8C70-F8A6-2948D4121FC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45767" name="AutoShape 7">
                <a:extLst>
                  <a:ext uri="{FF2B5EF4-FFF2-40B4-BE49-F238E27FC236}">
                    <a16:creationId xmlns:a16="http://schemas.microsoft.com/office/drawing/2014/main" id="{B6AC0CE0-C276-6F00-5AB7-8EDB06952E6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en-US" altLang="zh-CN" sz="3200" b="1" i="1">
                    <a:latin typeface="Times New Roman" pitchFamily="18" charset="0"/>
                  </a:rPr>
                  <a:t>A</a:t>
                </a:r>
                <a:r>
                  <a:rPr lang="en-US" altLang="zh-CN" sz="3200" b="1">
                    <a:latin typeface="Times New Roman" pitchFamily="18" charset="0"/>
                  </a:rPr>
                  <a:t> ~ </a:t>
                </a:r>
                <a:r>
                  <a:rPr lang="en-US" altLang="zh-CN" sz="3200" b="1" i="1">
                    <a:latin typeface="Times New Roman" pitchFamily="18" charset="0"/>
                  </a:rPr>
                  <a:t>B</a:t>
                </a:r>
              </a:p>
            </p:txBody>
          </p:sp>
        </p:grpSp>
        <p:sp>
          <p:nvSpPr>
            <p:cNvPr id="245768" name="Oval 8">
              <a:extLst>
                <a:ext uri="{FF2B5EF4-FFF2-40B4-BE49-F238E27FC236}">
                  <a16:creationId xmlns:a16="http://schemas.microsoft.com/office/drawing/2014/main" id="{00F18E38-D181-38F9-76D0-645B2C2504C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88452" name="Oval 9">
              <a:extLst>
                <a:ext uri="{FF2B5EF4-FFF2-40B4-BE49-F238E27FC236}">
                  <a16:creationId xmlns:a16="http://schemas.microsoft.com/office/drawing/2014/main" id="{C8930E19-CDF9-4205-06B7-0D904984C8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88421" name="Group 10">
            <a:extLst>
              <a:ext uri="{FF2B5EF4-FFF2-40B4-BE49-F238E27FC236}">
                <a16:creationId xmlns:a16="http://schemas.microsoft.com/office/drawing/2014/main" id="{79FBBBF3-12AC-BF4C-C639-3749F6DB468E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565400"/>
            <a:ext cx="5181600" cy="508000"/>
            <a:chOff x="1419" y="1480"/>
            <a:chExt cx="3575" cy="363"/>
          </a:xfrm>
        </p:grpSpPr>
        <p:grpSp>
          <p:nvGrpSpPr>
            <p:cNvPr id="188445" name="Group 11">
              <a:extLst>
                <a:ext uri="{FF2B5EF4-FFF2-40B4-BE49-F238E27FC236}">
                  <a16:creationId xmlns:a16="http://schemas.microsoft.com/office/drawing/2014/main" id="{4D09ECD8-6A37-E3C2-015C-A6719066E1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45772" name="Oval 12">
                <a:extLst>
                  <a:ext uri="{FF2B5EF4-FFF2-40B4-BE49-F238E27FC236}">
                    <a16:creationId xmlns:a16="http://schemas.microsoft.com/office/drawing/2014/main" id="{18132732-8D29-40C5-05BE-1A158E58C02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45773" name="AutoShape 13">
                <a:extLst>
                  <a:ext uri="{FF2B5EF4-FFF2-40B4-BE49-F238E27FC236}">
                    <a16:creationId xmlns:a16="http://schemas.microsoft.com/office/drawing/2014/main" id="{FF81C2B0-05CD-3CA3-A379-B82B3B91E6C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3200" b="1">
                    <a:latin typeface="Times New Roman" pitchFamily="18" charset="0"/>
                  </a:rPr>
                  <a:t>无限集合与集合的基数</a:t>
                </a:r>
              </a:p>
            </p:txBody>
          </p:sp>
        </p:grpSp>
        <p:sp>
          <p:nvSpPr>
            <p:cNvPr id="245774" name="Oval 14">
              <a:extLst>
                <a:ext uri="{FF2B5EF4-FFF2-40B4-BE49-F238E27FC236}">
                  <a16:creationId xmlns:a16="http://schemas.microsoft.com/office/drawing/2014/main" id="{73891622-FA7E-F0A0-7F7C-589B59AB20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88447" name="Oval 15">
              <a:extLst>
                <a:ext uri="{FF2B5EF4-FFF2-40B4-BE49-F238E27FC236}">
                  <a16:creationId xmlns:a16="http://schemas.microsoft.com/office/drawing/2014/main" id="{EB19F43C-89EC-52B3-DFB1-D09EE4A641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88422" name="Group 16">
            <a:extLst>
              <a:ext uri="{FF2B5EF4-FFF2-40B4-BE49-F238E27FC236}">
                <a16:creationId xmlns:a16="http://schemas.microsoft.com/office/drawing/2014/main" id="{E7E8957C-EFAC-147B-0221-2ED04B73FE66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573463"/>
            <a:ext cx="5181600" cy="508000"/>
            <a:chOff x="1419" y="1480"/>
            <a:chExt cx="3575" cy="363"/>
          </a:xfrm>
        </p:grpSpPr>
        <p:grpSp>
          <p:nvGrpSpPr>
            <p:cNvPr id="188440" name="Group 17">
              <a:extLst>
                <a:ext uri="{FF2B5EF4-FFF2-40B4-BE49-F238E27FC236}">
                  <a16:creationId xmlns:a16="http://schemas.microsoft.com/office/drawing/2014/main" id="{665E8343-6F36-D1E0-9CB6-74A5AC8C0E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45778" name="Oval 18">
                <a:extLst>
                  <a:ext uri="{FF2B5EF4-FFF2-40B4-BE49-F238E27FC236}">
                    <a16:creationId xmlns:a16="http://schemas.microsoft.com/office/drawing/2014/main" id="{05093977-7B8A-FCBF-59DE-0CFF6F4144C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45779" name="AutoShape 19">
                <a:extLst>
                  <a:ext uri="{FF2B5EF4-FFF2-40B4-BE49-F238E27FC236}">
                    <a16:creationId xmlns:a16="http://schemas.microsoft.com/office/drawing/2014/main" id="{AA556A54-67FA-2FA4-0DDE-D326E50505C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2800" b="1">
                    <a:latin typeface="Arial" charset="0"/>
                  </a:rPr>
                  <a:t>可数集合与不可数集合</a:t>
                </a:r>
              </a:p>
            </p:txBody>
          </p:sp>
        </p:grpSp>
        <p:sp>
          <p:nvSpPr>
            <p:cNvPr id="245780" name="Oval 20">
              <a:extLst>
                <a:ext uri="{FF2B5EF4-FFF2-40B4-BE49-F238E27FC236}">
                  <a16:creationId xmlns:a16="http://schemas.microsoft.com/office/drawing/2014/main" id="{EB9BC9BC-C47F-0DDD-AB5B-D74862D9E5B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88442" name="Oval 21">
              <a:extLst>
                <a:ext uri="{FF2B5EF4-FFF2-40B4-BE49-F238E27FC236}">
                  <a16:creationId xmlns:a16="http://schemas.microsoft.com/office/drawing/2014/main" id="{411DD5F5-9695-4831-FE1D-CC8E6302A7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8423" name="AutoShape 22">
            <a:extLst>
              <a:ext uri="{FF2B5EF4-FFF2-40B4-BE49-F238E27FC236}">
                <a16:creationId xmlns:a16="http://schemas.microsoft.com/office/drawing/2014/main" id="{4D36B3E4-E4A5-2C8C-C3A5-89991D618A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188424" name="AutoShape 23">
            <a:extLst>
              <a:ext uri="{FF2B5EF4-FFF2-40B4-BE49-F238E27FC236}">
                <a16:creationId xmlns:a16="http://schemas.microsoft.com/office/drawing/2014/main" id="{87FACF90-24D2-3FE0-0C9B-9DFFF1A44E3E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1800" b="1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188425" name="Group 24">
            <a:extLst>
              <a:ext uri="{FF2B5EF4-FFF2-40B4-BE49-F238E27FC236}">
                <a16:creationId xmlns:a16="http://schemas.microsoft.com/office/drawing/2014/main" id="{BD1A340E-3B3E-50E7-38B9-2AD24B97A3C4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300663"/>
            <a:ext cx="5381625" cy="685800"/>
            <a:chOff x="1152" y="2832"/>
            <a:chExt cx="3408" cy="432"/>
          </a:xfrm>
        </p:grpSpPr>
        <p:grpSp>
          <p:nvGrpSpPr>
            <p:cNvPr id="188433" name="Group 25">
              <a:extLst>
                <a:ext uri="{FF2B5EF4-FFF2-40B4-BE49-F238E27FC236}">
                  <a16:creationId xmlns:a16="http://schemas.microsoft.com/office/drawing/2014/main" id="{68EEB75D-277D-BE80-F2CE-933E8D936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88437" name="AutoShape 26">
                <a:extLst>
                  <a:ext uri="{FF2B5EF4-FFF2-40B4-BE49-F238E27FC236}">
                    <a16:creationId xmlns:a16="http://schemas.microsoft.com/office/drawing/2014/main" id="{1AB5DD13-CD71-9FA1-0DBA-7E842FBCA2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88438" name="AutoShape 27">
                <a:extLst>
                  <a:ext uri="{FF2B5EF4-FFF2-40B4-BE49-F238E27FC236}">
                    <a16:creationId xmlns:a16="http://schemas.microsoft.com/office/drawing/2014/main" id="{911B44E6-7564-CCC6-B4FF-875557E79C0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45788" name="AutoShape 28">
                <a:extLst>
                  <a:ext uri="{FF2B5EF4-FFF2-40B4-BE49-F238E27FC236}">
                    <a16:creationId xmlns:a16="http://schemas.microsoft.com/office/drawing/2014/main" id="{AD6789BB-B0F1-5345-6FE8-D570EAFF226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6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188434" name="Line 29">
              <a:extLst>
                <a:ext uri="{FF2B5EF4-FFF2-40B4-BE49-F238E27FC236}">
                  <a16:creationId xmlns:a16="http://schemas.microsoft.com/office/drawing/2014/main" id="{ADB556E4-DB4D-EA82-24FD-06ADF415B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5" name="Text Box 30">
              <a:extLst>
                <a:ext uri="{FF2B5EF4-FFF2-40B4-BE49-F238E27FC236}">
                  <a16:creationId xmlns:a16="http://schemas.microsoft.com/office/drawing/2014/main" id="{CBE6AD27-01DD-9960-E2E5-64D5617B5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32"/>
              <a:ext cx="1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>
                  <a:latin typeface="Times New Roman" panose="02020603050405020304" pitchFamily="18" charset="0"/>
                </a:rPr>
                <a:t>习题</a:t>
              </a:r>
              <a:r>
                <a:rPr lang="en-US" altLang="zh-CN" b="1">
                  <a:latin typeface="Times New Roman" panose="02020603050405020304" pitchFamily="18" charset="0"/>
                </a:rPr>
                <a:t>1.6  4, 5, 6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8436" name="Text Box 31">
              <a:extLst>
                <a:ext uri="{FF2B5EF4-FFF2-40B4-BE49-F238E27FC236}">
                  <a16:creationId xmlns:a16="http://schemas.microsoft.com/office/drawing/2014/main" id="{CC9D80B6-75A3-82F7-E754-43C2AFF9DC8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作业</a:t>
              </a:r>
            </a:p>
          </p:txBody>
        </p:sp>
      </p:grpSp>
      <p:grpSp>
        <p:nvGrpSpPr>
          <p:cNvPr id="188426" name="Group 32">
            <a:extLst>
              <a:ext uri="{FF2B5EF4-FFF2-40B4-BE49-F238E27FC236}">
                <a16:creationId xmlns:a16="http://schemas.microsoft.com/office/drawing/2014/main" id="{5EBBE20E-22F0-889B-B3AE-3FA3B1099C5B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4652963"/>
            <a:ext cx="5181600" cy="508000"/>
            <a:chOff x="1419" y="1480"/>
            <a:chExt cx="3575" cy="363"/>
          </a:xfrm>
        </p:grpSpPr>
        <p:grpSp>
          <p:nvGrpSpPr>
            <p:cNvPr id="188428" name="Group 33">
              <a:extLst>
                <a:ext uri="{FF2B5EF4-FFF2-40B4-BE49-F238E27FC236}">
                  <a16:creationId xmlns:a16="http://schemas.microsoft.com/office/drawing/2014/main" id="{F10E5F14-3B76-12FA-978F-60D8CE091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45794" name="Oval 34">
                <a:extLst>
                  <a:ext uri="{FF2B5EF4-FFF2-40B4-BE49-F238E27FC236}">
                    <a16:creationId xmlns:a16="http://schemas.microsoft.com/office/drawing/2014/main" id="{296B89DC-9C42-6B98-4520-C966AFBD0D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45795" name="AutoShape 35">
                <a:extLst>
                  <a:ext uri="{FF2B5EF4-FFF2-40B4-BE49-F238E27FC236}">
                    <a16:creationId xmlns:a16="http://schemas.microsoft.com/office/drawing/2014/main" id="{DCB26740-70A8-E28C-065E-180346DD226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sz="2800" b="1"/>
                  <a:t>基数的比较</a:t>
                </a:r>
              </a:p>
            </p:txBody>
          </p:sp>
        </p:grpSp>
        <p:sp>
          <p:nvSpPr>
            <p:cNvPr id="245796" name="Oval 36">
              <a:extLst>
                <a:ext uri="{FF2B5EF4-FFF2-40B4-BE49-F238E27FC236}">
                  <a16:creationId xmlns:a16="http://schemas.microsoft.com/office/drawing/2014/main" id="{85F7DDAC-AF32-2716-7728-3CBF7A27E4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88430" name="Oval 37">
              <a:extLst>
                <a:ext uri="{FF2B5EF4-FFF2-40B4-BE49-F238E27FC236}">
                  <a16:creationId xmlns:a16="http://schemas.microsoft.com/office/drawing/2014/main" id="{D7894783-5B2E-F62D-044C-84FBA626EB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8427" name="灯片编号占位符 1">
            <a:extLst>
              <a:ext uri="{FF2B5EF4-FFF2-40B4-BE49-F238E27FC236}">
                <a16:creationId xmlns:a16="http://schemas.microsoft.com/office/drawing/2014/main" id="{A3A9DE35-DA4A-52A4-71F9-76690246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34AD3F-AD07-4A1D-AD67-B5C57BF8BED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D46B7B16-E195-07FB-7943-1D52EB8C59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43213" y="620713"/>
            <a:ext cx="3384550" cy="1431925"/>
          </a:xfrm>
        </p:spPr>
        <p:txBody>
          <a:bodyPr/>
          <a:lstStyle/>
          <a:p>
            <a:pPr eaLnBrk="1" hangingPunct="1"/>
            <a:r>
              <a:rPr lang="zh-CN" altLang="en-US"/>
              <a:t>离散数学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C50C7B89-7EA8-3E98-44C6-5C277812B0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24075" y="2781300"/>
            <a:ext cx="4968875" cy="936625"/>
          </a:xfrm>
        </p:spPr>
        <p:txBody>
          <a:bodyPr/>
          <a:lstStyle/>
          <a:p>
            <a:pPr eaLnBrk="1" hangingPunct="1"/>
            <a:r>
              <a:rPr lang="zh-CN" altLang="en-US" sz="3600" b="1">
                <a:latin typeface="宋体" panose="02010600030101010101" pitchFamily="2" charset="-122"/>
              </a:rPr>
              <a:t>第</a:t>
            </a:r>
            <a:r>
              <a:rPr lang="en-US" altLang="zh-CN" sz="3600" b="1">
                <a:latin typeface="宋体" panose="02010600030101010101" pitchFamily="2" charset="-122"/>
              </a:rPr>
              <a:t>1</a:t>
            </a:r>
            <a:r>
              <a:rPr lang="zh-CN" altLang="en-US" sz="3600" b="1">
                <a:latin typeface="宋体" panose="02010600030101010101" pitchFamily="2" charset="-122"/>
              </a:rPr>
              <a:t>章复习小结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2DFC8DEB-6B11-9B72-64D6-AD6A74DFE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、集合的有关概念</a:t>
            </a:r>
            <a:r>
              <a:rPr lang="zh-CN" altLang="en-US"/>
              <a:t> 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3FA82743-89EC-81DD-F585-8D11D63B3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集合就是一些对象构成的整体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中元素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否则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理解集合就是要把集合中的元素搞清楚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需要知道一些背景知识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如整数、整除、偶数、素数、因数、空集、元组等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90468" name="灯片编号占位符 1">
            <a:extLst>
              <a:ext uri="{FF2B5EF4-FFF2-40B4-BE49-F238E27FC236}">
                <a16:creationId xmlns:a16="http://schemas.microsoft.com/office/drawing/2014/main" id="{C13C48A9-0DC8-2008-7B33-43D84A18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163F3E-01FB-49DE-B48C-9AB4D6DC521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09F136A7-9877-1387-F8F6-132FEB7DC83C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表示集合可以用列举法、描述法和递归法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集合中的元素可以是任意对象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如元素本身又可以是集合</a:t>
            </a:r>
            <a:r>
              <a:rPr lang="en-US" altLang="zh-CN" b="1">
                <a:latin typeface="Times New Roman" panose="02020603050405020304" pitchFamily="18" charset="0"/>
              </a:rPr>
              <a:t>; </a:t>
            </a:r>
            <a:r>
              <a:rPr lang="zh-CN" altLang="en-US" b="1">
                <a:latin typeface="Times New Roman" panose="02020603050405020304" pitchFamily="18" charset="0"/>
              </a:rPr>
              <a:t>集合中的元素本身没有顺序关系</a:t>
            </a:r>
            <a:r>
              <a:rPr lang="en-US" altLang="zh-CN" b="1">
                <a:latin typeface="Times New Roman" panose="02020603050405020304" pitchFamily="18" charset="0"/>
              </a:rPr>
              <a:t>; </a:t>
            </a:r>
            <a:r>
              <a:rPr lang="zh-CN" altLang="en-US" b="1">
                <a:latin typeface="Times New Roman" panose="02020603050405020304" pitchFamily="18" charset="0"/>
              </a:rPr>
              <a:t>集合中的元素原则上不重复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  <p:sp>
        <p:nvSpPr>
          <p:cNvPr id="191491" name="灯片编号占位符 1">
            <a:extLst>
              <a:ext uri="{FF2B5EF4-FFF2-40B4-BE49-F238E27FC236}">
                <a16:creationId xmlns:a16="http://schemas.microsoft.com/office/drawing/2014/main" id="{C0A623D4-3002-63DF-780B-2CC5988D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127387-CFBA-4E59-8F34-45B673C4040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F9EADA84-C291-C636-46C6-094EB99DF92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给定集合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的子集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就是集合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中的一些元素构成的“新”集合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要注意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zh-CN" altLang="en-US" b="1">
                <a:latin typeface="Times New Roman" panose="02020603050405020304" pitchFamily="18" charset="0"/>
              </a:rPr>
              <a:t>和 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zh-CN" altLang="en-US" b="1">
                <a:latin typeface="Times New Roman" panose="02020603050405020304" pitchFamily="18" charset="0"/>
              </a:rPr>
              <a:t>的区别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 </a:t>
            </a:r>
            <a:r>
              <a:rPr lang="zh-CN" altLang="en-US" b="1">
                <a:latin typeface="宋体" panose="02010600030101010101" pitchFamily="2" charset="-122"/>
              </a:rPr>
              <a:t>判断题</a:t>
            </a:r>
            <a:r>
              <a:rPr lang="en-US" altLang="zh-CN" b="1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  .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  .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  {}.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(4)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  {}.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192515" name="灯片编号占位符 1">
            <a:extLst>
              <a:ext uri="{FF2B5EF4-FFF2-40B4-BE49-F238E27FC236}">
                <a16:creationId xmlns:a16="http://schemas.microsoft.com/office/drawing/2014/main" id="{B04CAF3F-E554-0872-721C-7D151B9A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3D9C4E-89F8-4990-B5FE-CCD9A5593C1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CEB65577-2F6C-AE62-7A46-6DA8640454C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由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b="1">
                <a:latin typeface="Times New Roman" panose="02020603050405020304" pitchFamily="18" charset="0"/>
              </a:rPr>
              <a:t>可否得出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Solution </a:t>
            </a:r>
            <a:r>
              <a:rPr lang="zh-CN" altLang="en-US" b="1">
                <a:latin typeface="Times New Roman" panose="02020603050405020304" pitchFamily="18" charset="0"/>
              </a:rPr>
              <a:t>不成立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例如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}}.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</p:txBody>
      </p:sp>
      <p:sp>
        <p:nvSpPr>
          <p:cNvPr id="193539" name="Oval 3">
            <a:extLst>
              <a:ext uri="{FF2B5EF4-FFF2-40B4-BE49-F238E27FC236}">
                <a16:creationId xmlns:a16="http://schemas.microsoft.com/office/drawing/2014/main" id="{8DC981B1-4EF4-A728-1CBB-CF2BB7C5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981075"/>
            <a:ext cx="3313112" cy="2016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3540" name="Oval 4">
            <a:extLst>
              <a:ext uri="{FF2B5EF4-FFF2-40B4-BE49-F238E27FC236}">
                <a16:creationId xmlns:a16="http://schemas.microsoft.com/office/drawing/2014/main" id="{C241B551-47F7-5E6C-F42D-6D366DFFD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484313"/>
            <a:ext cx="1439862" cy="719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93541" name="Object 5">
            <a:extLst>
              <a:ext uri="{FF2B5EF4-FFF2-40B4-BE49-F238E27FC236}">
                <a16:creationId xmlns:a16="http://schemas.microsoft.com/office/drawing/2014/main" id="{20DF8004-35E3-2EC2-147E-37F6E6F09F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557338"/>
          <a:ext cx="4429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123" imgH="6147" progId="Equation.3">
                  <p:embed/>
                </p:oleObj>
              </mc:Choice>
              <mc:Fallback>
                <p:oleObj name="公式" r:id="rId2" imgW="6123" imgH="61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557338"/>
                        <a:ext cx="4429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2" name="Object 6">
            <a:extLst>
              <a:ext uri="{FF2B5EF4-FFF2-40B4-BE49-F238E27FC236}">
                <a16:creationId xmlns:a16="http://schemas.microsoft.com/office/drawing/2014/main" id="{F67815A1-ED93-1084-3745-8724259A8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341438"/>
          <a:ext cx="4429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23" imgH="6147" progId="Equation.3">
                  <p:embed/>
                </p:oleObj>
              </mc:Choice>
              <mc:Fallback>
                <p:oleObj name="公式" r:id="rId4" imgW="6123" imgH="61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341438"/>
                        <a:ext cx="44291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3" name="灯片编号占位符 1">
            <a:extLst>
              <a:ext uri="{FF2B5EF4-FFF2-40B4-BE49-F238E27FC236}">
                <a16:creationId xmlns:a16="http://schemas.microsoft.com/office/drawing/2014/main" id="{66766CA9-09B6-54C9-3A99-09289C56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56805F-F95A-4BBF-85DB-7BE1A262AEDA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1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792367AE-445D-2B20-289C-F800EF9183C8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证明两个集合相等常用到“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的充要条件是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且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. ”</a:t>
            </a:r>
            <a:r>
              <a:rPr lang="zh-CN" altLang="en-US" b="1">
                <a:latin typeface="Times New Roman" panose="02020603050405020304" pitchFamily="18" charset="0"/>
              </a:rPr>
              <a:t>结论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/>
          </a:p>
        </p:txBody>
      </p:sp>
      <p:sp>
        <p:nvSpPr>
          <p:cNvPr id="194563" name="灯片编号占位符 1">
            <a:extLst>
              <a:ext uri="{FF2B5EF4-FFF2-40B4-BE49-F238E27FC236}">
                <a16:creationId xmlns:a16="http://schemas.microsoft.com/office/drawing/2014/main" id="{262BA837-FC12-D539-377B-B3CBFDAE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4B3729-F29C-4E8B-8A0C-BB868ACD0D8A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68F08AEB-20F9-BBF3-C981-E171E6F3E66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的幂集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的所有子集构成的集合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注意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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), </a:t>
            </a:r>
            <a:r>
              <a:rPr lang="zh-CN" altLang="en-US" b="1">
                <a:latin typeface="Times New Roman" panose="02020603050405020304" pitchFamily="18" charset="0"/>
              </a:rPr>
              <a:t>要求会计算给定集合的幂集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/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重要结论是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| =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)| = 2</a:t>
            </a:r>
            <a:r>
              <a:rPr lang="en-US" altLang="zh-CN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95587" name="灯片编号占位符 1">
            <a:extLst>
              <a:ext uri="{FF2B5EF4-FFF2-40B4-BE49-F238E27FC236}">
                <a16:creationId xmlns:a16="http://schemas.microsoft.com/office/drawing/2014/main" id="{CD64A77B-51FC-8FF1-3E41-6B7CA15B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8DBF70-6C8E-4E4F-8650-E30105514EE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251517AE-F12A-33E6-8462-DFF2A685D726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3 </a:t>
            </a:r>
            <a:r>
              <a:rPr lang="zh-CN" altLang="en-US" b="1">
                <a:latin typeface="Times New Roman" panose="02020603050405020304" pitchFamily="18" charset="0"/>
              </a:rPr>
              <a:t>计算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(),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())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({, {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}})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Solution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() = {}.</a:t>
            </a:r>
            <a:endParaRPr lang="en-US" altLang="zh-CN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())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({}) = {, {}}.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({, {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}}) =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?</a:t>
            </a:r>
            <a:endParaRPr lang="en-US" altLang="zh-CN" b="1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=</a:t>
            </a:r>
            <a:r>
              <a:rPr lang="en-US" altLang="zh-CN"/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{, {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}} 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= ?</a:t>
            </a:r>
          </a:p>
        </p:txBody>
      </p:sp>
      <p:sp>
        <p:nvSpPr>
          <p:cNvPr id="196611" name="灯片编号占位符 1">
            <a:extLst>
              <a:ext uri="{FF2B5EF4-FFF2-40B4-BE49-F238E27FC236}">
                <a16:creationId xmlns:a16="http://schemas.microsoft.com/office/drawing/2014/main" id="{4659BDD5-5D5E-D980-21DC-04254250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2EDF72-B5DC-449D-BC6B-3F23E50BDA5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9A13726F-FB82-2F7F-DE61-B1B06E05C87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选取的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个元素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,…,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按一定顺序排列排列起来就是一个元组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,…,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数据结构</a:t>
            </a:r>
            <a:r>
              <a:rPr lang="en-US" altLang="zh-CN" b="1">
                <a:latin typeface="Times New Roman" panose="02020603050405020304" pitchFamily="18" charset="0"/>
              </a:rPr>
              <a:t>: (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 = (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文法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 = (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自动机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 = (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, ∑,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en-US" altLang="zh-CN" b="1" baseline="-30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97635" name="灯片编号占位符 1">
            <a:extLst>
              <a:ext uri="{FF2B5EF4-FFF2-40B4-BE49-F238E27FC236}">
                <a16:creationId xmlns:a16="http://schemas.microsoft.com/office/drawing/2014/main" id="{BE2E0E35-5E68-4CEC-7931-DC5FC56F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9E31F1-2091-435D-BB0E-6C1EB7F013CE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C62D998F-8D1F-27B9-CE96-F5B6F2CB841E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笛卡儿积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…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= {(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,…, 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chemeClr val="accent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)| 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chemeClr val="accent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chemeClr val="accent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 i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 = 1, 2, …, </a:t>
            </a:r>
            <a:r>
              <a:rPr lang="en-US" altLang="zh-CN" b="1" i="1">
                <a:solidFill>
                  <a:schemeClr val="accent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能熟练计算笛卡儿积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| = 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, |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| =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| = </a:t>
            </a:r>
            <a:r>
              <a:rPr lang="en-US" altLang="zh-CN" b="1" i="1">
                <a:latin typeface="Times New Roman" panose="02020603050405020304" pitchFamily="18" charset="0"/>
              </a:rPr>
              <a:t>mn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98659" name="灯片编号占位符 1">
            <a:extLst>
              <a:ext uri="{FF2B5EF4-FFF2-40B4-BE49-F238E27FC236}">
                <a16:creationId xmlns:a16="http://schemas.microsoft.com/office/drawing/2014/main" id="{870E027C-3880-A04C-2398-A6575FA9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2B45BD-33E4-4396-921A-286B9E8BC04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5D71F206-4FED-7238-C29B-65DBE1E71D8B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4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= {1, 2},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zh-CN" altLang="en-US" b="1">
                <a:latin typeface="Times New Roman" panose="02020603050405020304" pitchFamily="18" charset="0"/>
              </a:rPr>
              <a:t>求</a:t>
            </a:r>
            <a:r>
              <a:rPr lang="en-US" altLang="zh-CN" b="1" i="1">
                <a:latin typeface="Times New Roman" panose="02020603050405020304" pitchFamily="18" charset="0"/>
              </a:rPr>
              <a:t>A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 A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b="1" i="1">
                <a:latin typeface="Times New Roman" panose="02020603050405020304" pitchFamily="18" charset="0"/>
              </a:rPr>
              <a:t>C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Solution</a:t>
            </a:r>
          </a:p>
          <a:p>
            <a:pPr eaLnBrk="1" hangingPunct="1">
              <a:lnSpc>
                <a:spcPct val="120000"/>
              </a:lnSpc>
            </a:pP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={(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,1,),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,1,),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,2,),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,2,)}.</a:t>
            </a:r>
          </a:p>
          <a:p>
            <a:pPr eaLnBrk="1" hangingPunct="1">
              <a:lnSpc>
                <a:spcPct val="120000"/>
              </a:lnSpc>
            </a:pP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                   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{(1, ), (2, )}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Remark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 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  = 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65F9E7BD-DA41-47DA-D60B-FE4D1C66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99684" name="Object 4">
            <a:extLst>
              <a:ext uri="{FF2B5EF4-FFF2-40B4-BE49-F238E27FC236}">
                <a16:creationId xmlns:a16="http://schemas.microsoft.com/office/drawing/2014/main" id="{DBD5E623-F0F9-10B3-609C-3D4C8B545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1700213"/>
          <a:ext cx="5232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05077" imgH="18915" progId="Equation.3">
                  <p:embed/>
                </p:oleObj>
              </mc:Choice>
              <mc:Fallback>
                <p:oleObj name="公式" r:id="rId2" imgW="705077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700213"/>
                        <a:ext cx="5232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Rectangle 5">
            <a:extLst>
              <a:ext uri="{FF2B5EF4-FFF2-40B4-BE49-F238E27FC236}">
                <a16:creationId xmlns:a16="http://schemas.microsoft.com/office/drawing/2014/main" id="{0CA04CA1-D3F7-E660-31F2-7E5F9AC05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9686" name="灯片编号占位符 1">
            <a:extLst>
              <a:ext uri="{FF2B5EF4-FFF2-40B4-BE49-F238E27FC236}">
                <a16:creationId xmlns:a16="http://schemas.microsoft.com/office/drawing/2014/main" id="{B278F879-C8A2-05CF-090A-F64D5F45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FAC9B8-F07C-417C-A2DD-FCFD2A1674C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3C97FD9C-0C8D-3782-F430-ABB589C0C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、映射的有关概念</a:t>
            </a:r>
            <a:r>
              <a:rPr lang="zh-CN" altLang="en-US"/>
              <a:t> 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BA0FE251-7657-CADD-F888-D6BED13D4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映射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就是将集合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的元素唯一对应到集合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中元素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要深入理解映射的含义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包括函数符号的选取和多元函数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区分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的不同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了解天花板函数和地板函数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00708" name="灯片编号占位符 1">
            <a:extLst>
              <a:ext uri="{FF2B5EF4-FFF2-40B4-BE49-F238E27FC236}">
                <a16:creationId xmlns:a16="http://schemas.microsoft.com/office/drawing/2014/main" id="{07B7AC8F-C5D1-1381-204E-5CB5C22E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1DB33E-28BD-4B51-820D-B938A59F9E3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DF4F1827-0B1E-AAB8-2B32-25E552B4540C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映射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若不同的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中元素对应不同的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中元素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就是单射</a:t>
            </a:r>
            <a:r>
              <a:rPr lang="en-US" altLang="zh-CN" b="1"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若函数值充满整个集合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就是满射</a:t>
            </a:r>
            <a:r>
              <a:rPr lang="en-US" altLang="zh-CN" b="1"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既是单射又是满射即为双射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01731" name="灯片编号占位符 1">
            <a:extLst>
              <a:ext uri="{FF2B5EF4-FFF2-40B4-BE49-F238E27FC236}">
                <a16:creationId xmlns:a16="http://schemas.microsoft.com/office/drawing/2014/main" id="{3BFF7E12-3F35-ECFE-DAD3-146248ED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B2C42D-082B-404A-BC98-8D075035C4CE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031E6715-038A-6D12-4E06-5A41BE319110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若将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的方向逆转能得到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的函数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它就是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的逆函数或反函数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="1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函数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有反函数的充要条件是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是双射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02755" name="灯片编号占位符 1">
            <a:extLst>
              <a:ext uri="{FF2B5EF4-FFF2-40B4-BE49-F238E27FC236}">
                <a16:creationId xmlns:a16="http://schemas.microsoft.com/office/drawing/2014/main" id="{EAA5E09E-436B-117A-C03E-87FB4EBC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3EFF60-8D97-4813-8CE7-4C44183D133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673A4866-C156-EB9A-C186-78085DC712A8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先进行映射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zh-CN" altLang="en-US" b="1">
                <a:latin typeface="Times New Roman" panose="02020603050405020304" pitchFamily="18" charset="0"/>
              </a:rPr>
              <a:t>再进行映射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可得到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zh-CN" altLang="en-US" b="1">
                <a:latin typeface="Times New Roman" panose="02020603050405020304" pitchFamily="18" charset="0"/>
              </a:rPr>
              <a:t>的映射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它就是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的复合映射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记为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folHlink"/>
                </a:solidFill>
                <a:sym typeface="Symbol" panose="05050102010706020507" pitchFamily="18" charset="2"/>
              </a:rPr>
              <a:t>◦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要求掌握两个函数的复合运算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一般来说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但 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h =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◦(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特别应注意函数的复合运算与单射、满射和双射之间的关系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/>
              <a:t> </a:t>
            </a:r>
          </a:p>
        </p:txBody>
      </p:sp>
      <p:sp>
        <p:nvSpPr>
          <p:cNvPr id="203779" name="灯片编号占位符 1">
            <a:extLst>
              <a:ext uri="{FF2B5EF4-FFF2-40B4-BE49-F238E27FC236}">
                <a16:creationId xmlns:a16="http://schemas.microsoft.com/office/drawing/2014/main" id="{E2A7B393-CD15-6A0B-6BED-39AF7216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80CCBA-D72E-4242-8F9A-BED7BFA9CA0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CCD5878E-4B3D-5B03-74FF-F53A0D86D9FA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5 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1.2, 4) </a:t>
            </a:r>
            <a:r>
              <a:rPr lang="zh-CN" altLang="en-US" b="1">
                <a:latin typeface="Times New Roman" panose="02020603050405020304" pitchFamily="18" charset="0"/>
              </a:rPr>
              <a:t>假定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 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)(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)) =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  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</a:rPr>
              <a:t>)(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)) =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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04803" name="灯片编号占位符 1">
            <a:extLst>
              <a:ext uri="{FF2B5EF4-FFF2-40B4-BE49-F238E27FC236}">
                <a16:creationId xmlns:a16="http://schemas.microsoft.com/office/drawing/2014/main" id="{72B20128-761F-64DF-DCE5-7CE955BA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757697-EE7C-4365-A4AA-A9D160B90E9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2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2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5C616D6B-BB67-C77F-4E70-5F8E5B0BAE4E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6(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1.2, 8)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若存在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使得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是双射且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  </a:t>
            </a:r>
            <a:r>
              <a:rPr lang="zh-CN" altLang="en-US" b="1">
                <a:latin typeface="Times New Roman" panose="02020603050405020304" pitchFamily="18" charset="0"/>
              </a:rPr>
              <a:t>由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知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是单射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由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知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是满射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于是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是双射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进而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存在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由于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folHlink"/>
                </a:solidFill>
                <a:sym typeface="Symbol" panose="05050102010706020507" pitchFamily="18" charset="2"/>
              </a:rPr>
              <a:t>◦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而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) = (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)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且     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05827" name="灯片编号占位符 1">
            <a:extLst>
              <a:ext uri="{FF2B5EF4-FFF2-40B4-BE49-F238E27FC236}">
                <a16:creationId xmlns:a16="http://schemas.microsoft.com/office/drawing/2014/main" id="{80B7911D-C537-16AA-DCCA-21893AF9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5CD4FD-0580-4F12-AC50-0834805A5E5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2EFD556B-ED3A-768A-F4D2-E0E6E2FD6DE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7(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1.2, 13)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h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h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h</a:t>
            </a:r>
            <a:r>
              <a:rPr lang="zh-CN" altLang="en-US" b="1">
                <a:latin typeface="Times New Roman" panose="02020603050405020304" pitchFamily="18" charset="0"/>
              </a:rPr>
              <a:t>均可逆</a:t>
            </a:r>
            <a:r>
              <a:rPr lang="en-US" altLang="zh-CN" b="1">
                <a:latin typeface="Times New Roman" panose="02020603050405020304" pitchFamily="18" charset="0"/>
              </a:rPr>
              <a:t>,  </a:t>
            </a:r>
            <a:r>
              <a:rPr lang="zh-CN" altLang="en-US" b="1">
                <a:latin typeface="Times New Roman" panose="02020603050405020304" pitchFamily="18" charset="0"/>
              </a:rPr>
              <a:t>并求出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和  </a:t>
            </a:r>
            <a:r>
              <a:rPr lang="en-US" altLang="zh-CN" b="1" i="1">
                <a:latin typeface="Times New Roman" panose="02020603050405020304" pitchFamily="18" charset="0"/>
              </a:rPr>
              <a:t>h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 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Hint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h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是双射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 b="1">
                <a:latin typeface="Times New Roman" panose="02020603050405020304" pitchFamily="18" charset="0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h 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06851" name="灯片编号占位符 1">
            <a:extLst>
              <a:ext uri="{FF2B5EF4-FFF2-40B4-BE49-F238E27FC236}">
                <a16:creationId xmlns:a16="http://schemas.microsoft.com/office/drawing/2014/main" id="{6A92CE73-E981-491D-76B3-6AE8B659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4B0886-C969-42D6-9056-C114FD585D7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zh-CN" sz="14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248A1F4-EC15-A58E-D96B-120C38F3792C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补充练习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>
                <a:latin typeface="Times New Roman" panose="02020603050405020304" pitchFamily="18" charset="0"/>
              </a:rPr>
              <a:t>R</a:t>
            </a:r>
            <a:r>
              <a:rPr lang="zh-CN" altLang="en-US" b="1">
                <a:latin typeface="Times New Roman" panose="02020603050405020304" pitchFamily="18" charset="0"/>
              </a:rPr>
              <a:t>为实数集合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定义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R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latin typeface="Times New Roman" panose="02020603050405020304" pitchFamily="18" charset="0"/>
              </a:rPr>
              <a:t> R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</a:rPr>
              <a:t> R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latin typeface="Times New Roman" panose="02020603050405020304" pitchFamily="18" charset="0"/>
              </a:rPr>
              <a:t> R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</a:p>
          <a:p>
            <a:pPr eaLnBrk="1" hangingPunct="1">
              <a:lnSpc>
                <a:spcPct val="135000"/>
              </a:lnSpc>
            </a:pPr>
            <a:endParaRPr lang="zh-CN" altLang="en-US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是双射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求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的逆函数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</a:t>
            </a:r>
            <a:r>
              <a:rPr lang="zh-CN" altLang="en-US" b="1">
                <a:latin typeface="Times New Roman" panose="02020603050405020304" pitchFamily="18" charset="0"/>
              </a:rPr>
              <a:t>计算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及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207875" name="Object 3">
            <a:extLst>
              <a:ext uri="{FF2B5EF4-FFF2-40B4-BE49-F238E27FC236}">
                <a16:creationId xmlns:a16="http://schemas.microsoft.com/office/drawing/2014/main" id="{E57A3279-5F7A-522D-F1A2-E630551A78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989138"/>
          <a:ext cx="4465637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3457" imgH="25535" progId="Equation.3">
                  <p:embed/>
                </p:oleObj>
              </mc:Choice>
              <mc:Fallback>
                <p:oleObj name="公式" r:id="rId2" imgW="463457" imgH="25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989138"/>
                        <a:ext cx="4465637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6" name="灯片编号占位符 1">
            <a:extLst>
              <a:ext uri="{FF2B5EF4-FFF2-40B4-BE49-F238E27FC236}">
                <a16:creationId xmlns:a16="http://schemas.microsoft.com/office/drawing/2014/main" id="{21912C59-2140-CE37-4926-9A62E07E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ABB131-8FF8-4AC7-B4B3-8FA1E4D6056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CN" sz="1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B1E7E99-08C0-400E-A1E0-F1359ADF3127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补充练习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2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为自然数集合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定义</a:t>
            </a:r>
            <a:r>
              <a:rPr lang="en-US" altLang="zh-CN" b="1">
                <a:latin typeface="Times New Roman" panose="02020603050405020304" pitchFamily="18" charset="0"/>
              </a:rPr>
              <a:t>N </a:t>
            </a:r>
            <a:r>
              <a:rPr lang="zh-CN" altLang="en-US" b="1">
                <a:latin typeface="Times New Roman" panose="02020603050405020304" pitchFamily="18" charset="0"/>
              </a:rPr>
              <a:t>到 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的函数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如下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latin typeface="Times New Roman" panose="02020603050405020304" pitchFamily="18" charset="0"/>
              </a:rPr>
              <a:t>N,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+ 1,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= max{0,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- 1}. </a:t>
            </a:r>
            <a:r>
              <a:rPr lang="zh-CN" altLang="en-US" b="1">
                <a:latin typeface="Times New Roman" panose="02020603050405020304" pitchFamily="18" charset="0"/>
              </a:rPr>
              <a:t>证明：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en-US" altLang="zh-CN" b="1" i="1">
                <a:latin typeface="Times New Roman" panose="02020603050405020304" pitchFamily="18" charset="0"/>
              </a:rPr>
              <a:t> f</a:t>
            </a:r>
            <a:r>
              <a:rPr lang="zh-CN" altLang="en-US" b="1">
                <a:latin typeface="Times New Roman" panose="02020603050405020304" pitchFamily="18" charset="0"/>
              </a:rPr>
              <a:t>是单射而不是满射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是满射而不是单射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而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08899" name="灯片编号占位符 1">
            <a:extLst>
              <a:ext uri="{FF2B5EF4-FFF2-40B4-BE49-F238E27FC236}">
                <a16:creationId xmlns:a16="http://schemas.microsoft.com/office/drawing/2014/main" id="{A53B124A-59B5-49A0-5FEC-8C6ED572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316606-50BC-4E74-BB6B-3F03745BE10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zh-CN" sz="14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56547949-FC28-6E28-FEE2-914989D21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、运算的定义及性质</a:t>
            </a:r>
            <a:r>
              <a:rPr lang="zh-CN" altLang="en-US"/>
              <a:t> 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F402BB3-86CF-6DFE-D59C-8F610142E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运算的目的就是从已知元素得出新的元素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元运算就是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元函数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上的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元封闭运算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是指对于任意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中的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个元素进行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运算后的结果仍属于集合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09924" name="灯片编号占位符 1">
            <a:extLst>
              <a:ext uri="{FF2B5EF4-FFF2-40B4-BE49-F238E27FC236}">
                <a16:creationId xmlns:a16="http://schemas.microsoft.com/office/drawing/2014/main" id="{429F1D1F-F272-0303-0C35-5832BFC3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D8AB07-2C25-4BB4-A92E-2E79C292944D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zh-CN" sz="1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967BCDD3-BC5A-B42E-64A4-3FBFB7F5AE2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要求掌握封闭运算的定义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理解整数集合</a:t>
            </a:r>
            <a:r>
              <a:rPr lang="en-US" altLang="zh-CN" b="1">
                <a:latin typeface="Times New Roman" panose="02020603050405020304" pitchFamily="18" charset="0"/>
              </a:rPr>
              <a:t>Z</a:t>
            </a:r>
            <a:r>
              <a:rPr lang="zh-CN" altLang="en-US" b="1">
                <a:latin typeface="Times New Roman" panose="02020603050405020304" pitchFamily="18" charset="0"/>
              </a:rPr>
              <a:t>上的模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运算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mod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两个不同时为</a:t>
            </a:r>
            <a:r>
              <a:rPr lang="en-US" altLang="zh-CN" b="1">
                <a:latin typeface="Times New Roman" panose="02020603050405020304" pitchFamily="18" charset="0"/>
              </a:rPr>
              <a:t>0</a:t>
            </a:r>
            <a:r>
              <a:rPr lang="zh-CN" altLang="en-US" b="1">
                <a:latin typeface="Times New Roman" panose="02020603050405020304" pitchFamily="18" charset="0"/>
              </a:rPr>
              <a:t>的两个整数的最大公因数运算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gcd</a:t>
            </a:r>
            <a:r>
              <a:rPr lang="zh-CN" altLang="en-US" b="1">
                <a:latin typeface="Times New Roman" panose="02020603050405020304" pitchFamily="18" charset="0"/>
              </a:rPr>
              <a:t>和任意两个整数的最小公倍数运算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lcm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了解运算符号的选取、运算符号的位置和运算表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/>
          </a:p>
        </p:txBody>
      </p:sp>
      <p:sp>
        <p:nvSpPr>
          <p:cNvPr id="210947" name="灯片编号占位符 1">
            <a:extLst>
              <a:ext uri="{FF2B5EF4-FFF2-40B4-BE49-F238E27FC236}">
                <a16:creationId xmlns:a16="http://schemas.microsoft.com/office/drawing/2014/main" id="{62F59495-CF65-3C64-CD3B-895CA9AF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FEBE1E-F67E-484C-B6C6-8987C45B5E9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zh-CN" sz="1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03106AD8-89B7-A773-45E9-93F9B1E56DAF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深入理解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一元运算具有对合性</a:t>
            </a:r>
            <a:r>
              <a:rPr lang="en-US" altLang="zh-CN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二元运算具有幂等性、交换性、结合性、幺元性、零元性、逆元性和消去性等性质</a:t>
            </a:r>
            <a:r>
              <a:rPr lang="en-US" altLang="zh-CN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两个二元运算具有分配性、吸收性</a:t>
            </a:r>
            <a:r>
              <a:rPr lang="en-US" altLang="zh-CN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一个一元运算和两个二元运算具有德摩根性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能对给定的运算判断其性质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11971" name="灯片编号占位符 1">
            <a:extLst>
              <a:ext uri="{FF2B5EF4-FFF2-40B4-BE49-F238E27FC236}">
                <a16:creationId xmlns:a16="http://schemas.microsoft.com/office/drawing/2014/main" id="{2C20152C-C800-9387-2825-02CB5DC2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6C6849-1D0F-43A2-B691-6CE20DD8F3F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zh-CN" sz="14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800F9FB3-D647-1424-8FAD-E0B8D9333A37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8 </a:t>
            </a:r>
            <a:r>
              <a:rPr lang="zh-CN" altLang="en-US" b="1">
                <a:latin typeface="Times New Roman" panose="02020603050405020304" pitchFamily="18" charset="0"/>
              </a:rPr>
              <a:t>在整数集</a:t>
            </a:r>
            <a:r>
              <a:rPr lang="en-US" altLang="zh-CN" b="1">
                <a:latin typeface="Times New Roman" panose="02020603050405020304" pitchFamily="18" charset="0"/>
              </a:rPr>
              <a:t>Z</a:t>
            </a:r>
            <a:r>
              <a:rPr lang="zh-CN" altLang="en-US" b="1">
                <a:latin typeface="Times New Roman" panose="02020603050405020304" pitchFamily="18" charset="0"/>
              </a:rPr>
              <a:t>上定义运算“*”如下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*</a:t>
            </a:r>
            <a:r>
              <a:rPr lang="en-US" altLang="zh-CN" b="1" i="1">
                <a:latin typeface="Times New Roman" panose="02020603050405020304" pitchFamily="18" charset="0"/>
              </a:rPr>
              <a:t>y </a:t>
            </a:r>
            <a:r>
              <a:rPr lang="en-US" altLang="zh-CN" b="1">
                <a:latin typeface="Times New Roman" panose="02020603050405020304" pitchFamily="18" charset="0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– 2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∈Z, </a:t>
            </a:r>
            <a:r>
              <a:rPr lang="zh-CN" altLang="en-US" b="1">
                <a:latin typeface="Times New Roman" panose="02020603050405020304" pitchFamily="18" charset="0"/>
              </a:rPr>
              <a:t>则“*”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不</a:t>
            </a:r>
            <a:r>
              <a:rPr lang="zh-CN" altLang="en-US" b="1">
                <a:latin typeface="Times New Roman" panose="02020603050405020304" pitchFamily="18" charset="0"/>
              </a:rPr>
              <a:t>满足结合律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分析 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y 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z </a:t>
            </a:r>
            <a:r>
              <a:rPr lang="en-US" altLang="zh-CN" b="1">
                <a:latin typeface="Times New Roman" panose="02020603050405020304" pitchFamily="18" charset="0"/>
              </a:rPr>
              <a:t>∈Z,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</a:t>
            </a:r>
            <a:r>
              <a:rPr lang="en-US" altLang="zh-CN" b="1" i="1">
                <a:latin typeface="Times New Roman" panose="02020603050405020304" pitchFamily="18" charset="0"/>
              </a:rPr>
              <a:t>y </a:t>
            </a:r>
            <a:r>
              <a:rPr lang="en-US" altLang="zh-CN" b="1">
                <a:latin typeface="Times New Roman" panose="02020603050405020304" pitchFamily="18" charset="0"/>
              </a:rPr>
              <a:t>) * 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 = 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) * </a:t>
            </a:r>
            <a:r>
              <a:rPr lang="en-US" altLang="zh-CN" b="1" i="1">
                <a:latin typeface="Times New Roman" panose="02020603050405020304" pitchFamily="18" charset="0"/>
              </a:rPr>
              <a:t>z = 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) -2</a:t>
            </a:r>
            <a:r>
              <a:rPr lang="en-US" altLang="zh-CN" b="1" i="1">
                <a:latin typeface="Times New Roman" panose="02020603050405020304" pitchFamily="18" charset="0"/>
              </a:rPr>
              <a:t>z = x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-2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(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* </a:t>
            </a:r>
            <a:r>
              <a:rPr lang="en-US" altLang="zh-CN" b="1" i="1">
                <a:latin typeface="Times New Roman" panose="02020603050405020304" pitchFamily="18" charset="0"/>
              </a:rPr>
              <a:t>z </a:t>
            </a:r>
            <a:r>
              <a:rPr lang="en-US" altLang="zh-CN" b="1">
                <a:latin typeface="Times New Roman" panose="02020603050405020304" pitchFamily="18" charset="0"/>
              </a:rPr>
              <a:t>)=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(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 i="1">
                <a:latin typeface="Times New Roman" panose="02020603050405020304" pitchFamily="18" charset="0"/>
              </a:rPr>
              <a:t>= x</a:t>
            </a:r>
            <a:r>
              <a:rPr lang="en-US" altLang="zh-CN" b="1">
                <a:latin typeface="Times New Roman" panose="02020603050405020304" pitchFamily="18" charset="0"/>
              </a:rPr>
              <a:t> - 2(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 i="1">
                <a:latin typeface="Times New Roman" panose="02020603050405020304" pitchFamily="18" charset="0"/>
              </a:rPr>
              <a:t> = x</a:t>
            </a:r>
            <a:r>
              <a:rPr lang="en-US" altLang="zh-CN" b="1">
                <a:latin typeface="Times New Roman" panose="02020603050405020304" pitchFamily="18" charset="0"/>
              </a:rPr>
              <a:t> – 2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-4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Hint  (2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* 3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) * 1 = -6,  2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* (3 * 1) = -8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Solution?</a:t>
            </a:r>
          </a:p>
        </p:txBody>
      </p:sp>
      <p:sp>
        <p:nvSpPr>
          <p:cNvPr id="212995" name="灯片编号占位符 1">
            <a:extLst>
              <a:ext uri="{FF2B5EF4-FFF2-40B4-BE49-F238E27FC236}">
                <a16:creationId xmlns:a16="http://schemas.microsoft.com/office/drawing/2014/main" id="{330C2782-DF08-F40C-1E3D-F1590886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49A33D-E006-4DA6-9CF9-B5D8E1A19C5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zh-CN" sz="1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E3687AAD-03AB-9BD4-5706-ADD09EF2380C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9  </a:t>
            </a:r>
            <a:r>
              <a:rPr lang="zh-CN" altLang="en-US" b="1">
                <a:latin typeface="Times New Roman" panose="02020603050405020304" pitchFamily="18" charset="0"/>
              </a:rPr>
              <a:t>在有理数集合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上定义运算“*”如下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任意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latin typeface="Times New Roman" panose="02020603050405020304" pitchFamily="18" charset="0"/>
              </a:rPr>
              <a:t> Q,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= 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+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xy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求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关于*的单位元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分析 假设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关于*的单位元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对于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且 </a:t>
            </a:r>
            <a:r>
              <a:rPr lang="en-US" altLang="zh-CN" b="1" i="1">
                <a:latin typeface="Times New Roman" panose="02020603050405020304" pitchFamily="18" charset="0"/>
              </a:rPr>
              <a:t>e </a:t>
            </a:r>
            <a:r>
              <a:rPr lang="en-US" altLang="zh-CN" b="1">
                <a:latin typeface="Times New Roman" panose="02020603050405020304" pitchFamily="18" charset="0"/>
              </a:rPr>
              <a:t>*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而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*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 = 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+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xe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 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(1 –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= 0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 = 0.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Proof?</a:t>
            </a:r>
          </a:p>
        </p:txBody>
      </p:sp>
      <p:sp>
        <p:nvSpPr>
          <p:cNvPr id="214019" name="灯片编号占位符 1">
            <a:extLst>
              <a:ext uri="{FF2B5EF4-FFF2-40B4-BE49-F238E27FC236}">
                <a16:creationId xmlns:a16="http://schemas.microsoft.com/office/drawing/2014/main" id="{77EECB84-D4A6-9D6F-4D5C-69A11C24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6B8BFB-4C82-43AF-98F8-A0F396BDCAE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zh-CN" sz="1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688D9D06-1DA6-2EFC-8308-F011D1351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、集合的运算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B3D0437F-C3B9-380B-A5B4-4AEA31B95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集合常见的并、交、补、差和对称差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215044" name="Object 4">
            <a:extLst>
              <a:ext uri="{FF2B5EF4-FFF2-40B4-BE49-F238E27FC236}">
                <a16:creationId xmlns:a16="http://schemas.microsoft.com/office/drawing/2014/main" id="{75FCC1B3-6F5B-0926-BDCC-9629D3AC7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1463" y="3051175"/>
          <a:ext cx="29845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6760" imgH="38303" progId="Equation.3">
                  <p:embed/>
                </p:oleObj>
              </mc:Choice>
              <mc:Fallback>
                <p:oleObj name="公式" r:id="rId2" imgW="336760" imgH="383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3051175"/>
                        <a:ext cx="29845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5" name="Object 5">
            <a:extLst>
              <a:ext uri="{FF2B5EF4-FFF2-40B4-BE49-F238E27FC236}">
                <a16:creationId xmlns:a16="http://schemas.microsoft.com/office/drawing/2014/main" id="{4EC8BB0D-5632-5F50-C8C5-C9F4F12088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4292600"/>
          <a:ext cx="24701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3176" imgH="18915" progId="Equation.3">
                  <p:embed/>
                </p:oleObj>
              </mc:Choice>
              <mc:Fallback>
                <p:oleObj name="公式" r:id="rId4" imgW="273176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292600"/>
                        <a:ext cx="247015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6" name="灯片编号占位符 1">
            <a:extLst>
              <a:ext uri="{FF2B5EF4-FFF2-40B4-BE49-F238E27FC236}">
                <a16:creationId xmlns:a16="http://schemas.microsoft.com/office/drawing/2014/main" id="{07DE87CA-2DCF-D23C-B7F1-123A1907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663810-4B42-4C2A-B9B2-FA4D56AB437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zh-CN" sz="14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801BDDB8-4811-BB05-44D3-ABC71453D193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要求掌握集合的运算以及与运算有关的重要结论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会利用这些结论证明新的集合等式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会根据集合相等的定义证明有关结论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最简单情形的容斥原理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216067" name="Object 3">
            <a:extLst>
              <a:ext uri="{FF2B5EF4-FFF2-40B4-BE49-F238E27FC236}">
                <a16:creationId xmlns:a16="http://schemas.microsoft.com/office/drawing/2014/main" id="{AAC7C108-AEB4-D8A1-989F-03E5C3DA6D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941888"/>
          <a:ext cx="47561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315" imgH="44450" progId="Equation.3">
                  <p:embed/>
                </p:oleObj>
              </mc:Choice>
              <mc:Fallback>
                <p:oleObj name="公式" r:id="rId2" imgW="571315" imgH="444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941888"/>
                        <a:ext cx="47561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8" name="Object 4">
            <a:extLst>
              <a:ext uri="{FF2B5EF4-FFF2-40B4-BE49-F238E27FC236}">
                <a16:creationId xmlns:a16="http://schemas.microsoft.com/office/drawing/2014/main" id="{05F68335-79F6-9EE5-3E0B-A7ED023F7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852738"/>
          <a:ext cx="27273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4733" imgH="18915" progId="Equation.3">
                  <p:embed/>
                </p:oleObj>
              </mc:Choice>
              <mc:Fallback>
                <p:oleObj name="公式" r:id="rId4" imgW="304733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852738"/>
                        <a:ext cx="27273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69" name="灯片编号占位符 1">
            <a:extLst>
              <a:ext uri="{FF2B5EF4-FFF2-40B4-BE49-F238E27FC236}">
                <a16:creationId xmlns:a16="http://schemas.microsoft.com/office/drawing/2014/main" id="{7D9A3BB4-125B-3DDC-DF8B-51AD39DC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AE81FC-EDB9-41A4-A30D-4A42422126B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87</a:t>
            </a:fld>
            <a:endParaRPr lang="en-US" altLang="zh-CN" sz="14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45723310-C27C-CB9D-6096-A2F090A76D20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10(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1.4, 9)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.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Proof  Clearly.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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.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BCA578A2-C4ED-F416-83BA-FBEBD4BE8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205038"/>
            <a:ext cx="3744912" cy="23764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17092" name="Object 4">
            <a:extLst>
              <a:ext uri="{FF2B5EF4-FFF2-40B4-BE49-F238E27FC236}">
                <a16:creationId xmlns:a16="http://schemas.microsoft.com/office/drawing/2014/main" id="{3AAD9A4E-558F-DC5F-624F-44318DD05D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349500"/>
          <a:ext cx="479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123" imgH="18915" progId="Equation.3">
                  <p:embed/>
                </p:oleObj>
              </mc:Choice>
              <mc:Fallback>
                <p:oleObj name="公式" r:id="rId2" imgW="6123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349500"/>
                        <a:ext cx="4794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3" name="Oval 5">
            <a:extLst>
              <a:ext uri="{FF2B5EF4-FFF2-40B4-BE49-F238E27FC236}">
                <a16:creationId xmlns:a16="http://schemas.microsoft.com/office/drawing/2014/main" id="{BA43C024-6883-E7DF-1793-C1D805284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636838"/>
            <a:ext cx="2089150" cy="11525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7094" name="Oval 6">
            <a:extLst>
              <a:ext uri="{FF2B5EF4-FFF2-40B4-BE49-F238E27FC236}">
                <a16:creationId xmlns:a16="http://schemas.microsoft.com/office/drawing/2014/main" id="{5CB997FA-B954-24F8-819A-F79CAAC62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924175"/>
            <a:ext cx="865187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17095" name="Object 7">
            <a:extLst>
              <a:ext uri="{FF2B5EF4-FFF2-40B4-BE49-F238E27FC236}">
                <a16:creationId xmlns:a16="http://schemas.microsoft.com/office/drawing/2014/main" id="{35197853-D94F-911F-0AD4-38AA0C09B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2924175"/>
          <a:ext cx="4413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23" imgH="6147" progId="Equation.3">
                  <p:embed/>
                </p:oleObj>
              </mc:Choice>
              <mc:Fallback>
                <p:oleObj name="公式" r:id="rId4" imgW="6123" imgH="614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924175"/>
                        <a:ext cx="4413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6" name="Object 8">
            <a:extLst>
              <a:ext uri="{FF2B5EF4-FFF2-40B4-BE49-F238E27FC236}">
                <a16:creationId xmlns:a16="http://schemas.microsoft.com/office/drawing/2014/main" id="{42DF58AF-452C-E350-83E3-686D6B3204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2997200"/>
          <a:ext cx="4413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123" imgH="6147" progId="Equation.3">
                  <p:embed/>
                </p:oleObj>
              </mc:Choice>
              <mc:Fallback>
                <p:oleObj name="公式" r:id="rId6" imgW="6123" imgH="61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997200"/>
                        <a:ext cx="4413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7" name="灯片编号占位符 1">
            <a:extLst>
              <a:ext uri="{FF2B5EF4-FFF2-40B4-BE49-F238E27FC236}">
                <a16:creationId xmlns:a16="http://schemas.microsoft.com/office/drawing/2014/main" id="{6936CF62-5497-CFF3-9CCC-0CC05A72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3F9E34-7E86-4FAD-98BD-A16072D390F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88</a:t>
            </a:fld>
            <a:endParaRPr lang="en-US" altLang="zh-CN" sz="14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A006DA24-1485-EA20-9204-ABD41C1D7273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11(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1.4, 10(1))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求出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) =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成立的最简单充要条件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Solution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08BCED52-1BC2-F54D-EA2F-946C61FE8C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781300"/>
          <a:ext cx="68595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44491" imgH="38303" progId="Equation.3">
                  <p:embed/>
                </p:oleObj>
              </mc:Choice>
              <mc:Fallback>
                <p:oleObj name="公式" r:id="rId2" imgW="844491" imgH="383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781300"/>
                        <a:ext cx="68595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0" name="Object 4">
            <a:extLst>
              <a:ext uri="{FF2B5EF4-FFF2-40B4-BE49-F238E27FC236}">
                <a16:creationId xmlns:a16="http://schemas.microsoft.com/office/drawing/2014/main" id="{1DB7A8F2-A187-90FA-C7EB-1D14A5C6FE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644900"/>
          <a:ext cx="26193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2016" imgH="38303" progId="Equation.3">
                  <p:embed/>
                </p:oleObj>
              </mc:Choice>
              <mc:Fallback>
                <p:oleObj name="公式" r:id="rId4" imgW="292016" imgH="383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644900"/>
                        <a:ext cx="26193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1" name="Object 5">
            <a:extLst>
              <a:ext uri="{FF2B5EF4-FFF2-40B4-BE49-F238E27FC236}">
                <a16:creationId xmlns:a16="http://schemas.microsoft.com/office/drawing/2014/main" id="{22F34E4D-C0AA-4F22-0ED0-6CE87C896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644900"/>
          <a:ext cx="23241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7743" imgH="25535" progId="Equation.3">
                  <p:embed/>
                </p:oleObj>
              </mc:Choice>
              <mc:Fallback>
                <p:oleObj name="公式" r:id="rId6" imgW="247743" imgH="255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644900"/>
                        <a:ext cx="23241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2" name="Object 6">
            <a:extLst>
              <a:ext uri="{FF2B5EF4-FFF2-40B4-BE49-F238E27FC236}">
                <a16:creationId xmlns:a16="http://schemas.microsoft.com/office/drawing/2014/main" id="{AF4DBF75-8FC9-EA80-4BB2-0D0B0B256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652963"/>
          <a:ext cx="22494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5026" imgH="18915" progId="Equation.3">
                  <p:embed/>
                </p:oleObj>
              </mc:Choice>
              <mc:Fallback>
                <p:oleObj name="公式" r:id="rId8" imgW="235026" imgH="1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652963"/>
                        <a:ext cx="22494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3" name="Object 7">
            <a:extLst>
              <a:ext uri="{FF2B5EF4-FFF2-40B4-BE49-F238E27FC236}">
                <a16:creationId xmlns:a16="http://schemas.microsoft.com/office/drawing/2014/main" id="{0C478181-A4B6-FBB0-F1C5-E980F604A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589588"/>
          <a:ext cx="3797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4618" imgH="18915" progId="Equation.3">
                  <p:embed/>
                </p:oleObj>
              </mc:Choice>
              <mc:Fallback>
                <p:oleObj name="公式" r:id="rId10" imgW="444618" imgH="189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589588"/>
                        <a:ext cx="37973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灯片编号占位符 1">
            <a:extLst>
              <a:ext uri="{FF2B5EF4-FFF2-40B4-BE49-F238E27FC236}">
                <a16:creationId xmlns:a16="http://schemas.microsoft.com/office/drawing/2014/main" id="{82DB2A3E-53F4-C1DD-29FD-DA9CF0CB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DDF310-6745-49B8-BB56-6DCABFAE2297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89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9F9A6B4C-879D-5DFF-695B-4BB9B55E233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补充练习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3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  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  <a:r>
              <a:rPr lang="en-US" altLang="zh-CN" b="1">
                <a:latin typeface="Times New Roman" panose="02020603050405020304" pitchFamily="18" charset="0"/>
              </a:rPr>
              <a:t>:  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– (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b="1">
                <a:latin typeface="Times New Roman" panose="02020603050405020304" pitchFamily="18" charset="0"/>
              </a:rPr>
              <a:t>并举例说明上式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b="1">
                <a:latin typeface="Times New Roman" panose="02020603050405020304" pitchFamily="18" charset="0"/>
              </a:rPr>
              <a:t>中不能将改为 </a:t>
            </a:r>
            <a:r>
              <a:rPr lang="en-US" altLang="zh-CN" b="1">
                <a:latin typeface="Times New Roman" panose="02020603050405020304" pitchFamily="18" charset="0"/>
              </a:rPr>
              <a:t>= . 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9139" name="灯片编号占位符 1">
            <a:extLst>
              <a:ext uri="{FF2B5EF4-FFF2-40B4-BE49-F238E27FC236}">
                <a16:creationId xmlns:a16="http://schemas.microsoft.com/office/drawing/2014/main" id="{1F42D7BA-565D-64F1-800E-BF4A8627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92E0CF-549E-41AA-B5FA-FE8F15716DB0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90</a:t>
            </a:fld>
            <a:endParaRPr lang="en-US" altLang="zh-CN" sz="1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F7BCEFF6-8706-08D4-EA72-F2D9DCBCC20B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补充练习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4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使下列各式成立的充要条件分别是什么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并给出理由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(1)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(2)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(3) (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) = 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0163" name="灯片编号占位符 1">
            <a:extLst>
              <a:ext uri="{FF2B5EF4-FFF2-40B4-BE49-F238E27FC236}">
                <a16:creationId xmlns:a16="http://schemas.microsoft.com/office/drawing/2014/main" id="{20AAFF95-1290-4654-F441-BF550F1B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8C0816-F0A6-4FB8-8D51-A44BA04FA93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91</a:t>
            </a:fld>
            <a:endParaRPr lang="en-US" altLang="zh-CN" sz="14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2B4524A9-E0BC-58CF-A615-3E1DA787734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补充练习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5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是集合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使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–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成立的充要条件是什么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并给出理由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21187" name="灯片编号占位符 1">
            <a:extLst>
              <a:ext uri="{FF2B5EF4-FFF2-40B4-BE49-F238E27FC236}">
                <a16:creationId xmlns:a16="http://schemas.microsoft.com/office/drawing/2014/main" id="{361E1564-B16C-AFE5-82F0-BA1E0BB5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A914EE-D3B4-47BE-85DC-DEDB6A5BB25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92</a:t>
            </a:fld>
            <a:endParaRPr lang="en-US" altLang="zh-CN" sz="1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62F1EC40-652E-5EB0-1E38-579DD0208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、集合的划分与覆盖</a:t>
            </a:r>
            <a:r>
              <a:rPr lang="zh-CN" altLang="en-US"/>
              <a:t> 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92987E8C-6E59-6870-F293-88BA35A3B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集合的划分就是对该集合元素进行分类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个元素集合有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种不同划分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, 4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个元素集合有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种不同划分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了解集合的覆盖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如果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的若干非空子集之并就是集合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就得到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的覆盖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不要求子集之间不相交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22212" name="灯片编号占位符 1">
            <a:extLst>
              <a:ext uri="{FF2B5EF4-FFF2-40B4-BE49-F238E27FC236}">
                <a16:creationId xmlns:a16="http://schemas.microsoft.com/office/drawing/2014/main" id="{092F3261-33F3-EC1B-7E2F-DA1B6705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F3CF30-CF66-4A6B-AE7A-FA53968BA15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93</a:t>
            </a:fld>
            <a:endParaRPr lang="en-US" altLang="zh-CN" sz="14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52B807AD-2194-89FD-9615-E332DE2CC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6</a:t>
            </a:r>
            <a:r>
              <a:rPr lang="zh-CN" altLang="en-US">
                <a:latin typeface="Times New Roman" panose="02020603050405020304" pitchFamily="18" charset="0"/>
              </a:rPr>
              <a:t>、集合的对等</a:t>
            </a:r>
            <a:r>
              <a:rPr lang="zh-CN" altLang="en-US"/>
              <a:t> 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5FBD2AF6-E295-7578-5947-C82AD4094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利用函数可深入讨论集合之间对等关系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若两个集合之间存在一个双射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这两个集合就是对等的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了解无限集合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若集合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的某子集能与自然数集合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对等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是无限集合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23236" name="灯片编号占位符 1">
            <a:extLst>
              <a:ext uri="{FF2B5EF4-FFF2-40B4-BE49-F238E27FC236}">
                <a16:creationId xmlns:a16="http://schemas.microsoft.com/office/drawing/2014/main" id="{71D87D39-5613-56D0-9F80-50D66DAA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7B840A-91D2-4811-9F6D-E9C66376E47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94</a:t>
            </a:fld>
            <a:endParaRPr lang="en-US" altLang="zh-CN" sz="14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961B43E8-1C38-9408-473C-263225848B1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了解基数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两个对等的集合具有相同的基数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因而</a:t>
            </a:r>
            <a:r>
              <a:rPr lang="en-US" altLang="zh-CN" b="1">
                <a:latin typeface="Times New Roman" panose="02020603050405020304" pitchFamily="18" charset="0"/>
              </a:rPr>
              <a:t>|Z| = |N|</a:t>
            </a:r>
            <a:r>
              <a:rPr lang="zh-CN" altLang="en-US" b="1">
                <a:latin typeface="Times New Roman" panose="02020603050405020304" pitchFamily="18" charset="0"/>
              </a:rPr>
              <a:t>及</a:t>
            </a:r>
            <a:r>
              <a:rPr lang="en-US" altLang="zh-CN" b="1">
                <a:latin typeface="Times New Roman" panose="02020603050405020304" pitchFamily="18" charset="0"/>
              </a:rPr>
              <a:t>|R| = |(0,1)|.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了解可数集合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能与自然数集合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对等的集合是可数集合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否则是不可数集合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zh-CN" altLang="en-US" b="1">
                <a:latin typeface="Times New Roman" panose="02020603050405020304" pitchFamily="18" charset="0"/>
              </a:rPr>
              <a:t>有理数集合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是可数集合</a:t>
            </a:r>
            <a:r>
              <a:rPr lang="en-US" altLang="zh-CN" b="1">
                <a:latin typeface="Times New Roman" panose="02020603050405020304" pitchFamily="18" charset="0"/>
              </a:rPr>
              <a:t>, (0,1)</a:t>
            </a:r>
            <a:r>
              <a:rPr lang="zh-CN" altLang="en-US" b="1">
                <a:latin typeface="Times New Roman" panose="02020603050405020304" pitchFamily="18" charset="0"/>
              </a:rPr>
              <a:t>是不可数集合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了解基数的大小比较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若存在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的单射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|≤|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|.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|≤|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zh-CN" altLang="en-US" b="1">
                <a:latin typeface="Times New Roman" panose="02020603050405020304" pitchFamily="18" charset="0"/>
              </a:rPr>
              <a:t>且不存在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的双射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&lt; |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|. </a:t>
            </a:r>
          </a:p>
        </p:txBody>
      </p:sp>
      <p:sp>
        <p:nvSpPr>
          <p:cNvPr id="224259" name="灯片编号占位符 1">
            <a:extLst>
              <a:ext uri="{FF2B5EF4-FFF2-40B4-BE49-F238E27FC236}">
                <a16:creationId xmlns:a16="http://schemas.microsoft.com/office/drawing/2014/main" id="{41C7B57F-56B3-D66F-8B3E-15EBCAE7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683593-B1D7-4F12-A016-4D1E038110B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95</a:t>
            </a:fld>
            <a:endParaRPr lang="en-US" altLang="zh-CN" sz="14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8AADEAA2-AFD2-31A9-DCF2-472AFC1D8662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12(</a:t>
            </a:r>
            <a:r>
              <a:rPr lang="zh-CN" altLang="en-US" b="1">
                <a:latin typeface="Times New Roman" panose="02020603050405020304" pitchFamily="18" charset="0"/>
              </a:rPr>
              <a:t>习题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1.6, 6) </a:t>
            </a:r>
            <a:r>
              <a:rPr lang="zh-CN" altLang="en-US" b="1">
                <a:latin typeface="Times New Roman" panose="02020603050405020304" pitchFamily="18" charset="0"/>
              </a:rPr>
              <a:t>对于任意集合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  <a:r>
              <a:rPr lang="en-US" altLang="zh-CN" b="1">
                <a:latin typeface="Times New Roman" panose="02020603050405020304" pitchFamily="18" charset="0"/>
              </a:rPr>
              <a:t>: 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&lt; |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)|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  (1) 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>
                <a:latin typeface="宋体" panose="02010600030101010101" pitchFamily="2" charset="-122"/>
              </a:rPr>
              <a:t>≤</a:t>
            </a:r>
            <a:r>
              <a:rPr lang="en-US" altLang="zh-CN" b="1">
                <a:latin typeface="Times New Roman" panose="02020603050405020304" pitchFamily="18" charset="0"/>
              </a:rPr>
              <a:t> |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)|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 = |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)| 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存在双射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225283" name="Object 3">
            <a:extLst>
              <a:ext uri="{FF2B5EF4-FFF2-40B4-BE49-F238E27FC236}">
                <a16:creationId xmlns:a16="http://schemas.microsoft.com/office/drawing/2014/main" id="{38D0D185-A9D7-7FF4-B922-863878E63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2349500"/>
          <a:ext cx="25066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299" imgH="18915" progId="Equation.3">
                  <p:embed/>
                </p:oleObj>
              </mc:Choice>
              <mc:Fallback>
                <p:oleObj name="公式" r:id="rId2" imgW="279299" imgH="18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349500"/>
                        <a:ext cx="250666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>
            <a:extLst>
              <a:ext uri="{FF2B5EF4-FFF2-40B4-BE49-F238E27FC236}">
                <a16:creationId xmlns:a16="http://schemas.microsoft.com/office/drawing/2014/main" id="{F29211EE-26DC-DC61-FEBE-01FA375E3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2997200"/>
          <a:ext cx="15478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6008" imgH="18915" progId="Equation.3">
                  <p:embed/>
                </p:oleObj>
              </mc:Choice>
              <mc:Fallback>
                <p:oleObj name="公式" r:id="rId4" imgW="146008" imgH="189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997200"/>
                        <a:ext cx="15478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>
            <a:extLst>
              <a:ext uri="{FF2B5EF4-FFF2-40B4-BE49-F238E27FC236}">
                <a16:creationId xmlns:a16="http://schemas.microsoft.com/office/drawing/2014/main" id="{DD5D9EDB-7D79-2947-0561-A8849889C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292600"/>
          <a:ext cx="31702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1723" imgH="18915" progId="Equation.3">
                  <p:embed/>
                </p:oleObj>
              </mc:Choice>
              <mc:Fallback>
                <p:oleObj name="公式" r:id="rId6" imgW="361723" imgH="18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292600"/>
                        <a:ext cx="3170238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>
            <a:extLst>
              <a:ext uri="{FF2B5EF4-FFF2-40B4-BE49-F238E27FC236}">
                <a16:creationId xmlns:a16="http://schemas.microsoft.com/office/drawing/2014/main" id="{B2DC34DB-7D3E-A319-4DA4-D2C80BB86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5013325"/>
          <a:ext cx="30591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9477" imgH="18915" progId="Equation.3">
                  <p:embed/>
                </p:oleObj>
              </mc:Choice>
              <mc:Fallback>
                <p:oleObj name="公式" r:id="rId8" imgW="349477" imgH="1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013325"/>
                        <a:ext cx="305911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>
            <a:extLst>
              <a:ext uri="{FF2B5EF4-FFF2-40B4-BE49-F238E27FC236}">
                <a16:creationId xmlns:a16="http://schemas.microsoft.com/office/drawing/2014/main" id="{7154250B-3D99-DBD5-91F4-54EEA3E5B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5734050"/>
          <a:ext cx="13271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0574" imgH="18915" progId="Equation.3">
                  <p:embed/>
                </p:oleObj>
              </mc:Choice>
              <mc:Fallback>
                <p:oleObj name="公式" r:id="rId10" imgW="120574" imgH="189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734050"/>
                        <a:ext cx="13271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8" name="灯片编号占位符 1">
            <a:extLst>
              <a:ext uri="{FF2B5EF4-FFF2-40B4-BE49-F238E27FC236}">
                <a16:creationId xmlns:a16="http://schemas.microsoft.com/office/drawing/2014/main" id="{549AF8F1-41A1-DC24-6232-8940ECBC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5CC1F3-E35D-467E-9707-05D9CA4D053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96</a:t>
            </a:fld>
            <a:endParaRPr lang="en-US" alt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6751</TotalTime>
  <Words>4386</Words>
  <Application>Microsoft Office PowerPoint</Application>
  <PresentationFormat>全屏显示(4:3)</PresentationFormat>
  <Paragraphs>613</Paragraphs>
  <Slides>96</Slides>
  <Notes>3</Notes>
  <HiddenSlides>2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96</vt:i4>
      </vt:variant>
    </vt:vector>
  </HeadingPairs>
  <TitlesOfParts>
    <vt:vector size="108" baseType="lpstr">
      <vt:lpstr>Gulim</vt:lpstr>
      <vt:lpstr>等线</vt:lpstr>
      <vt:lpstr>华文楷体</vt:lpstr>
      <vt:lpstr>华文新魏</vt:lpstr>
      <vt:lpstr>宋体</vt:lpstr>
      <vt:lpstr>Arial</vt:lpstr>
      <vt:lpstr>Cambria Math</vt:lpstr>
      <vt:lpstr>Symbol</vt:lpstr>
      <vt:lpstr>Times New Roman</vt:lpstr>
      <vt:lpstr>默认设计模板</vt:lpstr>
      <vt:lpstr>公式</vt:lpstr>
      <vt:lpstr>Equation</vt:lpstr>
      <vt:lpstr>离散数学 Discrete Mathematics</vt:lpstr>
      <vt:lpstr>第1章  集合、映射与运算</vt:lpstr>
      <vt:lpstr>PowerPoint 演示文稿</vt:lpstr>
      <vt:lpstr>1. 运算的定义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本节小结</vt:lpstr>
      <vt:lpstr>第1章  集合、映射与运算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1.5 集合的划分与覆盖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第1章  集合、映射与运算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离散数学</vt:lpstr>
      <vt:lpstr>1、集合的有关概念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2、映射的有关概念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3、运算的定义及性质 </vt:lpstr>
      <vt:lpstr>PowerPoint 演示文稿</vt:lpstr>
      <vt:lpstr>PowerPoint 演示文稿</vt:lpstr>
      <vt:lpstr>PowerPoint 演示文稿</vt:lpstr>
      <vt:lpstr>PowerPoint 演示文稿</vt:lpstr>
      <vt:lpstr>4、集合的运算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5、集合的划分与覆盖 </vt:lpstr>
      <vt:lpstr>6、集合的对等 </vt:lpstr>
      <vt:lpstr>PowerPoint 演示文稿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Xia Zeng</cp:lastModifiedBy>
  <cp:revision>312</cp:revision>
  <dcterms:created xsi:type="dcterms:W3CDTF">2007-04-29T00:04:13Z</dcterms:created>
  <dcterms:modified xsi:type="dcterms:W3CDTF">2025-03-04T13:58:14Z</dcterms:modified>
</cp:coreProperties>
</file>