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0" r:id="rId1"/>
    <p:sldMasterId id="2147483651" r:id="rId2"/>
    <p:sldMasterId id="2147483686" r:id="rId3"/>
  </p:sldMasterIdLst>
  <p:notesMasterIdLst>
    <p:notesMasterId r:id="rId88"/>
  </p:notesMasterIdLst>
  <p:sldIdLst>
    <p:sldId id="273" r:id="rId4"/>
    <p:sldId id="374" r:id="rId5"/>
    <p:sldId id="375" r:id="rId6"/>
    <p:sldId id="376" r:id="rId7"/>
    <p:sldId id="377" r:id="rId8"/>
    <p:sldId id="378" r:id="rId9"/>
    <p:sldId id="379" r:id="rId10"/>
    <p:sldId id="380" r:id="rId11"/>
    <p:sldId id="382" r:id="rId12"/>
    <p:sldId id="502" r:id="rId13"/>
    <p:sldId id="503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386" r:id="rId30"/>
    <p:sldId id="407" r:id="rId31"/>
    <p:sldId id="516" r:id="rId32"/>
    <p:sldId id="408" r:id="rId33"/>
    <p:sldId id="410" r:id="rId34"/>
    <p:sldId id="409" r:id="rId35"/>
    <p:sldId id="411" r:id="rId36"/>
    <p:sldId id="413" r:id="rId37"/>
    <p:sldId id="414" r:id="rId38"/>
    <p:sldId id="415" r:id="rId39"/>
    <p:sldId id="416" r:id="rId40"/>
    <p:sldId id="517" r:id="rId41"/>
    <p:sldId id="419" r:id="rId42"/>
    <p:sldId id="420" r:id="rId43"/>
    <p:sldId id="421" r:id="rId44"/>
    <p:sldId id="422" r:id="rId45"/>
    <p:sldId id="423" r:id="rId46"/>
    <p:sldId id="424" r:id="rId47"/>
    <p:sldId id="425" r:id="rId48"/>
    <p:sldId id="426" r:id="rId49"/>
    <p:sldId id="427" r:id="rId50"/>
    <p:sldId id="428" r:id="rId51"/>
    <p:sldId id="429" r:id="rId52"/>
    <p:sldId id="430" r:id="rId53"/>
    <p:sldId id="431" r:id="rId54"/>
    <p:sldId id="432" r:id="rId55"/>
    <p:sldId id="433" r:id="rId56"/>
    <p:sldId id="434" r:id="rId57"/>
    <p:sldId id="435" r:id="rId58"/>
    <p:sldId id="437" r:id="rId59"/>
    <p:sldId id="438" r:id="rId60"/>
    <p:sldId id="439" r:id="rId61"/>
    <p:sldId id="440" r:id="rId62"/>
    <p:sldId id="442" r:id="rId63"/>
    <p:sldId id="443" r:id="rId64"/>
    <p:sldId id="444" r:id="rId65"/>
    <p:sldId id="445" r:id="rId66"/>
    <p:sldId id="446" r:id="rId67"/>
    <p:sldId id="447" r:id="rId68"/>
    <p:sldId id="499" r:id="rId69"/>
    <p:sldId id="508" r:id="rId70"/>
    <p:sldId id="449" r:id="rId71"/>
    <p:sldId id="450" r:id="rId72"/>
    <p:sldId id="451" r:id="rId73"/>
    <p:sldId id="452" r:id="rId74"/>
    <p:sldId id="507" r:id="rId75"/>
    <p:sldId id="455" r:id="rId76"/>
    <p:sldId id="509" r:id="rId77"/>
    <p:sldId id="511" r:id="rId78"/>
    <p:sldId id="512" r:id="rId79"/>
    <p:sldId id="510" r:id="rId80"/>
    <p:sldId id="504" r:id="rId81"/>
    <p:sldId id="514" r:id="rId82"/>
    <p:sldId id="505" r:id="rId83"/>
    <p:sldId id="506" r:id="rId84"/>
    <p:sldId id="458" r:id="rId85"/>
    <p:sldId id="459" r:id="rId86"/>
    <p:sldId id="461" r:id="rId8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har char="•"/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50FF"/>
    <a:srgbClr val="C0C0C0"/>
    <a:srgbClr val="003300"/>
    <a:srgbClr val="B2B2B2"/>
    <a:srgbClr val="66FF66"/>
    <a:srgbClr val="33CC33"/>
    <a:srgbClr val="008080"/>
    <a:srgbClr val="FFFFE5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1" autoAdjust="0"/>
    <p:restoredTop sz="89634" autoAdjust="0"/>
  </p:normalViewPr>
  <p:slideViewPr>
    <p:cSldViewPr>
      <p:cViewPr varScale="1">
        <p:scale>
          <a:sx n="80" d="100"/>
          <a:sy n="80" d="100"/>
        </p:scale>
        <p:origin x="124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presProps" Target="pres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viewProps" Target="viewProps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a typeface="宋体" charset="-122"/>
              </a:defRPr>
            </a:lvl1pPr>
          </a:lstStyle>
          <a:p>
            <a:pPr>
              <a:defRPr/>
            </a:pPr>
            <a:fld id="{FCB0CFC5-8968-441F-B833-EF2C911C45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7366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E75791-6280-4CB0-9B95-255AB41FBF3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7839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B0CFC5-8968-441F-B833-EF2C911C4557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7471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B0CFC5-8968-441F-B833-EF2C911C4557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877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89963-D845-40FC-A3B5-0728339B8C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416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C5806-C2D5-4A5D-8114-742A16B01B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88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1311C-5A94-47AE-9250-06DAD5C310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17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B06EF-594E-4B79-B39C-73E2062677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66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35D4A-7BF4-48C4-80A8-691AA6523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666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3A6CC-F80C-4490-BE92-3143DDED69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354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33859-CEE4-493C-B2E2-98435B2316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152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694F0B-8F47-4FE2-8716-18521004BB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8591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76D7-9045-4072-99CB-778251B0C8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87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CA1EC7-53F6-4F0C-9163-0651E3D98D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636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9CF3D-960B-45EA-97C9-E3B0E6CE9C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6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64EFE-2D4C-4C9C-AF7D-E5F4D44060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6001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32887-C0E1-476F-8E09-C8F2442392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0103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F8B8E-8F68-4B9F-AEAA-F22FD4DFAF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8399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7BF3D0-091C-464A-9213-8860D5042B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1964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B4705-9DAD-4652-81A7-02A4CCB85B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7740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E3FC38-D213-4CB2-A353-3AFC2DDA21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2953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7E1B1-8D43-42E5-9DF3-EE73865CBB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73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CD2E6F-01D1-48A7-AFFE-93BBD05587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3097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7B046-66A4-4C63-8888-0AF99A5DA0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4081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92E96-CFF6-4F14-B67E-6E4AF1F12F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92529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9E00A9-34BC-4923-BF56-74304835AA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60778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xn"/>
          <p:cNvPicPr>
            <a:picLocks noChangeAspect="1" noChangeArrowheads="1"/>
          </p:cNvPicPr>
          <p:nvPr userDrawn="1"/>
        </p:nvPicPr>
        <p:blipFill>
          <a:blip r:embed="rId3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767013"/>
            <a:ext cx="8713787" cy="409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1981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9523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81400"/>
            <a:ext cx="64008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1722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722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1722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3BD9E8-6C19-412C-AD09-5036A3D74F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29193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88A11-146E-4ED3-BE13-8C24FE4F58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114140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17D756-8F00-4EB0-B581-C36CACF423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1333641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EF731-A21A-4CD0-A8F9-3E41253EDF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8448453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B7CBE-198C-49B2-A0B5-C1E363160B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3569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79609-7EE1-476A-B8B5-EEB7A3B181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9341284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996883-264F-4265-934D-1EB643FFB4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0349472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9ED96-455D-4A61-9963-B227D2C32B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5126465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DF6FB-9ACE-4E8C-9182-691ADEEEB5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53776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0B610-29D6-46DE-A796-F3E2DF404C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7563550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A0CAC0-0702-4996-8EE7-024665FF4F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4208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228600"/>
            <a:ext cx="8540750" cy="5870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67AA4-D0C8-47E4-AC34-B9A79AD234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15546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8DE0D35B-E477-4315-B278-B1D39160D3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2" r:id="rId1"/>
    <p:sldLayoutId id="2147484283" r:id="rId2"/>
    <p:sldLayoutId id="2147484284" r:id="rId3"/>
    <p:sldLayoutId id="2147484285" r:id="rId4"/>
    <p:sldLayoutId id="2147484286" r:id="rId5"/>
    <p:sldLayoutId id="2147484287" r:id="rId6"/>
    <p:sldLayoutId id="2147484288" r:id="rId7"/>
    <p:sldLayoutId id="2147484289" r:id="rId8"/>
    <p:sldLayoutId id="2147484290" r:id="rId9"/>
    <p:sldLayoutId id="2147484291" r:id="rId10"/>
    <p:sldLayoutId id="214748429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C02C17BF-6F7C-466C-AD82-6BC9F3B0E0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3" r:id="rId1"/>
    <p:sldLayoutId id="2147484294" r:id="rId2"/>
    <p:sldLayoutId id="2147484295" r:id="rId3"/>
    <p:sldLayoutId id="2147484296" r:id="rId4"/>
    <p:sldLayoutId id="2147484297" r:id="rId5"/>
    <p:sldLayoutId id="2147484298" r:id="rId6"/>
    <p:sldLayoutId id="2147484299" r:id="rId7"/>
    <p:sldLayoutId id="2147484300" r:id="rId8"/>
    <p:sldLayoutId id="2147484301" r:id="rId9"/>
    <p:sldLayoutId id="2147484302" r:id="rId10"/>
    <p:sldLayoutId id="214748430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42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26199B86-1FAB-4043-A8E1-FEC3E8CCED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3079" name="Group 7"/>
          <p:cNvGrpSpPr>
            <a:grpSpLocks/>
          </p:cNvGrpSpPr>
          <p:nvPr userDrawn="1"/>
        </p:nvGrpSpPr>
        <p:grpSpPr bwMode="auto">
          <a:xfrm>
            <a:off x="6516688" y="4076700"/>
            <a:ext cx="2400300" cy="2230438"/>
            <a:chOff x="2200" y="1616"/>
            <a:chExt cx="1966" cy="1858"/>
          </a:xfrm>
        </p:grpSpPr>
        <p:sp>
          <p:nvSpPr>
            <p:cNvPr id="3081" name="AutoShape 8"/>
            <p:cNvSpPr>
              <a:spLocks noChangeAspect="1" noChangeArrowheads="1" noTextEdit="1"/>
            </p:cNvSpPr>
            <p:nvPr/>
          </p:nvSpPr>
          <p:spPr bwMode="auto">
            <a:xfrm>
              <a:off x="2200" y="1616"/>
              <a:ext cx="1966" cy="1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Freeform 9"/>
            <p:cNvSpPr>
              <a:spLocks/>
            </p:cNvSpPr>
            <p:nvPr/>
          </p:nvSpPr>
          <p:spPr bwMode="auto">
            <a:xfrm>
              <a:off x="3050" y="2673"/>
              <a:ext cx="584" cy="307"/>
            </a:xfrm>
            <a:custGeom>
              <a:avLst/>
              <a:gdLst>
                <a:gd name="T0" fmla="*/ 0 w 1166"/>
                <a:gd name="T1" fmla="*/ 0 h 616"/>
                <a:gd name="T2" fmla="*/ 1 w 1166"/>
                <a:gd name="T3" fmla="*/ 0 h 616"/>
                <a:gd name="T4" fmla="*/ 1 w 1166"/>
                <a:gd name="T5" fmla="*/ 0 h 616"/>
                <a:gd name="T6" fmla="*/ 1 w 1166"/>
                <a:gd name="T7" fmla="*/ 0 h 616"/>
                <a:gd name="T8" fmla="*/ 1 w 1166"/>
                <a:gd name="T9" fmla="*/ 0 h 616"/>
                <a:gd name="T10" fmla="*/ 1 w 1166"/>
                <a:gd name="T11" fmla="*/ 0 h 616"/>
                <a:gd name="T12" fmla="*/ 1 w 1166"/>
                <a:gd name="T13" fmla="*/ 0 h 616"/>
                <a:gd name="T14" fmla="*/ 1 w 1166"/>
                <a:gd name="T15" fmla="*/ 0 h 616"/>
                <a:gd name="T16" fmla="*/ 1 w 1166"/>
                <a:gd name="T17" fmla="*/ 0 h 616"/>
                <a:gd name="T18" fmla="*/ 1 w 1166"/>
                <a:gd name="T19" fmla="*/ 0 h 616"/>
                <a:gd name="T20" fmla="*/ 1 w 1166"/>
                <a:gd name="T21" fmla="*/ 0 h 616"/>
                <a:gd name="T22" fmla="*/ 1 w 1166"/>
                <a:gd name="T23" fmla="*/ 0 h 616"/>
                <a:gd name="T24" fmla="*/ 1 w 1166"/>
                <a:gd name="T25" fmla="*/ 0 h 616"/>
                <a:gd name="T26" fmla="*/ 1 w 1166"/>
                <a:gd name="T27" fmla="*/ 0 h 616"/>
                <a:gd name="T28" fmla="*/ 1 w 1166"/>
                <a:gd name="T29" fmla="*/ 0 h 616"/>
                <a:gd name="T30" fmla="*/ 1 w 1166"/>
                <a:gd name="T31" fmla="*/ 0 h 616"/>
                <a:gd name="T32" fmla="*/ 1 w 1166"/>
                <a:gd name="T33" fmla="*/ 0 h 616"/>
                <a:gd name="T34" fmla="*/ 2 w 1166"/>
                <a:gd name="T35" fmla="*/ 0 h 616"/>
                <a:gd name="T36" fmla="*/ 3 w 1166"/>
                <a:gd name="T37" fmla="*/ 0 h 616"/>
                <a:gd name="T38" fmla="*/ 2 w 1166"/>
                <a:gd name="T39" fmla="*/ 0 h 616"/>
                <a:gd name="T40" fmla="*/ 1 w 1166"/>
                <a:gd name="T41" fmla="*/ 1 h 616"/>
                <a:gd name="T42" fmla="*/ 1 w 1166"/>
                <a:gd name="T43" fmla="*/ 1 h 616"/>
                <a:gd name="T44" fmla="*/ 1 w 1166"/>
                <a:gd name="T45" fmla="*/ 1 h 616"/>
                <a:gd name="T46" fmla="*/ 1 w 1166"/>
                <a:gd name="T47" fmla="*/ 1 h 616"/>
                <a:gd name="T48" fmla="*/ 1 w 1166"/>
                <a:gd name="T49" fmla="*/ 1 h 616"/>
                <a:gd name="T50" fmla="*/ 1 w 1166"/>
                <a:gd name="T51" fmla="*/ 1 h 616"/>
                <a:gd name="T52" fmla="*/ 1 w 1166"/>
                <a:gd name="T53" fmla="*/ 1 h 616"/>
                <a:gd name="T54" fmla="*/ 1 w 1166"/>
                <a:gd name="T55" fmla="*/ 1 h 616"/>
                <a:gd name="T56" fmla="*/ 1 w 1166"/>
                <a:gd name="T57" fmla="*/ 1 h 616"/>
                <a:gd name="T58" fmla="*/ 1 w 1166"/>
                <a:gd name="T59" fmla="*/ 1 h 616"/>
                <a:gd name="T60" fmla="*/ 1 w 1166"/>
                <a:gd name="T61" fmla="*/ 1 h 616"/>
                <a:gd name="T62" fmla="*/ 1 w 1166"/>
                <a:gd name="T63" fmla="*/ 1 h 616"/>
                <a:gd name="T64" fmla="*/ 1 w 1166"/>
                <a:gd name="T65" fmla="*/ 1 h 616"/>
                <a:gd name="T66" fmla="*/ 1 w 1166"/>
                <a:gd name="T67" fmla="*/ 0 h 616"/>
                <a:gd name="T68" fmla="*/ 1 w 1166"/>
                <a:gd name="T69" fmla="*/ 0 h 616"/>
                <a:gd name="T70" fmla="*/ 1 w 1166"/>
                <a:gd name="T71" fmla="*/ 0 h 616"/>
                <a:gd name="T72" fmla="*/ 0 w 1166"/>
                <a:gd name="T73" fmla="*/ 0 h 6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166" h="616">
                  <a:moveTo>
                    <a:pt x="0" y="355"/>
                  </a:moveTo>
                  <a:lnTo>
                    <a:pt x="14" y="293"/>
                  </a:lnTo>
                  <a:lnTo>
                    <a:pt x="28" y="242"/>
                  </a:lnTo>
                  <a:lnTo>
                    <a:pt x="43" y="195"/>
                  </a:lnTo>
                  <a:lnTo>
                    <a:pt x="61" y="158"/>
                  </a:lnTo>
                  <a:lnTo>
                    <a:pt x="79" y="124"/>
                  </a:lnTo>
                  <a:lnTo>
                    <a:pt x="100" y="97"/>
                  </a:lnTo>
                  <a:lnTo>
                    <a:pt x="124" y="75"/>
                  </a:lnTo>
                  <a:lnTo>
                    <a:pt x="150" y="57"/>
                  </a:lnTo>
                  <a:lnTo>
                    <a:pt x="179" y="43"/>
                  </a:lnTo>
                  <a:lnTo>
                    <a:pt x="211" y="32"/>
                  </a:lnTo>
                  <a:lnTo>
                    <a:pt x="246" y="24"/>
                  </a:lnTo>
                  <a:lnTo>
                    <a:pt x="288" y="18"/>
                  </a:lnTo>
                  <a:lnTo>
                    <a:pt x="333" y="12"/>
                  </a:lnTo>
                  <a:lnTo>
                    <a:pt x="382" y="8"/>
                  </a:lnTo>
                  <a:lnTo>
                    <a:pt x="437" y="4"/>
                  </a:lnTo>
                  <a:lnTo>
                    <a:pt x="496" y="0"/>
                  </a:lnTo>
                  <a:lnTo>
                    <a:pt x="760" y="108"/>
                  </a:lnTo>
                  <a:lnTo>
                    <a:pt x="1166" y="221"/>
                  </a:lnTo>
                  <a:lnTo>
                    <a:pt x="904" y="469"/>
                  </a:lnTo>
                  <a:lnTo>
                    <a:pt x="469" y="616"/>
                  </a:lnTo>
                  <a:lnTo>
                    <a:pt x="410" y="611"/>
                  </a:lnTo>
                  <a:lnTo>
                    <a:pt x="359" y="609"/>
                  </a:lnTo>
                  <a:lnTo>
                    <a:pt x="313" y="605"/>
                  </a:lnTo>
                  <a:lnTo>
                    <a:pt x="274" y="603"/>
                  </a:lnTo>
                  <a:lnTo>
                    <a:pt x="238" y="601"/>
                  </a:lnTo>
                  <a:lnTo>
                    <a:pt x="207" y="599"/>
                  </a:lnTo>
                  <a:lnTo>
                    <a:pt x="181" y="593"/>
                  </a:lnTo>
                  <a:lnTo>
                    <a:pt x="158" y="585"/>
                  </a:lnTo>
                  <a:lnTo>
                    <a:pt x="136" y="575"/>
                  </a:lnTo>
                  <a:lnTo>
                    <a:pt x="116" y="559"/>
                  </a:lnTo>
                  <a:lnTo>
                    <a:pt x="99" y="542"/>
                  </a:lnTo>
                  <a:lnTo>
                    <a:pt x="79" y="518"/>
                  </a:lnTo>
                  <a:lnTo>
                    <a:pt x="61" y="486"/>
                  </a:lnTo>
                  <a:lnTo>
                    <a:pt x="43" y="451"/>
                  </a:lnTo>
                  <a:lnTo>
                    <a:pt x="22" y="406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Freeform 10"/>
            <p:cNvSpPr>
              <a:spLocks/>
            </p:cNvSpPr>
            <p:nvPr/>
          </p:nvSpPr>
          <p:spPr bwMode="auto">
            <a:xfrm>
              <a:off x="3000" y="3252"/>
              <a:ext cx="452" cy="221"/>
            </a:xfrm>
            <a:custGeom>
              <a:avLst/>
              <a:gdLst>
                <a:gd name="T0" fmla="*/ 1 w 904"/>
                <a:gd name="T1" fmla="*/ 1 h 441"/>
                <a:gd name="T2" fmla="*/ 1 w 904"/>
                <a:gd name="T3" fmla="*/ 1 h 441"/>
                <a:gd name="T4" fmla="*/ 1 w 904"/>
                <a:gd name="T5" fmla="*/ 1 h 441"/>
                <a:gd name="T6" fmla="*/ 1 w 904"/>
                <a:gd name="T7" fmla="*/ 1 h 441"/>
                <a:gd name="T8" fmla="*/ 1 w 904"/>
                <a:gd name="T9" fmla="*/ 1 h 441"/>
                <a:gd name="T10" fmla="*/ 1 w 904"/>
                <a:gd name="T11" fmla="*/ 1 h 441"/>
                <a:gd name="T12" fmla="*/ 1 w 904"/>
                <a:gd name="T13" fmla="*/ 1 h 441"/>
                <a:gd name="T14" fmla="*/ 1 w 904"/>
                <a:gd name="T15" fmla="*/ 1 h 441"/>
                <a:gd name="T16" fmla="*/ 1 w 904"/>
                <a:gd name="T17" fmla="*/ 0 h 441"/>
                <a:gd name="T18" fmla="*/ 1 w 904"/>
                <a:gd name="T19" fmla="*/ 0 h 441"/>
                <a:gd name="T20" fmla="*/ 1 w 904"/>
                <a:gd name="T21" fmla="*/ 1 h 441"/>
                <a:gd name="T22" fmla="*/ 1 w 904"/>
                <a:gd name="T23" fmla="*/ 1 h 441"/>
                <a:gd name="T24" fmla="*/ 1 w 904"/>
                <a:gd name="T25" fmla="*/ 1 h 441"/>
                <a:gd name="T26" fmla="*/ 1 w 904"/>
                <a:gd name="T27" fmla="*/ 1 h 441"/>
                <a:gd name="T28" fmla="*/ 1 w 904"/>
                <a:gd name="T29" fmla="*/ 1 h 441"/>
                <a:gd name="T30" fmla="*/ 2 w 904"/>
                <a:gd name="T31" fmla="*/ 1 h 441"/>
                <a:gd name="T32" fmla="*/ 2 w 904"/>
                <a:gd name="T33" fmla="*/ 1 h 441"/>
                <a:gd name="T34" fmla="*/ 2 w 904"/>
                <a:gd name="T35" fmla="*/ 1 h 441"/>
                <a:gd name="T36" fmla="*/ 1 w 904"/>
                <a:gd name="T37" fmla="*/ 1 h 441"/>
                <a:gd name="T38" fmla="*/ 1 w 904"/>
                <a:gd name="T39" fmla="*/ 1 h 441"/>
                <a:gd name="T40" fmla="*/ 1 w 904"/>
                <a:gd name="T41" fmla="*/ 1 h 441"/>
                <a:gd name="T42" fmla="*/ 1 w 904"/>
                <a:gd name="T43" fmla="*/ 1 h 441"/>
                <a:gd name="T44" fmla="*/ 1 w 904"/>
                <a:gd name="T45" fmla="*/ 1 h 441"/>
                <a:gd name="T46" fmla="*/ 1 w 904"/>
                <a:gd name="T47" fmla="*/ 1 h 441"/>
                <a:gd name="T48" fmla="*/ 1 w 904"/>
                <a:gd name="T49" fmla="*/ 1 h 441"/>
                <a:gd name="T50" fmla="*/ 1 w 904"/>
                <a:gd name="T51" fmla="*/ 1 h 441"/>
                <a:gd name="T52" fmla="*/ 1 w 904"/>
                <a:gd name="T53" fmla="*/ 1 h 441"/>
                <a:gd name="T54" fmla="*/ 1 w 904"/>
                <a:gd name="T55" fmla="*/ 1 h 441"/>
                <a:gd name="T56" fmla="*/ 1 w 904"/>
                <a:gd name="T57" fmla="*/ 1 h 441"/>
                <a:gd name="T58" fmla="*/ 1 w 904"/>
                <a:gd name="T59" fmla="*/ 1 h 441"/>
                <a:gd name="T60" fmla="*/ 1 w 904"/>
                <a:gd name="T61" fmla="*/ 1 h 441"/>
                <a:gd name="T62" fmla="*/ 1 w 904"/>
                <a:gd name="T63" fmla="*/ 1 h 441"/>
                <a:gd name="T64" fmla="*/ 0 w 904"/>
                <a:gd name="T65" fmla="*/ 1 h 441"/>
                <a:gd name="T66" fmla="*/ 0 w 904"/>
                <a:gd name="T67" fmla="*/ 1 h 441"/>
                <a:gd name="T68" fmla="*/ 1 w 904"/>
                <a:gd name="T69" fmla="*/ 1 h 44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04" h="441">
                  <a:moveTo>
                    <a:pt x="6" y="201"/>
                  </a:moveTo>
                  <a:lnTo>
                    <a:pt x="45" y="152"/>
                  </a:lnTo>
                  <a:lnTo>
                    <a:pt x="80" y="110"/>
                  </a:lnTo>
                  <a:lnTo>
                    <a:pt x="116" y="77"/>
                  </a:lnTo>
                  <a:lnTo>
                    <a:pt x="147" y="49"/>
                  </a:lnTo>
                  <a:lnTo>
                    <a:pt x="179" y="29"/>
                  </a:lnTo>
                  <a:lnTo>
                    <a:pt x="208" y="14"/>
                  </a:lnTo>
                  <a:lnTo>
                    <a:pt x="240" y="4"/>
                  </a:lnTo>
                  <a:lnTo>
                    <a:pt x="271" y="0"/>
                  </a:lnTo>
                  <a:lnTo>
                    <a:pt x="303" y="0"/>
                  </a:lnTo>
                  <a:lnTo>
                    <a:pt x="338" y="4"/>
                  </a:lnTo>
                  <a:lnTo>
                    <a:pt x="374" y="14"/>
                  </a:lnTo>
                  <a:lnTo>
                    <a:pt x="413" y="26"/>
                  </a:lnTo>
                  <a:lnTo>
                    <a:pt x="455" y="41"/>
                  </a:lnTo>
                  <a:lnTo>
                    <a:pt x="500" y="59"/>
                  </a:lnTo>
                  <a:lnTo>
                    <a:pt x="551" y="79"/>
                  </a:lnTo>
                  <a:lnTo>
                    <a:pt x="606" y="102"/>
                  </a:lnTo>
                  <a:lnTo>
                    <a:pt x="904" y="427"/>
                  </a:lnTo>
                  <a:lnTo>
                    <a:pt x="293" y="441"/>
                  </a:lnTo>
                  <a:lnTo>
                    <a:pt x="273" y="429"/>
                  </a:lnTo>
                  <a:lnTo>
                    <a:pt x="256" y="419"/>
                  </a:lnTo>
                  <a:lnTo>
                    <a:pt x="238" y="411"/>
                  </a:lnTo>
                  <a:lnTo>
                    <a:pt x="220" y="404"/>
                  </a:lnTo>
                  <a:lnTo>
                    <a:pt x="204" y="400"/>
                  </a:lnTo>
                  <a:lnTo>
                    <a:pt x="189" y="394"/>
                  </a:lnTo>
                  <a:lnTo>
                    <a:pt x="173" y="390"/>
                  </a:lnTo>
                  <a:lnTo>
                    <a:pt x="159" y="386"/>
                  </a:lnTo>
                  <a:lnTo>
                    <a:pt x="106" y="370"/>
                  </a:lnTo>
                  <a:lnTo>
                    <a:pt x="67" y="350"/>
                  </a:lnTo>
                  <a:lnTo>
                    <a:pt x="37" y="331"/>
                  </a:lnTo>
                  <a:lnTo>
                    <a:pt x="15" y="307"/>
                  </a:lnTo>
                  <a:lnTo>
                    <a:pt x="4" y="283"/>
                  </a:lnTo>
                  <a:lnTo>
                    <a:pt x="0" y="258"/>
                  </a:lnTo>
                  <a:lnTo>
                    <a:pt x="0" y="230"/>
                  </a:lnTo>
                  <a:lnTo>
                    <a:pt x="6" y="201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" name="Freeform 11"/>
            <p:cNvSpPr>
              <a:spLocks/>
            </p:cNvSpPr>
            <p:nvPr/>
          </p:nvSpPr>
          <p:spPr bwMode="auto">
            <a:xfrm>
              <a:off x="2424" y="2872"/>
              <a:ext cx="255" cy="337"/>
            </a:xfrm>
            <a:custGeom>
              <a:avLst/>
              <a:gdLst>
                <a:gd name="T0" fmla="*/ 1 w 510"/>
                <a:gd name="T1" fmla="*/ 0 h 675"/>
                <a:gd name="T2" fmla="*/ 1 w 510"/>
                <a:gd name="T3" fmla="*/ 0 h 675"/>
                <a:gd name="T4" fmla="*/ 1 w 510"/>
                <a:gd name="T5" fmla="*/ 0 h 675"/>
                <a:gd name="T6" fmla="*/ 1 w 510"/>
                <a:gd name="T7" fmla="*/ 0 h 675"/>
                <a:gd name="T8" fmla="*/ 1 w 510"/>
                <a:gd name="T9" fmla="*/ 0 h 675"/>
                <a:gd name="T10" fmla="*/ 1 w 510"/>
                <a:gd name="T11" fmla="*/ 0 h 675"/>
                <a:gd name="T12" fmla="*/ 1 w 510"/>
                <a:gd name="T13" fmla="*/ 0 h 675"/>
                <a:gd name="T14" fmla="*/ 1 w 510"/>
                <a:gd name="T15" fmla="*/ 0 h 675"/>
                <a:gd name="T16" fmla="*/ 1 w 510"/>
                <a:gd name="T17" fmla="*/ 0 h 675"/>
                <a:gd name="T18" fmla="*/ 1 w 510"/>
                <a:gd name="T19" fmla="*/ 0 h 675"/>
                <a:gd name="T20" fmla="*/ 1 w 510"/>
                <a:gd name="T21" fmla="*/ 0 h 675"/>
                <a:gd name="T22" fmla="*/ 1 w 510"/>
                <a:gd name="T23" fmla="*/ 0 h 675"/>
                <a:gd name="T24" fmla="*/ 1 w 510"/>
                <a:gd name="T25" fmla="*/ 0 h 675"/>
                <a:gd name="T26" fmla="*/ 1 w 510"/>
                <a:gd name="T27" fmla="*/ 0 h 675"/>
                <a:gd name="T28" fmla="*/ 1 w 510"/>
                <a:gd name="T29" fmla="*/ 0 h 675"/>
                <a:gd name="T30" fmla="*/ 1 w 510"/>
                <a:gd name="T31" fmla="*/ 0 h 675"/>
                <a:gd name="T32" fmla="*/ 1 w 510"/>
                <a:gd name="T33" fmla="*/ 0 h 675"/>
                <a:gd name="T34" fmla="*/ 1 w 510"/>
                <a:gd name="T35" fmla="*/ 0 h 675"/>
                <a:gd name="T36" fmla="*/ 0 w 510"/>
                <a:gd name="T37" fmla="*/ 1 h 675"/>
                <a:gd name="T38" fmla="*/ 1 w 510"/>
                <a:gd name="T39" fmla="*/ 1 h 675"/>
                <a:gd name="T40" fmla="*/ 1 w 510"/>
                <a:gd name="T41" fmla="*/ 0 h 675"/>
                <a:gd name="T42" fmla="*/ 1 w 510"/>
                <a:gd name="T43" fmla="*/ 0 h 675"/>
                <a:gd name="T44" fmla="*/ 1 w 510"/>
                <a:gd name="T45" fmla="*/ 0 h 675"/>
                <a:gd name="T46" fmla="*/ 1 w 510"/>
                <a:gd name="T47" fmla="*/ 0 h 675"/>
                <a:gd name="T48" fmla="*/ 1 w 510"/>
                <a:gd name="T49" fmla="*/ 0 h 675"/>
                <a:gd name="T50" fmla="*/ 1 w 510"/>
                <a:gd name="T51" fmla="*/ 0 h 675"/>
                <a:gd name="T52" fmla="*/ 1 w 510"/>
                <a:gd name="T53" fmla="*/ 0 h 675"/>
                <a:gd name="T54" fmla="*/ 1 w 510"/>
                <a:gd name="T55" fmla="*/ 0 h 675"/>
                <a:gd name="T56" fmla="*/ 1 w 510"/>
                <a:gd name="T57" fmla="*/ 0 h 67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10" h="675">
                  <a:moveTo>
                    <a:pt x="418" y="19"/>
                  </a:moveTo>
                  <a:lnTo>
                    <a:pt x="378" y="10"/>
                  </a:lnTo>
                  <a:lnTo>
                    <a:pt x="343" y="4"/>
                  </a:lnTo>
                  <a:lnTo>
                    <a:pt x="311" y="0"/>
                  </a:lnTo>
                  <a:lnTo>
                    <a:pt x="284" y="0"/>
                  </a:lnTo>
                  <a:lnTo>
                    <a:pt x="258" y="2"/>
                  </a:lnTo>
                  <a:lnTo>
                    <a:pt x="237" y="6"/>
                  </a:lnTo>
                  <a:lnTo>
                    <a:pt x="217" y="14"/>
                  </a:lnTo>
                  <a:lnTo>
                    <a:pt x="199" y="23"/>
                  </a:lnTo>
                  <a:lnTo>
                    <a:pt x="181" y="37"/>
                  </a:lnTo>
                  <a:lnTo>
                    <a:pt x="166" y="53"/>
                  </a:lnTo>
                  <a:lnTo>
                    <a:pt x="150" y="73"/>
                  </a:lnTo>
                  <a:lnTo>
                    <a:pt x="134" y="94"/>
                  </a:lnTo>
                  <a:lnTo>
                    <a:pt x="118" y="120"/>
                  </a:lnTo>
                  <a:lnTo>
                    <a:pt x="101" y="147"/>
                  </a:lnTo>
                  <a:lnTo>
                    <a:pt x="83" y="179"/>
                  </a:lnTo>
                  <a:lnTo>
                    <a:pt x="63" y="214"/>
                  </a:lnTo>
                  <a:lnTo>
                    <a:pt x="51" y="403"/>
                  </a:lnTo>
                  <a:lnTo>
                    <a:pt x="0" y="675"/>
                  </a:lnTo>
                  <a:lnTo>
                    <a:pt x="225" y="593"/>
                  </a:lnTo>
                  <a:lnTo>
                    <a:pt x="438" y="376"/>
                  </a:lnTo>
                  <a:lnTo>
                    <a:pt x="465" y="307"/>
                  </a:lnTo>
                  <a:lnTo>
                    <a:pt x="487" y="256"/>
                  </a:lnTo>
                  <a:lnTo>
                    <a:pt x="503" y="214"/>
                  </a:lnTo>
                  <a:lnTo>
                    <a:pt x="510" y="181"/>
                  </a:lnTo>
                  <a:lnTo>
                    <a:pt x="506" y="149"/>
                  </a:lnTo>
                  <a:lnTo>
                    <a:pt x="491" y="116"/>
                  </a:lnTo>
                  <a:lnTo>
                    <a:pt x="463" y="73"/>
                  </a:lnTo>
                  <a:lnTo>
                    <a:pt x="418" y="19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" name="Freeform 12"/>
            <p:cNvSpPr>
              <a:spLocks/>
            </p:cNvSpPr>
            <p:nvPr/>
          </p:nvSpPr>
          <p:spPr bwMode="auto">
            <a:xfrm>
              <a:off x="3795" y="2632"/>
              <a:ext cx="371" cy="222"/>
            </a:xfrm>
            <a:custGeom>
              <a:avLst/>
              <a:gdLst>
                <a:gd name="T0" fmla="*/ 0 w 743"/>
                <a:gd name="T1" fmla="*/ 0 h 445"/>
                <a:gd name="T2" fmla="*/ 0 w 743"/>
                <a:gd name="T3" fmla="*/ 0 h 445"/>
                <a:gd name="T4" fmla="*/ 0 w 743"/>
                <a:gd name="T5" fmla="*/ 0 h 445"/>
                <a:gd name="T6" fmla="*/ 0 w 743"/>
                <a:gd name="T7" fmla="*/ 0 h 445"/>
                <a:gd name="T8" fmla="*/ 0 w 743"/>
                <a:gd name="T9" fmla="*/ 0 h 445"/>
                <a:gd name="T10" fmla="*/ 0 w 743"/>
                <a:gd name="T11" fmla="*/ 0 h 445"/>
                <a:gd name="T12" fmla="*/ 0 w 743"/>
                <a:gd name="T13" fmla="*/ 0 h 445"/>
                <a:gd name="T14" fmla="*/ 0 w 743"/>
                <a:gd name="T15" fmla="*/ 0 h 445"/>
                <a:gd name="T16" fmla="*/ 0 w 743"/>
                <a:gd name="T17" fmla="*/ 0 h 445"/>
                <a:gd name="T18" fmla="*/ 0 w 743"/>
                <a:gd name="T19" fmla="*/ 0 h 445"/>
                <a:gd name="T20" fmla="*/ 0 w 743"/>
                <a:gd name="T21" fmla="*/ 0 h 445"/>
                <a:gd name="T22" fmla="*/ 0 w 743"/>
                <a:gd name="T23" fmla="*/ 0 h 445"/>
                <a:gd name="T24" fmla="*/ 0 w 743"/>
                <a:gd name="T25" fmla="*/ 0 h 445"/>
                <a:gd name="T26" fmla="*/ 0 w 743"/>
                <a:gd name="T27" fmla="*/ 0 h 445"/>
                <a:gd name="T28" fmla="*/ 0 w 743"/>
                <a:gd name="T29" fmla="*/ 0 h 445"/>
                <a:gd name="T30" fmla="*/ 0 w 743"/>
                <a:gd name="T31" fmla="*/ 0 h 445"/>
                <a:gd name="T32" fmla="*/ 0 w 743"/>
                <a:gd name="T33" fmla="*/ 0 h 445"/>
                <a:gd name="T34" fmla="*/ 1 w 743"/>
                <a:gd name="T35" fmla="*/ 0 h 445"/>
                <a:gd name="T36" fmla="*/ 1 w 743"/>
                <a:gd name="T37" fmla="*/ 0 h 445"/>
                <a:gd name="T38" fmla="*/ 1 w 743"/>
                <a:gd name="T39" fmla="*/ 0 h 445"/>
                <a:gd name="T40" fmla="*/ 0 w 743"/>
                <a:gd name="T41" fmla="*/ 0 h 445"/>
                <a:gd name="T42" fmla="*/ 0 w 743"/>
                <a:gd name="T43" fmla="*/ 0 h 445"/>
                <a:gd name="T44" fmla="*/ 0 w 743"/>
                <a:gd name="T45" fmla="*/ 0 h 445"/>
                <a:gd name="T46" fmla="*/ 0 w 743"/>
                <a:gd name="T47" fmla="*/ 0 h 445"/>
                <a:gd name="T48" fmla="*/ 0 w 743"/>
                <a:gd name="T49" fmla="*/ 0 h 445"/>
                <a:gd name="T50" fmla="*/ 0 w 743"/>
                <a:gd name="T51" fmla="*/ 0 h 445"/>
                <a:gd name="T52" fmla="*/ 0 w 743"/>
                <a:gd name="T53" fmla="*/ 0 h 445"/>
                <a:gd name="T54" fmla="*/ 0 w 743"/>
                <a:gd name="T55" fmla="*/ 0 h 445"/>
                <a:gd name="T56" fmla="*/ 0 w 743"/>
                <a:gd name="T57" fmla="*/ 0 h 44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43" h="445">
                  <a:moveTo>
                    <a:pt x="0" y="146"/>
                  </a:moveTo>
                  <a:lnTo>
                    <a:pt x="24" y="113"/>
                  </a:lnTo>
                  <a:lnTo>
                    <a:pt x="46" y="83"/>
                  </a:lnTo>
                  <a:lnTo>
                    <a:pt x="67" y="59"/>
                  </a:lnTo>
                  <a:lnTo>
                    <a:pt x="87" y="40"/>
                  </a:lnTo>
                  <a:lnTo>
                    <a:pt x="109" y="26"/>
                  </a:lnTo>
                  <a:lnTo>
                    <a:pt x="128" y="14"/>
                  </a:lnTo>
                  <a:lnTo>
                    <a:pt x="148" y="6"/>
                  </a:lnTo>
                  <a:lnTo>
                    <a:pt x="168" y="2"/>
                  </a:lnTo>
                  <a:lnTo>
                    <a:pt x="189" y="0"/>
                  </a:lnTo>
                  <a:lnTo>
                    <a:pt x="211" y="2"/>
                  </a:lnTo>
                  <a:lnTo>
                    <a:pt x="237" y="6"/>
                  </a:lnTo>
                  <a:lnTo>
                    <a:pt x="262" y="12"/>
                  </a:lnTo>
                  <a:lnTo>
                    <a:pt x="292" y="20"/>
                  </a:lnTo>
                  <a:lnTo>
                    <a:pt x="321" y="32"/>
                  </a:lnTo>
                  <a:lnTo>
                    <a:pt x="357" y="44"/>
                  </a:lnTo>
                  <a:lnTo>
                    <a:pt x="394" y="55"/>
                  </a:lnTo>
                  <a:lnTo>
                    <a:pt x="526" y="189"/>
                  </a:lnTo>
                  <a:lnTo>
                    <a:pt x="743" y="361"/>
                  </a:lnTo>
                  <a:lnTo>
                    <a:pt x="524" y="445"/>
                  </a:lnTo>
                  <a:lnTo>
                    <a:pt x="221" y="424"/>
                  </a:lnTo>
                  <a:lnTo>
                    <a:pt x="156" y="390"/>
                  </a:lnTo>
                  <a:lnTo>
                    <a:pt x="105" y="367"/>
                  </a:lnTo>
                  <a:lnTo>
                    <a:pt x="65" y="347"/>
                  </a:lnTo>
                  <a:lnTo>
                    <a:pt x="38" y="325"/>
                  </a:lnTo>
                  <a:lnTo>
                    <a:pt x="20" y="302"/>
                  </a:lnTo>
                  <a:lnTo>
                    <a:pt x="8" y="266"/>
                  </a:lnTo>
                  <a:lnTo>
                    <a:pt x="2" y="215"/>
                  </a:lnTo>
                  <a:lnTo>
                    <a:pt x="0" y="146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" name="Freeform 13"/>
            <p:cNvSpPr>
              <a:spLocks/>
            </p:cNvSpPr>
            <p:nvPr/>
          </p:nvSpPr>
          <p:spPr bwMode="auto">
            <a:xfrm>
              <a:off x="3278" y="1771"/>
              <a:ext cx="322" cy="262"/>
            </a:xfrm>
            <a:custGeom>
              <a:avLst/>
              <a:gdLst>
                <a:gd name="T0" fmla="*/ 1 w 646"/>
                <a:gd name="T1" fmla="*/ 1 h 524"/>
                <a:gd name="T2" fmla="*/ 0 w 646"/>
                <a:gd name="T3" fmla="*/ 0 h 524"/>
                <a:gd name="T4" fmla="*/ 0 w 646"/>
                <a:gd name="T5" fmla="*/ 0 h 524"/>
                <a:gd name="T6" fmla="*/ 0 w 646"/>
                <a:gd name="T7" fmla="*/ 1 h 524"/>
                <a:gd name="T8" fmla="*/ 0 w 646"/>
                <a:gd name="T9" fmla="*/ 1 h 524"/>
                <a:gd name="T10" fmla="*/ 0 w 646"/>
                <a:gd name="T11" fmla="*/ 2 h 524"/>
                <a:gd name="T12" fmla="*/ 1 w 646"/>
                <a:gd name="T13" fmla="*/ 2 h 524"/>
                <a:gd name="T14" fmla="*/ 1 w 646"/>
                <a:gd name="T15" fmla="*/ 1 h 5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46" h="524">
                  <a:moveTo>
                    <a:pt x="646" y="217"/>
                  </a:moveTo>
                  <a:lnTo>
                    <a:pt x="398" y="0"/>
                  </a:lnTo>
                  <a:lnTo>
                    <a:pt x="179" y="0"/>
                  </a:lnTo>
                  <a:lnTo>
                    <a:pt x="0" y="108"/>
                  </a:lnTo>
                  <a:lnTo>
                    <a:pt x="162" y="343"/>
                  </a:lnTo>
                  <a:lnTo>
                    <a:pt x="361" y="524"/>
                  </a:lnTo>
                  <a:lnTo>
                    <a:pt x="593" y="524"/>
                  </a:lnTo>
                  <a:lnTo>
                    <a:pt x="646" y="217"/>
                  </a:lnTo>
                  <a:close/>
                </a:path>
              </a:pathLst>
            </a:custGeom>
            <a:solidFill>
              <a:srgbClr val="00420F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" name="Freeform 14"/>
            <p:cNvSpPr>
              <a:spLocks/>
            </p:cNvSpPr>
            <p:nvPr/>
          </p:nvSpPr>
          <p:spPr bwMode="auto">
            <a:xfrm>
              <a:off x="3547" y="1625"/>
              <a:ext cx="221" cy="1332"/>
            </a:xfrm>
            <a:custGeom>
              <a:avLst/>
              <a:gdLst>
                <a:gd name="T0" fmla="*/ 1 w 441"/>
                <a:gd name="T1" fmla="*/ 5 h 2664"/>
                <a:gd name="T2" fmla="*/ 1 w 441"/>
                <a:gd name="T3" fmla="*/ 4 h 2664"/>
                <a:gd name="T4" fmla="*/ 1 w 441"/>
                <a:gd name="T5" fmla="*/ 3 h 2664"/>
                <a:gd name="T6" fmla="*/ 1 w 441"/>
                <a:gd name="T7" fmla="*/ 3 h 2664"/>
                <a:gd name="T8" fmla="*/ 1 w 441"/>
                <a:gd name="T9" fmla="*/ 2 h 2664"/>
                <a:gd name="T10" fmla="*/ 1 w 441"/>
                <a:gd name="T11" fmla="*/ 2 h 2664"/>
                <a:gd name="T12" fmla="*/ 1 w 441"/>
                <a:gd name="T13" fmla="*/ 2 h 2664"/>
                <a:gd name="T14" fmla="*/ 1 w 441"/>
                <a:gd name="T15" fmla="*/ 2 h 2664"/>
                <a:gd name="T16" fmla="*/ 1 w 441"/>
                <a:gd name="T17" fmla="*/ 2 h 2664"/>
                <a:gd name="T18" fmla="*/ 1 w 441"/>
                <a:gd name="T19" fmla="*/ 2 h 2664"/>
                <a:gd name="T20" fmla="*/ 1 w 441"/>
                <a:gd name="T21" fmla="*/ 2 h 2664"/>
                <a:gd name="T22" fmla="*/ 1 w 441"/>
                <a:gd name="T23" fmla="*/ 1 h 2664"/>
                <a:gd name="T24" fmla="*/ 1 w 441"/>
                <a:gd name="T25" fmla="*/ 1 h 2664"/>
                <a:gd name="T26" fmla="*/ 1 w 441"/>
                <a:gd name="T27" fmla="*/ 1 h 2664"/>
                <a:gd name="T28" fmla="*/ 1 w 441"/>
                <a:gd name="T29" fmla="*/ 1 h 2664"/>
                <a:gd name="T30" fmla="*/ 1 w 441"/>
                <a:gd name="T31" fmla="*/ 1 h 2664"/>
                <a:gd name="T32" fmla="*/ 1 w 441"/>
                <a:gd name="T33" fmla="*/ 1 h 2664"/>
                <a:gd name="T34" fmla="*/ 1 w 441"/>
                <a:gd name="T35" fmla="*/ 1 h 2664"/>
                <a:gd name="T36" fmla="*/ 0 w 441"/>
                <a:gd name="T37" fmla="*/ 1 h 2664"/>
                <a:gd name="T38" fmla="*/ 0 w 441"/>
                <a:gd name="T39" fmla="*/ 0 h 2664"/>
                <a:gd name="T40" fmla="*/ 1 w 441"/>
                <a:gd name="T41" fmla="*/ 1 h 2664"/>
                <a:gd name="T42" fmla="*/ 1 w 441"/>
                <a:gd name="T43" fmla="*/ 1 h 2664"/>
                <a:gd name="T44" fmla="*/ 1 w 441"/>
                <a:gd name="T45" fmla="*/ 1 h 2664"/>
                <a:gd name="T46" fmla="*/ 1 w 441"/>
                <a:gd name="T47" fmla="*/ 1 h 2664"/>
                <a:gd name="T48" fmla="*/ 1 w 441"/>
                <a:gd name="T49" fmla="*/ 1 h 2664"/>
                <a:gd name="T50" fmla="*/ 1 w 441"/>
                <a:gd name="T51" fmla="*/ 2 h 2664"/>
                <a:gd name="T52" fmla="*/ 1 w 441"/>
                <a:gd name="T53" fmla="*/ 2 h 2664"/>
                <a:gd name="T54" fmla="*/ 1 w 441"/>
                <a:gd name="T55" fmla="*/ 2 h 2664"/>
                <a:gd name="T56" fmla="*/ 1 w 441"/>
                <a:gd name="T57" fmla="*/ 2 h 2664"/>
                <a:gd name="T58" fmla="*/ 1 w 441"/>
                <a:gd name="T59" fmla="*/ 2 h 2664"/>
                <a:gd name="T60" fmla="*/ 1 w 441"/>
                <a:gd name="T61" fmla="*/ 3 h 2664"/>
                <a:gd name="T62" fmla="*/ 1 w 441"/>
                <a:gd name="T63" fmla="*/ 3 h 2664"/>
                <a:gd name="T64" fmla="*/ 1 w 441"/>
                <a:gd name="T65" fmla="*/ 3 h 2664"/>
                <a:gd name="T66" fmla="*/ 1 w 441"/>
                <a:gd name="T67" fmla="*/ 3 h 2664"/>
                <a:gd name="T68" fmla="*/ 1 w 441"/>
                <a:gd name="T69" fmla="*/ 3 h 2664"/>
                <a:gd name="T70" fmla="*/ 1 w 441"/>
                <a:gd name="T71" fmla="*/ 4 h 2664"/>
                <a:gd name="T72" fmla="*/ 1 w 441"/>
                <a:gd name="T73" fmla="*/ 5 h 2664"/>
                <a:gd name="T74" fmla="*/ 1 w 441"/>
                <a:gd name="T75" fmla="*/ 6 h 2664"/>
                <a:gd name="T76" fmla="*/ 0 w 441"/>
                <a:gd name="T77" fmla="*/ 5 h 2664"/>
                <a:gd name="T78" fmla="*/ 1 w 441"/>
                <a:gd name="T79" fmla="*/ 5 h 266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441" h="2664">
                  <a:moveTo>
                    <a:pt x="106" y="2375"/>
                  </a:moveTo>
                  <a:lnTo>
                    <a:pt x="215" y="1995"/>
                  </a:lnTo>
                  <a:lnTo>
                    <a:pt x="341" y="1122"/>
                  </a:lnTo>
                  <a:lnTo>
                    <a:pt x="337" y="1026"/>
                  </a:lnTo>
                  <a:lnTo>
                    <a:pt x="333" y="937"/>
                  </a:lnTo>
                  <a:lnTo>
                    <a:pt x="331" y="854"/>
                  </a:lnTo>
                  <a:lnTo>
                    <a:pt x="331" y="782"/>
                  </a:lnTo>
                  <a:lnTo>
                    <a:pt x="329" y="713"/>
                  </a:lnTo>
                  <a:lnTo>
                    <a:pt x="325" y="648"/>
                  </a:lnTo>
                  <a:lnTo>
                    <a:pt x="319" y="589"/>
                  </a:lnTo>
                  <a:lnTo>
                    <a:pt x="309" y="531"/>
                  </a:lnTo>
                  <a:lnTo>
                    <a:pt x="295" y="478"/>
                  </a:lnTo>
                  <a:lnTo>
                    <a:pt x="276" y="425"/>
                  </a:lnTo>
                  <a:lnTo>
                    <a:pt x="250" y="372"/>
                  </a:lnTo>
                  <a:lnTo>
                    <a:pt x="217" y="321"/>
                  </a:lnTo>
                  <a:lnTo>
                    <a:pt x="177" y="266"/>
                  </a:lnTo>
                  <a:lnTo>
                    <a:pt x="128" y="210"/>
                  </a:lnTo>
                  <a:lnTo>
                    <a:pt x="69" y="153"/>
                  </a:lnTo>
                  <a:lnTo>
                    <a:pt x="0" y="90"/>
                  </a:lnTo>
                  <a:lnTo>
                    <a:pt x="0" y="0"/>
                  </a:lnTo>
                  <a:lnTo>
                    <a:pt x="110" y="100"/>
                  </a:lnTo>
                  <a:lnTo>
                    <a:pt x="203" y="201"/>
                  </a:lnTo>
                  <a:lnTo>
                    <a:pt x="278" y="299"/>
                  </a:lnTo>
                  <a:lnTo>
                    <a:pt x="335" y="396"/>
                  </a:lnTo>
                  <a:lnTo>
                    <a:pt x="378" y="492"/>
                  </a:lnTo>
                  <a:lnTo>
                    <a:pt x="410" y="587"/>
                  </a:lnTo>
                  <a:lnTo>
                    <a:pt x="429" y="683"/>
                  </a:lnTo>
                  <a:lnTo>
                    <a:pt x="439" y="780"/>
                  </a:lnTo>
                  <a:lnTo>
                    <a:pt x="441" y="876"/>
                  </a:lnTo>
                  <a:lnTo>
                    <a:pt x="435" y="975"/>
                  </a:lnTo>
                  <a:lnTo>
                    <a:pt x="423" y="1075"/>
                  </a:lnTo>
                  <a:lnTo>
                    <a:pt x="410" y="1177"/>
                  </a:lnTo>
                  <a:lnTo>
                    <a:pt x="392" y="1282"/>
                  </a:lnTo>
                  <a:lnTo>
                    <a:pt x="374" y="1388"/>
                  </a:lnTo>
                  <a:lnTo>
                    <a:pt x="356" y="1498"/>
                  </a:lnTo>
                  <a:lnTo>
                    <a:pt x="341" y="1613"/>
                  </a:lnTo>
                  <a:lnTo>
                    <a:pt x="126" y="2556"/>
                  </a:lnTo>
                  <a:lnTo>
                    <a:pt x="35" y="2664"/>
                  </a:lnTo>
                  <a:lnTo>
                    <a:pt x="0" y="2556"/>
                  </a:lnTo>
                  <a:lnTo>
                    <a:pt x="106" y="2375"/>
                  </a:lnTo>
                  <a:close/>
                </a:path>
              </a:pathLst>
            </a:custGeom>
            <a:solidFill>
              <a:srgbClr val="3300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" name="Freeform 15"/>
            <p:cNvSpPr>
              <a:spLocks/>
            </p:cNvSpPr>
            <p:nvPr/>
          </p:nvSpPr>
          <p:spPr bwMode="auto">
            <a:xfrm>
              <a:off x="2532" y="1933"/>
              <a:ext cx="997" cy="1538"/>
            </a:xfrm>
            <a:custGeom>
              <a:avLst/>
              <a:gdLst>
                <a:gd name="T0" fmla="*/ 2 w 1993"/>
                <a:gd name="T1" fmla="*/ 0 h 3080"/>
                <a:gd name="T2" fmla="*/ 2 w 1993"/>
                <a:gd name="T3" fmla="*/ 0 h 3080"/>
                <a:gd name="T4" fmla="*/ 1 w 1993"/>
                <a:gd name="T5" fmla="*/ 0 h 3080"/>
                <a:gd name="T6" fmla="*/ 1 w 1993"/>
                <a:gd name="T7" fmla="*/ 0 h 3080"/>
                <a:gd name="T8" fmla="*/ 2 w 1993"/>
                <a:gd name="T9" fmla="*/ 1 h 3080"/>
                <a:gd name="T10" fmla="*/ 2 w 1993"/>
                <a:gd name="T11" fmla="*/ 4 h 3080"/>
                <a:gd name="T12" fmla="*/ 1 w 1993"/>
                <a:gd name="T13" fmla="*/ 5 h 3080"/>
                <a:gd name="T14" fmla="*/ 1 w 1993"/>
                <a:gd name="T15" fmla="*/ 5 h 3080"/>
                <a:gd name="T16" fmla="*/ 1 w 1993"/>
                <a:gd name="T17" fmla="*/ 5 h 3080"/>
                <a:gd name="T18" fmla="*/ 2 w 1993"/>
                <a:gd name="T19" fmla="*/ 5 h 3080"/>
                <a:gd name="T20" fmla="*/ 2 w 1993"/>
                <a:gd name="T21" fmla="*/ 5 h 3080"/>
                <a:gd name="T22" fmla="*/ 2 w 1993"/>
                <a:gd name="T23" fmla="*/ 5 h 3080"/>
                <a:gd name="T24" fmla="*/ 2 w 1993"/>
                <a:gd name="T25" fmla="*/ 5 h 3080"/>
                <a:gd name="T26" fmla="*/ 2 w 1993"/>
                <a:gd name="T27" fmla="*/ 6 h 3080"/>
                <a:gd name="T28" fmla="*/ 3 w 1993"/>
                <a:gd name="T29" fmla="*/ 5 h 3080"/>
                <a:gd name="T30" fmla="*/ 2 w 1993"/>
                <a:gd name="T31" fmla="*/ 5 h 3080"/>
                <a:gd name="T32" fmla="*/ 2 w 1993"/>
                <a:gd name="T33" fmla="*/ 5 h 3080"/>
                <a:gd name="T34" fmla="*/ 2 w 1993"/>
                <a:gd name="T35" fmla="*/ 5 h 3080"/>
                <a:gd name="T36" fmla="*/ 2 w 1993"/>
                <a:gd name="T37" fmla="*/ 4 h 3080"/>
                <a:gd name="T38" fmla="*/ 3 w 1993"/>
                <a:gd name="T39" fmla="*/ 4 h 3080"/>
                <a:gd name="T40" fmla="*/ 3 w 1993"/>
                <a:gd name="T41" fmla="*/ 4 h 3080"/>
                <a:gd name="T42" fmla="*/ 3 w 1993"/>
                <a:gd name="T43" fmla="*/ 4 h 3080"/>
                <a:gd name="T44" fmla="*/ 3 w 1993"/>
                <a:gd name="T45" fmla="*/ 4 h 3080"/>
                <a:gd name="T46" fmla="*/ 3 w 1993"/>
                <a:gd name="T47" fmla="*/ 4 h 3080"/>
                <a:gd name="T48" fmla="*/ 3 w 1993"/>
                <a:gd name="T49" fmla="*/ 4 h 3080"/>
                <a:gd name="T50" fmla="*/ 4 w 1993"/>
                <a:gd name="T51" fmla="*/ 4 h 3080"/>
                <a:gd name="T52" fmla="*/ 4 w 1993"/>
                <a:gd name="T53" fmla="*/ 4 h 3080"/>
                <a:gd name="T54" fmla="*/ 4 w 1993"/>
                <a:gd name="T55" fmla="*/ 4 h 3080"/>
                <a:gd name="T56" fmla="*/ 4 w 1993"/>
                <a:gd name="T57" fmla="*/ 3 h 3080"/>
                <a:gd name="T58" fmla="*/ 4 w 1993"/>
                <a:gd name="T59" fmla="*/ 3 h 3080"/>
                <a:gd name="T60" fmla="*/ 4 w 1993"/>
                <a:gd name="T61" fmla="*/ 3 h 3080"/>
                <a:gd name="T62" fmla="*/ 3 w 1993"/>
                <a:gd name="T63" fmla="*/ 4 h 3080"/>
                <a:gd name="T64" fmla="*/ 3 w 1993"/>
                <a:gd name="T65" fmla="*/ 4 h 3080"/>
                <a:gd name="T66" fmla="*/ 3 w 1993"/>
                <a:gd name="T67" fmla="*/ 4 h 3080"/>
                <a:gd name="T68" fmla="*/ 3 w 1993"/>
                <a:gd name="T69" fmla="*/ 4 h 3080"/>
                <a:gd name="T70" fmla="*/ 3 w 1993"/>
                <a:gd name="T71" fmla="*/ 4 h 3080"/>
                <a:gd name="T72" fmla="*/ 2 w 1993"/>
                <a:gd name="T73" fmla="*/ 4 h 3080"/>
                <a:gd name="T74" fmla="*/ 2 w 1993"/>
                <a:gd name="T75" fmla="*/ 4 h 3080"/>
                <a:gd name="T76" fmla="*/ 2 w 1993"/>
                <a:gd name="T77" fmla="*/ 3 h 3080"/>
                <a:gd name="T78" fmla="*/ 2 w 1993"/>
                <a:gd name="T79" fmla="*/ 0 h 308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993" h="3080">
                  <a:moveTo>
                    <a:pt x="772" y="471"/>
                  </a:moveTo>
                  <a:lnTo>
                    <a:pt x="863" y="181"/>
                  </a:lnTo>
                  <a:lnTo>
                    <a:pt x="863" y="18"/>
                  </a:lnTo>
                  <a:lnTo>
                    <a:pt x="827" y="73"/>
                  </a:lnTo>
                  <a:lnTo>
                    <a:pt x="701" y="73"/>
                  </a:lnTo>
                  <a:lnTo>
                    <a:pt x="504" y="18"/>
                  </a:lnTo>
                  <a:lnTo>
                    <a:pt x="287" y="0"/>
                  </a:lnTo>
                  <a:lnTo>
                    <a:pt x="414" y="55"/>
                  </a:lnTo>
                  <a:lnTo>
                    <a:pt x="792" y="128"/>
                  </a:lnTo>
                  <a:lnTo>
                    <a:pt x="593" y="634"/>
                  </a:lnTo>
                  <a:lnTo>
                    <a:pt x="611" y="2284"/>
                  </a:lnTo>
                  <a:lnTo>
                    <a:pt x="648" y="2538"/>
                  </a:lnTo>
                  <a:lnTo>
                    <a:pt x="683" y="2737"/>
                  </a:lnTo>
                  <a:lnTo>
                    <a:pt x="504" y="2755"/>
                  </a:lnTo>
                  <a:lnTo>
                    <a:pt x="270" y="2755"/>
                  </a:lnTo>
                  <a:lnTo>
                    <a:pt x="20" y="2592"/>
                  </a:lnTo>
                  <a:lnTo>
                    <a:pt x="0" y="2682"/>
                  </a:lnTo>
                  <a:lnTo>
                    <a:pt x="217" y="2810"/>
                  </a:lnTo>
                  <a:lnTo>
                    <a:pt x="504" y="2810"/>
                  </a:lnTo>
                  <a:lnTo>
                    <a:pt x="683" y="2810"/>
                  </a:lnTo>
                  <a:lnTo>
                    <a:pt x="715" y="2844"/>
                  </a:lnTo>
                  <a:lnTo>
                    <a:pt x="741" y="2875"/>
                  </a:lnTo>
                  <a:lnTo>
                    <a:pt x="758" y="2903"/>
                  </a:lnTo>
                  <a:lnTo>
                    <a:pt x="774" y="2932"/>
                  </a:lnTo>
                  <a:lnTo>
                    <a:pt x="788" y="2964"/>
                  </a:lnTo>
                  <a:lnTo>
                    <a:pt x="800" y="2997"/>
                  </a:lnTo>
                  <a:lnTo>
                    <a:pt x="813" y="3035"/>
                  </a:lnTo>
                  <a:lnTo>
                    <a:pt x="827" y="3080"/>
                  </a:lnTo>
                  <a:lnTo>
                    <a:pt x="1077" y="3080"/>
                  </a:lnTo>
                  <a:lnTo>
                    <a:pt x="1034" y="3019"/>
                  </a:lnTo>
                  <a:lnTo>
                    <a:pt x="1001" y="2960"/>
                  </a:lnTo>
                  <a:lnTo>
                    <a:pt x="973" y="2899"/>
                  </a:lnTo>
                  <a:lnTo>
                    <a:pt x="951" y="2838"/>
                  </a:lnTo>
                  <a:lnTo>
                    <a:pt x="930" y="2775"/>
                  </a:lnTo>
                  <a:lnTo>
                    <a:pt x="910" y="2712"/>
                  </a:lnTo>
                  <a:lnTo>
                    <a:pt x="888" y="2645"/>
                  </a:lnTo>
                  <a:lnTo>
                    <a:pt x="863" y="2574"/>
                  </a:lnTo>
                  <a:lnTo>
                    <a:pt x="932" y="2523"/>
                  </a:lnTo>
                  <a:lnTo>
                    <a:pt x="993" y="2479"/>
                  </a:lnTo>
                  <a:lnTo>
                    <a:pt x="1046" y="2442"/>
                  </a:lnTo>
                  <a:lnTo>
                    <a:pt x="1093" y="2412"/>
                  </a:lnTo>
                  <a:lnTo>
                    <a:pt x="1137" y="2385"/>
                  </a:lnTo>
                  <a:lnTo>
                    <a:pt x="1176" y="2363"/>
                  </a:lnTo>
                  <a:lnTo>
                    <a:pt x="1213" y="2344"/>
                  </a:lnTo>
                  <a:lnTo>
                    <a:pt x="1249" y="2328"/>
                  </a:lnTo>
                  <a:lnTo>
                    <a:pt x="1284" y="2312"/>
                  </a:lnTo>
                  <a:lnTo>
                    <a:pt x="1322" y="2298"/>
                  </a:lnTo>
                  <a:lnTo>
                    <a:pt x="1361" y="2282"/>
                  </a:lnTo>
                  <a:lnTo>
                    <a:pt x="1404" y="2267"/>
                  </a:lnTo>
                  <a:lnTo>
                    <a:pt x="1452" y="2249"/>
                  </a:lnTo>
                  <a:lnTo>
                    <a:pt x="1505" y="2227"/>
                  </a:lnTo>
                  <a:lnTo>
                    <a:pt x="1566" y="2204"/>
                  </a:lnTo>
                  <a:lnTo>
                    <a:pt x="1635" y="2174"/>
                  </a:lnTo>
                  <a:lnTo>
                    <a:pt x="1814" y="2229"/>
                  </a:lnTo>
                  <a:lnTo>
                    <a:pt x="1958" y="2229"/>
                  </a:lnTo>
                  <a:lnTo>
                    <a:pt x="1814" y="2174"/>
                  </a:lnTo>
                  <a:lnTo>
                    <a:pt x="1796" y="1975"/>
                  </a:lnTo>
                  <a:lnTo>
                    <a:pt x="1993" y="1650"/>
                  </a:lnTo>
                  <a:lnTo>
                    <a:pt x="1976" y="1432"/>
                  </a:lnTo>
                  <a:lnTo>
                    <a:pt x="1779" y="1832"/>
                  </a:lnTo>
                  <a:lnTo>
                    <a:pt x="1635" y="1993"/>
                  </a:lnTo>
                  <a:lnTo>
                    <a:pt x="1578" y="2019"/>
                  </a:lnTo>
                  <a:lnTo>
                    <a:pt x="1523" y="2044"/>
                  </a:lnTo>
                  <a:lnTo>
                    <a:pt x="1467" y="2070"/>
                  </a:lnTo>
                  <a:lnTo>
                    <a:pt x="1412" y="2093"/>
                  </a:lnTo>
                  <a:lnTo>
                    <a:pt x="1357" y="2117"/>
                  </a:lnTo>
                  <a:lnTo>
                    <a:pt x="1304" y="2143"/>
                  </a:lnTo>
                  <a:lnTo>
                    <a:pt x="1249" y="2166"/>
                  </a:lnTo>
                  <a:lnTo>
                    <a:pt x="1196" y="2190"/>
                  </a:lnTo>
                  <a:lnTo>
                    <a:pt x="1142" y="2214"/>
                  </a:lnTo>
                  <a:lnTo>
                    <a:pt x="1087" y="2239"/>
                  </a:lnTo>
                  <a:lnTo>
                    <a:pt x="1034" y="2265"/>
                  </a:lnTo>
                  <a:lnTo>
                    <a:pt x="979" y="2292"/>
                  </a:lnTo>
                  <a:lnTo>
                    <a:pt x="924" y="2320"/>
                  </a:lnTo>
                  <a:lnTo>
                    <a:pt x="869" y="2349"/>
                  </a:lnTo>
                  <a:lnTo>
                    <a:pt x="811" y="2379"/>
                  </a:lnTo>
                  <a:lnTo>
                    <a:pt x="754" y="2410"/>
                  </a:lnTo>
                  <a:lnTo>
                    <a:pt x="683" y="1595"/>
                  </a:lnTo>
                  <a:lnTo>
                    <a:pt x="683" y="743"/>
                  </a:lnTo>
                  <a:lnTo>
                    <a:pt x="772" y="471"/>
                  </a:lnTo>
                  <a:close/>
                </a:path>
              </a:pathLst>
            </a:custGeom>
            <a:solidFill>
              <a:srgbClr val="3300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" name="Freeform 16"/>
            <p:cNvSpPr>
              <a:spLocks/>
            </p:cNvSpPr>
            <p:nvPr/>
          </p:nvSpPr>
          <p:spPr bwMode="auto">
            <a:xfrm>
              <a:off x="3190" y="1838"/>
              <a:ext cx="957" cy="934"/>
            </a:xfrm>
            <a:custGeom>
              <a:avLst/>
              <a:gdLst>
                <a:gd name="T0" fmla="*/ 2 w 1915"/>
                <a:gd name="T1" fmla="*/ 0 h 1869"/>
                <a:gd name="T2" fmla="*/ 2 w 1915"/>
                <a:gd name="T3" fmla="*/ 0 h 1869"/>
                <a:gd name="T4" fmla="*/ 2 w 1915"/>
                <a:gd name="T5" fmla="*/ 0 h 1869"/>
                <a:gd name="T6" fmla="*/ 2 w 1915"/>
                <a:gd name="T7" fmla="*/ 0 h 1869"/>
                <a:gd name="T8" fmla="*/ 2 w 1915"/>
                <a:gd name="T9" fmla="*/ 0 h 1869"/>
                <a:gd name="T10" fmla="*/ 2 w 1915"/>
                <a:gd name="T11" fmla="*/ 0 h 1869"/>
                <a:gd name="T12" fmla="*/ 3 w 1915"/>
                <a:gd name="T13" fmla="*/ 0 h 1869"/>
                <a:gd name="T14" fmla="*/ 3 w 1915"/>
                <a:gd name="T15" fmla="*/ 0 h 1869"/>
                <a:gd name="T16" fmla="*/ 3 w 1915"/>
                <a:gd name="T17" fmla="*/ 0 h 1869"/>
                <a:gd name="T18" fmla="*/ 3 w 1915"/>
                <a:gd name="T19" fmla="*/ 0 h 1869"/>
                <a:gd name="T20" fmla="*/ 3 w 1915"/>
                <a:gd name="T21" fmla="*/ 0 h 1869"/>
                <a:gd name="T22" fmla="*/ 3 w 1915"/>
                <a:gd name="T23" fmla="*/ 1 h 1869"/>
                <a:gd name="T24" fmla="*/ 3 w 1915"/>
                <a:gd name="T25" fmla="*/ 1 h 1869"/>
                <a:gd name="T26" fmla="*/ 3 w 1915"/>
                <a:gd name="T27" fmla="*/ 1 h 1869"/>
                <a:gd name="T28" fmla="*/ 3 w 1915"/>
                <a:gd name="T29" fmla="*/ 1 h 1869"/>
                <a:gd name="T30" fmla="*/ 3 w 1915"/>
                <a:gd name="T31" fmla="*/ 1 h 1869"/>
                <a:gd name="T32" fmla="*/ 3 w 1915"/>
                <a:gd name="T33" fmla="*/ 2 h 1869"/>
                <a:gd name="T34" fmla="*/ 3 w 1915"/>
                <a:gd name="T35" fmla="*/ 2 h 1869"/>
                <a:gd name="T36" fmla="*/ 3 w 1915"/>
                <a:gd name="T37" fmla="*/ 2 h 1869"/>
                <a:gd name="T38" fmla="*/ 3 w 1915"/>
                <a:gd name="T39" fmla="*/ 2 h 1869"/>
                <a:gd name="T40" fmla="*/ 2 w 1915"/>
                <a:gd name="T41" fmla="*/ 2 h 1869"/>
                <a:gd name="T42" fmla="*/ 2 w 1915"/>
                <a:gd name="T43" fmla="*/ 3 h 1869"/>
                <a:gd name="T44" fmla="*/ 2 w 1915"/>
                <a:gd name="T45" fmla="*/ 3 h 1869"/>
                <a:gd name="T46" fmla="*/ 2 w 1915"/>
                <a:gd name="T47" fmla="*/ 3 h 1869"/>
                <a:gd name="T48" fmla="*/ 1 w 1915"/>
                <a:gd name="T49" fmla="*/ 3 h 1869"/>
                <a:gd name="T50" fmla="*/ 1 w 1915"/>
                <a:gd name="T51" fmla="*/ 3 h 1869"/>
                <a:gd name="T52" fmla="*/ 1 w 1915"/>
                <a:gd name="T53" fmla="*/ 3 h 1869"/>
                <a:gd name="T54" fmla="*/ 1 w 1915"/>
                <a:gd name="T55" fmla="*/ 3 h 1869"/>
                <a:gd name="T56" fmla="*/ 1 w 1915"/>
                <a:gd name="T57" fmla="*/ 3 h 1869"/>
                <a:gd name="T58" fmla="*/ 1 w 1915"/>
                <a:gd name="T59" fmla="*/ 3 h 1869"/>
                <a:gd name="T60" fmla="*/ 1 w 1915"/>
                <a:gd name="T61" fmla="*/ 3 h 1869"/>
                <a:gd name="T62" fmla="*/ 1 w 1915"/>
                <a:gd name="T63" fmla="*/ 3 h 1869"/>
                <a:gd name="T64" fmla="*/ 0 w 1915"/>
                <a:gd name="T65" fmla="*/ 3 h 1869"/>
                <a:gd name="T66" fmla="*/ 0 w 1915"/>
                <a:gd name="T67" fmla="*/ 2 h 1869"/>
                <a:gd name="T68" fmla="*/ 0 w 1915"/>
                <a:gd name="T69" fmla="*/ 1 h 1869"/>
                <a:gd name="T70" fmla="*/ 0 w 1915"/>
                <a:gd name="T71" fmla="*/ 1 h 1869"/>
                <a:gd name="T72" fmla="*/ 0 w 1915"/>
                <a:gd name="T73" fmla="*/ 1 h 1869"/>
                <a:gd name="T74" fmla="*/ 0 w 1915"/>
                <a:gd name="T75" fmla="*/ 1 h 1869"/>
                <a:gd name="T76" fmla="*/ 0 w 1915"/>
                <a:gd name="T77" fmla="*/ 1 h 1869"/>
                <a:gd name="T78" fmla="*/ 0 w 1915"/>
                <a:gd name="T79" fmla="*/ 0 h 1869"/>
                <a:gd name="T80" fmla="*/ 0 w 1915"/>
                <a:gd name="T81" fmla="*/ 0 h 1869"/>
                <a:gd name="T82" fmla="*/ 1 w 1915"/>
                <a:gd name="T83" fmla="*/ 0 h 1869"/>
                <a:gd name="T84" fmla="*/ 1 w 1915"/>
                <a:gd name="T85" fmla="*/ 0 h 1869"/>
                <a:gd name="T86" fmla="*/ 1 w 1915"/>
                <a:gd name="T87" fmla="*/ 0 h 186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915" h="1869">
                  <a:moveTo>
                    <a:pt x="1012" y="47"/>
                  </a:moveTo>
                  <a:lnTo>
                    <a:pt x="1048" y="112"/>
                  </a:lnTo>
                  <a:lnTo>
                    <a:pt x="1150" y="158"/>
                  </a:lnTo>
                  <a:lnTo>
                    <a:pt x="1205" y="215"/>
                  </a:lnTo>
                  <a:lnTo>
                    <a:pt x="1241" y="209"/>
                  </a:lnTo>
                  <a:lnTo>
                    <a:pt x="1278" y="205"/>
                  </a:lnTo>
                  <a:lnTo>
                    <a:pt x="1314" y="201"/>
                  </a:lnTo>
                  <a:lnTo>
                    <a:pt x="1349" y="199"/>
                  </a:lnTo>
                  <a:lnTo>
                    <a:pt x="1385" y="195"/>
                  </a:lnTo>
                  <a:lnTo>
                    <a:pt x="1420" y="191"/>
                  </a:lnTo>
                  <a:lnTo>
                    <a:pt x="1456" y="185"/>
                  </a:lnTo>
                  <a:lnTo>
                    <a:pt x="1491" y="177"/>
                  </a:lnTo>
                  <a:lnTo>
                    <a:pt x="1509" y="297"/>
                  </a:lnTo>
                  <a:lnTo>
                    <a:pt x="1564" y="372"/>
                  </a:lnTo>
                  <a:lnTo>
                    <a:pt x="1592" y="366"/>
                  </a:lnTo>
                  <a:lnTo>
                    <a:pt x="1619" y="362"/>
                  </a:lnTo>
                  <a:lnTo>
                    <a:pt x="1643" y="362"/>
                  </a:lnTo>
                  <a:lnTo>
                    <a:pt x="1666" y="360"/>
                  </a:lnTo>
                  <a:lnTo>
                    <a:pt x="1690" y="360"/>
                  </a:lnTo>
                  <a:lnTo>
                    <a:pt x="1716" y="360"/>
                  </a:lnTo>
                  <a:lnTo>
                    <a:pt x="1739" y="358"/>
                  </a:lnTo>
                  <a:lnTo>
                    <a:pt x="1767" y="355"/>
                  </a:lnTo>
                  <a:lnTo>
                    <a:pt x="1761" y="443"/>
                  </a:lnTo>
                  <a:lnTo>
                    <a:pt x="1751" y="538"/>
                  </a:lnTo>
                  <a:lnTo>
                    <a:pt x="1749" y="630"/>
                  </a:lnTo>
                  <a:lnTo>
                    <a:pt x="1767" y="707"/>
                  </a:lnTo>
                  <a:lnTo>
                    <a:pt x="1729" y="800"/>
                  </a:lnTo>
                  <a:lnTo>
                    <a:pt x="1767" y="833"/>
                  </a:lnTo>
                  <a:lnTo>
                    <a:pt x="1794" y="869"/>
                  </a:lnTo>
                  <a:lnTo>
                    <a:pt x="1816" y="906"/>
                  </a:lnTo>
                  <a:lnTo>
                    <a:pt x="1834" y="945"/>
                  </a:lnTo>
                  <a:lnTo>
                    <a:pt x="1850" y="987"/>
                  </a:lnTo>
                  <a:lnTo>
                    <a:pt x="1867" y="1030"/>
                  </a:lnTo>
                  <a:lnTo>
                    <a:pt x="1887" y="1073"/>
                  </a:lnTo>
                  <a:lnTo>
                    <a:pt x="1915" y="1117"/>
                  </a:lnTo>
                  <a:lnTo>
                    <a:pt x="1794" y="1172"/>
                  </a:lnTo>
                  <a:lnTo>
                    <a:pt x="1712" y="1199"/>
                  </a:lnTo>
                  <a:lnTo>
                    <a:pt x="1729" y="1282"/>
                  </a:lnTo>
                  <a:lnTo>
                    <a:pt x="1729" y="1377"/>
                  </a:lnTo>
                  <a:lnTo>
                    <a:pt x="1611" y="1357"/>
                  </a:lnTo>
                  <a:lnTo>
                    <a:pt x="1501" y="1329"/>
                  </a:lnTo>
                  <a:lnTo>
                    <a:pt x="1473" y="1384"/>
                  </a:lnTo>
                  <a:lnTo>
                    <a:pt x="1438" y="1637"/>
                  </a:lnTo>
                  <a:lnTo>
                    <a:pt x="1371" y="1739"/>
                  </a:lnTo>
                  <a:lnTo>
                    <a:pt x="1371" y="1804"/>
                  </a:lnTo>
                  <a:lnTo>
                    <a:pt x="1278" y="1804"/>
                  </a:lnTo>
                  <a:lnTo>
                    <a:pt x="1058" y="1776"/>
                  </a:lnTo>
                  <a:lnTo>
                    <a:pt x="1032" y="1782"/>
                  </a:lnTo>
                  <a:lnTo>
                    <a:pt x="1004" y="1788"/>
                  </a:lnTo>
                  <a:lnTo>
                    <a:pt x="979" y="1794"/>
                  </a:lnTo>
                  <a:lnTo>
                    <a:pt x="953" y="1798"/>
                  </a:lnTo>
                  <a:lnTo>
                    <a:pt x="926" y="1804"/>
                  </a:lnTo>
                  <a:lnTo>
                    <a:pt x="900" y="1810"/>
                  </a:lnTo>
                  <a:lnTo>
                    <a:pt x="873" y="1816"/>
                  </a:lnTo>
                  <a:lnTo>
                    <a:pt x="847" y="1822"/>
                  </a:lnTo>
                  <a:lnTo>
                    <a:pt x="819" y="1828"/>
                  </a:lnTo>
                  <a:lnTo>
                    <a:pt x="794" y="1833"/>
                  </a:lnTo>
                  <a:lnTo>
                    <a:pt x="766" y="1839"/>
                  </a:lnTo>
                  <a:lnTo>
                    <a:pt x="741" y="1845"/>
                  </a:lnTo>
                  <a:lnTo>
                    <a:pt x="713" y="1851"/>
                  </a:lnTo>
                  <a:lnTo>
                    <a:pt x="687" y="1857"/>
                  </a:lnTo>
                  <a:lnTo>
                    <a:pt x="660" y="1863"/>
                  </a:lnTo>
                  <a:lnTo>
                    <a:pt x="634" y="1869"/>
                  </a:lnTo>
                  <a:lnTo>
                    <a:pt x="634" y="1711"/>
                  </a:lnTo>
                  <a:lnTo>
                    <a:pt x="561" y="1459"/>
                  </a:lnTo>
                  <a:lnTo>
                    <a:pt x="486" y="1544"/>
                  </a:lnTo>
                  <a:lnTo>
                    <a:pt x="368" y="1394"/>
                  </a:lnTo>
                  <a:lnTo>
                    <a:pt x="173" y="1237"/>
                  </a:lnTo>
                  <a:lnTo>
                    <a:pt x="63" y="1125"/>
                  </a:lnTo>
                  <a:lnTo>
                    <a:pt x="27" y="977"/>
                  </a:lnTo>
                  <a:lnTo>
                    <a:pt x="0" y="819"/>
                  </a:lnTo>
                  <a:lnTo>
                    <a:pt x="31" y="780"/>
                  </a:lnTo>
                  <a:lnTo>
                    <a:pt x="65" y="748"/>
                  </a:lnTo>
                  <a:lnTo>
                    <a:pt x="98" y="723"/>
                  </a:lnTo>
                  <a:lnTo>
                    <a:pt x="136" y="705"/>
                  </a:lnTo>
                  <a:lnTo>
                    <a:pt x="173" y="693"/>
                  </a:lnTo>
                  <a:lnTo>
                    <a:pt x="217" y="685"/>
                  </a:lnTo>
                  <a:lnTo>
                    <a:pt x="262" y="681"/>
                  </a:lnTo>
                  <a:lnTo>
                    <a:pt x="311" y="679"/>
                  </a:lnTo>
                  <a:lnTo>
                    <a:pt x="311" y="420"/>
                  </a:lnTo>
                  <a:lnTo>
                    <a:pt x="311" y="270"/>
                  </a:lnTo>
                  <a:lnTo>
                    <a:pt x="431" y="242"/>
                  </a:lnTo>
                  <a:lnTo>
                    <a:pt x="634" y="195"/>
                  </a:lnTo>
                  <a:lnTo>
                    <a:pt x="727" y="128"/>
                  </a:lnTo>
                  <a:lnTo>
                    <a:pt x="764" y="0"/>
                  </a:lnTo>
                  <a:lnTo>
                    <a:pt x="855" y="38"/>
                  </a:lnTo>
                  <a:lnTo>
                    <a:pt x="902" y="93"/>
                  </a:lnTo>
                  <a:lnTo>
                    <a:pt x="1012" y="47"/>
                  </a:lnTo>
                  <a:close/>
                </a:path>
              </a:pathLst>
            </a:custGeom>
            <a:solidFill>
              <a:srgbClr val="E5D1AF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0" name="Freeform 17"/>
            <p:cNvSpPr>
              <a:spLocks/>
            </p:cNvSpPr>
            <p:nvPr/>
          </p:nvSpPr>
          <p:spPr bwMode="auto">
            <a:xfrm>
              <a:off x="3968" y="2022"/>
              <a:ext cx="100" cy="151"/>
            </a:xfrm>
            <a:custGeom>
              <a:avLst/>
              <a:gdLst>
                <a:gd name="T0" fmla="*/ 0 w 199"/>
                <a:gd name="T1" fmla="*/ 0 h 304"/>
                <a:gd name="T2" fmla="*/ 1 w 199"/>
                <a:gd name="T3" fmla="*/ 0 h 304"/>
                <a:gd name="T4" fmla="*/ 1 w 199"/>
                <a:gd name="T5" fmla="*/ 0 h 304"/>
                <a:gd name="T6" fmla="*/ 1 w 199"/>
                <a:gd name="T7" fmla="*/ 0 h 304"/>
                <a:gd name="T8" fmla="*/ 1 w 199"/>
                <a:gd name="T9" fmla="*/ 0 h 304"/>
                <a:gd name="T10" fmla="*/ 1 w 199"/>
                <a:gd name="T11" fmla="*/ 0 h 304"/>
                <a:gd name="T12" fmla="*/ 1 w 199"/>
                <a:gd name="T13" fmla="*/ 0 h 304"/>
                <a:gd name="T14" fmla="*/ 1 w 199"/>
                <a:gd name="T15" fmla="*/ 0 h 304"/>
                <a:gd name="T16" fmla="*/ 1 w 199"/>
                <a:gd name="T17" fmla="*/ 0 h 304"/>
                <a:gd name="T18" fmla="*/ 1 w 199"/>
                <a:gd name="T19" fmla="*/ 0 h 304"/>
                <a:gd name="T20" fmla="*/ 0 w 199"/>
                <a:gd name="T21" fmla="*/ 0 h 3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9" h="304">
                  <a:moveTo>
                    <a:pt x="0" y="16"/>
                  </a:moveTo>
                  <a:lnTo>
                    <a:pt x="118" y="16"/>
                  </a:lnTo>
                  <a:lnTo>
                    <a:pt x="199" y="0"/>
                  </a:lnTo>
                  <a:lnTo>
                    <a:pt x="193" y="75"/>
                  </a:lnTo>
                  <a:lnTo>
                    <a:pt x="171" y="229"/>
                  </a:lnTo>
                  <a:lnTo>
                    <a:pt x="130" y="304"/>
                  </a:lnTo>
                  <a:lnTo>
                    <a:pt x="87" y="304"/>
                  </a:lnTo>
                  <a:lnTo>
                    <a:pt x="45" y="239"/>
                  </a:lnTo>
                  <a:lnTo>
                    <a:pt x="45" y="168"/>
                  </a:lnTo>
                  <a:lnTo>
                    <a:pt x="8" y="16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" name="Freeform 18"/>
            <p:cNvSpPr>
              <a:spLocks/>
            </p:cNvSpPr>
            <p:nvPr/>
          </p:nvSpPr>
          <p:spPr bwMode="auto">
            <a:xfrm>
              <a:off x="3805" y="1943"/>
              <a:ext cx="147" cy="180"/>
            </a:xfrm>
            <a:custGeom>
              <a:avLst/>
              <a:gdLst>
                <a:gd name="T0" fmla="*/ 1 w 294"/>
                <a:gd name="T1" fmla="*/ 0 h 360"/>
                <a:gd name="T2" fmla="*/ 1 w 294"/>
                <a:gd name="T3" fmla="*/ 1 h 360"/>
                <a:gd name="T4" fmla="*/ 1 w 294"/>
                <a:gd name="T5" fmla="*/ 1 h 360"/>
                <a:gd name="T6" fmla="*/ 1 w 294"/>
                <a:gd name="T7" fmla="*/ 1 h 360"/>
                <a:gd name="T8" fmla="*/ 1 w 294"/>
                <a:gd name="T9" fmla="*/ 1 h 360"/>
                <a:gd name="T10" fmla="*/ 1 w 294"/>
                <a:gd name="T11" fmla="*/ 1 h 360"/>
                <a:gd name="T12" fmla="*/ 1 w 294"/>
                <a:gd name="T13" fmla="*/ 1 h 360"/>
                <a:gd name="T14" fmla="*/ 1 w 294"/>
                <a:gd name="T15" fmla="*/ 1 h 360"/>
                <a:gd name="T16" fmla="*/ 1 w 294"/>
                <a:gd name="T17" fmla="*/ 1 h 360"/>
                <a:gd name="T18" fmla="*/ 1 w 294"/>
                <a:gd name="T19" fmla="*/ 1 h 360"/>
                <a:gd name="T20" fmla="*/ 0 w 294"/>
                <a:gd name="T21" fmla="*/ 1 h 360"/>
                <a:gd name="T22" fmla="*/ 1 w 294"/>
                <a:gd name="T23" fmla="*/ 0 h 360"/>
                <a:gd name="T24" fmla="*/ 1 w 294"/>
                <a:gd name="T25" fmla="*/ 0 h 3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4" h="360">
                  <a:moveTo>
                    <a:pt x="234" y="0"/>
                  </a:moveTo>
                  <a:lnTo>
                    <a:pt x="240" y="106"/>
                  </a:lnTo>
                  <a:lnTo>
                    <a:pt x="294" y="272"/>
                  </a:lnTo>
                  <a:lnTo>
                    <a:pt x="294" y="327"/>
                  </a:lnTo>
                  <a:lnTo>
                    <a:pt x="262" y="327"/>
                  </a:lnTo>
                  <a:lnTo>
                    <a:pt x="219" y="360"/>
                  </a:lnTo>
                  <a:lnTo>
                    <a:pt x="183" y="266"/>
                  </a:lnTo>
                  <a:lnTo>
                    <a:pt x="114" y="191"/>
                  </a:lnTo>
                  <a:lnTo>
                    <a:pt x="71" y="153"/>
                  </a:lnTo>
                  <a:lnTo>
                    <a:pt x="67" y="94"/>
                  </a:lnTo>
                  <a:lnTo>
                    <a:pt x="0" y="16"/>
                  </a:lnTo>
                  <a:lnTo>
                    <a:pt x="67" y="0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2" name="Freeform 19"/>
            <p:cNvSpPr>
              <a:spLocks/>
            </p:cNvSpPr>
            <p:nvPr/>
          </p:nvSpPr>
          <p:spPr bwMode="auto">
            <a:xfrm>
              <a:off x="3832" y="2112"/>
              <a:ext cx="151" cy="223"/>
            </a:xfrm>
            <a:custGeom>
              <a:avLst/>
              <a:gdLst>
                <a:gd name="T0" fmla="*/ 1 w 302"/>
                <a:gd name="T1" fmla="*/ 0 h 447"/>
                <a:gd name="T2" fmla="*/ 1 w 302"/>
                <a:gd name="T3" fmla="*/ 0 h 447"/>
                <a:gd name="T4" fmla="*/ 1 w 302"/>
                <a:gd name="T5" fmla="*/ 0 h 447"/>
                <a:gd name="T6" fmla="*/ 1 w 302"/>
                <a:gd name="T7" fmla="*/ 0 h 447"/>
                <a:gd name="T8" fmla="*/ 1 w 302"/>
                <a:gd name="T9" fmla="*/ 0 h 447"/>
                <a:gd name="T10" fmla="*/ 1 w 302"/>
                <a:gd name="T11" fmla="*/ 0 h 447"/>
                <a:gd name="T12" fmla="*/ 1 w 302"/>
                <a:gd name="T13" fmla="*/ 0 h 447"/>
                <a:gd name="T14" fmla="*/ 0 w 302"/>
                <a:gd name="T15" fmla="*/ 0 h 447"/>
                <a:gd name="T16" fmla="*/ 1 w 302"/>
                <a:gd name="T17" fmla="*/ 0 h 447"/>
                <a:gd name="T18" fmla="*/ 1 w 302"/>
                <a:gd name="T19" fmla="*/ 0 h 447"/>
                <a:gd name="T20" fmla="*/ 1 w 302"/>
                <a:gd name="T21" fmla="*/ 0 h 447"/>
                <a:gd name="T22" fmla="*/ 1 w 302"/>
                <a:gd name="T23" fmla="*/ 0 h 447"/>
                <a:gd name="T24" fmla="*/ 1 w 302"/>
                <a:gd name="T25" fmla="*/ 0 h 447"/>
                <a:gd name="T26" fmla="*/ 1 w 302"/>
                <a:gd name="T27" fmla="*/ 0 h 44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02" h="447">
                  <a:moveTo>
                    <a:pt x="302" y="0"/>
                  </a:moveTo>
                  <a:lnTo>
                    <a:pt x="239" y="0"/>
                  </a:lnTo>
                  <a:lnTo>
                    <a:pt x="164" y="25"/>
                  </a:lnTo>
                  <a:lnTo>
                    <a:pt x="164" y="84"/>
                  </a:lnTo>
                  <a:lnTo>
                    <a:pt x="112" y="196"/>
                  </a:lnTo>
                  <a:lnTo>
                    <a:pt x="53" y="291"/>
                  </a:lnTo>
                  <a:lnTo>
                    <a:pt x="16" y="356"/>
                  </a:lnTo>
                  <a:lnTo>
                    <a:pt x="0" y="447"/>
                  </a:lnTo>
                  <a:lnTo>
                    <a:pt x="97" y="413"/>
                  </a:lnTo>
                  <a:lnTo>
                    <a:pt x="138" y="317"/>
                  </a:lnTo>
                  <a:lnTo>
                    <a:pt x="154" y="254"/>
                  </a:lnTo>
                  <a:lnTo>
                    <a:pt x="229" y="126"/>
                  </a:lnTo>
                  <a:lnTo>
                    <a:pt x="286" y="4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" name="Freeform 20"/>
            <p:cNvSpPr>
              <a:spLocks/>
            </p:cNvSpPr>
            <p:nvPr/>
          </p:nvSpPr>
          <p:spPr bwMode="auto">
            <a:xfrm>
              <a:off x="3901" y="2292"/>
              <a:ext cx="39" cy="28"/>
            </a:xfrm>
            <a:custGeom>
              <a:avLst/>
              <a:gdLst>
                <a:gd name="T0" fmla="*/ 0 w 79"/>
                <a:gd name="T1" fmla="*/ 0 h 53"/>
                <a:gd name="T2" fmla="*/ 0 w 79"/>
                <a:gd name="T3" fmla="*/ 1 h 53"/>
                <a:gd name="T4" fmla="*/ 0 w 79"/>
                <a:gd name="T5" fmla="*/ 1 h 53"/>
                <a:gd name="T6" fmla="*/ 0 w 79"/>
                <a:gd name="T7" fmla="*/ 1 h 53"/>
                <a:gd name="T8" fmla="*/ 0 w 79"/>
                <a:gd name="T9" fmla="*/ 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53">
                  <a:moveTo>
                    <a:pt x="79" y="0"/>
                  </a:moveTo>
                  <a:lnTo>
                    <a:pt x="10" y="6"/>
                  </a:lnTo>
                  <a:lnTo>
                    <a:pt x="0" y="53"/>
                  </a:lnTo>
                  <a:lnTo>
                    <a:pt x="41" y="53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4" name="Freeform 21"/>
            <p:cNvSpPr>
              <a:spLocks/>
            </p:cNvSpPr>
            <p:nvPr/>
          </p:nvSpPr>
          <p:spPr bwMode="auto">
            <a:xfrm>
              <a:off x="3854" y="2279"/>
              <a:ext cx="280" cy="230"/>
            </a:xfrm>
            <a:custGeom>
              <a:avLst/>
              <a:gdLst>
                <a:gd name="T0" fmla="*/ 1 w 559"/>
                <a:gd name="T1" fmla="*/ 1 h 459"/>
                <a:gd name="T2" fmla="*/ 1 w 559"/>
                <a:gd name="T3" fmla="*/ 1 h 459"/>
                <a:gd name="T4" fmla="*/ 1 w 559"/>
                <a:gd name="T5" fmla="*/ 1 h 459"/>
                <a:gd name="T6" fmla="*/ 1 w 559"/>
                <a:gd name="T7" fmla="*/ 1 h 459"/>
                <a:gd name="T8" fmla="*/ 1 w 559"/>
                <a:gd name="T9" fmla="*/ 1 h 459"/>
                <a:gd name="T10" fmla="*/ 1 w 559"/>
                <a:gd name="T11" fmla="*/ 1 h 459"/>
                <a:gd name="T12" fmla="*/ 1 w 559"/>
                <a:gd name="T13" fmla="*/ 1 h 459"/>
                <a:gd name="T14" fmla="*/ 1 w 559"/>
                <a:gd name="T15" fmla="*/ 1 h 459"/>
                <a:gd name="T16" fmla="*/ 1 w 559"/>
                <a:gd name="T17" fmla="*/ 1 h 459"/>
                <a:gd name="T18" fmla="*/ 1 w 559"/>
                <a:gd name="T19" fmla="*/ 1 h 459"/>
                <a:gd name="T20" fmla="*/ 1 w 559"/>
                <a:gd name="T21" fmla="*/ 1 h 459"/>
                <a:gd name="T22" fmla="*/ 0 w 559"/>
                <a:gd name="T23" fmla="*/ 1 h 459"/>
                <a:gd name="T24" fmla="*/ 1 w 559"/>
                <a:gd name="T25" fmla="*/ 1 h 459"/>
                <a:gd name="T26" fmla="*/ 1 w 559"/>
                <a:gd name="T27" fmla="*/ 1 h 459"/>
                <a:gd name="T28" fmla="*/ 1 w 559"/>
                <a:gd name="T29" fmla="*/ 1 h 459"/>
                <a:gd name="T30" fmla="*/ 1 w 559"/>
                <a:gd name="T31" fmla="*/ 1 h 459"/>
                <a:gd name="T32" fmla="*/ 1 w 559"/>
                <a:gd name="T33" fmla="*/ 1 h 459"/>
                <a:gd name="T34" fmla="*/ 2 w 559"/>
                <a:gd name="T35" fmla="*/ 1 h 459"/>
                <a:gd name="T36" fmla="*/ 1 w 559"/>
                <a:gd name="T37" fmla="*/ 1 h 459"/>
                <a:gd name="T38" fmla="*/ 1 w 559"/>
                <a:gd name="T39" fmla="*/ 1 h 459"/>
                <a:gd name="T40" fmla="*/ 1 w 559"/>
                <a:gd name="T41" fmla="*/ 1 h 459"/>
                <a:gd name="T42" fmla="*/ 1 w 559"/>
                <a:gd name="T43" fmla="*/ 1 h 459"/>
                <a:gd name="T44" fmla="*/ 1 w 559"/>
                <a:gd name="T45" fmla="*/ 1 h 459"/>
                <a:gd name="T46" fmla="*/ 1 w 559"/>
                <a:gd name="T47" fmla="*/ 1 h 459"/>
                <a:gd name="T48" fmla="*/ 1 w 559"/>
                <a:gd name="T49" fmla="*/ 1 h 459"/>
                <a:gd name="T50" fmla="*/ 1 w 559"/>
                <a:gd name="T51" fmla="*/ 0 h 459"/>
                <a:gd name="T52" fmla="*/ 1 w 559"/>
                <a:gd name="T53" fmla="*/ 1 h 45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59" h="459">
                  <a:moveTo>
                    <a:pt x="358" y="2"/>
                  </a:moveTo>
                  <a:lnTo>
                    <a:pt x="311" y="87"/>
                  </a:lnTo>
                  <a:lnTo>
                    <a:pt x="289" y="150"/>
                  </a:lnTo>
                  <a:lnTo>
                    <a:pt x="346" y="150"/>
                  </a:lnTo>
                  <a:lnTo>
                    <a:pt x="384" y="168"/>
                  </a:lnTo>
                  <a:lnTo>
                    <a:pt x="311" y="168"/>
                  </a:lnTo>
                  <a:lnTo>
                    <a:pt x="252" y="221"/>
                  </a:lnTo>
                  <a:lnTo>
                    <a:pt x="236" y="294"/>
                  </a:lnTo>
                  <a:lnTo>
                    <a:pt x="195" y="353"/>
                  </a:lnTo>
                  <a:lnTo>
                    <a:pt x="132" y="353"/>
                  </a:lnTo>
                  <a:lnTo>
                    <a:pt x="100" y="396"/>
                  </a:lnTo>
                  <a:lnTo>
                    <a:pt x="0" y="412"/>
                  </a:lnTo>
                  <a:lnTo>
                    <a:pt x="84" y="459"/>
                  </a:lnTo>
                  <a:lnTo>
                    <a:pt x="149" y="412"/>
                  </a:lnTo>
                  <a:lnTo>
                    <a:pt x="264" y="315"/>
                  </a:lnTo>
                  <a:lnTo>
                    <a:pt x="354" y="252"/>
                  </a:lnTo>
                  <a:lnTo>
                    <a:pt x="462" y="229"/>
                  </a:lnTo>
                  <a:lnTo>
                    <a:pt x="559" y="221"/>
                  </a:lnTo>
                  <a:lnTo>
                    <a:pt x="500" y="156"/>
                  </a:lnTo>
                  <a:lnTo>
                    <a:pt x="484" y="109"/>
                  </a:lnTo>
                  <a:lnTo>
                    <a:pt x="476" y="73"/>
                  </a:lnTo>
                  <a:lnTo>
                    <a:pt x="470" y="46"/>
                  </a:lnTo>
                  <a:lnTo>
                    <a:pt x="464" y="24"/>
                  </a:lnTo>
                  <a:lnTo>
                    <a:pt x="453" y="10"/>
                  </a:lnTo>
                  <a:lnTo>
                    <a:pt x="435" y="4"/>
                  </a:lnTo>
                  <a:lnTo>
                    <a:pt x="403" y="0"/>
                  </a:lnTo>
                  <a:lnTo>
                    <a:pt x="358" y="2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5" name="Freeform 22"/>
            <p:cNvSpPr>
              <a:spLocks/>
            </p:cNvSpPr>
            <p:nvPr/>
          </p:nvSpPr>
          <p:spPr bwMode="auto">
            <a:xfrm>
              <a:off x="3632" y="2335"/>
              <a:ext cx="234" cy="101"/>
            </a:xfrm>
            <a:custGeom>
              <a:avLst/>
              <a:gdLst>
                <a:gd name="T0" fmla="*/ 1 w 467"/>
                <a:gd name="T1" fmla="*/ 0 h 200"/>
                <a:gd name="T2" fmla="*/ 1 w 467"/>
                <a:gd name="T3" fmla="*/ 1 h 200"/>
                <a:gd name="T4" fmla="*/ 1 w 467"/>
                <a:gd name="T5" fmla="*/ 1 h 200"/>
                <a:gd name="T6" fmla="*/ 1 w 467"/>
                <a:gd name="T7" fmla="*/ 1 h 200"/>
                <a:gd name="T8" fmla="*/ 0 w 467"/>
                <a:gd name="T9" fmla="*/ 1 h 200"/>
                <a:gd name="T10" fmla="*/ 0 w 467"/>
                <a:gd name="T11" fmla="*/ 1 h 200"/>
                <a:gd name="T12" fmla="*/ 1 w 467"/>
                <a:gd name="T13" fmla="*/ 1 h 200"/>
                <a:gd name="T14" fmla="*/ 1 w 467"/>
                <a:gd name="T15" fmla="*/ 1 h 200"/>
                <a:gd name="T16" fmla="*/ 1 w 467"/>
                <a:gd name="T17" fmla="*/ 1 h 200"/>
                <a:gd name="T18" fmla="*/ 1 w 467"/>
                <a:gd name="T19" fmla="*/ 1 h 200"/>
                <a:gd name="T20" fmla="*/ 1 w 467"/>
                <a:gd name="T21" fmla="*/ 1 h 200"/>
                <a:gd name="T22" fmla="*/ 1 w 467"/>
                <a:gd name="T23" fmla="*/ 0 h 2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67" h="200">
                  <a:moveTo>
                    <a:pt x="467" y="0"/>
                  </a:moveTo>
                  <a:lnTo>
                    <a:pt x="369" y="25"/>
                  </a:lnTo>
                  <a:lnTo>
                    <a:pt x="174" y="84"/>
                  </a:lnTo>
                  <a:lnTo>
                    <a:pt x="32" y="114"/>
                  </a:lnTo>
                  <a:lnTo>
                    <a:pt x="0" y="169"/>
                  </a:lnTo>
                  <a:lnTo>
                    <a:pt x="0" y="200"/>
                  </a:lnTo>
                  <a:lnTo>
                    <a:pt x="42" y="200"/>
                  </a:lnTo>
                  <a:lnTo>
                    <a:pt x="140" y="185"/>
                  </a:lnTo>
                  <a:lnTo>
                    <a:pt x="302" y="131"/>
                  </a:lnTo>
                  <a:lnTo>
                    <a:pt x="412" y="72"/>
                  </a:lnTo>
                  <a:lnTo>
                    <a:pt x="453" y="41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6" name="Freeform 23"/>
            <p:cNvSpPr>
              <a:spLocks/>
            </p:cNvSpPr>
            <p:nvPr/>
          </p:nvSpPr>
          <p:spPr bwMode="auto">
            <a:xfrm>
              <a:off x="3656" y="2070"/>
              <a:ext cx="190" cy="164"/>
            </a:xfrm>
            <a:custGeom>
              <a:avLst/>
              <a:gdLst>
                <a:gd name="T0" fmla="*/ 1 w 380"/>
                <a:gd name="T1" fmla="*/ 0 h 331"/>
                <a:gd name="T2" fmla="*/ 1 w 380"/>
                <a:gd name="T3" fmla="*/ 0 h 331"/>
                <a:gd name="T4" fmla="*/ 1 w 380"/>
                <a:gd name="T5" fmla="*/ 0 h 331"/>
                <a:gd name="T6" fmla="*/ 1 w 380"/>
                <a:gd name="T7" fmla="*/ 0 h 331"/>
                <a:gd name="T8" fmla="*/ 1 w 380"/>
                <a:gd name="T9" fmla="*/ 0 h 331"/>
                <a:gd name="T10" fmla="*/ 0 w 380"/>
                <a:gd name="T11" fmla="*/ 0 h 331"/>
                <a:gd name="T12" fmla="*/ 1 w 380"/>
                <a:gd name="T13" fmla="*/ 0 h 331"/>
                <a:gd name="T14" fmla="*/ 1 w 380"/>
                <a:gd name="T15" fmla="*/ 0 h 331"/>
                <a:gd name="T16" fmla="*/ 1 w 380"/>
                <a:gd name="T17" fmla="*/ 0 h 331"/>
                <a:gd name="T18" fmla="*/ 1 w 380"/>
                <a:gd name="T19" fmla="*/ 0 h 331"/>
                <a:gd name="T20" fmla="*/ 1 w 380"/>
                <a:gd name="T21" fmla="*/ 0 h 3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331">
                  <a:moveTo>
                    <a:pt x="380" y="0"/>
                  </a:moveTo>
                  <a:lnTo>
                    <a:pt x="342" y="59"/>
                  </a:lnTo>
                  <a:lnTo>
                    <a:pt x="279" y="144"/>
                  </a:lnTo>
                  <a:lnTo>
                    <a:pt x="147" y="230"/>
                  </a:lnTo>
                  <a:lnTo>
                    <a:pt x="59" y="287"/>
                  </a:lnTo>
                  <a:lnTo>
                    <a:pt x="0" y="331"/>
                  </a:lnTo>
                  <a:lnTo>
                    <a:pt x="53" y="331"/>
                  </a:lnTo>
                  <a:lnTo>
                    <a:pt x="173" y="256"/>
                  </a:lnTo>
                  <a:lnTo>
                    <a:pt x="311" y="165"/>
                  </a:lnTo>
                  <a:lnTo>
                    <a:pt x="380" y="7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7" name="Freeform 24"/>
            <p:cNvSpPr>
              <a:spLocks/>
            </p:cNvSpPr>
            <p:nvPr/>
          </p:nvSpPr>
          <p:spPr bwMode="auto">
            <a:xfrm>
              <a:off x="3464" y="2247"/>
              <a:ext cx="367" cy="33"/>
            </a:xfrm>
            <a:custGeom>
              <a:avLst/>
              <a:gdLst>
                <a:gd name="T0" fmla="*/ 2 w 733"/>
                <a:gd name="T1" fmla="*/ 1 h 65"/>
                <a:gd name="T2" fmla="*/ 2 w 733"/>
                <a:gd name="T3" fmla="*/ 1 h 65"/>
                <a:gd name="T4" fmla="*/ 1 w 733"/>
                <a:gd name="T5" fmla="*/ 0 h 65"/>
                <a:gd name="T6" fmla="*/ 1 w 733"/>
                <a:gd name="T7" fmla="*/ 0 h 65"/>
                <a:gd name="T8" fmla="*/ 1 w 733"/>
                <a:gd name="T9" fmla="*/ 0 h 65"/>
                <a:gd name="T10" fmla="*/ 0 w 733"/>
                <a:gd name="T11" fmla="*/ 1 h 65"/>
                <a:gd name="T12" fmla="*/ 1 w 733"/>
                <a:gd name="T13" fmla="*/ 1 h 65"/>
                <a:gd name="T14" fmla="*/ 1 w 733"/>
                <a:gd name="T15" fmla="*/ 1 h 65"/>
                <a:gd name="T16" fmla="*/ 1 w 733"/>
                <a:gd name="T17" fmla="*/ 1 h 65"/>
                <a:gd name="T18" fmla="*/ 1 w 733"/>
                <a:gd name="T19" fmla="*/ 1 h 65"/>
                <a:gd name="T20" fmla="*/ 1 w 733"/>
                <a:gd name="T21" fmla="*/ 1 h 65"/>
                <a:gd name="T22" fmla="*/ 1 w 733"/>
                <a:gd name="T23" fmla="*/ 1 h 65"/>
                <a:gd name="T24" fmla="*/ 2 w 733"/>
                <a:gd name="T25" fmla="*/ 1 h 65"/>
                <a:gd name="T26" fmla="*/ 2 w 733"/>
                <a:gd name="T27" fmla="*/ 1 h 65"/>
                <a:gd name="T28" fmla="*/ 2 w 733"/>
                <a:gd name="T29" fmla="*/ 1 h 65"/>
                <a:gd name="T30" fmla="*/ 2 w 733"/>
                <a:gd name="T31" fmla="*/ 1 h 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33" h="65">
                  <a:moveTo>
                    <a:pt x="733" y="34"/>
                  </a:moveTo>
                  <a:lnTo>
                    <a:pt x="574" y="6"/>
                  </a:lnTo>
                  <a:lnTo>
                    <a:pt x="491" y="0"/>
                  </a:lnTo>
                  <a:lnTo>
                    <a:pt x="199" y="0"/>
                  </a:lnTo>
                  <a:lnTo>
                    <a:pt x="58" y="0"/>
                  </a:lnTo>
                  <a:lnTo>
                    <a:pt x="0" y="28"/>
                  </a:lnTo>
                  <a:lnTo>
                    <a:pt x="48" y="48"/>
                  </a:lnTo>
                  <a:lnTo>
                    <a:pt x="227" y="48"/>
                  </a:lnTo>
                  <a:lnTo>
                    <a:pt x="306" y="34"/>
                  </a:lnTo>
                  <a:lnTo>
                    <a:pt x="369" y="34"/>
                  </a:lnTo>
                  <a:lnTo>
                    <a:pt x="406" y="38"/>
                  </a:lnTo>
                  <a:lnTo>
                    <a:pt x="479" y="38"/>
                  </a:lnTo>
                  <a:lnTo>
                    <a:pt x="548" y="34"/>
                  </a:lnTo>
                  <a:lnTo>
                    <a:pt x="639" y="65"/>
                  </a:lnTo>
                  <a:lnTo>
                    <a:pt x="723" y="65"/>
                  </a:lnTo>
                  <a:lnTo>
                    <a:pt x="733" y="34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8" name="Freeform 25"/>
            <p:cNvSpPr>
              <a:spLocks/>
            </p:cNvSpPr>
            <p:nvPr/>
          </p:nvSpPr>
          <p:spPr bwMode="auto">
            <a:xfrm>
              <a:off x="3811" y="1981"/>
              <a:ext cx="29" cy="134"/>
            </a:xfrm>
            <a:custGeom>
              <a:avLst/>
              <a:gdLst>
                <a:gd name="T0" fmla="*/ 1 w 57"/>
                <a:gd name="T1" fmla="*/ 0 h 265"/>
                <a:gd name="T2" fmla="*/ 1 w 57"/>
                <a:gd name="T3" fmla="*/ 1 h 265"/>
                <a:gd name="T4" fmla="*/ 1 w 57"/>
                <a:gd name="T5" fmla="*/ 1 h 265"/>
                <a:gd name="T6" fmla="*/ 0 w 57"/>
                <a:gd name="T7" fmla="*/ 1 h 265"/>
                <a:gd name="T8" fmla="*/ 1 w 57"/>
                <a:gd name="T9" fmla="*/ 1 h 265"/>
                <a:gd name="T10" fmla="*/ 1 w 57"/>
                <a:gd name="T11" fmla="*/ 0 h 2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265">
                  <a:moveTo>
                    <a:pt x="37" y="0"/>
                  </a:moveTo>
                  <a:lnTo>
                    <a:pt x="57" y="84"/>
                  </a:lnTo>
                  <a:lnTo>
                    <a:pt x="47" y="175"/>
                  </a:lnTo>
                  <a:lnTo>
                    <a:pt x="0" y="265"/>
                  </a:lnTo>
                  <a:lnTo>
                    <a:pt x="31" y="12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9" name="Freeform 26"/>
            <p:cNvSpPr>
              <a:spLocks/>
            </p:cNvSpPr>
            <p:nvPr/>
          </p:nvSpPr>
          <p:spPr bwMode="auto">
            <a:xfrm>
              <a:off x="3676" y="2062"/>
              <a:ext cx="133" cy="131"/>
            </a:xfrm>
            <a:custGeom>
              <a:avLst/>
              <a:gdLst>
                <a:gd name="T0" fmla="*/ 1 w 264"/>
                <a:gd name="T1" fmla="*/ 0 h 262"/>
                <a:gd name="T2" fmla="*/ 1 w 264"/>
                <a:gd name="T3" fmla="*/ 1 h 262"/>
                <a:gd name="T4" fmla="*/ 1 w 264"/>
                <a:gd name="T5" fmla="*/ 1 h 262"/>
                <a:gd name="T6" fmla="*/ 1 w 264"/>
                <a:gd name="T7" fmla="*/ 1 h 262"/>
                <a:gd name="T8" fmla="*/ 0 w 264"/>
                <a:gd name="T9" fmla="*/ 1 h 262"/>
                <a:gd name="T10" fmla="*/ 1 w 264"/>
                <a:gd name="T11" fmla="*/ 1 h 262"/>
                <a:gd name="T12" fmla="*/ 1 w 264"/>
                <a:gd name="T13" fmla="*/ 1 h 262"/>
                <a:gd name="T14" fmla="*/ 1 w 264"/>
                <a:gd name="T15" fmla="*/ 1 h 262"/>
                <a:gd name="T16" fmla="*/ 1 w 264"/>
                <a:gd name="T17" fmla="*/ 1 h 262"/>
                <a:gd name="T18" fmla="*/ 1 w 264"/>
                <a:gd name="T19" fmla="*/ 0 h 2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4" h="262">
                  <a:moveTo>
                    <a:pt x="264" y="0"/>
                  </a:moveTo>
                  <a:lnTo>
                    <a:pt x="223" y="53"/>
                  </a:lnTo>
                  <a:lnTo>
                    <a:pt x="116" y="122"/>
                  </a:lnTo>
                  <a:lnTo>
                    <a:pt x="33" y="203"/>
                  </a:lnTo>
                  <a:lnTo>
                    <a:pt x="0" y="262"/>
                  </a:lnTo>
                  <a:lnTo>
                    <a:pt x="33" y="246"/>
                  </a:lnTo>
                  <a:lnTo>
                    <a:pt x="81" y="173"/>
                  </a:lnTo>
                  <a:lnTo>
                    <a:pt x="179" y="112"/>
                  </a:lnTo>
                  <a:lnTo>
                    <a:pt x="256" y="5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0" name="Freeform 27"/>
            <p:cNvSpPr>
              <a:spLocks/>
            </p:cNvSpPr>
            <p:nvPr/>
          </p:nvSpPr>
          <p:spPr bwMode="auto">
            <a:xfrm>
              <a:off x="3528" y="2091"/>
              <a:ext cx="147" cy="118"/>
            </a:xfrm>
            <a:custGeom>
              <a:avLst/>
              <a:gdLst>
                <a:gd name="T0" fmla="*/ 0 w 295"/>
                <a:gd name="T1" fmla="*/ 1 h 235"/>
                <a:gd name="T2" fmla="*/ 0 w 295"/>
                <a:gd name="T3" fmla="*/ 1 h 235"/>
                <a:gd name="T4" fmla="*/ 0 w 295"/>
                <a:gd name="T5" fmla="*/ 1 h 235"/>
                <a:gd name="T6" fmla="*/ 0 w 295"/>
                <a:gd name="T7" fmla="*/ 0 h 235"/>
                <a:gd name="T8" fmla="*/ 0 w 295"/>
                <a:gd name="T9" fmla="*/ 1 h 235"/>
                <a:gd name="T10" fmla="*/ 0 w 295"/>
                <a:gd name="T11" fmla="*/ 1 h 235"/>
                <a:gd name="T12" fmla="*/ 0 w 295"/>
                <a:gd name="T13" fmla="*/ 1 h 235"/>
                <a:gd name="T14" fmla="*/ 0 w 295"/>
                <a:gd name="T15" fmla="*/ 1 h 2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5" h="235">
                  <a:moveTo>
                    <a:pt x="295" y="235"/>
                  </a:moveTo>
                  <a:lnTo>
                    <a:pt x="226" y="166"/>
                  </a:lnTo>
                  <a:lnTo>
                    <a:pt x="68" y="44"/>
                  </a:lnTo>
                  <a:lnTo>
                    <a:pt x="0" y="0"/>
                  </a:lnTo>
                  <a:lnTo>
                    <a:pt x="65" y="85"/>
                  </a:lnTo>
                  <a:lnTo>
                    <a:pt x="120" y="114"/>
                  </a:lnTo>
                  <a:lnTo>
                    <a:pt x="204" y="166"/>
                  </a:lnTo>
                  <a:lnTo>
                    <a:pt x="295" y="235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1" name="Freeform 28"/>
            <p:cNvSpPr>
              <a:spLocks/>
            </p:cNvSpPr>
            <p:nvPr/>
          </p:nvSpPr>
          <p:spPr bwMode="auto">
            <a:xfrm>
              <a:off x="3413" y="2014"/>
              <a:ext cx="101" cy="205"/>
            </a:xfrm>
            <a:custGeom>
              <a:avLst/>
              <a:gdLst>
                <a:gd name="T0" fmla="*/ 1 w 201"/>
                <a:gd name="T1" fmla="*/ 0 h 409"/>
                <a:gd name="T2" fmla="*/ 1 w 201"/>
                <a:gd name="T3" fmla="*/ 1 h 409"/>
                <a:gd name="T4" fmla="*/ 0 w 201"/>
                <a:gd name="T5" fmla="*/ 1 h 409"/>
                <a:gd name="T6" fmla="*/ 1 w 201"/>
                <a:gd name="T7" fmla="*/ 1 h 409"/>
                <a:gd name="T8" fmla="*/ 1 w 201"/>
                <a:gd name="T9" fmla="*/ 1 h 409"/>
                <a:gd name="T10" fmla="*/ 1 w 201"/>
                <a:gd name="T11" fmla="*/ 1 h 409"/>
                <a:gd name="T12" fmla="*/ 1 w 201"/>
                <a:gd name="T13" fmla="*/ 1 h 409"/>
                <a:gd name="T14" fmla="*/ 1 w 201"/>
                <a:gd name="T15" fmla="*/ 1 h 409"/>
                <a:gd name="T16" fmla="*/ 1 w 201"/>
                <a:gd name="T17" fmla="*/ 1 h 409"/>
                <a:gd name="T18" fmla="*/ 1 w 201"/>
                <a:gd name="T19" fmla="*/ 1 h 409"/>
                <a:gd name="T20" fmla="*/ 1 w 201"/>
                <a:gd name="T21" fmla="*/ 1 h 409"/>
                <a:gd name="T22" fmla="*/ 1 w 201"/>
                <a:gd name="T23" fmla="*/ 0 h 40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1" h="409">
                  <a:moveTo>
                    <a:pt x="152" y="0"/>
                  </a:moveTo>
                  <a:lnTo>
                    <a:pt x="73" y="31"/>
                  </a:lnTo>
                  <a:lnTo>
                    <a:pt x="0" y="110"/>
                  </a:lnTo>
                  <a:lnTo>
                    <a:pt x="37" y="181"/>
                  </a:lnTo>
                  <a:lnTo>
                    <a:pt x="89" y="265"/>
                  </a:lnTo>
                  <a:lnTo>
                    <a:pt x="126" y="360"/>
                  </a:lnTo>
                  <a:lnTo>
                    <a:pt x="201" y="409"/>
                  </a:lnTo>
                  <a:lnTo>
                    <a:pt x="148" y="340"/>
                  </a:lnTo>
                  <a:lnTo>
                    <a:pt x="79" y="175"/>
                  </a:lnTo>
                  <a:lnTo>
                    <a:pt x="85" y="57"/>
                  </a:lnTo>
                  <a:lnTo>
                    <a:pt x="158" y="57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2" name="Freeform 29"/>
            <p:cNvSpPr>
              <a:spLocks/>
            </p:cNvSpPr>
            <p:nvPr/>
          </p:nvSpPr>
          <p:spPr bwMode="auto">
            <a:xfrm>
              <a:off x="3693" y="1947"/>
              <a:ext cx="153" cy="164"/>
            </a:xfrm>
            <a:custGeom>
              <a:avLst/>
              <a:gdLst>
                <a:gd name="T0" fmla="*/ 1 w 306"/>
                <a:gd name="T1" fmla="*/ 1 h 325"/>
                <a:gd name="T2" fmla="*/ 1 w 306"/>
                <a:gd name="T3" fmla="*/ 1 h 325"/>
                <a:gd name="T4" fmla="*/ 1 w 306"/>
                <a:gd name="T5" fmla="*/ 1 h 325"/>
                <a:gd name="T6" fmla="*/ 1 w 306"/>
                <a:gd name="T7" fmla="*/ 1 h 325"/>
                <a:gd name="T8" fmla="*/ 1 w 306"/>
                <a:gd name="T9" fmla="*/ 1 h 325"/>
                <a:gd name="T10" fmla="*/ 1 w 306"/>
                <a:gd name="T11" fmla="*/ 1 h 325"/>
                <a:gd name="T12" fmla="*/ 1 w 306"/>
                <a:gd name="T13" fmla="*/ 1 h 325"/>
                <a:gd name="T14" fmla="*/ 1 w 306"/>
                <a:gd name="T15" fmla="*/ 1 h 325"/>
                <a:gd name="T16" fmla="*/ 1 w 306"/>
                <a:gd name="T17" fmla="*/ 1 h 325"/>
                <a:gd name="T18" fmla="*/ 1 w 306"/>
                <a:gd name="T19" fmla="*/ 1 h 325"/>
                <a:gd name="T20" fmla="*/ 1 w 306"/>
                <a:gd name="T21" fmla="*/ 1 h 325"/>
                <a:gd name="T22" fmla="*/ 0 w 306"/>
                <a:gd name="T23" fmla="*/ 1 h 325"/>
                <a:gd name="T24" fmla="*/ 1 w 306"/>
                <a:gd name="T25" fmla="*/ 1 h 325"/>
                <a:gd name="T26" fmla="*/ 1 w 306"/>
                <a:gd name="T27" fmla="*/ 0 h 325"/>
                <a:gd name="T28" fmla="*/ 1 w 306"/>
                <a:gd name="T29" fmla="*/ 0 h 325"/>
                <a:gd name="T30" fmla="*/ 1 w 306"/>
                <a:gd name="T31" fmla="*/ 1 h 3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06" h="325">
                  <a:moveTo>
                    <a:pt x="264" y="65"/>
                  </a:moveTo>
                  <a:lnTo>
                    <a:pt x="306" y="153"/>
                  </a:lnTo>
                  <a:lnTo>
                    <a:pt x="300" y="212"/>
                  </a:lnTo>
                  <a:lnTo>
                    <a:pt x="274" y="271"/>
                  </a:lnTo>
                  <a:lnTo>
                    <a:pt x="237" y="325"/>
                  </a:lnTo>
                  <a:lnTo>
                    <a:pt x="274" y="175"/>
                  </a:lnTo>
                  <a:lnTo>
                    <a:pt x="227" y="118"/>
                  </a:lnTo>
                  <a:lnTo>
                    <a:pt x="164" y="96"/>
                  </a:lnTo>
                  <a:lnTo>
                    <a:pt x="164" y="53"/>
                  </a:lnTo>
                  <a:lnTo>
                    <a:pt x="105" y="53"/>
                  </a:lnTo>
                  <a:lnTo>
                    <a:pt x="26" y="84"/>
                  </a:lnTo>
                  <a:lnTo>
                    <a:pt x="0" y="37"/>
                  </a:lnTo>
                  <a:lnTo>
                    <a:pt x="60" y="11"/>
                  </a:lnTo>
                  <a:lnTo>
                    <a:pt x="164" y="0"/>
                  </a:lnTo>
                  <a:lnTo>
                    <a:pt x="223" y="0"/>
                  </a:lnTo>
                  <a:lnTo>
                    <a:pt x="264" y="65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3" name="Freeform 30"/>
            <p:cNvSpPr>
              <a:spLocks/>
            </p:cNvSpPr>
            <p:nvPr/>
          </p:nvSpPr>
          <p:spPr bwMode="auto">
            <a:xfrm>
              <a:off x="3366" y="2128"/>
              <a:ext cx="226" cy="237"/>
            </a:xfrm>
            <a:custGeom>
              <a:avLst/>
              <a:gdLst>
                <a:gd name="T0" fmla="*/ 0 w 453"/>
                <a:gd name="T1" fmla="*/ 1 h 473"/>
                <a:gd name="T2" fmla="*/ 0 w 453"/>
                <a:gd name="T3" fmla="*/ 1 h 473"/>
                <a:gd name="T4" fmla="*/ 0 w 453"/>
                <a:gd name="T5" fmla="*/ 1 h 473"/>
                <a:gd name="T6" fmla="*/ 0 w 453"/>
                <a:gd name="T7" fmla="*/ 1 h 473"/>
                <a:gd name="T8" fmla="*/ 0 w 453"/>
                <a:gd name="T9" fmla="*/ 1 h 473"/>
                <a:gd name="T10" fmla="*/ 0 w 453"/>
                <a:gd name="T11" fmla="*/ 1 h 473"/>
                <a:gd name="T12" fmla="*/ 0 w 453"/>
                <a:gd name="T13" fmla="*/ 0 h 473"/>
                <a:gd name="T14" fmla="*/ 0 w 453"/>
                <a:gd name="T15" fmla="*/ 1 h 473"/>
                <a:gd name="T16" fmla="*/ 0 w 453"/>
                <a:gd name="T17" fmla="*/ 1 h 473"/>
                <a:gd name="T18" fmla="*/ 0 w 453"/>
                <a:gd name="T19" fmla="*/ 1 h 473"/>
                <a:gd name="T20" fmla="*/ 0 w 453"/>
                <a:gd name="T21" fmla="*/ 1 h 473"/>
                <a:gd name="T22" fmla="*/ 0 w 453"/>
                <a:gd name="T23" fmla="*/ 1 h 473"/>
                <a:gd name="T24" fmla="*/ 0 w 453"/>
                <a:gd name="T25" fmla="*/ 1 h 473"/>
                <a:gd name="T26" fmla="*/ 0 w 453"/>
                <a:gd name="T27" fmla="*/ 1 h 47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3" h="473">
                  <a:moveTo>
                    <a:pt x="453" y="457"/>
                  </a:moveTo>
                  <a:lnTo>
                    <a:pt x="296" y="404"/>
                  </a:lnTo>
                  <a:lnTo>
                    <a:pt x="215" y="325"/>
                  </a:lnTo>
                  <a:lnTo>
                    <a:pt x="89" y="128"/>
                  </a:lnTo>
                  <a:lnTo>
                    <a:pt x="58" y="79"/>
                  </a:lnTo>
                  <a:lnTo>
                    <a:pt x="105" y="37"/>
                  </a:lnTo>
                  <a:lnTo>
                    <a:pt x="67" y="0"/>
                  </a:lnTo>
                  <a:lnTo>
                    <a:pt x="0" y="39"/>
                  </a:lnTo>
                  <a:lnTo>
                    <a:pt x="0" y="106"/>
                  </a:lnTo>
                  <a:lnTo>
                    <a:pt x="132" y="335"/>
                  </a:lnTo>
                  <a:lnTo>
                    <a:pt x="180" y="419"/>
                  </a:lnTo>
                  <a:lnTo>
                    <a:pt x="253" y="441"/>
                  </a:lnTo>
                  <a:lnTo>
                    <a:pt x="416" y="473"/>
                  </a:lnTo>
                  <a:lnTo>
                    <a:pt x="453" y="457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4" name="Freeform 31"/>
            <p:cNvSpPr>
              <a:spLocks/>
            </p:cNvSpPr>
            <p:nvPr/>
          </p:nvSpPr>
          <p:spPr bwMode="auto">
            <a:xfrm>
              <a:off x="3335" y="2338"/>
              <a:ext cx="403" cy="165"/>
            </a:xfrm>
            <a:custGeom>
              <a:avLst/>
              <a:gdLst>
                <a:gd name="T0" fmla="*/ 2 w 806"/>
                <a:gd name="T1" fmla="*/ 0 h 331"/>
                <a:gd name="T2" fmla="*/ 2 w 806"/>
                <a:gd name="T3" fmla="*/ 0 h 331"/>
                <a:gd name="T4" fmla="*/ 1 w 806"/>
                <a:gd name="T5" fmla="*/ 0 h 331"/>
                <a:gd name="T6" fmla="*/ 1 w 806"/>
                <a:gd name="T7" fmla="*/ 0 h 331"/>
                <a:gd name="T8" fmla="*/ 1 w 806"/>
                <a:gd name="T9" fmla="*/ 0 h 331"/>
                <a:gd name="T10" fmla="*/ 1 w 806"/>
                <a:gd name="T11" fmla="*/ 0 h 331"/>
                <a:gd name="T12" fmla="*/ 1 w 806"/>
                <a:gd name="T13" fmla="*/ 0 h 331"/>
                <a:gd name="T14" fmla="*/ 1 w 806"/>
                <a:gd name="T15" fmla="*/ 0 h 331"/>
                <a:gd name="T16" fmla="*/ 0 w 806"/>
                <a:gd name="T17" fmla="*/ 0 h 331"/>
                <a:gd name="T18" fmla="*/ 1 w 806"/>
                <a:gd name="T19" fmla="*/ 0 h 331"/>
                <a:gd name="T20" fmla="*/ 1 w 806"/>
                <a:gd name="T21" fmla="*/ 0 h 331"/>
                <a:gd name="T22" fmla="*/ 1 w 806"/>
                <a:gd name="T23" fmla="*/ 0 h 331"/>
                <a:gd name="T24" fmla="*/ 1 w 806"/>
                <a:gd name="T25" fmla="*/ 0 h 331"/>
                <a:gd name="T26" fmla="*/ 2 w 806"/>
                <a:gd name="T27" fmla="*/ 0 h 331"/>
                <a:gd name="T28" fmla="*/ 2 w 806"/>
                <a:gd name="T29" fmla="*/ 0 h 331"/>
                <a:gd name="T30" fmla="*/ 2 w 806"/>
                <a:gd name="T31" fmla="*/ 0 h 331"/>
                <a:gd name="T32" fmla="*/ 2 w 806"/>
                <a:gd name="T33" fmla="*/ 0 h 3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06" h="331">
                  <a:moveTo>
                    <a:pt x="749" y="213"/>
                  </a:moveTo>
                  <a:lnTo>
                    <a:pt x="601" y="247"/>
                  </a:lnTo>
                  <a:lnTo>
                    <a:pt x="473" y="241"/>
                  </a:lnTo>
                  <a:lnTo>
                    <a:pt x="294" y="144"/>
                  </a:lnTo>
                  <a:lnTo>
                    <a:pt x="215" y="81"/>
                  </a:lnTo>
                  <a:lnTo>
                    <a:pt x="174" y="0"/>
                  </a:lnTo>
                  <a:lnTo>
                    <a:pt x="95" y="22"/>
                  </a:lnTo>
                  <a:lnTo>
                    <a:pt x="48" y="69"/>
                  </a:lnTo>
                  <a:lnTo>
                    <a:pt x="0" y="91"/>
                  </a:lnTo>
                  <a:lnTo>
                    <a:pt x="142" y="219"/>
                  </a:lnTo>
                  <a:lnTo>
                    <a:pt x="306" y="325"/>
                  </a:lnTo>
                  <a:lnTo>
                    <a:pt x="363" y="316"/>
                  </a:lnTo>
                  <a:lnTo>
                    <a:pt x="432" y="316"/>
                  </a:lnTo>
                  <a:lnTo>
                    <a:pt x="538" y="331"/>
                  </a:lnTo>
                  <a:lnTo>
                    <a:pt x="627" y="294"/>
                  </a:lnTo>
                  <a:lnTo>
                    <a:pt x="806" y="241"/>
                  </a:lnTo>
                  <a:lnTo>
                    <a:pt x="749" y="213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5" name="Freeform 32"/>
            <p:cNvSpPr>
              <a:spLocks/>
            </p:cNvSpPr>
            <p:nvPr/>
          </p:nvSpPr>
          <p:spPr bwMode="auto">
            <a:xfrm>
              <a:off x="3190" y="2170"/>
              <a:ext cx="307" cy="417"/>
            </a:xfrm>
            <a:custGeom>
              <a:avLst/>
              <a:gdLst>
                <a:gd name="T0" fmla="*/ 0 w 616"/>
                <a:gd name="T1" fmla="*/ 0 h 831"/>
                <a:gd name="T2" fmla="*/ 0 w 616"/>
                <a:gd name="T3" fmla="*/ 1 h 831"/>
                <a:gd name="T4" fmla="*/ 0 w 616"/>
                <a:gd name="T5" fmla="*/ 1 h 831"/>
                <a:gd name="T6" fmla="*/ 0 w 616"/>
                <a:gd name="T7" fmla="*/ 1 h 831"/>
                <a:gd name="T8" fmla="*/ 0 w 616"/>
                <a:gd name="T9" fmla="*/ 1 h 831"/>
                <a:gd name="T10" fmla="*/ 0 w 616"/>
                <a:gd name="T11" fmla="*/ 1 h 831"/>
                <a:gd name="T12" fmla="*/ 0 w 616"/>
                <a:gd name="T13" fmla="*/ 1 h 831"/>
                <a:gd name="T14" fmla="*/ 0 w 616"/>
                <a:gd name="T15" fmla="*/ 1 h 831"/>
                <a:gd name="T16" fmla="*/ 0 w 616"/>
                <a:gd name="T17" fmla="*/ 1 h 831"/>
                <a:gd name="T18" fmla="*/ 0 w 616"/>
                <a:gd name="T19" fmla="*/ 1 h 831"/>
                <a:gd name="T20" fmla="*/ 0 w 616"/>
                <a:gd name="T21" fmla="*/ 2 h 831"/>
                <a:gd name="T22" fmla="*/ 0 w 616"/>
                <a:gd name="T23" fmla="*/ 2 h 831"/>
                <a:gd name="T24" fmla="*/ 0 w 616"/>
                <a:gd name="T25" fmla="*/ 2 h 831"/>
                <a:gd name="T26" fmla="*/ 0 w 616"/>
                <a:gd name="T27" fmla="*/ 2 h 831"/>
                <a:gd name="T28" fmla="*/ 0 w 616"/>
                <a:gd name="T29" fmla="*/ 2 h 831"/>
                <a:gd name="T30" fmla="*/ 0 w 616"/>
                <a:gd name="T31" fmla="*/ 2 h 831"/>
                <a:gd name="T32" fmla="*/ 0 w 616"/>
                <a:gd name="T33" fmla="*/ 2 h 831"/>
                <a:gd name="T34" fmla="*/ 0 w 616"/>
                <a:gd name="T35" fmla="*/ 2 h 831"/>
                <a:gd name="T36" fmla="*/ 0 w 616"/>
                <a:gd name="T37" fmla="*/ 2 h 831"/>
                <a:gd name="T38" fmla="*/ 0 w 616"/>
                <a:gd name="T39" fmla="*/ 2 h 831"/>
                <a:gd name="T40" fmla="*/ 0 w 616"/>
                <a:gd name="T41" fmla="*/ 2 h 831"/>
                <a:gd name="T42" fmla="*/ 1 w 616"/>
                <a:gd name="T43" fmla="*/ 2 h 831"/>
                <a:gd name="T44" fmla="*/ 1 w 616"/>
                <a:gd name="T45" fmla="*/ 2 h 831"/>
                <a:gd name="T46" fmla="*/ 1 w 616"/>
                <a:gd name="T47" fmla="*/ 2 h 831"/>
                <a:gd name="T48" fmla="*/ 0 w 616"/>
                <a:gd name="T49" fmla="*/ 1 h 831"/>
                <a:gd name="T50" fmla="*/ 0 w 616"/>
                <a:gd name="T51" fmla="*/ 1 h 831"/>
                <a:gd name="T52" fmla="*/ 0 w 616"/>
                <a:gd name="T53" fmla="*/ 1 h 831"/>
                <a:gd name="T54" fmla="*/ 0 w 616"/>
                <a:gd name="T55" fmla="*/ 1 h 831"/>
                <a:gd name="T56" fmla="*/ 0 w 616"/>
                <a:gd name="T57" fmla="*/ 1 h 831"/>
                <a:gd name="T58" fmla="*/ 0 w 616"/>
                <a:gd name="T59" fmla="*/ 1 h 831"/>
                <a:gd name="T60" fmla="*/ 0 w 616"/>
                <a:gd name="T61" fmla="*/ 0 h 83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616" h="831">
                  <a:moveTo>
                    <a:pt x="295" y="0"/>
                  </a:moveTo>
                  <a:lnTo>
                    <a:pt x="195" y="6"/>
                  </a:lnTo>
                  <a:lnTo>
                    <a:pt x="0" y="106"/>
                  </a:lnTo>
                  <a:lnTo>
                    <a:pt x="14" y="293"/>
                  </a:lnTo>
                  <a:lnTo>
                    <a:pt x="16" y="338"/>
                  </a:lnTo>
                  <a:lnTo>
                    <a:pt x="21" y="378"/>
                  </a:lnTo>
                  <a:lnTo>
                    <a:pt x="29" y="413"/>
                  </a:lnTo>
                  <a:lnTo>
                    <a:pt x="41" y="447"/>
                  </a:lnTo>
                  <a:lnTo>
                    <a:pt x="55" y="474"/>
                  </a:lnTo>
                  <a:lnTo>
                    <a:pt x="73" y="500"/>
                  </a:lnTo>
                  <a:lnTo>
                    <a:pt x="92" y="524"/>
                  </a:lnTo>
                  <a:lnTo>
                    <a:pt x="114" y="547"/>
                  </a:lnTo>
                  <a:lnTo>
                    <a:pt x="140" y="569"/>
                  </a:lnTo>
                  <a:lnTo>
                    <a:pt x="165" y="590"/>
                  </a:lnTo>
                  <a:lnTo>
                    <a:pt x="195" y="610"/>
                  </a:lnTo>
                  <a:lnTo>
                    <a:pt x="226" y="634"/>
                  </a:lnTo>
                  <a:lnTo>
                    <a:pt x="258" y="655"/>
                  </a:lnTo>
                  <a:lnTo>
                    <a:pt x="291" y="681"/>
                  </a:lnTo>
                  <a:lnTo>
                    <a:pt x="327" y="709"/>
                  </a:lnTo>
                  <a:lnTo>
                    <a:pt x="364" y="740"/>
                  </a:lnTo>
                  <a:lnTo>
                    <a:pt x="443" y="831"/>
                  </a:lnTo>
                  <a:lnTo>
                    <a:pt x="518" y="793"/>
                  </a:lnTo>
                  <a:lnTo>
                    <a:pt x="616" y="740"/>
                  </a:lnTo>
                  <a:lnTo>
                    <a:pt x="559" y="675"/>
                  </a:lnTo>
                  <a:lnTo>
                    <a:pt x="295" y="468"/>
                  </a:lnTo>
                  <a:lnTo>
                    <a:pt x="217" y="403"/>
                  </a:lnTo>
                  <a:lnTo>
                    <a:pt x="138" y="256"/>
                  </a:lnTo>
                  <a:lnTo>
                    <a:pt x="169" y="138"/>
                  </a:lnTo>
                  <a:lnTo>
                    <a:pt x="254" y="75"/>
                  </a:lnTo>
                  <a:lnTo>
                    <a:pt x="317" y="6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6" name="Freeform 33"/>
            <p:cNvSpPr>
              <a:spLocks/>
            </p:cNvSpPr>
            <p:nvPr/>
          </p:nvSpPr>
          <p:spPr bwMode="auto">
            <a:xfrm>
              <a:off x="3349" y="1857"/>
              <a:ext cx="277" cy="291"/>
            </a:xfrm>
            <a:custGeom>
              <a:avLst/>
              <a:gdLst>
                <a:gd name="T0" fmla="*/ 1 w 557"/>
                <a:gd name="T1" fmla="*/ 1 h 579"/>
                <a:gd name="T2" fmla="*/ 1 w 557"/>
                <a:gd name="T3" fmla="*/ 1 h 579"/>
                <a:gd name="T4" fmla="*/ 0 w 557"/>
                <a:gd name="T5" fmla="*/ 0 h 579"/>
                <a:gd name="T6" fmla="*/ 0 w 557"/>
                <a:gd name="T7" fmla="*/ 1 h 579"/>
                <a:gd name="T8" fmla="*/ 0 w 557"/>
                <a:gd name="T9" fmla="*/ 1 h 579"/>
                <a:gd name="T10" fmla="*/ 0 w 557"/>
                <a:gd name="T11" fmla="*/ 1 h 579"/>
                <a:gd name="T12" fmla="*/ 0 w 557"/>
                <a:gd name="T13" fmla="*/ 1 h 579"/>
                <a:gd name="T14" fmla="*/ 0 w 557"/>
                <a:gd name="T15" fmla="*/ 1 h 579"/>
                <a:gd name="T16" fmla="*/ 0 w 557"/>
                <a:gd name="T17" fmla="*/ 2 h 579"/>
                <a:gd name="T18" fmla="*/ 0 w 557"/>
                <a:gd name="T19" fmla="*/ 2 h 579"/>
                <a:gd name="T20" fmla="*/ 0 w 557"/>
                <a:gd name="T21" fmla="*/ 1 h 579"/>
                <a:gd name="T22" fmla="*/ 0 w 557"/>
                <a:gd name="T23" fmla="*/ 1 h 579"/>
                <a:gd name="T24" fmla="*/ 0 w 557"/>
                <a:gd name="T25" fmla="*/ 1 h 579"/>
                <a:gd name="T26" fmla="*/ 0 w 557"/>
                <a:gd name="T27" fmla="*/ 1 h 579"/>
                <a:gd name="T28" fmla="*/ 0 w 557"/>
                <a:gd name="T29" fmla="*/ 1 h 579"/>
                <a:gd name="T30" fmla="*/ 0 w 557"/>
                <a:gd name="T31" fmla="*/ 1 h 579"/>
                <a:gd name="T32" fmla="*/ 0 w 557"/>
                <a:gd name="T33" fmla="*/ 1 h 579"/>
                <a:gd name="T34" fmla="*/ 0 w 557"/>
                <a:gd name="T35" fmla="*/ 1 h 579"/>
                <a:gd name="T36" fmla="*/ 1 w 557"/>
                <a:gd name="T37" fmla="*/ 1 h 5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57" h="579">
                  <a:moveTo>
                    <a:pt x="557" y="79"/>
                  </a:moveTo>
                  <a:lnTo>
                    <a:pt x="518" y="46"/>
                  </a:lnTo>
                  <a:lnTo>
                    <a:pt x="459" y="0"/>
                  </a:lnTo>
                  <a:lnTo>
                    <a:pt x="394" y="87"/>
                  </a:lnTo>
                  <a:lnTo>
                    <a:pt x="286" y="162"/>
                  </a:lnTo>
                  <a:lnTo>
                    <a:pt x="156" y="190"/>
                  </a:lnTo>
                  <a:lnTo>
                    <a:pt x="14" y="207"/>
                  </a:lnTo>
                  <a:lnTo>
                    <a:pt x="0" y="260"/>
                  </a:lnTo>
                  <a:lnTo>
                    <a:pt x="10" y="579"/>
                  </a:lnTo>
                  <a:lnTo>
                    <a:pt x="67" y="534"/>
                  </a:lnTo>
                  <a:lnTo>
                    <a:pt x="96" y="489"/>
                  </a:lnTo>
                  <a:lnTo>
                    <a:pt x="67" y="377"/>
                  </a:lnTo>
                  <a:lnTo>
                    <a:pt x="67" y="260"/>
                  </a:lnTo>
                  <a:lnTo>
                    <a:pt x="177" y="260"/>
                  </a:lnTo>
                  <a:lnTo>
                    <a:pt x="280" y="239"/>
                  </a:lnTo>
                  <a:lnTo>
                    <a:pt x="364" y="193"/>
                  </a:lnTo>
                  <a:lnTo>
                    <a:pt x="439" y="117"/>
                  </a:lnTo>
                  <a:lnTo>
                    <a:pt x="514" y="73"/>
                  </a:lnTo>
                  <a:lnTo>
                    <a:pt x="557" y="79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7" name="Freeform 34"/>
            <p:cNvSpPr>
              <a:spLocks/>
            </p:cNvSpPr>
            <p:nvPr/>
          </p:nvSpPr>
          <p:spPr bwMode="auto">
            <a:xfrm>
              <a:off x="3595" y="1989"/>
              <a:ext cx="82" cy="120"/>
            </a:xfrm>
            <a:custGeom>
              <a:avLst/>
              <a:gdLst>
                <a:gd name="T0" fmla="*/ 0 w 166"/>
                <a:gd name="T1" fmla="*/ 0 h 241"/>
                <a:gd name="T2" fmla="*/ 0 w 166"/>
                <a:gd name="T3" fmla="*/ 0 h 241"/>
                <a:gd name="T4" fmla="*/ 0 w 166"/>
                <a:gd name="T5" fmla="*/ 0 h 241"/>
                <a:gd name="T6" fmla="*/ 0 w 166"/>
                <a:gd name="T7" fmla="*/ 0 h 241"/>
                <a:gd name="T8" fmla="*/ 0 w 166"/>
                <a:gd name="T9" fmla="*/ 0 h 241"/>
                <a:gd name="T10" fmla="*/ 0 w 166"/>
                <a:gd name="T11" fmla="*/ 0 h 241"/>
                <a:gd name="T12" fmla="*/ 0 w 166"/>
                <a:gd name="T13" fmla="*/ 0 h 241"/>
                <a:gd name="T14" fmla="*/ 0 w 166"/>
                <a:gd name="T15" fmla="*/ 0 h 241"/>
                <a:gd name="T16" fmla="*/ 0 w 166"/>
                <a:gd name="T17" fmla="*/ 0 h 241"/>
                <a:gd name="T18" fmla="*/ 0 w 166"/>
                <a:gd name="T19" fmla="*/ 0 h 241"/>
                <a:gd name="T20" fmla="*/ 0 w 166"/>
                <a:gd name="T21" fmla="*/ 0 h 2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6" h="241">
                  <a:moveTo>
                    <a:pt x="166" y="0"/>
                  </a:moveTo>
                  <a:lnTo>
                    <a:pt x="99" y="0"/>
                  </a:lnTo>
                  <a:lnTo>
                    <a:pt x="38" y="42"/>
                  </a:lnTo>
                  <a:lnTo>
                    <a:pt x="0" y="95"/>
                  </a:lnTo>
                  <a:lnTo>
                    <a:pt x="12" y="142"/>
                  </a:lnTo>
                  <a:lnTo>
                    <a:pt x="63" y="241"/>
                  </a:lnTo>
                  <a:lnTo>
                    <a:pt x="30" y="174"/>
                  </a:lnTo>
                  <a:lnTo>
                    <a:pt x="30" y="83"/>
                  </a:lnTo>
                  <a:lnTo>
                    <a:pt x="83" y="22"/>
                  </a:lnTo>
                  <a:lnTo>
                    <a:pt x="134" y="8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8" name="Freeform 35"/>
            <p:cNvSpPr>
              <a:spLocks/>
            </p:cNvSpPr>
            <p:nvPr/>
          </p:nvSpPr>
          <p:spPr bwMode="auto">
            <a:xfrm>
              <a:off x="3573" y="1908"/>
              <a:ext cx="130" cy="181"/>
            </a:xfrm>
            <a:custGeom>
              <a:avLst/>
              <a:gdLst>
                <a:gd name="T0" fmla="*/ 1 w 260"/>
                <a:gd name="T1" fmla="*/ 0 h 360"/>
                <a:gd name="T2" fmla="*/ 1 w 260"/>
                <a:gd name="T3" fmla="*/ 1 h 360"/>
                <a:gd name="T4" fmla="*/ 1 w 260"/>
                <a:gd name="T5" fmla="*/ 1 h 360"/>
                <a:gd name="T6" fmla="*/ 1 w 260"/>
                <a:gd name="T7" fmla="*/ 1 h 360"/>
                <a:gd name="T8" fmla="*/ 0 w 260"/>
                <a:gd name="T9" fmla="*/ 1 h 360"/>
                <a:gd name="T10" fmla="*/ 1 w 260"/>
                <a:gd name="T11" fmla="*/ 1 h 360"/>
                <a:gd name="T12" fmla="*/ 1 w 260"/>
                <a:gd name="T13" fmla="*/ 1 h 360"/>
                <a:gd name="T14" fmla="*/ 1 w 260"/>
                <a:gd name="T15" fmla="*/ 1 h 360"/>
                <a:gd name="T16" fmla="*/ 1 w 260"/>
                <a:gd name="T17" fmla="*/ 1 h 360"/>
                <a:gd name="T18" fmla="*/ 1 w 260"/>
                <a:gd name="T19" fmla="*/ 1 h 360"/>
                <a:gd name="T20" fmla="*/ 1 w 260"/>
                <a:gd name="T21" fmla="*/ 1 h 360"/>
                <a:gd name="T22" fmla="*/ 1 w 260"/>
                <a:gd name="T23" fmla="*/ 1 h 360"/>
                <a:gd name="T24" fmla="*/ 1 w 260"/>
                <a:gd name="T25" fmla="*/ 1 h 360"/>
                <a:gd name="T26" fmla="*/ 1 w 260"/>
                <a:gd name="T27" fmla="*/ 1 h 360"/>
                <a:gd name="T28" fmla="*/ 1 w 260"/>
                <a:gd name="T29" fmla="*/ 0 h 36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60" h="360">
                  <a:moveTo>
                    <a:pt x="260" y="0"/>
                  </a:moveTo>
                  <a:lnTo>
                    <a:pt x="160" y="45"/>
                  </a:lnTo>
                  <a:lnTo>
                    <a:pt x="59" y="96"/>
                  </a:lnTo>
                  <a:lnTo>
                    <a:pt x="38" y="173"/>
                  </a:lnTo>
                  <a:lnTo>
                    <a:pt x="0" y="274"/>
                  </a:lnTo>
                  <a:lnTo>
                    <a:pt x="6" y="319"/>
                  </a:lnTo>
                  <a:lnTo>
                    <a:pt x="71" y="360"/>
                  </a:lnTo>
                  <a:lnTo>
                    <a:pt x="26" y="319"/>
                  </a:lnTo>
                  <a:lnTo>
                    <a:pt x="26" y="274"/>
                  </a:lnTo>
                  <a:lnTo>
                    <a:pt x="47" y="177"/>
                  </a:lnTo>
                  <a:lnTo>
                    <a:pt x="73" y="116"/>
                  </a:lnTo>
                  <a:lnTo>
                    <a:pt x="134" y="79"/>
                  </a:lnTo>
                  <a:lnTo>
                    <a:pt x="223" y="59"/>
                  </a:lnTo>
                  <a:lnTo>
                    <a:pt x="252" y="29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9" name="Freeform 36"/>
            <p:cNvSpPr>
              <a:spLocks/>
            </p:cNvSpPr>
            <p:nvPr/>
          </p:nvSpPr>
          <p:spPr bwMode="auto">
            <a:xfrm>
              <a:off x="3487" y="1912"/>
              <a:ext cx="161" cy="247"/>
            </a:xfrm>
            <a:custGeom>
              <a:avLst/>
              <a:gdLst>
                <a:gd name="T0" fmla="*/ 0 w 323"/>
                <a:gd name="T1" fmla="*/ 1 h 492"/>
                <a:gd name="T2" fmla="*/ 0 w 323"/>
                <a:gd name="T3" fmla="*/ 0 h 492"/>
                <a:gd name="T4" fmla="*/ 0 w 323"/>
                <a:gd name="T5" fmla="*/ 0 h 492"/>
                <a:gd name="T6" fmla="*/ 0 w 323"/>
                <a:gd name="T7" fmla="*/ 1 h 492"/>
                <a:gd name="T8" fmla="*/ 0 w 323"/>
                <a:gd name="T9" fmla="*/ 1 h 492"/>
                <a:gd name="T10" fmla="*/ 0 w 323"/>
                <a:gd name="T11" fmla="*/ 1 h 492"/>
                <a:gd name="T12" fmla="*/ 0 w 323"/>
                <a:gd name="T13" fmla="*/ 1 h 492"/>
                <a:gd name="T14" fmla="*/ 0 w 323"/>
                <a:gd name="T15" fmla="*/ 1 h 492"/>
                <a:gd name="T16" fmla="*/ 0 w 323"/>
                <a:gd name="T17" fmla="*/ 1 h 492"/>
                <a:gd name="T18" fmla="*/ 0 w 323"/>
                <a:gd name="T19" fmla="*/ 1 h 492"/>
                <a:gd name="T20" fmla="*/ 0 w 323"/>
                <a:gd name="T21" fmla="*/ 1 h 492"/>
                <a:gd name="T22" fmla="*/ 0 w 323"/>
                <a:gd name="T23" fmla="*/ 1 h 492"/>
                <a:gd name="T24" fmla="*/ 0 w 323"/>
                <a:gd name="T25" fmla="*/ 1 h 492"/>
                <a:gd name="T26" fmla="*/ 0 w 323"/>
                <a:gd name="T27" fmla="*/ 1 h 492"/>
                <a:gd name="T28" fmla="*/ 0 w 323"/>
                <a:gd name="T29" fmla="*/ 1 h 492"/>
                <a:gd name="T30" fmla="*/ 0 w 323"/>
                <a:gd name="T31" fmla="*/ 1 h 492"/>
                <a:gd name="T32" fmla="*/ 0 w 323"/>
                <a:gd name="T33" fmla="*/ 1 h 4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23" h="492">
                  <a:moveTo>
                    <a:pt x="323" y="25"/>
                  </a:moveTo>
                  <a:lnTo>
                    <a:pt x="277" y="0"/>
                  </a:lnTo>
                  <a:lnTo>
                    <a:pt x="185" y="0"/>
                  </a:lnTo>
                  <a:lnTo>
                    <a:pt x="130" y="67"/>
                  </a:lnTo>
                  <a:lnTo>
                    <a:pt x="59" y="138"/>
                  </a:lnTo>
                  <a:lnTo>
                    <a:pt x="29" y="195"/>
                  </a:lnTo>
                  <a:lnTo>
                    <a:pt x="4" y="285"/>
                  </a:lnTo>
                  <a:lnTo>
                    <a:pt x="0" y="364"/>
                  </a:lnTo>
                  <a:lnTo>
                    <a:pt x="0" y="461"/>
                  </a:lnTo>
                  <a:lnTo>
                    <a:pt x="29" y="492"/>
                  </a:lnTo>
                  <a:lnTo>
                    <a:pt x="21" y="409"/>
                  </a:lnTo>
                  <a:lnTo>
                    <a:pt x="21" y="299"/>
                  </a:lnTo>
                  <a:lnTo>
                    <a:pt x="55" y="175"/>
                  </a:lnTo>
                  <a:lnTo>
                    <a:pt x="114" y="116"/>
                  </a:lnTo>
                  <a:lnTo>
                    <a:pt x="183" y="21"/>
                  </a:lnTo>
                  <a:lnTo>
                    <a:pt x="248" y="10"/>
                  </a:lnTo>
                  <a:lnTo>
                    <a:pt x="323" y="25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0" name="Freeform 37"/>
            <p:cNvSpPr>
              <a:spLocks/>
            </p:cNvSpPr>
            <p:nvPr/>
          </p:nvSpPr>
          <p:spPr bwMode="auto">
            <a:xfrm>
              <a:off x="3603" y="2080"/>
              <a:ext cx="163" cy="56"/>
            </a:xfrm>
            <a:custGeom>
              <a:avLst/>
              <a:gdLst>
                <a:gd name="T0" fmla="*/ 0 w 327"/>
                <a:gd name="T1" fmla="*/ 0 h 112"/>
                <a:gd name="T2" fmla="*/ 0 w 327"/>
                <a:gd name="T3" fmla="*/ 1 h 112"/>
                <a:gd name="T4" fmla="*/ 0 w 327"/>
                <a:gd name="T5" fmla="*/ 1 h 112"/>
                <a:gd name="T6" fmla="*/ 0 w 327"/>
                <a:gd name="T7" fmla="*/ 1 h 112"/>
                <a:gd name="T8" fmla="*/ 0 w 327"/>
                <a:gd name="T9" fmla="*/ 1 h 112"/>
                <a:gd name="T10" fmla="*/ 0 w 327"/>
                <a:gd name="T11" fmla="*/ 1 h 112"/>
                <a:gd name="T12" fmla="*/ 0 w 327"/>
                <a:gd name="T13" fmla="*/ 1 h 112"/>
                <a:gd name="T14" fmla="*/ 0 w 327"/>
                <a:gd name="T15" fmla="*/ 1 h 112"/>
                <a:gd name="T16" fmla="*/ 0 w 327"/>
                <a:gd name="T17" fmla="*/ 1 h 112"/>
                <a:gd name="T18" fmla="*/ 0 w 327"/>
                <a:gd name="T19" fmla="*/ 0 h 1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7" h="112">
                  <a:moveTo>
                    <a:pt x="327" y="0"/>
                  </a:moveTo>
                  <a:lnTo>
                    <a:pt x="231" y="47"/>
                  </a:lnTo>
                  <a:lnTo>
                    <a:pt x="130" y="66"/>
                  </a:lnTo>
                  <a:lnTo>
                    <a:pt x="75" y="74"/>
                  </a:lnTo>
                  <a:lnTo>
                    <a:pt x="0" y="112"/>
                  </a:lnTo>
                  <a:lnTo>
                    <a:pt x="63" y="108"/>
                  </a:lnTo>
                  <a:lnTo>
                    <a:pt x="118" y="84"/>
                  </a:lnTo>
                  <a:lnTo>
                    <a:pt x="227" y="66"/>
                  </a:lnTo>
                  <a:lnTo>
                    <a:pt x="309" y="29"/>
                  </a:lnTo>
                  <a:lnTo>
                    <a:pt x="327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1" name="Freeform 38"/>
            <p:cNvSpPr>
              <a:spLocks/>
            </p:cNvSpPr>
            <p:nvPr/>
          </p:nvSpPr>
          <p:spPr bwMode="auto">
            <a:xfrm>
              <a:off x="3740" y="2014"/>
              <a:ext cx="69" cy="52"/>
            </a:xfrm>
            <a:custGeom>
              <a:avLst/>
              <a:gdLst>
                <a:gd name="T0" fmla="*/ 1 w 138"/>
                <a:gd name="T1" fmla="*/ 1 h 104"/>
                <a:gd name="T2" fmla="*/ 1 w 138"/>
                <a:gd name="T3" fmla="*/ 1 h 104"/>
                <a:gd name="T4" fmla="*/ 1 w 138"/>
                <a:gd name="T5" fmla="*/ 0 h 104"/>
                <a:gd name="T6" fmla="*/ 1 w 138"/>
                <a:gd name="T7" fmla="*/ 1 h 104"/>
                <a:gd name="T8" fmla="*/ 0 w 138"/>
                <a:gd name="T9" fmla="*/ 1 h 104"/>
                <a:gd name="T10" fmla="*/ 1 w 138"/>
                <a:gd name="T11" fmla="*/ 1 h 104"/>
                <a:gd name="T12" fmla="*/ 1 w 138"/>
                <a:gd name="T13" fmla="*/ 1 h 104"/>
                <a:gd name="T14" fmla="*/ 1 w 138"/>
                <a:gd name="T15" fmla="*/ 1 h 104"/>
                <a:gd name="T16" fmla="*/ 1 w 138"/>
                <a:gd name="T17" fmla="*/ 1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8" h="104">
                  <a:moveTo>
                    <a:pt x="138" y="59"/>
                  </a:moveTo>
                  <a:lnTo>
                    <a:pt x="108" y="29"/>
                  </a:lnTo>
                  <a:lnTo>
                    <a:pt x="59" y="0"/>
                  </a:lnTo>
                  <a:lnTo>
                    <a:pt x="4" y="25"/>
                  </a:lnTo>
                  <a:lnTo>
                    <a:pt x="0" y="67"/>
                  </a:lnTo>
                  <a:lnTo>
                    <a:pt x="51" y="67"/>
                  </a:lnTo>
                  <a:lnTo>
                    <a:pt x="63" y="104"/>
                  </a:lnTo>
                  <a:lnTo>
                    <a:pt x="108" y="104"/>
                  </a:lnTo>
                  <a:lnTo>
                    <a:pt x="138" y="59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2" name="Freeform 39"/>
            <p:cNvSpPr>
              <a:spLocks/>
            </p:cNvSpPr>
            <p:nvPr/>
          </p:nvSpPr>
          <p:spPr bwMode="auto">
            <a:xfrm>
              <a:off x="3642" y="2037"/>
              <a:ext cx="42" cy="26"/>
            </a:xfrm>
            <a:custGeom>
              <a:avLst/>
              <a:gdLst>
                <a:gd name="T0" fmla="*/ 0 w 85"/>
                <a:gd name="T1" fmla="*/ 0 h 53"/>
                <a:gd name="T2" fmla="*/ 0 w 85"/>
                <a:gd name="T3" fmla="*/ 0 h 53"/>
                <a:gd name="T4" fmla="*/ 0 w 85"/>
                <a:gd name="T5" fmla="*/ 0 h 53"/>
                <a:gd name="T6" fmla="*/ 0 w 85"/>
                <a:gd name="T7" fmla="*/ 0 h 53"/>
                <a:gd name="T8" fmla="*/ 0 w 85"/>
                <a:gd name="T9" fmla="*/ 0 h 53"/>
                <a:gd name="T10" fmla="*/ 0 w 85"/>
                <a:gd name="T11" fmla="*/ 0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53">
                  <a:moveTo>
                    <a:pt x="85" y="18"/>
                  </a:moveTo>
                  <a:lnTo>
                    <a:pt x="43" y="0"/>
                  </a:lnTo>
                  <a:lnTo>
                    <a:pt x="4" y="22"/>
                  </a:lnTo>
                  <a:lnTo>
                    <a:pt x="0" y="53"/>
                  </a:lnTo>
                  <a:lnTo>
                    <a:pt x="33" y="25"/>
                  </a:lnTo>
                  <a:lnTo>
                    <a:pt x="85" y="18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3" name="Freeform 40"/>
            <p:cNvSpPr>
              <a:spLocks/>
            </p:cNvSpPr>
            <p:nvPr/>
          </p:nvSpPr>
          <p:spPr bwMode="auto">
            <a:xfrm>
              <a:off x="3677" y="2048"/>
              <a:ext cx="35" cy="28"/>
            </a:xfrm>
            <a:custGeom>
              <a:avLst/>
              <a:gdLst>
                <a:gd name="T0" fmla="*/ 1 w 69"/>
                <a:gd name="T1" fmla="*/ 1 h 54"/>
                <a:gd name="T2" fmla="*/ 1 w 69"/>
                <a:gd name="T3" fmla="*/ 0 h 54"/>
                <a:gd name="T4" fmla="*/ 0 w 69"/>
                <a:gd name="T5" fmla="*/ 1 h 54"/>
                <a:gd name="T6" fmla="*/ 1 w 69"/>
                <a:gd name="T7" fmla="*/ 1 h 54"/>
                <a:gd name="T8" fmla="*/ 1 w 69"/>
                <a:gd name="T9" fmla="*/ 1 h 54"/>
                <a:gd name="T10" fmla="*/ 1 w 69"/>
                <a:gd name="T11" fmla="*/ 1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54">
                  <a:moveTo>
                    <a:pt x="69" y="22"/>
                  </a:moveTo>
                  <a:lnTo>
                    <a:pt x="39" y="0"/>
                  </a:lnTo>
                  <a:lnTo>
                    <a:pt x="0" y="22"/>
                  </a:lnTo>
                  <a:lnTo>
                    <a:pt x="18" y="54"/>
                  </a:lnTo>
                  <a:lnTo>
                    <a:pt x="59" y="54"/>
                  </a:lnTo>
                  <a:lnTo>
                    <a:pt x="69" y="22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" name="Freeform 41"/>
            <p:cNvSpPr>
              <a:spLocks/>
            </p:cNvSpPr>
            <p:nvPr/>
          </p:nvSpPr>
          <p:spPr bwMode="auto">
            <a:xfrm>
              <a:off x="3661" y="2078"/>
              <a:ext cx="39" cy="13"/>
            </a:xfrm>
            <a:custGeom>
              <a:avLst/>
              <a:gdLst>
                <a:gd name="T0" fmla="*/ 0 w 81"/>
                <a:gd name="T1" fmla="*/ 1 h 25"/>
                <a:gd name="T2" fmla="*/ 0 w 81"/>
                <a:gd name="T3" fmla="*/ 0 h 25"/>
                <a:gd name="T4" fmla="*/ 0 w 81"/>
                <a:gd name="T5" fmla="*/ 1 h 25"/>
                <a:gd name="T6" fmla="*/ 0 w 81"/>
                <a:gd name="T7" fmla="*/ 1 h 25"/>
                <a:gd name="T8" fmla="*/ 0 w 81"/>
                <a:gd name="T9" fmla="*/ 1 h 25"/>
                <a:gd name="T10" fmla="*/ 0 w 81"/>
                <a:gd name="T11" fmla="*/ 1 h 25"/>
                <a:gd name="T12" fmla="*/ 0 w 81"/>
                <a:gd name="T13" fmla="*/ 1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25">
                  <a:moveTo>
                    <a:pt x="34" y="5"/>
                  </a:moveTo>
                  <a:lnTo>
                    <a:pt x="0" y="0"/>
                  </a:lnTo>
                  <a:lnTo>
                    <a:pt x="8" y="21"/>
                  </a:lnTo>
                  <a:lnTo>
                    <a:pt x="40" y="25"/>
                  </a:lnTo>
                  <a:lnTo>
                    <a:pt x="81" y="25"/>
                  </a:lnTo>
                  <a:lnTo>
                    <a:pt x="81" y="4"/>
                  </a:lnTo>
                  <a:lnTo>
                    <a:pt x="34" y="5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5" name="Freeform 42"/>
            <p:cNvSpPr>
              <a:spLocks/>
            </p:cNvSpPr>
            <p:nvPr/>
          </p:nvSpPr>
          <p:spPr bwMode="auto">
            <a:xfrm>
              <a:off x="3639" y="1857"/>
              <a:ext cx="122" cy="78"/>
            </a:xfrm>
            <a:custGeom>
              <a:avLst/>
              <a:gdLst>
                <a:gd name="T0" fmla="*/ 1 w 242"/>
                <a:gd name="T1" fmla="*/ 0 h 156"/>
                <a:gd name="T2" fmla="*/ 1 w 242"/>
                <a:gd name="T3" fmla="*/ 1 h 156"/>
                <a:gd name="T4" fmla="*/ 1 w 242"/>
                <a:gd name="T5" fmla="*/ 1 h 156"/>
                <a:gd name="T6" fmla="*/ 1 w 242"/>
                <a:gd name="T7" fmla="*/ 1 h 156"/>
                <a:gd name="T8" fmla="*/ 1 w 242"/>
                <a:gd name="T9" fmla="*/ 1 h 156"/>
                <a:gd name="T10" fmla="*/ 1 w 242"/>
                <a:gd name="T11" fmla="*/ 1 h 156"/>
                <a:gd name="T12" fmla="*/ 0 w 242"/>
                <a:gd name="T13" fmla="*/ 1 h 156"/>
                <a:gd name="T14" fmla="*/ 1 w 242"/>
                <a:gd name="T15" fmla="*/ 1 h 156"/>
                <a:gd name="T16" fmla="*/ 1 w 242"/>
                <a:gd name="T17" fmla="*/ 0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2" h="156">
                  <a:moveTo>
                    <a:pt x="104" y="0"/>
                  </a:moveTo>
                  <a:lnTo>
                    <a:pt x="193" y="89"/>
                  </a:lnTo>
                  <a:lnTo>
                    <a:pt x="242" y="156"/>
                  </a:lnTo>
                  <a:lnTo>
                    <a:pt x="181" y="125"/>
                  </a:lnTo>
                  <a:lnTo>
                    <a:pt x="97" y="75"/>
                  </a:lnTo>
                  <a:lnTo>
                    <a:pt x="37" y="89"/>
                  </a:lnTo>
                  <a:lnTo>
                    <a:pt x="0" y="65"/>
                  </a:lnTo>
                  <a:lnTo>
                    <a:pt x="37" y="34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6" name="Freeform 43"/>
            <p:cNvSpPr>
              <a:spLocks/>
            </p:cNvSpPr>
            <p:nvPr/>
          </p:nvSpPr>
          <p:spPr bwMode="auto">
            <a:xfrm>
              <a:off x="3496" y="2546"/>
              <a:ext cx="412" cy="221"/>
            </a:xfrm>
            <a:custGeom>
              <a:avLst/>
              <a:gdLst>
                <a:gd name="T0" fmla="*/ 2 w 822"/>
                <a:gd name="T1" fmla="*/ 0 h 445"/>
                <a:gd name="T2" fmla="*/ 2 w 822"/>
                <a:gd name="T3" fmla="*/ 0 h 445"/>
                <a:gd name="T4" fmla="*/ 2 w 822"/>
                <a:gd name="T5" fmla="*/ 0 h 445"/>
                <a:gd name="T6" fmla="*/ 2 w 822"/>
                <a:gd name="T7" fmla="*/ 0 h 445"/>
                <a:gd name="T8" fmla="*/ 1 w 822"/>
                <a:gd name="T9" fmla="*/ 0 h 445"/>
                <a:gd name="T10" fmla="*/ 1 w 822"/>
                <a:gd name="T11" fmla="*/ 0 h 445"/>
                <a:gd name="T12" fmla="*/ 1 w 822"/>
                <a:gd name="T13" fmla="*/ 0 h 445"/>
                <a:gd name="T14" fmla="*/ 0 w 822"/>
                <a:gd name="T15" fmla="*/ 0 h 445"/>
                <a:gd name="T16" fmla="*/ 1 w 822"/>
                <a:gd name="T17" fmla="*/ 0 h 445"/>
                <a:gd name="T18" fmla="*/ 1 w 822"/>
                <a:gd name="T19" fmla="*/ 0 h 445"/>
                <a:gd name="T20" fmla="*/ 1 w 822"/>
                <a:gd name="T21" fmla="*/ 0 h 445"/>
                <a:gd name="T22" fmla="*/ 1 w 822"/>
                <a:gd name="T23" fmla="*/ 0 h 445"/>
                <a:gd name="T24" fmla="*/ 2 w 822"/>
                <a:gd name="T25" fmla="*/ 0 h 445"/>
                <a:gd name="T26" fmla="*/ 2 w 822"/>
                <a:gd name="T27" fmla="*/ 0 h 445"/>
                <a:gd name="T28" fmla="*/ 2 w 822"/>
                <a:gd name="T29" fmla="*/ 0 h 445"/>
                <a:gd name="T30" fmla="*/ 2 w 822"/>
                <a:gd name="T31" fmla="*/ 0 h 445"/>
                <a:gd name="T32" fmla="*/ 2 w 822"/>
                <a:gd name="T33" fmla="*/ 0 h 4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22" h="445">
                  <a:moveTo>
                    <a:pt x="822" y="35"/>
                  </a:moveTo>
                  <a:lnTo>
                    <a:pt x="690" y="0"/>
                  </a:lnTo>
                  <a:lnTo>
                    <a:pt x="682" y="120"/>
                  </a:lnTo>
                  <a:lnTo>
                    <a:pt x="580" y="223"/>
                  </a:lnTo>
                  <a:lnTo>
                    <a:pt x="359" y="223"/>
                  </a:lnTo>
                  <a:lnTo>
                    <a:pt x="221" y="158"/>
                  </a:lnTo>
                  <a:lnTo>
                    <a:pt x="128" y="158"/>
                  </a:lnTo>
                  <a:lnTo>
                    <a:pt x="0" y="213"/>
                  </a:lnTo>
                  <a:lnTo>
                    <a:pt x="28" y="445"/>
                  </a:lnTo>
                  <a:lnTo>
                    <a:pt x="128" y="343"/>
                  </a:lnTo>
                  <a:lnTo>
                    <a:pt x="314" y="343"/>
                  </a:lnTo>
                  <a:lnTo>
                    <a:pt x="491" y="343"/>
                  </a:lnTo>
                  <a:lnTo>
                    <a:pt x="672" y="305"/>
                  </a:lnTo>
                  <a:lnTo>
                    <a:pt x="717" y="362"/>
                  </a:lnTo>
                  <a:lnTo>
                    <a:pt x="737" y="240"/>
                  </a:lnTo>
                  <a:lnTo>
                    <a:pt x="802" y="130"/>
                  </a:lnTo>
                  <a:lnTo>
                    <a:pt x="822" y="35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7" name="Freeform 44"/>
            <p:cNvSpPr>
              <a:spLocks/>
            </p:cNvSpPr>
            <p:nvPr/>
          </p:nvSpPr>
          <p:spPr bwMode="auto">
            <a:xfrm>
              <a:off x="3412" y="2072"/>
              <a:ext cx="163" cy="271"/>
            </a:xfrm>
            <a:custGeom>
              <a:avLst/>
              <a:gdLst>
                <a:gd name="T0" fmla="*/ 1 w 325"/>
                <a:gd name="T1" fmla="*/ 1 h 541"/>
                <a:gd name="T2" fmla="*/ 1 w 325"/>
                <a:gd name="T3" fmla="*/ 1 h 541"/>
                <a:gd name="T4" fmla="*/ 1 w 325"/>
                <a:gd name="T5" fmla="*/ 1 h 541"/>
                <a:gd name="T6" fmla="*/ 1 w 325"/>
                <a:gd name="T7" fmla="*/ 2 h 541"/>
                <a:gd name="T8" fmla="*/ 1 w 325"/>
                <a:gd name="T9" fmla="*/ 2 h 541"/>
                <a:gd name="T10" fmla="*/ 1 w 325"/>
                <a:gd name="T11" fmla="*/ 1 h 541"/>
                <a:gd name="T12" fmla="*/ 1 w 325"/>
                <a:gd name="T13" fmla="*/ 1 h 541"/>
                <a:gd name="T14" fmla="*/ 1 w 325"/>
                <a:gd name="T15" fmla="*/ 1 h 541"/>
                <a:gd name="T16" fmla="*/ 1 w 325"/>
                <a:gd name="T17" fmla="*/ 1 h 541"/>
                <a:gd name="T18" fmla="*/ 1 w 325"/>
                <a:gd name="T19" fmla="*/ 1 h 541"/>
                <a:gd name="T20" fmla="*/ 1 w 325"/>
                <a:gd name="T21" fmla="*/ 1 h 541"/>
                <a:gd name="T22" fmla="*/ 0 w 325"/>
                <a:gd name="T23" fmla="*/ 1 h 541"/>
                <a:gd name="T24" fmla="*/ 0 w 325"/>
                <a:gd name="T25" fmla="*/ 0 h 541"/>
                <a:gd name="T26" fmla="*/ 1 w 325"/>
                <a:gd name="T27" fmla="*/ 1 h 541"/>
                <a:gd name="T28" fmla="*/ 1 w 325"/>
                <a:gd name="T29" fmla="*/ 1 h 541"/>
                <a:gd name="T30" fmla="*/ 1 w 325"/>
                <a:gd name="T31" fmla="*/ 1 h 541"/>
                <a:gd name="T32" fmla="*/ 1 w 325"/>
                <a:gd name="T33" fmla="*/ 1 h 541"/>
                <a:gd name="T34" fmla="*/ 1 w 325"/>
                <a:gd name="T35" fmla="*/ 1 h 541"/>
                <a:gd name="T36" fmla="*/ 1 w 325"/>
                <a:gd name="T37" fmla="*/ 1 h 5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25" h="541">
                  <a:moveTo>
                    <a:pt x="122" y="392"/>
                  </a:moveTo>
                  <a:lnTo>
                    <a:pt x="167" y="445"/>
                  </a:lnTo>
                  <a:lnTo>
                    <a:pt x="278" y="474"/>
                  </a:lnTo>
                  <a:lnTo>
                    <a:pt x="325" y="541"/>
                  </a:lnTo>
                  <a:lnTo>
                    <a:pt x="225" y="516"/>
                  </a:lnTo>
                  <a:lnTo>
                    <a:pt x="167" y="466"/>
                  </a:lnTo>
                  <a:lnTo>
                    <a:pt x="87" y="364"/>
                  </a:lnTo>
                  <a:lnTo>
                    <a:pt x="59" y="305"/>
                  </a:lnTo>
                  <a:lnTo>
                    <a:pt x="75" y="242"/>
                  </a:lnTo>
                  <a:lnTo>
                    <a:pt x="59" y="189"/>
                  </a:lnTo>
                  <a:lnTo>
                    <a:pt x="33" y="102"/>
                  </a:lnTo>
                  <a:lnTo>
                    <a:pt x="0" y="86"/>
                  </a:lnTo>
                  <a:lnTo>
                    <a:pt x="0" y="0"/>
                  </a:lnTo>
                  <a:lnTo>
                    <a:pt x="81" y="102"/>
                  </a:lnTo>
                  <a:lnTo>
                    <a:pt x="122" y="252"/>
                  </a:lnTo>
                  <a:lnTo>
                    <a:pt x="138" y="295"/>
                  </a:lnTo>
                  <a:lnTo>
                    <a:pt x="150" y="354"/>
                  </a:lnTo>
                  <a:lnTo>
                    <a:pt x="112" y="354"/>
                  </a:lnTo>
                  <a:lnTo>
                    <a:pt x="122" y="392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8" name="Freeform 45"/>
            <p:cNvSpPr>
              <a:spLocks/>
            </p:cNvSpPr>
            <p:nvPr/>
          </p:nvSpPr>
          <p:spPr bwMode="auto">
            <a:xfrm>
              <a:off x="3612" y="1996"/>
              <a:ext cx="79" cy="94"/>
            </a:xfrm>
            <a:custGeom>
              <a:avLst/>
              <a:gdLst>
                <a:gd name="T0" fmla="*/ 1 w 157"/>
                <a:gd name="T1" fmla="*/ 1 h 187"/>
                <a:gd name="T2" fmla="*/ 1 w 157"/>
                <a:gd name="T3" fmla="*/ 1 h 187"/>
                <a:gd name="T4" fmla="*/ 1 w 157"/>
                <a:gd name="T5" fmla="*/ 1 h 187"/>
                <a:gd name="T6" fmla="*/ 1 w 157"/>
                <a:gd name="T7" fmla="*/ 1 h 187"/>
                <a:gd name="T8" fmla="*/ 1 w 157"/>
                <a:gd name="T9" fmla="*/ 1 h 187"/>
                <a:gd name="T10" fmla="*/ 1 w 157"/>
                <a:gd name="T11" fmla="*/ 1 h 187"/>
                <a:gd name="T12" fmla="*/ 1 w 157"/>
                <a:gd name="T13" fmla="*/ 1 h 187"/>
                <a:gd name="T14" fmla="*/ 0 w 157"/>
                <a:gd name="T15" fmla="*/ 1 h 187"/>
                <a:gd name="T16" fmla="*/ 0 w 157"/>
                <a:gd name="T17" fmla="*/ 1 h 187"/>
                <a:gd name="T18" fmla="*/ 1 w 157"/>
                <a:gd name="T19" fmla="*/ 1 h 187"/>
                <a:gd name="T20" fmla="*/ 1 w 157"/>
                <a:gd name="T21" fmla="*/ 0 h 187"/>
                <a:gd name="T22" fmla="*/ 1 w 157"/>
                <a:gd name="T23" fmla="*/ 1 h 18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187">
                  <a:moveTo>
                    <a:pt x="157" y="10"/>
                  </a:moveTo>
                  <a:lnTo>
                    <a:pt x="157" y="63"/>
                  </a:lnTo>
                  <a:lnTo>
                    <a:pt x="157" y="107"/>
                  </a:lnTo>
                  <a:lnTo>
                    <a:pt x="116" y="69"/>
                  </a:lnTo>
                  <a:lnTo>
                    <a:pt x="73" y="97"/>
                  </a:lnTo>
                  <a:lnTo>
                    <a:pt x="41" y="134"/>
                  </a:lnTo>
                  <a:lnTo>
                    <a:pt x="31" y="187"/>
                  </a:lnTo>
                  <a:lnTo>
                    <a:pt x="0" y="116"/>
                  </a:lnTo>
                  <a:lnTo>
                    <a:pt x="0" y="63"/>
                  </a:lnTo>
                  <a:lnTo>
                    <a:pt x="41" y="10"/>
                  </a:lnTo>
                  <a:lnTo>
                    <a:pt x="100" y="0"/>
                  </a:lnTo>
                  <a:lnTo>
                    <a:pt x="157" y="1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9" name="Freeform 46"/>
            <p:cNvSpPr>
              <a:spLocks/>
            </p:cNvSpPr>
            <p:nvPr/>
          </p:nvSpPr>
          <p:spPr bwMode="auto">
            <a:xfrm>
              <a:off x="3630" y="2067"/>
              <a:ext cx="38" cy="45"/>
            </a:xfrm>
            <a:custGeom>
              <a:avLst/>
              <a:gdLst>
                <a:gd name="T0" fmla="*/ 1 w 75"/>
                <a:gd name="T1" fmla="*/ 0 h 91"/>
                <a:gd name="T2" fmla="*/ 1 w 75"/>
                <a:gd name="T3" fmla="*/ 0 h 91"/>
                <a:gd name="T4" fmla="*/ 0 w 75"/>
                <a:gd name="T5" fmla="*/ 0 h 91"/>
                <a:gd name="T6" fmla="*/ 1 w 75"/>
                <a:gd name="T7" fmla="*/ 0 h 91"/>
                <a:gd name="T8" fmla="*/ 1 w 75"/>
                <a:gd name="T9" fmla="*/ 0 h 91"/>
                <a:gd name="T10" fmla="*/ 1 w 75"/>
                <a:gd name="T11" fmla="*/ 0 h 91"/>
                <a:gd name="T12" fmla="*/ 1 w 75"/>
                <a:gd name="T13" fmla="*/ 0 h 91"/>
                <a:gd name="T14" fmla="*/ 1 w 75"/>
                <a:gd name="T15" fmla="*/ 0 h 91"/>
                <a:gd name="T16" fmla="*/ 1 w 75"/>
                <a:gd name="T17" fmla="*/ 0 h 91"/>
                <a:gd name="T18" fmla="*/ 1 w 75"/>
                <a:gd name="T19" fmla="*/ 0 h 9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5" h="91">
                  <a:moveTo>
                    <a:pt x="75" y="0"/>
                  </a:moveTo>
                  <a:lnTo>
                    <a:pt x="34" y="22"/>
                  </a:lnTo>
                  <a:lnTo>
                    <a:pt x="0" y="43"/>
                  </a:lnTo>
                  <a:lnTo>
                    <a:pt x="12" y="91"/>
                  </a:lnTo>
                  <a:lnTo>
                    <a:pt x="65" y="91"/>
                  </a:lnTo>
                  <a:lnTo>
                    <a:pt x="44" y="43"/>
                  </a:lnTo>
                  <a:lnTo>
                    <a:pt x="50" y="35"/>
                  </a:lnTo>
                  <a:lnTo>
                    <a:pt x="59" y="18"/>
                  </a:lnTo>
                  <a:lnTo>
                    <a:pt x="71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0" name="Freeform 47"/>
            <p:cNvSpPr>
              <a:spLocks/>
            </p:cNvSpPr>
            <p:nvPr/>
          </p:nvSpPr>
          <p:spPr bwMode="auto">
            <a:xfrm>
              <a:off x="3586" y="1924"/>
              <a:ext cx="111" cy="145"/>
            </a:xfrm>
            <a:custGeom>
              <a:avLst/>
              <a:gdLst>
                <a:gd name="T0" fmla="*/ 1 w 222"/>
                <a:gd name="T1" fmla="*/ 0 h 292"/>
                <a:gd name="T2" fmla="*/ 1 w 222"/>
                <a:gd name="T3" fmla="*/ 0 h 292"/>
                <a:gd name="T4" fmla="*/ 1 w 222"/>
                <a:gd name="T5" fmla="*/ 0 h 292"/>
                <a:gd name="T6" fmla="*/ 0 w 222"/>
                <a:gd name="T7" fmla="*/ 0 h 292"/>
                <a:gd name="T8" fmla="*/ 0 w 222"/>
                <a:gd name="T9" fmla="*/ 0 h 292"/>
                <a:gd name="T10" fmla="*/ 1 w 222"/>
                <a:gd name="T11" fmla="*/ 0 h 292"/>
                <a:gd name="T12" fmla="*/ 1 w 222"/>
                <a:gd name="T13" fmla="*/ 0 h 292"/>
                <a:gd name="T14" fmla="*/ 1 w 222"/>
                <a:gd name="T15" fmla="*/ 0 h 292"/>
                <a:gd name="T16" fmla="*/ 1 w 222"/>
                <a:gd name="T17" fmla="*/ 0 h 292"/>
                <a:gd name="T18" fmla="*/ 1 w 222"/>
                <a:gd name="T19" fmla="*/ 0 h 292"/>
                <a:gd name="T20" fmla="*/ 1 w 222"/>
                <a:gd name="T21" fmla="*/ 0 h 2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22" h="292">
                  <a:moveTo>
                    <a:pt x="222" y="0"/>
                  </a:moveTo>
                  <a:lnTo>
                    <a:pt x="88" y="54"/>
                  </a:lnTo>
                  <a:lnTo>
                    <a:pt x="35" y="115"/>
                  </a:lnTo>
                  <a:lnTo>
                    <a:pt x="0" y="199"/>
                  </a:lnTo>
                  <a:lnTo>
                    <a:pt x="0" y="264"/>
                  </a:lnTo>
                  <a:lnTo>
                    <a:pt x="31" y="292"/>
                  </a:lnTo>
                  <a:lnTo>
                    <a:pt x="31" y="199"/>
                  </a:lnTo>
                  <a:lnTo>
                    <a:pt x="63" y="168"/>
                  </a:lnTo>
                  <a:lnTo>
                    <a:pt x="116" y="109"/>
                  </a:lnTo>
                  <a:lnTo>
                    <a:pt x="169" y="10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1" name="Freeform 48"/>
            <p:cNvSpPr>
              <a:spLocks/>
            </p:cNvSpPr>
            <p:nvPr/>
          </p:nvSpPr>
          <p:spPr bwMode="auto">
            <a:xfrm>
              <a:off x="3500" y="1929"/>
              <a:ext cx="135" cy="271"/>
            </a:xfrm>
            <a:custGeom>
              <a:avLst/>
              <a:gdLst>
                <a:gd name="T0" fmla="*/ 0 w 272"/>
                <a:gd name="T1" fmla="*/ 0 h 542"/>
                <a:gd name="T2" fmla="*/ 0 w 272"/>
                <a:gd name="T3" fmla="*/ 0 h 542"/>
                <a:gd name="T4" fmla="*/ 0 w 272"/>
                <a:gd name="T5" fmla="*/ 1 h 542"/>
                <a:gd name="T6" fmla="*/ 0 w 272"/>
                <a:gd name="T7" fmla="*/ 1 h 542"/>
                <a:gd name="T8" fmla="*/ 0 w 272"/>
                <a:gd name="T9" fmla="*/ 1 h 542"/>
                <a:gd name="T10" fmla="*/ 0 w 272"/>
                <a:gd name="T11" fmla="*/ 1 h 542"/>
                <a:gd name="T12" fmla="*/ 0 w 272"/>
                <a:gd name="T13" fmla="*/ 1 h 542"/>
                <a:gd name="T14" fmla="*/ 0 w 272"/>
                <a:gd name="T15" fmla="*/ 2 h 542"/>
                <a:gd name="T16" fmla="*/ 0 w 272"/>
                <a:gd name="T17" fmla="*/ 1 h 542"/>
                <a:gd name="T18" fmla="*/ 0 w 272"/>
                <a:gd name="T19" fmla="*/ 1 h 542"/>
                <a:gd name="T20" fmla="*/ 0 w 272"/>
                <a:gd name="T21" fmla="*/ 1 h 542"/>
                <a:gd name="T22" fmla="*/ 0 w 272"/>
                <a:gd name="T23" fmla="*/ 1 h 542"/>
                <a:gd name="T24" fmla="*/ 0 w 272"/>
                <a:gd name="T25" fmla="*/ 1 h 542"/>
                <a:gd name="T26" fmla="*/ 0 w 272"/>
                <a:gd name="T27" fmla="*/ 1 h 542"/>
                <a:gd name="T28" fmla="*/ 0 w 272"/>
                <a:gd name="T29" fmla="*/ 1 h 542"/>
                <a:gd name="T30" fmla="*/ 0 w 272"/>
                <a:gd name="T31" fmla="*/ 1 h 542"/>
                <a:gd name="T32" fmla="*/ 0 w 272"/>
                <a:gd name="T33" fmla="*/ 1 h 542"/>
                <a:gd name="T34" fmla="*/ 0 w 272"/>
                <a:gd name="T35" fmla="*/ 1 h 542"/>
                <a:gd name="T36" fmla="*/ 0 w 272"/>
                <a:gd name="T37" fmla="*/ 1 h 542"/>
                <a:gd name="T38" fmla="*/ 0 w 272"/>
                <a:gd name="T39" fmla="*/ 1 h 542"/>
                <a:gd name="T40" fmla="*/ 0 w 272"/>
                <a:gd name="T41" fmla="*/ 1 h 542"/>
                <a:gd name="T42" fmla="*/ 0 w 272"/>
                <a:gd name="T43" fmla="*/ 1 h 542"/>
                <a:gd name="T44" fmla="*/ 0 w 272"/>
                <a:gd name="T45" fmla="*/ 0 h 54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72" h="542">
                  <a:moveTo>
                    <a:pt x="272" y="0"/>
                  </a:moveTo>
                  <a:lnTo>
                    <a:pt x="172" y="0"/>
                  </a:lnTo>
                  <a:lnTo>
                    <a:pt x="134" y="49"/>
                  </a:lnTo>
                  <a:lnTo>
                    <a:pt x="32" y="134"/>
                  </a:lnTo>
                  <a:lnTo>
                    <a:pt x="0" y="215"/>
                  </a:lnTo>
                  <a:lnTo>
                    <a:pt x="0" y="402"/>
                  </a:lnTo>
                  <a:lnTo>
                    <a:pt x="12" y="489"/>
                  </a:lnTo>
                  <a:lnTo>
                    <a:pt x="44" y="542"/>
                  </a:lnTo>
                  <a:lnTo>
                    <a:pt x="44" y="451"/>
                  </a:lnTo>
                  <a:lnTo>
                    <a:pt x="16" y="321"/>
                  </a:lnTo>
                  <a:lnTo>
                    <a:pt x="79" y="335"/>
                  </a:lnTo>
                  <a:lnTo>
                    <a:pt x="65" y="205"/>
                  </a:lnTo>
                  <a:lnTo>
                    <a:pt x="91" y="150"/>
                  </a:lnTo>
                  <a:lnTo>
                    <a:pt x="162" y="116"/>
                  </a:lnTo>
                  <a:lnTo>
                    <a:pt x="199" y="38"/>
                  </a:lnTo>
                  <a:lnTo>
                    <a:pt x="203" y="36"/>
                  </a:lnTo>
                  <a:lnTo>
                    <a:pt x="211" y="32"/>
                  </a:lnTo>
                  <a:lnTo>
                    <a:pt x="223" y="26"/>
                  </a:lnTo>
                  <a:lnTo>
                    <a:pt x="237" y="18"/>
                  </a:lnTo>
                  <a:lnTo>
                    <a:pt x="251" y="12"/>
                  </a:lnTo>
                  <a:lnTo>
                    <a:pt x="262" y="6"/>
                  </a:lnTo>
                  <a:lnTo>
                    <a:pt x="270" y="2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2" name="Freeform 49"/>
            <p:cNvSpPr>
              <a:spLocks/>
            </p:cNvSpPr>
            <p:nvPr/>
          </p:nvSpPr>
          <p:spPr bwMode="auto">
            <a:xfrm>
              <a:off x="3511" y="2101"/>
              <a:ext cx="47" cy="140"/>
            </a:xfrm>
            <a:custGeom>
              <a:avLst/>
              <a:gdLst>
                <a:gd name="T0" fmla="*/ 1 w 91"/>
                <a:gd name="T1" fmla="*/ 1 h 279"/>
                <a:gd name="T2" fmla="*/ 1 w 91"/>
                <a:gd name="T3" fmla="*/ 0 h 279"/>
                <a:gd name="T4" fmla="*/ 0 w 91"/>
                <a:gd name="T5" fmla="*/ 0 h 279"/>
                <a:gd name="T6" fmla="*/ 1 w 91"/>
                <a:gd name="T7" fmla="*/ 1 h 279"/>
                <a:gd name="T8" fmla="*/ 1 w 91"/>
                <a:gd name="T9" fmla="*/ 1 h 279"/>
                <a:gd name="T10" fmla="*/ 1 w 91"/>
                <a:gd name="T11" fmla="*/ 1 h 279"/>
                <a:gd name="T12" fmla="*/ 1 w 91"/>
                <a:gd name="T13" fmla="*/ 1 h 279"/>
                <a:gd name="T14" fmla="*/ 1 w 91"/>
                <a:gd name="T15" fmla="*/ 1 h 279"/>
                <a:gd name="T16" fmla="*/ 1 w 91"/>
                <a:gd name="T17" fmla="*/ 1 h 279"/>
                <a:gd name="T18" fmla="*/ 1 w 91"/>
                <a:gd name="T19" fmla="*/ 1 h 279"/>
                <a:gd name="T20" fmla="*/ 1 w 91"/>
                <a:gd name="T21" fmla="*/ 1 h 279"/>
                <a:gd name="T22" fmla="*/ 1 w 91"/>
                <a:gd name="T23" fmla="*/ 1 h 2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1" h="279">
                  <a:moveTo>
                    <a:pt x="47" y="49"/>
                  </a:moveTo>
                  <a:lnTo>
                    <a:pt x="43" y="0"/>
                  </a:lnTo>
                  <a:lnTo>
                    <a:pt x="0" y="0"/>
                  </a:lnTo>
                  <a:lnTo>
                    <a:pt x="22" y="81"/>
                  </a:lnTo>
                  <a:lnTo>
                    <a:pt x="22" y="167"/>
                  </a:lnTo>
                  <a:lnTo>
                    <a:pt x="28" y="226"/>
                  </a:lnTo>
                  <a:lnTo>
                    <a:pt x="91" y="279"/>
                  </a:lnTo>
                  <a:lnTo>
                    <a:pt x="63" y="183"/>
                  </a:lnTo>
                  <a:lnTo>
                    <a:pt x="61" y="161"/>
                  </a:lnTo>
                  <a:lnTo>
                    <a:pt x="55" y="114"/>
                  </a:lnTo>
                  <a:lnTo>
                    <a:pt x="49" y="67"/>
                  </a:lnTo>
                  <a:lnTo>
                    <a:pt x="47" y="49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3" name="Freeform 50"/>
            <p:cNvSpPr>
              <a:spLocks/>
            </p:cNvSpPr>
            <p:nvPr/>
          </p:nvSpPr>
          <p:spPr bwMode="auto">
            <a:xfrm>
              <a:off x="3714" y="2067"/>
              <a:ext cx="36" cy="30"/>
            </a:xfrm>
            <a:custGeom>
              <a:avLst/>
              <a:gdLst>
                <a:gd name="T0" fmla="*/ 0 w 75"/>
                <a:gd name="T1" fmla="*/ 0 h 59"/>
                <a:gd name="T2" fmla="*/ 0 w 75"/>
                <a:gd name="T3" fmla="*/ 1 h 59"/>
                <a:gd name="T4" fmla="*/ 0 w 75"/>
                <a:gd name="T5" fmla="*/ 1 h 59"/>
                <a:gd name="T6" fmla="*/ 0 w 75"/>
                <a:gd name="T7" fmla="*/ 1 h 59"/>
                <a:gd name="T8" fmla="*/ 0 w 75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59">
                  <a:moveTo>
                    <a:pt x="0" y="0"/>
                  </a:moveTo>
                  <a:lnTo>
                    <a:pt x="25" y="59"/>
                  </a:lnTo>
                  <a:lnTo>
                    <a:pt x="75" y="47"/>
                  </a:lnTo>
                  <a:lnTo>
                    <a:pt x="37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4" name="Freeform 51"/>
            <p:cNvSpPr>
              <a:spLocks/>
            </p:cNvSpPr>
            <p:nvPr/>
          </p:nvSpPr>
          <p:spPr bwMode="auto">
            <a:xfrm>
              <a:off x="3827" y="2033"/>
              <a:ext cx="82" cy="242"/>
            </a:xfrm>
            <a:custGeom>
              <a:avLst/>
              <a:gdLst>
                <a:gd name="T0" fmla="*/ 1 w 162"/>
                <a:gd name="T1" fmla="*/ 1 h 480"/>
                <a:gd name="T2" fmla="*/ 1 w 162"/>
                <a:gd name="T3" fmla="*/ 1 h 480"/>
                <a:gd name="T4" fmla="*/ 0 w 162"/>
                <a:gd name="T5" fmla="*/ 1 h 480"/>
                <a:gd name="T6" fmla="*/ 0 w 162"/>
                <a:gd name="T7" fmla="*/ 1 h 480"/>
                <a:gd name="T8" fmla="*/ 1 w 162"/>
                <a:gd name="T9" fmla="*/ 1 h 480"/>
                <a:gd name="T10" fmla="*/ 1 w 162"/>
                <a:gd name="T11" fmla="*/ 1 h 480"/>
                <a:gd name="T12" fmla="*/ 1 w 162"/>
                <a:gd name="T13" fmla="*/ 1 h 480"/>
                <a:gd name="T14" fmla="*/ 1 w 162"/>
                <a:gd name="T15" fmla="*/ 1 h 480"/>
                <a:gd name="T16" fmla="*/ 1 w 162"/>
                <a:gd name="T17" fmla="*/ 1 h 480"/>
                <a:gd name="T18" fmla="*/ 1 w 162"/>
                <a:gd name="T19" fmla="*/ 1 h 480"/>
                <a:gd name="T20" fmla="*/ 1 w 162"/>
                <a:gd name="T21" fmla="*/ 0 h 480"/>
                <a:gd name="T22" fmla="*/ 1 w 162"/>
                <a:gd name="T23" fmla="*/ 1 h 480"/>
                <a:gd name="T24" fmla="*/ 1 w 162"/>
                <a:gd name="T25" fmla="*/ 1 h 480"/>
                <a:gd name="T26" fmla="*/ 1 w 162"/>
                <a:gd name="T27" fmla="*/ 1 h 480"/>
                <a:gd name="T28" fmla="*/ 1 w 162"/>
                <a:gd name="T29" fmla="*/ 1 h 4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2" h="480">
                  <a:moveTo>
                    <a:pt x="10" y="209"/>
                  </a:moveTo>
                  <a:lnTo>
                    <a:pt x="10" y="289"/>
                  </a:lnTo>
                  <a:lnTo>
                    <a:pt x="0" y="374"/>
                  </a:lnTo>
                  <a:lnTo>
                    <a:pt x="0" y="433"/>
                  </a:lnTo>
                  <a:lnTo>
                    <a:pt x="42" y="480"/>
                  </a:lnTo>
                  <a:lnTo>
                    <a:pt x="91" y="412"/>
                  </a:lnTo>
                  <a:lnTo>
                    <a:pt x="162" y="293"/>
                  </a:lnTo>
                  <a:lnTo>
                    <a:pt x="162" y="193"/>
                  </a:lnTo>
                  <a:lnTo>
                    <a:pt x="148" y="106"/>
                  </a:lnTo>
                  <a:lnTo>
                    <a:pt x="73" y="37"/>
                  </a:lnTo>
                  <a:lnTo>
                    <a:pt x="32" y="0"/>
                  </a:lnTo>
                  <a:lnTo>
                    <a:pt x="38" y="61"/>
                  </a:lnTo>
                  <a:lnTo>
                    <a:pt x="48" y="112"/>
                  </a:lnTo>
                  <a:lnTo>
                    <a:pt x="32" y="160"/>
                  </a:lnTo>
                  <a:lnTo>
                    <a:pt x="10" y="209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5" name="Freeform 52"/>
            <p:cNvSpPr>
              <a:spLocks/>
            </p:cNvSpPr>
            <p:nvPr/>
          </p:nvSpPr>
          <p:spPr bwMode="auto">
            <a:xfrm>
              <a:off x="3710" y="2300"/>
              <a:ext cx="125" cy="77"/>
            </a:xfrm>
            <a:custGeom>
              <a:avLst/>
              <a:gdLst>
                <a:gd name="T0" fmla="*/ 1 w 250"/>
                <a:gd name="T1" fmla="*/ 0 h 153"/>
                <a:gd name="T2" fmla="*/ 1 w 250"/>
                <a:gd name="T3" fmla="*/ 0 h 153"/>
                <a:gd name="T4" fmla="*/ 1 w 250"/>
                <a:gd name="T5" fmla="*/ 1 h 153"/>
                <a:gd name="T6" fmla="*/ 1 w 250"/>
                <a:gd name="T7" fmla="*/ 1 h 153"/>
                <a:gd name="T8" fmla="*/ 0 w 250"/>
                <a:gd name="T9" fmla="*/ 1 h 153"/>
                <a:gd name="T10" fmla="*/ 1 w 250"/>
                <a:gd name="T11" fmla="*/ 1 h 153"/>
                <a:gd name="T12" fmla="*/ 1 w 250"/>
                <a:gd name="T13" fmla="*/ 1 h 153"/>
                <a:gd name="T14" fmla="*/ 1 w 250"/>
                <a:gd name="T15" fmla="*/ 0 h 1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0" h="153">
                  <a:moveTo>
                    <a:pt x="250" y="0"/>
                  </a:moveTo>
                  <a:lnTo>
                    <a:pt x="159" y="0"/>
                  </a:lnTo>
                  <a:lnTo>
                    <a:pt x="159" y="31"/>
                  </a:lnTo>
                  <a:lnTo>
                    <a:pt x="112" y="69"/>
                  </a:lnTo>
                  <a:lnTo>
                    <a:pt x="0" y="153"/>
                  </a:lnTo>
                  <a:lnTo>
                    <a:pt x="91" y="128"/>
                  </a:lnTo>
                  <a:lnTo>
                    <a:pt x="159" y="100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6" name="Freeform 53"/>
            <p:cNvSpPr>
              <a:spLocks/>
            </p:cNvSpPr>
            <p:nvPr/>
          </p:nvSpPr>
          <p:spPr bwMode="auto">
            <a:xfrm>
              <a:off x="3747" y="2175"/>
              <a:ext cx="312" cy="253"/>
            </a:xfrm>
            <a:custGeom>
              <a:avLst/>
              <a:gdLst>
                <a:gd name="T0" fmla="*/ 0 w 626"/>
                <a:gd name="T1" fmla="*/ 0 h 506"/>
                <a:gd name="T2" fmla="*/ 0 w 626"/>
                <a:gd name="T3" fmla="*/ 1 h 506"/>
                <a:gd name="T4" fmla="*/ 0 w 626"/>
                <a:gd name="T5" fmla="*/ 1 h 506"/>
                <a:gd name="T6" fmla="*/ 0 w 626"/>
                <a:gd name="T7" fmla="*/ 1 h 506"/>
                <a:gd name="T8" fmla="*/ 0 w 626"/>
                <a:gd name="T9" fmla="*/ 1 h 506"/>
                <a:gd name="T10" fmla="*/ 0 w 626"/>
                <a:gd name="T11" fmla="*/ 1 h 506"/>
                <a:gd name="T12" fmla="*/ 0 w 626"/>
                <a:gd name="T13" fmla="*/ 1 h 506"/>
                <a:gd name="T14" fmla="*/ 0 w 626"/>
                <a:gd name="T15" fmla="*/ 1 h 506"/>
                <a:gd name="T16" fmla="*/ 0 w 626"/>
                <a:gd name="T17" fmla="*/ 1 h 506"/>
                <a:gd name="T18" fmla="*/ 0 w 626"/>
                <a:gd name="T19" fmla="*/ 1 h 506"/>
                <a:gd name="T20" fmla="*/ 0 w 626"/>
                <a:gd name="T21" fmla="*/ 1 h 506"/>
                <a:gd name="T22" fmla="*/ 0 w 626"/>
                <a:gd name="T23" fmla="*/ 1 h 506"/>
                <a:gd name="T24" fmla="*/ 0 w 626"/>
                <a:gd name="T25" fmla="*/ 1 h 506"/>
                <a:gd name="T26" fmla="*/ 1 w 626"/>
                <a:gd name="T27" fmla="*/ 1 h 506"/>
                <a:gd name="T28" fmla="*/ 1 w 626"/>
                <a:gd name="T29" fmla="*/ 1 h 506"/>
                <a:gd name="T30" fmla="*/ 1 w 626"/>
                <a:gd name="T31" fmla="*/ 1 h 506"/>
                <a:gd name="T32" fmla="*/ 0 w 626"/>
                <a:gd name="T33" fmla="*/ 0 h 50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26" h="506">
                  <a:moveTo>
                    <a:pt x="512" y="0"/>
                  </a:moveTo>
                  <a:lnTo>
                    <a:pt x="429" y="175"/>
                  </a:lnTo>
                  <a:lnTo>
                    <a:pt x="398" y="194"/>
                  </a:lnTo>
                  <a:lnTo>
                    <a:pt x="429" y="267"/>
                  </a:lnTo>
                  <a:lnTo>
                    <a:pt x="382" y="319"/>
                  </a:lnTo>
                  <a:lnTo>
                    <a:pt x="281" y="328"/>
                  </a:lnTo>
                  <a:lnTo>
                    <a:pt x="232" y="409"/>
                  </a:lnTo>
                  <a:lnTo>
                    <a:pt x="106" y="468"/>
                  </a:lnTo>
                  <a:lnTo>
                    <a:pt x="0" y="506"/>
                  </a:lnTo>
                  <a:lnTo>
                    <a:pt x="114" y="506"/>
                  </a:lnTo>
                  <a:lnTo>
                    <a:pt x="250" y="506"/>
                  </a:lnTo>
                  <a:lnTo>
                    <a:pt x="429" y="425"/>
                  </a:lnTo>
                  <a:lnTo>
                    <a:pt x="496" y="330"/>
                  </a:lnTo>
                  <a:lnTo>
                    <a:pt x="538" y="222"/>
                  </a:lnTo>
                  <a:lnTo>
                    <a:pt x="626" y="147"/>
                  </a:lnTo>
                  <a:lnTo>
                    <a:pt x="555" y="39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7" name="Freeform 54"/>
            <p:cNvSpPr>
              <a:spLocks/>
            </p:cNvSpPr>
            <p:nvPr/>
          </p:nvSpPr>
          <p:spPr bwMode="auto">
            <a:xfrm>
              <a:off x="3518" y="2376"/>
              <a:ext cx="112" cy="78"/>
            </a:xfrm>
            <a:custGeom>
              <a:avLst/>
              <a:gdLst>
                <a:gd name="T0" fmla="*/ 1 w 222"/>
                <a:gd name="T1" fmla="*/ 1 h 156"/>
                <a:gd name="T2" fmla="*/ 1 w 222"/>
                <a:gd name="T3" fmla="*/ 1 h 156"/>
                <a:gd name="T4" fmla="*/ 0 w 222"/>
                <a:gd name="T5" fmla="*/ 0 h 156"/>
                <a:gd name="T6" fmla="*/ 1 w 222"/>
                <a:gd name="T7" fmla="*/ 1 h 156"/>
                <a:gd name="T8" fmla="*/ 1 w 222"/>
                <a:gd name="T9" fmla="*/ 1 h 156"/>
                <a:gd name="T10" fmla="*/ 1 w 222"/>
                <a:gd name="T11" fmla="*/ 1 h 156"/>
                <a:gd name="T12" fmla="*/ 1 w 222"/>
                <a:gd name="T13" fmla="*/ 1 h 156"/>
                <a:gd name="T14" fmla="*/ 1 w 222"/>
                <a:gd name="T15" fmla="*/ 1 h 156"/>
                <a:gd name="T16" fmla="*/ 1 w 222"/>
                <a:gd name="T17" fmla="*/ 1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2" h="156">
                  <a:moveTo>
                    <a:pt x="222" y="32"/>
                  </a:moveTo>
                  <a:lnTo>
                    <a:pt x="153" y="32"/>
                  </a:lnTo>
                  <a:lnTo>
                    <a:pt x="0" y="0"/>
                  </a:lnTo>
                  <a:lnTo>
                    <a:pt x="21" y="40"/>
                  </a:lnTo>
                  <a:lnTo>
                    <a:pt x="53" y="71"/>
                  </a:lnTo>
                  <a:lnTo>
                    <a:pt x="116" y="118"/>
                  </a:lnTo>
                  <a:lnTo>
                    <a:pt x="197" y="156"/>
                  </a:lnTo>
                  <a:lnTo>
                    <a:pt x="181" y="87"/>
                  </a:lnTo>
                  <a:lnTo>
                    <a:pt x="222" y="32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8" name="Freeform 55"/>
            <p:cNvSpPr>
              <a:spLocks/>
            </p:cNvSpPr>
            <p:nvPr/>
          </p:nvSpPr>
          <p:spPr bwMode="auto">
            <a:xfrm>
              <a:off x="3479" y="2478"/>
              <a:ext cx="420" cy="140"/>
            </a:xfrm>
            <a:custGeom>
              <a:avLst/>
              <a:gdLst>
                <a:gd name="T0" fmla="*/ 2 w 839"/>
                <a:gd name="T1" fmla="*/ 0 h 286"/>
                <a:gd name="T2" fmla="*/ 2 w 839"/>
                <a:gd name="T3" fmla="*/ 0 h 286"/>
                <a:gd name="T4" fmla="*/ 2 w 839"/>
                <a:gd name="T5" fmla="*/ 0 h 286"/>
                <a:gd name="T6" fmla="*/ 1 w 839"/>
                <a:gd name="T7" fmla="*/ 0 h 286"/>
                <a:gd name="T8" fmla="*/ 1 w 839"/>
                <a:gd name="T9" fmla="*/ 0 h 286"/>
                <a:gd name="T10" fmla="*/ 1 w 839"/>
                <a:gd name="T11" fmla="*/ 0 h 286"/>
                <a:gd name="T12" fmla="*/ 1 w 839"/>
                <a:gd name="T13" fmla="*/ 0 h 286"/>
                <a:gd name="T14" fmla="*/ 1 w 839"/>
                <a:gd name="T15" fmla="*/ 0 h 286"/>
                <a:gd name="T16" fmla="*/ 1 w 839"/>
                <a:gd name="T17" fmla="*/ 0 h 286"/>
                <a:gd name="T18" fmla="*/ 1 w 839"/>
                <a:gd name="T19" fmla="*/ 0 h 286"/>
                <a:gd name="T20" fmla="*/ 1 w 839"/>
                <a:gd name="T21" fmla="*/ 0 h 286"/>
                <a:gd name="T22" fmla="*/ 1 w 839"/>
                <a:gd name="T23" fmla="*/ 0 h 286"/>
                <a:gd name="T24" fmla="*/ 1 w 839"/>
                <a:gd name="T25" fmla="*/ 0 h 286"/>
                <a:gd name="T26" fmla="*/ 0 w 839"/>
                <a:gd name="T27" fmla="*/ 0 h 286"/>
                <a:gd name="T28" fmla="*/ 1 w 839"/>
                <a:gd name="T29" fmla="*/ 0 h 286"/>
                <a:gd name="T30" fmla="*/ 1 w 839"/>
                <a:gd name="T31" fmla="*/ 0 h 286"/>
                <a:gd name="T32" fmla="*/ 1 w 839"/>
                <a:gd name="T33" fmla="*/ 0 h 286"/>
                <a:gd name="T34" fmla="*/ 1 w 839"/>
                <a:gd name="T35" fmla="*/ 0 h 286"/>
                <a:gd name="T36" fmla="*/ 1 w 839"/>
                <a:gd name="T37" fmla="*/ 0 h 286"/>
                <a:gd name="T38" fmla="*/ 1 w 839"/>
                <a:gd name="T39" fmla="*/ 0 h 286"/>
                <a:gd name="T40" fmla="*/ 1 w 839"/>
                <a:gd name="T41" fmla="*/ 0 h 286"/>
                <a:gd name="T42" fmla="*/ 1 w 839"/>
                <a:gd name="T43" fmla="*/ 0 h 286"/>
                <a:gd name="T44" fmla="*/ 1 w 839"/>
                <a:gd name="T45" fmla="*/ 0 h 286"/>
                <a:gd name="T46" fmla="*/ 1 w 839"/>
                <a:gd name="T47" fmla="*/ 0 h 286"/>
                <a:gd name="T48" fmla="*/ 1 w 839"/>
                <a:gd name="T49" fmla="*/ 0 h 286"/>
                <a:gd name="T50" fmla="*/ 1 w 839"/>
                <a:gd name="T51" fmla="*/ 0 h 286"/>
                <a:gd name="T52" fmla="*/ 2 w 839"/>
                <a:gd name="T53" fmla="*/ 0 h 286"/>
                <a:gd name="T54" fmla="*/ 2 w 839"/>
                <a:gd name="T55" fmla="*/ 0 h 286"/>
                <a:gd name="T56" fmla="*/ 2 w 839"/>
                <a:gd name="T57" fmla="*/ 0 h 286"/>
                <a:gd name="T58" fmla="*/ 2 w 839"/>
                <a:gd name="T59" fmla="*/ 0 h 286"/>
                <a:gd name="T60" fmla="*/ 2 w 839"/>
                <a:gd name="T61" fmla="*/ 0 h 286"/>
                <a:gd name="T62" fmla="*/ 2 w 839"/>
                <a:gd name="T63" fmla="*/ 0 h 286"/>
                <a:gd name="T64" fmla="*/ 2 w 839"/>
                <a:gd name="T65" fmla="*/ 0 h 286"/>
                <a:gd name="T66" fmla="*/ 2 w 839"/>
                <a:gd name="T67" fmla="*/ 0 h 286"/>
                <a:gd name="T68" fmla="*/ 2 w 839"/>
                <a:gd name="T69" fmla="*/ 0 h 286"/>
                <a:gd name="T70" fmla="*/ 2 w 839"/>
                <a:gd name="T71" fmla="*/ 0 h 286"/>
                <a:gd name="T72" fmla="*/ 2 w 839"/>
                <a:gd name="T73" fmla="*/ 0 h 28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839" h="286">
                  <a:moveTo>
                    <a:pt x="800" y="85"/>
                  </a:moveTo>
                  <a:lnTo>
                    <a:pt x="727" y="63"/>
                  </a:lnTo>
                  <a:lnTo>
                    <a:pt x="605" y="0"/>
                  </a:lnTo>
                  <a:lnTo>
                    <a:pt x="469" y="34"/>
                  </a:lnTo>
                  <a:lnTo>
                    <a:pt x="429" y="47"/>
                  </a:lnTo>
                  <a:lnTo>
                    <a:pt x="394" y="57"/>
                  </a:lnTo>
                  <a:lnTo>
                    <a:pt x="362" y="65"/>
                  </a:lnTo>
                  <a:lnTo>
                    <a:pt x="331" y="71"/>
                  </a:lnTo>
                  <a:lnTo>
                    <a:pt x="297" y="77"/>
                  </a:lnTo>
                  <a:lnTo>
                    <a:pt x="264" y="79"/>
                  </a:lnTo>
                  <a:lnTo>
                    <a:pt x="226" y="83"/>
                  </a:lnTo>
                  <a:lnTo>
                    <a:pt x="185" y="85"/>
                  </a:lnTo>
                  <a:lnTo>
                    <a:pt x="120" y="118"/>
                  </a:lnTo>
                  <a:lnTo>
                    <a:pt x="0" y="181"/>
                  </a:lnTo>
                  <a:lnTo>
                    <a:pt x="22" y="236"/>
                  </a:lnTo>
                  <a:lnTo>
                    <a:pt x="134" y="236"/>
                  </a:lnTo>
                  <a:lnTo>
                    <a:pt x="292" y="203"/>
                  </a:lnTo>
                  <a:lnTo>
                    <a:pt x="323" y="227"/>
                  </a:lnTo>
                  <a:lnTo>
                    <a:pt x="351" y="246"/>
                  </a:lnTo>
                  <a:lnTo>
                    <a:pt x="376" y="260"/>
                  </a:lnTo>
                  <a:lnTo>
                    <a:pt x="402" y="272"/>
                  </a:lnTo>
                  <a:lnTo>
                    <a:pt x="425" y="280"/>
                  </a:lnTo>
                  <a:lnTo>
                    <a:pt x="447" y="284"/>
                  </a:lnTo>
                  <a:lnTo>
                    <a:pt x="467" y="286"/>
                  </a:lnTo>
                  <a:lnTo>
                    <a:pt x="487" y="282"/>
                  </a:lnTo>
                  <a:lnTo>
                    <a:pt x="506" y="274"/>
                  </a:lnTo>
                  <a:lnTo>
                    <a:pt x="526" y="262"/>
                  </a:lnTo>
                  <a:lnTo>
                    <a:pt x="546" y="246"/>
                  </a:lnTo>
                  <a:lnTo>
                    <a:pt x="565" y="229"/>
                  </a:lnTo>
                  <a:lnTo>
                    <a:pt x="585" y="205"/>
                  </a:lnTo>
                  <a:lnTo>
                    <a:pt x="607" y="177"/>
                  </a:lnTo>
                  <a:lnTo>
                    <a:pt x="630" y="148"/>
                  </a:lnTo>
                  <a:lnTo>
                    <a:pt x="654" y="112"/>
                  </a:lnTo>
                  <a:lnTo>
                    <a:pt x="739" y="112"/>
                  </a:lnTo>
                  <a:lnTo>
                    <a:pt x="833" y="148"/>
                  </a:lnTo>
                  <a:lnTo>
                    <a:pt x="839" y="97"/>
                  </a:lnTo>
                  <a:lnTo>
                    <a:pt x="800" y="85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9" name="Freeform 56"/>
            <p:cNvSpPr>
              <a:spLocks/>
            </p:cNvSpPr>
            <p:nvPr/>
          </p:nvSpPr>
          <p:spPr bwMode="auto">
            <a:xfrm>
              <a:off x="3548" y="2290"/>
              <a:ext cx="241" cy="70"/>
            </a:xfrm>
            <a:custGeom>
              <a:avLst/>
              <a:gdLst>
                <a:gd name="T0" fmla="*/ 1 w 481"/>
                <a:gd name="T1" fmla="*/ 0 h 142"/>
                <a:gd name="T2" fmla="*/ 1 w 481"/>
                <a:gd name="T3" fmla="*/ 0 h 142"/>
                <a:gd name="T4" fmla="*/ 1 w 481"/>
                <a:gd name="T5" fmla="*/ 0 h 142"/>
                <a:gd name="T6" fmla="*/ 1 w 481"/>
                <a:gd name="T7" fmla="*/ 0 h 142"/>
                <a:gd name="T8" fmla="*/ 1 w 481"/>
                <a:gd name="T9" fmla="*/ 0 h 142"/>
                <a:gd name="T10" fmla="*/ 0 w 481"/>
                <a:gd name="T11" fmla="*/ 0 h 142"/>
                <a:gd name="T12" fmla="*/ 1 w 481"/>
                <a:gd name="T13" fmla="*/ 0 h 142"/>
                <a:gd name="T14" fmla="*/ 1 w 481"/>
                <a:gd name="T15" fmla="*/ 0 h 142"/>
                <a:gd name="T16" fmla="*/ 1 w 481"/>
                <a:gd name="T17" fmla="*/ 0 h 142"/>
                <a:gd name="T18" fmla="*/ 1 w 481"/>
                <a:gd name="T19" fmla="*/ 0 h 142"/>
                <a:gd name="T20" fmla="*/ 1 w 481"/>
                <a:gd name="T21" fmla="*/ 0 h 142"/>
                <a:gd name="T22" fmla="*/ 1 w 481"/>
                <a:gd name="T23" fmla="*/ 0 h 1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1" h="142">
                  <a:moveTo>
                    <a:pt x="481" y="6"/>
                  </a:moveTo>
                  <a:lnTo>
                    <a:pt x="410" y="96"/>
                  </a:lnTo>
                  <a:lnTo>
                    <a:pt x="323" y="142"/>
                  </a:lnTo>
                  <a:lnTo>
                    <a:pt x="207" y="142"/>
                  </a:lnTo>
                  <a:lnTo>
                    <a:pt x="77" y="100"/>
                  </a:lnTo>
                  <a:lnTo>
                    <a:pt x="0" y="6"/>
                  </a:lnTo>
                  <a:lnTo>
                    <a:pt x="67" y="6"/>
                  </a:lnTo>
                  <a:lnTo>
                    <a:pt x="161" y="20"/>
                  </a:lnTo>
                  <a:lnTo>
                    <a:pt x="260" y="24"/>
                  </a:lnTo>
                  <a:lnTo>
                    <a:pt x="378" y="0"/>
                  </a:lnTo>
                  <a:lnTo>
                    <a:pt x="431" y="0"/>
                  </a:lnTo>
                  <a:lnTo>
                    <a:pt x="481" y="6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0" name="Freeform 57"/>
            <p:cNvSpPr>
              <a:spLocks/>
            </p:cNvSpPr>
            <p:nvPr/>
          </p:nvSpPr>
          <p:spPr bwMode="auto">
            <a:xfrm>
              <a:off x="3673" y="2104"/>
              <a:ext cx="177" cy="141"/>
            </a:xfrm>
            <a:custGeom>
              <a:avLst/>
              <a:gdLst>
                <a:gd name="T0" fmla="*/ 0 w 355"/>
                <a:gd name="T1" fmla="*/ 0 h 283"/>
                <a:gd name="T2" fmla="*/ 0 w 355"/>
                <a:gd name="T3" fmla="*/ 0 h 283"/>
                <a:gd name="T4" fmla="*/ 0 w 355"/>
                <a:gd name="T5" fmla="*/ 0 h 283"/>
                <a:gd name="T6" fmla="*/ 0 w 355"/>
                <a:gd name="T7" fmla="*/ 0 h 283"/>
                <a:gd name="T8" fmla="*/ 0 w 355"/>
                <a:gd name="T9" fmla="*/ 0 h 283"/>
                <a:gd name="T10" fmla="*/ 0 w 355"/>
                <a:gd name="T11" fmla="*/ 0 h 283"/>
                <a:gd name="T12" fmla="*/ 0 w 355"/>
                <a:gd name="T13" fmla="*/ 0 h 283"/>
                <a:gd name="T14" fmla="*/ 0 w 355"/>
                <a:gd name="T15" fmla="*/ 0 h 283"/>
                <a:gd name="T16" fmla="*/ 0 w 355"/>
                <a:gd name="T17" fmla="*/ 0 h 2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5" h="283">
                  <a:moveTo>
                    <a:pt x="355" y="0"/>
                  </a:moveTo>
                  <a:lnTo>
                    <a:pt x="256" y="116"/>
                  </a:lnTo>
                  <a:lnTo>
                    <a:pt x="156" y="163"/>
                  </a:lnTo>
                  <a:lnTo>
                    <a:pt x="0" y="260"/>
                  </a:lnTo>
                  <a:lnTo>
                    <a:pt x="114" y="266"/>
                  </a:lnTo>
                  <a:lnTo>
                    <a:pt x="189" y="283"/>
                  </a:lnTo>
                  <a:lnTo>
                    <a:pt x="244" y="283"/>
                  </a:lnTo>
                  <a:lnTo>
                    <a:pt x="294" y="173"/>
                  </a:lnTo>
                  <a:lnTo>
                    <a:pt x="355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1" name="Freeform 58"/>
            <p:cNvSpPr>
              <a:spLocks/>
            </p:cNvSpPr>
            <p:nvPr/>
          </p:nvSpPr>
          <p:spPr bwMode="auto">
            <a:xfrm>
              <a:off x="3535" y="2117"/>
              <a:ext cx="135" cy="122"/>
            </a:xfrm>
            <a:custGeom>
              <a:avLst/>
              <a:gdLst>
                <a:gd name="T0" fmla="*/ 1 w 270"/>
                <a:gd name="T1" fmla="*/ 0 h 245"/>
                <a:gd name="T2" fmla="*/ 1 w 270"/>
                <a:gd name="T3" fmla="*/ 0 h 245"/>
                <a:gd name="T4" fmla="*/ 1 w 270"/>
                <a:gd name="T5" fmla="*/ 0 h 245"/>
                <a:gd name="T6" fmla="*/ 1 w 270"/>
                <a:gd name="T7" fmla="*/ 0 h 245"/>
                <a:gd name="T8" fmla="*/ 1 w 270"/>
                <a:gd name="T9" fmla="*/ 0 h 245"/>
                <a:gd name="T10" fmla="*/ 1 w 270"/>
                <a:gd name="T11" fmla="*/ 0 h 245"/>
                <a:gd name="T12" fmla="*/ 1 w 270"/>
                <a:gd name="T13" fmla="*/ 0 h 245"/>
                <a:gd name="T14" fmla="*/ 1 w 270"/>
                <a:gd name="T15" fmla="*/ 0 h 245"/>
                <a:gd name="T16" fmla="*/ 0 w 270"/>
                <a:gd name="T17" fmla="*/ 0 h 245"/>
                <a:gd name="T18" fmla="*/ 1 w 270"/>
                <a:gd name="T19" fmla="*/ 0 h 245"/>
                <a:gd name="T20" fmla="*/ 1 w 270"/>
                <a:gd name="T21" fmla="*/ 0 h 245"/>
                <a:gd name="T22" fmla="*/ 1 w 270"/>
                <a:gd name="T23" fmla="*/ 0 h 245"/>
                <a:gd name="T24" fmla="*/ 1 w 270"/>
                <a:gd name="T25" fmla="*/ 0 h 24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70" h="245">
                  <a:moveTo>
                    <a:pt x="10" y="0"/>
                  </a:moveTo>
                  <a:lnTo>
                    <a:pt x="89" y="42"/>
                  </a:lnTo>
                  <a:lnTo>
                    <a:pt x="174" y="101"/>
                  </a:lnTo>
                  <a:lnTo>
                    <a:pt x="270" y="172"/>
                  </a:lnTo>
                  <a:lnTo>
                    <a:pt x="176" y="245"/>
                  </a:lnTo>
                  <a:lnTo>
                    <a:pt x="93" y="245"/>
                  </a:lnTo>
                  <a:lnTo>
                    <a:pt x="40" y="221"/>
                  </a:lnTo>
                  <a:lnTo>
                    <a:pt x="10" y="183"/>
                  </a:lnTo>
                  <a:lnTo>
                    <a:pt x="0" y="138"/>
                  </a:lnTo>
                  <a:lnTo>
                    <a:pt x="2" y="89"/>
                  </a:lnTo>
                  <a:lnTo>
                    <a:pt x="8" y="46"/>
                  </a:lnTo>
                  <a:lnTo>
                    <a:pt x="12" y="1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2" name="Freeform 59"/>
            <p:cNvSpPr>
              <a:spLocks/>
            </p:cNvSpPr>
            <p:nvPr/>
          </p:nvSpPr>
          <p:spPr bwMode="auto">
            <a:xfrm>
              <a:off x="3290" y="2224"/>
              <a:ext cx="138" cy="138"/>
            </a:xfrm>
            <a:custGeom>
              <a:avLst/>
              <a:gdLst>
                <a:gd name="T0" fmla="*/ 0 w 278"/>
                <a:gd name="T1" fmla="*/ 0 h 278"/>
                <a:gd name="T2" fmla="*/ 0 w 278"/>
                <a:gd name="T3" fmla="*/ 0 h 278"/>
                <a:gd name="T4" fmla="*/ 0 w 278"/>
                <a:gd name="T5" fmla="*/ 0 h 278"/>
                <a:gd name="T6" fmla="*/ 0 w 278"/>
                <a:gd name="T7" fmla="*/ 0 h 278"/>
                <a:gd name="T8" fmla="*/ 0 w 278"/>
                <a:gd name="T9" fmla="*/ 0 h 278"/>
                <a:gd name="T10" fmla="*/ 0 w 278"/>
                <a:gd name="T11" fmla="*/ 0 h 278"/>
                <a:gd name="T12" fmla="*/ 0 w 278"/>
                <a:gd name="T13" fmla="*/ 0 h 278"/>
                <a:gd name="T14" fmla="*/ 0 w 278"/>
                <a:gd name="T15" fmla="*/ 0 h 278"/>
                <a:gd name="T16" fmla="*/ 0 w 278"/>
                <a:gd name="T17" fmla="*/ 0 h 278"/>
                <a:gd name="T18" fmla="*/ 0 w 278"/>
                <a:gd name="T19" fmla="*/ 0 h 278"/>
                <a:gd name="T20" fmla="*/ 0 w 278"/>
                <a:gd name="T21" fmla="*/ 0 h 278"/>
                <a:gd name="T22" fmla="*/ 0 w 278"/>
                <a:gd name="T23" fmla="*/ 0 h 278"/>
                <a:gd name="T24" fmla="*/ 0 w 278"/>
                <a:gd name="T25" fmla="*/ 0 h 278"/>
                <a:gd name="T26" fmla="*/ 0 w 278"/>
                <a:gd name="T27" fmla="*/ 0 h 278"/>
                <a:gd name="T28" fmla="*/ 0 w 278"/>
                <a:gd name="T29" fmla="*/ 0 h 278"/>
                <a:gd name="T30" fmla="*/ 0 w 278"/>
                <a:gd name="T31" fmla="*/ 0 h 27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78" h="278">
                  <a:moveTo>
                    <a:pt x="157" y="8"/>
                  </a:moveTo>
                  <a:lnTo>
                    <a:pt x="203" y="102"/>
                  </a:lnTo>
                  <a:lnTo>
                    <a:pt x="278" y="205"/>
                  </a:lnTo>
                  <a:lnTo>
                    <a:pt x="203" y="213"/>
                  </a:lnTo>
                  <a:lnTo>
                    <a:pt x="130" y="278"/>
                  </a:lnTo>
                  <a:lnTo>
                    <a:pt x="65" y="278"/>
                  </a:lnTo>
                  <a:lnTo>
                    <a:pt x="0" y="177"/>
                  </a:lnTo>
                  <a:lnTo>
                    <a:pt x="82" y="195"/>
                  </a:lnTo>
                  <a:lnTo>
                    <a:pt x="147" y="185"/>
                  </a:lnTo>
                  <a:lnTo>
                    <a:pt x="92" y="130"/>
                  </a:lnTo>
                  <a:lnTo>
                    <a:pt x="47" y="47"/>
                  </a:lnTo>
                  <a:lnTo>
                    <a:pt x="110" y="0"/>
                  </a:lnTo>
                  <a:lnTo>
                    <a:pt x="116" y="2"/>
                  </a:lnTo>
                  <a:lnTo>
                    <a:pt x="130" y="8"/>
                  </a:lnTo>
                  <a:lnTo>
                    <a:pt x="146" y="10"/>
                  </a:lnTo>
                  <a:lnTo>
                    <a:pt x="157" y="8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3" name="Freeform 60"/>
            <p:cNvSpPr>
              <a:spLocks/>
            </p:cNvSpPr>
            <p:nvPr/>
          </p:nvSpPr>
          <p:spPr bwMode="auto">
            <a:xfrm>
              <a:off x="3534" y="1981"/>
              <a:ext cx="39" cy="127"/>
            </a:xfrm>
            <a:custGeom>
              <a:avLst/>
              <a:gdLst>
                <a:gd name="T0" fmla="*/ 0 w 79"/>
                <a:gd name="T1" fmla="*/ 0 h 254"/>
                <a:gd name="T2" fmla="*/ 0 w 79"/>
                <a:gd name="T3" fmla="*/ 1 h 254"/>
                <a:gd name="T4" fmla="*/ 0 w 79"/>
                <a:gd name="T5" fmla="*/ 1 h 254"/>
                <a:gd name="T6" fmla="*/ 0 w 79"/>
                <a:gd name="T7" fmla="*/ 1 h 254"/>
                <a:gd name="T8" fmla="*/ 0 w 79"/>
                <a:gd name="T9" fmla="*/ 1 h 254"/>
                <a:gd name="T10" fmla="*/ 0 w 79"/>
                <a:gd name="T11" fmla="*/ 0 h 2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254">
                  <a:moveTo>
                    <a:pt x="65" y="0"/>
                  </a:moveTo>
                  <a:lnTo>
                    <a:pt x="0" y="57"/>
                  </a:lnTo>
                  <a:lnTo>
                    <a:pt x="0" y="224"/>
                  </a:lnTo>
                  <a:lnTo>
                    <a:pt x="79" y="254"/>
                  </a:lnTo>
                  <a:lnTo>
                    <a:pt x="55" y="102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4" name="Freeform 61"/>
            <p:cNvSpPr>
              <a:spLocks/>
            </p:cNvSpPr>
            <p:nvPr/>
          </p:nvSpPr>
          <p:spPr bwMode="auto">
            <a:xfrm>
              <a:off x="3611" y="2097"/>
              <a:ext cx="151" cy="95"/>
            </a:xfrm>
            <a:custGeom>
              <a:avLst/>
              <a:gdLst>
                <a:gd name="T0" fmla="*/ 1 w 301"/>
                <a:gd name="T1" fmla="*/ 0 h 191"/>
                <a:gd name="T2" fmla="*/ 1 w 301"/>
                <a:gd name="T3" fmla="*/ 0 h 191"/>
                <a:gd name="T4" fmla="*/ 0 w 301"/>
                <a:gd name="T5" fmla="*/ 0 h 191"/>
                <a:gd name="T6" fmla="*/ 1 w 301"/>
                <a:gd name="T7" fmla="*/ 0 h 191"/>
                <a:gd name="T8" fmla="*/ 1 w 301"/>
                <a:gd name="T9" fmla="*/ 0 h 191"/>
                <a:gd name="T10" fmla="*/ 1 w 301"/>
                <a:gd name="T11" fmla="*/ 0 h 191"/>
                <a:gd name="T12" fmla="*/ 1 w 301"/>
                <a:gd name="T13" fmla="*/ 0 h 191"/>
                <a:gd name="T14" fmla="*/ 1 w 301"/>
                <a:gd name="T15" fmla="*/ 0 h 1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1" h="191">
                  <a:moveTo>
                    <a:pt x="211" y="31"/>
                  </a:moveTo>
                  <a:lnTo>
                    <a:pt x="104" y="53"/>
                  </a:lnTo>
                  <a:lnTo>
                    <a:pt x="0" y="79"/>
                  </a:lnTo>
                  <a:lnTo>
                    <a:pt x="43" y="144"/>
                  </a:lnTo>
                  <a:lnTo>
                    <a:pt x="104" y="191"/>
                  </a:lnTo>
                  <a:lnTo>
                    <a:pt x="165" y="122"/>
                  </a:lnTo>
                  <a:lnTo>
                    <a:pt x="301" y="0"/>
                  </a:lnTo>
                  <a:lnTo>
                    <a:pt x="211" y="31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5" name="Freeform 62"/>
            <p:cNvSpPr>
              <a:spLocks/>
            </p:cNvSpPr>
            <p:nvPr/>
          </p:nvSpPr>
          <p:spPr bwMode="auto">
            <a:xfrm>
              <a:off x="3658" y="1992"/>
              <a:ext cx="118" cy="86"/>
            </a:xfrm>
            <a:custGeom>
              <a:avLst/>
              <a:gdLst>
                <a:gd name="T0" fmla="*/ 0 w 238"/>
                <a:gd name="T1" fmla="*/ 1 h 172"/>
                <a:gd name="T2" fmla="*/ 0 w 238"/>
                <a:gd name="T3" fmla="*/ 1 h 172"/>
                <a:gd name="T4" fmla="*/ 0 w 238"/>
                <a:gd name="T5" fmla="*/ 1 h 172"/>
                <a:gd name="T6" fmla="*/ 0 w 238"/>
                <a:gd name="T7" fmla="*/ 0 h 172"/>
                <a:gd name="T8" fmla="*/ 0 w 238"/>
                <a:gd name="T9" fmla="*/ 0 h 172"/>
                <a:gd name="T10" fmla="*/ 0 w 238"/>
                <a:gd name="T11" fmla="*/ 1 h 172"/>
                <a:gd name="T12" fmla="*/ 0 w 238"/>
                <a:gd name="T13" fmla="*/ 1 h 172"/>
                <a:gd name="T14" fmla="*/ 0 w 238"/>
                <a:gd name="T15" fmla="*/ 1 h 172"/>
                <a:gd name="T16" fmla="*/ 0 w 238"/>
                <a:gd name="T17" fmla="*/ 1 h 172"/>
                <a:gd name="T18" fmla="*/ 0 w 238"/>
                <a:gd name="T19" fmla="*/ 1 h 172"/>
                <a:gd name="T20" fmla="*/ 0 w 238"/>
                <a:gd name="T21" fmla="*/ 1 h 172"/>
                <a:gd name="T22" fmla="*/ 0 w 238"/>
                <a:gd name="T23" fmla="*/ 1 h 1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8" h="172">
                  <a:moveTo>
                    <a:pt x="238" y="138"/>
                  </a:moveTo>
                  <a:lnTo>
                    <a:pt x="224" y="75"/>
                  </a:lnTo>
                  <a:lnTo>
                    <a:pt x="171" y="55"/>
                  </a:lnTo>
                  <a:lnTo>
                    <a:pt x="171" y="0"/>
                  </a:lnTo>
                  <a:lnTo>
                    <a:pt x="122" y="0"/>
                  </a:lnTo>
                  <a:lnTo>
                    <a:pt x="61" y="42"/>
                  </a:lnTo>
                  <a:lnTo>
                    <a:pt x="0" y="69"/>
                  </a:lnTo>
                  <a:lnTo>
                    <a:pt x="68" y="97"/>
                  </a:lnTo>
                  <a:lnTo>
                    <a:pt x="135" y="116"/>
                  </a:lnTo>
                  <a:lnTo>
                    <a:pt x="183" y="124"/>
                  </a:lnTo>
                  <a:lnTo>
                    <a:pt x="183" y="172"/>
                  </a:lnTo>
                  <a:lnTo>
                    <a:pt x="238" y="138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6" name="Freeform 63"/>
            <p:cNvSpPr>
              <a:spLocks/>
            </p:cNvSpPr>
            <p:nvPr/>
          </p:nvSpPr>
          <p:spPr bwMode="auto">
            <a:xfrm>
              <a:off x="3396" y="1977"/>
              <a:ext cx="105" cy="112"/>
            </a:xfrm>
            <a:custGeom>
              <a:avLst/>
              <a:gdLst>
                <a:gd name="T0" fmla="*/ 1 w 210"/>
                <a:gd name="T1" fmla="*/ 0 h 222"/>
                <a:gd name="T2" fmla="*/ 1 w 210"/>
                <a:gd name="T3" fmla="*/ 0 h 222"/>
                <a:gd name="T4" fmla="*/ 1 w 210"/>
                <a:gd name="T5" fmla="*/ 1 h 222"/>
                <a:gd name="T6" fmla="*/ 0 w 210"/>
                <a:gd name="T7" fmla="*/ 1 h 222"/>
                <a:gd name="T8" fmla="*/ 1 w 210"/>
                <a:gd name="T9" fmla="*/ 1 h 222"/>
                <a:gd name="T10" fmla="*/ 1 w 210"/>
                <a:gd name="T11" fmla="*/ 1 h 222"/>
                <a:gd name="T12" fmla="*/ 1 w 210"/>
                <a:gd name="T13" fmla="*/ 1 h 222"/>
                <a:gd name="T14" fmla="*/ 1 w 210"/>
                <a:gd name="T15" fmla="*/ 1 h 222"/>
                <a:gd name="T16" fmla="*/ 1 w 210"/>
                <a:gd name="T17" fmla="*/ 0 h 2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222">
                  <a:moveTo>
                    <a:pt x="210" y="0"/>
                  </a:moveTo>
                  <a:lnTo>
                    <a:pt x="100" y="0"/>
                  </a:lnTo>
                  <a:lnTo>
                    <a:pt x="27" y="17"/>
                  </a:lnTo>
                  <a:lnTo>
                    <a:pt x="0" y="102"/>
                  </a:lnTo>
                  <a:lnTo>
                    <a:pt x="9" y="222"/>
                  </a:lnTo>
                  <a:lnTo>
                    <a:pt x="82" y="167"/>
                  </a:lnTo>
                  <a:lnTo>
                    <a:pt x="128" y="92"/>
                  </a:lnTo>
                  <a:lnTo>
                    <a:pt x="193" y="92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7" name="Freeform 64"/>
            <p:cNvSpPr>
              <a:spLocks/>
            </p:cNvSpPr>
            <p:nvPr/>
          </p:nvSpPr>
          <p:spPr bwMode="auto">
            <a:xfrm>
              <a:off x="3957" y="2126"/>
              <a:ext cx="83" cy="115"/>
            </a:xfrm>
            <a:custGeom>
              <a:avLst/>
              <a:gdLst>
                <a:gd name="T0" fmla="*/ 1 w 166"/>
                <a:gd name="T1" fmla="*/ 0 h 232"/>
                <a:gd name="T2" fmla="*/ 1 w 166"/>
                <a:gd name="T3" fmla="*/ 0 h 232"/>
                <a:gd name="T4" fmla="*/ 1 w 166"/>
                <a:gd name="T5" fmla="*/ 0 h 232"/>
                <a:gd name="T6" fmla="*/ 1 w 166"/>
                <a:gd name="T7" fmla="*/ 0 h 232"/>
                <a:gd name="T8" fmla="*/ 0 w 166"/>
                <a:gd name="T9" fmla="*/ 0 h 232"/>
                <a:gd name="T10" fmla="*/ 1 w 166"/>
                <a:gd name="T11" fmla="*/ 0 h 232"/>
                <a:gd name="T12" fmla="*/ 1 w 166"/>
                <a:gd name="T13" fmla="*/ 0 h 2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" h="232">
                  <a:moveTo>
                    <a:pt x="166" y="148"/>
                  </a:moveTo>
                  <a:lnTo>
                    <a:pt x="166" y="65"/>
                  </a:lnTo>
                  <a:lnTo>
                    <a:pt x="75" y="0"/>
                  </a:lnTo>
                  <a:lnTo>
                    <a:pt x="65" y="75"/>
                  </a:lnTo>
                  <a:lnTo>
                    <a:pt x="0" y="232"/>
                  </a:lnTo>
                  <a:lnTo>
                    <a:pt x="93" y="130"/>
                  </a:lnTo>
                  <a:lnTo>
                    <a:pt x="166" y="148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8" name="Freeform 65"/>
            <p:cNvSpPr>
              <a:spLocks/>
            </p:cNvSpPr>
            <p:nvPr/>
          </p:nvSpPr>
          <p:spPr bwMode="auto">
            <a:xfrm>
              <a:off x="3456" y="2372"/>
              <a:ext cx="96" cy="60"/>
            </a:xfrm>
            <a:custGeom>
              <a:avLst/>
              <a:gdLst>
                <a:gd name="T0" fmla="*/ 0 w 193"/>
                <a:gd name="T1" fmla="*/ 0 h 121"/>
                <a:gd name="T2" fmla="*/ 0 w 193"/>
                <a:gd name="T3" fmla="*/ 0 h 121"/>
                <a:gd name="T4" fmla="*/ 0 w 193"/>
                <a:gd name="T5" fmla="*/ 0 h 121"/>
                <a:gd name="T6" fmla="*/ 0 w 193"/>
                <a:gd name="T7" fmla="*/ 0 h 121"/>
                <a:gd name="T8" fmla="*/ 0 w 193"/>
                <a:gd name="T9" fmla="*/ 0 h 121"/>
                <a:gd name="T10" fmla="*/ 0 w 193"/>
                <a:gd name="T11" fmla="*/ 0 h 1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3" h="121">
                  <a:moveTo>
                    <a:pt x="193" y="113"/>
                  </a:moveTo>
                  <a:lnTo>
                    <a:pt x="82" y="38"/>
                  </a:lnTo>
                  <a:lnTo>
                    <a:pt x="0" y="0"/>
                  </a:lnTo>
                  <a:lnTo>
                    <a:pt x="35" y="75"/>
                  </a:lnTo>
                  <a:lnTo>
                    <a:pt x="138" y="121"/>
                  </a:lnTo>
                  <a:lnTo>
                    <a:pt x="193" y="113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9" name="Freeform 66"/>
            <p:cNvSpPr>
              <a:spLocks/>
            </p:cNvSpPr>
            <p:nvPr/>
          </p:nvSpPr>
          <p:spPr bwMode="auto">
            <a:xfrm>
              <a:off x="3570" y="2446"/>
              <a:ext cx="321" cy="70"/>
            </a:xfrm>
            <a:custGeom>
              <a:avLst/>
              <a:gdLst>
                <a:gd name="T0" fmla="*/ 0 w 644"/>
                <a:gd name="T1" fmla="*/ 0 h 140"/>
                <a:gd name="T2" fmla="*/ 0 w 644"/>
                <a:gd name="T3" fmla="*/ 1 h 140"/>
                <a:gd name="T4" fmla="*/ 1 w 644"/>
                <a:gd name="T5" fmla="*/ 1 h 140"/>
                <a:gd name="T6" fmla="*/ 1 w 644"/>
                <a:gd name="T7" fmla="*/ 1 h 140"/>
                <a:gd name="T8" fmla="*/ 0 w 644"/>
                <a:gd name="T9" fmla="*/ 1 h 140"/>
                <a:gd name="T10" fmla="*/ 0 w 644"/>
                <a:gd name="T11" fmla="*/ 1 h 140"/>
                <a:gd name="T12" fmla="*/ 0 w 644"/>
                <a:gd name="T13" fmla="*/ 1 h 140"/>
                <a:gd name="T14" fmla="*/ 0 w 644"/>
                <a:gd name="T15" fmla="*/ 1 h 140"/>
                <a:gd name="T16" fmla="*/ 0 w 644"/>
                <a:gd name="T17" fmla="*/ 1 h 140"/>
                <a:gd name="T18" fmla="*/ 0 w 644"/>
                <a:gd name="T19" fmla="*/ 1 h 140"/>
                <a:gd name="T20" fmla="*/ 0 w 644"/>
                <a:gd name="T21" fmla="*/ 1 h 140"/>
                <a:gd name="T22" fmla="*/ 0 w 644"/>
                <a:gd name="T23" fmla="*/ 1 h 140"/>
                <a:gd name="T24" fmla="*/ 0 w 644"/>
                <a:gd name="T25" fmla="*/ 0 h 1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44" h="140">
                  <a:moveTo>
                    <a:pt x="369" y="0"/>
                  </a:moveTo>
                  <a:lnTo>
                    <a:pt x="497" y="65"/>
                  </a:lnTo>
                  <a:lnTo>
                    <a:pt x="644" y="112"/>
                  </a:lnTo>
                  <a:lnTo>
                    <a:pt x="552" y="112"/>
                  </a:lnTo>
                  <a:lnTo>
                    <a:pt x="414" y="75"/>
                  </a:lnTo>
                  <a:lnTo>
                    <a:pt x="321" y="122"/>
                  </a:lnTo>
                  <a:lnTo>
                    <a:pt x="239" y="95"/>
                  </a:lnTo>
                  <a:lnTo>
                    <a:pt x="174" y="140"/>
                  </a:lnTo>
                  <a:lnTo>
                    <a:pt x="63" y="140"/>
                  </a:lnTo>
                  <a:lnTo>
                    <a:pt x="0" y="140"/>
                  </a:lnTo>
                  <a:lnTo>
                    <a:pt x="101" y="112"/>
                  </a:lnTo>
                  <a:lnTo>
                    <a:pt x="284" y="55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0" name="Freeform 67"/>
            <p:cNvSpPr>
              <a:spLocks/>
            </p:cNvSpPr>
            <p:nvPr/>
          </p:nvSpPr>
          <p:spPr bwMode="auto">
            <a:xfrm>
              <a:off x="3788" y="2130"/>
              <a:ext cx="56" cy="126"/>
            </a:xfrm>
            <a:custGeom>
              <a:avLst/>
              <a:gdLst>
                <a:gd name="T0" fmla="*/ 1 w 110"/>
                <a:gd name="T1" fmla="*/ 0 h 250"/>
                <a:gd name="T2" fmla="*/ 1 w 110"/>
                <a:gd name="T3" fmla="*/ 1 h 250"/>
                <a:gd name="T4" fmla="*/ 1 w 110"/>
                <a:gd name="T5" fmla="*/ 1 h 250"/>
                <a:gd name="T6" fmla="*/ 0 w 110"/>
                <a:gd name="T7" fmla="*/ 1 h 250"/>
                <a:gd name="T8" fmla="*/ 1 w 110"/>
                <a:gd name="T9" fmla="*/ 1 h 250"/>
                <a:gd name="T10" fmla="*/ 1 w 110"/>
                <a:gd name="T11" fmla="*/ 1 h 250"/>
                <a:gd name="T12" fmla="*/ 1 w 110"/>
                <a:gd name="T13" fmla="*/ 1 h 250"/>
                <a:gd name="T14" fmla="*/ 1 w 110"/>
                <a:gd name="T15" fmla="*/ 0 h 2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0" h="250">
                  <a:moveTo>
                    <a:pt x="102" y="0"/>
                  </a:moveTo>
                  <a:lnTo>
                    <a:pt x="76" y="120"/>
                  </a:lnTo>
                  <a:lnTo>
                    <a:pt x="37" y="175"/>
                  </a:lnTo>
                  <a:lnTo>
                    <a:pt x="0" y="250"/>
                  </a:lnTo>
                  <a:lnTo>
                    <a:pt x="55" y="250"/>
                  </a:lnTo>
                  <a:lnTo>
                    <a:pt x="102" y="185"/>
                  </a:lnTo>
                  <a:lnTo>
                    <a:pt x="110" y="100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1" name="Freeform 68"/>
            <p:cNvSpPr>
              <a:spLocks/>
            </p:cNvSpPr>
            <p:nvPr/>
          </p:nvSpPr>
          <p:spPr bwMode="auto">
            <a:xfrm>
              <a:off x="3637" y="2052"/>
              <a:ext cx="25" cy="66"/>
            </a:xfrm>
            <a:custGeom>
              <a:avLst/>
              <a:gdLst>
                <a:gd name="T0" fmla="*/ 1 w 49"/>
                <a:gd name="T1" fmla="*/ 0 h 132"/>
                <a:gd name="T2" fmla="*/ 1 w 49"/>
                <a:gd name="T3" fmla="*/ 1 h 132"/>
                <a:gd name="T4" fmla="*/ 0 w 49"/>
                <a:gd name="T5" fmla="*/ 1 h 132"/>
                <a:gd name="T6" fmla="*/ 1 w 49"/>
                <a:gd name="T7" fmla="*/ 1 h 132"/>
                <a:gd name="T8" fmla="*/ 1 w 49"/>
                <a:gd name="T9" fmla="*/ 1 h 132"/>
                <a:gd name="T10" fmla="*/ 1 w 49"/>
                <a:gd name="T11" fmla="*/ 1 h 132"/>
                <a:gd name="T12" fmla="*/ 1 w 49"/>
                <a:gd name="T13" fmla="*/ 0 h 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32">
                  <a:moveTo>
                    <a:pt x="49" y="0"/>
                  </a:moveTo>
                  <a:lnTo>
                    <a:pt x="14" y="46"/>
                  </a:lnTo>
                  <a:lnTo>
                    <a:pt x="0" y="132"/>
                  </a:lnTo>
                  <a:lnTo>
                    <a:pt x="40" y="124"/>
                  </a:lnTo>
                  <a:lnTo>
                    <a:pt x="40" y="67"/>
                  </a:lnTo>
                  <a:lnTo>
                    <a:pt x="49" y="4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2" name="Freeform 69"/>
            <p:cNvSpPr>
              <a:spLocks/>
            </p:cNvSpPr>
            <p:nvPr/>
          </p:nvSpPr>
          <p:spPr bwMode="auto">
            <a:xfrm>
              <a:off x="3552" y="2000"/>
              <a:ext cx="20" cy="115"/>
            </a:xfrm>
            <a:custGeom>
              <a:avLst/>
              <a:gdLst>
                <a:gd name="T0" fmla="*/ 1 w 39"/>
                <a:gd name="T1" fmla="*/ 0 h 226"/>
                <a:gd name="T2" fmla="*/ 1 w 39"/>
                <a:gd name="T3" fmla="*/ 1 h 226"/>
                <a:gd name="T4" fmla="*/ 1 w 39"/>
                <a:gd name="T5" fmla="*/ 1 h 226"/>
                <a:gd name="T6" fmla="*/ 0 w 39"/>
                <a:gd name="T7" fmla="*/ 1 h 226"/>
                <a:gd name="T8" fmla="*/ 1 w 39"/>
                <a:gd name="T9" fmla="*/ 1 h 226"/>
                <a:gd name="T10" fmla="*/ 1 w 39"/>
                <a:gd name="T11" fmla="*/ 1 h 226"/>
                <a:gd name="T12" fmla="*/ 1 w 39"/>
                <a:gd name="T13" fmla="*/ 0 h 2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26">
                  <a:moveTo>
                    <a:pt x="35" y="0"/>
                  </a:moveTo>
                  <a:lnTo>
                    <a:pt x="23" y="93"/>
                  </a:lnTo>
                  <a:lnTo>
                    <a:pt x="39" y="226"/>
                  </a:lnTo>
                  <a:lnTo>
                    <a:pt x="0" y="207"/>
                  </a:lnTo>
                  <a:lnTo>
                    <a:pt x="2" y="150"/>
                  </a:lnTo>
                  <a:lnTo>
                    <a:pt x="14" y="6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3" name="Freeform 70"/>
            <p:cNvSpPr>
              <a:spLocks/>
            </p:cNvSpPr>
            <p:nvPr/>
          </p:nvSpPr>
          <p:spPr bwMode="auto">
            <a:xfrm>
              <a:off x="3690" y="2042"/>
              <a:ext cx="60" cy="56"/>
            </a:xfrm>
            <a:custGeom>
              <a:avLst/>
              <a:gdLst>
                <a:gd name="T0" fmla="*/ 1 w 120"/>
                <a:gd name="T1" fmla="*/ 1 h 110"/>
                <a:gd name="T2" fmla="*/ 1 w 120"/>
                <a:gd name="T3" fmla="*/ 1 h 110"/>
                <a:gd name="T4" fmla="*/ 1 w 120"/>
                <a:gd name="T5" fmla="*/ 1 h 110"/>
                <a:gd name="T6" fmla="*/ 1 w 120"/>
                <a:gd name="T7" fmla="*/ 1 h 110"/>
                <a:gd name="T8" fmla="*/ 0 w 120"/>
                <a:gd name="T9" fmla="*/ 0 h 110"/>
                <a:gd name="T10" fmla="*/ 1 w 120"/>
                <a:gd name="T11" fmla="*/ 1 h 1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10">
                  <a:moveTo>
                    <a:pt x="78" y="37"/>
                  </a:moveTo>
                  <a:lnTo>
                    <a:pt x="120" y="59"/>
                  </a:lnTo>
                  <a:lnTo>
                    <a:pt x="59" y="110"/>
                  </a:lnTo>
                  <a:lnTo>
                    <a:pt x="59" y="59"/>
                  </a:lnTo>
                  <a:lnTo>
                    <a:pt x="0" y="0"/>
                  </a:lnTo>
                  <a:lnTo>
                    <a:pt x="78" y="37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4" name="Freeform 71"/>
            <p:cNvSpPr>
              <a:spLocks/>
            </p:cNvSpPr>
            <p:nvPr/>
          </p:nvSpPr>
          <p:spPr bwMode="auto">
            <a:xfrm>
              <a:off x="3942" y="2025"/>
              <a:ext cx="33" cy="86"/>
            </a:xfrm>
            <a:custGeom>
              <a:avLst/>
              <a:gdLst>
                <a:gd name="T0" fmla="*/ 0 w 63"/>
                <a:gd name="T1" fmla="*/ 0 h 176"/>
                <a:gd name="T2" fmla="*/ 1 w 63"/>
                <a:gd name="T3" fmla="*/ 0 h 176"/>
                <a:gd name="T4" fmla="*/ 1 w 63"/>
                <a:gd name="T5" fmla="*/ 0 h 176"/>
                <a:gd name="T6" fmla="*/ 1 w 63"/>
                <a:gd name="T7" fmla="*/ 0 h 176"/>
                <a:gd name="T8" fmla="*/ 1 w 63"/>
                <a:gd name="T9" fmla="*/ 0 h 176"/>
                <a:gd name="T10" fmla="*/ 1 w 63"/>
                <a:gd name="T11" fmla="*/ 0 h 176"/>
                <a:gd name="T12" fmla="*/ 0 w 63"/>
                <a:gd name="T13" fmla="*/ 0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176">
                  <a:moveTo>
                    <a:pt x="0" y="0"/>
                  </a:moveTo>
                  <a:lnTo>
                    <a:pt x="27" y="79"/>
                  </a:lnTo>
                  <a:lnTo>
                    <a:pt x="27" y="176"/>
                  </a:lnTo>
                  <a:lnTo>
                    <a:pt x="63" y="176"/>
                  </a:lnTo>
                  <a:lnTo>
                    <a:pt x="53" y="50"/>
                  </a:lnTo>
                  <a:lnTo>
                    <a:pt x="31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5" name="Freeform 72"/>
            <p:cNvSpPr>
              <a:spLocks/>
            </p:cNvSpPr>
            <p:nvPr/>
          </p:nvSpPr>
          <p:spPr bwMode="auto">
            <a:xfrm>
              <a:off x="3443" y="2119"/>
              <a:ext cx="62" cy="132"/>
            </a:xfrm>
            <a:custGeom>
              <a:avLst/>
              <a:gdLst>
                <a:gd name="T0" fmla="*/ 0 w 124"/>
                <a:gd name="T1" fmla="*/ 0 h 264"/>
                <a:gd name="T2" fmla="*/ 1 w 124"/>
                <a:gd name="T3" fmla="*/ 1 h 264"/>
                <a:gd name="T4" fmla="*/ 1 w 124"/>
                <a:gd name="T5" fmla="*/ 1 h 264"/>
                <a:gd name="T6" fmla="*/ 1 w 124"/>
                <a:gd name="T7" fmla="*/ 1 h 264"/>
                <a:gd name="T8" fmla="*/ 1 w 124"/>
                <a:gd name="T9" fmla="*/ 1 h 264"/>
                <a:gd name="T10" fmla="*/ 1 w 124"/>
                <a:gd name="T11" fmla="*/ 1 h 264"/>
                <a:gd name="T12" fmla="*/ 0 w 124"/>
                <a:gd name="T13" fmla="*/ 0 h 2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264">
                  <a:moveTo>
                    <a:pt x="0" y="0"/>
                  </a:moveTo>
                  <a:lnTo>
                    <a:pt x="77" y="174"/>
                  </a:lnTo>
                  <a:lnTo>
                    <a:pt x="124" y="264"/>
                  </a:lnTo>
                  <a:lnTo>
                    <a:pt x="89" y="264"/>
                  </a:lnTo>
                  <a:lnTo>
                    <a:pt x="57" y="199"/>
                  </a:lnTo>
                  <a:lnTo>
                    <a:pt x="41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6" name="Freeform 73"/>
            <p:cNvSpPr>
              <a:spLocks/>
            </p:cNvSpPr>
            <p:nvPr/>
          </p:nvSpPr>
          <p:spPr bwMode="auto">
            <a:xfrm>
              <a:off x="3725" y="2267"/>
              <a:ext cx="117" cy="98"/>
            </a:xfrm>
            <a:custGeom>
              <a:avLst/>
              <a:gdLst>
                <a:gd name="T0" fmla="*/ 0 w 235"/>
                <a:gd name="T1" fmla="*/ 1 h 195"/>
                <a:gd name="T2" fmla="*/ 0 w 235"/>
                <a:gd name="T3" fmla="*/ 1 h 195"/>
                <a:gd name="T4" fmla="*/ 0 w 235"/>
                <a:gd name="T5" fmla="*/ 1 h 195"/>
                <a:gd name="T6" fmla="*/ 0 w 235"/>
                <a:gd name="T7" fmla="*/ 1 h 195"/>
                <a:gd name="T8" fmla="*/ 0 w 235"/>
                <a:gd name="T9" fmla="*/ 1 h 195"/>
                <a:gd name="T10" fmla="*/ 0 w 235"/>
                <a:gd name="T11" fmla="*/ 1 h 195"/>
                <a:gd name="T12" fmla="*/ 0 w 235"/>
                <a:gd name="T13" fmla="*/ 1 h 195"/>
                <a:gd name="T14" fmla="*/ 0 w 235"/>
                <a:gd name="T15" fmla="*/ 0 h 195"/>
                <a:gd name="T16" fmla="*/ 0 w 235"/>
                <a:gd name="T17" fmla="*/ 1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5" h="195">
                  <a:moveTo>
                    <a:pt x="184" y="57"/>
                  </a:moveTo>
                  <a:lnTo>
                    <a:pt x="109" y="126"/>
                  </a:lnTo>
                  <a:lnTo>
                    <a:pt x="0" y="195"/>
                  </a:lnTo>
                  <a:lnTo>
                    <a:pt x="89" y="167"/>
                  </a:lnTo>
                  <a:lnTo>
                    <a:pt x="172" y="136"/>
                  </a:lnTo>
                  <a:lnTo>
                    <a:pt x="213" y="136"/>
                  </a:lnTo>
                  <a:lnTo>
                    <a:pt x="235" y="25"/>
                  </a:lnTo>
                  <a:lnTo>
                    <a:pt x="213" y="0"/>
                  </a:lnTo>
                  <a:lnTo>
                    <a:pt x="184" y="57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7" name="Freeform 74"/>
            <p:cNvSpPr>
              <a:spLocks/>
            </p:cNvSpPr>
            <p:nvPr/>
          </p:nvSpPr>
          <p:spPr bwMode="auto">
            <a:xfrm>
              <a:off x="3477" y="2268"/>
              <a:ext cx="181" cy="122"/>
            </a:xfrm>
            <a:custGeom>
              <a:avLst/>
              <a:gdLst>
                <a:gd name="T0" fmla="*/ 1 w 361"/>
                <a:gd name="T1" fmla="*/ 1 h 244"/>
                <a:gd name="T2" fmla="*/ 1 w 361"/>
                <a:gd name="T3" fmla="*/ 1 h 244"/>
                <a:gd name="T4" fmla="*/ 1 w 361"/>
                <a:gd name="T5" fmla="*/ 1 h 244"/>
                <a:gd name="T6" fmla="*/ 1 w 361"/>
                <a:gd name="T7" fmla="*/ 1 h 244"/>
                <a:gd name="T8" fmla="*/ 1 w 361"/>
                <a:gd name="T9" fmla="*/ 1 h 244"/>
                <a:gd name="T10" fmla="*/ 1 w 361"/>
                <a:gd name="T11" fmla="*/ 1 h 244"/>
                <a:gd name="T12" fmla="*/ 1 w 361"/>
                <a:gd name="T13" fmla="*/ 1 h 244"/>
                <a:gd name="T14" fmla="*/ 1 w 361"/>
                <a:gd name="T15" fmla="*/ 1 h 244"/>
                <a:gd name="T16" fmla="*/ 1 w 361"/>
                <a:gd name="T17" fmla="*/ 1 h 244"/>
                <a:gd name="T18" fmla="*/ 1 w 361"/>
                <a:gd name="T19" fmla="*/ 1 h 244"/>
                <a:gd name="T20" fmla="*/ 1 w 361"/>
                <a:gd name="T21" fmla="*/ 1 h 244"/>
                <a:gd name="T22" fmla="*/ 1 w 361"/>
                <a:gd name="T23" fmla="*/ 1 h 244"/>
                <a:gd name="T24" fmla="*/ 1 w 361"/>
                <a:gd name="T25" fmla="*/ 1 h 244"/>
                <a:gd name="T26" fmla="*/ 1 w 361"/>
                <a:gd name="T27" fmla="*/ 1 h 244"/>
                <a:gd name="T28" fmla="*/ 1 w 361"/>
                <a:gd name="T29" fmla="*/ 1 h 244"/>
                <a:gd name="T30" fmla="*/ 0 w 361"/>
                <a:gd name="T31" fmla="*/ 0 h 244"/>
                <a:gd name="T32" fmla="*/ 1 w 361"/>
                <a:gd name="T33" fmla="*/ 1 h 2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61" h="244">
                  <a:moveTo>
                    <a:pt x="73" y="76"/>
                  </a:moveTo>
                  <a:lnTo>
                    <a:pt x="152" y="128"/>
                  </a:lnTo>
                  <a:lnTo>
                    <a:pt x="225" y="161"/>
                  </a:lnTo>
                  <a:lnTo>
                    <a:pt x="351" y="193"/>
                  </a:lnTo>
                  <a:lnTo>
                    <a:pt x="361" y="224"/>
                  </a:lnTo>
                  <a:lnTo>
                    <a:pt x="323" y="244"/>
                  </a:lnTo>
                  <a:lnTo>
                    <a:pt x="256" y="244"/>
                  </a:lnTo>
                  <a:lnTo>
                    <a:pt x="89" y="228"/>
                  </a:lnTo>
                  <a:lnTo>
                    <a:pt x="63" y="197"/>
                  </a:lnTo>
                  <a:lnTo>
                    <a:pt x="130" y="212"/>
                  </a:lnTo>
                  <a:lnTo>
                    <a:pt x="231" y="218"/>
                  </a:lnTo>
                  <a:lnTo>
                    <a:pt x="303" y="218"/>
                  </a:lnTo>
                  <a:lnTo>
                    <a:pt x="250" y="187"/>
                  </a:lnTo>
                  <a:lnTo>
                    <a:pt x="110" y="139"/>
                  </a:lnTo>
                  <a:lnTo>
                    <a:pt x="22" y="61"/>
                  </a:lnTo>
                  <a:lnTo>
                    <a:pt x="0" y="0"/>
                  </a:lnTo>
                  <a:lnTo>
                    <a:pt x="73" y="76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8" name="Freeform 75"/>
            <p:cNvSpPr>
              <a:spLocks/>
            </p:cNvSpPr>
            <p:nvPr/>
          </p:nvSpPr>
          <p:spPr bwMode="auto">
            <a:xfrm>
              <a:off x="3773" y="2210"/>
              <a:ext cx="267" cy="222"/>
            </a:xfrm>
            <a:custGeom>
              <a:avLst/>
              <a:gdLst>
                <a:gd name="T0" fmla="*/ 1 w 534"/>
                <a:gd name="T1" fmla="*/ 0 h 446"/>
                <a:gd name="T2" fmla="*/ 1 w 534"/>
                <a:gd name="T3" fmla="*/ 0 h 446"/>
                <a:gd name="T4" fmla="*/ 1 w 534"/>
                <a:gd name="T5" fmla="*/ 0 h 446"/>
                <a:gd name="T6" fmla="*/ 1 w 534"/>
                <a:gd name="T7" fmla="*/ 0 h 446"/>
                <a:gd name="T8" fmla="*/ 1 w 534"/>
                <a:gd name="T9" fmla="*/ 0 h 446"/>
                <a:gd name="T10" fmla="*/ 1 w 534"/>
                <a:gd name="T11" fmla="*/ 0 h 446"/>
                <a:gd name="T12" fmla="*/ 1 w 534"/>
                <a:gd name="T13" fmla="*/ 0 h 446"/>
                <a:gd name="T14" fmla="*/ 0 w 534"/>
                <a:gd name="T15" fmla="*/ 0 h 446"/>
                <a:gd name="T16" fmla="*/ 1 w 534"/>
                <a:gd name="T17" fmla="*/ 0 h 446"/>
                <a:gd name="T18" fmla="*/ 1 w 534"/>
                <a:gd name="T19" fmla="*/ 0 h 446"/>
                <a:gd name="T20" fmla="*/ 1 w 534"/>
                <a:gd name="T21" fmla="*/ 0 h 446"/>
                <a:gd name="T22" fmla="*/ 1 w 534"/>
                <a:gd name="T23" fmla="*/ 0 h 446"/>
                <a:gd name="T24" fmla="*/ 2 w 534"/>
                <a:gd name="T25" fmla="*/ 0 h 446"/>
                <a:gd name="T26" fmla="*/ 1 w 534"/>
                <a:gd name="T27" fmla="*/ 0 h 4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34" h="446">
                  <a:moveTo>
                    <a:pt x="461" y="0"/>
                  </a:moveTo>
                  <a:lnTo>
                    <a:pt x="378" y="46"/>
                  </a:lnTo>
                  <a:lnTo>
                    <a:pt x="360" y="130"/>
                  </a:lnTo>
                  <a:lnTo>
                    <a:pt x="378" y="213"/>
                  </a:lnTo>
                  <a:lnTo>
                    <a:pt x="333" y="270"/>
                  </a:lnTo>
                  <a:lnTo>
                    <a:pt x="240" y="270"/>
                  </a:lnTo>
                  <a:lnTo>
                    <a:pt x="185" y="363"/>
                  </a:lnTo>
                  <a:lnTo>
                    <a:pt x="0" y="446"/>
                  </a:lnTo>
                  <a:lnTo>
                    <a:pt x="213" y="400"/>
                  </a:lnTo>
                  <a:lnTo>
                    <a:pt x="333" y="373"/>
                  </a:lnTo>
                  <a:lnTo>
                    <a:pt x="368" y="270"/>
                  </a:lnTo>
                  <a:lnTo>
                    <a:pt x="461" y="158"/>
                  </a:lnTo>
                  <a:lnTo>
                    <a:pt x="534" y="46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9" name="Freeform 76"/>
            <p:cNvSpPr>
              <a:spLocks/>
            </p:cNvSpPr>
            <p:nvPr/>
          </p:nvSpPr>
          <p:spPr bwMode="auto">
            <a:xfrm>
              <a:off x="3938" y="2437"/>
              <a:ext cx="107" cy="60"/>
            </a:xfrm>
            <a:custGeom>
              <a:avLst/>
              <a:gdLst>
                <a:gd name="T0" fmla="*/ 1 w 211"/>
                <a:gd name="T1" fmla="*/ 0 h 120"/>
                <a:gd name="T2" fmla="*/ 1 w 211"/>
                <a:gd name="T3" fmla="*/ 1 h 120"/>
                <a:gd name="T4" fmla="*/ 0 w 211"/>
                <a:gd name="T5" fmla="*/ 1 h 120"/>
                <a:gd name="T6" fmla="*/ 1 w 211"/>
                <a:gd name="T7" fmla="*/ 1 h 120"/>
                <a:gd name="T8" fmla="*/ 1 w 211"/>
                <a:gd name="T9" fmla="*/ 1 h 120"/>
                <a:gd name="T10" fmla="*/ 1 w 211"/>
                <a:gd name="T11" fmla="*/ 1 h 120"/>
                <a:gd name="T12" fmla="*/ 1 w 211"/>
                <a:gd name="T13" fmla="*/ 0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1" h="120">
                  <a:moveTo>
                    <a:pt x="193" y="0"/>
                  </a:moveTo>
                  <a:lnTo>
                    <a:pt x="118" y="28"/>
                  </a:lnTo>
                  <a:lnTo>
                    <a:pt x="0" y="103"/>
                  </a:lnTo>
                  <a:lnTo>
                    <a:pt x="83" y="120"/>
                  </a:lnTo>
                  <a:lnTo>
                    <a:pt x="165" y="120"/>
                  </a:lnTo>
                  <a:lnTo>
                    <a:pt x="211" y="56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0" name="Freeform 77"/>
            <p:cNvSpPr>
              <a:spLocks/>
            </p:cNvSpPr>
            <p:nvPr/>
          </p:nvSpPr>
          <p:spPr bwMode="auto">
            <a:xfrm>
              <a:off x="3622" y="2034"/>
              <a:ext cx="52" cy="52"/>
            </a:xfrm>
            <a:custGeom>
              <a:avLst/>
              <a:gdLst>
                <a:gd name="T0" fmla="*/ 1 w 104"/>
                <a:gd name="T1" fmla="*/ 1 h 102"/>
                <a:gd name="T2" fmla="*/ 1 w 104"/>
                <a:gd name="T3" fmla="*/ 1 h 102"/>
                <a:gd name="T4" fmla="*/ 1 w 104"/>
                <a:gd name="T5" fmla="*/ 1 h 102"/>
                <a:gd name="T6" fmla="*/ 1 w 104"/>
                <a:gd name="T7" fmla="*/ 0 h 102"/>
                <a:gd name="T8" fmla="*/ 1 w 104"/>
                <a:gd name="T9" fmla="*/ 1 h 102"/>
                <a:gd name="T10" fmla="*/ 1 w 104"/>
                <a:gd name="T11" fmla="*/ 1 h 102"/>
                <a:gd name="T12" fmla="*/ 0 w 104"/>
                <a:gd name="T13" fmla="*/ 1 h 102"/>
                <a:gd name="T14" fmla="*/ 1 w 104"/>
                <a:gd name="T15" fmla="*/ 1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" h="102">
                  <a:moveTo>
                    <a:pt x="17" y="102"/>
                  </a:moveTo>
                  <a:lnTo>
                    <a:pt x="17" y="67"/>
                  </a:lnTo>
                  <a:lnTo>
                    <a:pt x="41" y="28"/>
                  </a:lnTo>
                  <a:lnTo>
                    <a:pt x="104" y="0"/>
                  </a:lnTo>
                  <a:lnTo>
                    <a:pt x="47" y="12"/>
                  </a:lnTo>
                  <a:lnTo>
                    <a:pt x="11" y="33"/>
                  </a:lnTo>
                  <a:lnTo>
                    <a:pt x="0" y="81"/>
                  </a:lnTo>
                  <a:lnTo>
                    <a:pt x="17" y="102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1" name="Freeform 78"/>
            <p:cNvSpPr>
              <a:spLocks/>
            </p:cNvSpPr>
            <p:nvPr/>
          </p:nvSpPr>
          <p:spPr bwMode="auto">
            <a:xfrm>
              <a:off x="3710" y="2018"/>
              <a:ext cx="49" cy="38"/>
            </a:xfrm>
            <a:custGeom>
              <a:avLst/>
              <a:gdLst>
                <a:gd name="T0" fmla="*/ 1 w 98"/>
                <a:gd name="T1" fmla="*/ 0 h 79"/>
                <a:gd name="T2" fmla="*/ 1 w 98"/>
                <a:gd name="T3" fmla="*/ 0 h 79"/>
                <a:gd name="T4" fmla="*/ 1 w 98"/>
                <a:gd name="T5" fmla="*/ 0 h 79"/>
                <a:gd name="T6" fmla="*/ 1 w 98"/>
                <a:gd name="T7" fmla="*/ 0 h 79"/>
                <a:gd name="T8" fmla="*/ 1 w 98"/>
                <a:gd name="T9" fmla="*/ 0 h 79"/>
                <a:gd name="T10" fmla="*/ 1 w 98"/>
                <a:gd name="T11" fmla="*/ 0 h 79"/>
                <a:gd name="T12" fmla="*/ 1 w 98"/>
                <a:gd name="T13" fmla="*/ 0 h 79"/>
                <a:gd name="T14" fmla="*/ 0 w 98"/>
                <a:gd name="T15" fmla="*/ 0 h 79"/>
                <a:gd name="T16" fmla="*/ 1 w 98"/>
                <a:gd name="T17" fmla="*/ 0 h 79"/>
                <a:gd name="T18" fmla="*/ 1 w 98"/>
                <a:gd name="T19" fmla="*/ 0 h 7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8" h="79">
                  <a:moveTo>
                    <a:pt x="77" y="79"/>
                  </a:moveTo>
                  <a:lnTo>
                    <a:pt x="59" y="56"/>
                  </a:lnTo>
                  <a:lnTo>
                    <a:pt x="69" y="26"/>
                  </a:lnTo>
                  <a:lnTo>
                    <a:pt x="98" y="0"/>
                  </a:lnTo>
                  <a:lnTo>
                    <a:pt x="75" y="0"/>
                  </a:lnTo>
                  <a:lnTo>
                    <a:pt x="51" y="18"/>
                  </a:lnTo>
                  <a:lnTo>
                    <a:pt x="35" y="40"/>
                  </a:lnTo>
                  <a:lnTo>
                    <a:pt x="0" y="40"/>
                  </a:lnTo>
                  <a:lnTo>
                    <a:pt x="33" y="58"/>
                  </a:lnTo>
                  <a:lnTo>
                    <a:pt x="77" y="79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2" name="Freeform 79"/>
            <p:cNvSpPr>
              <a:spLocks/>
            </p:cNvSpPr>
            <p:nvPr/>
          </p:nvSpPr>
          <p:spPr bwMode="auto">
            <a:xfrm>
              <a:off x="3632" y="1982"/>
              <a:ext cx="87" cy="46"/>
            </a:xfrm>
            <a:custGeom>
              <a:avLst/>
              <a:gdLst>
                <a:gd name="T0" fmla="*/ 1 w 174"/>
                <a:gd name="T1" fmla="*/ 1 h 92"/>
                <a:gd name="T2" fmla="*/ 1 w 174"/>
                <a:gd name="T3" fmla="*/ 1 h 92"/>
                <a:gd name="T4" fmla="*/ 1 w 174"/>
                <a:gd name="T5" fmla="*/ 1 h 92"/>
                <a:gd name="T6" fmla="*/ 1 w 174"/>
                <a:gd name="T7" fmla="*/ 1 h 92"/>
                <a:gd name="T8" fmla="*/ 1 w 174"/>
                <a:gd name="T9" fmla="*/ 1 h 92"/>
                <a:gd name="T10" fmla="*/ 1 w 174"/>
                <a:gd name="T11" fmla="*/ 1 h 92"/>
                <a:gd name="T12" fmla="*/ 1 w 174"/>
                <a:gd name="T13" fmla="*/ 1 h 92"/>
                <a:gd name="T14" fmla="*/ 1 w 174"/>
                <a:gd name="T15" fmla="*/ 1 h 92"/>
                <a:gd name="T16" fmla="*/ 1 w 174"/>
                <a:gd name="T17" fmla="*/ 1 h 92"/>
                <a:gd name="T18" fmla="*/ 1 w 174"/>
                <a:gd name="T19" fmla="*/ 1 h 92"/>
                <a:gd name="T20" fmla="*/ 1 w 174"/>
                <a:gd name="T21" fmla="*/ 0 h 92"/>
                <a:gd name="T22" fmla="*/ 1 w 174"/>
                <a:gd name="T23" fmla="*/ 0 h 92"/>
                <a:gd name="T24" fmla="*/ 0 w 174"/>
                <a:gd name="T25" fmla="*/ 1 h 92"/>
                <a:gd name="T26" fmla="*/ 1 w 174"/>
                <a:gd name="T27" fmla="*/ 1 h 92"/>
                <a:gd name="T28" fmla="*/ 1 w 174"/>
                <a:gd name="T29" fmla="*/ 1 h 9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74" h="92">
                  <a:moveTo>
                    <a:pt x="93" y="17"/>
                  </a:moveTo>
                  <a:lnTo>
                    <a:pt x="120" y="41"/>
                  </a:lnTo>
                  <a:lnTo>
                    <a:pt x="120" y="74"/>
                  </a:lnTo>
                  <a:lnTo>
                    <a:pt x="120" y="92"/>
                  </a:lnTo>
                  <a:lnTo>
                    <a:pt x="140" y="92"/>
                  </a:lnTo>
                  <a:lnTo>
                    <a:pt x="132" y="63"/>
                  </a:lnTo>
                  <a:lnTo>
                    <a:pt x="174" y="23"/>
                  </a:lnTo>
                  <a:lnTo>
                    <a:pt x="146" y="29"/>
                  </a:lnTo>
                  <a:lnTo>
                    <a:pt x="128" y="43"/>
                  </a:lnTo>
                  <a:lnTo>
                    <a:pt x="120" y="17"/>
                  </a:lnTo>
                  <a:lnTo>
                    <a:pt x="73" y="0"/>
                  </a:lnTo>
                  <a:lnTo>
                    <a:pt x="34" y="0"/>
                  </a:lnTo>
                  <a:lnTo>
                    <a:pt x="0" y="25"/>
                  </a:lnTo>
                  <a:lnTo>
                    <a:pt x="59" y="13"/>
                  </a:lnTo>
                  <a:lnTo>
                    <a:pt x="93" y="17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3" name="Freeform 80"/>
            <p:cNvSpPr>
              <a:spLocks/>
            </p:cNvSpPr>
            <p:nvPr/>
          </p:nvSpPr>
          <p:spPr bwMode="auto">
            <a:xfrm>
              <a:off x="3681" y="1949"/>
              <a:ext cx="72" cy="29"/>
            </a:xfrm>
            <a:custGeom>
              <a:avLst/>
              <a:gdLst>
                <a:gd name="T0" fmla="*/ 1 w 144"/>
                <a:gd name="T1" fmla="*/ 0 h 59"/>
                <a:gd name="T2" fmla="*/ 1 w 144"/>
                <a:gd name="T3" fmla="*/ 0 h 59"/>
                <a:gd name="T4" fmla="*/ 1 w 144"/>
                <a:gd name="T5" fmla="*/ 0 h 59"/>
                <a:gd name="T6" fmla="*/ 0 w 144"/>
                <a:gd name="T7" fmla="*/ 0 h 59"/>
                <a:gd name="T8" fmla="*/ 1 w 144"/>
                <a:gd name="T9" fmla="*/ 0 h 59"/>
                <a:gd name="T10" fmla="*/ 1 w 144"/>
                <a:gd name="T11" fmla="*/ 0 h 59"/>
                <a:gd name="T12" fmla="*/ 1 w 144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" h="59">
                  <a:moveTo>
                    <a:pt x="144" y="0"/>
                  </a:moveTo>
                  <a:lnTo>
                    <a:pt x="27" y="21"/>
                  </a:lnTo>
                  <a:lnTo>
                    <a:pt x="2" y="59"/>
                  </a:lnTo>
                  <a:lnTo>
                    <a:pt x="0" y="39"/>
                  </a:lnTo>
                  <a:lnTo>
                    <a:pt x="21" y="11"/>
                  </a:lnTo>
                  <a:lnTo>
                    <a:pt x="69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4" name="Freeform 81"/>
            <p:cNvSpPr>
              <a:spLocks/>
            </p:cNvSpPr>
            <p:nvPr/>
          </p:nvSpPr>
          <p:spPr bwMode="auto">
            <a:xfrm>
              <a:off x="3587" y="2119"/>
              <a:ext cx="39" cy="25"/>
            </a:xfrm>
            <a:custGeom>
              <a:avLst/>
              <a:gdLst>
                <a:gd name="T0" fmla="*/ 1 w 76"/>
                <a:gd name="T1" fmla="*/ 0 h 46"/>
                <a:gd name="T2" fmla="*/ 1 w 76"/>
                <a:gd name="T3" fmla="*/ 1 h 46"/>
                <a:gd name="T4" fmla="*/ 0 w 76"/>
                <a:gd name="T5" fmla="*/ 1 h 46"/>
                <a:gd name="T6" fmla="*/ 1 w 76"/>
                <a:gd name="T7" fmla="*/ 1 h 46"/>
                <a:gd name="T8" fmla="*/ 1 w 76"/>
                <a:gd name="T9" fmla="*/ 1 h 46"/>
                <a:gd name="T10" fmla="*/ 1 w 76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6" h="46">
                  <a:moveTo>
                    <a:pt x="76" y="0"/>
                  </a:moveTo>
                  <a:lnTo>
                    <a:pt x="41" y="2"/>
                  </a:lnTo>
                  <a:lnTo>
                    <a:pt x="0" y="22"/>
                  </a:lnTo>
                  <a:lnTo>
                    <a:pt x="23" y="46"/>
                  </a:lnTo>
                  <a:lnTo>
                    <a:pt x="53" y="24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5" name="Freeform 82"/>
            <p:cNvSpPr>
              <a:spLocks/>
            </p:cNvSpPr>
            <p:nvPr/>
          </p:nvSpPr>
          <p:spPr bwMode="auto">
            <a:xfrm>
              <a:off x="3645" y="2122"/>
              <a:ext cx="95" cy="74"/>
            </a:xfrm>
            <a:custGeom>
              <a:avLst/>
              <a:gdLst>
                <a:gd name="T0" fmla="*/ 1 w 189"/>
                <a:gd name="T1" fmla="*/ 0 h 150"/>
                <a:gd name="T2" fmla="*/ 1 w 189"/>
                <a:gd name="T3" fmla="*/ 0 h 150"/>
                <a:gd name="T4" fmla="*/ 1 w 189"/>
                <a:gd name="T5" fmla="*/ 0 h 150"/>
                <a:gd name="T6" fmla="*/ 1 w 189"/>
                <a:gd name="T7" fmla="*/ 0 h 150"/>
                <a:gd name="T8" fmla="*/ 0 w 189"/>
                <a:gd name="T9" fmla="*/ 0 h 150"/>
                <a:gd name="T10" fmla="*/ 1 w 189"/>
                <a:gd name="T11" fmla="*/ 0 h 150"/>
                <a:gd name="T12" fmla="*/ 1 w 189"/>
                <a:gd name="T13" fmla="*/ 0 h 150"/>
                <a:gd name="T14" fmla="*/ 1 w 189"/>
                <a:gd name="T15" fmla="*/ 0 h 150"/>
                <a:gd name="T16" fmla="*/ 1 w 189"/>
                <a:gd name="T17" fmla="*/ 0 h 150"/>
                <a:gd name="T18" fmla="*/ 1 w 189"/>
                <a:gd name="T19" fmla="*/ 0 h 1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9" h="150">
                  <a:moveTo>
                    <a:pt x="189" y="0"/>
                  </a:moveTo>
                  <a:lnTo>
                    <a:pt x="132" y="34"/>
                  </a:lnTo>
                  <a:lnTo>
                    <a:pt x="85" y="75"/>
                  </a:lnTo>
                  <a:lnTo>
                    <a:pt x="45" y="112"/>
                  </a:lnTo>
                  <a:lnTo>
                    <a:pt x="0" y="105"/>
                  </a:lnTo>
                  <a:lnTo>
                    <a:pt x="24" y="136"/>
                  </a:lnTo>
                  <a:lnTo>
                    <a:pt x="51" y="150"/>
                  </a:lnTo>
                  <a:lnTo>
                    <a:pt x="87" y="93"/>
                  </a:lnTo>
                  <a:lnTo>
                    <a:pt x="126" y="49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6" name="Freeform 83"/>
            <p:cNvSpPr>
              <a:spLocks/>
            </p:cNvSpPr>
            <p:nvPr/>
          </p:nvSpPr>
          <p:spPr bwMode="auto">
            <a:xfrm>
              <a:off x="2275" y="2107"/>
              <a:ext cx="1122" cy="1095"/>
            </a:xfrm>
            <a:custGeom>
              <a:avLst/>
              <a:gdLst>
                <a:gd name="T0" fmla="*/ 2 w 2241"/>
                <a:gd name="T1" fmla="*/ 1 h 2186"/>
                <a:gd name="T2" fmla="*/ 2 w 2241"/>
                <a:gd name="T3" fmla="*/ 1 h 2186"/>
                <a:gd name="T4" fmla="*/ 2 w 2241"/>
                <a:gd name="T5" fmla="*/ 1 h 2186"/>
                <a:gd name="T6" fmla="*/ 2 w 2241"/>
                <a:gd name="T7" fmla="*/ 1 h 2186"/>
                <a:gd name="T8" fmla="*/ 2 w 2241"/>
                <a:gd name="T9" fmla="*/ 1 h 2186"/>
                <a:gd name="T10" fmla="*/ 2 w 2241"/>
                <a:gd name="T11" fmla="*/ 1 h 2186"/>
                <a:gd name="T12" fmla="*/ 2 w 2241"/>
                <a:gd name="T13" fmla="*/ 1 h 2186"/>
                <a:gd name="T14" fmla="*/ 2 w 2241"/>
                <a:gd name="T15" fmla="*/ 1 h 2186"/>
                <a:gd name="T16" fmla="*/ 2 w 2241"/>
                <a:gd name="T17" fmla="*/ 1 h 2186"/>
                <a:gd name="T18" fmla="*/ 1 w 2241"/>
                <a:gd name="T19" fmla="*/ 1 h 2186"/>
                <a:gd name="T20" fmla="*/ 1 w 2241"/>
                <a:gd name="T21" fmla="*/ 1 h 2186"/>
                <a:gd name="T22" fmla="*/ 1 w 2241"/>
                <a:gd name="T23" fmla="*/ 1 h 2186"/>
                <a:gd name="T24" fmla="*/ 1 w 2241"/>
                <a:gd name="T25" fmla="*/ 1 h 2186"/>
                <a:gd name="T26" fmla="*/ 1 w 2241"/>
                <a:gd name="T27" fmla="*/ 1 h 2186"/>
                <a:gd name="T28" fmla="*/ 1 w 2241"/>
                <a:gd name="T29" fmla="*/ 1 h 2186"/>
                <a:gd name="T30" fmla="*/ 1 w 2241"/>
                <a:gd name="T31" fmla="*/ 2 h 2186"/>
                <a:gd name="T32" fmla="*/ 1 w 2241"/>
                <a:gd name="T33" fmla="*/ 2 h 2186"/>
                <a:gd name="T34" fmla="*/ 1 w 2241"/>
                <a:gd name="T35" fmla="*/ 2 h 2186"/>
                <a:gd name="T36" fmla="*/ 1 w 2241"/>
                <a:gd name="T37" fmla="*/ 3 h 2186"/>
                <a:gd name="T38" fmla="*/ 1 w 2241"/>
                <a:gd name="T39" fmla="*/ 3 h 2186"/>
                <a:gd name="T40" fmla="*/ 1 w 2241"/>
                <a:gd name="T41" fmla="*/ 3 h 2186"/>
                <a:gd name="T42" fmla="*/ 1 w 2241"/>
                <a:gd name="T43" fmla="*/ 3 h 2186"/>
                <a:gd name="T44" fmla="*/ 1 w 2241"/>
                <a:gd name="T45" fmla="*/ 3 h 2186"/>
                <a:gd name="T46" fmla="*/ 1 w 2241"/>
                <a:gd name="T47" fmla="*/ 4 h 2186"/>
                <a:gd name="T48" fmla="*/ 2 w 2241"/>
                <a:gd name="T49" fmla="*/ 4 h 2186"/>
                <a:gd name="T50" fmla="*/ 2 w 2241"/>
                <a:gd name="T51" fmla="*/ 4 h 2186"/>
                <a:gd name="T52" fmla="*/ 2 w 2241"/>
                <a:gd name="T53" fmla="*/ 5 h 2186"/>
                <a:gd name="T54" fmla="*/ 3 w 2241"/>
                <a:gd name="T55" fmla="*/ 5 h 2186"/>
                <a:gd name="T56" fmla="*/ 3 w 2241"/>
                <a:gd name="T57" fmla="*/ 5 h 2186"/>
                <a:gd name="T58" fmla="*/ 3 w 2241"/>
                <a:gd name="T59" fmla="*/ 5 h 2186"/>
                <a:gd name="T60" fmla="*/ 3 w 2241"/>
                <a:gd name="T61" fmla="*/ 5 h 2186"/>
                <a:gd name="T62" fmla="*/ 3 w 2241"/>
                <a:gd name="T63" fmla="*/ 5 h 2186"/>
                <a:gd name="T64" fmla="*/ 3 w 2241"/>
                <a:gd name="T65" fmla="*/ 5 h 2186"/>
                <a:gd name="T66" fmla="*/ 3 w 2241"/>
                <a:gd name="T67" fmla="*/ 5 h 2186"/>
                <a:gd name="T68" fmla="*/ 3 w 2241"/>
                <a:gd name="T69" fmla="*/ 5 h 2186"/>
                <a:gd name="T70" fmla="*/ 3 w 2241"/>
                <a:gd name="T71" fmla="*/ 4 h 2186"/>
                <a:gd name="T72" fmla="*/ 4 w 2241"/>
                <a:gd name="T73" fmla="*/ 4 h 2186"/>
                <a:gd name="T74" fmla="*/ 4 w 2241"/>
                <a:gd name="T75" fmla="*/ 3 h 2186"/>
                <a:gd name="T76" fmla="*/ 5 w 2241"/>
                <a:gd name="T77" fmla="*/ 3 h 2186"/>
                <a:gd name="T78" fmla="*/ 5 w 2241"/>
                <a:gd name="T79" fmla="*/ 2 h 2186"/>
                <a:gd name="T80" fmla="*/ 5 w 2241"/>
                <a:gd name="T81" fmla="*/ 2 h 2186"/>
                <a:gd name="T82" fmla="*/ 5 w 2241"/>
                <a:gd name="T83" fmla="*/ 2 h 2186"/>
                <a:gd name="T84" fmla="*/ 5 w 2241"/>
                <a:gd name="T85" fmla="*/ 2 h 2186"/>
                <a:gd name="T86" fmla="*/ 5 w 2241"/>
                <a:gd name="T87" fmla="*/ 2 h 2186"/>
                <a:gd name="T88" fmla="*/ 4 w 2241"/>
                <a:gd name="T89" fmla="*/ 2 h 2186"/>
                <a:gd name="T90" fmla="*/ 4 w 2241"/>
                <a:gd name="T91" fmla="*/ 2 h 2186"/>
                <a:gd name="T92" fmla="*/ 4 w 2241"/>
                <a:gd name="T93" fmla="*/ 2 h 2186"/>
                <a:gd name="T94" fmla="*/ 4 w 2241"/>
                <a:gd name="T95" fmla="*/ 1 h 2186"/>
                <a:gd name="T96" fmla="*/ 4 w 2241"/>
                <a:gd name="T97" fmla="*/ 1 h 2186"/>
                <a:gd name="T98" fmla="*/ 3 w 2241"/>
                <a:gd name="T99" fmla="*/ 1 h 2186"/>
                <a:gd name="T100" fmla="*/ 3 w 2241"/>
                <a:gd name="T101" fmla="*/ 1 h 2186"/>
                <a:gd name="T102" fmla="*/ 3 w 2241"/>
                <a:gd name="T103" fmla="*/ 1 h 218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241" h="2186">
                  <a:moveTo>
                    <a:pt x="1056" y="53"/>
                  </a:moveTo>
                  <a:lnTo>
                    <a:pt x="1012" y="130"/>
                  </a:lnTo>
                  <a:lnTo>
                    <a:pt x="894" y="185"/>
                  </a:lnTo>
                  <a:lnTo>
                    <a:pt x="829" y="250"/>
                  </a:lnTo>
                  <a:lnTo>
                    <a:pt x="807" y="246"/>
                  </a:lnTo>
                  <a:lnTo>
                    <a:pt x="786" y="244"/>
                  </a:lnTo>
                  <a:lnTo>
                    <a:pt x="766" y="240"/>
                  </a:lnTo>
                  <a:lnTo>
                    <a:pt x="744" y="238"/>
                  </a:lnTo>
                  <a:lnTo>
                    <a:pt x="723" y="236"/>
                  </a:lnTo>
                  <a:lnTo>
                    <a:pt x="701" y="234"/>
                  </a:lnTo>
                  <a:lnTo>
                    <a:pt x="681" y="232"/>
                  </a:lnTo>
                  <a:lnTo>
                    <a:pt x="660" y="230"/>
                  </a:lnTo>
                  <a:lnTo>
                    <a:pt x="640" y="230"/>
                  </a:lnTo>
                  <a:lnTo>
                    <a:pt x="618" y="226"/>
                  </a:lnTo>
                  <a:lnTo>
                    <a:pt x="599" y="224"/>
                  </a:lnTo>
                  <a:lnTo>
                    <a:pt x="577" y="222"/>
                  </a:lnTo>
                  <a:lnTo>
                    <a:pt x="557" y="218"/>
                  </a:lnTo>
                  <a:lnTo>
                    <a:pt x="536" y="216"/>
                  </a:lnTo>
                  <a:lnTo>
                    <a:pt x="516" y="210"/>
                  </a:lnTo>
                  <a:lnTo>
                    <a:pt x="494" y="206"/>
                  </a:lnTo>
                  <a:lnTo>
                    <a:pt x="472" y="348"/>
                  </a:lnTo>
                  <a:lnTo>
                    <a:pt x="409" y="435"/>
                  </a:lnTo>
                  <a:lnTo>
                    <a:pt x="376" y="427"/>
                  </a:lnTo>
                  <a:lnTo>
                    <a:pt x="346" y="423"/>
                  </a:lnTo>
                  <a:lnTo>
                    <a:pt x="317" y="423"/>
                  </a:lnTo>
                  <a:lnTo>
                    <a:pt x="289" y="421"/>
                  </a:lnTo>
                  <a:lnTo>
                    <a:pt x="262" y="421"/>
                  </a:lnTo>
                  <a:lnTo>
                    <a:pt x="232" y="421"/>
                  </a:lnTo>
                  <a:lnTo>
                    <a:pt x="203" y="419"/>
                  </a:lnTo>
                  <a:lnTo>
                    <a:pt x="171" y="413"/>
                  </a:lnTo>
                  <a:lnTo>
                    <a:pt x="179" y="518"/>
                  </a:lnTo>
                  <a:lnTo>
                    <a:pt x="191" y="628"/>
                  </a:lnTo>
                  <a:lnTo>
                    <a:pt x="193" y="734"/>
                  </a:lnTo>
                  <a:lnTo>
                    <a:pt x="171" y="825"/>
                  </a:lnTo>
                  <a:lnTo>
                    <a:pt x="214" y="935"/>
                  </a:lnTo>
                  <a:lnTo>
                    <a:pt x="171" y="974"/>
                  </a:lnTo>
                  <a:lnTo>
                    <a:pt x="140" y="1014"/>
                  </a:lnTo>
                  <a:lnTo>
                    <a:pt x="114" y="1059"/>
                  </a:lnTo>
                  <a:lnTo>
                    <a:pt x="94" y="1104"/>
                  </a:lnTo>
                  <a:lnTo>
                    <a:pt x="75" y="1152"/>
                  </a:lnTo>
                  <a:lnTo>
                    <a:pt x="55" y="1201"/>
                  </a:lnTo>
                  <a:lnTo>
                    <a:pt x="31" y="1252"/>
                  </a:lnTo>
                  <a:lnTo>
                    <a:pt x="0" y="1303"/>
                  </a:lnTo>
                  <a:lnTo>
                    <a:pt x="142" y="1370"/>
                  </a:lnTo>
                  <a:lnTo>
                    <a:pt x="236" y="1402"/>
                  </a:lnTo>
                  <a:lnTo>
                    <a:pt x="214" y="1500"/>
                  </a:lnTo>
                  <a:lnTo>
                    <a:pt x="214" y="1609"/>
                  </a:lnTo>
                  <a:lnTo>
                    <a:pt x="354" y="1587"/>
                  </a:lnTo>
                  <a:lnTo>
                    <a:pt x="484" y="1551"/>
                  </a:lnTo>
                  <a:lnTo>
                    <a:pt x="516" y="1620"/>
                  </a:lnTo>
                  <a:lnTo>
                    <a:pt x="559" y="1914"/>
                  </a:lnTo>
                  <a:lnTo>
                    <a:pt x="634" y="2032"/>
                  </a:lnTo>
                  <a:lnTo>
                    <a:pt x="634" y="2109"/>
                  </a:lnTo>
                  <a:lnTo>
                    <a:pt x="742" y="2109"/>
                  </a:lnTo>
                  <a:lnTo>
                    <a:pt x="1000" y="2075"/>
                  </a:lnTo>
                  <a:lnTo>
                    <a:pt x="1032" y="2083"/>
                  </a:lnTo>
                  <a:lnTo>
                    <a:pt x="1063" y="2089"/>
                  </a:lnTo>
                  <a:lnTo>
                    <a:pt x="1093" y="2097"/>
                  </a:lnTo>
                  <a:lnTo>
                    <a:pt x="1125" y="2103"/>
                  </a:lnTo>
                  <a:lnTo>
                    <a:pt x="1156" y="2111"/>
                  </a:lnTo>
                  <a:lnTo>
                    <a:pt x="1188" y="2117"/>
                  </a:lnTo>
                  <a:lnTo>
                    <a:pt x="1217" y="2124"/>
                  </a:lnTo>
                  <a:lnTo>
                    <a:pt x="1249" y="2130"/>
                  </a:lnTo>
                  <a:lnTo>
                    <a:pt x="1280" y="2138"/>
                  </a:lnTo>
                  <a:lnTo>
                    <a:pt x="1312" y="2144"/>
                  </a:lnTo>
                  <a:lnTo>
                    <a:pt x="1341" y="2152"/>
                  </a:lnTo>
                  <a:lnTo>
                    <a:pt x="1373" y="2158"/>
                  </a:lnTo>
                  <a:lnTo>
                    <a:pt x="1404" y="2166"/>
                  </a:lnTo>
                  <a:lnTo>
                    <a:pt x="1436" y="2172"/>
                  </a:lnTo>
                  <a:lnTo>
                    <a:pt x="1465" y="2180"/>
                  </a:lnTo>
                  <a:lnTo>
                    <a:pt x="1497" y="2186"/>
                  </a:lnTo>
                  <a:lnTo>
                    <a:pt x="1497" y="2000"/>
                  </a:lnTo>
                  <a:lnTo>
                    <a:pt x="1584" y="1707"/>
                  </a:lnTo>
                  <a:lnTo>
                    <a:pt x="1670" y="1802"/>
                  </a:lnTo>
                  <a:lnTo>
                    <a:pt x="1810" y="1630"/>
                  </a:lnTo>
                  <a:lnTo>
                    <a:pt x="2037" y="1445"/>
                  </a:lnTo>
                  <a:lnTo>
                    <a:pt x="2165" y="1315"/>
                  </a:lnTo>
                  <a:lnTo>
                    <a:pt x="2208" y="1142"/>
                  </a:lnTo>
                  <a:lnTo>
                    <a:pt x="2241" y="957"/>
                  </a:lnTo>
                  <a:lnTo>
                    <a:pt x="2224" y="931"/>
                  </a:lnTo>
                  <a:lnTo>
                    <a:pt x="2204" y="909"/>
                  </a:lnTo>
                  <a:lnTo>
                    <a:pt x="2184" y="890"/>
                  </a:lnTo>
                  <a:lnTo>
                    <a:pt x="2165" y="872"/>
                  </a:lnTo>
                  <a:lnTo>
                    <a:pt x="2145" y="856"/>
                  </a:lnTo>
                  <a:lnTo>
                    <a:pt x="2125" y="844"/>
                  </a:lnTo>
                  <a:lnTo>
                    <a:pt x="2104" y="833"/>
                  </a:lnTo>
                  <a:lnTo>
                    <a:pt x="2082" y="823"/>
                  </a:lnTo>
                  <a:lnTo>
                    <a:pt x="2060" y="815"/>
                  </a:lnTo>
                  <a:lnTo>
                    <a:pt x="2037" y="809"/>
                  </a:lnTo>
                  <a:lnTo>
                    <a:pt x="2011" y="803"/>
                  </a:lnTo>
                  <a:lnTo>
                    <a:pt x="1987" y="799"/>
                  </a:lnTo>
                  <a:lnTo>
                    <a:pt x="1960" y="797"/>
                  </a:lnTo>
                  <a:lnTo>
                    <a:pt x="1932" y="795"/>
                  </a:lnTo>
                  <a:lnTo>
                    <a:pt x="1905" y="793"/>
                  </a:lnTo>
                  <a:lnTo>
                    <a:pt x="1875" y="793"/>
                  </a:lnTo>
                  <a:lnTo>
                    <a:pt x="1875" y="486"/>
                  </a:lnTo>
                  <a:lnTo>
                    <a:pt x="1875" y="315"/>
                  </a:lnTo>
                  <a:lnTo>
                    <a:pt x="1733" y="281"/>
                  </a:lnTo>
                  <a:lnTo>
                    <a:pt x="1497" y="228"/>
                  </a:lnTo>
                  <a:lnTo>
                    <a:pt x="1388" y="151"/>
                  </a:lnTo>
                  <a:lnTo>
                    <a:pt x="1345" y="0"/>
                  </a:lnTo>
                  <a:lnTo>
                    <a:pt x="1239" y="43"/>
                  </a:lnTo>
                  <a:lnTo>
                    <a:pt x="1184" y="108"/>
                  </a:lnTo>
                  <a:lnTo>
                    <a:pt x="1056" y="53"/>
                  </a:lnTo>
                  <a:close/>
                </a:path>
              </a:pathLst>
            </a:custGeom>
            <a:solidFill>
              <a:srgbClr val="E5D1AF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7" name="Freeform 84"/>
            <p:cNvSpPr>
              <a:spLocks/>
            </p:cNvSpPr>
            <p:nvPr/>
          </p:nvSpPr>
          <p:spPr bwMode="auto">
            <a:xfrm>
              <a:off x="2368" y="2322"/>
              <a:ext cx="118" cy="177"/>
            </a:xfrm>
            <a:custGeom>
              <a:avLst/>
              <a:gdLst>
                <a:gd name="T0" fmla="*/ 1 w 234"/>
                <a:gd name="T1" fmla="*/ 1 h 354"/>
                <a:gd name="T2" fmla="*/ 1 w 234"/>
                <a:gd name="T3" fmla="*/ 1 h 354"/>
                <a:gd name="T4" fmla="*/ 0 w 234"/>
                <a:gd name="T5" fmla="*/ 0 h 354"/>
                <a:gd name="T6" fmla="*/ 1 w 234"/>
                <a:gd name="T7" fmla="*/ 1 h 354"/>
                <a:gd name="T8" fmla="*/ 1 w 234"/>
                <a:gd name="T9" fmla="*/ 1 h 354"/>
                <a:gd name="T10" fmla="*/ 1 w 234"/>
                <a:gd name="T11" fmla="*/ 1 h 354"/>
                <a:gd name="T12" fmla="*/ 1 w 234"/>
                <a:gd name="T13" fmla="*/ 1 h 354"/>
                <a:gd name="T14" fmla="*/ 1 w 234"/>
                <a:gd name="T15" fmla="*/ 1 h 354"/>
                <a:gd name="T16" fmla="*/ 1 w 234"/>
                <a:gd name="T17" fmla="*/ 1 h 354"/>
                <a:gd name="T18" fmla="*/ 1 w 234"/>
                <a:gd name="T19" fmla="*/ 1 h 354"/>
                <a:gd name="T20" fmla="*/ 1 w 234"/>
                <a:gd name="T21" fmla="*/ 1 h 35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4" h="354">
                  <a:moveTo>
                    <a:pt x="234" y="20"/>
                  </a:moveTo>
                  <a:lnTo>
                    <a:pt x="92" y="20"/>
                  </a:lnTo>
                  <a:lnTo>
                    <a:pt x="0" y="0"/>
                  </a:lnTo>
                  <a:lnTo>
                    <a:pt x="6" y="87"/>
                  </a:lnTo>
                  <a:lnTo>
                    <a:pt x="29" y="268"/>
                  </a:lnTo>
                  <a:lnTo>
                    <a:pt x="79" y="354"/>
                  </a:lnTo>
                  <a:lnTo>
                    <a:pt x="128" y="354"/>
                  </a:lnTo>
                  <a:lnTo>
                    <a:pt x="179" y="280"/>
                  </a:lnTo>
                  <a:lnTo>
                    <a:pt x="179" y="199"/>
                  </a:lnTo>
                  <a:lnTo>
                    <a:pt x="220" y="199"/>
                  </a:lnTo>
                  <a:lnTo>
                    <a:pt x="234" y="2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8" name="Freeform 85"/>
            <p:cNvSpPr>
              <a:spLocks/>
            </p:cNvSpPr>
            <p:nvPr/>
          </p:nvSpPr>
          <p:spPr bwMode="auto">
            <a:xfrm>
              <a:off x="2503" y="2227"/>
              <a:ext cx="174" cy="213"/>
            </a:xfrm>
            <a:custGeom>
              <a:avLst/>
              <a:gdLst>
                <a:gd name="T0" fmla="*/ 1 w 346"/>
                <a:gd name="T1" fmla="*/ 0 h 425"/>
                <a:gd name="T2" fmla="*/ 1 w 346"/>
                <a:gd name="T3" fmla="*/ 1 h 425"/>
                <a:gd name="T4" fmla="*/ 0 w 346"/>
                <a:gd name="T5" fmla="*/ 1 h 425"/>
                <a:gd name="T6" fmla="*/ 0 w 346"/>
                <a:gd name="T7" fmla="*/ 1 h 425"/>
                <a:gd name="T8" fmla="*/ 1 w 346"/>
                <a:gd name="T9" fmla="*/ 1 h 425"/>
                <a:gd name="T10" fmla="*/ 1 w 346"/>
                <a:gd name="T11" fmla="*/ 1 h 425"/>
                <a:gd name="T12" fmla="*/ 1 w 346"/>
                <a:gd name="T13" fmla="*/ 1 h 425"/>
                <a:gd name="T14" fmla="*/ 1 w 346"/>
                <a:gd name="T15" fmla="*/ 1 h 425"/>
                <a:gd name="T16" fmla="*/ 1 w 346"/>
                <a:gd name="T17" fmla="*/ 1 h 425"/>
                <a:gd name="T18" fmla="*/ 1 w 346"/>
                <a:gd name="T19" fmla="*/ 1 h 425"/>
                <a:gd name="T20" fmla="*/ 1 w 346"/>
                <a:gd name="T21" fmla="*/ 1 h 425"/>
                <a:gd name="T22" fmla="*/ 1 w 346"/>
                <a:gd name="T23" fmla="*/ 0 h 425"/>
                <a:gd name="T24" fmla="*/ 1 w 346"/>
                <a:gd name="T25" fmla="*/ 0 h 4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6" h="425">
                  <a:moveTo>
                    <a:pt x="69" y="0"/>
                  </a:moveTo>
                  <a:lnTo>
                    <a:pt x="63" y="126"/>
                  </a:lnTo>
                  <a:lnTo>
                    <a:pt x="0" y="319"/>
                  </a:lnTo>
                  <a:lnTo>
                    <a:pt x="0" y="388"/>
                  </a:lnTo>
                  <a:lnTo>
                    <a:pt x="37" y="388"/>
                  </a:lnTo>
                  <a:lnTo>
                    <a:pt x="86" y="425"/>
                  </a:lnTo>
                  <a:lnTo>
                    <a:pt x="130" y="313"/>
                  </a:lnTo>
                  <a:lnTo>
                    <a:pt x="211" y="226"/>
                  </a:lnTo>
                  <a:lnTo>
                    <a:pt x="260" y="183"/>
                  </a:lnTo>
                  <a:lnTo>
                    <a:pt x="266" y="114"/>
                  </a:lnTo>
                  <a:lnTo>
                    <a:pt x="346" y="22"/>
                  </a:lnTo>
                  <a:lnTo>
                    <a:pt x="266" y="0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9" name="Freeform 86"/>
            <p:cNvSpPr>
              <a:spLocks/>
            </p:cNvSpPr>
            <p:nvPr/>
          </p:nvSpPr>
          <p:spPr bwMode="auto">
            <a:xfrm>
              <a:off x="2467" y="2428"/>
              <a:ext cx="177" cy="261"/>
            </a:xfrm>
            <a:custGeom>
              <a:avLst/>
              <a:gdLst>
                <a:gd name="T0" fmla="*/ 0 w 351"/>
                <a:gd name="T1" fmla="*/ 0 h 521"/>
                <a:gd name="T2" fmla="*/ 1 w 351"/>
                <a:gd name="T3" fmla="*/ 0 h 521"/>
                <a:gd name="T4" fmla="*/ 1 w 351"/>
                <a:gd name="T5" fmla="*/ 1 h 521"/>
                <a:gd name="T6" fmla="*/ 1 w 351"/>
                <a:gd name="T7" fmla="*/ 1 h 521"/>
                <a:gd name="T8" fmla="*/ 1 w 351"/>
                <a:gd name="T9" fmla="*/ 1 h 521"/>
                <a:gd name="T10" fmla="*/ 1 w 351"/>
                <a:gd name="T11" fmla="*/ 1 h 521"/>
                <a:gd name="T12" fmla="*/ 1 w 351"/>
                <a:gd name="T13" fmla="*/ 1 h 521"/>
                <a:gd name="T14" fmla="*/ 1 w 351"/>
                <a:gd name="T15" fmla="*/ 2 h 521"/>
                <a:gd name="T16" fmla="*/ 1 w 351"/>
                <a:gd name="T17" fmla="*/ 1 h 521"/>
                <a:gd name="T18" fmla="*/ 1 w 351"/>
                <a:gd name="T19" fmla="*/ 1 h 521"/>
                <a:gd name="T20" fmla="*/ 1 w 351"/>
                <a:gd name="T21" fmla="*/ 1 h 521"/>
                <a:gd name="T22" fmla="*/ 1 w 351"/>
                <a:gd name="T23" fmla="*/ 1 h 521"/>
                <a:gd name="T24" fmla="*/ 1 w 351"/>
                <a:gd name="T25" fmla="*/ 1 h 521"/>
                <a:gd name="T26" fmla="*/ 0 w 351"/>
                <a:gd name="T27" fmla="*/ 0 h 52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51" h="521">
                  <a:moveTo>
                    <a:pt x="0" y="0"/>
                  </a:moveTo>
                  <a:lnTo>
                    <a:pt x="73" y="0"/>
                  </a:lnTo>
                  <a:lnTo>
                    <a:pt x="159" y="29"/>
                  </a:lnTo>
                  <a:lnTo>
                    <a:pt x="159" y="98"/>
                  </a:lnTo>
                  <a:lnTo>
                    <a:pt x="222" y="230"/>
                  </a:lnTo>
                  <a:lnTo>
                    <a:pt x="289" y="338"/>
                  </a:lnTo>
                  <a:lnTo>
                    <a:pt x="333" y="415"/>
                  </a:lnTo>
                  <a:lnTo>
                    <a:pt x="351" y="521"/>
                  </a:lnTo>
                  <a:lnTo>
                    <a:pt x="240" y="484"/>
                  </a:lnTo>
                  <a:lnTo>
                    <a:pt x="191" y="372"/>
                  </a:lnTo>
                  <a:lnTo>
                    <a:pt x="173" y="297"/>
                  </a:lnTo>
                  <a:lnTo>
                    <a:pt x="87" y="147"/>
                  </a:lnTo>
                  <a:lnTo>
                    <a:pt x="18" y="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0" name="Freeform 87"/>
            <p:cNvSpPr>
              <a:spLocks/>
            </p:cNvSpPr>
            <p:nvPr/>
          </p:nvSpPr>
          <p:spPr bwMode="auto">
            <a:xfrm>
              <a:off x="2516" y="2640"/>
              <a:ext cx="46" cy="33"/>
            </a:xfrm>
            <a:custGeom>
              <a:avLst/>
              <a:gdLst>
                <a:gd name="T0" fmla="*/ 0 w 93"/>
                <a:gd name="T1" fmla="*/ 0 h 63"/>
                <a:gd name="T2" fmla="*/ 0 w 93"/>
                <a:gd name="T3" fmla="*/ 1 h 63"/>
                <a:gd name="T4" fmla="*/ 0 w 93"/>
                <a:gd name="T5" fmla="*/ 1 h 63"/>
                <a:gd name="T6" fmla="*/ 0 w 93"/>
                <a:gd name="T7" fmla="*/ 1 h 63"/>
                <a:gd name="T8" fmla="*/ 0 w 93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lnTo>
                    <a:pt x="81" y="8"/>
                  </a:lnTo>
                  <a:lnTo>
                    <a:pt x="93" y="63"/>
                  </a:lnTo>
                  <a:lnTo>
                    <a:pt x="44" y="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1" name="Freeform 88"/>
            <p:cNvSpPr>
              <a:spLocks/>
            </p:cNvSpPr>
            <p:nvPr/>
          </p:nvSpPr>
          <p:spPr bwMode="auto">
            <a:xfrm>
              <a:off x="2291" y="2622"/>
              <a:ext cx="326" cy="270"/>
            </a:xfrm>
            <a:custGeom>
              <a:avLst/>
              <a:gdLst>
                <a:gd name="T0" fmla="*/ 0 w 654"/>
                <a:gd name="T1" fmla="*/ 1 h 537"/>
                <a:gd name="T2" fmla="*/ 0 w 654"/>
                <a:gd name="T3" fmla="*/ 1 h 537"/>
                <a:gd name="T4" fmla="*/ 0 w 654"/>
                <a:gd name="T5" fmla="*/ 1 h 537"/>
                <a:gd name="T6" fmla="*/ 0 w 654"/>
                <a:gd name="T7" fmla="*/ 1 h 537"/>
                <a:gd name="T8" fmla="*/ 0 w 654"/>
                <a:gd name="T9" fmla="*/ 1 h 537"/>
                <a:gd name="T10" fmla="*/ 0 w 654"/>
                <a:gd name="T11" fmla="*/ 1 h 537"/>
                <a:gd name="T12" fmla="*/ 0 w 654"/>
                <a:gd name="T13" fmla="*/ 1 h 537"/>
                <a:gd name="T14" fmla="*/ 0 w 654"/>
                <a:gd name="T15" fmla="*/ 1 h 537"/>
                <a:gd name="T16" fmla="*/ 0 w 654"/>
                <a:gd name="T17" fmla="*/ 1 h 537"/>
                <a:gd name="T18" fmla="*/ 0 w 654"/>
                <a:gd name="T19" fmla="*/ 1 h 537"/>
                <a:gd name="T20" fmla="*/ 1 w 654"/>
                <a:gd name="T21" fmla="*/ 1 h 537"/>
                <a:gd name="T22" fmla="*/ 1 w 654"/>
                <a:gd name="T23" fmla="*/ 1 h 537"/>
                <a:gd name="T24" fmla="*/ 1 w 654"/>
                <a:gd name="T25" fmla="*/ 2 h 537"/>
                <a:gd name="T26" fmla="*/ 0 w 654"/>
                <a:gd name="T27" fmla="*/ 1 h 537"/>
                <a:gd name="T28" fmla="*/ 0 w 654"/>
                <a:gd name="T29" fmla="*/ 1 h 537"/>
                <a:gd name="T30" fmla="*/ 0 w 654"/>
                <a:gd name="T31" fmla="*/ 1 h 537"/>
                <a:gd name="T32" fmla="*/ 0 w 654"/>
                <a:gd name="T33" fmla="*/ 1 h 537"/>
                <a:gd name="T34" fmla="*/ 0 w 654"/>
                <a:gd name="T35" fmla="*/ 1 h 537"/>
                <a:gd name="T36" fmla="*/ 0 w 654"/>
                <a:gd name="T37" fmla="*/ 1 h 537"/>
                <a:gd name="T38" fmla="*/ 0 w 654"/>
                <a:gd name="T39" fmla="*/ 1 h 537"/>
                <a:gd name="T40" fmla="*/ 0 w 654"/>
                <a:gd name="T41" fmla="*/ 1 h 537"/>
                <a:gd name="T42" fmla="*/ 0 w 654"/>
                <a:gd name="T43" fmla="*/ 1 h 537"/>
                <a:gd name="T44" fmla="*/ 0 w 654"/>
                <a:gd name="T45" fmla="*/ 1 h 537"/>
                <a:gd name="T46" fmla="*/ 0 w 654"/>
                <a:gd name="T47" fmla="*/ 1 h 537"/>
                <a:gd name="T48" fmla="*/ 0 w 654"/>
                <a:gd name="T49" fmla="*/ 1 h 537"/>
                <a:gd name="T50" fmla="*/ 0 w 654"/>
                <a:gd name="T51" fmla="*/ 0 h 537"/>
                <a:gd name="T52" fmla="*/ 0 w 654"/>
                <a:gd name="T53" fmla="*/ 1 h 53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54" h="537">
                  <a:moveTo>
                    <a:pt x="235" y="2"/>
                  </a:moveTo>
                  <a:lnTo>
                    <a:pt x="292" y="100"/>
                  </a:lnTo>
                  <a:lnTo>
                    <a:pt x="315" y="175"/>
                  </a:lnTo>
                  <a:lnTo>
                    <a:pt x="248" y="175"/>
                  </a:lnTo>
                  <a:lnTo>
                    <a:pt x="205" y="193"/>
                  </a:lnTo>
                  <a:lnTo>
                    <a:pt x="292" y="193"/>
                  </a:lnTo>
                  <a:lnTo>
                    <a:pt x="359" y="256"/>
                  </a:lnTo>
                  <a:lnTo>
                    <a:pt x="376" y="344"/>
                  </a:lnTo>
                  <a:lnTo>
                    <a:pt x="426" y="411"/>
                  </a:lnTo>
                  <a:lnTo>
                    <a:pt x="501" y="411"/>
                  </a:lnTo>
                  <a:lnTo>
                    <a:pt x="538" y="462"/>
                  </a:lnTo>
                  <a:lnTo>
                    <a:pt x="654" y="480"/>
                  </a:lnTo>
                  <a:lnTo>
                    <a:pt x="556" y="537"/>
                  </a:lnTo>
                  <a:lnTo>
                    <a:pt x="483" y="480"/>
                  </a:lnTo>
                  <a:lnTo>
                    <a:pt x="347" y="368"/>
                  </a:lnTo>
                  <a:lnTo>
                    <a:pt x="243" y="293"/>
                  </a:lnTo>
                  <a:lnTo>
                    <a:pt x="113" y="269"/>
                  </a:lnTo>
                  <a:lnTo>
                    <a:pt x="0" y="256"/>
                  </a:lnTo>
                  <a:lnTo>
                    <a:pt x="69" y="181"/>
                  </a:lnTo>
                  <a:lnTo>
                    <a:pt x="87" y="126"/>
                  </a:lnTo>
                  <a:lnTo>
                    <a:pt x="97" y="82"/>
                  </a:lnTo>
                  <a:lnTo>
                    <a:pt x="105" y="51"/>
                  </a:lnTo>
                  <a:lnTo>
                    <a:pt x="111" y="27"/>
                  </a:lnTo>
                  <a:lnTo>
                    <a:pt x="124" y="11"/>
                  </a:lnTo>
                  <a:lnTo>
                    <a:pt x="146" y="3"/>
                  </a:lnTo>
                  <a:lnTo>
                    <a:pt x="181" y="0"/>
                  </a:lnTo>
                  <a:lnTo>
                    <a:pt x="235" y="2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2" name="Freeform 89"/>
            <p:cNvSpPr>
              <a:spLocks/>
            </p:cNvSpPr>
            <p:nvPr/>
          </p:nvSpPr>
          <p:spPr bwMode="auto">
            <a:xfrm>
              <a:off x="2606" y="2688"/>
              <a:ext cx="272" cy="119"/>
            </a:xfrm>
            <a:custGeom>
              <a:avLst/>
              <a:gdLst>
                <a:gd name="T0" fmla="*/ 0 w 541"/>
                <a:gd name="T1" fmla="*/ 0 h 237"/>
                <a:gd name="T2" fmla="*/ 1 w 541"/>
                <a:gd name="T3" fmla="*/ 1 h 237"/>
                <a:gd name="T4" fmla="*/ 1 w 541"/>
                <a:gd name="T5" fmla="*/ 1 h 237"/>
                <a:gd name="T6" fmla="*/ 1 w 541"/>
                <a:gd name="T7" fmla="*/ 1 h 237"/>
                <a:gd name="T8" fmla="*/ 2 w 541"/>
                <a:gd name="T9" fmla="*/ 1 h 237"/>
                <a:gd name="T10" fmla="*/ 2 w 541"/>
                <a:gd name="T11" fmla="*/ 1 h 237"/>
                <a:gd name="T12" fmla="*/ 1 w 541"/>
                <a:gd name="T13" fmla="*/ 1 h 237"/>
                <a:gd name="T14" fmla="*/ 1 w 541"/>
                <a:gd name="T15" fmla="*/ 1 h 237"/>
                <a:gd name="T16" fmla="*/ 1 w 541"/>
                <a:gd name="T17" fmla="*/ 1 h 237"/>
                <a:gd name="T18" fmla="*/ 1 w 541"/>
                <a:gd name="T19" fmla="*/ 1 h 237"/>
                <a:gd name="T20" fmla="*/ 1 w 541"/>
                <a:gd name="T21" fmla="*/ 1 h 237"/>
                <a:gd name="T22" fmla="*/ 0 w 541"/>
                <a:gd name="T23" fmla="*/ 0 h 2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1" h="237">
                  <a:moveTo>
                    <a:pt x="0" y="0"/>
                  </a:moveTo>
                  <a:lnTo>
                    <a:pt x="110" y="32"/>
                  </a:lnTo>
                  <a:lnTo>
                    <a:pt x="338" y="101"/>
                  </a:lnTo>
                  <a:lnTo>
                    <a:pt x="506" y="138"/>
                  </a:lnTo>
                  <a:lnTo>
                    <a:pt x="541" y="199"/>
                  </a:lnTo>
                  <a:lnTo>
                    <a:pt x="541" y="237"/>
                  </a:lnTo>
                  <a:lnTo>
                    <a:pt x="492" y="237"/>
                  </a:lnTo>
                  <a:lnTo>
                    <a:pt x="382" y="219"/>
                  </a:lnTo>
                  <a:lnTo>
                    <a:pt x="191" y="156"/>
                  </a:lnTo>
                  <a:lnTo>
                    <a:pt x="61" y="87"/>
                  </a:lnTo>
                  <a:lnTo>
                    <a:pt x="11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3" name="Freeform 90"/>
            <p:cNvSpPr>
              <a:spLocks/>
            </p:cNvSpPr>
            <p:nvPr/>
          </p:nvSpPr>
          <p:spPr bwMode="auto">
            <a:xfrm>
              <a:off x="2626" y="2378"/>
              <a:ext cx="221" cy="193"/>
            </a:xfrm>
            <a:custGeom>
              <a:avLst/>
              <a:gdLst>
                <a:gd name="T0" fmla="*/ 0 w 443"/>
                <a:gd name="T1" fmla="*/ 0 h 386"/>
                <a:gd name="T2" fmla="*/ 0 w 443"/>
                <a:gd name="T3" fmla="*/ 1 h 386"/>
                <a:gd name="T4" fmla="*/ 0 w 443"/>
                <a:gd name="T5" fmla="*/ 1 h 386"/>
                <a:gd name="T6" fmla="*/ 0 w 443"/>
                <a:gd name="T7" fmla="*/ 1 h 386"/>
                <a:gd name="T8" fmla="*/ 0 w 443"/>
                <a:gd name="T9" fmla="*/ 1 h 386"/>
                <a:gd name="T10" fmla="*/ 0 w 443"/>
                <a:gd name="T11" fmla="*/ 1 h 386"/>
                <a:gd name="T12" fmla="*/ 0 w 443"/>
                <a:gd name="T13" fmla="*/ 1 h 386"/>
                <a:gd name="T14" fmla="*/ 0 w 443"/>
                <a:gd name="T15" fmla="*/ 1 h 386"/>
                <a:gd name="T16" fmla="*/ 0 w 443"/>
                <a:gd name="T17" fmla="*/ 1 h 386"/>
                <a:gd name="T18" fmla="*/ 0 w 443"/>
                <a:gd name="T19" fmla="*/ 1 h 386"/>
                <a:gd name="T20" fmla="*/ 0 w 443"/>
                <a:gd name="T21" fmla="*/ 0 h 3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43" h="386">
                  <a:moveTo>
                    <a:pt x="0" y="0"/>
                  </a:moveTo>
                  <a:lnTo>
                    <a:pt x="43" y="69"/>
                  </a:lnTo>
                  <a:lnTo>
                    <a:pt x="116" y="168"/>
                  </a:lnTo>
                  <a:lnTo>
                    <a:pt x="272" y="268"/>
                  </a:lnTo>
                  <a:lnTo>
                    <a:pt x="376" y="337"/>
                  </a:lnTo>
                  <a:lnTo>
                    <a:pt x="443" y="386"/>
                  </a:lnTo>
                  <a:lnTo>
                    <a:pt x="382" y="386"/>
                  </a:lnTo>
                  <a:lnTo>
                    <a:pt x="240" y="300"/>
                  </a:lnTo>
                  <a:lnTo>
                    <a:pt x="79" y="191"/>
                  </a:lnTo>
                  <a:lnTo>
                    <a:pt x="0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" name="Freeform 91"/>
            <p:cNvSpPr>
              <a:spLocks/>
            </p:cNvSpPr>
            <p:nvPr/>
          </p:nvSpPr>
          <p:spPr bwMode="auto">
            <a:xfrm>
              <a:off x="2646" y="2587"/>
              <a:ext cx="429" cy="37"/>
            </a:xfrm>
            <a:custGeom>
              <a:avLst/>
              <a:gdLst>
                <a:gd name="T0" fmla="*/ 0 w 857"/>
                <a:gd name="T1" fmla="*/ 0 h 75"/>
                <a:gd name="T2" fmla="*/ 1 w 857"/>
                <a:gd name="T3" fmla="*/ 0 h 75"/>
                <a:gd name="T4" fmla="*/ 1 w 857"/>
                <a:gd name="T5" fmla="*/ 0 h 75"/>
                <a:gd name="T6" fmla="*/ 2 w 857"/>
                <a:gd name="T7" fmla="*/ 0 h 75"/>
                <a:gd name="T8" fmla="*/ 2 w 857"/>
                <a:gd name="T9" fmla="*/ 0 h 75"/>
                <a:gd name="T10" fmla="*/ 2 w 857"/>
                <a:gd name="T11" fmla="*/ 0 h 75"/>
                <a:gd name="T12" fmla="*/ 2 w 857"/>
                <a:gd name="T13" fmla="*/ 0 h 75"/>
                <a:gd name="T14" fmla="*/ 2 w 857"/>
                <a:gd name="T15" fmla="*/ 0 h 75"/>
                <a:gd name="T16" fmla="*/ 1 w 857"/>
                <a:gd name="T17" fmla="*/ 0 h 75"/>
                <a:gd name="T18" fmla="*/ 1 w 857"/>
                <a:gd name="T19" fmla="*/ 0 h 75"/>
                <a:gd name="T20" fmla="*/ 1 w 857"/>
                <a:gd name="T21" fmla="*/ 0 h 75"/>
                <a:gd name="T22" fmla="*/ 1 w 857"/>
                <a:gd name="T23" fmla="*/ 0 h 75"/>
                <a:gd name="T24" fmla="*/ 1 w 857"/>
                <a:gd name="T25" fmla="*/ 0 h 75"/>
                <a:gd name="T26" fmla="*/ 1 w 857"/>
                <a:gd name="T27" fmla="*/ 0 h 75"/>
                <a:gd name="T28" fmla="*/ 1 w 857"/>
                <a:gd name="T29" fmla="*/ 0 h 75"/>
                <a:gd name="T30" fmla="*/ 0 w 857"/>
                <a:gd name="T31" fmla="*/ 0 h 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57" h="75">
                  <a:moveTo>
                    <a:pt x="0" y="37"/>
                  </a:moveTo>
                  <a:lnTo>
                    <a:pt x="186" y="6"/>
                  </a:lnTo>
                  <a:lnTo>
                    <a:pt x="284" y="0"/>
                  </a:lnTo>
                  <a:lnTo>
                    <a:pt x="623" y="0"/>
                  </a:lnTo>
                  <a:lnTo>
                    <a:pt x="788" y="0"/>
                  </a:lnTo>
                  <a:lnTo>
                    <a:pt x="857" y="31"/>
                  </a:lnTo>
                  <a:lnTo>
                    <a:pt x="802" y="55"/>
                  </a:lnTo>
                  <a:lnTo>
                    <a:pt x="591" y="55"/>
                  </a:lnTo>
                  <a:lnTo>
                    <a:pt x="499" y="37"/>
                  </a:lnTo>
                  <a:lnTo>
                    <a:pt x="426" y="37"/>
                  </a:lnTo>
                  <a:lnTo>
                    <a:pt x="383" y="43"/>
                  </a:lnTo>
                  <a:lnTo>
                    <a:pt x="296" y="43"/>
                  </a:lnTo>
                  <a:lnTo>
                    <a:pt x="215" y="37"/>
                  </a:lnTo>
                  <a:lnTo>
                    <a:pt x="111" y="75"/>
                  </a:lnTo>
                  <a:lnTo>
                    <a:pt x="12" y="75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5" name="Freeform 92"/>
            <p:cNvSpPr>
              <a:spLocks/>
            </p:cNvSpPr>
            <p:nvPr/>
          </p:nvSpPr>
          <p:spPr bwMode="auto">
            <a:xfrm>
              <a:off x="2633" y="2276"/>
              <a:ext cx="34" cy="155"/>
            </a:xfrm>
            <a:custGeom>
              <a:avLst/>
              <a:gdLst>
                <a:gd name="T0" fmla="*/ 1 w 67"/>
                <a:gd name="T1" fmla="*/ 0 h 312"/>
                <a:gd name="T2" fmla="*/ 0 w 67"/>
                <a:gd name="T3" fmla="*/ 0 h 312"/>
                <a:gd name="T4" fmla="*/ 1 w 67"/>
                <a:gd name="T5" fmla="*/ 0 h 312"/>
                <a:gd name="T6" fmla="*/ 1 w 67"/>
                <a:gd name="T7" fmla="*/ 0 h 312"/>
                <a:gd name="T8" fmla="*/ 1 w 67"/>
                <a:gd name="T9" fmla="*/ 0 h 312"/>
                <a:gd name="T10" fmla="*/ 1 w 67"/>
                <a:gd name="T11" fmla="*/ 0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312">
                  <a:moveTo>
                    <a:pt x="25" y="0"/>
                  </a:moveTo>
                  <a:lnTo>
                    <a:pt x="0" y="99"/>
                  </a:lnTo>
                  <a:lnTo>
                    <a:pt x="12" y="205"/>
                  </a:lnTo>
                  <a:lnTo>
                    <a:pt x="67" y="312"/>
                  </a:lnTo>
                  <a:lnTo>
                    <a:pt x="31" y="15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6" name="Freeform 93"/>
            <p:cNvSpPr>
              <a:spLocks/>
            </p:cNvSpPr>
            <p:nvPr/>
          </p:nvSpPr>
          <p:spPr bwMode="auto">
            <a:xfrm>
              <a:off x="2671" y="2368"/>
              <a:ext cx="153" cy="152"/>
            </a:xfrm>
            <a:custGeom>
              <a:avLst/>
              <a:gdLst>
                <a:gd name="T0" fmla="*/ 0 w 307"/>
                <a:gd name="T1" fmla="*/ 0 h 304"/>
                <a:gd name="T2" fmla="*/ 0 w 307"/>
                <a:gd name="T3" fmla="*/ 1 h 304"/>
                <a:gd name="T4" fmla="*/ 0 w 307"/>
                <a:gd name="T5" fmla="*/ 1 h 304"/>
                <a:gd name="T6" fmla="*/ 0 w 307"/>
                <a:gd name="T7" fmla="*/ 1 h 304"/>
                <a:gd name="T8" fmla="*/ 0 w 307"/>
                <a:gd name="T9" fmla="*/ 1 h 304"/>
                <a:gd name="T10" fmla="*/ 0 w 307"/>
                <a:gd name="T11" fmla="*/ 1 h 304"/>
                <a:gd name="T12" fmla="*/ 0 w 307"/>
                <a:gd name="T13" fmla="*/ 1 h 304"/>
                <a:gd name="T14" fmla="*/ 0 w 307"/>
                <a:gd name="T15" fmla="*/ 1 h 304"/>
                <a:gd name="T16" fmla="*/ 0 w 307"/>
                <a:gd name="T17" fmla="*/ 1 h 304"/>
                <a:gd name="T18" fmla="*/ 0 w 307"/>
                <a:gd name="T19" fmla="*/ 0 h 3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7" h="304">
                  <a:moveTo>
                    <a:pt x="0" y="0"/>
                  </a:moveTo>
                  <a:lnTo>
                    <a:pt x="49" y="62"/>
                  </a:lnTo>
                  <a:lnTo>
                    <a:pt x="171" y="142"/>
                  </a:lnTo>
                  <a:lnTo>
                    <a:pt x="270" y="237"/>
                  </a:lnTo>
                  <a:lnTo>
                    <a:pt x="307" y="304"/>
                  </a:lnTo>
                  <a:lnTo>
                    <a:pt x="270" y="286"/>
                  </a:lnTo>
                  <a:lnTo>
                    <a:pt x="214" y="205"/>
                  </a:lnTo>
                  <a:lnTo>
                    <a:pt x="98" y="130"/>
                  </a:lnTo>
                  <a:lnTo>
                    <a:pt x="11" y="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7" name="Freeform 94"/>
            <p:cNvSpPr>
              <a:spLocks/>
            </p:cNvSpPr>
            <p:nvPr/>
          </p:nvSpPr>
          <p:spPr bwMode="auto">
            <a:xfrm>
              <a:off x="2827" y="2403"/>
              <a:ext cx="174" cy="138"/>
            </a:xfrm>
            <a:custGeom>
              <a:avLst/>
              <a:gdLst>
                <a:gd name="T0" fmla="*/ 0 w 347"/>
                <a:gd name="T1" fmla="*/ 1 h 274"/>
                <a:gd name="T2" fmla="*/ 1 w 347"/>
                <a:gd name="T3" fmla="*/ 1 h 274"/>
                <a:gd name="T4" fmla="*/ 1 w 347"/>
                <a:gd name="T5" fmla="*/ 1 h 274"/>
                <a:gd name="T6" fmla="*/ 1 w 347"/>
                <a:gd name="T7" fmla="*/ 0 h 274"/>
                <a:gd name="T8" fmla="*/ 1 w 347"/>
                <a:gd name="T9" fmla="*/ 1 h 274"/>
                <a:gd name="T10" fmla="*/ 1 w 347"/>
                <a:gd name="T11" fmla="*/ 1 h 274"/>
                <a:gd name="T12" fmla="*/ 1 w 347"/>
                <a:gd name="T13" fmla="*/ 1 h 274"/>
                <a:gd name="T14" fmla="*/ 0 w 347"/>
                <a:gd name="T15" fmla="*/ 1 h 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7" h="274">
                  <a:moveTo>
                    <a:pt x="0" y="274"/>
                  </a:moveTo>
                  <a:lnTo>
                    <a:pt x="81" y="193"/>
                  </a:lnTo>
                  <a:lnTo>
                    <a:pt x="266" y="52"/>
                  </a:lnTo>
                  <a:lnTo>
                    <a:pt x="347" y="0"/>
                  </a:lnTo>
                  <a:lnTo>
                    <a:pt x="272" y="101"/>
                  </a:lnTo>
                  <a:lnTo>
                    <a:pt x="205" y="138"/>
                  </a:lnTo>
                  <a:lnTo>
                    <a:pt x="106" y="193"/>
                  </a:lnTo>
                  <a:lnTo>
                    <a:pt x="0" y="274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8" name="Freeform 95"/>
            <p:cNvSpPr>
              <a:spLocks/>
            </p:cNvSpPr>
            <p:nvPr/>
          </p:nvSpPr>
          <p:spPr bwMode="auto">
            <a:xfrm>
              <a:off x="3017" y="2313"/>
              <a:ext cx="117" cy="239"/>
            </a:xfrm>
            <a:custGeom>
              <a:avLst/>
              <a:gdLst>
                <a:gd name="T0" fmla="*/ 0 w 235"/>
                <a:gd name="T1" fmla="*/ 0 h 479"/>
                <a:gd name="T2" fmla="*/ 0 w 235"/>
                <a:gd name="T3" fmla="*/ 0 h 479"/>
                <a:gd name="T4" fmla="*/ 0 w 235"/>
                <a:gd name="T5" fmla="*/ 0 h 479"/>
                <a:gd name="T6" fmla="*/ 0 w 235"/>
                <a:gd name="T7" fmla="*/ 0 h 479"/>
                <a:gd name="T8" fmla="*/ 0 w 235"/>
                <a:gd name="T9" fmla="*/ 0 h 479"/>
                <a:gd name="T10" fmla="*/ 0 w 235"/>
                <a:gd name="T11" fmla="*/ 0 h 479"/>
                <a:gd name="T12" fmla="*/ 0 w 235"/>
                <a:gd name="T13" fmla="*/ 0 h 479"/>
                <a:gd name="T14" fmla="*/ 0 w 235"/>
                <a:gd name="T15" fmla="*/ 0 h 479"/>
                <a:gd name="T16" fmla="*/ 0 w 235"/>
                <a:gd name="T17" fmla="*/ 0 h 479"/>
                <a:gd name="T18" fmla="*/ 0 w 235"/>
                <a:gd name="T19" fmla="*/ 0 h 479"/>
                <a:gd name="T20" fmla="*/ 0 w 235"/>
                <a:gd name="T21" fmla="*/ 0 h 479"/>
                <a:gd name="T22" fmla="*/ 0 w 235"/>
                <a:gd name="T23" fmla="*/ 0 h 4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5" h="479">
                  <a:moveTo>
                    <a:pt x="57" y="0"/>
                  </a:moveTo>
                  <a:lnTo>
                    <a:pt x="150" y="38"/>
                  </a:lnTo>
                  <a:lnTo>
                    <a:pt x="235" y="130"/>
                  </a:lnTo>
                  <a:lnTo>
                    <a:pt x="191" y="211"/>
                  </a:lnTo>
                  <a:lnTo>
                    <a:pt x="130" y="311"/>
                  </a:lnTo>
                  <a:lnTo>
                    <a:pt x="87" y="424"/>
                  </a:lnTo>
                  <a:lnTo>
                    <a:pt x="0" y="479"/>
                  </a:lnTo>
                  <a:lnTo>
                    <a:pt x="63" y="398"/>
                  </a:lnTo>
                  <a:lnTo>
                    <a:pt x="142" y="205"/>
                  </a:lnTo>
                  <a:lnTo>
                    <a:pt x="136" y="67"/>
                  </a:lnTo>
                  <a:lnTo>
                    <a:pt x="49" y="67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9" name="Freeform 96"/>
            <p:cNvSpPr>
              <a:spLocks/>
            </p:cNvSpPr>
            <p:nvPr/>
          </p:nvSpPr>
          <p:spPr bwMode="auto">
            <a:xfrm>
              <a:off x="2626" y="2235"/>
              <a:ext cx="178" cy="189"/>
            </a:xfrm>
            <a:custGeom>
              <a:avLst/>
              <a:gdLst>
                <a:gd name="T0" fmla="*/ 0 w 357"/>
                <a:gd name="T1" fmla="*/ 1 h 378"/>
                <a:gd name="T2" fmla="*/ 0 w 357"/>
                <a:gd name="T3" fmla="*/ 1 h 378"/>
                <a:gd name="T4" fmla="*/ 0 w 357"/>
                <a:gd name="T5" fmla="*/ 1 h 378"/>
                <a:gd name="T6" fmla="*/ 0 w 357"/>
                <a:gd name="T7" fmla="*/ 1 h 378"/>
                <a:gd name="T8" fmla="*/ 0 w 357"/>
                <a:gd name="T9" fmla="*/ 1 h 378"/>
                <a:gd name="T10" fmla="*/ 0 w 357"/>
                <a:gd name="T11" fmla="*/ 1 h 378"/>
                <a:gd name="T12" fmla="*/ 0 w 357"/>
                <a:gd name="T13" fmla="*/ 1 h 378"/>
                <a:gd name="T14" fmla="*/ 0 w 357"/>
                <a:gd name="T15" fmla="*/ 1 h 378"/>
                <a:gd name="T16" fmla="*/ 0 w 357"/>
                <a:gd name="T17" fmla="*/ 1 h 378"/>
                <a:gd name="T18" fmla="*/ 0 w 357"/>
                <a:gd name="T19" fmla="*/ 1 h 378"/>
                <a:gd name="T20" fmla="*/ 0 w 357"/>
                <a:gd name="T21" fmla="*/ 1 h 378"/>
                <a:gd name="T22" fmla="*/ 0 w 357"/>
                <a:gd name="T23" fmla="*/ 1 h 378"/>
                <a:gd name="T24" fmla="*/ 0 w 357"/>
                <a:gd name="T25" fmla="*/ 1 h 378"/>
                <a:gd name="T26" fmla="*/ 0 w 357"/>
                <a:gd name="T27" fmla="*/ 0 h 378"/>
                <a:gd name="T28" fmla="*/ 0 w 357"/>
                <a:gd name="T29" fmla="*/ 0 h 378"/>
                <a:gd name="T30" fmla="*/ 0 w 357"/>
                <a:gd name="T31" fmla="*/ 1 h 37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7" h="378">
                  <a:moveTo>
                    <a:pt x="49" y="74"/>
                  </a:moveTo>
                  <a:lnTo>
                    <a:pt x="0" y="179"/>
                  </a:lnTo>
                  <a:lnTo>
                    <a:pt x="6" y="248"/>
                  </a:lnTo>
                  <a:lnTo>
                    <a:pt x="37" y="315"/>
                  </a:lnTo>
                  <a:lnTo>
                    <a:pt x="79" y="378"/>
                  </a:lnTo>
                  <a:lnTo>
                    <a:pt x="37" y="204"/>
                  </a:lnTo>
                  <a:lnTo>
                    <a:pt x="93" y="136"/>
                  </a:lnTo>
                  <a:lnTo>
                    <a:pt x="165" y="110"/>
                  </a:lnTo>
                  <a:lnTo>
                    <a:pt x="165" y="61"/>
                  </a:lnTo>
                  <a:lnTo>
                    <a:pt x="234" y="61"/>
                  </a:lnTo>
                  <a:lnTo>
                    <a:pt x="327" y="98"/>
                  </a:lnTo>
                  <a:lnTo>
                    <a:pt x="357" y="43"/>
                  </a:lnTo>
                  <a:lnTo>
                    <a:pt x="290" y="11"/>
                  </a:lnTo>
                  <a:lnTo>
                    <a:pt x="165" y="0"/>
                  </a:lnTo>
                  <a:lnTo>
                    <a:pt x="98" y="0"/>
                  </a:lnTo>
                  <a:lnTo>
                    <a:pt x="49" y="74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0" name="Freeform 97"/>
            <p:cNvSpPr>
              <a:spLocks/>
            </p:cNvSpPr>
            <p:nvPr/>
          </p:nvSpPr>
          <p:spPr bwMode="auto">
            <a:xfrm>
              <a:off x="2923" y="2446"/>
              <a:ext cx="267" cy="278"/>
            </a:xfrm>
            <a:custGeom>
              <a:avLst/>
              <a:gdLst>
                <a:gd name="T0" fmla="*/ 0 w 532"/>
                <a:gd name="T1" fmla="*/ 2 h 553"/>
                <a:gd name="T2" fmla="*/ 1 w 532"/>
                <a:gd name="T3" fmla="*/ 1 h 553"/>
                <a:gd name="T4" fmla="*/ 1 w 532"/>
                <a:gd name="T5" fmla="*/ 1 h 553"/>
                <a:gd name="T6" fmla="*/ 1 w 532"/>
                <a:gd name="T7" fmla="*/ 1 h 553"/>
                <a:gd name="T8" fmla="*/ 1 w 532"/>
                <a:gd name="T9" fmla="*/ 1 h 553"/>
                <a:gd name="T10" fmla="*/ 1 w 532"/>
                <a:gd name="T11" fmla="*/ 1 h 553"/>
                <a:gd name="T12" fmla="*/ 1 w 532"/>
                <a:gd name="T13" fmla="*/ 0 h 553"/>
                <a:gd name="T14" fmla="*/ 2 w 532"/>
                <a:gd name="T15" fmla="*/ 1 h 553"/>
                <a:gd name="T16" fmla="*/ 2 w 532"/>
                <a:gd name="T17" fmla="*/ 1 h 553"/>
                <a:gd name="T18" fmla="*/ 1 w 532"/>
                <a:gd name="T19" fmla="*/ 1 h 553"/>
                <a:gd name="T20" fmla="*/ 1 w 532"/>
                <a:gd name="T21" fmla="*/ 1 h 553"/>
                <a:gd name="T22" fmla="*/ 1 w 532"/>
                <a:gd name="T23" fmla="*/ 2 h 553"/>
                <a:gd name="T24" fmla="*/ 1 w 532"/>
                <a:gd name="T25" fmla="*/ 2 h 553"/>
                <a:gd name="T26" fmla="*/ 0 w 532"/>
                <a:gd name="T27" fmla="*/ 2 h 5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32" h="553">
                  <a:moveTo>
                    <a:pt x="0" y="534"/>
                  </a:moveTo>
                  <a:lnTo>
                    <a:pt x="185" y="473"/>
                  </a:lnTo>
                  <a:lnTo>
                    <a:pt x="278" y="378"/>
                  </a:lnTo>
                  <a:lnTo>
                    <a:pt x="427" y="148"/>
                  </a:lnTo>
                  <a:lnTo>
                    <a:pt x="463" y="93"/>
                  </a:lnTo>
                  <a:lnTo>
                    <a:pt x="408" y="43"/>
                  </a:lnTo>
                  <a:lnTo>
                    <a:pt x="451" y="0"/>
                  </a:lnTo>
                  <a:lnTo>
                    <a:pt x="532" y="49"/>
                  </a:lnTo>
                  <a:lnTo>
                    <a:pt x="532" y="124"/>
                  </a:lnTo>
                  <a:lnTo>
                    <a:pt x="376" y="392"/>
                  </a:lnTo>
                  <a:lnTo>
                    <a:pt x="321" y="490"/>
                  </a:lnTo>
                  <a:lnTo>
                    <a:pt x="234" y="516"/>
                  </a:lnTo>
                  <a:lnTo>
                    <a:pt x="43" y="553"/>
                  </a:lnTo>
                  <a:lnTo>
                    <a:pt x="0" y="534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1" name="Freeform 98"/>
            <p:cNvSpPr>
              <a:spLocks/>
            </p:cNvSpPr>
            <p:nvPr/>
          </p:nvSpPr>
          <p:spPr bwMode="auto">
            <a:xfrm>
              <a:off x="2754" y="2692"/>
              <a:ext cx="471" cy="193"/>
            </a:xfrm>
            <a:custGeom>
              <a:avLst/>
              <a:gdLst>
                <a:gd name="T0" fmla="*/ 0 w 944"/>
                <a:gd name="T1" fmla="*/ 1 h 386"/>
                <a:gd name="T2" fmla="*/ 0 w 944"/>
                <a:gd name="T3" fmla="*/ 1 h 386"/>
                <a:gd name="T4" fmla="*/ 0 w 944"/>
                <a:gd name="T5" fmla="*/ 1 h 386"/>
                <a:gd name="T6" fmla="*/ 1 w 944"/>
                <a:gd name="T7" fmla="*/ 1 h 386"/>
                <a:gd name="T8" fmla="*/ 1 w 944"/>
                <a:gd name="T9" fmla="*/ 1 h 386"/>
                <a:gd name="T10" fmla="*/ 1 w 944"/>
                <a:gd name="T11" fmla="*/ 0 h 386"/>
                <a:gd name="T12" fmla="*/ 1 w 944"/>
                <a:gd name="T13" fmla="*/ 1 h 386"/>
                <a:gd name="T14" fmla="*/ 1 w 944"/>
                <a:gd name="T15" fmla="*/ 1 h 386"/>
                <a:gd name="T16" fmla="*/ 1 w 944"/>
                <a:gd name="T17" fmla="*/ 1 h 386"/>
                <a:gd name="T18" fmla="*/ 1 w 944"/>
                <a:gd name="T19" fmla="*/ 1 h 386"/>
                <a:gd name="T20" fmla="*/ 1 w 944"/>
                <a:gd name="T21" fmla="*/ 1 h 386"/>
                <a:gd name="T22" fmla="*/ 1 w 944"/>
                <a:gd name="T23" fmla="*/ 1 h 386"/>
                <a:gd name="T24" fmla="*/ 0 w 944"/>
                <a:gd name="T25" fmla="*/ 1 h 386"/>
                <a:gd name="T26" fmla="*/ 0 w 944"/>
                <a:gd name="T27" fmla="*/ 1 h 386"/>
                <a:gd name="T28" fmla="*/ 0 w 944"/>
                <a:gd name="T29" fmla="*/ 1 h 386"/>
                <a:gd name="T30" fmla="*/ 0 w 944"/>
                <a:gd name="T31" fmla="*/ 1 h 386"/>
                <a:gd name="T32" fmla="*/ 0 w 944"/>
                <a:gd name="T33" fmla="*/ 1 h 3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44" h="386">
                  <a:moveTo>
                    <a:pt x="69" y="251"/>
                  </a:moveTo>
                  <a:lnTo>
                    <a:pt x="240" y="288"/>
                  </a:lnTo>
                  <a:lnTo>
                    <a:pt x="388" y="282"/>
                  </a:lnTo>
                  <a:lnTo>
                    <a:pt x="599" y="170"/>
                  </a:lnTo>
                  <a:lnTo>
                    <a:pt x="692" y="95"/>
                  </a:lnTo>
                  <a:lnTo>
                    <a:pt x="741" y="0"/>
                  </a:lnTo>
                  <a:lnTo>
                    <a:pt x="833" y="26"/>
                  </a:lnTo>
                  <a:lnTo>
                    <a:pt x="889" y="81"/>
                  </a:lnTo>
                  <a:lnTo>
                    <a:pt x="944" y="107"/>
                  </a:lnTo>
                  <a:lnTo>
                    <a:pt x="778" y="256"/>
                  </a:lnTo>
                  <a:lnTo>
                    <a:pt x="587" y="380"/>
                  </a:lnTo>
                  <a:lnTo>
                    <a:pt x="518" y="369"/>
                  </a:lnTo>
                  <a:lnTo>
                    <a:pt x="439" y="369"/>
                  </a:lnTo>
                  <a:lnTo>
                    <a:pt x="315" y="386"/>
                  </a:lnTo>
                  <a:lnTo>
                    <a:pt x="211" y="343"/>
                  </a:lnTo>
                  <a:lnTo>
                    <a:pt x="0" y="282"/>
                  </a:lnTo>
                  <a:lnTo>
                    <a:pt x="69" y="251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2" name="Freeform 99"/>
            <p:cNvSpPr>
              <a:spLocks/>
            </p:cNvSpPr>
            <p:nvPr/>
          </p:nvSpPr>
          <p:spPr bwMode="auto">
            <a:xfrm>
              <a:off x="3033" y="2495"/>
              <a:ext cx="363" cy="487"/>
            </a:xfrm>
            <a:custGeom>
              <a:avLst/>
              <a:gdLst>
                <a:gd name="T0" fmla="*/ 1 w 723"/>
                <a:gd name="T1" fmla="*/ 0 h 970"/>
                <a:gd name="T2" fmla="*/ 1 w 723"/>
                <a:gd name="T3" fmla="*/ 1 h 970"/>
                <a:gd name="T4" fmla="*/ 2 w 723"/>
                <a:gd name="T5" fmla="*/ 1 h 970"/>
                <a:gd name="T6" fmla="*/ 2 w 723"/>
                <a:gd name="T7" fmla="*/ 1 h 970"/>
                <a:gd name="T8" fmla="*/ 2 w 723"/>
                <a:gd name="T9" fmla="*/ 1 h 970"/>
                <a:gd name="T10" fmla="*/ 2 w 723"/>
                <a:gd name="T11" fmla="*/ 1 h 970"/>
                <a:gd name="T12" fmla="*/ 2 w 723"/>
                <a:gd name="T13" fmla="*/ 1 h 970"/>
                <a:gd name="T14" fmla="*/ 2 w 723"/>
                <a:gd name="T15" fmla="*/ 2 h 970"/>
                <a:gd name="T16" fmla="*/ 2 w 723"/>
                <a:gd name="T17" fmla="*/ 2 h 970"/>
                <a:gd name="T18" fmla="*/ 2 w 723"/>
                <a:gd name="T19" fmla="*/ 2 h 970"/>
                <a:gd name="T20" fmla="*/ 2 w 723"/>
                <a:gd name="T21" fmla="*/ 2 h 970"/>
                <a:gd name="T22" fmla="*/ 2 w 723"/>
                <a:gd name="T23" fmla="*/ 2 h 970"/>
                <a:gd name="T24" fmla="*/ 2 w 723"/>
                <a:gd name="T25" fmla="*/ 2 h 970"/>
                <a:gd name="T26" fmla="*/ 2 w 723"/>
                <a:gd name="T27" fmla="*/ 2 h 970"/>
                <a:gd name="T28" fmla="*/ 1 w 723"/>
                <a:gd name="T29" fmla="*/ 2 h 970"/>
                <a:gd name="T30" fmla="*/ 1 w 723"/>
                <a:gd name="T31" fmla="*/ 2 h 970"/>
                <a:gd name="T32" fmla="*/ 1 w 723"/>
                <a:gd name="T33" fmla="*/ 2 h 970"/>
                <a:gd name="T34" fmla="*/ 1 w 723"/>
                <a:gd name="T35" fmla="*/ 2 h 970"/>
                <a:gd name="T36" fmla="*/ 1 w 723"/>
                <a:gd name="T37" fmla="*/ 2 h 970"/>
                <a:gd name="T38" fmla="*/ 1 w 723"/>
                <a:gd name="T39" fmla="*/ 2 h 970"/>
                <a:gd name="T40" fmla="*/ 1 w 723"/>
                <a:gd name="T41" fmla="*/ 2 h 970"/>
                <a:gd name="T42" fmla="*/ 1 w 723"/>
                <a:gd name="T43" fmla="*/ 2 h 970"/>
                <a:gd name="T44" fmla="*/ 0 w 723"/>
                <a:gd name="T45" fmla="*/ 2 h 970"/>
                <a:gd name="T46" fmla="*/ 1 w 723"/>
                <a:gd name="T47" fmla="*/ 2 h 970"/>
                <a:gd name="T48" fmla="*/ 1 w 723"/>
                <a:gd name="T49" fmla="*/ 2 h 970"/>
                <a:gd name="T50" fmla="*/ 1 w 723"/>
                <a:gd name="T51" fmla="*/ 1 h 970"/>
                <a:gd name="T52" fmla="*/ 2 w 723"/>
                <a:gd name="T53" fmla="*/ 1 h 970"/>
                <a:gd name="T54" fmla="*/ 2 w 723"/>
                <a:gd name="T55" fmla="*/ 1 h 970"/>
                <a:gd name="T56" fmla="*/ 1 w 723"/>
                <a:gd name="T57" fmla="*/ 1 h 970"/>
                <a:gd name="T58" fmla="*/ 1 w 723"/>
                <a:gd name="T59" fmla="*/ 1 h 970"/>
                <a:gd name="T60" fmla="*/ 1 w 723"/>
                <a:gd name="T61" fmla="*/ 0 h 97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23" h="970">
                  <a:moveTo>
                    <a:pt x="376" y="0"/>
                  </a:moveTo>
                  <a:lnTo>
                    <a:pt x="494" y="5"/>
                  </a:lnTo>
                  <a:lnTo>
                    <a:pt x="723" y="124"/>
                  </a:lnTo>
                  <a:lnTo>
                    <a:pt x="707" y="342"/>
                  </a:lnTo>
                  <a:lnTo>
                    <a:pt x="705" y="395"/>
                  </a:lnTo>
                  <a:lnTo>
                    <a:pt x="699" y="443"/>
                  </a:lnTo>
                  <a:lnTo>
                    <a:pt x="689" y="484"/>
                  </a:lnTo>
                  <a:lnTo>
                    <a:pt x="675" y="521"/>
                  </a:lnTo>
                  <a:lnTo>
                    <a:pt x="659" y="555"/>
                  </a:lnTo>
                  <a:lnTo>
                    <a:pt x="638" y="586"/>
                  </a:lnTo>
                  <a:lnTo>
                    <a:pt x="616" y="614"/>
                  </a:lnTo>
                  <a:lnTo>
                    <a:pt x="589" y="640"/>
                  </a:lnTo>
                  <a:lnTo>
                    <a:pt x="561" y="665"/>
                  </a:lnTo>
                  <a:lnTo>
                    <a:pt x="529" y="691"/>
                  </a:lnTo>
                  <a:lnTo>
                    <a:pt x="496" y="714"/>
                  </a:lnTo>
                  <a:lnTo>
                    <a:pt x="459" y="740"/>
                  </a:lnTo>
                  <a:lnTo>
                    <a:pt x="421" y="768"/>
                  </a:lnTo>
                  <a:lnTo>
                    <a:pt x="382" y="797"/>
                  </a:lnTo>
                  <a:lnTo>
                    <a:pt x="340" y="831"/>
                  </a:lnTo>
                  <a:lnTo>
                    <a:pt x="297" y="866"/>
                  </a:lnTo>
                  <a:lnTo>
                    <a:pt x="204" y="970"/>
                  </a:lnTo>
                  <a:lnTo>
                    <a:pt x="118" y="927"/>
                  </a:lnTo>
                  <a:lnTo>
                    <a:pt x="0" y="866"/>
                  </a:lnTo>
                  <a:lnTo>
                    <a:pt x="68" y="791"/>
                  </a:lnTo>
                  <a:lnTo>
                    <a:pt x="376" y="547"/>
                  </a:lnTo>
                  <a:lnTo>
                    <a:pt x="468" y="472"/>
                  </a:lnTo>
                  <a:lnTo>
                    <a:pt x="561" y="299"/>
                  </a:lnTo>
                  <a:lnTo>
                    <a:pt x="524" y="161"/>
                  </a:lnTo>
                  <a:lnTo>
                    <a:pt x="425" y="86"/>
                  </a:lnTo>
                  <a:lnTo>
                    <a:pt x="352" y="74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3" name="Freeform 100"/>
            <p:cNvSpPr>
              <a:spLocks/>
            </p:cNvSpPr>
            <p:nvPr/>
          </p:nvSpPr>
          <p:spPr bwMode="auto">
            <a:xfrm>
              <a:off x="2883" y="2130"/>
              <a:ext cx="326" cy="339"/>
            </a:xfrm>
            <a:custGeom>
              <a:avLst/>
              <a:gdLst>
                <a:gd name="T0" fmla="*/ 0 w 654"/>
                <a:gd name="T1" fmla="*/ 1 h 677"/>
                <a:gd name="T2" fmla="*/ 0 w 654"/>
                <a:gd name="T3" fmla="*/ 1 h 677"/>
                <a:gd name="T4" fmla="*/ 0 w 654"/>
                <a:gd name="T5" fmla="*/ 0 h 677"/>
                <a:gd name="T6" fmla="*/ 0 w 654"/>
                <a:gd name="T7" fmla="*/ 1 h 677"/>
                <a:gd name="T8" fmla="*/ 0 w 654"/>
                <a:gd name="T9" fmla="*/ 1 h 677"/>
                <a:gd name="T10" fmla="*/ 0 w 654"/>
                <a:gd name="T11" fmla="*/ 1 h 677"/>
                <a:gd name="T12" fmla="*/ 1 w 654"/>
                <a:gd name="T13" fmla="*/ 1 h 677"/>
                <a:gd name="T14" fmla="*/ 1 w 654"/>
                <a:gd name="T15" fmla="*/ 1 h 677"/>
                <a:gd name="T16" fmla="*/ 1 w 654"/>
                <a:gd name="T17" fmla="*/ 2 h 677"/>
                <a:gd name="T18" fmla="*/ 1 w 654"/>
                <a:gd name="T19" fmla="*/ 2 h 677"/>
                <a:gd name="T20" fmla="*/ 1 w 654"/>
                <a:gd name="T21" fmla="*/ 2 h 677"/>
                <a:gd name="T22" fmla="*/ 1 w 654"/>
                <a:gd name="T23" fmla="*/ 1 h 677"/>
                <a:gd name="T24" fmla="*/ 1 w 654"/>
                <a:gd name="T25" fmla="*/ 1 h 677"/>
                <a:gd name="T26" fmla="*/ 0 w 654"/>
                <a:gd name="T27" fmla="*/ 1 h 677"/>
                <a:gd name="T28" fmla="*/ 0 w 654"/>
                <a:gd name="T29" fmla="*/ 1 h 677"/>
                <a:gd name="T30" fmla="*/ 0 w 654"/>
                <a:gd name="T31" fmla="*/ 1 h 677"/>
                <a:gd name="T32" fmla="*/ 0 w 654"/>
                <a:gd name="T33" fmla="*/ 1 h 677"/>
                <a:gd name="T34" fmla="*/ 0 w 654"/>
                <a:gd name="T35" fmla="*/ 1 h 677"/>
                <a:gd name="T36" fmla="*/ 0 w 654"/>
                <a:gd name="T37" fmla="*/ 1 h 67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54" h="677">
                  <a:moveTo>
                    <a:pt x="0" y="93"/>
                  </a:moveTo>
                  <a:lnTo>
                    <a:pt x="47" y="53"/>
                  </a:lnTo>
                  <a:lnTo>
                    <a:pt x="116" y="0"/>
                  </a:lnTo>
                  <a:lnTo>
                    <a:pt x="191" y="102"/>
                  </a:lnTo>
                  <a:lnTo>
                    <a:pt x="317" y="189"/>
                  </a:lnTo>
                  <a:lnTo>
                    <a:pt x="471" y="221"/>
                  </a:lnTo>
                  <a:lnTo>
                    <a:pt x="636" y="242"/>
                  </a:lnTo>
                  <a:lnTo>
                    <a:pt x="654" y="303"/>
                  </a:lnTo>
                  <a:lnTo>
                    <a:pt x="640" y="677"/>
                  </a:lnTo>
                  <a:lnTo>
                    <a:pt x="575" y="624"/>
                  </a:lnTo>
                  <a:lnTo>
                    <a:pt x="540" y="573"/>
                  </a:lnTo>
                  <a:lnTo>
                    <a:pt x="575" y="441"/>
                  </a:lnTo>
                  <a:lnTo>
                    <a:pt x="575" y="303"/>
                  </a:lnTo>
                  <a:lnTo>
                    <a:pt x="443" y="303"/>
                  </a:lnTo>
                  <a:lnTo>
                    <a:pt x="327" y="276"/>
                  </a:lnTo>
                  <a:lnTo>
                    <a:pt x="227" y="224"/>
                  </a:lnTo>
                  <a:lnTo>
                    <a:pt x="140" y="136"/>
                  </a:lnTo>
                  <a:lnTo>
                    <a:pt x="51" y="85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4" name="Freeform 101"/>
            <p:cNvSpPr>
              <a:spLocks/>
            </p:cNvSpPr>
            <p:nvPr/>
          </p:nvSpPr>
          <p:spPr bwMode="auto">
            <a:xfrm>
              <a:off x="2824" y="2285"/>
              <a:ext cx="98" cy="140"/>
            </a:xfrm>
            <a:custGeom>
              <a:avLst/>
              <a:gdLst>
                <a:gd name="T0" fmla="*/ 0 w 193"/>
                <a:gd name="T1" fmla="*/ 0 h 282"/>
                <a:gd name="T2" fmla="*/ 1 w 193"/>
                <a:gd name="T3" fmla="*/ 0 h 282"/>
                <a:gd name="T4" fmla="*/ 1 w 193"/>
                <a:gd name="T5" fmla="*/ 0 h 282"/>
                <a:gd name="T6" fmla="*/ 1 w 193"/>
                <a:gd name="T7" fmla="*/ 0 h 282"/>
                <a:gd name="T8" fmla="*/ 1 w 193"/>
                <a:gd name="T9" fmla="*/ 0 h 282"/>
                <a:gd name="T10" fmla="*/ 1 w 193"/>
                <a:gd name="T11" fmla="*/ 0 h 282"/>
                <a:gd name="T12" fmla="*/ 1 w 193"/>
                <a:gd name="T13" fmla="*/ 0 h 282"/>
                <a:gd name="T14" fmla="*/ 1 w 193"/>
                <a:gd name="T15" fmla="*/ 0 h 282"/>
                <a:gd name="T16" fmla="*/ 1 w 193"/>
                <a:gd name="T17" fmla="*/ 0 h 282"/>
                <a:gd name="T18" fmla="*/ 1 w 193"/>
                <a:gd name="T19" fmla="*/ 0 h 282"/>
                <a:gd name="T20" fmla="*/ 0 w 193"/>
                <a:gd name="T21" fmla="*/ 0 h 28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3" h="282">
                  <a:moveTo>
                    <a:pt x="0" y="0"/>
                  </a:moveTo>
                  <a:lnTo>
                    <a:pt x="79" y="0"/>
                  </a:lnTo>
                  <a:lnTo>
                    <a:pt x="148" y="47"/>
                  </a:lnTo>
                  <a:lnTo>
                    <a:pt x="193" y="108"/>
                  </a:lnTo>
                  <a:lnTo>
                    <a:pt x="179" y="166"/>
                  </a:lnTo>
                  <a:lnTo>
                    <a:pt x="118" y="282"/>
                  </a:lnTo>
                  <a:lnTo>
                    <a:pt x="158" y="201"/>
                  </a:lnTo>
                  <a:lnTo>
                    <a:pt x="158" y="97"/>
                  </a:lnTo>
                  <a:lnTo>
                    <a:pt x="96" y="26"/>
                  </a:lnTo>
                  <a:lnTo>
                    <a:pt x="3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" name="Freeform 102"/>
            <p:cNvSpPr>
              <a:spLocks/>
            </p:cNvSpPr>
            <p:nvPr/>
          </p:nvSpPr>
          <p:spPr bwMode="auto">
            <a:xfrm>
              <a:off x="2794" y="2190"/>
              <a:ext cx="152" cy="212"/>
            </a:xfrm>
            <a:custGeom>
              <a:avLst/>
              <a:gdLst>
                <a:gd name="T0" fmla="*/ 0 w 305"/>
                <a:gd name="T1" fmla="*/ 0 h 422"/>
                <a:gd name="T2" fmla="*/ 0 w 305"/>
                <a:gd name="T3" fmla="*/ 1 h 422"/>
                <a:gd name="T4" fmla="*/ 0 w 305"/>
                <a:gd name="T5" fmla="*/ 1 h 422"/>
                <a:gd name="T6" fmla="*/ 0 w 305"/>
                <a:gd name="T7" fmla="*/ 1 h 422"/>
                <a:gd name="T8" fmla="*/ 0 w 305"/>
                <a:gd name="T9" fmla="*/ 1 h 422"/>
                <a:gd name="T10" fmla="*/ 0 w 305"/>
                <a:gd name="T11" fmla="*/ 1 h 422"/>
                <a:gd name="T12" fmla="*/ 0 w 305"/>
                <a:gd name="T13" fmla="*/ 1 h 422"/>
                <a:gd name="T14" fmla="*/ 0 w 305"/>
                <a:gd name="T15" fmla="*/ 1 h 422"/>
                <a:gd name="T16" fmla="*/ 0 w 305"/>
                <a:gd name="T17" fmla="*/ 1 h 422"/>
                <a:gd name="T18" fmla="*/ 0 w 305"/>
                <a:gd name="T19" fmla="*/ 1 h 422"/>
                <a:gd name="T20" fmla="*/ 0 w 305"/>
                <a:gd name="T21" fmla="*/ 1 h 422"/>
                <a:gd name="T22" fmla="*/ 0 w 305"/>
                <a:gd name="T23" fmla="*/ 1 h 422"/>
                <a:gd name="T24" fmla="*/ 0 w 305"/>
                <a:gd name="T25" fmla="*/ 1 h 422"/>
                <a:gd name="T26" fmla="*/ 0 w 305"/>
                <a:gd name="T27" fmla="*/ 1 h 422"/>
                <a:gd name="T28" fmla="*/ 0 w 305"/>
                <a:gd name="T29" fmla="*/ 0 h 4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5" h="422">
                  <a:moveTo>
                    <a:pt x="0" y="0"/>
                  </a:moveTo>
                  <a:lnTo>
                    <a:pt x="118" y="51"/>
                  </a:lnTo>
                  <a:lnTo>
                    <a:pt x="236" y="114"/>
                  </a:lnTo>
                  <a:lnTo>
                    <a:pt x="262" y="201"/>
                  </a:lnTo>
                  <a:lnTo>
                    <a:pt x="305" y="321"/>
                  </a:lnTo>
                  <a:lnTo>
                    <a:pt x="297" y="372"/>
                  </a:lnTo>
                  <a:lnTo>
                    <a:pt x="222" y="422"/>
                  </a:lnTo>
                  <a:lnTo>
                    <a:pt x="276" y="372"/>
                  </a:lnTo>
                  <a:lnTo>
                    <a:pt x="276" y="321"/>
                  </a:lnTo>
                  <a:lnTo>
                    <a:pt x="248" y="207"/>
                  </a:lnTo>
                  <a:lnTo>
                    <a:pt x="219" y="136"/>
                  </a:lnTo>
                  <a:lnTo>
                    <a:pt x="148" y="91"/>
                  </a:lnTo>
                  <a:lnTo>
                    <a:pt x="43" y="69"/>
                  </a:lnTo>
                  <a:lnTo>
                    <a:pt x="1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" name="Freeform 103"/>
            <p:cNvSpPr>
              <a:spLocks/>
            </p:cNvSpPr>
            <p:nvPr/>
          </p:nvSpPr>
          <p:spPr bwMode="auto">
            <a:xfrm>
              <a:off x="2857" y="2194"/>
              <a:ext cx="190" cy="288"/>
            </a:xfrm>
            <a:custGeom>
              <a:avLst/>
              <a:gdLst>
                <a:gd name="T0" fmla="*/ 0 w 380"/>
                <a:gd name="T1" fmla="*/ 0 h 577"/>
                <a:gd name="T2" fmla="*/ 1 w 380"/>
                <a:gd name="T3" fmla="*/ 0 h 577"/>
                <a:gd name="T4" fmla="*/ 1 w 380"/>
                <a:gd name="T5" fmla="*/ 0 h 577"/>
                <a:gd name="T6" fmla="*/ 1 w 380"/>
                <a:gd name="T7" fmla="*/ 0 h 577"/>
                <a:gd name="T8" fmla="*/ 1 w 380"/>
                <a:gd name="T9" fmla="*/ 0 h 577"/>
                <a:gd name="T10" fmla="*/ 1 w 380"/>
                <a:gd name="T11" fmla="*/ 0 h 577"/>
                <a:gd name="T12" fmla="*/ 1 w 380"/>
                <a:gd name="T13" fmla="*/ 0 h 577"/>
                <a:gd name="T14" fmla="*/ 1 w 380"/>
                <a:gd name="T15" fmla="*/ 0 h 577"/>
                <a:gd name="T16" fmla="*/ 1 w 380"/>
                <a:gd name="T17" fmla="*/ 1 h 577"/>
                <a:gd name="T18" fmla="*/ 1 w 380"/>
                <a:gd name="T19" fmla="*/ 1 h 577"/>
                <a:gd name="T20" fmla="*/ 1 w 380"/>
                <a:gd name="T21" fmla="*/ 0 h 577"/>
                <a:gd name="T22" fmla="*/ 1 w 380"/>
                <a:gd name="T23" fmla="*/ 0 h 577"/>
                <a:gd name="T24" fmla="*/ 1 w 380"/>
                <a:gd name="T25" fmla="*/ 0 h 577"/>
                <a:gd name="T26" fmla="*/ 1 w 380"/>
                <a:gd name="T27" fmla="*/ 0 h 577"/>
                <a:gd name="T28" fmla="*/ 1 w 380"/>
                <a:gd name="T29" fmla="*/ 0 h 577"/>
                <a:gd name="T30" fmla="*/ 1 w 380"/>
                <a:gd name="T31" fmla="*/ 0 h 577"/>
                <a:gd name="T32" fmla="*/ 0 w 380"/>
                <a:gd name="T33" fmla="*/ 0 h 57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80" h="577">
                  <a:moveTo>
                    <a:pt x="0" y="31"/>
                  </a:moveTo>
                  <a:lnTo>
                    <a:pt x="53" y="0"/>
                  </a:lnTo>
                  <a:lnTo>
                    <a:pt x="161" y="0"/>
                  </a:lnTo>
                  <a:lnTo>
                    <a:pt x="226" y="79"/>
                  </a:lnTo>
                  <a:lnTo>
                    <a:pt x="309" y="163"/>
                  </a:lnTo>
                  <a:lnTo>
                    <a:pt x="345" y="228"/>
                  </a:lnTo>
                  <a:lnTo>
                    <a:pt x="376" y="335"/>
                  </a:lnTo>
                  <a:lnTo>
                    <a:pt x="380" y="427"/>
                  </a:lnTo>
                  <a:lnTo>
                    <a:pt x="380" y="542"/>
                  </a:lnTo>
                  <a:lnTo>
                    <a:pt x="345" y="577"/>
                  </a:lnTo>
                  <a:lnTo>
                    <a:pt x="355" y="480"/>
                  </a:lnTo>
                  <a:lnTo>
                    <a:pt x="355" y="352"/>
                  </a:lnTo>
                  <a:lnTo>
                    <a:pt x="315" y="207"/>
                  </a:lnTo>
                  <a:lnTo>
                    <a:pt x="244" y="136"/>
                  </a:lnTo>
                  <a:lnTo>
                    <a:pt x="165" y="26"/>
                  </a:lnTo>
                  <a:lnTo>
                    <a:pt x="89" y="14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" name="Freeform 104"/>
            <p:cNvSpPr>
              <a:spLocks/>
            </p:cNvSpPr>
            <p:nvPr/>
          </p:nvSpPr>
          <p:spPr bwMode="auto">
            <a:xfrm>
              <a:off x="2720" y="2390"/>
              <a:ext cx="192" cy="66"/>
            </a:xfrm>
            <a:custGeom>
              <a:avLst/>
              <a:gdLst>
                <a:gd name="T0" fmla="*/ 0 w 384"/>
                <a:gd name="T1" fmla="*/ 0 h 132"/>
                <a:gd name="T2" fmla="*/ 1 w 384"/>
                <a:gd name="T3" fmla="*/ 1 h 132"/>
                <a:gd name="T4" fmla="*/ 1 w 384"/>
                <a:gd name="T5" fmla="*/ 1 h 132"/>
                <a:gd name="T6" fmla="*/ 1 w 384"/>
                <a:gd name="T7" fmla="*/ 1 h 132"/>
                <a:gd name="T8" fmla="*/ 1 w 384"/>
                <a:gd name="T9" fmla="*/ 1 h 132"/>
                <a:gd name="T10" fmla="*/ 1 w 384"/>
                <a:gd name="T11" fmla="*/ 1 h 132"/>
                <a:gd name="T12" fmla="*/ 1 w 384"/>
                <a:gd name="T13" fmla="*/ 1 h 132"/>
                <a:gd name="T14" fmla="*/ 1 w 384"/>
                <a:gd name="T15" fmla="*/ 1 h 132"/>
                <a:gd name="T16" fmla="*/ 1 w 384"/>
                <a:gd name="T17" fmla="*/ 1 h 132"/>
                <a:gd name="T18" fmla="*/ 0 w 384"/>
                <a:gd name="T19" fmla="*/ 0 h 1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4" h="132">
                  <a:moveTo>
                    <a:pt x="0" y="0"/>
                  </a:moveTo>
                  <a:lnTo>
                    <a:pt x="112" y="57"/>
                  </a:lnTo>
                  <a:lnTo>
                    <a:pt x="231" y="79"/>
                  </a:lnTo>
                  <a:lnTo>
                    <a:pt x="296" y="88"/>
                  </a:lnTo>
                  <a:lnTo>
                    <a:pt x="384" y="132"/>
                  </a:lnTo>
                  <a:lnTo>
                    <a:pt x="309" y="128"/>
                  </a:lnTo>
                  <a:lnTo>
                    <a:pt x="244" y="100"/>
                  </a:lnTo>
                  <a:lnTo>
                    <a:pt x="118" y="79"/>
                  </a:lnTo>
                  <a:lnTo>
                    <a:pt x="22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" name="Freeform 105"/>
            <p:cNvSpPr>
              <a:spLocks/>
            </p:cNvSpPr>
            <p:nvPr/>
          </p:nvSpPr>
          <p:spPr bwMode="auto">
            <a:xfrm>
              <a:off x="2672" y="2313"/>
              <a:ext cx="81" cy="61"/>
            </a:xfrm>
            <a:custGeom>
              <a:avLst/>
              <a:gdLst>
                <a:gd name="T0" fmla="*/ 0 w 161"/>
                <a:gd name="T1" fmla="*/ 1 h 122"/>
                <a:gd name="T2" fmla="*/ 1 w 161"/>
                <a:gd name="T3" fmla="*/ 1 h 122"/>
                <a:gd name="T4" fmla="*/ 1 w 161"/>
                <a:gd name="T5" fmla="*/ 0 h 122"/>
                <a:gd name="T6" fmla="*/ 1 w 161"/>
                <a:gd name="T7" fmla="*/ 1 h 122"/>
                <a:gd name="T8" fmla="*/ 1 w 161"/>
                <a:gd name="T9" fmla="*/ 1 h 122"/>
                <a:gd name="T10" fmla="*/ 1 w 161"/>
                <a:gd name="T11" fmla="*/ 1 h 122"/>
                <a:gd name="T12" fmla="*/ 1 w 161"/>
                <a:gd name="T13" fmla="*/ 1 h 122"/>
                <a:gd name="T14" fmla="*/ 1 w 161"/>
                <a:gd name="T15" fmla="*/ 1 h 122"/>
                <a:gd name="T16" fmla="*/ 0 w 161"/>
                <a:gd name="T17" fmla="*/ 1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1" h="122">
                  <a:moveTo>
                    <a:pt x="0" y="69"/>
                  </a:moveTo>
                  <a:lnTo>
                    <a:pt x="35" y="36"/>
                  </a:lnTo>
                  <a:lnTo>
                    <a:pt x="92" y="0"/>
                  </a:lnTo>
                  <a:lnTo>
                    <a:pt x="157" y="30"/>
                  </a:lnTo>
                  <a:lnTo>
                    <a:pt x="161" y="77"/>
                  </a:lnTo>
                  <a:lnTo>
                    <a:pt x="100" y="77"/>
                  </a:lnTo>
                  <a:lnTo>
                    <a:pt x="86" y="122"/>
                  </a:lnTo>
                  <a:lnTo>
                    <a:pt x="35" y="122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9" name="Freeform 106"/>
            <p:cNvSpPr>
              <a:spLocks/>
            </p:cNvSpPr>
            <p:nvPr/>
          </p:nvSpPr>
          <p:spPr bwMode="auto">
            <a:xfrm>
              <a:off x="2816" y="2339"/>
              <a:ext cx="48" cy="33"/>
            </a:xfrm>
            <a:custGeom>
              <a:avLst/>
              <a:gdLst>
                <a:gd name="T0" fmla="*/ 0 w 101"/>
                <a:gd name="T1" fmla="*/ 0 h 67"/>
                <a:gd name="T2" fmla="*/ 0 w 101"/>
                <a:gd name="T3" fmla="*/ 0 h 67"/>
                <a:gd name="T4" fmla="*/ 0 w 101"/>
                <a:gd name="T5" fmla="*/ 0 h 67"/>
                <a:gd name="T6" fmla="*/ 0 w 101"/>
                <a:gd name="T7" fmla="*/ 0 h 67"/>
                <a:gd name="T8" fmla="*/ 0 w 101"/>
                <a:gd name="T9" fmla="*/ 0 h 67"/>
                <a:gd name="T10" fmla="*/ 0 w 101"/>
                <a:gd name="T11" fmla="*/ 0 h 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1" h="67">
                  <a:moveTo>
                    <a:pt x="0" y="24"/>
                  </a:moveTo>
                  <a:lnTo>
                    <a:pt x="49" y="0"/>
                  </a:lnTo>
                  <a:lnTo>
                    <a:pt x="97" y="26"/>
                  </a:lnTo>
                  <a:lnTo>
                    <a:pt x="101" y="67"/>
                  </a:lnTo>
                  <a:lnTo>
                    <a:pt x="61" y="32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" name="Freeform 107"/>
            <p:cNvSpPr>
              <a:spLocks/>
            </p:cNvSpPr>
            <p:nvPr/>
          </p:nvSpPr>
          <p:spPr bwMode="auto">
            <a:xfrm>
              <a:off x="2783" y="2354"/>
              <a:ext cx="43" cy="32"/>
            </a:xfrm>
            <a:custGeom>
              <a:avLst/>
              <a:gdLst>
                <a:gd name="T0" fmla="*/ 0 w 83"/>
                <a:gd name="T1" fmla="*/ 1 h 61"/>
                <a:gd name="T2" fmla="*/ 1 w 83"/>
                <a:gd name="T3" fmla="*/ 0 h 61"/>
                <a:gd name="T4" fmla="*/ 1 w 83"/>
                <a:gd name="T5" fmla="*/ 1 h 61"/>
                <a:gd name="T6" fmla="*/ 1 w 83"/>
                <a:gd name="T7" fmla="*/ 1 h 61"/>
                <a:gd name="T8" fmla="*/ 1 w 83"/>
                <a:gd name="T9" fmla="*/ 1 h 61"/>
                <a:gd name="T10" fmla="*/ 0 w 83"/>
                <a:gd name="T11" fmla="*/ 1 h 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61">
                  <a:moveTo>
                    <a:pt x="0" y="26"/>
                  </a:moveTo>
                  <a:lnTo>
                    <a:pt x="36" y="0"/>
                  </a:lnTo>
                  <a:lnTo>
                    <a:pt x="83" y="26"/>
                  </a:lnTo>
                  <a:lnTo>
                    <a:pt x="61" y="61"/>
                  </a:lnTo>
                  <a:lnTo>
                    <a:pt x="14" y="6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" name="Freeform 108"/>
            <p:cNvSpPr>
              <a:spLocks/>
            </p:cNvSpPr>
            <p:nvPr/>
          </p:nvSpPr>
          <p:spPr bwMode="auto">
            <a:xfrm>
              <a:off x="2796" y="2388"/>
              <a:ext cx="48" cy="15"/>
            </a:xfrm>
            <a:custGeom>
              <a:avLst/>
              <a:gdLst>
                <a:gd name="T0" fmla="*/ 1 w 92"/>
                <a:gd name="T1" fmla="*/ 1 h 29"/>
                <a:gd name="T2" fmla="*/ 1 w 92"/>
                <a:gd name="T3" fmla="*/ 0 h 29"/>
                <a:gd name="T4" fmla="*/ 1 w 92"/>
                <a:gd name="T5" fmla="*/ 1 h 29"/>
                <a:gd name="T6" fmla="*/ 1 w 92"/>
                <a:gd name="T7" fmla="*/ 1 h 29"/>
                <a:gd name="T8" fmla="*/ 0 w 92"/>
                <a:gd name="T9" fmla="*/ 1 h 29"/>
                <a:gd name="T10" fmla="*/ 0 w 92"/>
                <a:gd name="T11" fmla="*/ 1 h 29"/>
                <a:gd name="T12" fmla="*/ 1 w 92"/>
                <a:gd name="T13" fmla="*/ 1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29">
                  <a:moveTo>
                    <a:pt x="53" y="6"/>
                  </a:moveTo>
                  <a:lnTo>
                    <a:pt x="92" y="0"/>
                  </a:lnTo>
                  <a:lnTo>
                    <a:pt x="83" y="26"/>
                  </a:lnTo>
                  <a:lnTo>
                    <a:pt x="49" y="29"/>
                  </a:lnTo>
                  <a:lnTo>
                    <a:pt x="0" y="29"/>
                  </a:lnTo>
                  <a:lnTo>
                    <a:pt x="0" y="4"/>
                  </a:lnTo>
                  <a:lnTo>
                    <a:pt x="53" y="6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" name="Freeform 109"/>
            <p:cNvSpPr>
              <a:spLocks/>
            </p:cNvSpPr>
            <p:nvPr/>
          </p:nvSpPr>
          <p:spPr bwMode="auto">
            <a:xfrm>
              <a:off x="2727" y="2130"/>
              <a:ext cx="143" cy="90"/>
            </a:xfrm>
            <a:custGeom>
              <a:avLst/>
              <a:gdLst>
                <a:gd name="T0" fmla="*/ 1 w 282"/>
                <a:gd name="T1" fmla="*/ 0 h 181"/>
                <a:gd name="T2" fmla="*/ 1 w 282"/>
                <a:gd name="T3" fmla="*/ 0 h 181"/>
                <a:gd name="T4" fmla="*/ 0 w 282"/>
                <a:gd name="T5" fmla="*/ 0 h 181"/>
                <a:gd name="T6" fmla="*/ 1 w 282"/>
                <a:gd name="T7" fmla="*/ 0 h 181"/>
                <a:gd name="T8" fmla="*/ 1 w 282"/>
                <a:gd name="T9" fmla="*/ 0 h 181"/>
                <a:gd name="T10" fmla="*/ 1 w 282"/>
                <a:gd name="T11" fmla="*/ 0 h 181"/>
                <a:gd name="T12" fmla="*/ 1 w 282"/>
                <a:gd name="T13" fmla="*/ 0 h 181"/>
                <a:gd name="T14" fmla="*/ 1 w 282"/>
                <a:gd name="T15" fmla="*/ 0 h 181"/>
                <a:gd name="T16" fmla="*/ 1 w 282"/>
                <a:gd name="T17" fmla="*/ 0 h 1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2" h="181">
                  <a:moveTo>
                    <a:pt x="159" y="0"/>
                  </a:moveTo>
                  <a:lnTo>
                    <a:pt x="55" y="106"/>
                  </a:lnTo>
                  <a:lnTo>
                    <a:pt x="0" y="181"/>
                  </a:lnTo>
                  <a:lnTo>
                    <a:pt x="69" y="146"/>
                  </a:lnTo>
                  <a:lnTo>
                    <a:pt x="169" y="89"/>
                  </a:lnTo>
                  <a:lnTo>
                    <a:pt x="238" y="106"/>
                  </a:lnTo>
                  <a:lnTo>
                    <a:pt x="282" y="75"/>
                  </a:lnTo>
                  <a:lnTo>
                    <a:pt x="238" y="3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FFF2F2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" name="Freeform 110"/>
            <p:cNvSpPr>
              <a:spLocks/>
            </p:cNvSpPr>
            <p:nvPr/>
          </p:nvSpPr>
          <p:spPr bwMode="auto">
            <a:xfrm>
              <a:off x="2556" y="2933"/>
              <a:ext cx="477" cy="261"/>
            </a:xfrm>
            <a:custGeom>
              <a:avLst/>
              <a:gdLst>
                <a:gd name="T0" fmla="*/ 0 w 960"/>
                <a:gd name="T1" fmla="*/ 1 h 522"/>
                <a:gd name="T2" fmla="*/ 0 w 960"/>
                <a:gd name="T3" fmla="*/ 0 h 522"/>
                <a:gd name="T4" fmla="*/ 0 w 960"/>
                <a:gd name="T5" fmla="*/ 1 h 522"/>
                <a:gd name="T6" fmla="*/ 0 w 960"/>
                <a:gd name="T7" fmla="*/ 1 h 522"/>
                <a:gd name="T8" fmla="*/ 1 w 960"/>
                <a:gd name="T9" fmla="*/ 1 h 522"/>
                <a:gd name="T10" fmla="*/ 1 w 960"/>
                <a:gd name="T11" fmla="*/ 1 h 522"/>
                <a:gd name="T12" fmla="*/ 1 w 960"/>
                <a:gd name="T13" fmla="*/ 1 h 522"/>
                <a:gd name="T14" fmla="*/ 1 w 960"/>
                <a:gd name="T15" fmla="*/ 1 h 522"/>
                <a:gd name="T16" fmla="*/ 1 w 960"/>
                <a:gd name="T17" fmla="*/ 2 h 522"/>
                <a:gd name="T18" fmla="*/ 1 w 960"/>
                <a:gd name="T19" fmla="*/ 1 h 522"/>
                <a:gd name="T20" fmla="*/ 1 w 960"/>
                <a:gd name="T21" fmla="*/ 1 h 522"/>
                <a:gd name="T22" fmla="*/ 0 w 960"/>
                <a:gd name="T23" fmla="*/ 1 h 522"/>
                <a:gd name="T24" fmla="*/ 0 w 960"/>
                <a:gd name="T25" fmla="*/ 1 h 522"/>
                <a:gd name="T26" fmla="*/ 0 w 960"/>
                <a:gd name="T27" fmla="*/ 1 h 522"/>
                <a:gd name="T28" fmla="*/ 0 w 960"/>
                <a:gd name="T29" fmla="*/ 1 h 522"/>
                <a:gd name="T30" fmla="*/ 0 w 960"/>
                <a:gd name="T31" fmla="*/ 1 h 522"/>
                <a:gd name="T32" fmla="*/ 0 w 960"/>
                <a:gd name="T33" fmla="*/ 1 h 5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60" h="522">
                  <a:moveTo>
                    <a:pt x="0" y="43"/>
                  </a:moveTo>
                  <a:lnTo>
                    <a:pt x="152" y="0"/>
                  </a:lnTo>
                  <a:lnTo>
                    <a:pt x="162" y="142"/>
                  </a:lnTo>
                  <a:lnTo>
                    <a:pt x="280" y="262"/>
                  </a:lnTo>
                  <a:lnTo>
                    <a:pt x="540" y="262"/>
                  </a:lnTo>
                  <a:lnTo>
                    <a:pt x="701" y="185"/>
                  </a:lnTo>
                  <a:lnTo>
                    <a:pt x="808" y="185"/>
                  </a:lnTo>
                  <a:lnTo>
                    <a:pt x="960" y="250"/>
                  </a:lnTo>
                  <a:lnTo>
                    <a:pt x="928" y="522"/>
                  </a:lnTo>
                  <a:lnTo>
                    <a:pt x="808" y="402"/>
                  </a:lnTo>
                  <a:lnTo>
                    <a:pt x="593" y="402"/>
                  </a:lnTo>
                  <a:lnTo>
                    <a:pt x="388" y="402"/>
                  </a:lnTo>
                  <a:lnTo>
                    <a:pt x="174" y="358"/>
                  </a:lnTo>
                  <a:lnTo>
                    <a:pt x="118" y="423"/>
                  </a:lnTo>
                  <a:lnTo>
                    <a:pt x="97" y="283"/>
                  </a:lnTo>
                  <a:lnTo>
                    <a:pt x="22" y="15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FFF7E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4" name="Freeform 111"/>
            <p:cNvSpPr>
              <a:spLocks/>
            </p:cNvSpPr>
            <p:nvPr/>
          </p:nvSpPr>
          <p:spPr bwMode="auto">
            <a:xfrm>
              <a:off x="2945" y="2382"/>
              <a:ext cx="189" cy="316"/>
            </a:xfrm>
            <a:custGeom>
              <a:avLst/>
              <a:gdLst>
                <a:gd name="T0" fmla="*/ 0 w 379"/>
                <a:gd name="T1" fmla="*/ 1 h 632"/>
                <a:gd name="T2" fmla="*/ 0 w 379"/>
                <a:gd name="T3" fmla="*/ 2 h 632"/>
                <a:gd name="T4" fmla="*/ 0 w 379"/>
                <a:gd name="T5" fmla="*/ 2 h 632"/>
                <a:gd name="T6" fmla="*/ 0 w 379"/>
                <a:gd name="T7" fmla="*/ 2 h 632"/>
                <a:gd name="T8" fmla="*/ 0 w 379"/>
                <a:gd name="T9" fmla="*/ 2 h 632"/>
                <a:gd name="T10" fmla="*/ 0 w 379"/>
                <a:gd name="T11" fmla="*/ 2 h 632"/>
                <a:gd name="T12" fmla="*/ 0 w 379"/>
                <a:gd name="T13" fmla="*/ 1 h 632"/>
                <a:gd name="T14" fmla="*/ 0 w 379"/>
                <a:gd name="T15" fmla="*/ 1 h 632"/>
                <a:gd name="T16" fmla="*/ 0 w 379"/>
                <a:gd name="T17" fmla="*/ 1 h 632"/>
                <a:gd name="T18" fmla="*/ 0 w 379"/>
                <a:gd name="T19" fmla="*/ 1 h 632"/>
                <a:gd name="T20" fmla="*/ 0 w 379"/>
                <a:gd name="T21" fmla="*/ 1 h 632"/>
                <a:gd name="T22" fmla="*/ 0 w 379"/>
                <a:gd name="T23" fmla="*/ 1 h 632"/>
                <a:gd name="T24" fmla="*/ 0 w 379"/>
                <a:gd name="T25" fmla="*/ 0 h 632"/>
                <a:gd name="T26" fmla="*/ 0 w 379"/>
                <a:gd name="T27" fmla="*/ 1 h 632"/>
                <a:gd name="T28" fmla="*/ 0 w 379"/>
                <a:gd name="T29" fmla="*/ 1 h 632"/>
                <a:gd name="T30" fmla="*/ 0 w 379"/>
                <a:gd name="T31" fmla="*/ 1 h 632"/>
                <a:gd name="T32" fmla="*/ 0 w 379"/>
                <a:gd name="T33" fmla="*/ 1 h 632"/>
                <a:gd name="T34" fmla="*/ 0 w 379"/>
                <a:gd name="T35" fmla="*/ 1 h 632"/>
                <a:gd name="T36" fmla="*/ 0 w 379"/>
                <a:gd name="T37" fmla="*/ 1 h 6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79" h="632">
                  <a:moveTo>
                    <a:pt x="235" y="457"/>
                  </a:moveTo>
                  <a:lnTo>
                    <a:pt x="185" y="520"/>
                  </a:lnTo>
                  <a:lnTo>
                    <a:pt x="55" y="557"/>
                  </a:lnTo>
                  <a:lnTo>
                    <a:pt x="0" y="632"/>
                  </a:lnTo>
                  <a:lnTo>
                    <a:pt x="117" y="601"/>
                  </a:lnTo>
                  <a:lnTo>
                    <a:pt x="185" y="544"/>
                  </a:lnTo>
                  <a:lnTo>
                    <a:pt x="278" y="425"/>
                  </a:lnTo>
                  <a:lnTo>
                    <a:pt x="310" y="357"/>
                  </a:lnTo>
                  <a:lnTo>
                    <a:pt x="292" y="282"/>
                  </a:lnTo>
                  <a:lnTo>
                    <a:pt x="310" y="219"/>
                  </a:lnTo>
                  <a:lnTo>
                    <a:pt x="341" y="118"/>
                  </a:lnTo>
                  <a:lnTo>
                    <a:pt x="379" y="99"/>
                  </a:lnTo>
                  <a:lnTo>
                    <a:pt x="379" y="0"/>
                  </a:lnTo>
                  <a:lnTo>
                    <a:pt x="286" y="118"/>
                  </a:lnTo>
                  <a:lnTo>
                    <a:pt x="235" y="294"/>
                  </a:lnTo>
                  <a:lnTo>
                    <a:pt x="217" y="345"/>
                  </a:lnTo>
                  <a:lnTo>
                    <a:pt x="205" y="414"/>
                  </a:lnTo>
                  <a:lnTo>
                    <a:pt x="248" y="414"/>
                  </a:lnTo>
                  <a:lnTo>
                    <a:pt x="235" y="457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5" name="Freeform 112"/>
            <p:cNvSpPr>
              <a:spLocks/>
            </p:cNvSpPr>
            <p:nvPr/>
          </p:nvSpPr>
          <p:spPr bwMode="auto">
            <a:xfrm>
              <a:off x="2809" y="2290"/>
              <a:ext cx="91" cy="111"/>
            </a:xfrm>
            <a:custGeom>
              <a:avLst/>
              <a:gdLst>
                <a:gd name="T0" fmla="*/ 0 w 186"/>
                <a:gd name="T1" fmla="*/ 1 h 221"/>
                <a:gd name="T2" fmla="*/ 0 w 186"/>
                <a:gd name="T3" fmla="*/ 1 h 221"/>
                <a:gd name="T4" fmla="*/ 0 w 186"/>
                <a:gd name="T5" fmla="*/ 1 h 221"/>
                <a:gd name="T6" fmla="*/ 0 w 186"/>
                <a:gd name="T7" fmla="*/ 1 h 221"/>
                <a:gd name="T8" fmla="*/ 0 w 186"/>
                <a:gd name="T9" fmla="*/ 1 h 221"/>
                <a:gd name="T10" fmla="*/ 0 w 186"/>
                <a:gd name="T11" fmla="*/ 1 h 221"/>
                <a:gd name="T12" fmla="*/ 0 w 186"/>
                <a:gd name="T13" fmla="*/ 1 h 221"/>
                <a:gd name="T14" fmla="*/ 0 w 186"/>
                <a:gd name="T15" fmla="*/ 1 h 221"/>
                <a:gd name="T16" fmla="*/ 0 w 186"/>
                <a:gd name="T17" fmla="*/ 1 h 221"/>
                <a:gd name="T18" fmla="*/ 0 w 186"/>
                <a:gd name="T19" fmla="*/ 1 h 221"/>
                <a:gd name="T20" fmla="*/ 0 w 186"/>
                <a:gd name="T21" fmla="*/ 0 h 221"/>
                <a:gd name="T22" fmla="*/ 0 w 186"/>
                <a:gd name="T23" fmla="*/ 1 h 2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6" h="221">
                  <a:moveTo>
                    <a:pt x="0" y="14"/>
                  </a:moveTo>
                  <a:lnTo>
                    <a:pt x="0" y="75"/>
                  </a:lnTo>
                  <a:lnTo>
                    <a:pt x="0" y="126"/>
                  </a:lnTo>
                  <a:lnTo>
                    <a:pt x="50" y="83"/>
                  </a:lnTo>
                  <a:lnTo>
                    <a:pt x="99" y="114"/>
                  </a:lnTo>
                  <a:lnTo>
                    <a:pt x="136" y="157"/>
                  </a:lnTo>
                  <a:lnTo>
                    <a:pt x="150" y="221"/>
                  </a:lnTo>
                  <a:lnTo>
                    <a:pt x="186" y="138"/>
                  </a:lnTo>
                  <a:lnTo>
                    <a:pt x="186" y="75"/>
                  </a:lnTo>
                  <a:lnTo>
                    <a:pt x="136" y="14"/>
                  </a:lnTo>
                  <a:lnTo>
                    <a:pt x="69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6" name="Freeform 113"/>
            <p:cNvSpPr>
              <a:spLocks/>
            </p:cNvSpPr>
            <p:nvPr/>
          </p:nvSpPr>
          <p:spPr bwMode="auto">
            <a:xfrm>
              <a:off x="2835" y="2375"/>
              <a:ext cx="44" cy="53"/>
            </a:xfrm>
            <a:custGeom>
              <a:avLst/>
              <a:gdLst>
                <a:gd name="T0" fmla="*/ 0 w 86"/>
                <a:gd name="T1" fmla="*/ 0 h 107"/>
                <a:gd name="T2" fmla="*/ 1 w 86"/>
                <a:gd name="T3" fmla="*/ 0 h 107"/>
                <a:gd name="T4" fmla="*/ 1 w 86"/>
                <a:gd name="T5" fmla="*/ 0 h 107"/>
                <a:gd name="T6" fmla="*/ 1 w 86"/>
                <a:gd name="T7" fmla="*/ 0 h 107"/>
                <a:gd name="T8" fmla="*/ 1 w 86"/>
                <a:gd name="T9" fmla="*/ 0 h 107"/>
                <a:gd name="T10" fmla="*/ 1 w 86"/>
                <a:gd name="T11" fmla="*/ 0 h 107"/>
                <a:gd name="T12" fmla="*/ 1 w 86"/>
                <a:gd name="T13" fmla="*/ 0 h 107"/>
                <a:gd name="T14" fmla="*/ 1 w 86"/>
                <a:gd name="T15" fmla="*/ 0 h 107"/>
                <a:gd name="T16" fmla="*/ 1 w 86"/>
                <a:gd name="T17" fmla="*/ 0 h 107"/>
                <a:gd name="T18" fmla="*/ 0 w 86"/>
                <a:gd name="T19" fmla="*/ 0 h 1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6" h="107">
                  <a:moveTo>
                    <a:pt x="0" y="0"/>
                  </a:moveTo>
                  <a:lnTo>
                    <a:pt x="49" y="26"/>
                  </a:lnTo>
                  <a:lnTo>
                    <a:pt x="86" y="52"/>
                  </a:lnTo>
                  <a:lnTo>
                    <a:pt x="74" y="107"/>
                  </a:lnTo>
                  <a:lnTo>
                    <a:pt x="13" y="107"/>
                  </a:lnTo>
                  <a:lnTo>
                    <a:pt x="37" y="52"/>
                  </a:lnTo>
                  <a:lnTo>
                    <a:pt x="31" y="44"/>
                  </a:lnTo>
                  <a:lnTo>
                    <a:pt x="19" y="24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7" name="Freeform 114"/>
            <p:cNvSpPr>
              <a:spLocks/>
            </p:cNvSpPr>
            <p:nvPr/>
          </p:nvSpPr>
          <p:spPr bwMode="auto">
            <a:xfrm>
              <a:off x="2802" y="2208"/>
              <a:ext cx="130" cy="168"/>
            </a:xfrm>
            <a:custGeom>
              <a:avLst/>
              <a:gdLst>
                <a:gd name="T0" fmla="*/ 0 w 260"/>
                <a:gd name="T1" fmla="*/ 0 h 339"/>
                <a:gd name="T2" fmla="*/ 1 w 260"/>
                <a:gd name="T3" fmla="*/ 0 h 339"/>
                <a:gd name="T4" fmla="*/ 1 w 260"/>
                <a:gd name="T5" fmla="*/ 0 h 339"/>
                <a:gd name="T6" fmla="*/ 1 w 260"/>
                <a:gd name="T7" fmla="*/ 0 h 339"/>
                <a:gd name="T8" fmla="*/ 1 w 260"/>
                <a:gd name="T9" fmla="*/ 0 h 339"/>
                <a:gd name="T10" fmla="*/ 1 w 260"/>
                <a:gd name="T11" fmla="*/ 0 h 339"/>
                <a:gd name="T12" fmla="*/ 1 w 260"/>
                <a:gd name="T13" fmla="*/ 0 h 339"/>
                <a:gd name="T14" fmla="*/ 1 w 260"/>
                <a:gd name="T15" fmla="*/ 0 h 339"/>
                <a:gd name="T16" fmla="*/ 1 w 260"/>
                <a:gd name="T17" fmla="*/ 0 h 339"/>
                <a:gd name="T18" fmla="*/ 1 w 260"/>
                <a:gd name="T19" fmla="*/ 0 h 339"/>
                <a:gd name="T20" fmla="*/ 0 w 260"/>
                <a:gd name="T21" fmla="*/ 0 h 3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0" h="339">
                  <a:moveTo>
                    <a:pt x="0" y="0"/>
                  </a:moveTo>
                  <a:lnTo>
                    <a:pt x="153" y="62"/>
                  </a:lnTo>
                  <a:lnTo>
                    <a:pt x="216" y="132"/>
                  </a:lnTo>
                  <a:lnTo>
                    <a:pt x="260" y="233"/>
                  </a:lnTo>
                  <a:lnTo>
                    <a:pt x="260" y="308"/>
                  </a:lnTo>
                  <a:lnTo>
                    <a:pt x="222" y="339"/>
                  </a:lnTo>
                  <a:lnTo>
                    <a:pt x="222" y="233"/>
                  </a:lnTo>
                  <a:lnTo>
                    <a:pt x="185" y="195"/>
                  </a:lnTo>
                  <a:lnTo>
                    <a:pt x="124" y="125"/>
                  </a:lnTo>
                  <a:lnTo>
                    <a:pt x="61" y="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8" name="Freeform 115"/>
            <p:cNvSpPr>
              <a:spLocks/>
            </p:cNvSpPr>
            <p:nvPr/>
          </p:nvSpPr>
          <p:spPr bwMode="auto">
            <a:xfrm>
              <a:off x="2874" y="2216"/>
              <a:ext cx="157" cy="316"/>
            </a:xfrm>
            <a:custGeom>
              <a:avLst/>
              <a:gdLst>
                <a:gd name="T0" fmla="*/ 0 w 318"/>
                <a:gd name="T1" fmla="*/ 0 h 632"/>
                <a:gd name="T2" fmla="*/ 0 w 318"/>
                <a:gd name="T3" fmla="*/ 0 h 632"/>
                <a:gd name="T4" fmla="*/ 0 w 318"/>
                <a:gd name="T5" fmla="*/ 1 h 632"/>
                <a:gd name="T6" fmla="*/ 0 w 318"/>
                <a:gd name="T7" fmla="*/ 1 h 632"/>
                <a:gd name="T8" fmla="*/ 0 w 318"/>
                <a:gd name="T9" fmla="*/ 1 h 632"/>
                <a:gd name="T10" fmla="*/ 0 w 318"/>
                <a:gd name="T11" fmla="*/ 1 h 632"/>
                <a:gd name="T12" fmla="*/ 0 w 318"/>
                <a:gd name="T13" fmla="*/ 2 h 632"/>
                <a:gd name="T14" fmla="*/ 0 w 318"/>
                <a:gd name="T15" fmla="*/ 2 h 632"/>
                <a:gd name="T16" fmla="*/ 0 w 318"/>
                <a:gd name="T17" fmla="*/ 2 h 632"/>
                <a:gd name="T18" fmla="*/ 0 w 318"/>
                <a:gd name="T19" fmla="*/ 1 h 632"/>
                <a:gd name="T20" fmla="*/ 0 w 318"/>
                <a:gd name="T21" fmla="*/ 1 h 632"/>
                <a:gd name="T22" fmla="*/ 0 w 318"/>
                <a:gd name="T23" fmla="*/ 1 h 632"/>
                <a:gd name="T24" fmla="*/ 0 w 318"/>
                <a:gd name="T25" fmla="*/ 1 h 632"/>
                <a:gd name="T26" fmla="*/ 0 w 318"/>
                <a:gd name="T27" fmla="*/ 1 h 632"/>
                <a:gd name="T28" fmla="*/ 0 w 318"/>
                <a:gd name="T29" fmla="*/ 1 h 632"/>
                <a:gd name="T30" fmla="*/ 0 w 318"/>
                <a:gd name="T31" fmla="*/ 1 h 632"/>
                <a:gd name="T32" fmla="*/ 0 w 318"/>
                <a:gd name="T33" fmla="*/ 1 h 632"/>
                <a:gd name="T34" fmla="*/ 0 w 318"/>
                <a:gd name="T35" fmla="*/ 1 h 632"/>
                <a:gd name="T36" fmla="*/ 0 w 318"/>
                <a:gd name="T37" fmla="*/ 1 h 632"/>
                <a:gd name="T38" fmla="*/ 0 w 318"/>
                <a:gd name="T39" fmla="*/ 1 h 632"/>
                <a:gd name="T40" fmla="*/ 0 w 318"/>
                <a:gd name="T41" fmla="*/ 1 h 632"/>
                <a:gd name="T42" fmla="*/ 0 w 318"/>
                <a:gd name="T43" fmla="*/ 1 h 632"/>
                <a:gd name="T44" fmla="*/ 0 w 318"/>
                <a:gd name="T45" fmla="*/ 0 h 63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18" h="632">
                  <a:moveTo>
                    <a:pt x="0" y="0"/>
                  </a:moveTo>
                  <a:lnTo>
                    <a:pt x="119" y="0"/>
                  </a:lnTo>
                  <a:lnTo>
                    <a:pt x="162" y="57"/>
                  </a:lnTo>
                  <a:lnTo>
                    <a:pt x="280" y="156"/>
                  </a:lnTo>
                  <a:lnTo>
                    <a:pt x="318" y="250"/>
                  </a:lnTo>
                  <a:lnTo>
                    <a:pt x="318" y="471"/>
                  </a:lnTo>
                  <a:lnTo>
                    <a:pt x="306" y="569"/>
                  </a:lnTo>
                  <a:lnTo>
                    <a:pt x="268" y="632"/>
                  </a:lnTo>
                  <a:lnTo>
                    <a:pt x="268" y="526"/>
                  </a:lnTo>
                  <a:lnTo>
                    <a:pt x="298" y="376"/>
                  </a:lnTo>
                  <a:lnTo>
                    <a:pt x="229" y="390"/>
                  </a:lnTo>
                  <a:lnTo>
                    <a:pt x="243" y="239"/>
                  </a:lnTo>
                  <a:lnTo>
                    <a:pt x="211" y="176"/>
                  </a:lnTo>
                  <a:lnTo>
                    <a:pt x="129" y="134"/>
                  </a:lnTo>
                  <a:lnTo>
                    <a:pt x="87" y="44"/>
                  </a:lnTo>
                  <a:lnTo>
                    <a:pt x="83" y="42"/>
                  </a:lnTo>
                  <a:lnTo>
                    <a:pt x="73" y="38"/>
                  </a:lnTo>
                  <a:lnTo>
                    <a:pt x="58" y="30"/>
                  </a:lnTo>
                  <a:lnTo>
                    <a:pt x="42" y="22"/>
                  </a:lnTo>
                  <a:lnTo>
                    <a:pt x="26" y="14"/>
                  </a:lnTo>
                  <a:lnTo>
                    <a:pt x="12" y="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9" name="Freeform 116"/>
            <p:cNvSpPr>
              <a:spLocks/>
            </p:cNvSpPr>
            <p:nvPr/>
          </p:nvSpPr>
          <p:spPr bwMode="auto">
            <a:xfrm>
              <a:off x="2965" y="2417"/>
              <a:ext cx="56" cy="160"/>
            </a:xfrm>
            <a:custGeom>
              <a:avLst/>
              <a:gdLst>
                <a:gd name="T0" fmla="*/ 1 w 106"/>
                <a:gd name="T1" fmla="*/ 0 h 325"/>
                <a:gd name="T2" fmla="*/ 1 w 106"/>
                <a:gd name="T3" fmla="*/ 0 h 325"/>
                <a:gd name="T4" fmla="*/ 1 w 106"/>
                <a:gd name="T5" fmla="*/ 0 h 325"/>
                <a:gd name="T6" fmla="*/ 1 w 106"/>
                <a:gd name="T7" fmla="*/ 0 h 325"/>
                <a:gd name="T8" fmla="*/ 1 w 106"/>
                <a:gd name="T9" fmla="*/ 0 h 325"/>
                <a:gd name="T10" fmla="*/ 1 w 106"/>
                <a:gd name="T11" fmla="*/ 0 h 325"/>
                <a:gd name="T12" fmla="*/ 0 w 106"/>
                <a:gd name="T13" fmla="*/ 0 h 325"/>
                <a:gd name="T14" fmla="*/ 1 w 106"/>
                <a:gd name="T15" fmla="*/ 0 h 325"/>
                <a:gd name="T16" fmla="*/ 1 w 106"/>
                <a:gd name="T17" fmla="*/ 0 h 325"/>
                <a:gd name="T18" fmla="*/ 1 w 106"/>
                <a:gd name="T19" fmla="*/ 0 h 325"/>
                <a:gd name="T20" fmla="*/ 1 w 106"/>
                <a:gd name="T21" fmla="*/ 0 h 325"/>
                <a:gd name="T22" fmla="*/ 1 w 106"/>
                <a:gd name="T23" fmla="*/ 0 h 3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6" h="325">
                  <a:moveTo>
                    <a:pt x="51" y="55"/>
                  </a:moveTo>
                  <a:lnTo>
                    <a:pt x="57" y="0"/>
                  </a:lnTo>
                  <a:lnTo>
                    <a:pt x="106" y="0"/>
                  </a:lnTo>
                  <a:lnTo>
                    <a:pt x="82" y="93"/>
                  </a:lnTo>
                  <a:lnTo>
                    <a:pt x="82" y="193"/>
                  </a:lnTo>
                  <a:lnTo>
                    <a:pt x="75" y="262"/>
                  </a:lnTo>
                  <a:lnTo>
                    <a:pt x="0" y="325"/>
                  </a:lnTo>
                  <a:lnTo>
                    <a:pt x="31" y="213"/>
                  </a:lnTo>
                  <a:lnTo>
                    <a:pt x="35" y="187"/>
                  </a:lnTo>
                  <a:lnTo>
                    <a:pt x="41" y="132"/>
                  </a:lnTo>
                  <a:lnTo>
                    <a:pt x="47" y="77"/>
                  </a:lnTo>
                  <a:lnTo>
                    <a:pt x="51" y="55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0" name="Freeform 117"/>
            <p:cNvSpPr>
              <a:spLocks/>
            </p:cNvSpPr>
            <p:nvPr/>
          </p:nvSpPr>
          <p:spPr bwMode="auto">
            <a:xfrm>
              <a:off x="2740" y="2375"/>
              <a:ext cx="43" cy="34"/>
            </a:xfrm>
            <a:custGeom>
              <a:avLst/>
              <a:gdLst>
                <a:gd name="T0" fmla="*/ 0 w 88"/>
                <a:gd name="T1" fmla="*/ 0 h 69"/>
                <a:gd name="T2" fmla="*/ 0 w 88"/>
                <a:gd name="T3" fmla="*/ 0 h 69"/>
                <a:gd name="T4" fmla="*/ 0 w 88"/>
                <a:gd name="T5" fmla="*/ 0 h 69"/>
                <a:gd name="T6" fmla="*/ 0 w 88"/>
                <a:gd name="T7" fmla="*/ 0 h 69"/>
                <a:gd name="T8" fmla="*/ 0 w 88"/>
                <a:gd name="T9" fmla="*/ 0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69">
                  <a:moveTo>
                    <a:pt x="88" y="0"/>
                  </a:moveTo>
                  <a:lnTo>
                    <a:pt x="57" y="69"/>
                  </a:lnTo>
                  <a:lnTo>
                    <a:pt x="0" y="57"/>
                  </a:lnTo>
                  <a:lnTo>
                    <a:pt x="45" y="6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1" name="Freeform 118"/>
            <p:cNvSpPr>
              <a:spLocks/>
            </p:cNvSpPr>
            <p:nvPr/>
          </p:nvSpPr>
          <p:spPr bwMode="auto">
            <a:xfrm>
              <a:off x="2556" y="2335"/>
              <a:ext cx="92" cy="279"/>
            </a:xfrm>
            <a:custGeom>
              <a:avLst/>
              <a:gdLst>
                <a:gd name="T0" fmla="*/ 0 w 187"/>
                <a:gd name="T1" fmla="*/ 0 h 563"/>
                <a:gd name="T2" fmla="*/ 0 w 187"/>
                <a:gd name="T3" fmla="*/ 0 h 563"/>
                <a:gd name="T4" fmla="*/ 0 w 187"/>
                <a:gd name="T5" fmla="*/ 0 h 563"/>
                <a:gd name="T6" fmla="*/ 0 w 187"/>
                <a:gd name="T7" fmla="*/ 0 h 563"/>
                <a:gd name="T8" fmla="*/ 0 w 187"/>
                <a:gd name="T9" fmla="*/ 1 h 563"/>
                <a:gd name="T10" fmla="*/ 0 w 187"/>
                <a:gd name="T11" fmla="*/ 0 h 563"/>
                <a:gd name="T12" fmla="*/ 0 w 187"/>
                <a:gd name="T13" fmla="*/ 0 h 563"/>
                <a:gd name="T14" fmla="*/ 0 w 187"/>
                <a:gd name="T15" fmla="*/ 0 h 563"/>
                <a:gd name="T16" fmla="*/ 0 w 187"/>
                <a:gd name="T17" fmla="*/ 0 h 563"/>
                <a:gd name="T18" fmla="*/ 0 w 187"/>
                <a:gd name="T19" fmla="*/ 0 h 563"/>
                <a:gd name="T20" fmla="*/ 0 w 187"/>
                <a:gd name="T21" fmla="*/ 0 h 563"/>
                <a:gd name="T22" fmla="*/ 0 w 187"/>
                <a:gd name="T23" fmla="*/ 0 h 563"/>
                <a:gd name="T24" fmla="*/ 0 w 187"/>
                <a:gd name="T25" fmla="*/ 0 h 563"/>
                <a:gd name="T26" fmla="*/ 0 w 187"/>
                <a:gd name="T27" fmla="*/ 0 h 563"/>
                <a:gd name="T28" fmla="*/ 0 w 187"/>
                <a:gd name="T29" fmla="*/ 0 h 56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7" h="563">
                  <a:moveTo>
                    <a:pt x="175" y="244"/>
                  </a:moveTo>
                  <a:lnTo>
                    <a:pt x="175" y="338"/>
                  </a:lnTo>
                  <a:lnTo>
                    <a:pt x="187" y="439"/>
                  </a:lnTo>
                  <a:lnTo>
                    <a:pt x="187" y="508"/>
                  </a:lnTo>
                  <a:lnTo>
                    <a:pt x="138" y="563"/>
                  </a:lnTo>
                  <a:lnTo>
                    <a:pt x="81" y="482"/>
                  </a:lnTo>
                  <a:lnTo>
                    <a:pt x="0" y="344"/>
                  </a:lnTo>
                  <a:lnTo>
                    <a:pt x="0" y="224"/>
                  </a:lnTo>
                  <a:lnTo>
                    <a:pt x="14" y="124"/>
                  </a:lnTo>
                  <a:lnTo>
                    <a:pt x="101" y="43"/>
                  </a:lnTo>
                  <a:lnTo>
                    <a:pt x="150" y="0"/>
                  </a:lnTo>
                  <a:lnTo>
                    <a:pt x="144" y="74"/>
                  </a:lnTo>
                  <a:lnTo>
                    <a:pt x="132" y="132"/>
                  </a:lnTo>
                  <a:lnTo>
                    <a:pt x="150" y="187"/>
                  </a:lnTo>
                  <a:lnTo>
                    <a:pt x="175" y="244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2" name="Freeform 119"/>
            <p:cNvSpPr>
              <a:spLocks/>
            </p:cNvSpPr>
            <p:nvPr/>
          </p:nvSpPr>
          <p:spPr bwMode="auto">
            <a:xfrm>
              <a:off x="2639" y="2647"/>
              <a:ext cx="147" cy="90"/>
            </a:xfrm>
            <a:custGeom>
              <a:avLst/>
              <a:gdLst>
                <a:gd name="T0" fmla="*/ 0 w 291"/>
                <a:gd name="T1" fmla="*/ 0 h 181"/>
                <a:gd name="T2" fmla="*/ 1 w 291"/>
                <a:gd name="T3" fmla="*/ 0 h 181"/>
                <a:gd name="T4" fmla="*/ 1 w 291"/>
                <a:gd name="T5" fmla="*/ 0 h 181"/>
                <a:gd name="T6" fmla="*/ 1 w 291"/>
                <a:gd name="T7" fmla="*/ 0 h 181"/>
                <a:gd name="T8" fmla="*/ 1 w 291"/>
                <a:gd name="T9" fmla="*/ 0 h 181"/>
                <a:gd name="T10" fmla="*/ 1 w 291"/>
                <a:gd name="T11" fmla="*/ 0 h 181"/>
                <a:gd name="T12" fmla="*/ 1 w 291"/>
                <a:gd name="T13" fmla="*/ 0 h 181"/>
                <a:gd name="T14" fmla="*/ 0 w 291"/>
                <a:gd name="T15" fmla="*/ 0 h 1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1" h="181">
                  <a:moveTo>
                    <a:pt x="0" y="0"/>
                  </a:moveTo>
                  <a:lnTo>
                    <a:pt x="104" y="0"/>
                  </a:lnTo>
                  <a:lnTo>
                    <a:pt x="104" y="37"/>
                  </a:lnTo>
                  <a:lnTo>
                    <a:pt x="161" y="81"/>
                  </a:lnTo>
                  <a:lnTo>
                    <a:pt x="291" y="181"/>
                  </a:lnTo>
                  <a:lnTo>
                    <a:pt x="185" y="149"/>
                  </a:lnTo>
                  <a:lnTo>
                    <a:pt x="104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3" name="Freeform 120"/>
            <p:cNvSpPr>
              <a:spLocks/>
            </p:cNvSpPr>
            <p:nvPr/>
          </p:nvSpPr>
          <p:spPr bwMode="auto">
            <a:xfrm>
              <a:off x="2376" y="2502"/>
              <a:ext cx="368" cy="298"/>
            </a:xfrm>
            <a:custGeom>
              <a:avLst/>
              <a:gdLst>
                <a:gd name="T0" fmla="*/ 1 w 732"/>
                <a:gd name="T1" fmla="*/ 0 h 593"/>
                <a:gd name="T2" fmla="*/ 1 w 732"/>
                <a:gd name="T3" fmla="*/ 1 h 593"/>
                <a:gd name="T4" fmla="*/ 1 w 732"/>
                <a:gd name="T5" fmla="*/ 1 h 593"/>
                <a:gd name="T6" fmla="*/ 1 w 732"/>
                <a:gd name="T7" fmla="*/ 1 h 593"/>
                <a:gd name="T8" fmla="*/ 1 w 732"/>
                <a:gd name="T9" fmla="*/ 1 h 593"/>
                <a:gd name="T10" fmla="*/ 1 w 732"/>
                <a:gd name="T11" fmla="*/ 1 h 593"/>
                <a:gd name="T12" fmla="*/ 1 w 732"/>
                <a:gd name="T13" fmla="*/ 1 h 593"/>
                <a:gd name="T14" fmla="*/ 2 w 732"/>
                <a:gd name="T15" fmla="*/ 2 h 593"/>
                <a:gd name="T16" fmla="*/ 2 w 732"/>
                <a:gd name="T17" fmla="*/ 2 h 593"/>
                <a:gd name="T18" fmla="*/ 2 w 732"/>
                <a:gd name="T19" fmla="*/ 2 h 593"/>
                <a:gd name="T20" fmla="*/ 1 w 732"/>
                <a:gd name="T21" fmla="*/ 2 h 593"/>
                <a:gd name="T22" fmla="*/ 1 w 732"/>
                <a:gd name="T23" fmla="*/ 1 h 593"/>
                <a:gd name="T24" fmla="*/ 1 w 732"/>
                <a:gd name="T25" fmla="*/ 1 h 593"/>
                <a:gd name="T26" fmla="*/ 1 w 732"/>
                <a:gd name="T27" fmla="*/ 1 h 593"/>
                <a:gd name="T28" fmla="*/ 0 w 732"/>
                <a:gd name="T29" fmla="*/ 1 h 593"/>
                <a:gd name="T30" fmla="*/ 1 w 732"/>
                <a:gd name="T31" fmla="*/ 1 h 593"/>
                <a:gd name="T32" fmla="*/ 1 w 732"/>
                <a:gd name="T33" fmla="*/ 0 h 5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32" h="593">
                  <a:moveTo>
                    <a:pt x="132" y="0"/>
                  </a:moveTo>
                  <a:lnTo>
                    <a:pt x="228" y="203"/>
                  </a:lnTo>
                  <a:lnTo>
                    <a:pt x="266" y="229"/>
                  </a:lnTo>
                  <a:lnTo>
                    <a:pt x="228" y="317"/>
                  </a:lnTo>
                  <a:lnTo>
                    <a:pt x="285" y="373"/>
                  </a:lnTo>
                  <a:lnTo>
                    <a:pt x="403" y="386"/>
                  </a:lnTo>
                  <a:lnTo>
                    <a:pt x="459" y="479"/>
                  </a:lnTo>
                  <a:lnTo>
                    <a:pt x="608" y="548"/>
                  </a:lnTo>
                  <a:lnTo>
                    <a:pt x="732" y="593"/>
                  </a:lnTo>
                  <a:lnTo>
                    <a:pt x="600" y="593"/>
                  </a:lnTo>
                  <a:lnTo>
                    <a:pt x="439" y="593"/>
                  </a:lnTo>
                  <a:lnTo>
                    <a:pt x="228" y="497"/>
                  </a:lnTo>
                  <a:lnTo>
                    <a:pt x="149" y="386"/>
                  </a:lnTo>
                  <a:lnTo>
                    <a:pt x="104" y="260"/>
                  </a:lnTo>
                  <a:lnTo>
                    <a:pt x="0" y="174"/>
                  </a:lnTo>
                  <a:lnTo>
                    <a:pt x="80" y="48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4" name="Freeform 121"/>
            <p:cNvSpPr>
              <a:spLocks/>
            </p:cNvSpPr>
            <p:nvPr/>
          </p:nvSpPr>
          <p:spPr bwMode="auto">
            <a:xfrm>
              <a:off x="2879" y="2737"/>
              <a:ext cx="131" cy="93"/>
            </a:xfrm>
            <a:custGeom>
              <a:avLst/>
              <a:gdLst>
                <a:gd name="T0" fmla="*/ 0 w 262"/>
                <a:gd name="T1" fmla="*/ 1 h 183"/>
                <a:gd name="T2" fmla="*/ 1 w 262"/>
                <a:gd name="T3" fmla="*/ 1 h 183"/>
                <a:gd name="T4" fmla="*/ 1 w 262"/>
                <a:gd name="T5" fmla="*/ 0 h 183"/>
                <a:gd name="T6" fmla="*/ 1 w 262"/>
                <a:gd name="T7" fmla="*/ 1 h 183"/>
                <a:gd name="T8" fmla="*/ 1 w 262"/>
                <a:gd name="T9" fmla="*/ 1 h 183"/>
                <a:gd name="T10" fmla="*/ 1 w 262"/>
                <a:gd name="T11" fmla="*/ 1 h 183"/>
                <a:gd name="T12" fmla="*/ 1 w 262"/>
                <a:gd name="T13" fmla="*/ 1 h 183"/>
                <a:gd name="T14" fmla="*/ 1 w 262"/>
                <a:gd name="T15" fmla="*/ 1 h 183"/>
                <a:gd name="T16" fmla="*/ 0 w 262"/>
                <a:gd name="T17" fmla="*/ 1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2" h="183">
                  <a:moveTo>
                    <a:pt x="0" y="37"/>
                  </a:moveTo>
                  <a:lnTo>
                    <a:pt x="81" y="37"/>
                  </a:lnTo>
                  <a:lnTo>
                    <a:pt x="262" y="0"/>
                  </a:lnTo>
                  <a:lnTo>
                    <a:pt x="237" y="43"/>
                  </a:lnTo>
                  <a:lnTo>
                    <a:pt x="199" y="83"/>
                  </a:lnTo>
                  <a:lnTo>
                    <a:pt x="124" y="138"/>
                  </a:lnTo>
                  <a:lnTo>
                    <a:pt x="32" y="183"/>
                  </a:lnTo>
                  <a:lnTo>
                    <a:pt x="52" y="100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" name="Freeform 122"/>
            <p:cNvSpPr>
              <a:spLocks/>
            </p:cNvSpPr>
            <p:nvPr/>
          </p:nvSpPr>
          <p:spPr bwMode="auto">
            <a:xfrm>
              <a:off x="2565" y="2856"/>
              <a:ext cx="490" cy="164"/>
            </a:xfrm>
            <a:custGeom>
              <a:avLst/>
              <a:gdLst>
                <a:gd name="T0" fmla="*/ 0 w 981"/>
                <a:gd name="T1" fmla="*/ 0 h 333"/>
                <a:gd name="T2" fmla="*/ 0 w 981"/>
                <a:gd name="T3" fmla="*/ 0 h 333"/>
                <a:gd name="T4" fmla="*/ 0 w 981"/>
                <a:gd name="T5" fmla="*/ 0 h 333"/>
                <a:gd name="T6" fmla="*/ 0 w 981"/>
                <a:gd name="T7" fmla="*/ 0 h 333"/>
                <a:gd name="T8" fmla="*/ 0 w 981"/>
                <a:gd name="T9" fmla="*/ 0 h 333"/>
                <a:gd name="T10" fmla="*/ 0 w 981"/>
                <a:gd name="T11" fmla="*/ 0 h 333"/>
                <a:gd name="T12" fmla="*/ 0 w 981"/>
                <a:gd name="T13" fmla="*/ 0 h 333"/>
                <a:gd name="T14" fmla="*/ 1 w 981"/>
                <a:gd name="T15" fmla="*/ 0 h 333"/>
                <a:gd name="T16" fmla="*/ 1 w 981"/>
                <a:gd name="T17" fmla="*/ 0 h 333"/>
                <a:gd name="T18" fmla="*/ 1 w 981"/>
                <a:gd name="T19" fmla="*/ 0 h 333"/>
                <a:gd name="T20" fmla="*/ 1 w 981"/>
                <a:gd name="T21" fmla="*/ 0 h 333"/>
                <a:gd name="T22" fmla="*/ 1 w 981"/>
                <a:gd name="T23" fmla="*/ 0 h 333"/>
                <a:gd name="T24" fmla="*/ 1 w 981"/>
                <a:gd name="T25" fmla="*/ 0 h 333"/>
                <a:gd name="T26" fmla="*/ 1 w 981"/>
                <a:gd name="T27" fmla="*/ 0 h 333"/>
                <a:gd name="T28" fmla="*/ 1 w 981"/>
                <a:gd name="T29" fmla="*/ 0 h 333"/>
                <a:gd name="T30" fmla="*/ 1 w 981"/>
                <a:gd name="T31" fmla="*/ 0 h 333"/>
                <a:gd name="T32" fmla="*/ 1 w 981"/>
                <a:gd name="T33" fmla="*/ 0 h 333"/>
                <a:gd name="T34" fmla="*/ 1 w 981"/>
                <a:gd name="T35" fmla="*/ 0 h 333"/>
                <a:gd name="T36" fmla="*/ 1 w 981"/>
                <a:gd name="T37" fmla="*/ 0 h 333"/>
                <a:gd name="T38" fmla="*/ 1 w 981"/>
                <a:gd name="T39" fmla="*/ 0 h 333"/>
                <a:gd name="T40" fmla="*/ 1 w 981"/>
                <a:gd name="T41" fmla="*/ 0 h 333"/>
                <a:gd name="T42" fmla="*/ 1 w 981"/>
                <a:gd name="T43" fmla="*/ 0 h 333"/>
                <a:gd name="T44" fmla="*/ 1 w 981"/>
                <a:gd name="T45" fmla="*/ 0 h 333"/>
                <a:gd name="T46" fmla="*/ 1 w 981"/>
                <a:gd name="T47" fmla="*/ 0 h 333"/>
                <a:gd name="T48" fmla="*/ 1 w 981"/>
                <a:gd name="T49" fmla="*/ 0 h 333"/>
                <a:gd name="T50" fmla="*/ 1 w 981"/>
                <a:gd name="T51" fmla="*/ 0 h 333"/>
                <a:gd name="T52" fmla="*/ 1 w 981"/>
                <a:gd name="T53" fmla="*/ 0 h 333"/>
                <a:gd name="T54" fmla="*/ 1 w 981"/>
                <a:gd name="T55" fmla="*/ 0 h 333"/>
                <a:gd name="T56" fmla="*/ 0 w 981"/>
                <a:gd name="T57" fmla="*/ 0 h 333"/>
                <a:gd name="T58" fmla="*/ 0 w 981"/>
                <a:gd name="T59" fmla="*/ 0 h 333"/>
                <a:gd name="T60" fmla="*/ 0 w 981"/>
                <a:gd name="T61" fmla="*/ 0 h 333"/>
                <a:gd name="T62" fmla="*/ 0 w 981"/>
                <a:gd name="T63" fmla="*/ 0 h 333"/>
                <a:gd name="T64" fmla="*/ 0 w 981"/>
                <a:gd name="T65" fmla="*/ 0 h 333"/>
                <a:gd name="T66" fmla="*/ 0 w 981"/>
                <a:gd name="T67" fmla="*/ 0 h 333"/>
                <a:gd name="T68" fmla="*/ 0 w 981"/>
                <a:gd name="T69" fmla="*/ 0 h 333"/>
                <a:gd name="T70" fmla="*/ 0 w 981"/>
                <a:gd name="T71" fmla="*/ 0 h 333"/>
                <a:gd name="T72" fmla="*/ 0 w 981"/>
                <a:gd name="T73" fmla="*/ 0 h 333"/>
                <a:gd name="T74" fmla="*/ 0 w 981"/>
                <a:gd name="T75" fmla="*/ 0 h 333"/>
                <a:gd name="T76" fmla="*/ 0 w 981"/>
                <a:gd name="T77" fmla="*/ 0 h 333"/>
                <a:gd name="T78" fmla="*/ 0 w 981"/>
                <a:gd name="T79" fmla="*/ 0 h 333"/>
                <a:gd name="T80" fmla="*/ 0 w 981"/>
                <a:gd name="T81" fmla="*/ 0 h 333"/>
                <a:gd name="T82" fmla="*/ 0 w 981"/>
                <a:gd name="T83" fmla="*/ 0 h 333"/>
                <a:gd name="T84" fmla="*/ 0 w 981"/>
                <a:gd name="T85" fmla="*/ 0 h 333"/>
                <a:gd name="T86" fmla="*/ 0 w 981"/>
                <a:gd name="T87" fmla="*/ 0 h 333"/>
                <a:gd name="T88" fmla="*/ 0 w 981"/>
                <a:gd name="T89" fmla="*/ 0 h 33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981" h="333">
                  <a:moveTo>
                    <a:pt x="45" y="101"/>
                  </a:moveTo>
                  <a:lnTo>
                    <a:pt x="130" y="73"/>
                  </a:lnTo>
                  <a:lnTo>
                    <a:pt x="274" y="0"/>
                  </a:lnTo>
                  <a:lnTo>
                    <a:pt x="431" y="40"/>
                  </a:lnTo>
                  <a:lnTo>
                    <a:pt x="455" y="48"/>
                  </a:lnTo>
                  <a:lnTo>
                    <a:pt x="477" y="55"/>
                  </a:lnTo>
                  <a:lnTo>
                    <a:pt x="498" y="63"/>
                  </a:lnTo>
                  <a:lnTo>
                    <a:pt x="518" y="69"/>
                  </a:lnTo>
                  <a:lnTo>
                    <a:pt x="538" y="75"/>
                  </a:lnTo>
                  <a:lnTo>
                    <a:pt x="557" y="79"/>
                  </a:lnTo>
                  <a:lnTo>
                    <a:pt x="577" y="83"/>
                  </a:lnTo>
                  <a:lnTo>
                    <a:pt x="595" y="87"/>
                  </a:lnTo>
                  <a:lnTo>
                    <a:pt x="614" y="89"/>
                  </a:lnTo>
                  <a:lnTo>
                    <a:pt x="632" y="91"/>
                  </a:lnTo>
                  <a:lnTo>
                    <a:pt x="652" y="95"/>
                  </a:lnTo>
                  <a:lnTo>
                    <a:pt x="672" y="95"/>
                  </a:lnTo>
                  <a:lnTo>
                    <a:pt x="693" y="97"/>
                  </a:lnTo>
                  <a:lnTo>
                    <a:pt x="715" y="99"/>
                  </a:lnTo>
                  <a:lnTo>
                    <a:pt x="739" y="99"/>
                  </a:lnTo>
                  <a:lnTo>
                    <a:pt x="764" y="101"/>
                  </a:lnTo>
                  <a:lnTo>
                    <a:pt x="843" y="138"/>
                  </a:lnTo>
                  <a:lnTo>
                    <a:pt x="981" y="213"/>
                  </a:lnTo>
                  <a:lnTo>
                    <a:pt x="953" y="278"/>
                  </a:lnTo>
                  <a:lnTo>
                    <a:pt x="823" y="278"/>
                  </a:lnTo>
                  <a:lnTo>
                    <a:pt x="640" y="239"/>
                  </a:lnTo>
                  <a:lnTo>
                    <a:pt x="603" y="266"/>
                  </a:lnTo>
                  <a:lnTo>
                    <a:pt x="569" y="288"/>
                  </a:lnTo>
                  <a:lnTo>
                    <a:pt x="540" y="306"/>
                  </a:lnTo>
                  <a:lnTo>
                    <a:pt x="510" y="319"/>
                  </a:lnTo>
                  <a:lnTo>
                    <a:pt x="482" y="329"/>
                  </a:lnTo>
                  <a:lnTo>
                    <a:pt x="457" y="333"/>
                  </a:lnTo>
                  <a:lnTo>
                    <a:pt x="433" y="333"/>
                  </a:lnTo>
                  <a:lnTo>
                    <a:pt x="410" y="329"/>
                  </a:lnTo>
                  <a:lnTo>
                    <a:pt x="386" y="321"/>
                  </a:lnTo>
                  <a:lnTo>
                    <a:pt x="364" y="308"/>
                  </a:lnTo>
                  <a:lnTo>
                    <a:pt x="341" y="290"/>
                  </a:lnTo>
                  <a:lnTo>
                    <a:pt x="319" y="266"/>
                  </a:lnTo>
                  <a:lnTo>
                    <a:pt x="293" y="241"/>
                  </a:lnTo>
                  <a:lnTo>
                    <a:pt x="270" y="209"/>
                  </a:lnTo>
                  <a:lnTo>
                    <a:pt x="242" y="174"/>
                  </a:lnTo>
                  <a:lnTo>
                    <a:pt x="215" y="132"/>
                  </a:lnTo>
                  <a:lnTo>
                    <a:pt x="116" y="132"/>
                  </a:lnTo>
                  <a:lnTo>
                    <a:pt x="6" y="172"/>
                  </a:lnTo>
                  <a:lnTo>
                    <a:pt x="0" y="113"/>
                  </a:lnTo>
                  <a:lnTo>
                    <a:pt x="45" y="101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6" name="Freeform 123"/>
            <p:cNvSpPr>
              <a:spLocks/>
            </p:cNvSpPr>
            <p:nvPr/>
          </p:nvSpPr>
          <p:spPr bwMode="auto">
            <a:xfrm>
              <a:off x="2693" y="2637"/>
              <a:ext cx="282" cy="83"/>
            </a:xfrm>
            <a:custGeom>
              <a:avLst/>
              <a:gdLst>
                <a:gd name="T0" fmla="*/ 0 w 563"/>
                <a:gd name="T1" fmla="*/ 1 h 166"/>
                <a:gd name="T2" fmla="*/ 1 w 563"/>
                <a:gd name="T3" fmla="*/ 1 h 166"/>
                <a:gd name="T4" fmla="*/ 1 w 563"/>
                <a:gd name="T5" fmla="*/ 1 h 166"/>
                <a:gd name="T6" fmla="*/ 1 w 563"/>
                <a:gd name="T7" fmla="*/ 1 h 166"/>
                <a:gd name="T8" fmla="*/ 1 w 563"/>
                <a:gd name="T9" fmla="*/ 1 h 166"/>
                <a:gd name="T10" fmla="*/ 2 w 563"/>
                <a:gd name="T11" fmla="*/ 1 h 166"/>
                <a:gd name="T12" fmla="*/ 1 w 563"/>
                <a:gd name="T13" fmla="*/ 1 h 166"/>
                <a:gd name="T14" fmla="*/ 1 w 563"/>
                <a:gd name="T15" fmla="*/ 1 h 166"/>
                <a:gd name="T16" fmla="*/ 1 w 563"/>
                <a:gd name="T17" fmla="*/ 1 h 166"/>
                <a:gd name="T18" fmla="*/ 1 w 563"/>
                <a:gd name="T19" fmla="*/ 0 h 166"/>
                <a:gd name="T20" fmla="*/ 1 w 563"/>
                <a:gd name="T21" fmla="*/ 0 h 166"/>
                <a:gd name="T22" fmla="*/ 0 w 563"/>
                <a:gd name="T23" fmla="*/ 1 h 1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63" h="166">
                  <a:moveTo>
                    <a:pt x="0" y="6"/>
                  </a:moveTo>
                  <a:lnTo>
                    <a:pt x="85" y="114"/>
                  </a:lnTo>
                  <a:lnTo>
                    <a:pt x="185" y="166"/>
                  </a:lnTo>
                  <a:lnTo>
                    <a:pt x="321" y="166"/>
                  </a:lnTo>
                  <a:lnTo>
                    <a:pt x="475" y="120"/>
                  </a:lnTo>
                  <a:lnTo>
                    <a:pt x="563" y="6"/>
                  </a:lnTo>
                  <a:lnTo>
                    <a:pt x="485" y="6"/>
                  </a:lnTo>
                  <a:lnTo>
                    <a:pt x="374" y="24"/>
                  </a:lnTo>
                  <a:lnTo>
                    <a:pt x="258" y="30"/>
                  </a:lnTo>
                  <a:lnTo>
                    <a:pt x="122" y="0"/>
                  </a:lnTo>
                  <a:lnTo>
                    <a:pt x="59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7" name="Freeform 124"/>
            <p:cNvSpPr>
              <a:spLocks/>
            </p:cNvSpPr>
            <p:nvPr/>
          </p:nvSpPr>
          <p:spPr bwMode="auto">
            <a:xfrm>
              <a:off x="2623" y="2420"/>
              <a:ext cx="208" cy="165"/>
            </a:xfrm>
            <a:custGeom>
              <a:avLst/>
              <a:gdLst>
                <a:gd name="T0" fmla="*/ 0 w 416"/>
                <a:gd name="T1" fmla="*/ 0 h 329"/>
                <a:gd name="T2" fmla="*/ 1 w 416"/>
                <a:gd name="T3" fmla="*/ 1 h 329"/>
                <a:gd name="T4" fmla="*/ 1 w 416"/>
                <a:gd name="T5" fmla="*/ 1 h 329"/>
                <a:gd name="T6" fmla="*/ 1 w 416"/>
                <a:gd name="T7" fmla="*/ 1 h 329"/>
                <a:gd name="T8" fmla="*/ 1 w 416"/>
                <a:gd name="T9" fmla="*/ 1 h 329"/>
                <a:gd name="T10" fmla="*/ 1 w 416"/>
                <a:gd name="T11" fmla="*/ 1 h 329"/>
                <a:gd name="T12" fmla="*/ 1 w 416"/>
                <a:gd name="T13" fmla="*/ 1 h 329"/>
                <a:gd name="T14" fmla="*/ 1 w 416"/>
                <a:gd name="T15" fmla="*/ 1 h 329"/>
                <a:gd name="T16" fmla="*/ 0 w 416"/>
                <a:gd name="T17" fmla="*/ 0 h 3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6" h="329">
                  <a:moveTo>
                    <a:pt x="0" y="0"/>
                  </a:moveTo>
                  <a:lnTo>
                    <a:pt x="116" y="134"/>
                  </a:lnTo>
                  <a:lnTo>
                    <a:pt x="233" y="191"/>
                  </a:lnTo>
                  <a:lnTo>
                    <a:pt x="416" y="301"/>
                  </a:lnTo>
                  <a:lnTo>
                    <a:pt x="280" y="309"/>
                  </a:lnTo>
                  <a:lnTo>
                    <a:pt x="193" y="329"/>
                  </a:lnTo>
                  <a:lnTo>
                    <a:pt x="128" y="329"/>
                  </a:lnTo>
                  <a:lnTo>
                    <a:pt x="73" y="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8" name="Freeform 125"/>
            <p:cNvSpPr>
              <a:spLocks/>
            </p:cNvSpPr>
            <p:nvPr/>
          </p:nvSpPr>
          <p:spPr bwMode="auto">
            <a:xfrm>
              <a:off x="2833" y="2435"/>
              <a:ext cx="157" cy="144"/>
            </a:xfrm>
            <a:custGeom>
              <a:avLst/>
              <a:gdLst>
                <a:gd name="T0" fmla="*/ 0 w 315"/>
                <a:gd name="T1" fmla="*/ 0 h 290"/>
                <a:gd name="T2" fmla="*/ 0 w 315"/>
                <a:gd name="T3" fmla="*/ 0 h 290"/>
                <a:gd name="T4" fmla="*/ 0 w 315"/>
                <a:gd name="T5" fmla="*/ 0 h 290"/>
                <a:gd name="T6" fmla="*/ 0 w 315"/>
                <a:gd name="T7" fmla="*/ 0 h 290"/>
                <a:gd name="T8" fmla="*/ 0 w 315"/>
                <a:gd name="T9" fmla="*/ 0 h 290"/>
                <a:gd name="T10" fmla="*/ 0 w 315"/>
                <a:gd name="T11" fmla="*/ 0 h 290"/>
                <a:gd name="T12" fmla="*/ 0 w 315"/>
                <a:gd name="T13" fmla="*/ 0 h 290"/>
                <a:gd name="T14" fmla="*/ 0 w 315"/>
                <a:gd name="T15" fmla="*/ 0 h 290"/>
                <a:gd name="T16" fmla="*/ 0 w 315"/>
                <a:gd name="T17" fmla="*/ 0 h 290"/>
                <a:gd name="T18" fmla="*/ 0 w 315"/>
                <a:gd name="T19" fmla="*/ 0 h 290"/>
                <a:gd name="T20" fmla="*/ 0 w 315"/>
                <a:gd name="T21" fmla="*/ 0 h 290"/>
                <a:gd name="T22" fmla="*/ 0 w 315"/>
                <a:gd name="T23" fmla="*/ 0 h 290"/>
                <a:gd name="T24" fmla="*/ 0 w 315"/>
                <a:gd name="T25" fmla="*/ 0 h 290"/>
                <a:gd name="T26" fmla="*/ 0 w 315"/>
                <a:gd name="T27" fmla="*/ 0 h 290"/>
                <a:gd name="T28" fmla="*/ 0 w 315"/>
                <a:gd name="T29" fmla="*/ 0 h 290"/>
                <a:gd name="T30" fmla="*/ 0 w 315"/>
                <a:gd name="T31" fmla="*/ 0 h 290"/>
                <a:gd name="T32" fmla="*/ 0 w 315"/>
                <a:gd name="T33" fmla="*/ 0 h 290"/>
                <a:gd name="T34" fmla="*/ 0 w 315"/>
                <a:gd name="T35" fmla="*/ 0 h 290"/>
                <a:gd name="T36" fmla="*/ 0 w 315"/>
                <a:gd name="T37" fmla="*/ 0 h 290"/>
                <a:gd name="T38" fmla="*/ 0 w 315"/>
                <a:gd name="T39" fmla="*/ 0 h 290"/>
                <a:gd name="T40" fmla="*/ 0 w 315"/>
                <a:gd name="T41" fmla="*/ 0 h 29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15" h="290">
                  <a:moveTo>
                    <a:pt x="305" y="0"/>
                  </a:moveTo>
                  <a:lnTo>
                    <a:pt x="212" y="50"/>
                  </a:lnTo>
                  <a:lnTo>
                    <a:pt x="112" y="119"/>
                  </a:lnTo>
                  <a:lnTo>
                    <a:pt x="0" y="201"/>
                  </a:lnTo>
                  <a:lnTo>
                    <a:pt x="110" y="286"/>
                  </a:lnTo>
                  <a:lnTo>
                    <a:pt x="163" y="290"/>
                  </a:lnTo>
                  <a:lnTo>
                    <a:pt x="208" y="284"/>
                  </a:lnTo>
                  <a:lnTo>
                    <a:pt x="242" y="274"/>
                  </a:lnTo>
                  <a:lnTo>
                    <a:pt x="270" y="258"/>
                  </a:lnTo>
                  <a:lnTo>
                    <a:pt x="289" y="239"/>
                  </a:lnTo>
                  <a:lnTo>
                    <a:pt x="303" y="215"/>
                  </a:lnTo>
                  <a:lnTo>
                    <a:pt x="311" y="188"/>
                  </a:lnTo>
                  <a:lnTo>
                    <a:pt x="315" y="160"/>
                  </a:lnTo>
                  <a:lnTo>
                    <a:pt x="315" y="132"/>
                  </a:lnTo>
                  <a:lnTo>
                    <a:pt x="313" y="105"/>
                  </a:lnTo>
                  <a:lnTo>
                    <a:pt x="311" y="77"/>
                  </a:lnTo>
                  <a:lnTo>
                    <a:pt x="307" y="54"/>
                  </a:lnTo>
                  <a:lnTo>
                    <a:pt x="303" y="32"/>
                  </a:lnTo>
                  <a:lnTo>
                    <a:pt x="301" y="16"/>
                  </a:lnTo>
                  <a:lnTo>
                    <a:pt x="301" y="4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9" name="Freeform 126"/>
            <p:cNvSpPr>
              <a:spLocks/>
            </p:cNvSpPr>
            <p:nvPr/>
          </p:nvSpPr>
          <p:spPr bwMode="auto">
            <a:xfrm>
              <a:off x="3115" y="2558"/>
              <a:ext cx="163" cy="164"/>
            </a:xfrm>
            <a:custGeom>
              <a:avLst/>
              <a:gdLst>
                <a:gd name="T0" fmla="*/ 1 w 323"/>
                <a:gd name="T1" fmla="*/ 1 h 325"/>
                <a:gd name="T2" fmla="*/ 1 w 323"/>
                <a:gd name="T3" fmla="*/ 1 h 325"/>
                <a:gd name="T4" fmla="*/ 0 w 323"/>
                <a:gd name="T5" fmla="*/ 1 h 325"/>
                <a:gd name="T6" fmla="*/ 1 w 323"/>
                <a:gd name="T7" fmla="*/ 1 h 325"/>
                <a:gd name="T8" fmla="*/ 1 w 323"/>
                <a:gd name="T9" fmla="*/ 1 h 325"/>
                <a:gd name="T10" fmla="*/ 1 w 323"/>
                <a:gd name="T11" fmla="*/ 1 h 325"/>
                <a:gd name="T12" fmla="*/ 1 w 323"/>
                <a:gd name="T13" fmla="*/ 1 h 325"/>
                <a:gd name="T14" fmla="*/ 1 w 323"/>
                <a:gd name="T15" fmla="*/ 1 h 325"/>
                <a:gd name="T16" fmla="*/ 1 w 323"/>
                <a:gd name="T17" fmla="*/ 1 h 325"/>
                <a:gd name="T18" fmla="*/ 1 w 323"/>
                <a:gd name="T19" fmla="*/ 1 h 325"/>
                <a:gd name="T20" fmla="*/ 1 w 323"/>
                <a:gd name="T21" fmla="*/ 1 h 325"/>
                <a:gd name="T22" fmla="*/ 1 w 323"/>
                <a:gd name="T23" fmla="*/ 0 h 325"/>
                <a:gd name="T24" fmla="*/ 1 w 323"/>
                <a:gd name="T25" fmla="*/ 1 h 325"/>
                <a:gd name="T26" fmla="*/ 1 w 323"/>
                <a:gd name="T27" fmla="*/ 1 h 325"/>
                <a:gd name="T28" fmla="*/ 1 w 323"/>
                <a:gd name="T29" fmla="*/ 1 h 325"/>
                <a:gd name="T30" fmla="*/ 1 w 323"/>
                <a:gd name="T31" fmla="*/ 1 h 3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23" h="325">
                  <a:moveTo>
                    <a:pt x="140" y="11"/>
                  </a:moveTo>
                  <a:lnTo>
                    <a:pt x="87" y="120"/>
                  </a:lnTo>
                  <a:lnTo>
                    <a:pt x="0" y="240"/>
                  </a:lnTo>
                  <a:lnTo>
                    <a:pt x="87" y="250"/>
                  </a:lnTo>
                  <a:lnTo>
                    <a:pt x="173" y="325"/>
                  </a:lnTo>
                  <a:lnTo>
                    <a:pt x="248" y="325"/>
                  </a:lnTo>
                  <a:lnTo>
                    <a:pt x="323" y="206"/>
                  </a:lnTo>
                  <a:lnTo>
                    <a:pt x="227" y="228"/>
                  </a:lnTo>
                  <a:lnTo>
                    <a:pt x="152" y="218"/>
                  </a:lnTo>
                  <a:lnTo>
                    <a:pt x="215" y="151"/>
                  </a:lnTo>
                  <a:lnTo>
                    <a:pt x="270" y="55"/>
                  </a:lnTo>
                  <a:lnTo>
                    <a:pt x="195" y="0"/>
                  </a:lnTo>
                  <a:lnTo>
                    <a:pt x="187" y="4"/>
                  </a:lnTo>
                  <a:lnTo>
                    <a:pt x="171" y="9"/>
                  </a:lnTo>
                  <a:lnTo>
                    <a:pt x="154" y="13"/>
                  </a:lnTo>
                  <a:lnTo>
                    <a:pt x="140" y="11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0" name="Freeform 127"/>
            <p:cNvSpPr>
              <a:spLocks/>
            </p:cNvSpPr>
            <p:nvPr/>
          </p:nvSpPr>
          <p:spPr bwMode="auto">
            <a:xfrm>
              <a:off x="2946" y="2276"/>
              <a:ext cx="46" cy="147"/>
            </a:xfrm>
            <a:custGeom>
              <a:avLst/>
              <a:gdLst>
                <a:gd name="T0" fmla="*/ 0 w 93"/>
                <a:gd name="T1" fmla="*/ 0 h 296"/>
                <a:gd name="T2" fmla="*/ 0 w 93"/>
                <a:gd name="T3" fmla="*/ 0 h 296"/>
                <a:gd name="T4" fmla="*/ 0 w 93"/>
                <a:gd name="T5" fmla="*/ 0 h 296"/>
                <a:gd name="T6" fmla="*/ 0 w 93"/>
                <a:gd name="T7" fmla="*/ 0 h 296"/>
                <a:gd name="T8" fmla="*/ 0 w 93"/>
                <a:gd name="T9" fmla="*/ 0 h 296"/>
                <a:gd name="T10" fmla="*/ 0 w 93"/>
                <a:gd name="T11" fmla="*/ 0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3" h="296">
                  <a:moveTo>
                    <a:pt x="18" y="0"/>
                  </a:moveTo>
                  <a:lnTo>
                    <a:pt x="93" y="65"/>
                  </a:lnTo>
                  <a:lnTo>
                    <a:pt x="93" y="262"/>
                  </a:lnTo>
                  <a:lnTo>
                    <a:pt x="0" y="296"/>
                  </a:lnTo>
                  <a:lnTo>
                    <a:pt x="28" y="12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DD7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1" name="Freeform 128"/>
            <p:cNvSpPr>
              <a:spLocks/>
            </p:cNvSpPr>
            <p:nvPr/>
          </p:nvSpPr>
          <p:spPr bwMode="auto">
            <a:xfrm>
              <a:off x="2725" y="2411"/>
              <a:ext cx="176" cy="112"/>
            </a:xfrm>
            <a:custGeom>
              <a:avLst/>
              <a:gdLst>
                <a:gd name="T0" fmla="*/ 0 w 353"/>
                <a:gd name="T1" fmla="*/ 0 h 225"/>
                <a:gd name="T2" fmla="*/ 0 w 353"/>
                <a:gd name="T3" fmla="*/ 0 h 225"/>
                <a:gd name="T4" fmla="*/ 0 w 353"/>
                <a:gd name="T5" fmla="*/ 0 h 225"/>
                <a:gd name="T6" fmla="*/ 0 w 353"/>
                <a:gd name="T7" fmla="*/ 0 h 225"/>
                <a:gd name="T8" fmla="*/ 0 w 353"/>
                <a:gd name="T9" fmla="*/ 0 h 225"/>
                <a:gd name="T10" fmla="*/ 0 w 353"/>
                <a:gd name="T11" fmla="*/ 0 h 225"/>
                <a:gd name="T12" fmla="*/ 0 w 353"/>
                <a:gd name="T13" fmla="*/ 0 h 225"/>
                <a:gd name="T14" fmla="*/ 0 w 353"/>
                <a:gd name="T15" fmla="*/ 0 h 2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3" h="225">
                  <a:moveTo>
                    <a:pt x="106" y="38"/>
                  </a:moveTo>
                  <a:lnTo>
                    <a:pt x="230" y="63"/>
                  </a:lnTo>
                  <a:lnTo>
                    <a:pt x="353" y="93"/>
                  </a:lnTo>
                  <a:lnTo>
                    <a:pt x="303" y="170"/>
                  </a:lnTo>
                  <a:lnTo>
                    <a:pt x="230" y="225"/>
                  </a:lnTo>
                  <a:lnTo>
                    <a:pt x="160" y="144"/>
                  </a:lnTo>
                  <a:lnTo>
                    <a:pt x="0" y="0"/>
                  </a:lnTo>
                  <a:lnTo>
                    <a:pt x="106" y="38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2" name="Freeform 129"/>
            <p:cNvSpPr>
              <a:spLocks/>
            </p:cNvSpPr>
            <p:nvPr/>
          </p:nvSpPr>
          <p:spPr bwMode="auto">
            <a:xfrm>
              <a:off x="2708" y="2288"/>
              <a:ext cx="139" cy="102"/>
            </a:xfrm>
            <a:custGeom>
              <a:avLst/>
              <a:gdLst>
                <a:gd name="T0" fmla="*/ 0 w 278"/>
                <a:gd name="T1" fmla="*/ 1 h 201"/>
                <a:gd name="T2" fmla="*/ 1 w 278"/>
                <a:gd name="T3" fmla="*/ 1 h 201"/>
                <a:gd name="T4" fmla="*/ 1 w 278"/>
                <a:gd name="T5" fmla="*/ 1 h 201"/>
                <a:gd name="T6" fmla="*/ 1 w 278"/>
                <a:gd name="T7" fmla="*/ 0 h 201"/>
                <a:gd name="T8" fmla="*/ 1 w 278"/>
                <a:gd name="T9" fmla="*/ 0 h 201"/>
                <a:gd name="T10" fmla="*/ 1 w 278"/>
                <a:gd name="T11" fmla="*/ 1 h 201"/>
                <a:gd name="T12" fmla="*/ 1 w 278"/>
                <a:gd name="T13" fmla="*/ 1 h 201"/>
                <a:gd name="T14" fmla="*/ 1 w 278"/>
                <a:gd name="T15" fmla="*/ 1 h 201"/>
                <a:gd name="T16" fmla="*/ 1 w 278"/>
                <a:gd name="T17" fmla="*/ 1 h 201"/>
                <a:gd name="T18" fmla="*/ 1 w 278"/>
                <a:gd name="T19" fmla="*/ 1 h 201"/>
                <a:gd name="T20" fmla="*/ 1 w 278"/>
                <a:gd name="T21" fmla="*/ 1 h 201"/>
                <a:gd name="T22" fmla="*/ 0 w 278"/>
                <a:gd name="T23" fmla="*/ 1 h 2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8" h="201">
                  <a:moveTo>
                    <a:pt x="0" y="162"/>
                  </a:moveTo>
                  <a:lnTo>
                    <a:pt x="16" y="89"/>
                  </a:lnTo>
                  <a:lnTo>
                    <a:pt x="79" y="65"/>
                  </a:lnTo>
                  <a:lnTo>
                    <a:pt x="79" y="0"/>
                  </a:lnTo>
                  <a:lnTo>
                    <a:pt x="134" y="0"/>
                  </a:lnTo>
                  <a:lnTo>
                    <a:pt x="205" y="49"/>
                  </a:lnTo>
                  <a:lnTo>
                    <a:pt x="278" y="81"/>
                  </a:lnTo>
                  <a:lnTo>
                    <a:pt x="197" y="112"/>
                  </a:lnTo>
                  <a:lnTo>
                    <a:pt x="119" y="138"/>
                  </a:lnTo>
                  <a:lnTo>
                    <a:pt x="63" y="146"/>
                  </a:lnTo>
                  <a:lnTo>
                    <a:pt x="63" y="201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3" name="Freeform 130"/>
            <p:cNvSpPr>
              <a:spLocks/>
            </p:cNvSpPr>
            <p:nvPr/>
          </p:nvSpPr>
          <p:spPr bwMode="auto">
            <a:xfrm>
              <a:off x="3030" y="2271"/>
              <a:ext cx="125" cy="131"/>
            </a:xfrm>
            <a:custGeom>
              <a:avLst/>
              <a:gdLst>
                <a:gd name="T0" fmla="*/ 0 w 246"/>
                <a:gd name="T1" fmla="*/ 0 h 262"/>
                <a:gd name="T2" fmla="*/ 1 w 246"/>
                <a:gd name="T3" fmla="*/ 0 h 262"/>
                <a:gd name="T4" fmla="*/ 1 w 246"/>
                <a:gd name="T5" fmla="*/ 1 h 262"/>
                <a:gd name="T6" fmla="*/ 1 w 246"/>
                <a:gd name="T7" fmla="*/ 1 h 262"/>
                <a:gd name="T8" fmla="*/ 1 w 246"/>
                <a:gd name="T9" fmla="*/ 1 h 262"/>
                <a:gd name="T10" fmla="*/ 1 w 246"/>
                <a:gd name="T11" fmla="*/ 1 h 262"/>
                <a:gd name="T12" fmla="*/ 1 w 246"/>
                <a:gd name="T13" fmla="*/ 1 h 262"/>
                <a:gd name="T14" fmla="*/ 1 w 246"/>
                <a:gd name="T15" fmla="*/ 1 h 262"/>
                <a:gd name="T16" fmla="*/ 0 w 246"/>
                <a:gd name="T17" fmla="*/ 0 h 2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6" h="262">
                  <a:moveTo>
                    <a:pt x="0" y="0"/>
                  </a:moveTo>
                  <a:lnTo>
                    <a:pt x="128" y="0"/>
                  </a:lnTo>
                  <a:lnTo>
                    <a:pt x="214" y="23"/>
                  </a:lnTo>
                  <a:lnTo>
                    <a:pt x="246" y="120"/>
                  </a:lnTo>
                  <a:lnTo>
                    <a:pt x="236" y="262"/>
                  </a:lnTo>
                  <a:lnTo>
                    <a:pt x="149" y="197"/>
                  </a:lnTo>
                  <a:lnTo>
                    <a:pt x="96" y="110"/>
                  </a:lnTo>
                  <a:lnTo>
                    <a:pt x="19" y="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4" name="Freeform 131"/>
            <p:cNvSpPr>
              <a:spLocks/>
            </p:cNvSpPr>
            <p:nvPr/>
          </p:nvSpPr>
          <p:spPr bwMode="auto">
            <a:xfrm>
              <a:off x="2399" y="2444"/>
              <a:ext cx="98" cy="136"/>
            </a:xfrm>
            <a:custGeom>
              <a:avLst/>
              <a:gdLst>
                <a:gd name="T0" fmla="*/ 0 w 195"/>
                <a:gd name="T1" fmla="*/ 1 h 272"/>
                <a:gd name="T2" fmla="*/ 0 w 195"/>
                <a:gd name="T3" fmla="*/ 1 h 272"/>
                <a:gd name="T4" fmla="*/ 1 w 195"/>
                <a:gd name="T5" fmla="*/ 0 h 272"/>
                <a:gd name="T6" fmla="*/ 1 w 195"/>
                <a:gd name="T7" fmla="*/ 1 h 272"/>
                <a:gd name="T8" fmla="*/ 1 w 195"/>
                <a:gd name="T9" fmla="*/ 1 h 272"/>
                <a:gd name="T10" fmla="*/ 1 w 195"/>
                <a:gd name="T11" fmla="*/ 1 h 272"/>
                <a:gd name="T12" fmla="*/ 0 w 195"/>
                <a:gd name="T13" fmla="*/ 1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5" h="272">
                  <a:moveTo>
                    <a:pt x="0" y="175"/>
                  </a:moveTo>
                  <a:lnTo>
                    <a:pt x="0" y="77"/>
                  </a:lnTo>
                  <a:lnTo>
                    <a:pt x="108" y="0"/>
                  </a:lnTo>
                  <a:lnTo>
                    <a:pt x="120" y="87"/>
                  </a:lnTo>
                  <a:lnTo>
                    <a:pt x="195" y="272"/>
                  </a:lnTo>
                  <a:lnTo>
                    <a:pt x="87" y="152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F9E5A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5" name="Freeform 132"/>
            <p:cNvSpPr>
              <a:spLocks/>
            </p:cNvSpPr>
            <p:nvPr/>
          </p:nvSpPr>
          <p:spPr bwMode="auto">
            <a:xfrm>
              <a:off x="2970" y="2733"/>
              <a:ext cx="114" cy="70"/>
            </a:xfrm>
            <a:custGeom>
              <a:avLst/>
              <a:gdLst>
                <a:gd name="T0" fmla="*/ 0 w 227"/>
                <a:gd name="T1" fmla="*/ 0 h 142"/>
                <a:gd name="T2" fmla="*/ 1 w 227"/>
                <a:gd name="T3" fmla="*/ 0 h 142"/>
                <a:gd name="T4" fmla="*/ 1 w 227"/>
                <a:gd name="T5" fmla="*/ 0 h 142"/>
                <a:gd name="T6" fmla="*/ 1 w 227"/>
                <a:gd name="T7" fmla="*/ 0 h 142"/>
                <a:gd name="T8" fmla="*/ 1 w 227"/>
                <a:gd name="T9" fmla="*/ 0 h 142"/>
                <a:gd name="T10" fmla="*/ 0 w 227"/>
                <a:gd name="T11" fmla="*/ 0 h 1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7" h="142">
                  <a:moveTo>
                    <a:pt x="0" y="130"/>
                  </a:moveTo>
                  <a:lnTo>
                    <a:pt x="131" y="43"/>
                  </a:lnTo>
                  <a:lnTo>
                    <a:pt x="227" y="0"/>
                  </a:lnTo>
                  <a:lnTo>
                    <a:pt x="184" y="87"/>
                  </a:lnTo>
                  <a:lnTo>
                    <a:pt x="66" y="142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6" name="Freeform 133"/>
            <p:cNvSpPr>
              <a:spLocks/>
            </p:cNvSpPr>
            <p:nvPr/>
          </p:nvSpPr>
          <p:spPr bwMode="auto">
            <a:xfrm>
              <a:off x="2572" y="2819"/>
              <a:ext cx="377" cy="82"/>
            </a:xfrm>
            <a:custGeom>
              <a:avLst/>
              <a:gdLst>
                <a:gd name="T0" fmla="*/ 1 w 752"/>
                <a:gd name="T1" fmla="*/ 0 h 164"/>
                <a:gd name="T2" fmla="*/ 1 w 752"/>
                <a:gd name="T3" fmla="*/ 1 h 164"/>
                <a:gd name="T4" fmla="*/ 0 w 752"/>
                <a:gd name="T5" fmla="*/ 1 h 164"/>
                <a:gd name="T6" fmla="*/ 1 w 752"/>
                <a:gd name="T7" fmla="*/ 1 h 164"/>
                <a:gd name="T8" fmla="*/ 1 w 752"/>
                <a:gd name="T9" fmla="*/ 1 h 164"/>
                <a:gd name="T10" fmla="*/ 1 w 752"/>
                <a:gd name="T11" fmla="*/ 1 h 164"/>
                <a:gd name="T12" fmla="*/ 1 w 752"/>
                <a:gd name="T13" fmla="*/ 1 h 164"/>
                <a:gd name="T14" fmla="*/ 2 w 752"/>
                <a:gd name="T15" fmla="*/ 1 h 164"/>
                <a:gd name="T16" fmla="*/ 2 w 752"/>
                <a:gd name="T17" fmla="*/ 1 h 164"/>
                <a:gd name="T18" fmla="*/ 2 w 752"/>
                <a:gd name="T19" fmla="*/ 1 h 164"/>
                <a:gd name="T20" fmla="*/ 2 w 752"/>
                <a:gd name="T21" fmla="*/ 1 h 164"/>
                <a:gd name="T22" fmla="*/ 1 w 752"/>
                <a:gd name="T23" fmla="*/ 1 h 164"/>
                <a:gd name="T24" fmla="*/ 1 w 752"/>
                <a:gd name="T25" fmla="*/ 0 h 1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52" h="164">
                  <a:moveTo>
                    <a:pt x="323" y="0"/>
                  </a:moveTo>
                  <a:lnTo>
                    <a:pt x="171" y="77"/>
                  </a:lnTo>
                  <a:lnTo>
                    <a:pt x="0" y="128"/>
                  </a:lnTo>
                  <a:lnTo>
                    <a:pt x="106" y="128"/>
                  </a:lnTo>
                  <a:lnTo>
                    <a:pt x="268" y="87"/>
                  </a:lnTo>
                  <a:lnTo>
                    <a:pt x="376" y="142"/>
                  </a:lnTo>
                  <a:lnTo>
                    <a:pt x="472" y="109"/>
                  </a:lnTo>
                  <a:lnTo>
                    <a:pt x="549" y="164"/>
                  </a:lnTo>
                  <a:lnTo>
                    <a:pt x="677" y="164"/>
                  </a:lnTo>
                  <a:lnTo>
                    <a:pt x="752" y="164"/>
                  </a:lnTo>
                  <a:lnTo>
                    <a:pt x="634" y="128"/>
                  </a:lnTo>
                  <a:lnTo>
                    <a:pt x="419" y="65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7" name="Freeform 134"/>
            <p:cNvSpPr>
              <a:spLocks/>
            </p:cNvSpPr>
            <p:nvPr/>
          </p:nvSpPr>
          <p:spPr bwMode="auto">
            <a:xfrm>
              <a:off x="2630" y="2450"/>
              <a:ext cx="65" cy="147"/>
            </a:xfrm>
            <a:custGeom>
              <a:avLst/>
              <a:gdLst>
                <a:gd name="T0" fmla="*/ 1 w 128"/>
                <a:gd name="T1" fmla="*/ 0 h 293"/>
                <a:gd name="T2" fmla="*/ 1 w 128"/>
                <a:gd name="T3" fmla="*/ 1 h 293"/>
                <a:gd name="T4" fmla="*/ 1 w 128"/>
                <a:gd name="T5" fmla="*/ 1 h 293"/>
                <a:gd name="T6" fmla="*/ 1 w 128"/>
                <a:gd name="T7" fmla="*/ 1 h 293"/>
                <a:gd name="T8" fmla="*/ 1 w 128"/>
                <a:gd name="T9" fmla="*/ 1 h 293"/>
                <a:gd name="T10" fmla="*/ 1 w 128"/>
                <a:gd name="T11" fmla="*/ 1 h 293"/>
                <a:gd name="T12" fmla="*/ 0 w 128"/>
                <a:gd name="T13" fmla="*/ 1 h 293"/>
                <a:gd name="T14" fmla="*/ 1 w 128"/>
                <a:gd name="T15" fmla="*/ 0 h 2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8" h="293">
                  <a:moveTo>
                    <a:pt x="10" y="0"/>
                  </a:moveTo>
                  <a:lnTo>
                    <a:pt x="43" y="140"/>
                  </a:lnTo>
                  <a:lnTo>
                    <a:pt x="85" y="207"/>
                  </a:lnTo>
                  <a:lnTo>
                    <a:pt x="128" y="293"/>
                  </a:lnTo>
                  <a:lnTo>
                    <a:pt x="65" y="293"/>
                  </a:lnTo>
                  <a:lnTo>
                    <a:pt x="10" y="217"/>
                  </a:lnTo>
                  <a:lnTo>
                    <a:pt x="0" y="118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8" name="Freeform 135"/>
            <p:cNvSpPr>
              <a:spLocks/>
            </p:cNvSpPr>
            <p:nvPr/>
          </p:nvSpPr>
          <p:spPr bwMode="auto">
            <a:xfrm>
              <a:off x="2842" y="2357"/>
              <a:ext cx="29" cy="78"/>
            </a:xfrm>
            <a:custGeom>
              <a:avLst/>
              <a:gdLst>
                <a:gd name="T0" fmla="*/ 0 w 58"/>
                <a:gd name="T1" fmla="*/ 0 h 155"/>
                <a:gd name="T2" fmla="*/ 1 w 58"/>
                <a:gd name="T3" fmla="*/ 1 h 155"/>
                <a:gd name="T4" fmla="*/ 1 w 58"/>
                <a:gd name="T5" fmla="*/ 1 h 155"/>
                <a:gd name="T6" fmla="*/ 1 w 58"/>
                <a:gd name="T7" fmla="*/ 1 h 155"/>
                <a:gd name="T8" fmla="*/ 1 w 58"/>
                <a:gd name="T9" fmla="*/ 1 h 155"/>
                <a:gd name="T10" fmla="*/ 1 w 58"/>
                <a:gd name="T11" fmla="*/ 1 h 155"/>
                <a:gd name="T12" fmla="*/ 0 w 58"/>
                <a:gd name="T13" fmla="*/ 0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155">
                  <a:moveTo>
                    <a:pt x="0" y="0"/>
                  </a:moveTo>
                  <a:lnTo>
                    <a:pt x="42" y="55"/>
                  </a:lnTo>
                  <a:lnTo>
                    <a:pt x="58" y="155"/>
                  </a:lnTo>
                  <a:lnTo>
                    <a:pt x="12" y="148"/>
                  </a:lnTo>
                  <a:lnTo>
                    <a:pt x="12" y="81"/>
                  </a:lnTo>
                  <a:lnTo>
                    <a:pt x="4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9" name="Freeform 136"/>
            <p:cNvSpPr>
              <a:spLocks/>
            </p:cNvSpPr>
            <p:nvPr/>
          </p:nvSpPr>
          <p:spPr bwMode="auto">
            <a:xfrm>
              <a:off x="2948" y="2297"/>
              <a:ext cx="23" cy="132"/>
            </a:xfrm>
            <a:custGeom>
              <a:avLst/>
              <a:gdLst>
                <a:gd name="T0" fmla="*/ 0 w 47"/>
                <a:gd name="T1" fmla="*/ 0 h 264"/>
                <a:gd name="T2" fmla="*/ 0 w 47"/>
                <a:gd name="T3" fmla="*/ 1 h 264"/>
                <a:gd name="T4" fmla="*/ 0 w 47"/>
                <a:gd name="T5" fmla="*/ 1 h 264"/>
                <a:gd name="T6" fmla="*/ 0 w 47"/>
                <a:gd name="T7" fmla="*/ 1 h 264"/>
                <a:gd name="T8" fmla="*/ 0 w 47"/>
                <a:gd name="T9" fmla="*/ 1 h 264"/>
                <a:gd name="T10" fmla="*/ 0 w 47"/>
                <a:gd name="T11" fmla="*/ 1 h 264"/>
                <a:gd name="T12" fmla="*/ 0 w 47"/>
                <a:gd name="T13" fmla="*/ 0 h 2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64">
                  <a:moveTo>
                    <a:pt x="4" y="0"/>
                  </a:moveTo>
                  <a:lnTo>
                    <a:pt x="18" y="106"/>
                  </a:lnTo>
                  <a:lnTo>
                    <a:pt x="0" y="264"/>
                  </a:lnTo>
                  <a:lnTo>
                    <a:pt x="47" y="242"/>
                  </a:lnTo>
                  <a:lnTo>
                    <a:pt x="42" y="175"/>
                  </a:lnTo>
                  <a:lnTo>
                    <a:pt x="30" y="7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0" name="Freeform 137"/>
            <p:cNvSpPr>
              <a:spLocks/>
            </p:cNvSpPr>
            <p:nvPr/>
          </p:nvSpPr>
          <p:spPr bwMode="auto">
            <a:xfrm>
              <a:off x="2740" y="2347"/>
              <a:ext cx="69" cy="65"/>
            </a:xfrm>
            <a:custGeom>
              <a:avLst/>
              <a:gdLst>
                <a:gd name="T0" fmla="*/ 0 w 139"/>
                <a:gd name="T1" fmla="*/ 1 h 130"/>
                <a:gd name="T2" fmla="*/ 0 w 139"/>
                <a:gd name="T3" fmla="*/ 1 h 130"/>
                <a:gd name="T4" fmla="*/ 0 w 139"/>
                <a:gd name="T5" fmla="*/ 1 h 130"/>
                <a:gd name="T6" fmla="*/ 0 w 139"/>
                <a:gd name="T7" fmla="*/ 1 h 130"/>
                <a:gd name="T8" fmla="*/ 0 w 139"/>
                <a:gd name="T9" fmla="*/ 0 h 130"/>
                <a:gd name="T10" fmla="*/ 0 w 139"/>
                <a:gd name="T11" fmla="*/ 1 h 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9" h="130">
                  <a:moveTo>
                    <a:pt x="47" y="44"/>
                  </a:moveTo>
                  <a:lnTo>
                    <a:pt x="0" y="69"/>
                  </a:lnTo>
                  <a:lnTo>
                    <a:pt x="72" y="130"/>
                  </a:lnTo>
                  <a:lnTo>
                    <a:pt x="72" y="69"/>
                  </a:lnTo>
                  <a:lnTo>
                    <a:pt x="139" y="0"/>
                  </a:lnTo>
                  <a:lnTo>
                    <a:pt x="47" y="44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1" name="Freeform 138"/>
            <p:cNvSpPr>
              <a:spLocks/>
            </p:cNvSpPr>
            <p:nvPr/>
          </p:nvSpPr>
          <p:spPr bwMode="auto">
            <a:xfrm>
              <a:off x="2476" y="2325"/>
              <a:ext cx="36" cy="102"/>
            </a:xfrm>
            <a:custGeom>
              <a:avLst/>
              <a:gdLst>
                <a:gd name="T0" fmla="*/ 1 w 72"/>
                <a:gd name="T1" fmla="*/ 0 h 205"/>
                <a:gd name="T2" fmla="*/ 1 w 72"/>
                <a:gd name="T3" fmla="*/ 0 h 205"/>
                <a:gd name="T4" fmla="*/ 1 w 72"/>
                <a:gd name="T5" fmla="*/ 0 h 205"/>
                <a:gd name="T6" fmla="*/ 0 w 72"/>
                <a:gd name="T7" fmla="*/ 0 h 205"/>
                <a:gd name="T8" fmla="*/ 1 w 72"/>
                <a:gd name="T9" fmla="*/ 0 h 205"/>
                <a:gd name="T10" fmla="*/ 1 w 72"/>
                <a:gd name="T11" fmla="*/ 0 h 205"/>
                <a:gd name="T12" fmla="*/ 1 w 72"/>
                <a:gd name="T13" fmla="*/ 0 h 2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205">
                  <a:moveTo>
                    <a:pt x="72" y="0"/>
                  </a:moveTo>
                  <a:lnTo>
                    <a:pt x="43" y="92"/>
                  </a:lnTo>
                  <a:lnTo>
                    <a:pt x="43" y="205"/>
                  </a:lnTo>
                  <a:lnTo>
                    <a:pt x="0" y="205"/>
                  </a:lnTo>
                  <a:lnTo>
                    <a:pt x="11" y="53"/>
                  </a:lnTo>
                  <a:lnTo>
                    <a:pt x="37" y="14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2" name="Freeform 139"/>
            <p:cNvSpPr>
              <a:spLocks/>
            </p:cNvSpPr>
            <p:nvPr/>
          </p:nvSpPr>
          <p:spPr bwMode="auto">
            <a:xfrm>
              <a:off x="3024" y="2436"/>
              <a:ext cx="74" cy="155"/>
            </a:xfrm>
            <a:custGeom>
              <a:avLst/>
              <a:gdLst>
                <a:gd name="T0" fmla="*/ 1 w 148"/>
                <a:gd name="T1" fmla="*/ 0 h 308"/>
                <a:gd name="T2" fmla="*/ 1 w 148"/>
                <a:gd name="T3" fmla="*/ 1 h 308"/>
                <a:gd name="T4" fmla="*/ 0 w 148"/>
                <a:gd name="T5" fmla="*/ 1 h 308"/>
                <a:gd name="T6" fmla="*/ 1 w 148"/>
                <a:gd name="T7" fmla="*/ 1 h 308"/>
                <a:gd name="T8" fmla="*/ 1 w 148"/>
                <a:gd name="T9" fmla="*/ 1 h 308"/>
                <a:gd name="T10" fmla="*/ 1 w 148"/>
                <a:gd name="T11" fmla="*/ 1 h 308"/>
                <a:gd name="T12" fmla="*/ 1 w 148"/>
                <a:gd name="T13" fmla="*/ 0 h 3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8" h="308">
                  <a:moveTo>
                    <a:pt x="148" y="0"/>
                  </a:moveTo>
                  <a:lnTo>
                    <a:pt x="55" y="203"/>
                  </a:lnTo>
                  <a:lnTo>
                    <a:pt x="0" y="308"/>
                  </a:lnTo>
                  <a:lnTo>
                    <a:pt x="43" y="308"/>
                  </a:lnTo>
                  <a:lnTo>
                    <a:pt x="79" y="235"/>
                  </a:lnTo>
                  <a:lnTo>
                    <a:pt x="98" y="130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3" name="Freeform 140"/>
            <p:cNvSpPr>
              <a:spLocks/>
            </p:cNvSpPr>
            <p:nvPr/>
          </p:nvSpPr>
          <p:spPr bwMode="auto">
            <a:xfrm>
              <a:off x="2630" y="2609"/>
              <a:ext cx="139" cy="114"/>
            </a:xfrm>
            <a:custGeom>
              <a:avLst/>
              <a:gdLst>
                <a:gd name="T0" fmla="*/ 1 w 276"/>
                <a:gd name="T1" fmla="*/ 1 h 228"/>
                <a:gd name="T2" fmla="*/ 1 w 276"/>
                <a:gd name="T3" fmla="*/ 1 h 228"/>
                <a:gd name="T4" fmla="*/ 1 w 276"/>
                <a:gd name="T5" fmla="*/ 1 h 228"/>
                <a:gd name="T6" fmla="*/ 1 w 276"/>
                <a:gd name="T7" fmla="*/ 1 h 228"/>
                <a:gd name="T8" fmla="*/ 1 w 276"/>
                <a:gd name="T9" fmla="*/ 1 h 228"/>
                <a:gd name="T10" fmla="*/ 1 w 276"/>
                <a:gd name="T11" fmla="*/ 1 h 228"/>
                <a:gd name="T12" fmla="*/ 0 w 276"/>
                <a:gd name="T13" fmla="*/ 1 h 228"/>
                <a:gd name="T14" fmla="*/ 1 w 276"/>
                <a:gd name="T15" fmla="*/ 0 h 228"/>
                <a:gd name="T16" fmla="*/ 1 w 276"/>
                <a:gd name="T17" fmla="*/ 1 h 2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6" h="228">
                  <a:moveTo>
                    <a:pt x="61" y="69"/>
                  </a:moveTo>
                  <a:lnTo>
                    <a:pt x="148" y="148"/>
                  </a:lnTo>
                  <a:lnTo>
                    <a:pt x="276" y="228"/>
                  </a:lnTo>
                  <a:lnTo>
                    <a:pt x="171" y="197"/>
                  </a:lnTo>
                  <a:lnTo>
                    <a:pt x="73" y="161"/>
                  </a:lnTo>
                  <a:lnTo>
                    <a:pt x="25" y="161"/>
                  </a:lnTo>
                  <a:lnTo>
                    <a:pt x="0" y="32"/>
                  </a:lnTo>
                  <a:lnTo>
                    <a:pt x="25" y="0"/>
                  </a:lnTo>
                  <a:lnTo>
                    <a:pt x="61" y="69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4" name="Freeform 141"/>
            <p:cNvSpPr>
              <a:spLocks/>
            </p:cNvSpPr>
            <p:nvPr/>
          </p:nvSpPr>
          <p:spPr bwMode="auto">
            <a:xfrm>
              <a:off x="2848" y="2610"/>
              <a:ext cx="212" cy="143"/>
            </a:xfrm>
            <a:custGeom>
              <a:avLst/>
              <a:gdLst>
                <a:gd name="T0" fmla="*/ 1 w 422"/>
                <a:gd name="T1" fmla="*/ 1 h 283"/>
                <a:gd name="T2" fmla="*/ 1 w 422"/>
                <a:gd name="T3" fmla="*/ 1 h 283"/>
                <a:gd name="T4" fmla="*/ 1 w 422"/>
                <a:gd name="T5" fmla="*/ 1 h 283"/>
                <a:gd name="T6" fmla="*/ 1 w 422"/>
                <a:gd name="T7" fmla="*/ 1 h 283"/>
                <a:gd name="T8" fmla="*/ 0 w 422"/>
                <a:gd name="T9" fmla="*/ 1 h 283"/>
                <a:gd name="T10" fmla="*/ 1 w 422"/>
                <a:gd name="T11" fmla="*/ 1 h 283"/>
                <a:gd name="T12" fmla="*/ 1 w 422"/>
                <a:gd name="T13" fmla="*/ 1 h 283"/>
                <a:gd name="T14" fmla="*/ 1 w 422"/>
                <a:gd name="T15" fmla="*/ 1 h 283"/>
                <a:gd name="T16" fmla="*/ 1 w 422"/>
                <a:gd name="T17" fmla="*/ 1 h 283"/>
                <a:gd name="T18" fmla="*/ 1 w 422"/>
                <a:gd name="T19" fmla="*/ 1 h 283"/>
                <a:gd name="T20" fmla="*/ 1 w 422"/>
                <a:gd name="T21" fmla="*/ 1 h 283"/>
                <a:gd name="T22" fmla="*/ 1 w 422"/>
                <a:gd name="T23" fmla="*/ 1 h 283"/>
                <a:gd name="T24" fmla="*/ 1 w 422"/>
                <a:gd name="T25" fmla="*/ 1 h 283"/>
                <a:gd name="T26" fmla="*/ 1 w 422"/>
                <a:gd name="T27" fmla="*/ 1 h 283"/>
                <a:gd name="T28" fmla="*/ 1 w 422"/>
                <a:gd name="T29" fmla="*/ 1 h 283"/>
                <a:gd name="T30" fmla="*/ 1 w 422"/>
                <a:gd name="T31" fmla="*/ 0 h 283"/>
                <a:gd name="T32" fmla="*/ 1 w 422"/>
                <a:gd name="T33" fmla="*/ 1 h 28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2" h="283">
                  <a:moveTo>
                    <a:pt x="337" y="87"/>
                  </a:moveTo>
                  <a:lnTo>
                    <a:pt x="244" y="148"/>
                  </a:lnTo>
                  <a:lnTo>
                    <a:pt x="160" y="185"/>
                  </a:lnTo>
                  <a:lnTo>
                    <a:pt x="12" y="222"/>
                  </a:lnTo>
                  <a:lnTo>
                    <a:pt x="0" y="260"/>
                  </a:lnTo>
                  <a:lnTo>
                    <a:pt x="44" y="283"/>
                  </a:lnTo>
                  <a:lnTo>
                    <a:pt x="122" y="283"/>
                  </a:lnTo>
                  <a:lnTo>
                    <a:pt x="319" y="266"/>
                  </a:lnTo>
                  <a:lnTo>
                    <a:pt x="349" y="228"/>
                  </a:lnTo>
                  <a:lnTo>
                    <a:pt x="270" y="248"/>
                  </a:lnTo>
                  <a:lnTo>
                    <a:pt x="154" y="254"/>
                  </a:lnTo>
                  <a:lnTo>
                    <a:pt x="67" y="254"/>
                  </a:lnTo>
                  <a:lnTo>
                    <a:pt x="128" y="217"/>
                  </a:lnTo>
                  <a:lnTo>
                    <a:pt x="294" y="161"/>
                  </a:lnTo>
                  <a:lnTo>
                    <a:pt x="398" y="69"/>
                  </a:lnTo>
                  <a:lnTo>
                    <a:pt x="422" y="0"/>
                  </a:lnTo>
                  <a:lnTo>
                    <a:pt x="337" y="87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5" name="Freeform 142"/>
            <p:cNvSpPr>
              <a:spLocks/>
            </p:cNvSpPr>
            <p:nvPr/>
          </p:nvSpPr>
          <p:spPr bwMode="auto">
            <a:xfrm>
              <a:off x="2399" y="2543"/>
              <a:ext cx="313" cy="261"/>
            </a:xfrm>
            <a:custGeom>
              <a:avLst/>
              <a:gdLst>
                <a:gd name="T0" fmla="*/ 1 w 626"/>
                <a:gd name="T1" fmla="*/ 0 h 522"/>
                <a:gd name="T2" fmla="*/ 1 w 626"/>
                <a:gd name="T3" fmla="*/ 1 h 522"/>
                <a:gd name="T4" fmla="*/ 1 w 626"/>
                <a:gd name="T5" fmla="*/ 1 h 522"/>
                <a:gd name="T6" fmla="*/ 1 w 626"/>
                <a:gd name="T7" fmla="*/ 1 h 522"/>
                <a:gd name="T8" fmla="*/ 1 w 626"/>
                <a:gd name="T9" fmla="*/ 1 h 522"/>
                <a:gd name="T10" fmla="*/ 1 w 626"/>
                <a:gd name="T11" fmla="*/ 1 h 522"/>
                <a:gd name="T12" fmla="*/ 1 w 626"/>
                <a:gd name="T13" fmla="*/ 1 h 522"/>
                <a:gd name="T14" fmla="*/ 2 w 626"/>
                <a:gd name="T15" fmla="*/ 2 h 522"/>
                <a:gd name="T16" fmla="*/ 1 w 626"/>
                <a:gd name="T17" fmla="*/ 1 h 522"/>
                <a:gd name="T18" fmla="*/ 1 w 626"/>
                <a:gd name="T19" fmla="*/ 1 h 522"/>
                <a:gd name="T20" fmla="*/ 1 w 626"/>
                <a:gd name="T21" fmla="*/ 1 h 522"/>
                <a:gd name="T22" fmla="*/ 1 w 626"/>
                <a:gd name="T23" fmla="*/ 1 h 522"/>
                <a:gd name="T24" fmla="*/ 0 w 626"/>
                <a:gd name="T25" fmla="*/ 1 h 522"/>
                <a:gd name="T26" fmla="*/ 1 w 626"/>
                <a:gd name="T27" fmla="*/ 0 h 52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26" h="522">
                  <a:moveTo>
                    <a:pt x="87" y="0"/>
                  </a:moveTo>
                  <a:lnTo>
                    <a:pt x="183" y="53"/>
                  </a:lnTo>
                  <a:lnTo>
                    <a:pt x="205" y="152"/>
                  </a:lnTo>
                  <a:lnTo>
                    <a:pt x="183" y="250"/>
                  </a:lnTo>
                  <a:lnTo>
                    <a:pt x="238" y="315"/>
                  </a:lnTo>
                  <a:lnTo>
                    <a:pt x="347" y="315"/>
                  </a:lnTo>
                  <a:lnTo>
                    <a:pt x="410" y="423"/>
                  </a:lnTo>
                  <a:lnTo>
                    <a:pt x="626" y="522"/>
                  </a:lnTo>
                  <a:lnTo>
                    <a:pt x="378" y="467"/>
                  </a:lnTo>
                  <a:lnTo>
                    <a:pt x="238" y="433"/>
                  </a:lnTo>
                  <a:lnTo>
                    <a:pt x="195" y="315"/>
                  </a:lnTo>
                  <a:lnTo>
                    <a:pt x="87" y="183"/>
                  </a:lnTo>
                  <a:lnTo>
                    <a:pt x="0" y="53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6" name="Freeform 143"/>
            <p:cNvSpPr>
              <a:spLocks/>
            </p:cNvSpPr>
            <p:nvPr/>
          </p:nvSpPr>
          <p:spPr bwMode="auto">
            <a:xfrm>
              <a:off x="2394" y="2808"/>
              <a:ext cx="125" cy="71"/>
            </a:xfrm>
            <a:custGeom>
              <a:avLst/>
              <a:gdLst>
                <a:gd name="T0" fmla="*/ 1 w 248"/>
                <a:gd name="T1" fmla="*/ 0 h 142"/>
                <a:gd name="T2" fmla="*/ 1 w 248"/>
                <a:gd name="T3" fmla="*/ 1 h 142"/>
                <a:gd name="T4" fmla="*/ 1 w 248"/>
                <a:gd name="T5" fmla="*/ 1 h 142"/>
                <a:gd name="T6" fmla="*/ 1 w 248"/>
                <a:gd name="T7" fmla="*/ 1 h 142"/>
                <a:gd name="T8" fmla="*/ 1 w 248"/>
                <a:gd name="T9" fmla="*/ 1 h 142"/>
                <a:gd name="T10" fmla="*/ 0 w 248"/>
                <a:gd name="T11" fmla="*/ 1 h 142"/>
                <a:gd name="T12" fmla="*/ 1 w 248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8" h="142">
                  <a:moveTo>
                    <a:pt x="22" y="0"/>
                  </a:moveTo>
                  <a:lnTo>
                    <a:pt x="108" y="33"/>
                  </a:lnTo>
                  <a:lnTo>
                    <a:pt x="248" y="120"/>
                  </a:lnTo>
                  <a:lnTo>
                    <a:pt x="152" y="142"/>
                  </a:lnTo>
                  <a:lnTo>
                    <a:pt x="53" y="142"/>
                  </a:lnTo>
                  <a:lnTo>
                    <a:pt x="0" y="65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7" name="Freeform 144"/>
            <p:cNvSpPr>
              <a:spLocks/>
            </p:cNvSpPr>
            <p:nvPr/>
          </p:nvSpPr>
          <p:spPr bwMode="auto">
            <a:xfrm>
              <a:off x="2828" y="2338"/>
              <a:ext cx="61" cy="60"/>
            </a:xfrm>
            <a:custGeom>
              <a:avLst/>
              <a:gdLst>
                <a:gd name="T0" fmla="*/ 1 w 122"/>
                <a:gd name="T1" fmla="*/ 0 h 121"/>
                <a:gd name="T2" fmla="*/ 1 w 122"/>
                <a:gd name="T3" fmla="*/ 0 h 121"/>
                <a:gd name="T4" fmla="*/ 1 w 122"/>
                <a:gd name="T5" fmla="*/ 0 h 121"/>
                <a:gd name="T6" fmla="*/ 0 w 122"/>
                <a:gd name="T7" fmla="*/ 0 h 121"/>
                <a:gd name="T8" fmla="*/ 1 w 122"/>
                <a:gd name="T9" fmla="*/ 0 h 121"/>
                <a:gd name="T10" fmla="*/ 1 w 122"/>
                <a:gd name="T11" fmla="*/ 0 h 121"/>
                <a:gd name="T12" fmla="*/ 1 w 122"/>
                <a:gd name="T13" fmla="*/ 0 h 121"/>
                <a:gd name="T14" fmla="*/ 1 w 122"/>
                <a:gd name="T15" fmla="*/ 0 h 1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2" h="121">
                  <a:moveTo>
                    <a:pt x="100" y="121"/>
                  </a:moveTo>
                  <a:lnTo>
                    <a:pt x="100" y="77"/>
                  </a:lnTo>
                  <a:lnTo>
                    <a:pt x="73" y="32"/>
                  </a:lnTo>
                  <a:lnTo>
                    <a:pt x="0" y="0"/>
                  </a:lnTo>
                  <a:lnTo>
                    <a:pt x="65" y="14"/>
                  </a:lnTo>
                  <a:lnTo>
                    <a:pt x="108" y="38"/>
                  </a:lnTo>
                  <a:lnTo>
                    <a:pt x="122" y="95"/>
                  </a:lnTo>
                  <a:lnTo>
                    <a:pt x="100" y="121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8" name="Freeform 145"/>
            <p:cNvSpPr>
              <a:spLocks/>
            </p:cNvSpPr>
            <p:nvPr/>
          </p:nvSpPr>
          <p:spPr bwMode="auto">
            <a:xfrm>
              <a:off x="2728" y="2318"/>
              <a:ext cx="59" cy="46"/>
            </a:xfrm>
            <a:custGeom>
              <a:avLst/>
              <a:gdLst>
                <a:gd name="T0" fmla="*/ 1 w 116"/>
                <a:gd name="T1" fmla="*/ 0 h 93"/>
                <a:gd name="T2" fmla="*/ 1 w 116"/>
                <a:gd name="T3" fmla="*/ 0 h 93"/>
                <a:gd name="T4" fmla="*/ 1 w 116"/>
                <a:gd name="T5" fmla="*/ 0 h 93"/>
                <a:gd name="T6" fmla="*/ 0 w 116"/>
                <a:gd name="T7" fmla="*/ 0 h 93"/>
                <a:gd name="T8" fmla="*/ 1 w 116"/>
                <a:gd name="T9" fmla="*/ 0 h 93"/>
                <a:gd name="T10" fmla="*/ 1 w 116"/>
                <a:gd name="T11" fmla="*/ 0 h 93"/>
                <a:gd name="T12" fmla="*/ 1 w 116"/>
                <a:gd name="T13" fmla="*/ 0 h 93"/>
                <a:gd name="T14" fmla="*/ 1 w 116"/>
                <a:gd name="T15" fmla="*/ 0 h 93"/>
                <a:gd name="T16" fmla="*/ 1 w 116"/>
                <a:gd name="T17" fmla="*/ 0 h 93"/>
                <a:gd name="T18" fmla="*/ 1 w 116"/>
                <a:gd name="T19" fmla="*/ 0 h 9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93">
                  <a:moveTo>
                    <a:pt x="25" y="93"/>
                  </a:moveTo>
                  <a:lnTo>
                    <a:pt x="45" y="63"/>
                  </a:lnTo>
                  <a:lnTo>
                    <a:pt x="35" y="28"/>
                  </a:lnTo>
                  <a:lnTo>
                    <a:pt x="0" y="0"/>
                  </a:lnTo>
                  <a:lnTo>
                    <a:pt x="29" y="0"/>
                  </a:lnTo>
                  <a:lnTo>
                    <a:pt x="57" y="22"/>
                  </a:lnTo>
                  <a:lnTo>
                    <a:pt x="75" y="45"/>
                  </a:lnTo>
                  <a:lnTo>
                    <a:pt x="116" y="45"/>
                  </a:lnTo>
                  <a:lnTo>
                    <a:pt x="77" y="65"/>
                  </a:lnTo>
                  <a:lnTo>
                    <a:pt x="25" y="93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9" name="Freeform 146"/>
            <p:cNvSpPr>
              <a:spLocks/>
            </p:cNvSpPr>
            <p:nvPr/>
          </p:nvSpPr>
          <p:spPr bwMode="auto">
            <a:xfrm>
              <a:off x="2775" y="2279"/>
              <a:ext cx="103" cy="53"/>
            </a:xfrm>
            <a:custGeom>
              <a:avLst/>
              <a:gdLst>
                <a:gd name="T0" fmla="*/ 1 w 203"/>
                <a:gd name="T1" fmla="*/ 0 h 107"/>
                <a:gd name="T2" fmla="*/ 1 w 203"/>
                <a:gd name="T3" fmla="*/ 0 h 107"/>
                <a:gd name="T4" fmla="*/ 1 w 203"/>
                <a:gd name="T5" fmla="*/ 0 h 107"/>
                <a:gd name="T6" fmla="*/ 1 w 203"/>
                <a:gd name="T7" fmla="*/ 0 h 107"/>
                <a:gd name="T8" fmla="*/ 1 w 203"/>
                <a:gd name="T9" fmla="*/ 0 h 107"/>
                <a:gd name="T10" fmla="*/ 1 w 203"/>
                <a:gd name="T11" fmla="*/ 0 h 107"/>
                <a:gd name="T12" fmla="*/ 0 w 203"/>
                <a:gd name="T13" fmla="*/ 0 h 107"/>
                <a:gd name="T14" fmla="*/ 1 w 203"/>
                <a:gd name="T15" fmla="*/ 0 h 107"/>
                <a:gd name="T16" fmla="*/ 1 w 203"/>
                <a:gd name="T17" fmla="*/ 0 h 107"/>
                <a:gd name="T18" fmla="*/ 1 w 203"/>
                <a:gd name="T19" fmla="*/ 0 h 107"/>
                <a:gd name="T20" fmla="*/ 1 w 203"/>
                <a:gd name="T21" fmla="*/ 0 h 107"/>
                <a:gd name="T22" fmla="*/ 1 w 203"/>
                <a:gd name="T23" fmla="*/ 0 h 107"/>
                <a:gd name="T24" fmla="*/ 1 w 203"/>
                <a:gd name="T25" fmla="*/ 0 h 107"/>
                <a:gd name="T26" fmla="*/ 1 w 203"/>
                <a:gd name="T27" fmla="*/ 0 h 107"/>
                <a:gd name="T28" fmla="*/ 1 w 20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3" h="107">
                  <a:moveTo>
                    <a:pt x="95" y="18"/>
                  </a:moveTo>
                  <a:lnTo>
                    <a:pt x="63" y="46"/>
                  </a:lnTo>
                  <a:lnTo>
                    <a:pt x="63" y="85"/>
                  </a:lnTo>
                  <a:lnTo>
                    <a:pt x="63" y="107"/>
                  </a:lnTo>
                  <a:lnTo>
                    <a:pt x="44" y="107"/>
                  </a:lnTo>
                  <a:lnTo>
                    <a:pt x="50" y="71"/>
                  </a:lnTo>
                  <a:lnTo>
                    <a:pt x="0" y="24"/>
                  </a:lnTo>
                  <a:lnTo>
                    <a:pt x="32" y="32"/>
                  </a:lnTo>
                  <a:lnTo>
                    <a:pt x="54" y="50"/>
                  </a:lnTo>
                  <a:lnTo>
                    <a:pt x="63" y="18"/>
                  </a:lnTo>
                  <a:lnTo>
                    <a:pt x="121" y="0"/>
                  </a:lnTo>
                  <a:lnTo>
                    <a:pt x="166" y="0"/>
                  </a:lnTo>
                  <a:lnTo>
                    <a:pt x="203" y="28"/>
                  </a:lnTo>
                  <a:lnTo>
                    <a:pt x="138" y="14"/>
                  </a:lnTo>
                  <a:lnTo>
                    <a:pt x="95" y="18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0" name="Freeform 147"/>
            <p:cNvSpPr>
              <a:spLocks/>
            </p:cNvSpPr>
            <p:nvPr/>
          </p:nvSpPr>
          <p:spPr bwMode="auto">
            <a:xfrm>
              <a:off x="2734" y="2238"/>
              <a:ext cx="87" cy="33"/>
            </a:xfrm>
            <a:custGeom>
              <a:avLst/>
              <a:gdLst>
                <a:gd name="T0" fmla="*/ 0 w 171"/>
                <a:gd name="T1" fmla="*/ 0 h 67"/>
                <a:gd name="T2" fmla="*/ 1 w 171"/>
                <a:gd name="T3" fmla="*/ 0 h 67"/>
                <a:gd name="T4" fmla="*/ 1 w 171"/>
                <a:gd name="T5" fmla="*/ 0 h 67"/>
                <a:gd name="T6" fmla="*/ 1 w 171"/>
                <a:gd name="T7" fmla="*/ 0 h 67"/>
                <a:gd name="T8" fmla="*/ 1 w 171"/>
                <a:gd name="T9" fmla="*/ 0 h 67"/>
                <a:gd name="T10" fmla="*/ 1 w 171"/>
                <a:gd name="T11" fmla="*/ 0 h 67"/>
                <a:gd name="T12" fmla="*/ 0 w 171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67">
                  <a:moveTo>
                    <a:pt x="0" y="0"/>
                  </a:moveTo>
                  <a:lnTo>
                    <a:pt x="138" y="23"/>
                  </a:lnTo>
                  <a:lnTo>
                    <a:pt x="169" y="67"/>
                  </a:lnTo>
                  <a:lnTo>
                    <a:pt x="171" y="45"/>
                  </a:lnTo>
                  <a:lnTo>
                    <a:pt x="143" y="13"/>
                  </a:lnTo>
                  <a:lnTo>
                    <a:pt x="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1" name="Freeform 148"/>
            <p:cNvSpPr>
              <a:spLocks/>
            </p:cNvSpPr>
            <p:nvPr/>
          </p:nvSpPr>
          <p:spPr bwMode="auto">
            <a:xfrm>
              <a:off x="2884" y="2436"/>
              <a:ext cx="46" cy="26"/>
            </a:xfrm>
            <a:custGeom>
              <a:avLst/>
              <a:gdLst>
                <a:gd name="T0" fmla="*/ 0 w 91"/>
                <a:gd name="T1" fmla="*/ 0 h 54"/>
                <a:gd name="T2" fmla="*/ 1 w 91"/>
                <a:gd name="T3" fmla="*/ 0 h 54"/>
                <a:gd name="T4" fmla="*/ 1 w 91"/>
                <a:gd name="T5" fmla="*/ 0 h 54"/>
                <a:gd name="T6" fmla="*/ 1 w 91"/>
                <a:gd name="T7" fmla="*/ 0 h 54"/>
                <a:gd name="T8" fmla="*/ 1 w 91"/>
                <a:gd name="T9" fmla="*/ 0 h 54"/>
                <a:gd name="T10" fmla="*/ 0 w 91"/>
                <a:gd name="T11" fmla="*/ 0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" h="54">
                  <a:moveTo>
                    <a:pt x="0" y="0"/>
                  </a:moveTo>
                  <a:lnTo>
                    <a:pt x="43" y="4"/>
                  </a:lnTo>
                  <a:lnTo>
                    <a:pt x="91" y="26"/>
                  </a:lnTo>
                  <a:lnTo>
                    <a:pt x="63" y="54"/>
                  </a:lnTo>
                  <a:lnTo>
                    <a:pt x="3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2" name="Freeform 149"/>
            <p:cNvSpPr>
              <a:spLocks/>
            </p:cNvSpPr>
            <p:nvPr/>
          </p:nvSpPr>
          <p:spPr bwMode="auto">
            <a:xfrm>
              <a:off x="2753" y="2440"/>
              <a:ext cx="112" cy="89"/>
            </a:xfrm>
            <a:custGeom>
              <a:avLst/>
              <a:gdLst>
                <a:gd name="T0" fmla="*/ 0 w 221"/>
                <a:gd name="T1" fmla="*/ 0 h 176"/>
                <a:gd name="T2" fmla="*/ 1 w 221"/>
                <a:gd name="T3" fmla="*/ 1 h 176"/>
                <a:gd name="T4" fmla="*/ 1 w 221"/>
                <a:gd name="T5" fmla="*/ 1 h 176"/>
                <a:gd name="T6" fmla="*/ 1 w 221"/>
                <a:gd name="T7" fmla="*/ 1 h 176"/>
                <a:gd name="T8" fmla="*/ 1 w 221"/>
                <a:gd name="T9" fmla="*/ 1 h 176"/>
                <a:gd name="T10" fmla="*/ 1 w 221"/>
                <a:gd name="T11" fmla="*/ 1 h 176"/>
                <a:gd name="T12" fmla="*/ 1 w 221"/>
                <a:gd name="T13" fmla="*/ 1 h 176"/>
                <a:gd name="T14" fmla="*/ 1 w 221"/>
                <a:gd name="T15" fmla="*/ 1 h 176"/>
                <a:gd name="T16" fmla="*/ 1 w 221"/>
                <a:gd name="T17" fmla="*/ 1 h 176"/>
                <a:gd name="T18" fmla="*/ 0 w 221"/>
                <a:gd name="T19" fmla="*/ 0 h 1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1" h="176">
                  <a:moveTo>
                    <a:pt x="0" y="0"/>
                  </a:moveTo>
                  <a:lnTo>
                    <a:pt x="67" y="38"/>
                  </a:lnTo>
                  <a:lnTo>
                    <a:pt x="122" y="87"/>
                  </a:lnTo>
                  <a:lnTo>
                    <a:pt x="168" y="130"/>
                  </a:lnTo>
                  <a:lnTo>
                    <a:pt x="221" y="122"/>
                  </a:lnTo>
                  <a:lnTo>
                    <a:pt x="193" y="158"/>
                  </a:lnTo>
                  <a:lnTo>
                    <a:pt x="162" y="176"/>
                  </a:lnTo>
                  <a:lnTo>
                    <a:pt x="120" y="109"/>
                  </a:lnTo>
                  <a:lnTo>
                    <a:pt x="75" y="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AA4C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3" name="Freeform 150"/>
            <p:cNvSpPr>
              <a:spLocks/>
            </p:cNvSpPr>
            <p:nvPr/>
          </p:nvSpPr>
          <p:spPr bwMode="auto">
            <a:xfrm>
              <a:off x="2236" y="3138"/>
              <a:ext cx="359" cy="308"/>
            </a:xfrm>
            <a:custGeom>
              <a:avLst/>
              <a:gdLst>
                <a:gd name="T0" fmla="*/ 2 w 717"/>
                <a:gd name="T1" fmla="*/ 0 h 617"/>
                <a:gd name="T2" fmla="*/ 2 w 717"/>
                <a:gd name="T3" fmla="*/ 0 h 617"/>
                <a:gd name="T4" fmla="*/ 1 w 717"/>
                <a:gd name="T5" fmla="*/ 0 h 617"/>
                <a:gd name="T6" fmla="*/ 1 w 717"/>
                <a:gd name="T7" fmla="*/ 0 h 617"/>
                <a:gd name="T8" fmla="*/ 0 w 717"/>
                <a:gd name="T9" fmla="*/ 1 h 617"/>
                <a:gd name="T10" fmla="*/ 1 w 717"/>
                <a:gd name="T11" fmla="*/ 1 h 617"/>
                <a:gd name="T12" fmla="*/ 2 w 717"/>
                <a:gd name="T13" fmla="*/ 0 h 617"/>
                <a:gd name="T14" fmla="*/ 2 w 717"/>
                <a:gd name="T15" fmla="*/ 0 h 617"/>
                <a:gd name="T16" fmla="*/ 2 w 717"/>
                <a:gd name="T17" fmla="*/ 0 h 6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17" h="617">
                  <a:moveTo>
                    <a:pt x="717" y="109"/>
                  </a:moveTo>
                  <a:lnTo>
                    <a:pt x="520" y="0"/>
                  </a:lnTo>
                  <a:lnTo>
                    <a:pt x="305" y="38"/>
                  </a:lnTo>
                  <a:lnTo>
                    <a:pt x="106" y="327"/>
                  </a:lnTo>
                  <a:lnTo>
                    <a:pt x="0" y="617"/>
                  </a:lnTo>
                  <a:lnTo>
                    <a:pt x="179" y="526"/>
                  </a:lnTo>
                  <a:lnTo>
                    <a:pt x="520" y="471"/>
                  </a:lnTo>
                  <a:lnTo>
                    <a:pt x="699" y="310"/>
                  </a:lnTo>
                  <a:lnTo>
                    <a:pt x="717" y="109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4" name="Freeform 151"/>
            <p:cNvSpPr>
              <a:spLocks/>
            </p:cNvSpPr>
            <p:nvPr/>
          </p:nvSpPr>
          <p:spPr bwMode="auto">
            <a:xfrm>
              <a:off x="2685" y="3192"/>
              <a:ext cx="224" cy="263"/>
            </a:xfrm>
            <a:custGeom>
              <a:avLst/>
              <a:gdLst>
                <a:gd name="T0" fmla="*/ 0 w 449"/>
                <a:gd name="T1" fmla="*/ 0 h 526"/>
                <a:gd name="T2" fmla="*/ 0 w 449"/>
                <a:gd name="T3" fmla="*/ 1 h 526"/>
                <a:gd name="T4" fmla="*/ 0 w 449"/>
                <a:gd name="T5" fmla="*/ 1 h 526"/>
                <a:gd name="T6" fmla="*/ 0 w 449"/>
                <a:gd name="T7" fmla="*/ 1 h 526"/>
                <a:gd name="T8" fmla="*/ 0 w 449"/>
                <a:gd name="T9" fmla="*/ 2 h 526"/>
                <a:gd name="T10" fmla="*/ 0 w 449"/>
                <a:gd name="T11" fmla="*/ 1 h 526"/>
                <a:gd name="T12" fmla="*/ 0 w 449"/>
                <a:gd name="T13" fmla="*/ 1 h 526"/>
                <a:gd name="T14" fmla="*/ 0 w 449"/>
                <a:gd name="T15" fmla="*/ 0 h 526"/>
                <a:gd name="T16" fmla="*/ 0 w 449"/>
                <a:gd name="T17" fmla="*/ 0 h 5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9" h="526">
                  <a:moveTo>
                    <a:pt x="20" y="0"/>
                  </a:moveTo>
                  <a:lnTo>
                    <a:pt x="0" y="163"/>
                  </a:lnTo>
                  <a:lnTo>
                    <a:pt x="109" y="400"/>
                  </a:lnTo>
                  <a:lnTo>
                    <a:pt x="288" y="490"/>
                  </a:lnTo>
                  <a:lnTo>
                    <a:pt x="414" y="526"/>
                  </a:lnTo>
                  <a:lnTo>
                    <a:pt x="449" y="344"/>
                  </a:lnTo>
                  <a:lnTo>
                    <a:pt x="396" y="126"/>
                  </a:lnTo>
                  <a:lnTo>
                    <a:pt x="270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5" name="Freeform 152"/>
            <p:cNvSpPr>
              <a:spLocks/>
            </p:cNvSpPr>
            <p:nvPr/>
          </p:nvSpPr>
          <p:spPr bwMode="auto">
            <a:xfrm>
              <a:off x="3409" y="2883"/>
              <a:ext cx="469" cy="446"/>
            </a:xfrm>
            <a:custGeom>
              <a:avLst/>
              <a:gdLst>
                <a:gd name="T0" fmla="*/ 0 w 942"/>
                <a:gd name="T1" fmla="*/ 1 h 891"/>
                <a:gd name="T2" fmla="*/ 0 w 942"/>
                <a:gd name="T3" fmla="*/ 1 h 891"/>
                <a:gd name="T4" fmla="*/ 0 w 942"/>
                <a:gd name="T5" fmla="*/ 1 h 891"/>
                <a:gd name="T6" fmla="*/ 0 w 942"/>
                <a:gd name="T7" fmla="*/ 1 h 891"/>
                <a:gd name="T8" fmla="*/ 0 w 942"/>
                <a:gd name="T9" fmla="*/ 1 h 891"/>
                <a:gd name="T10" fmla="*/ 0 w 942"/>
                <a:gd name="T11" fmla="*/ 1 h 891"/>
                <a:gd name="T12" fmla="*/ 0 w 942"/>
                <a:gd name="T13" fmla="*/ 0 h 891"/>
                <a:gd name="T14" fmla="*/ 0 w 942"/>
                <a:gd name="T15" fmla="*/ 1 h 891"/>
                <a:gd name="T16" fmla="*/ 0 w 942"/>
                <a:gd name="T17" fmla="*/ 1 h 891"/>
                <a:gd name="T18" fmla="*/ 0 w 942"/>
                <a:gd name="T19" fmla="*/ 1 h 891"/>
                <a:gd name="T20" fmla="*/ 0 w 942"/>
                <a:gd name="T21" fmla="*/ 1 h 891"/>
                <a:gd name="T22" fmla="*/ 0 w 942"/>
                <a:gd name="T23" fmla="*/ 1 h 891"/>
                <a:gd name="T24" fmla="*/ 1 w 942"/>
                <a:gd name="T25" fmla="*/ 1 h 891"/>
                <a:gd name="T26" fmla="*/ 1 w 942"/>
                <a:gd name="T27" fmla="*/ 1 h 891"/>
                <a:gd name="T28" fmla="*/ 1 w 942"/>
                <a:gd name="T29" fmla="*/ 1 h 891"/>
                <a:gd name="T30" fmla="*/ 1 w 942"/>
                <a:gd name="T31" fmla="*/ 1 h 891"/>
                <a:gd name="T32" fmla="*/ 1 w 942"/>
                <a:gd name="T33" fmla="*/ 1 h 891"/>
                <a:gd name="T34" fmla="*/ 1 w 942"/>
                <a:gd name="T35" fmla="*/ 1 h 891"/>
                <a:gd name="T36" fmla="*/ 1 w 942"/>
                <a:gd name="T37" fmla="*/ 2 h 891"/>
                <a:gd name="T38" fmla="*/ 1 w 942"/>
                <a:gd name="T39" fmla="*/ 2 h 891"/>
                <a:gd name="T40" fmla="*/ 0 w 942"/>
                <a:gd name="T41" fmla="*/ 2 h 891"/>
                <a:gd name="T42" fmla="*/ 0 w 942"/>
                <a:gd name="T43" fmla="*/ 2 h 891"/>
                <a:gd name="T44" fmla="*/ 0 w 942"/>
                <a:gd name="T45" fmla="*/ 1 h 891"/>
                <a:gd name="T46" fmla="*/ 0 w 942"/>
                <a:gd name="T47" fmla="*/ 1 h 891"/>
                <a:gd name="T48" fmla="*/ 0 w 942"/>
                <a:gd name="T49" fmla="*/ 1 h 891"/>
                <a:gd name="T50" fmla="*/ 0 w 942"/>
                <a:gd name="T51" fmla="*/ 1 h 891"/>
                <a:gd name="T52" fmla="*/ 0 w 942"/>
                <a:gd name="T53" fmla="*/ 1 h 891"/>
                <a:gd name="T54" fmla="*/ 0 w 942"/>
                <a:gd name="T55" fmla="*/ 1 h 891"/>
                <a:gd name="T56" fmla="*/ 0 w 942"/>
                <a:gd name="T57" fmla="*/ 1 h 8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942" h="891">
                  <a:moveTo>
                    <a:pt x="79" y="93"/>
                  </a:moveTo>
                  <a:lnTo>
                    <a:pt x="134" y="63"/>
                  </a:lnTo>
                  <a:lnTo>
                    <a:pt x="183" y="40"/>
                  </a:lnTo>
                  <a:lnTo>
                    <a:pt x="229" y="22"/>
                  </a:lnTo>
                  <a:lnTo>
                    <a:pt x="270" y="10"/>
                  </a:lnTo>
                  <a:lnTo>
                    <a:pt x="305" y="2"/>
                  </a:lnTo>
                  <a:lnTo>
                    <a:pt x="341" y="0"/>
                  </a:lnTo>
                  <a:lnTo>
                    <a:pt x="372" y="4"/>
                  </a:lnTo>
                  <a:lnTo>
                    <a:pt x="404" y="12"/>
                  </a:lnTo>
                  <a:lnTo>
                    <a:pt x="434" y="24"/>
                  </a:lnTo>
                  <a:lnTo>
                    <a:pt x="463" y="42"/>
                  </a:lnTo>
                  <a:lnTo>
                    <a:pt x="493" y="63"/>
                  </a:lnTo>
                  <a:lnTo>
                    <a:pt x="524" y="91"/>
                  </a:lnTo>
                  <a:lnTo>
                    <a:pt x="556" y="121"/>
                  </a:lnTo>
                  <a:lnTo>
                    <a:pt x="591" y="156"/>
                  </a:lnTo>
                  <a:lnTo>
                    <a:pt x="630" y="195"/>
                  </a:lnTo>
                  <a:lnTo>
                    <a:pt x="672" y="239"/>
                  </a:lnTo>
                  <a:lnTo>
                    <a:pt x="762" y="510"/>
                  </a:lnTo>
                  <a:lnTo>
                    <a:pt x="942" y="891"/>
                  </a:lnTo>
                  <a:lnTo>
                    <a:pt x="583" y="855"/>
                  </a:lnTo>
                  <a:lnTo>
                    <a:pt x="187" y="619"/>
                  </a:lnTo>
                  <a:lnTo>
                    <a:pt x="122" y="530"/>
                  </a:lnTo>
                  <a:lnTo>
                    <a:pt x="69" y="461"/>
                  </a:lnTo>
                  <a:lnTo>
                    <a:pt x="32" y="408"/>
                  </a:lnTo>
                  <a:lnTo>
                    <a:pt x="8" y="363"/>
                  </a:lnTo>
                  <a:lnTo>
                    <a:pt x="0" y="316"/>
                  </a:lnTo>
                  <a:lnTo>
                    <a:pt x="8" y="260"/>
                  </a:lnTo>
                  <a:lnTo>
                    <a:pt x="34" y="188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6" name="Freeform 153"/>
            <p:cNvSpPr>
              <a:spLocks/>
            </p:cNvSpPr>
            <p:nvPr/>
          </p:nvSpPr>
          <p:spPr bwMode="auto">
            <a:xfrm>
              <a:off x="3124" y="3057"/>
              <a:ext cx="260" cy="344"/>
            </a:xfrm>
            <a:custGeom>
              <a:avLst/>
              <a:gdLst>
                <a:gd name="T0" fmla="*/ 1 w 520"/>
                <a:gd name="T1" fmla="*/ 0 h 689"/>
                <a:gd name="T2" fmla="*/ 1 w 520"/>
                <a:gd name="T3" fmla="*/ 0 h 689"/>
                <a:gd name="T4" fmla="*/ 1 w 520"/>
                <a:gd name="T5" fmla="*/ 0 h 689"/>
                <a:gd name="T6" fmla="*/ 1 w 520"/>
                <a:gd name="T7" fmla="*/ 0 h 689"/>
                <a:gd name="T8" fmla="*/ 1 w 520"/>
                <a:gd name="T9" fmla="*/ 0 h 689"/>
                <a:gd name="T10" fmla="*/ 1 w 520"/>
                <a:gd name="T11" fmla="*/ 0 h 689"/>
                <a:gd name="T12" fmla="*/ 1 w 520"/>
                <a:gd name="T13" fmla="*/ 0 h 689"/>
                <a:gd name="T14" fmla="*/ 1 w 520"/>
                <a:gd name="T15" fmla="*/ 0 h 689"/>
                <a:gd name="T16" fmla="*/ 0 w 520"/>
                <a:gd name="T17" fmla="*/ 0 h 689"/>
                <a:gd name="T18" fmla="*/ 1 w 520"/>
                <a:gd name="T19" fmla="*/ 1 h 689"/>
                <a:gd name="T20" fmla="*/ 1 w 520"/>
                <a:gd name="T21" fmla="*/ 1 h 689"/>
                <a:gd name="T22" fmla="*/ 1 w 520"/>
                <a:gd name="T23" fmla="*/ 0 h 689"/>
                <a:gd name="T24" fmla="*/ 1 w 520"/>
                <a:gd name="T25" fmla="*/ 0 h 689"/>
                <a:gd name="T26" fmla="*/ 1 w 520"/>
                <a:gd name="T27" fmla="*/ 0 h 689"/>
                <a:gd name="T28" fmla="*/ 1 w 520"/>
                <a:gd name="T29" fmla="*/ 0 h 689"/>
                <a:gd name="T30" fmla="*/ 1 w 520"/>
                <a:gd name="T31" fmla="*/ 0 h 689"/>
                <a:gd name="T32" fmla="*/ 2 w 520"/>
                <a:gd name="T33" fmla="*/ 0 h 689"/>
                <a:gd name="T34" fmla="*/ 2 w 520"/>
                <a:gd name="T35" fmla="*/ 0 h 689"/>
                <a:gd name="T36" fmla="*/ 1 w 520"/>
                <a:gd name="T37" fmla="*/ 0 h 689"/>
                <a:gd name="T38" fmla="*/ 1 w 520"/>
                <a:gd name="T39" fmla="*/ 0 h 689"/>
                <a:gd name="T40" fmla="*/ 1 w 520"/>
                <a:gd name="T41" fmla="*/ 0 h 689"/>
                <a:gd name="T42" fmla="*/ 1 w 520"/>
                <a:gd name="T43" fmla="*/ 0 h 68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20" h="689">
                  <a:moveTo>
                    <a:pt x="234" y="0"/>
                  </a:moveTo>
                  <a:lnTo>
                    <a:pt x="149" y="14"/>
                  </a:lnTo>
                  <a:lnTo>
                    <a:pt x="90" y="32"/>
                  </a:lnTo>
                  <a:lnTo>
                    <a:pt x="53" y="59"/>
                  </a:lnTo>
                  <a:lnTo>
                    <a:pt x="31" y="95"/>
                  </a:lnTo>
                  <a:lnTo>
                    <a:pt x="21" y="140"/>
                  </a:lnTo>
                  <a:lnTo>
                    <a:pt x="16" y="201"/>
                  </a:lnTo>
                  <a:lnTo>
                    <a:pt x="10" y="274"/>
                  </a:lnTo>
                  <a:lnTo>
                    <a:pt x="0" y="362"/>
                  </a:lnTo>
                  <a:lnTo>
                    <a:pt x="126" y="526"/>
                  </a:lnTo>
                  <a:lnTo>
                    <a:pt x="270" y="689"/>
                  </a:lnTo>
                  <a:lnTo>
                    <a:pt x="270" y="508"/>
                  </a:lnTo>
                  <a:lnTo>
                    <a:pt x="356" y="465"/>
                  </a:lnTo>
                  <a:lnTo>
                    <a:pt x="425" y="425"/>
                  </a:lnTo>
                  <a:lnTo>
                    <a:pt x="475" y="384"/>
                  </a:lnTo>
                  <a:lnTo>
                    <a:pt x="506" y="337"/>
                  </a:lnTo>
                  <a:lnTo>
                    <a:pt x="520" y="286"/>
                  </a:lnTo>
                  <a:lnTo>
                    <a:pt x="514" y="223"/>
                  </a:lnTo>
                  <a:lnTo>
                    <a:pt x="490" y="148"/>
                  </a:lnTo>
                  <a:lnTo>
                    <a:pt x="449" y="55"/>
                  </a:lnTo>
                  <a:lnTo>
                    <a:pt x="341" y="73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7" name="Freeform 154"/>
            <p:cNvSpPr>
              <a:spLocks/>
            </p:cNvSpPr>
            <p:nvPr/>
          </p:nvSpPr>
          <p:spPr bwMode="auto">
            <a:xfrm>
              <a:off x="2446" y="1902"/>
              <a:ext cx="341" cy="197"/>
            </a:xfrm>
            <a:custGeom>
              <a:avLst/>
              <a:gdLst>
                <a:gd name="T0" fmla="*/ 2 w 680"/>
                <a:gd name="T1" fmla="*/ 0 h 396"/>
                <a:gd name="T2" fmla="*/ 2 w 680"/>
                <a:gd name="T3" fmla="*/ 0 h 396"/>
                <a:gd name="T4" fmla="*/ 2 w 680"/>
                <a:gd name="T5" fmla="*/ 0 h 396"/>
                <a:gd name="T6" fmla="*/ 1 w 680"/>
                <a:gd name="T7" fmla="*/ 0 h 396"/>
                <a:gd name="T8" fmla="*/ 1 w 680"/>
                <a:gd name="T9" fmla="*/ 0 h 396"/>
                <a:gd name="T10" fmla="*/ 1 w 680"/>
                <a:gd name="T11" fmla="*/ 0 h 396"/>
                <a:gd name="T12" fmla="*/ 1 w 680"/>
                <a:gd name="T13" fmla="*/ 0 h 396"/>
                <a:gd name="T14" fmla="*/ 1 w 680"/>
                <a:gd name="T15" fmla="*/ 0 h 396"/>
                <a:gd name="T16" fmla="*/ 1 w 680"/>
                <a:gd name="T17" fmla="*/ 0 h 396"/>
                <a:gd name="T18" fmla="*/ 1 w 680"/>
                <a:gd name="T19" fmla="*/ 0 h 396"/>
                <a:gd name="T20" fmla="*/ 1 w 680"/>
                <a:gd name="T21" fmla="*/ 0 h 396"/>
                <a:gd name="T22" fmla="*/ 1 w 680"/>
                <a:gd name="T23" fmla="*/ 0 h 396"/>
                <a:gd name="T24" fmla="*/ 1 w 680"/>
                <a:gd name="T25" fmla="*/ 0 h 396"/>
                <a:gd name="T26" fmla="*/ 1 w 680"/>
                <a:gd name="T27" fmla="*/ 0 h 396"/>
                <a:gd name="T28" fmla="*/ 1 w 680"/>
                <a:gd name="T29" fmla="*/ 0 h 396"/>
                <a:gd name="T30" fmla="*/ 1 w 680"/>
                <a:gd name="T31" fmla="*/ 0 h 396"/>
                <a:gd name="T32" fmla="*/ 0 w 680"/>
                <a:gd name="T33" fmla="*/ 0 h 396"/>
                <a:gd name="T34" fmla="*/ 1 w 680"/>
                <a:gd name="T35" fmla="*/ 0 h 396"/>
                <a:gd name="T36" fmla="*/ 1 w 680"/>
                <a:gd name="T37" fmla="*/ 0 h 396"/>
                <a:gd name="T38" fmla="*/ 1 w 680"/>
                <a:gd name="T39" fmla="*/ 0 h 396"/>
                <a:gd name="T40" fmla="*/ 1 w 680"/>
                <a:gd name="T41" fmla="*/ 0 h 396"/>
                <a:gd name="T42" fmla="*/ 1 w 680"/>
                <a:gd name="T43" fmla="*/ 0 h 396"/>
                <a:gd name="T44" fmla="*/ 1 w 680"/>
                <a:gd name="T45" fmla="*/ 0 h 396"/>
                <a:gd name="T46" fmla="*/ 1 w 680"/>
                <a:gd name="T47" fmla="*/ 0 h 396"/>
                <a:gd name="T48" fmla="*/ 1 w 680"/>
                <a:gd name="T49" fmla="*/ 0 h 396"/>
                <a:gd name="T50" fmla="*/ 1 w 680"/>
                <a:gd name="T51" fmla="*/ 0 h 396"/>
                <a:gd name="T52" fmla="*/ 1 w 680"/>
                <a:gd name="T53" fmla="*/ 0 h 396"/>
                <a:gd name="T54" fmla="*/ 1 w 680"/>
                <a:gd name="T55" fmla="*/ 0 h 396"/>
                <a:gd name="T56" fmla="*/ 1 w 680"/>
                <a:gd name="T57" fmla="*/ 0 h 396"/>
                <a:gd name="T58" fmla="*/ 1 w 680"/>
                <a:gd name="T59" fmla="*/ 0 h 396"/>
                <a:gd name="T60" fmla="*/ 2 w 680"/>
                <a:gd name="T61" fmla="*/ 0 h 396"/>
                <a:gd name="T62" fmla="*/ 2 w 680"/>
                <a:gd name="T63" fmla="*/ 0 h 396"/>
                <a:gd name="T64" fmla="*/ 2 w 680"/>
                <a:gd name="T65" fmla="*/ 0 h 396"/>
                <a:gd name="T66" fmla="*/ 2 w 680"/>
                <a:gd name="T67" fmla="*/ 0 h 396"/>
                <a:gd name="T68" fmla="*/ 2 w 680"/>
                <a:gd name="T69" fmla="*/ 0 h 39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680" h="396">
                  <a:moveTo>
                    <a:pt x="599" y="0"/>
                  </a:moveTo>
                  <a:lnTo>
                    <a:pt x="556" y="51"/>
                  </a:lnTo>
                  <a:lnTo>
                    <a:pt x="515" y="95"/>
                  </a:lnTo>
                  <a:lnTo>
                    <a:pt x="479" y="130"/>
                  </a:lnTo>
                  <a:lnTo>
                    <a:pt x="444" y="158"/>
                  </a:lnTo>
                  <a:lnTo>
                    <a:pt x="412" y="177"/>
                  </a:lnTo>
                  <a:lnTo>
                    <a:pt x="383" y="191"/>
                  </a:lnTo>
                  <a:lnTo>
                    <a:pt x="351" y="199"/>
                  </a:lnTo>
                  <a:lnTo>
                    <a:pt x="322" y="199"/>
                  </a:lnTo>
                  <a:lnTo>
                    <a:pt x="292" y="193"/>
                  </a:lnTo>
                  <a:lnTo>
                    <a:pt x="261" y="183"/>
                  </a:lnTo>
                  <a:lnTo>
                    <a:pt x="225" y="167"/>
                  </a:lnTo>
                  <a:lnTo>
                    <a:pt x="190" y="146"/>
                  </a:lnTo>
                  <a:lnTo>
                    <a:pt x="148" y="120"/>
                  </a:lnTo>
                  <a:lnTo>
                    <a:pt x="105" y="91"/>
                  </a:lnTo>
                  <a:lnTo>
                    <a:pt x="56" y="57"/>
                  </a:lnTo>
                  <a:lnTo>
                    <a:pt x="0" y="20"/>
                  </a:lnTo>
                  <a:lnTo>
                    <a:pt x="36" y="77"/>
                  </a:lnTo>
                  <a:lnTo>
                    <a:pt x="69" y="130"/>
                  </a:lnTo>
                  <a:lnTo>
                    <a:pt x="101" y="179"/>
                  </a:lnTo>
                  <a:lnTo>
                    <a:pt x="132" y="227"/>
                  </a:lnTo>
                  <a:lnTo>
                    <a:pt x="166" y="268"/>
                  </a:lnTo>
                  <a:lnTo>
                    <a:pt x="197" y="303"/>
                  </a:lnTo>
                  <a:lnTo>
                    <a:pt x="231" y="335"/>
                  </a:lnTo>
                  <a:lnTo>
                    <a:pt x="264" y="360"/>
                  </a:lnTo>
                  <a:lnTo>
                    <a:pt x="300" y="380"/>
                  </a:lnTo>
                  <a:lnTo>
                    <a:pt x="339" y="392"/>
                  </a:lnTo>
                  <a:lnTo>
                    <a:pt x="379" y="396"/>
                  </a:lnTo>
                  <a:lnTo>
                    <a:pt x="422" y="392"/>
                  </a:lnTo>
                  <a:lnTo>
                    <a:pt x="469" y="378"/>
                  </a:lnTo>
                  <a:lnTo>
                    <a:pt x="521" y="357"/>
                  </a:lnTo>
                  <a:lnTo>
                    <a:pt x="576" y="325"/>
                  </a:lnTo>
                  <a:lnTo>
                    <a:pt x="637" y="284"/>
                  </a:lnTo>
                  <a:lnTo>
                    <a:pt x="680" y="85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0033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8" name="Freeform 155"/>
            <p:cNvSpPr>
              <a:spLocks/>
            </p:cNvSpPr>
            <p:nvPr/>
          </p:nvSpPr>
          <p:spPr bwMode="auto">
            <a:xfrm>
              <a:off x="3443" y="2883"/>
              <a:ext cx="436" cy="436"/>
            </a:xfrm>
            <a:custGeom>
              <a:avLst/>
              <a:gdLst>
                <a:gd name="T0" fmla="*/ 0 w 873"/>
                <a:gd name="T1" fmla="*/ 0 h 873"/>
                <a:gd name="T2" fmla="*/ 0 w 873"/>
                <a:gd name="T3" fmla="*/ 0 h 873"/>
                <a:gd name="T4" fmla="*/ 0 w 873"/>
                <a:gd name="T5" fmla="*/ 0 h 873"/>
                <a:gd name="T6" fmla="*/ 0 w 873"/>
                <a:gd name="T7" fmla="*/ 0 h 873"/>
                <a:gd name="T8" fmla="*/ 0 w 873"/>
                <a:gd name="T9" fmla="*/ 0 h 873"/>
                <a:gd name="T10" fmla="*/ 0 w 873"/>
                <a:gd name="T11" fmla="*/ 0 h 873"/>
                <a:gd name="T12" fmla="*/ 0 w 873"/>
                <a:gd name="T13" fmla="*/ 0 h 873"/>
                <a:gd name="T14" fmla="*/ 0 w 873"/>
                <a:gd name="T15" fmla="*/ 0 h 873"/>
                <a:gd name="T16" fmla="*/ 0 w 873"/>
                <a:gd name="T17" fmla="*/ 0 h 873"/>
                <a:gd name="T18" fmla="*/ 0 w 873"/>
                <a:gd name="T19" fmla="*/ 0 h 873"/>
                <a:gd name="T20" fmla="*/ 1 w 873"/>
                <a:gd name="T21" fmla="*/ 0 h 873"/>
                <a:gd name="T22" fmla="*/ 1 w 873"/>
                <a:gd name="T23" fmla="*/ 0 h 873"/>
                <a:gd name="T24" fmla="*/ 1 w 873"/>
                <a:gd name="T25" fmla="*/ 0 h 873"/>
                <a:gd name="T26" fmla="*/ 1 w 873"/>
                <a:gd name="T27" fmla="*/ 0 h 873"/>
                <a:gd name="T28" fmla="*/ 1 w 873"/>
                <a:gd name="T29" fmla="*/ 0 h 873"/>
                <a:gd name="T30" fmla="*/ 1 w 873"/>
                <a:gd name="T31" fmla="*/ 0 h 873"/>
                <a:gd name="T32" fmla="*/ 1 w 873"/>
                <a:gd name="T33" fmla="*/ 0 h 873"/>
                <a:gd name="T34" fmla="*/ 1 w 873"/>
                <a:gd name="T35" fmla="*/ 0 h 873"/>
                <a:gd name="T36" fmla="*/ 1 w 873"/>
                <a:gd name="T37" fmla="*/ 1 h 873"/>
                <a:gd name="T38" fmla="*/ 1 w 873"/>
                <a:gd name="T39" fmla="*/ 1 h 873"/>
                <a:gd name="T40" fmla="*/ 0 w 873"/>
                <a:gd name="T41" fmla="*/ 1 h 873"/>
                <a:gd name="T42" fmla="*/ 0 w 873"/>
                <a:gd name="T43" fmla="*/ 0 h 873"/>
                <a:gd name="T44" fmla="*/ 0 w 873"/>
                <a:gd name="T45" fmla="*/ 0 h 873"/>
                <a:gd name="T46" fmla="*/ 0 w 873"/>
                <a:gd name="T47" fmla="*/ 0 h 873"/>
                <a:gd name="T48" fmla="*/ 0 w 873"/>
                <a:gd name="T49" fmla="*/ 0 h 873"/>
                <a:gd name="T50" fmla="*/ 0 w 873"/>
                <a:gd name="T51" fmla="*/ 0 h 873"/>
                <a:gd name="T52" fmla="*/ 0 w 873"/>
                <a:gd name="T53" fmla="*/ 0 h 873"/>
                <a:gd name="T54" fmla="*/ 0 w 873"/>
                <a:gd name="T55" fmla="*/ 0 h 873"/>
                <a:gd name="T56" fmla="*/ 0 w 873"/>
                <a:gd name="T57" fmla="*/ 0 h 873"/>
                <a:gd name="T58" fmla="*/ 0 w 873"/>
                <a:gd name="T59" fmla="*/ 0 h 873"/>
                <a:gd name="T60" fmla="*/ 0 w 873"/>
                <a:gd name="T61" fmla="*/ 0 h 873"/>
                <a:gd name="T62" fmla="*/ 0 w 873"/>
                <a:gd name="T63" fmla="*/ 0 h 873"/>
                <a:gd name="T64" fmla="*/ 0 w 873"/>
                <a:gd name="T65" fmla="*/ 0 h 873"/>
                <a:gd name="T66" fmla="*/ 0 w 873"/>
                <a:gd name="T67" fmla="*/ 0 h 873"/>
                <a:gd name="T68" fmla="*/ 0 w 873"/>
                <a:gd name="T69" fmla="*/ 0 h 873"/>
                <a:gd name="T70" fmla="*/ 0 w 873"/>
                <a:gd name="T71" fmla="*/ 0 h 873"/>
                <a:gd name="T72" fmla="*/ 0 w 873"/>
                <a:gd name="T73" fmla="*/ 0 h 873"/>
                <a:gd name="T74" fmla="*/ 0 w 873"/>
                <a:gd name="T75" fmla="*/ 0 h 87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73" h="873">
                  <a:moveTo>
                    <a:pt x="47" y="63"/>
                  </a:moveTo>
                  <a:lnTo>
                    <a:pt x="171" y="0"/>
                  </a:lnTo>
                  <a:lnTo>
                    <a:pt x="231" y="6"/>
                  </a:lnTo>
                  <a:lnTo>
                    <a:pt x="282" y="14"/>
                  </a:lnTo>
                  <a:lnTo>
                    <a:pt x="329" y="22"/>
                  </a:lnTo>
                  <a:lnTo>
                    <a:pt x="372" y="32"/>
                  </a:lnTo>
                  <a:lnTo>
                    <a:pt x="410" y="44"/>
                  </a:lnTo>
                  <a:lnTo>
                    <a:pt x="443" y="58"/>
                  </a:lnTo>
                  <a:lnTo>
                    <a:pt x="475" y="73"/>
                  </a:lnTo>
                  <a:lnTo>
                    <a:pt x="502" y="93"/>
                  </a:lnTo>
                  <a:lnTo>
                    <a:pt x="528" y="117"/>
                  </a:lnTo>
                  <a:lnTo>
                    <a:pt x="552" y="144"/>
                  </a:lnTo>
                  <a:lnTo>
                    <a:pt x="573" y="176"/>
                  </a:lnTo>
                  <a:lnTo>
                    <a:pt x="593" y="213"/>
                  </a:lnTo>
                  <a:lnTo>
                    <a:pt x="615" y="256"/>
                  </a:lnTo>
                  <a:lnTo>
                    <a:pt x="634" y="304"/>
                  </a:lnTo>
                  <a:lnTo>
                    <a:pt x="654" y="359"/>
                  </a:lnTo>
                  <a:lnTo>
                    <a:pt x="676" y="420"/>
                  </a:lnTo>
                  <a:lnTo>
                    <a:pt x="804" y="765"/>
                  </a:lnTo>
                  <a:lnTo>
                    <a:pt x="873" y="873"/>
                  </a:lnTo>
                  <a:lnTo>
                    <a:pt x="424" y="538"/>
                  </a:lnTo>
                  <a:lnTo>
                    <a:pt x="390" y="495"/>
                  </a:lnTo>
                  <a:lnTo>
                    <a:pt x="359" y="457"/>
                  </a:lnTo>
                  <a:lnTo>
                    <a:pt x="333" y="422"/>
                  </a:lnTo>
                  <a:lnTo>
                    <a:pt x="309" y="392"/>
                  </a:lnTo>
                  <a:lnTo>
                    <a:pt x="288" y="365"/>
                  </a:lnTo>
                  <a:lnTo>
                    <a:pt x="270" y="341"/>
                  </a:lnTo>
                  <a:lnTo>
                    <a:pt x="250" y="317"/>
                  </a:lnTo>
                  <a:lnTo>
                    <a:pt x="233" y="296"/>
                  </a:lnTo>
                  <a:lnTo>
                    <a:pt x="213" y="274"/>
                  </a:lnTo>
                  <a:lnTo>
                    <a:pt x="191" y="254"/>
                  </a:lnTo>
                  <a:lnTo>
                    <a:pt x="169" y="233"/>
                  </a:lnTo>
                  <a:lnTo>
                    <a:pt x="144" y="211"/>
                  </a:lnTo>
                  <a:lnTo>
                    <a:pt x="114" y="188"/>
                  </a:lnTo>
                  <a:lnTo>
                    <a:pt x="83" y="162"/>
                  </a:lnTo>
                  <a:lnTo>
                    <a:pt x="43" y="132"/>
                  </a:lnTo>
                  <a:lnTo>
                    <a:pt x="0" y="101"/>
                  </a:lnTo>
                  <a:lnTo>
                    <a:pt x="47" y="63"/>
                  </a:lnTo>
                  <a:close/>
                </a:path>
              </a:pathLst>
            </a:custGeom>
            <a:solidFill>
              <a:srgbClr val="0066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9" name="Freeform 156"/>
            <p:cNvSpPr>
              <a:spLocks/>
            </p:cNvSpPr>
            <p:nvPr/>
          </p:nvSpPr>
          <p:spPr bwMode="auto">
            <a:xfrm>
              <a:off x="3201" y="3089"/>
              <a:ext cx="185" cy="303"/>
            </a:xfrm>
            <a:custGeom>
              <a:avLst/>
              <a:gdLst>
                <a:gd name="T0" fmla="*/ 0 w 371"/>
                <a:gd name="T1" fmla="*/ 0 h 607"/>
                <a:gd name="T2" fmla="*/ 0 w 371"/>
                <a:gd name="T3" fmla="*/ 0 h 607"/>
                <a:gd name="T4" fmla="*/ 0 w 371"/>
                <a:gd name="T5" fmla="*/ 0 h 607"/>
                <a:gd name="T6" fmla="*/ 0 w 371"/>
                <a:gd name="T7" fmla="*/ 0 h 607"/>
                <a:gd name="T8" fmla="*/ 0 w 371"/>
                <a:gd name="T9" fmla="*/ 0 h 607"/>
                <a:gd name="T10" fmla="*/ 0 w 371"/>
                <a:gd name="T11" fmla="*/ 1 h 607"/>
                <a:gd name="T12" fmla="*/ 0 w 371"/>
                <a:gd name="T13" fmla="*/ 0 h 607"/>
                <a:gd name="T14" fmla="*/ 0 w 371"/>
                <a:gd name="T15" fmla="*/ 0 h 607"/>
                <a:gd name="T16" fmla="*/ 0 w 371"/>
                <a:gd name="T17" fmla="*/ 0 h 607"/>
                <a:gd name="T18" fmla="*/ 0 w 371"/>
                <a:gd name="T19" fmla="*/ 0 h 607"/>
                <a:gd name="T20" fmla="*/ 0 w 371"/>
                <a:gd name="T21" fmla="*/ 0 h 607"/>
                <a:gd name="T22" fmla="*/ 0 w 371"/>
                <a:gd name="T23" fmla="*/ 0 h 607"/>
                <a:gd name="T24" fmla="*/ 0 w 371"/>
                <a:gd name="T25" fmla="*/ 0 h 607"/>
                <a:gd name="T26" fmla="*/ 0 w 371"/>
                <a:gd name="T27" fmla="*/ 0 h 607"/>
                <a:gd name="T28" fmla="*/ 0 w 371"/>
                <a:gd name="T29" fmla="*/ 0 h 607"/>
                <a:gd name="T30" fmla="*/ 0 w 371"/>
                <a:gd name="T31" fmla="*/ 0 h 607"/>
                <a:gd name="T32" fmla="*/ 0 w 371"/>
                <a:gd name="T33" fmla="*/ 0 h 607"/>
                <a:gd name="T34" fmla="*/ 0 w 371"/>
                <a:gd name="T35" fmla="*/ 0 h 607"/>
                <a:gd name="T36" fmla="*/ 0 w 371"/>
                <a:gd name="T37" fmla="*/ 0 h 607"/>
                <a:gd name="T38" fmla="*/ 0 w 371"/>
                <a:gd name="T39" fmla="*/ 0 h 607"/>
                <a:gd name="T40" fmla="*/ 0 w 371"/>
                <a:gd name="T41" fmla="*/ 0 h 607"/>
                <a:gd name="T42" fmla="*/ 0 w 371"/>
                <a:gd name="T43" fmla="*/ 0 h 607"/>
                <a:gd name="T44" fmla="*/ 0 w 371"/>
                <a:gd name="T45" fmla="*/ 0 h 607"/>
                <a:gd name="T46" fmla="*/ 0 w 371"/>
                <a:gd name="T47" fmla="*/ 0 h 60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71" h="607">
                  <a:moveTo>
                    <a:pt x="186" y="10"/>
                  </a:moveTo>
                  <a:lnTo>
                    <a:pt x="67" y="81"/>
                  </a:lnTo>
                  <a:lnTo>
                    <a:pt x="0" y="260"/>
                  </a:lnTo>
                  <a:lnTo>
                    <a:pt x="6" y="388"/>
                  </a:lnTo>
                  <a:lnTo>
                    <a:pt x="52" y="486"/>
                  </a:lnTo>
                  <a:lnTo>
                    <a:pt x="99" y="607"/>
                  </a:lnTo>
                  <a:lnTo>
                    <a:pt x="77" y="461"/>
                  </a:lnTo>
                  <a:lnTo>
                    <a:pt x="176" y="347"/>
                  </a:lnTo>
                  <a:lnTo>
                    <a:pt x="243" y="327"/>
                  </a:lnTo>
                  <a:lnTo>
                    <a:pt x="298" y="305"/>
                  </a:lnTo>
                  <a:lnTo>
                    <a:pt x="337" y="276"/>
                  </a:lnTo>
                  <a:lnTo>
                    <a:pt x="361" y="240"/>
                  </a:lnTo>
                  <a:lnTo>
                    <a:pt x="371" y="197"/>
                  </a:lnTo>
                  <a:lnTo>
                    <a:pt x="363" y="144"/>
                  </a:lnTo>
                  <a:lnTo>
                    <a:pt x="339" y="79"/>
                  </a:lnTo>
                  <a:lnTo>
                    <a:pt x="300" y="0"/>
                  </a:lnTo>
                  <a:lnTo>
                    <a:pt x="296" y="0"/>
                  </a:lnTo>
                  <a:lnTo>
                    <a:pt x="282" y="2"/>
                  </a:lnTo>
                  <a:lnTo>
                    <a:pt x="264" y="4"/>
                  </a:lnTo>
                  <a:lnTo>
                    <a:pt x="245" y="8"/>
                  </a:lnTo>
                  <a:lnTo>
                    <a:pt x="225" y="10"/>
                  </a:lnTo>
                  <a:lnTo>
                    <a:pt x="205" y="10"/>
                  </a:lnTo>
                  <a:lnTo>
                    <a:pt x="192" y="12"/>
                  </a:lnTo>
                  <a:lnTo>
                    <a:pt x="186" y="10"/>
                  </a:lnTo>
                  <a:close/>
                </a:path>
              </a:pathLst>
            </a:custGeom>
            <a:solidFill>
              <a:srgbClr val="0066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0" name="Freeform 157"/>
            <p:cNvSpPr>
              <a:spLocks/>
            </p:cNvSpPr>
            <p:nvPr/>
          </p:nvSpPr>
          <p:spPr bwMode="auto">
            <a:xfrm>
              <a:off x="3201" y="3131"/>
              <a:ext cx="108" cy="217"/>
            </a:xfrm>
            <a:custGeom>
              <a:avLst/>
              <a:gdLst>
                <a:gd name="T0" fmla="*/ 0 w 217"/>
                <a:gd name="T1" fmla="*/ 1 h 433"/>
                <a:gd name="T2" fmla="*/ 0 w 217"/>
                <a:gd name="T3" fmla="*/ 1 h 433"/>
                <a:gd name="T4" fmla="*/ 0 w 217"/>
                <a:gd name="T5" fmla="*/ 1 h 433"/>
                <a:gd name="T6" fmla="*/ 0 w 217"/>
                <a:gd name="T7" fmla="*/ 1 h 433"/>
                <a:gd name="T8" fmla="*/ 0 w 217"/>
                <a:gd name="T9" fmla="*/ 1 h 433"/>
                <a:gd name="T10" fmla="*/ 0 w 217"/>
                <a:gd name="T11" fmla="*/ 1 h 433"/>
                <a:gd name="T12" fmla="*/ 0 w 217"/>
                <a:gd name="T13" fmla="*/ 1 h 433"/>
                <a:gd name="T14" fmla="*/ 0 w 217"/>
                <a:gd name="T15" fmla="*/ 1 h 433"/>
                <a:gd name="T16" fmla="*/ 0 w 217"/>
                <a:gd name="T17" fmla="*/ 1 h 433"/>
                <a:gd name="T18" fmla="*/ 0 w 217"/>
                <a:gd name="T19" fmla="*/ 1 h 433"/>
                <a:gd name="T20" fmla="*/ 0 w 217"/>
                <a:gd name="T21" fmla="*/ 1 h 433"/>
                <a:gd name="T22" fmla="*/ 0 w 217"/>
                <a:gd name="T23" fmla="*/ 0 h 433"/>
                <a:gd name="T24" fmla="*/ 0 w 217"/>
                <a:gd name="T25" fmla="*/ 0 h 433"/>
                <a:gd name="T26" fmla="*/ 0 w 217"/>
                <a:gd name="T27" fmla="*/ 1 h 433"/>
                <a:gd name="T28" fmla="*/ 0 w 217"/>
                <a:gd name="T29" fmla="*/ 1 h 43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7" h="433">
                  <a:moveTo>
                    <a:pt x="58" y="33"/>
                  </a:moveTo>
                  <a:lnTo>
                    <a:pt x="0" y="169"/>
                  </a:lnTo>
                  <a:lnTo>
                    <a:pt x="0" y="262"/>
                  </a:lnTo>
                  <a:lnTo>
                    <a:pt x="16" y="350"/>
                  </a:lnTo>
                  <a:lnTo>
                    <a:pt x="67" y="433"/>
                  </a:lnTo>
                  <a:lnTo>
                    <a:pt x="52" y="277"/>
                  </a:lnTo>
                  <a:lnTo>
                    <a:pt x="217" y="157"/>
                  </a:lnTo>
                  <a:lnTo>
                    <a:pt x="217" y="110"/>
                  </a:lnTo>
                  <a:lnTo>
                    <a:pt x="213" y="69"/>
                  </a:lnTo>
                  <a:lnTo>
                    <a:pt x="207" y="35"/>
                  </a:lnTo>
                  <a:lnTo>
                    <a:pt x="194" y="13"/>
                  </a:lnTo>
                  <a:lnTo>
                    <a:pt x="174" y="0"/>
                  </a:lnTo>
                  <a:lnTo>
                    <a:pt x="146" y="0"/>
                  </a:lnTo>
                  <a:lnTo>
                    <a:pt x="109" y="10"/>
                  </a:lnTo>
                  <a:lnTo>
                    <a:pt x="58" y="33"/>
                  </a:lnTo>
                  <a:close/>
                </a:path>
              </a:pathLst>
            </a:custGeom>
            <a:solidFill>
              <a:srgbClr val="11773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1" name="Freeform 158"/>
            <p:cNvSpPr>
              <a:spLocks/>
            </p:cNvSpPr>
            <p:nvPr/>
          </p:nvSpPr>
          <p:spPr bwMode="auto">
            <a:xfrm>
              <a:off x="3204" y="3187"/>
              <a:ext cx="30" cy="107"/>
            </a:xfrm>
            <a:custGeom>
              <a:avLst/>
              <a:gdLst>
                <a:gd name="T0" fmla="*/ 0 w 61"/>
                <a:gd name="T1" fmla="*/ 1 h 213"/>
                <a:gd name="T2" fmla="*/ 0 w 61"/>
                <a:gd name="T3" fmla="*/ 1 h 213"/>
                <a:gd name="T4" fmla="*/ 0 w 61"/>
                <a:gd name="T5" fmla="*/ 1 h 213"/>
                <a:gd name="T6" fmla="*/ 0 w 61"/>
                <a:gd name="T7" fmla="*/ 1 h 213"/>
                <a:gd name="T8" fmla="*/ 0 w 61"/>
                <a:gd name="T9" fmla="*/ 0 h 213"/>
                <a:gd name="T10" fmla="*/ 0 w 61"/>
                <a:gd name="T11" fmla="*/ 1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213">
                  <a:moveTo>
                    <a:pt x="0" y="45"/>
                  </a:moveTo>
                  <a:lnTo>
                    <a:pt x="0" y="128"/>
                  </a:lnTo>
                  <a:lnTo>
                    <a:pt x="6" y="213"/>
                  </a:lnTo>
                  <a:lnTo>
                    <a:pt x="26" y="98"/>
                  </a:lnTo>
                  <a:lnTo>
                    <a:pt x="61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009999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2" name="Freeform 159"/>
            <p:cNvSpPr>
              <a:spLocks/>
            </p:cNvSpPr>
            <p:nvPr/>
          </p:nvSpPr>
          <p:spPr bwMode="auto">
            <a:xfrm>
              <a:off x="3645" y="3051"/>
              <a:ext cx="225" cy="255"/>
            </a:xfrm>
            <a:custGeom>
              <a:avLst/>
              <a:gdLst>
                <a:gd name="T0" fmla="*/ 1 w 445"/>
                <a:gd name="T1" fmla="*/ 1 h 510"/>
                <a:gd name="T2" fmla="*/ 1 w 445"/>
                <a:gd name="T3" fmla="*/ 1 h 510"/>
                <a:gd name="T4" fmla="*/ 0 w 445"/>
                <a:gd name="T5" fmla="*/ 1 h 510"/>
                <a:gd name="T6" fmla="*/ 1 w 445"/>
                <a:gd name="T7" fmla="*/ 0 h 510"/>
                <a:gd name="T8" fmla="*/ 1 w 445"/>
                <a:gd name="T9" fmla="*/ 1 h 510"/>
                <a:gd name="T10" fmla="*/ 1 w 445"/>
                <a:gd name="T11" fmla="*/ 1 h 510"/>
                <a:gd name="T12" fmla="*/ 1 w 445"/>
                <a:gd name="T13" fmla="*/ 1 h 510"/>
                <a:gd name="T14" fmla="*/ 1 w 445"/>
                <a:gd name="T15" fmla="*/ 1 h 510"/>
                <a:gd name="T16" fmla="*/ 1 w 445"/>
                <a:gd name="T17" fmla="*/ 1 h 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5" h="510">
                  <a:moveTo>
                    <a:pt x="92" y="225"/>
                  </a:moveTo>
                  <a:lnTo>
                    <a:pt x="10" y="134"/>
                  </a:lnTo>
                  <a:lnTo>
                    <a:pt x="0" y="10"/>
                  </a:lnTo>
                  <a:lnTo>
                    <a:pt x="128" y="0"/>
                  </a:lnTo>
                  <a:lnTo>
                    <a:pt x="272" y="95"/>
                  </a:lnTo>
                  <a:lnTo>
                    <a:pt x="376" y="380"/>
                  </a:lnTo>
                  <a:lnTo>
                    <a:pt x="445" y="510"/>
                  </a:lnTo>
                  <a:lnTo>
                    <a:pt x="163" y="294"/>
                  </a:lnTo>
                  <a:lnTo>
                    <a:pt x="92" y="225"/>
                  </a:lnTo>
                  <a:close/>
                </a:path>
              </a:pathLst>
            </a:custGeom>
            <a:solidFill>
              <a:srgbClr val="11773D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3" name="Freeform 160"/>
            <p:cNvSpPr>
              <a:spLocks/>
            </p:cNvSpPr>
            <p:nvPr/>
          </p:nvSpPr>
          <p:spPr bwMode="auto">
            <a:xfrm>
              <a:off x="3714" y="3139"/>
              <a:ext cx="143" cy="152"/>
            </a:xfrm>
            <a:custGeom>
              <a:avLst/>
              <a:gdLst>
                <a:gd name="T0" fmla="*/ 1 w 281"/>
                <a:gd name="T1" fmla="*/ 0 h 306"/>
                <a:gd name="T2" fmla="*/ 1 w 281"/>
                <a:gd name="T3" fmla="*/ 0 h 306"/>
                <a:gd name="T4" fmla="*/ 1 w 281"/>
                <a:gd name="T5" fmla="*/ 0 h 306"/>
                <a:gd name="T6" fmla="*/ 1 w 281"/>
                <a:gd name="T7" fmla="*/ 0 h 306"/>
                <a:gd name="T8" fmla="*/ 1 w 281"/>
                <a:gd name="T9" fmla="*/ 0 h 306"/>
                <a:gd name="T10" fmla="*/ 0 w 281"/>
                <a:gd name="T11" fmla="*/ 0 h 306"/>
                <a:gd name="T12" fmla="*/ 1 w 281"/>
                <a:gd name="T13" fmla="*/ 0 h 306"/>
                <a:gd name="T14" fmla="*/ 1 w 281"/>
                <a:gd name="T15" fmla="*/ 0 h 3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1" h="306">
                  <a:moveTo>
                    <a:pt x="118" y="0"/>
                  </a:moveTo>
                  <a:lnTo>
                    <a:pt x="183" y="101"/>
                  </a:lnTo>
                  <a:lnTo>
                    <a:pt x="281" y="306"/>
                  </a:lnTo>
                  <a:lnTo>
                    <a:pt x="153" y="160"/>
                  </a:lnTo>
                  <a:lnTo>
                    <a:pt x="49" y="101"/>
                  </a:lnTo>
                  <a:lnTo>
                    <a:pt x="0" y="6"/>
                  </a:lnTo>
                  <a:lnTo>
                    <a:pt x="59" y="0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3F9EA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4" name="Freeform 161"/>
            <p:cNvSpPr>
              <a:spLocks/>
            </p:cNvSpPr>
            <p:nvPr/>
          </p:nvSpPr>
          <p:spPr bwMode="auto">
            <a:xfrm>
              <a:off x="2236" y="3192"/>
              <a:ext cx="332" cy="263"/>
            </a:xfrm>
            <a:custGeom>
              <a:avLst/>
              <a:gdLst>
                <a:gd name="T0" fmla="*/ 2 w 664"/>
                <a:gd name="T1" fmla="*/ 0 h 526"/>
                <a:gd name="T2" fmla="*/ 1 w 664"/>
                <a:gd name="T3" fmla="*/ 1 h 526"/>
                <a:gd name="T4" fmla="*/ 1 w 664"/>
                <a:gd name="T5" fmla="*/ 1 h 526"/>
                <a:gd name="T6" fmla="*/ 0 w 664"/>
                <a:gd name="T7" fmla="*/ 2 h 526"/>
                <a:gd name="T8" fmla="*/ 1 w 664"/>
                <a:gd name="T9" fmla="*/ 1 h 526"/>
                <a:gd name="T10" fmla="*/ 1 w 664"/>
                <a:gd name="T11" fmla="*/ 1 h 526"/>
                <a:gd name="T12" fmla="*/ 1 w 664"/>
                <a:gd name="T13" fmla="*/ 1 h 526"/>
                <a:gd name="T14" fmla="*/ 1 w 664"/>
                <a:gd name="T15" fmla="*/ 1 h 526"/>
                <a:gd name="T16" fmla="*/ 2 w 664"/>
                <a:gd name="T17" fmla="*/ 1 h 526"/>
                <a:gd name="T18" fmla="*/ 2 w 664"/>
                <a:gd name="T19" fmla="*/ 1 h 526"/>
                <a:gd name="T20" fmla="*/ 2 w 664"/>
                <a:gd name="T21" fmla="*/ 0 h 5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64" h="526">
                  <a:moveTo>
                    <a:pt x="573" y="0"/>
                  </a:moveTo>
                  <a:lnTo>
                    <a:pt x="358" y="73"/>
                  </a:lnTo>
                  <a:lnTo>
                    <a:pt x="161" y="291"/>
                  </a:lnTo>
                  <a:lnTo>
                    <a:pt x="0" y="526"/>
                  </a:lnTo>
                  <a:lnTo>
                    <a:pt x="179" y="435"/>
                  </a:lnTo>
                  <a:lnTo>
                    <a:pt x="341" y="400"/>
                  </a:lnTo>
                  <a:lnTo>
                    <a:pt x="376" y="201"/>
                  </a:lnTo>
                  <a:lnTo>
                    <a:pt x="467" y="272"/>
                  </a:lnTo>
                  <a:lnTo>
                    <a:pt x="591" y="201"/>
                  </a:lnTo>
                  <a:lnTo>
                    <a:pt x="664" y="73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356B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5" name="Freeform 162"/>
            <p:cNvSpPr>
              <a:spLocks/>
            </p:cNvSpPr>
            <p:nvPr/>
          </p:nvSpPr>
          <p:spPr bwMode="auto">
            <a:xfrm>
              <a:off x="2269" y="3249"/>
              <a:ext cx="194" cy="175"/>
            </a:xfrm>
            <a:custGeom>
              <a:avLst/>
              <a:gdLst>
                <a:gd name="T0" fmla="*/ 1 w 388"/>
                <a:gd name="T1" fmla="*/ 0 h 351"/>
                <a:gd name="T2" fmla="*/ 1 w 388"/>
                <a:gd name="T3" fmla="*/ 0 h 351"/>
                <a:gd name="T4" fmla="*/ 0 w 388"/>
                <a:gd name="T5" fmla="*/ 0 h 351"/>
                <a:gd name="T6" fmla="*/ 1 w 388"/>
                <a:gd name="T7" fmla="*/ 0 h 351"/>
                <a:gd name="T8" fmla="*/ 1 w 388"/>
                <a:gd name="T9" fmla="*/ 0 h 351"/>
                <a:gd name="T10" fmla="*/ 1 w 388"/>
                <a:gd name="T11" fmla="*/ 0 h 351"/>
                <a:gd name="T12" fmla="*/ 1 w 388"/>
                <a:gd name="T13" fmla="*/ 0 h 3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8" h="351">
                  <a:moveTo>
                    <a:pt x="388" y="0"/>
                  </a:moveTo>
                  <a:lnTo>
                    <a:pt x="254" y="75"/>
                  </a:lnTo>
                  <a:lnTo>
                    <a:pt x="0" y="351"/>
                  </a:lnTo>
                  <a:lnTo>
                    <a:pt x="213" y="276"/>
                  </a:lnTo>
                  <a:lnTo>
                    <a:pt x="268" y="134"/>
                  </a:lnTo>
                  <a:lnTo>
                    <a:pt x="388" y="47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147A0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6" name="Freeform 163"/>
            <p:cNvSpPr>
              <a:spLocks/>
            </p:cNvSpPr>
            <p:nvPr/>
          </p:nvSpPr>
          <p:spPr bwMode="auto">
            <a:xfrm>
              <a:off x="2298" y="3319"/>
              <a:ext cx="69" cy="74"/>
            </a:xfrm>
            <a:custGeom>
              <a:avLst/>
              <a:gdLst>
                <a:gd name="T0" fmla="*/ 1 w 134"/>
                <a:gd name="T1" fmla="*/ 0 h 148"/>
                <a:gd name="T2" fmla="*/ 0 w 134"/>
                <a:gd name="T3" fmla="*/ 1 h 148"/>
                <a:gd name="T4" fmla="*/ 1 w 134"/>
                <a:gd name="T5" fmla="*/ 1 h 148"/>
                <a:gd name="T6" fmla="*/ 1 w 134"/>
                <a:gd name="T7" fmla="*/ 0 h 1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4" h="148">
                  <a:moveTo>
                    <a:pt x="134" y="0"/>
                  </a:moveTo>
                  <a:lnTo>
                    <a:pt x="0" y="148"/>
                  </a:lnTo>
                  <a:lnTo>
                    <a:pt x="114" y="128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0F7F6B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7" name="Freeform 164"/>
            <p:cNvSpPr>
              <a:spLocks/>
            </p:cNvSpPr>
            <p:nvPr/>
          </p:nvSpPr>
          <p:spPr bwMode="auto">
            <a:xfrm>
              <a:off x="2710" y="3225"/>
              <a:ext cx="148" cy="201"/>
            </a:xfrm>
            <a:custGeom>
              <a:avLst/>
              <a:gdLst>
                <a:gd name="T0" fmla="*/ 1 w 296"/>
                <a:gd name="T1" fmla="*/ 0 h 405"/>
                <a:gd name="T2" fmla="*/ 1 w 296"/>
                <a:gd name="T3" fmla="*/ 0 h 405"/>
                <a:gd name="T4" fmla="*/ 1 w 296"/>
                <a:gd name="T5" fmla="*/ 0 h 405"/>
                <a:gd name="T6" fmla="*/ 1 w 296"/>
                <a:gd name="T7" fmla="*/ 0 h 405"/>
                <a:gd name="T8" fmla="*/ 1 w 296"/>
                <a:gd name="T9" fmla="*/ 0 h 405"/>
                <a:gd name="T10" fmla="*/ 1 w 296"/>
                <a:gd name="T11" fmla="*/ 0 h 405"/>
                <a:gd name="T12" fmla="*/ 1 w 296"/>
                <a:gd name="T13" fmla="*/ 0 h 405"/>
                <a:gd name="T14" fmla="*/ 1 w 296"/>
                <a:gd name="T15" fmla="*/ 0 h 405"/>
                <a:gd name="T16" fmla="*/ 1 w 296"/>
                <a:gd name="T17" fmla="*/ 0 h 405"/>
                <a:gd name="T18" fmla="*/ 1 w 296"/>
                <a:gd name="T19" fmla="*/ 0 h 405"/>
                <a:gd name="T20" fmla="*/ 1 w 296"/>
                <a:gd name="T21" fmla="*/ 0 h 405"/>
                <a:gd name="T22" fmla="*/ 1 w 296"/>
                <a:gd name="T23" fmla="*/ 0 h 405"/>
                <a:gd name="T24" fmla="*/ 0 w 296"/>
                <a:gd name="T25" fmla="*/ 0 h 405"/>
                <a:gd name="T26" fmla="*/ 1 w 296"/>
                <a:gd name="T27" fmla="*/ 0 h 4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6" h="405">
                  <a:moveTo>
                    <a:pt x="14" y="0"/>
                  </a:moveTo>
                  <a:lnTo>
                    <a:pt x="156" y="81"/>
                  </a:lnTo>
                  <a:lnTo>
                    <a:pt x="190" y="155"/>
                  </a:lnTo>
                  <a:lnTo>
                    <a:pt x="262" y="256"/>
                  </a:lnTo>
                  <a:lnTo>
                    <a:pt x="290" y="350"/>
                  </a:lnTo>
                  <a:lnTo>
                    <a:pt x="296" y="405"/>
                  </a:lnTo>
                  <a:lnTo>
                    <a:pt x="215" y="358"/>
                  </a:lnTo>
                  <a:lnTo>
                    <a:pt x="215" y="264"/>
                  </a:lnTo>
                  <a:lnTo>
                    <a:pt x="128" y="337"/>
                  </a:lnTo>
                  <a:lnTo>
                    <a:pt x="95" y="270"/>
                  </a:lnTo>
                  <a:lnTo>
                    <a:pt x="109" y="147"/>
                  </a:lnTo>
                  <a:lnTo>
                    <a:pt x="56" y="17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356B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8" name="Freeform 165"/>
            <p:cNvSpPr>
              <a:spLocks/>
            </p:cNvSpPr>
            <p:nvPr/>
          </p:nvSpPr>
          <p:spPr bwMode="auto">
            <a:xfrm>
              <a:off x="2437" y="1910"/>
              <a:ext cx="355" cy="197"/>
            </a:xfrm>
            <a:custGeom>
              <a:avLst/>
              <a:gdLst>
                <a:gd name="T0" fmla="*/ 2 w 705"/>
                <a:gd name="T1" fmla="*/ 1 h 394"/>
                <a:gd name="T2" fmla="*/ 2 w 705"/>
                <a:gd name="T3" fmla="*/ 1 h 394"/>
                <a:gd name="T4" fmla="*/ 2 w 705"/>
                <a:gd name="T5" fmla="*/ 1 h 394"/>
                <a:gd name="T6" fmla="*/ 2 w 705"/>
                <a:gd name="T7" fmla="*/ 1 h 394"/>
                <a:gd name="T8" fmla="*/ 1 w 705"/>
                <a:gd name="T9" fmla="*/ 1 h 394"/>
                <a:gd name="T10" fmla="*/ 1 w 705"/>
                <a:gd name="T11" fmla="*/ 1 h 394"/>
                <a:gd name="T12" fmla="*/ 1 w 705"/>
                <a:gd name="T13" fmla="*/ 1 h 394"/>
                <a:gd name="T14" fmla="*/ 1 w 705"/>
                <a:gd name="T15" fmla="*/ 1 h 394"/>
                <a:gd name="T16" fmla="*/ 1 w 705"/>
                <a:gd name="T17" fmla="*/ 1 h 394"/>
                <a:gd name="T18" fmla="*/ 1 w 705"/>
                <a:gd name="T19" fmla="*/ 1 h 394"/>
                <a:gd name="T20" fmla="*/ 1 w 705"/>
                <a:gd name="T21" fmla="*/ 1 h 394"/>
                <a:gd name="T22" fmla="*/ 1 w 705"/>
                <a:gd name="T23" fmla="*/ 1 h 394"/>
                <a:gd name="T24" fmla="*/ 1 w 705"/>
                <a:gd name="T25" fmla="*/ 1 h 394"/>
                <a:gd name="T26" fmla="*/ 1 w 705"/>
                <a:gd name="T27" fmla="*/ 1 h 394"/>
                <a:gd name="T28" fmla="*/ 1 w 705"/>
                <a:gd name="T29" fmla="*/ 1 h 394"/>
                <a:gd name="T30" fmla="*/ 1 w 705"/>
                <a:gd name="T31" fmla="*/ 1 h 394"/>
                <a:gd name="T32" fmla="*/ 1 w 705"/>
                <a:gd name="T33" fmla="*/ 1 h 394"/>
                <a:gd name="T34" fmla="*/ 1 w 705"/>
                <a:gd name="T35" fmla="*/ 1 h 394"/>
                <a:gd name="T36" fmla="*/ 0 w 705"/>
                <a:gd name="T37" fmla="*/ 0 h 394"/>
                <a:gd name="T38" fmla="*/ 1 w 705"/>
                <a:gd name="T39" fmla="*/ 1 h 394"/>
                <a:gd name="T40" fmla="*/ 1 w 705"/>
                <a:gd name="T41" fmla="*/ 1 h 394"/>
                <a:gd name="T42" fmla="*/ 1 w 705"/>
                <a:gd name="T43" fmla="*/ 1 h 394"/>
                <a:gd name="T44" fmla="*/ 1 w 705"/>
                <a:gd name="T45" fmla="*/ 1 h 394"/>
                <a:gd name="T46" fmla="*/ 1 w 705"/>
                <a:gd name="T47" fmla="*/ 1 h 394"/>
                <a:gd name="T48" fmla="*/ 1 w 705"/>
                <a:gd name="T49" fmla="*/ 1 h 394"/>
                <a:gd name="T50" fmla="*/ 1 w 705"/>
                <a:gd name="T51" fmla="*/ 1 h 394"/>
                <a:gd name="T52" fmla="*/ 1 w 705"/>
                <a:gd name="T53" fmla="*/ 1 h 394"/>
                <a:gd name="T54" fmla="*/ 1 w 705"/>
                <a:gd name="T55" fmla="*/ 1 h 394"/>
                <a:gd name="T56" fmla="*/ 1 w 705"/>
                <a:gd name="T57" fmla="*/ 1 h 394"/>
                <a:gd name="T58" fmla="*/ 1 w 705"/>
                <a:gd name="T59" fmla="*/ 1 h 394"/>
                <a:gd name="T60" fmla="*/ 1 w 705"/>
                <a:gd name="T61" fmla="*/ 1 h 394"/>
                <a:gd name="T62" fmla="*/ 1 w 705"/>
                <a:gd name="T63" fmla="*/ 1 h 394"/>
                <a:gd name="T64" fmla="*/ 1 w 705"/>
                <a:gd name="T65" fmla="*/ 1 h 394"/>
                <a:gd name="T66" fmla="*/ 2 w 705"/>
                <a:gd name="T67" fmla="*/ 1 h 394"/>
                <a:gd name="T68" fmla="*/ 2 w 705"/>
                <a:gd name="T69" fmla="*/ 1 h 394"/>
                <a:gd name="T70" fmla="*/ 2 w 705"/>
                <a:gd name="T71" fmla="*/ 1 h 394"/>
                <a:gd name="T72" fmla="*/ 2 w 705"/>
                <a:gd name="T73" fmla="*/ 1 h 394"/>
                <a:gd name="T74" fmla="*/ 2 w 705"/>
                <a:gd name="T75" fmla="*/ 1 h 39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05" h="394">
                  <a:moveTo>
                    <a:pt x="670" y="90"/>
                  </a:moveTo>
                  <a:lnTo>
                    <a:pt x="571" y="142"/>
                  </a:lnTo>
                  <a:lnTo>
                    <a:pt x="549" y="181"/>
                  </a:lnTo>
                  <a:lnTo>
                    <a:pt x="528" y="212"/>
                  </a:lnTo>
                  <a:lnTo>
                    <a:pt x="506" y="240"/>
                  </a:lnTo>
                  <a:lnTo>
                    <a:pt x="480" y="262"/>
                  </a:lnTo>
                  <a:lnTo>
                    <a:pt x="457" y="277"/>
                  </a:lnTo>
                  <a:lnTo>
                    <a:pt x="431" y="289"/>
                  </a:lnTo>
                  <a:lnTo>
                    <a:pt x="406" y="295"/>
                  </a:lnTo>
                  <a:lnTo>
                    <a:pt x="380" y="295"/>
                  </a:lnTo>
                  <a:lnTo>
                    <a:pt x="354" y="291"/>
                  </a:lnTo>
                  <a:lnTo>
                    <a:pt x="329" y="281"/>
                  </a:lnTo>
                  <a:lnTo>
                    <a:pt x="303" y="268"/>
                  </a:lnTo>
                  <a:lnTo>
                    <a:pt x="278" y="250"/>
                  </a:lnTo>
                  <a:lnTo>
                    <a:pt x="252" y="228"/>
                  </a:lnTo>
                  <a:lnTo>
                    <a:pt x="226" y="201"/>
                  </a:lnTo>
                  <a:lnTo>
                    <a:pt x="203" y="171"/>
                  </a:lnTo>
                  <a:lnTo>
                    <a:pt x="179" y="136"/>
                  </a:lnTo>
                  <a:lnTo>
                    <a:pt x="0" y="0"/>
                  </a:lnTo>
                  <a:lnTo>
                    <a:pt x="207" y="297"/>
                  </a:lnTo>
                  <a:lnTo>
                    <a:pt x="224" y="307"/>
                  </a:lnTo>
                  <a:lnTo>
                    <a:pt x="242" y="319"/>
                  </a:lnTo>
                  <a:lnTo>
                    <a:pt x="260" y="333"/>
                  </a:lnTo>
                  <a:lnTo>
                    <a:pt x="276" y="344"/>
                  </a:lnTo>
                  <a:lnTo>
                    <a:pt x="293" y="358"/>
                  </a:lnTo>
                  <a:lnTo>
                    <a:pt x="311" y="370"/>
                  </a:lnTo>
                  <a:lnTo>
                    <a:pt x="329" y="380"/>
                  </a:lnTo>
                  <a:lnTo>
                    <a:pt x="350" y="388"/>
                  </a:lnTo>
                  <a:lnTo>
                    <a:pt x="372" y="394"/>
                  </a:lnTo>
                  <a:lnTo>
                    <a:pt x="398" y="394"/>
                  </a:lnTo>
                  <a:lnTo>
                    <a:pt x="427" y="390"/>
                  </a:lnTo>
                  <a:lnTo>
                    <a:pt x="459" y="382"/>
                  </a:lnTo>
                  <a:lnTo>
                    <a:pt x="496" y="366"/>
                  </a:lnTo>
                  <a:lnTo>
                    <a:pt x="538" y="344"/>
                  </a:lnTo>
                  <a:lnTo>
                    <a:pt x="583" y="317"/>
                  </a:lnTo>
                  <a:lnTo>
                    <a:pt x="634" y="279"/>
                  </a:lnTo>
                  <a:lnTo>
                    <a:pt x="705" y="142"/>
                  </a:lnTo>
                  <a:lnTo>
                    <a:pt x="670" y="90"/>
                  </a:lnTo>
                  <a:close/>
                </a:path>
              </a:pathLst>
            </a:custGeom>
            <a:solidFill>
              <a:srgbClr val="0F7F6B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3080" name="Picture 166" descr="西南大学"/>
          <p:cNvPicPr>
            <a:picLocks noChangeAspect="1" noChangeArrowheads="1"/>
          </p:cNvPicPr>
          <p:nvPr userDrawn="1"/>
        </p:nvPicPr>
        <p:blipFill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496050"/>
            <a:ext cx="1295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4315" r:id="rId1"/>
    <p:sldLayoutId id="2147484304" r:id="rId2"/>
    <p:sldLayoutId id="2147484305" r:id="rId3"/>
    <p:sldLayoutId id="2147484306" r:id="rId4"/>
    <p:sldLayoutId id="2147484307" r:id="rId5"/>
    <p:sldLayoutId id="2147484308" r:id="rId6"/>
    <p:sldLayoutId id="2147484309" r:id="rId7"/>
    <p:sldLayoutId id="2147484310" r:id="rId8"/>
    <p:sldLayoutId id="2147484311" r:id="rId9"/>
    <p:sldLayoutId id="2147484312" r:id="rId10"/>
    <p:sldLayoutId id="2147484313" r:id="rId11"/>
    <p:sldLayoutId id="2147484314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itchFamily="18" charset="2"/>
        <a:buChar char="¡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 2" pitchFamily="18" charset="2"/>
        <a:buChar char="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 2" pitchFamily="18" charset="2"/>
        <a:buChar char="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0.emf"/><Relationship Id="rId4" Type="http://schemas.openxmlformats.org/officeDocument/2006/relationships/image" Target="../media/image275.png"/><Relationship Id="rId9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9.emf"/><Relationship Id="rId3" Type="http://schemas.openxmlformats.org/officeDocument/2006/relationships/image" Target="../media/image14.emf"/><Relationship Id="rId7" Type="http://schemas.openxmlformats.org/officeDocument/2006/relationships/image" Target="../media/image16.e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8.emf"/><Relationship Id="rId5" Type="http://schemas.openxmlformats.org/officeDocument/2006/relationships/image" Target="../media/image15.emf"/><Relationship Id="rId15" Type="http://schemas.openxmlformats.org/officeDocument/2006/relationships/image" Target="../media/image20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7.emf"/><Relationship Id="rId14" Type="http://schemas.openxmlformats.org/officeDocument/2006/relationships/oleObject" Target="../embeddings/oleObject1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23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7" Type="http://schemas.openxmlformats.org/officeDocument/2006/relationships/image" Target="../media/image34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3.emf"/><Relationship Id="rId4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2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15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39.png"/><Relationship Id="rId7" Type="http://schemas.openxmlformats.org/officeDocument/2006/relationships/image" Target="../media/image41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40.e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42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40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48.emf"/><Relationship Id="rId18" Type="http://schemas.openxmlformats.org/officeDocument/2006/relationships/oleObject" Target="../embeddings/oleObject34.bin"/><Relationship Id="rId3" Type="http://schemas.openxmlformats.org/officeDocument/2006/relationships/image" Target="../media/image43.emf"/><Relationship Id="rId21" Type="http://schemas.openxmlformats.org/officeDocument/2006/relationships/image" Target="../media/image52.emf"/><Relationship Id="rId7" Type="http://schemas.openxmlformats.org/officeDocument/2006/relationships/image" Target="../media/image45.e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50.emf"/><Relationship Id="rId2" Type="http://schemas.openxmlformats.org/officeDocument/2006/relationships/oleObject" Target="../embeddings/oleObject26.bin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47.emf"/><Relationship Id="rId5" Type="http://schemas.openxmlformats.org/officeDocument/2006/relationships/image" Target="../media/image44.emf"/><Relationship Id="rId15" Type="http://schemas.openxmlformats.org/officeDocument/2006/relationships/image" Target="../media/image49.emf"/><Relationship Id="rId10" Type="http://schemas.openxmlformats.org/officeDocument/2006/relationships/oleObject" Target="../embeddings/oleObject30.bin"/><Relationship Id="rId19" Type="http://schemas.openxmlformats.org/officeDocument/2006/relationships/image" Target="../media/image51.e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46.emf"/><Relationship Id="rId14" Type="http://schemas.openxmlformats.org/officeDocument/2006/relationships/oleObject" Target="../embeddings/oleObject3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5.emf"/><Relationship Id="rId12" Type="http://schemas.openxmlformats.org/officeDocument/2006/relationships/oleObject" Target="../embeddings/oleObject31.bin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47.emf"/><Relationship Id="rId5" Type="http://schemas.openxmlformats.org/officeDocument/2006/relationships/image" Target="../media/image44.e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46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57.emf"/><Relationship Id="rId2" Type="http://schemas.openxmlformats.org/officeDocument/2006/relationships/image" Target="../media/image295.png"/><Relationship Id="rId16" Type="http://schemas.openxmlformats.org/officeDocument/2006/relationships/image" Target="../media/image59.emf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56.e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58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3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66.e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61.emf"/><Relationship Id="rId21" Type="http://schemas.openxmlformats.org/officeDocument/2006/relationships/image" Target="../media/image70.emf"/><Relationship Id="rId7" Type="http://schemas.openxmlformats.org/officeDocument/2006/relationships/image" Target="../media/image63.e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68.e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65.emf"/><Relationship Id="rId5" Type="http://schemas.openxmlformats.org/officeDocument/2006/relationships/image" Target="../media/image62.emf"/><Relationship Id="rId15" Type="http://schemas.openxmlformats.org/officeDocument/2006/relationships/image" Target="../media/image67.e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69.e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64.emf"/><Relationship Id="rId14" Type="http://schemas.openxmlformats.org/officeDocument/2006/relationships/oleObject" Target="../embeddings/oleObject45.bin"/><Relationship Id="rId22" Type="http://schemas.openxmlformats.org/officeDocument/2006/relationships/image" Target="../media/image7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77.emf"/><Relationship Id="rId3" Type="http://schemas.openxmlformats.org/officeDocument/2006/relationships/image" Target="../media/image72.emf"/><Relationship Id="rId7" Type="http://schemas.openxmlformats.org/officeDocument/2006/relationships/image" Target="../media/image74.e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322.png"/><Relationship Id="rId2" Type="http://schemas.openxmlformats.org/officeDocument/2006/relationships/oleObject" Target="../embeddings/oleObject49.bin"/><Relationship Id="rId16" Type="http://schemas.openxmlformats.org/officeDocument/2006/relationships/image" Target="../media/image321.png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76.emf"/><Relationship Id="rId5" Type="http://schemas.openxmlformats.org/officeDocument/2006/relationships/image" Target="../media/image73.emf"/><Relationship Id="rId15" Type="http://schemas.openxmlformats.org/officeDocument/2006/relationships/image" Target="../media/image78.e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75.emf"/><Relationship Id="rId14" Type="http://schemas.openxmlformats.org/officeDocument/2006/relationships/oleObject" Target="../embeddings/oleObject55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84.emf"/><Relationship Id="rId3" Type="http://schemas.openxmlformats.org/officeDocument/2006/relationships/image" Target="../media/image79.emf"/><Relationship Id="rId7" Type="http://schemas.openxmlformats.org/officeDocument/2006/relationships/image" Target="../media/image81.emf"/><Relationship Id="rId12" Type="http://schemas.openxmlformats.org/officeDocument/2006/relationships/oleObject" Target="../embeddings/oleObject60.bin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83.emf"/><Relationship Id="rId5" Type="http://schemas.openxmlformats.org/officeDocument/2006/relationships/image" Target="../media/image80.e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82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86.emf"/><Relationship Id="rId4" Type="http://schemas.openxmlformats.org/officeDocument/2006/relationships/oleObject" Target="../embeddings/oleObject62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88.emf"/><Relationship Id="rId4" Type="http://schemas.openxmlformats.org/officeDocument/2006/relationships/oleObject" Target="../embeddings/oleObject64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34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95.emf"/><Relationship Id="rId3" Type="http://schemas.openxmlformats.org/officeDocument/2006/relationships/image" Target="../media/image90.emf"/><Relationship Id="rId7" Type="http://schemas.openxmlformats.org/officeDocument/2006/relationships/image" Target="../media/image92.emf"/><Relationship Id="rId12" Type="http://schemas.openxmlformats.org/officeDocument/2006/relationships/oleObject" Target="../embeddings/oleObject70.bin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94.emf"/><Relationship Id="rId5" Type="http://schemas.openxmlformats.org/officeDocument/2006/relationships/image" Target="../media/image91.e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93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34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102.emf"/><Relationship Id="rId18" Type="http://schemas.openxmlformats.org/officeDocument/2006/relationships/oleObject" Target="../embeddings/oleObject80.bin"/><Relationship Id="rId3" Type="http://schemas.openxmlformats.org/officeDocument/2006/relationships/image" Target="../media/image97.emf"/><Relationship Id="rId21" Type="http://schemas.openxmlformats.org/officeDocument/2006/relationships/image" Target="../media/image106.emf"/><Relationship Id="rId7" Type="http://schemas.openxmlformats.org/officeDocument/2006/relationships/image" Target="../media/image99.e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104.e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1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101.emf"/><Relationship Id="rId5" Type="http://schemas.openxmlformats.org/officeDocument/2006/relationships/image" Target="../media/image98.emf"/><Relationship Id="rId15" Type="http://schemas.openxmlformats.org/officeDocument/2006/relationships/image" Target="../media/image103.e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105.e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100.emf"/><Relationship Id="rId14" Type="http://schemas.openxmlformats.org/officeDocument/2006/relationships/oleObject" Target="../embeddings/oleObject78.bin"/><Relationship Id="rId22" Type="http://schemas.openxmlformats.org/officeDocument/2006/relationships/image" Target="../media/image10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09.emf"/><Relationship Id="rId4" Type="http://schemas.openxmlformats.org/officeDocument/2006/relationships/oleObject" Target="../embeddings/oleObject83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11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60.png"/><Relationship Id="rId1" Type="http://schemas.openxmlformats.org/officeDocument/2006/relationships/slideLayout" Target="../slideLayouts/slideLayout34.xml"/></Relationships>
</file>

<file path=ppt/slides/_rels/slide7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e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" Type="http://schemas.openxmlformats.org/officeDocument/2006/relationships/image" Target="../media/image115.emf"/><Relationship Id="rId21" Type="http://schemas.openxmlformats.org/officeDocument/2006/relationships/image" Target="../media/image124.emf"/><Relationship Id="rId34" Type="http://schemas.openxmlformats.org/officeDocument/2006/relationships/image" Target="../media/image131.emf"/><Relationship Id="rId7" Type="http://schemas.openxmlformats.org/officeDocument/2006/relationships/image" Target="../media/image117.e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122.emf"/><Relationship Id="rId25" Type="http://schemas.openxmlformats.org/officeDocument/2006/relationships/image" Target="../media/image126.emf"/><Relationship Id="rId33" Type="http://schemas.openxmlformats.org/officeDocument/2006/relationships/oleObject" Target="../embeddings/oleObject100.bin"/><Relationship Id="rId2" Type="http://schemas.openxmlformats.org/officeDocument/2006/relationships/oleObject" Target="../embeddings/oleObject85.bin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29" Type="http://schemas.openxmlformats.org/officeDocument/2006/relationships/image" Target="../media/image128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119.emf"/><Relationship Id="rId24" Type="http://schemas.openxmlformats.org/officeDocument/2006/relationships/oleObject" Target="../embeddings/oleObject96.bin"/><Relationship Id="rId32" Type="http://schemas.openxmlformats.org/officeDocument/2006/relationships/image" Target="../media/image130.emf"/><Relationship Id="rId5" Type="http://schemas.openxmlformats.org/officeDocument/2006/relationships/image" Target="../media/image116.emf"/><Relationship Id="rId15" Type="http://schemas.openxmlformats.org/officeDocument/2006/relationships/image" Target="../media/image121.emf"/><Relationship Id="rId23" Type="http://schemas.openxmlformats.org/officeDocument/2006/relationships/image" Target="../media/image125.emf"/><Relationship Id="rId28" Type="http://schemas.openxmlformats.org/officeDocument/2006/relationships/oleObject" Target="../embeddings/oleObject98.bin"/><Relationship Id="rId36" Type="http://schemas.openxmlformats.org/officeDocument/2006/relationships/image" Target="../media/image133.emf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123.emf"/><Relationship Id="rId31" Type="http://schemas.openxmlformats.org/officeDocument/2006/relationships/image" Target="../media/image129.e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118.e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127.emf"/><Relationship Id="rId30" Type="http://schemas.openxmlformats.org/officeDocument/2006/relationships/oleObject" Target="../embeddings/oleObject99.bin"/><Relationship Id="rId35" Type="http://schemas.openxmlformats.org/officeDocument/2006/relationships/image" Target="../media/image132.emf"/><Relationship Id="rId8" Type="http://schemas.openxmlformats.org/officeDocument/2006/relationships/oleObject" Target="../embeddings/oleObject88.bin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3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3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4.png"/><Relationship Id="rId1" Type="http://schemas.openxmlformats.org/officeDocument/2006/relationships/slideLayout" Target="../slideLayouts/slideLayout34.xml"/></Relationships>
</file>

<file path=ppt/slides/_rels/slide7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e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" Type="http://schemas.openxmlformats.org/officeDocument/2006/relationships/image" Target="../media/image134.emf"/><Relationship Id="rId21" Type="http://schemas.openxmlformats.org/officeDocument/2006/relationships/image" Target="../media/image143.emf"/><Relationship Id="rId34" Type="http://schemas.openxmlformats.org/officeDocument/2006/relationships/image" Target="../media/image150.emf"/><Relationship Id="rId7" Type="http://schemas.openxmlformats.org/officeDocument/2006/relationships/image" Target="../media/image136.e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41.emf"/><Relationship Id="rId25" Type="http://schemas.openxmlformats.org/officeDocument/2006/relationships/image" Target="../media/image145.emf"/><Relationship Id="rId33" Type="http://schemas.openxmlformats.org/officeDocument/2006/relationships/oleObject" Target="../embeddings/oleObject109.bin"/><Relationship Id="rId2" Type="http://schemas.openxmlformats.org/officeDocument/2006/relationships/oleObject" Target="../embeddings/oleObject101.bin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29" Type="http://schemas.openxmlformats.org/officeDocument/2006/relationships/image" Target="../media/image147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38.emf"/><Relationship Id="rId24" Type="http://schemas.openxmlformats.org/officeDocument/2006/relationships/oleObject" Target="../embeddings/oleObject96.bin"/><Relationship Id="rId32" Type="http://schemas.openxmlformats.org/officeDocument/2006/relationships/image" Target="../media/image149.emf"/><Relationship Id="rId5" Type="http://schemas.openxmlformats.org/officeDocument/2006/relationships/image" Target="../media/image135.emf"/><Relationship Id="rId15" Type="http://schemas.openxmlformats.org/officeDocument/2006/relationships/image" Target="../media/image140.emf"/><Relationship Id="rId23" Type="http://schemas.openxmlformats.org/officeDocument/2006/relationships/image" Target="../media/image144.emf"/><Relationship Id="rId28" Type="http://schemas.openxmlformats.org/officeDocument/2006/relationships/oleObject" Target="../embeddings/oleObject107.bin"/><Relationship Id="rId36" Type="http://schemas.openxmlformats.org/officeDocument/2006/relationships/image" Target="../media/image152.emf"/><Relationship Id="rId10" Type="http://schemas.openxmlformats.org/officeDocument/2006/relationships/oleObject" Target="../embeddings/oleObject105.bin"/><Relationship Id="rId19" Type="http://schemas.openxmlformats.org/officeDocument/2006/relationships/image" Target="../media/image142.emf"/><Relationship Id="rId31" Type="http://schemas.openxmlformats.org/officeDocument/2006/relationships/image" Target="../media/image148.e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37.e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146.emf"/><Relationship Id="rId30" Type="http://schemas.openxmlformats.org/officeDocument/2006/relationships/oleObject" Target="../embeddings/oleObject108.bin"/><Relationship Id="rId35" Type="http://schemas.openxmlformats.org/officeDocument/2006/relationships/image" Target="../media/image151.emf"/><Relationship Id="rId8" Type="http://schemas.openxmlformats.org/officeDocument/2006/relationships/oleObject" Target="../embeddings/oleObject104.bin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4.png"/><Relationship Id="rId1" Type="http://schemas.openxmlformats.org/officeDocument/2006/relationships/slideLayout" Target="../slideLayouts/slideLayout3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5.png"/><Relationship Id="rId1" Type="http://schemas.openxmlformats.org/officeDocument/2006/relationships/slideLayout" Target="../slideLayouts/slideLayout3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6.png"/><Relationship Id="rId1" Type="http://schemas.openxmlformats.org/officeDocument/2006/relationships/slideLayout" Target="../slideLayouts/slideLayout3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7.png"/><Relationship Id="rId1" Type="http://schemas.openxmlformats.org/officeDocument/2006/relationships/slideLayout" Target="../slideLayouts/slideLayout3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34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59.emf"/><Relationship Id="rId18" Type="http://schemas.openxmlformats.org/officeDocument/2006/relationships/oleObject" Target="../embeddings/oleObject117.bin"/><Relationship Id="rId26" Type="http://schemas.openxmlformats.org/officeDocument/2006/relationships/oleObject" Target="../embeddings/oleObject121.bin"/><Relationship Id="rId3" Type="http://schemas.openxmlformats.org/officeDocument/2006/relationships/image" Target="../media/image154.emf"/><Relationship Id="rId21" Type="http://schemas.openxmlformats.org/officeDocument/2006/relationships/image" Target="../media/image163.emf"/><Relationship Id="rId7" Type="http://schemas.openxmlformats.org/officeDocument/2006/relationships/image" Target="../media/image156.e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61.emf"/><Relationship Id="rId25" Type="http://schemas.openxmlformats.org/officeDocument/2006/relationships/image" Target="../media/image165.emf"/><Relationship Id="rId33" Type="http://schemas.openxmlformats.org/officeDocument/2006/relationships/image" Target="../media/image442.png"/><Relationship Id="rId2" Type="http://schemas.openxmlformats.org/officeDocument/2006/relationships/oleObject" Target="../embeddings/oleObject85.bin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18.bin"/><Relationship Id="rId29" Type="http://schemas.openxmlformats.org/officeDocument/2006/relationships/image" Target="../media/image167.emf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58.emf"/><Relationship Id="rId24" Type="http://schemas.openxmlformats.org/officeDocument/2006/relationships/oleObject" Target="../embeddings/oleObject120.bin"/><Relationship Id="rId5" Type="http://schemas.openxmlformats.org/officeDocument/2006/relationships/image" Target="../media/image155.emf"/><Relationship Id="rId15" Type="http://schemas.openxmlformats.org/officeDocument/2006/relationships/image" Target="../media/image160.emf"/><Relationship Id="rId23" Type="http://schemas.openxmlformats.org/officeDocument/2006/relationships/image" Target="../media/image164.emf"/><Relationship Id="rId28" Type="http://schemas.openxmlformats.org/officeDocument/2006/relationships/oleObject" Target="../embeddings/oleObject122.bin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162.emf"/><Relationship Id="rId31" Type="http://schemas.openxmlformats.org/officeDocument/2006/relationships/image" Target="../media/image168.e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57.emf"/><Relationship Id="rId14" Type="http://schemas.openxmlformats.org/officeDocument/2006/relationships/oleObject" Target="../embeddings/oleObject115.bin"/><Relationship Id="rId22" Type="http://schemas.openxmlformats.org/officeDocument/2006/relationships/oleObject" Target="../embeddings/oleObject119.bin"/><Relationship Id="rId27" Type="http://schemas.openxmlformats.org/officeDocument/2006/relationships/image" Target="../media/image166.emf"/><Relationship Id="rId30" Type="http://schemas.openxmlformats.org/officeDocument/2006/relationships/oleObject" Target="../embeddings/oleObject123.bin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258888" y="1341438"/>
            <a:ext cx="6400800" cy="782637"/>
          </a:xfrm>
        </p:spPr>
        <p:txBody>
          <a:bodyPr/>
          <a:lstStyle/>
          <a:p>
            <a:pPr eaLnBrk="1" hangingPunct="1"/>
            <a:r>
              <a:rPr lang="zh-CN" altLang="en-US" sz="4400" b="1">
                <a:latin typeface="Times New Roman" pitchFamily="18" charset="0"/>
              </a:rPr>
              <a:t>第</a:t>
            </a:r>
            <a:r>
              <a:rPr lang="en-US" altLang="zh-CN" sz="4400" b="1">
                <a:latin typeface="Times New Roman" pitchFamily="18" charset="0"/>
              </a:rPr>
              <a:t>6</a:t>
            </a:r>
            <a:r>
              <a:rPr lang="zh-CN" altLang="en-US" sz="4400" b="1">
                <a:latin typeface="Times New Roman" pitchFamily="18" charset="0"/>
              </a:rPr>
              <a:t>章 图论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763588" y="2222500"/>
            <a:ext cx="7481887" cy="560388"/>
          </a:xfrm>
        </p:spPr>
        <p:txBody>
          <a:bodyPr/>
          <a:lstStyle/>
          <a:p>
            <a:pPr eaLnBrk="1" hangingPunct="1"/>
            <a:r>
              <a:rPr lang="en-US" altLang="zh-CN" sz="3600" b="1">
                <a:solidFill>
                  <a:schemeClr val="tx1"/>
                </a:solidFill>
                <a:latin typeface="Times New Roman" pitchFamily="18" charset="0"/>
              </a:rPr>
              <a:t>6.5 </a:t>
            </a:r>
            <a:r>
              <a:rPr lang="zh-CN" altLang="en-US"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图的连通性</a:t>
            </a:r>
          </a:p>
        </p:txBody>
      </p:sp>
      <p:sp>
        <p:nvSpPr>
          <p:cNvPr id="96259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258888" y="908050"/>
            <a:ext cx="6400800" cy="782638"/>
          </a:xfrm>
        </p:spPr>
        <p:txBody>
          <a:bodyPr/>
          <a:lstStyle/>
          <a:p>
            <a:pPr eaLnBrk="1" hangingPunct="1"/>
            <a:r>
              <a:rPr lang="zh-CN" altLang="en-US" sz="4400" b="1">
                <a:latin typeface="Times New Roman" pitchFamily="18" charset="0"/>
              </a:rPr>
              <a:t>第</a:t>
            </a:r>
            <a:r>
              <a:rPr lang="en-US" altLang="zh-CN" sz="4400" b="1">
                <a:latin typeface="Times New Roman" pitchFamily="18" charset="0"/>
              </a:rPr>
              <a:t>6</a:t>
            </a:r>
            <a:r>
              <a:rPr lang="zh-CN" altLang="en-US" sz="4400" b="1">
                <a:latin typeface="Times New Roman" pitchFamily="18" charset="0"/>
              </a:rPr>
              <a:t>章 图论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7FABE4-B449-40A5-BB84-C5DA11B2F408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97283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>
                <a:latin typeface="Times New Roman" pitchFamily="18" charset="0"/>
              </a:rPr>
              <a:t>6.5  </a:t>
            </a:r>
            <a:r>
              <a:rPr lang="zh-CN" altLang="en-US" b="1">
                <a:latin typeface="Times New Roman" pitchFamily="18" charset="0"/>
              </a:rPr>
              <a:t>图的连通性</a:t>
            </a:r>
            <a:endParaRPr lang="zh-CN" altLang="en-US" b="1"/>
          </a:p>
        </p:txBody>
      </p:sp>
      <p:sp>
        <p:nvSpPr>
          <p:cNvPr id="97284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97285" name="Group 4"/>
          <p:cNvGrpSpPr>
            <a:grpSpLocks/>
          </p:cNvGrpSpPr>
          <p:nvPr/>
        </p:nvGrpSpPr>
        <p:grpSpPr bwMode="auto">
          <a:xfrm>
            <a:off x="1042988" y="1365250"/>
            <a:ext cx="5410200" cy="712788"/>
            <a:chOff x="1152" y="1101"/>
            <a:chExt cx="3408" cy="449"/>
          </a:xfrm>
        </p:grpSpPr>
        <p:grpSp>
          <p:nvGrpSpPr>
            <p:cNvPr id="97303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97307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08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52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7304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305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无向图的连通性</a:t>
              </a:r>
            </a:p>
          </p:txBody>
        </p:sp>
        <p:sp>
          <p:nvSpPr>
            <p:cNvPr id="97306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97286" name="Group 12"/>
          <p:cNvGrpSpPr>
            <a:grpSpLocks/>
          </p:cNvGrpSpPr>
          <p:nvPr/>
        </p:nvGrpSpPr>
        <p:grpSpPr bwMode="auto">
          <a:xfrm>
            <a:off x="1042988" y="2708275"/>
            <a:ext cx="7827962" cy="712788"/>
            <a:chOff x="1152" y="1677"/>
            <a:chExt cx="4931" cy="449"/>
          </a:xfrm>
        </p:grpSpPr>
        <p:grpSp>
          <p:nvGrpSpPr>
            <p:cNvPr id="97296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97300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01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60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7297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298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39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无向连通图的点连通度与边连通度</a:t>
              </a:r>
            </a:p>
          </p:txBody>
        </p:sp>
        <p:sp>
          <p:nvSpPr>
            <p:cNvPr id="97299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97287" name="Group 20"/>
          <p:cNvGrpSpPr>
            <a:grpSpLocks/>
          </p:cNvGrpSpPr>
          <p:nvPr/>
        </p:nvGrpSpPr>
        <p:grpSpPr bwMode="auto">
          <a:xfrm>
            <a:off x="1042988" y="4076700"/>
            <a:ext cx="5410200" cy="712788"/>
            <a:chOff x="1152" y="2239"/>
            <a:chExt cx="3408" cy="449"/>
          </a:xfrm>
        </p:grpSpPr>
        <p:grpSp>
          <p:nvGrpSpPr>
            <p:cNvPr id="97289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97293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294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68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7290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291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有向图的连通性</a:t>
              </a:r>
            </a:p>
          </p:txBody>
        </p:sp>
        <p:sp>
          <p:nvSpPr>
            <p:cNvPr id="97292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sp>
        <p:nvSpPr>
          <p:cNvPr id="97288" name="Rectangle 28"/>
          <p:cNvSpPr>
            <a:spLocks noChangeArrowheads="1"/>
          </p:cNvSpPr>
          <p:nvPr/>
        </p:nvSpPr>
        <p:spPr bwMode="auto">
          <a:xfrm>
            <a:off x="900113" y="1196975"/>
            <a:ext cx="7970837" cy="2447925"/>
          </a:xfrm>
          <a:prstGeom prst="rect">
            <a:avLst/>
          </a:prstGeom>
          <a:noFill/>
          <a:ln w="38100" algn="ctr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61DD1C-F902-415F-AAAB-BCF780552E6B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98307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6.5  </a:t>
            </a:r>
            <a:r>
              <a:rPr lang="zh-CN" altLang="en-US" b="1">
                <a:latin typeface="Times New Roman" pitchFamily="18" charset="0"/>
              </a:rPr>
              <a:t>图的连通性</a:t>
            </a:r>
          </a:p>
        </p:txBody>
      </p:sp>
      <p:sp>
        <p:nvSpPr>
          <p:cNvPr id="98308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图的基本性质之一是其连通性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它与图中从节点到节点的路密切相关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图的连通性讨论节点与节点之间的另外一种关系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DF6ACD-7307-459D-A305-E158091196B1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9933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为了讨论方便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先给出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6-16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在任何图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若从节点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存在一条路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可达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(accessible).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总存在一条长度为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因此任意节点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自身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先讨论无向图的连通性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CAE87D-DEFE-41D9-A4F3-6F838F9F9BB8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0035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6.5.1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无向图的连通性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6-17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中任意两个节点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均可达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连通图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(connected graph).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100356" name="Oval 3"/>
          <p:cNvSpPr>
            <a:spLocks noChangeArrowheads="1"/>
          </p:cNvSpPr>
          <p:nvPr/>
        </p:nvSpPr>
        <p:spPr bwMode="auto">
          <a:xfrm>
            <a:off x="1403350" y="35004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7" name="Oval 4"/>
          <p:cNvSpPr>
            <a:spLocks noChangeArrowheads="1"/>
          </p:cNvSpPr>
          <p:nvPr/>
        </p:nvSpPr>
        <p:spPr bwMode="auto">
          <a:xfrm>
            <a:off x="1331913" y="50133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8" name="Oval 5"/>
          <p:cNvSpPr>
            <a:spLocks noChangeArrowheads="1"/>
          </p:cNvSpPr>
          <p:nvPr/>
        </p:nvSpPr>
        <p:spPr bwMode="auto">
          <a:xfrm>
            <a:off x="2124075" y="42926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9" name="Oval 6"/>
          <p:cNvSpPr>
            <a:spLocks noChangeArrowheads="1"/>
          </p:cNvSpPr>
          <p:nvPr/>
        </p:nvSpPr>
        <p:spPr bwMode="auto">
          <a:xfrm>
            <a:off x="2771775" y="35734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0" name="Oval 7"/>
          <p:cNvSpPr>
            <a:spLocks noChangeArrowheads="1"/>
          </p:cNvSpPr>
          <p:nvPr/>
        </p:nvSpPr>
        <p:spPr bwMode="auto">
          <a:xfrm>
            <a:off x="2771775" y="50133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1" name="Oval 8"/>
          <p:cNvSpPr>
            <a:spLocks noChangeArrowheads="1"/>
          </p:cNvSpPr>
          <p:nvPr/>
        </p:nvSpPr>
        <p:spPr bwMode="auto">
          <a:xfrm>
            <a:off x="4716463" y="38608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2" name="Oval 9"/>
          <p:cNvSpPr>
            <a:spLocks noChangeArrowheads="1"/>
          </p:cNvSpPr>
          <p:nvPr/>
        </p:nvSpPr>
        <p:spPr bwMode="auto">
          <a:xfrm>
            <a:off x="5292725" y="51577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3" name="Oval 10"/>
          <p:cNvSpPr>
            <a:spLocks noChangeArrowheads="1"/>
          </p:cNvSpPr>
          <p:nvPr/>
        </p:nvSpPr>
        <p:spPr bwMode="auto">
          <a:xfrm>
            <a:off x="5364163" y="32845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4" name="Oval 11"/>
          <p:cNvSpPr>
            <a:spLocks noChangeArrowheads="1"/>
          </p:cNvSpPr>
          <p:nvPr/>
        </p:nvSpPr>
        <p:spPr bwMode="auto">
          <a:xfrm>
            <a:off x="6372225" y="41497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5" name="Oval 12"/>
          <p:cNvSpPr>
            <a:spLocks noChangeArrowheads="1"/>
          </p:cNvSpPr>
          <p:nvPr/>
        </p:nvSpPr>
        <p:spPr bwMode="auto">
          <a:xfrm>
            <a:off x="7308850" y="522922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6" name="Oval 13"/>
          <p:cNvSpPr>
            <a:spLocks noChangeArrowheads="1"/>
          </p:cNvSpPr>
          <p:nvPr/>
        </p:nvSpPr>
        <p:spPr bwMode="auto">
          <a:xfrm>
            <a:off x="7308850" y="33575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7" name="Line 14"/>
          <p:cNvSpPr>
            <a:spLocks noChangeShapeType="1"/>
          </p:cNvSpPr>
          <p:nvPr/>
        </p:nvSpPr>
        <p:spPr bwMode="auto">
          <a:xfrm>
            <a:off x="1476375" y="3573463"/>
            <a:ext cx="1366838" cy="1511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68" name="Line 15"/>
          <p:cNvSpPr>
            <a:spLocks noChangeShapeType="1"/>
          </p:cNvSpPr>
          <p:nvPr/>
        </p:nvSpPr>
        <p:spPr bwMode="auto">
          <a:xfrm flipV="1">
            <a:off x="1441450" y="4365625"/>
            <a:ext cx="720725" cy="7191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69" name="Line 16"/>
          <p:cNvSpPr>
            <a:spLocks noChangeShapeType="1"/>
          </p:cNvSpPr>
          <p:nvPr/>
        </p:nvSpPr>
        <p:spPr bwMode="auto">
          <a:xfrm>
            <a:off x="2843213" y="3644900"/>
            <a:ext cx="0" cy="15128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0" name="Line 17"/>
          <p:cNvSpPr>
            <a:spLocks noChangeShapeType="1"/>
          </p:cNvSpPr>
          <p:nvPr/>
        </p:nvSpPr>
        <p:spPr bwMode="auto">
          <a:xfrm>
            <a:off x="4787900" y="3933825"/>
            <a:ext cx="576263" cy="1295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1" name="Line 18"/>
          <p:cNvSpPr>
            <a:spLocks noChangeShapeType="1"/>
          </p:cNvSpPr>
          <p:nvPr/>
        </p:nvSpPr>
        <p:spPr bwMode="auto">
          <a:xfrm>
            <a:off x="5435600" y="3357563"/>
            <a:ext cx="0" cy="18716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0372" name="Object 19"/>
          <p:cNvGraphicFramePr>
            <a:graphicFrameLocks noChangeAspect="1"/>
          </p:cNvGraphicFramePr>
          <p:nvPr/>
        </p:nvGraphicFramePr>
        <p:xfrm>
          <a:off x="1865313" y="5316538"/>
          <a:ext cx="5921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446" imgH="104760" progId="Equation.3">
                  <p:embed/>
                </p:oleObj>
              </mc:Choice>
              <mc:Fallback>
                <p:oleObj name="Equation" r:id="rId2" imgW="133446" imgH="1047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313" y="5316538"/>
                        <a:ext cx="59213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3" name="Object 20"/>
          <p:cNvGraphicFramePr>
            <a:graphicFrameLocks noChangeAspect="1"/>
          </p:cNvGraphicFramePr>
          <p:nvPr/>
        </p:nvGraphicFramePr>
        <p:xfrm>
          <a:off x="6084888" y="5300663"/>
          <a:ext cx="5921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446" imgH="104760" progId="Equation.3">
                  <p:embed/>
                </p:oleObj>
              </mc:Choice>
              <mc:Fallback>
                <p:oleObj name="Equation" r:id="rId4" imgW="133446" imgH="10476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5300663"/>
                        <a:ext cx="59213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4" name="Line 21"/>
          <p:cNvSpPr>
            <a:spLocks noChangeShapeType="1"/>
          </p:cNvSpPr>
          <p:nvPr/>
        </p:nvSpPr>
        <p:spPr bwMode="auto">
          <a:xfrm>
            <a:off x="7380288" y="3429000"/>
            <a:ext cx="0" cy="18002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AFEABD-79BB-4FC6-BE05-D0312389D5C7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0137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极大的连通子图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连通分支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(connected component),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的连通分支数记为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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由定义知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的连通分支满足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个条件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连通分支是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的子图；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该子图本身是连通图；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在该子图中再添加原图的任意边或节点都不连通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6A63F3-9D7B-4A08-913B-285F887C6FC3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0240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6-26(a)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中图仅一个连通分支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6-26(b)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中图有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个连通分支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altLang="zh-CN" dirty="0"/>
          </a:p>
        </p:txBody>
      </p:sp>
      <p:pic>
        <p:nvPicPr>
          <p:cNvPr id="102404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700213"/>
            <a:ext cx="698500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655A2A-F92F-4BBA-8999-0287F281FC7C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0445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6-4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是连通图当且仅当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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1.</a:t>
            </a:r>
          </a:p>
          <a:p>
            <a:pPr eaLnBrk="1" hangingPunct="1">
              <a:lnSpc>
                <a:spcPct val="130000"/>
              </a:lnSpc>
            </a:pPr>
            <a:endParaRPr lang="en-US" altLang="zh-CN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是非连通图当且仅当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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347C4F-574A-4736-8837-13A078DA7692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2"/>
              <p:cNvSpPr>
                <a:spLocks noGrp="1" noRot="1" noChangeArrowheads="1"/>
              </p:cNvSpPr>
              <p:nvPr>
                <p:ph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例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6-5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不连通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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  <a:sym typeface="Symbol" pitchFamily="18" charset="2"/>
                          </a:rPr>
                          <m:t>𝑮</m:t>
                        </m:r>
                      </m:e>
                    </m:acc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连通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.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Hint 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  <a:sym typeface="Symbol" pitchFamily="18" charset="2"/>
                          </a:rPr>
                          <m:t>𝑮</m:t>
                        </m:r>
                      </m:e>
                    </m:acc>
                    <m:r>
                      <a:rPr lang="en-US" altLang="zh-CN" b="1" i="1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中任取两节点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,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v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: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(1)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若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,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v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在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中不邻接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则在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  <a:sym typeface="Symbol" pitchFamily="18" charset="2"/>
                          </a:rPr>
                          <m:t>𝑮</m:t>
                        </m:r>
                      </m:e>
                    </m:acc>
                    <m:r>
                      <a:rPr lang="en-US" altLang="zh-CN" b="1" i="1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中邻接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.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(2)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若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,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v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在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中邻接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则可在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的另一个</a:t>
                </a:r>
                <a:endPara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  <a:p>
                <a:pPr marL="0" indent="0" eaLnBrk="1" hangingPunct="1">
                  <a:lnSpc>
                    <a:spcPct val="12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    连通</a:t>
                </a:r>
                <a:r>
                  <a:rPr lang="zh-CN" altLang="en-US" b="1" dirty="0">
                    <a:latin typeface="楷体" panose="02010609060101010101" pitchFamily="49" charset="-122"/>
                    <a:ea typeface="楷体" panose="02010609060101010101" pitchFamily="49" charset="-122"/>
                    <a:sym typeface="Symbol" pitchFamily="18" charset="2"/>
                  </a:rPr>
                  <a:t>分支中任取一个节点</a:t>
                </a:r>
                <a:r>
                  <a:rPr lang="en-US" altLang="zh-CN" b="1" i="1" dirty="0">
                    <a:latin typeface="Times New Roman" pitchFamily="18" charset="0"/>
                    <a:ea typeface="楷体_GB2312" pitchFamily="49" charset="-122"/>
                    <a:sym typeface="Symbol" pitchFamily="18" charset="2"/>
                  </a:rPr>
                  <a:t>w</a:t>
                </a:r>
                <a:r>
                  <a:rPr lang="en-US" altLang="zh-CN" b="1" dirty="0">
                    <a:latin typeface="Times New Roman" pitchFamily="18" charset="0"/>
                    <a:ea typeface="楷体_GB2312" pitchFamily="49" charset="-122"/>
                    <a:sym typeface="Symbol" pitchFamily="18" charset="2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  <a:sym typeface="Symbol" pitchFamily="18" charset="2"/>
                          </a:rPr>
                          <m:t>𝑮</m:t>
                        </m:r>
                      </m:e>
                    </m:acc>
                    <m:r>
                      <a:rPr lang="en-US" altLang="zh-CN" b="1" i="1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中</a:t>
                </a:r>
                <a:r>
                  <a:rPr lang="en-US" altLang="zh-CN" b="1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uwv</a:t>
                </a:r>
                <a:r>
                  <a:rPr lang="en-US" altLang="zh-CN" b="1" dirty="0">
                    <a:latin typeface="Times New Roman" pitchFamily="18" charset="0"/>
                    <a:ea typeface="楷体_GB2312" pitchFamily="49" charset="-122"/>
                    <a:sym typeface="Symbol" pitchFamily="18" charset="2"/>
                  </a:rPr>
                  <a:t>.</a:t>
                </a:r>
              </a:p>
              <a:p>
                <a:pPr eaLnBrk="1" hangingPunct="1">
                  <a:lnSpc>
                    <a:spcPct val="120000"/>
                  </a:lnSpc>
                </a:pPr>
                <a:endParaRPr lang="en-US" altLang="zh-CN" b="1" dirty="0">
                  <a:latin typeface="Times New Roman" pitchFamily="18" charset="0"/>
                  <a:ea typeface="楷体_GB2312" pitchFamily="49" charset="-122"/>
                  <a:sym typeface="Symbol" pitchFamily="18" charset="2"/>
                </a:endParaRPr>
              </a:p>
              <a:p>
                <a:pPr marL="0" indent="0" eaLnBrk="1" hangingPunct="1">
                  <a:lnSpc>
                    <a:spcPct val="120000"/>
                  </a:lnSpc>
                  <a:buNone/>
                </a:pPr>
                <a:endParaRPr lang="en-US" altLang="zh-CN" b="1" dirty="0">
                  <a:latin typeface="Times New Roman" pitchFamily="18" charset="0"/>
                  <a:ea typeface="楷体_GB2312" pitchFamily="49" charset="-122"/>
                  <a:sym typeface="Symbol" pitchFamily="18" charset="2"/>
                </a:endParaRPr>
              </a:p>
              <a:p>
                <a:pPr marL="0" indent="0" eaLnBrk="1" hangingPunct="1">
                  <a:lnSpc>
                    <a:spcPct val="120000"/>
                  </a:lnSpc>
                  <a:buNone/>
                </a:pPr>
                <a:r>
                  <a:rPr lang="en-US" altLang="zh-CN" b="1" dirty="0">
                    <a:latin typeface="Times New Roman" pitchFamily="18" charset="0"/>
                    <a:ea typeface="楷体_GB2312" pitchFamily="49" charset="-122"/>
                    <a:cs typeface="Times New Roman" panose="02020603050405020304" pitchFamily="18" charset="0"/>
                    <a:sym typeface="Symbol" pitchFamily="18" charset="2"/>
                  </a:rPr>
                  <a:t>                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  <a:sym typeface="Symbol" pitchFamily="18" charset="2"/>
                          </a:rPr>
                          <m:t>𝑮</m:t>
                        </m:r>
                      </m:e>
                    </m:acc>
                  </m:oMath>
                </a14:m>
                <a:endParaRPr lang="en-US" altLang="zh-CN" b="1" dirty="0">
                  <a:latin typeface="Times New Roman" pitchFamily="18" charset="0"/>
                  <a:ea typeface="楷体_GB2312" pitchFamily="49" charset="-122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536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 rotWithShape="1">
                <a:blip r:embed="rId4"/>
                <a:stretch>
                  <a:fillRect l="-1070" t="-10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5" name="Oval 4"/>
          <p:cNvSpPr>
            <a:spLocks noChangeArrowheads="1"/>
          </p:cNvSpPr>
          <p:nvPr/>
        </p:nvSpPr>
        <p:spPr bwMode="auto">
          <a:xfrm>
            <a:off x="4227513" y="431165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6" name="Oval 5"/>
          <p:cNvSpPr>
            <a:spLocks noChangeArrowheads="1"/>
          </p:cNvSpPr>
          <p:nvPr/>
        </p:nvSpPr>
        <p:spPr bwMode="auto">
          <a:xfrm>
            <a:off x="2339975" y="3716338"/>
            <a:ext cx="719138" cy="14398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7" name="Oval 6"/>
          <p:cNvSpPr>
            <a:spLocks noChangeArrowheads="1"/>
          </p:cNvSpPr>
          <p:nvPr/>
        </p:nvSpPr>
        <p:spPr bwMode="auto">
          <a:xfrm>
            <a:off x="2771775" y="40052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8" name="Oval 7"/>
          <p:cNvSpPr>
            <a:spLocks noChangeArrowheads="1"/>
          </p:cNvSpPr>
          <p:nvPr/>
        </p:nvSpPr>
        <p:spPr bwMode="auto">
          <a:xfrm>
            <a:off x="2771775" y="47244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9" name="Line 8"/>
          <p:cNvSpPr>
            <a:spLocks noChangeShapeType="1"/>
          </p:cNvSpPr>
          <p:nvPr/>
        </p:nvSpPr>
        <p:spPr bwMode="auto">
          <a:xfrm>
            <a:off x="2916238" y="4076700"/>
            <a:ext cx="1311275" cy="3071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0" name="Line 9"/>
          <p:cNvSpPr>
            <a:spLocks noChangeShapeType="1"/>
          </p:cNvSpPr>
          <p:nvPr/>
        </p:nvSpPr>
        <p:spPr bwMode="auto">
          <a:xfrm flipV="1">
            <a:off x="2843214" y="4436269"/>
            <a:ext cx="1384300" cy="3611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371" name="Object 10"/>
          <p:cNvGraphicFramePr>
            <a:graphicFrameLocks noChangeAspect="1"/>
          </p:cNvGraphicFramePr>
          <p:nvPr/>
        </p:nvGraphicFramePr>
        <p:xfrm>
          <a:off x="4427538" y="4221163"/>
          <a:ext cx="39528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91" imgH="129600" progId="Equation.3">
                  <p:embed/>
                </p:oleObj>
              </mc:Choice>
              <mc:Fallback>
                <p:oleObj name="Equation" r:id="rId5" imgW="144791" imgH="12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221163"/>
                        <a:ext cx="39528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Object 11"/>
          <p:cNvGraphicFramePr>
            <a:graphicFrameLocks noChangeAspect="1"/>
          </p:cNvGraphicFramePr>
          <p:nvPr/>
        </p:nvGraphicFramePr>
        <p:xfrm>
          <a:off x="2411413" y="3933825"/>
          <a:ext cx="3286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1884" imgH="129600" progId="Equation.3">
                  <p:embed/>
                </p:oleObj>
              </mc:Choice>
              <mc:Fallback>
                <p:oleObj name="Equation" r:id="rId7" imgW="121884" imgH="12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933825"/>
                        <a:ext cx="32861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12"/>
          <p:cNvGraphicFramePr>
            <a:graphicFrameLocks noChangeAspect="1"/>
          </p:cNvGraphicFramePr>
          <p:nvPr/>
        </p:nvGraphicFramePr>
        <p:xfrm>
          <a:off x="2411413" y="4652963"/>
          <a:ext cx="2952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6757" imgH="129600" progId="Equation.3">
                  <p:embed/>
                </p:oleObj>
              </mc:Choice>
              <mc:Fallback>
                <p:oleObj name="Equation" r:id="rId9" imgW="106757" imgH="12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652963"/>
                        <a:ext cx="29527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Text Box 13"/>
          <p:cNvSpPr txBox="1">
            <a:spLocks noChangeArrowheads="1"/>
          </p:cNvSpPr>
          <p:nvPr/>
        </p:nvSpPr>
        <p:spPr bwMode="auto">
          <a:xfrm>
            <a:off x="7967989" y="548681"/>
            <a:ext cx="492443" cy="3167658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lvl1pPr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第一种方法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根据定义证明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9467652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50A85C-011B-4072-B783-B91FE147C949}" type="slidenum">
              <a:rPr lang="en-US" altLang="zh-CN"/>
              <a:pPr>
                <a:defRPr/>
              </a:pPr>
              <a:t>10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Rectangle 2"/>
              <p:cNvSpPr>
                <a:spLocks noGrp="1" noRot="1" noChangeArrowheads="1"/>
              </p:cNvSpPr>
              <p:nvPr>
                <p:ph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例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6-6 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(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阶简单无向图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若对于任意的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中不相邻的节点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有</a:t>
                </a:r>
                <a:endPara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   deg(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+ deg(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 - 1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 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是连通图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Hint (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反证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endPara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</a:pPr>
                <a:endParaRPr lang="en-US" altLang="zh-CN" b="1" dirty="0">
                  <a:latin typeface="Times New Roman" pitchFamily="18" charset="0"/>
                  <a:ea typeface="楷体_GB2312" pitchFamily="49" charset="-122"/>
                </a:endParaRPr>
              </a:p>
              <a:p>
                <a:pPr eaLnBrk="1" hangingPunct="1">
                  <a:lnSpc>
                    <a:spcPct val="120000"/>
                  </a:lnSpc>
                </a:pPr>
                <a:endParaRPr lang="en-US" altLang="zh-CN" b="1" dirty="0">
                  <a:latin typeface="Times New Roman" pitchFamily="18" charset="0"/>
                </a:endParaRPr>
              </a:p>
              <a:p>
                <a:pPr eaLnBrk="1" hangingPunct="1"/>
                <a:endParaRPr lang="en-US" altLang="zh-CN" b="1" dirty="0">
                  <a:latin typeface="Times New Roman" pitchFamily="18" charset="0"/>
                </a:endParaRPr>
              </a:p>
              <a:p>
                <a:pPr eaLnBrk="1" hangingPunct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deg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𝑢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r>
                  <a:rPr lang="en-US" altLang="zh-CN" dirty="0">
                    <a:latin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deg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𝑣</m:t>
                            </m:r>
                          </m:e>
                        </m:d>
                      </m:e>
                    </m:func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r>
                  <a:rPr lang="en-US" altLang="zh-CN" dirty="0">
                    <a:latin typeface="Times New Roman" pitchFamily="18" charset="0"/>
                  </a:rPr>
                  <a:t>, </a:t>
                </a:r>
              </a:p>
              <a:p>
                <a:pPr eaLnBrk="1" hangingPunct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/>
                          </a:rPr>
                          <m:t>deg</m:t>
                        </m:r>
                      </m:fName>
                      <m:e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/>
                          </a:rPr>
                          <m:t>+</m:t>
                        </m:r>
                      </m:e>
                    </m:func>
                    <m:func>
                      <m:func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/>
                          </a:rPr>
                          <m:t>deg</m:t>
                        </m:r>
                      </m:fName>
                      <m:e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/>
                              </a:rPr>
                              <m:t>𝑣</m:t>
                            </m:r>
                          </m:e>
                        </m:d>
                      </m:e>
                    </m:func>
                    <m:r>
                      <a:rPr lang="en-US" altLang="zh-CN" sz="2800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sz="2800" i="1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CN" sz="2800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CN" sz="28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/>
                        <a:ea typeface="Cambria Math"/>
                      </a:rPr>
                      <m:t>)</m:t>
                    </m:r>
                    <m:r>
                      <a:rPr lang="en-US" altLang="zh-CN" sz="2800" i="1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altLang="zh-CN" sz="2800" dirty="0">
                    <a:latin typeface="Times New Roman" pitchFamily="18" charset="0"/>
                  </a:rPr>
                  <a:t>2</a:t>
                </a:r>
                <a:r>
                  <a:rPr lang="en-US" altLang="zh-CN" sz="2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28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800" b="0" i="1" smtClean="0">
                        <a:latin typeface="Cambria Math"/>
                        <a:ea typeface="Cambria Math"/>
                      </a:rPr>
                      <m:t>−2</m:t>
                    </m:r>
                  </m:oMath>
                </a14:m>
                <a:r>
                  <a:rPr lang="en-US" altLang="zh-CN" dirty="0">
                    <a:latin typeface="Times New Roman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387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070" t="-1038" b="-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8" name="Oval 3"/>
          <p:cNvSpPr>
            <a:spLocks noChangeArrowheads="1"/>
          </p:cNvSpPr>
          <p:nvPr/>
        </p:nvSpPr>
        <p:spPr bwMode="auto">
          <a:xfrm>
            <a:off x="2339975" y="2924175"/>
            <a:ext cx="719138" cy="17287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9" name="Oval 4"/>
          <p:cNvSpPr>
            <a:spLocks noChangeArrowheads="1"/>
          </p:cNvSpPr>
          <p:nvPr/>
        </p:nvSpPr>
        <p:spPr bwMode="auto">
          <a:xfrm>
            <a:off x="4716463" y="2997200"/>
            <a:ext cx="792162" cy="1295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390" name="Object 5"/>
          <p:cNvGraphicFramePr>
            <a:graphicFrameLocks noChangeAspect="1"/>
          </p:cNvGraphicFramePr>
          <p:nvPr/>
        </p:nvGraphicFramePr>
        <p:xfrm>
          <a:off x="2627313" y="3284538"/>
          <a:ext cx="32861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884" imgH="129600" progId="Equation.3">
                  <p:embed/>
                </p:oleObj>
              </mc:Choice>
              <mc:Fallback>
                <p:oleObj name="Equation" r:id="rId3" imgW="121884" imgH="12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284538"/>
                        <a:ext cx="32861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Oval 6"/>
          <p:cNvSpPr>
            <a:spLocks noChangeArrowheads="1"/>
          </p:cNvSpPr>
          <p:nvPr/>
        </p:nvSpPr>
        <p:spPr bwMode="auto">
          <a:xfrm>
            <a:off x="5076825" y="3716338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2" name="Oval 7"/>
          <p:cNvSpPr>
            <a:spLocks noChangeArrowheads="1"/>
          </p:cNvSpPr>
          <p:nvPr/>
        </p:nvSpPr>
        <p:spPr bwMode="auto">
          <a:xfrm>
            <a:off x="2700338" y="3789363"/>
            <a:ext cx="144462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393" name="Object 8"/>
          <p:cNvGraphicFramePr>
            <a:graphicFrameLocks noChangeAspect="1"/>
          </p:cNvGraphicFramePr>
          <p:nvPr/>
        </p:nvGraphicFramePr>
        <p:xfrm>
          <a:off x="4932363" y="3357563"/>
          <a:ext cx="2952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6757" imgH="129600" progId="Equation.3">
                  <p:embed/>
                </p:oleObj>
              </mc:Choice>
              <mc:Fallback>
                <p:oleObj name="Equation" r:id="rId5" imgW="106757" imgH="12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357563"/>
                        <a:ext cx="29527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9"/>
          <p:cNvGraphicFramePr>
            <a:graphicFrameLocks noChangeAspect="1"/>
          </p:cNvGraphicFramePr>
          <p:nvPr/>
        </p:nvGraphicFramePr>
        <p:xfrm>
          <a:off x="6084888" y="3500438"/>
          <a:ext cx="9366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48" imgH="68688" progId="Equation.3">
                  <p:embed/>
                </p:oleObj>
              </mc:Choice>
              <mc:Fallback>
                <p:oleObj name="Equation" r:id="rId7" imgW="129448" imgH="686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3500438"/>
                        <a:ext cx="9366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8" name="Text Box 13"/>
          <p:cNvSpPr txBox="1">
            <a:spLocks noChangeArrowheads="1"/>
          </p:cNvSpPr>
          <p:nvPr/>
        </p:nvSpPr>
        <p:spPr bwMode="auto">
          <a:xfrm>
            <a:off x="7602835" y="2312144"/>
            <a:ext cx="461665" cy="2124968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lvl1pPr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第二种方法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反证法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019A2C-4032-292A-D51F-A4221C975C34}"/>
              </a:ext>
            </a:extLst>
          </p:cNvPr>
          <p:cNvSpPr txBox="1"/>
          <p:nvPr/>
        </p:nvSpPr>
        <p:spPr>
          <a:xfrm>
            <a:off x="2432982" y="4206279"/>
            <a:ext cx="558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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endParaRPr lang="zh-CN" altLang="en-US" sz="2400" baseline="-25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F4D7FF-C319-B556-607B-83EFA1492A74}"/>
              </a:ext>
            </a:extLst>
          </p:cNvPr>
          <p:cNvSpPr txBox="1"/>
          <p:nvPr/>
        </p:nvSpPr>
        <p:spPr>
          <a:xfrm>
            <a:off x="4929158" y="3887440"/>
            <a:ext cx="558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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endParaRPr lang="zh-CN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11021633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D98CE2-3B9E-406E-AC93-D274F0562A06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0854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6.5.2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无向连通图的点连通度与边连通度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对于无向连通图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其连通的程度是不同的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有些很“脆弱”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有的则相反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Facebook, Twitter</a:t>
            </a:r>
            <a:r>
              <a:rPr lang="zh-CN" altLang="en-US" b="1" dirty="0">
                <a:solidFill>
                  <a:schemeClr val="hlin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中考虑 “联系强度”</a:t>
            </a: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ED1D2F-B380-43BA-B1AA-FB5AAAA0E214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10957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点割集与点连通度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是连通无向图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</a:t>
            </a:r>
            <a:r>
              <a:rPr lang="en-US" altLang="zh-CN" b="1" dirty="0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(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– 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不连通或是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阶图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(ii)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删除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的任意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真子集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均连通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则称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点割集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(cut-set of vertices).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8477A5-E06A-4B6C-B60A-FC0AE2A0C154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1059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“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割”是分割、分离、分开的意思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恰使得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不连通或是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阶图所要去掉的节点集合称为的点割集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若点割集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},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为的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割点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(cut point)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或关节点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 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数据结构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?)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04411E-2814-4280-9019-8052207740F4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11161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点割集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};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};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 </a:t>
            </a:r>
          </a:p>
          <a:p>
            <a:pPr eaLnBrk="1" hangingPunct="1">
              <a:lnSpc>
                <a:spcPct val="120000"/>
              </a:lnSpc>
            </a:pP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2. </a:t>
            </a:r>
          </a:p>
        </p:txBody>
      </p:sp>
      <p:sp>
        <p:nvSpPr>
          <p:cNvPr id="111620" name="Oval 3"/>
          <p:cNvSpPr>
            <a:spLocks noChangeArrowheads="1"/>
          </p:cNvSpPr>
          <p:nvPr/>
        </p:nvSpPr>
        <p:spPr bwMode="auto">
          <a:xfrm>
            <a:off x="1547813" y="4048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1" name="Oval 4"/>
          <p:cNvSpPr>
            <a:spLocks noChangeArrowheads="1"/>
          </p:cNvSpPr>
          <p:nvPr/>
        </p:nvSpPr>
        <p:spPr bwMode="auto">
          <a:xfrm>
            <a:off x="2916238" y="13414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2" name="Oval 5"/>
          <p:cNvSpPr>
            <a:spLocks noChangeArrowheads="1"/>
          </p:cNvSpPr>
          <p:nvPr/>
        </p:nvSpPr>
        <p:spPr bwMode="auto">
          <a:xfrm>
            <a:off x="2916238" y="27082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3" name="Oval 6"/>
          <p:cNvSpPr>
            <a:spLocks noChangeArrowheads="1"/>
          </p:cNvSpPr>
          <p:nvPr/>
        </p:nvSpPr>
        <p:spPr bwMode="auto">
          <a:xfrm>
            <a:off x="1547813" y="33575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4" name="Oval 7"/>
          <p:cNvSpPr>
            <a:spLocks noChangeArrowheads="1"/>
          </p:cNvSpPr>
          <p:nvPr/>
        </p:nvSpPr>
        <p:spPr bwMode="auto">
          <a:xfrm>
            <a:off x="827088" y="17732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5" name="Oval 8"/>
          <p:cNvSpPr>
            <a:spLocks noChangeArrowheads="1"/>
          </p:cNvSpPr>
          <p:nvPr/>
        </p:nvSpPr>
        <p:spPr bwMode="auto">
          <a:xfrm>
            <a:off x="4859338" y="13414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6" name="Oval 9"/>
          <p:cNvSpPr>
            <a:spLocks noChangeArrowheads="1"/>
          </p:cNvSpPr>
          <p:nvPr/>
        </p:nvSpPr>
        <p:spPr bwMode="auto">
          <a:xfrm>
            <a:off x="4859338" y="27082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7" name="Oval 10"/>
          <p:cNvSpPr>
            <a:spLocks noChangeArrowheads="1"/>
          </p:cNvSpPr>
          <p:nvPr/>
        </p:nvSpPr>
        <p:spPr bwMode="auto">
          <a:xfrm>
            <a:off x="6227763" y="4048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8" name="Oval 11"/>
          <p:cNvSpPr>
            <a:spLocks noChangeArrowheads="1"/>
          </p:cNvSpPr>
          <p:nvPr/>
        </p:nvSpPr>
        <p:spPr bwMode="auto">
          <a:xfrm>
            <a:off x="7235825" y="18446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9" name="Oval 12"/>
          <p:cNvSpPr>
            <a:spLocks noChangeArrowheads="1"/>
          </p:cNvSpPr>
          <p:nvPr/>
        </p:nvSpPr>
        <p:spPr bwMode="auto">
          <a:xfrm>
            <a:off x="6227763" y="36449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30" name="Line 13"/>
          <p:cNvSpPr>
            <a:spLocks noChangeShapeType="1"/>
          </p:cNvSpPr>
          <p:nvPr/>
        </p:nvSpPr>
        <p:spPr bwMode="auto">
          <a:xfrm flipH="1">
            <a:off x="900113" y="476250"/>
            <a:ext cx="719137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1" name="Line 14"/>
          <p:cNvSpPr>
            <a:spLocks noChangeShapeType="1"/>
          </p:cNvSpPr>
          <p:nvPr/>
        </p:nvSpPr>
        <p:spPr bwMode="auto">
          <a:xfrm>
            <a:off x="1619250" y="476250"/>
            <a:ext cx="0" cy="295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2" name="Line 15"/>
          <p:cNvSpPr>
            <a:spLocks noChangeShapeType="1"/>
          </p:cNvSpPr>
          <p:nvPr/>
        </p:nvSpPr>
        <p:spPr bwMode="auto">
          <a:xfrm>
            <a:off x="1619250" y="476250"/>
            <a:ext cx="1368425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3" name="Line 16"/>
          <p:cNvSpPr>
            <a:spLocks noChangeShapeType="1"/>
          </p:cNvSpPr>
          <p:nvPr/>
        </p:nvSpPr>
        <p:spPr bwMode="auto">
          <a:xfrm>
            <a:off x="1619250" y="476250"/>
            <a:ext cx="13684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4" name="Line 17"/>
          <p:cNvSpPr>
            <a:spLocks noChangeShapeType="1"/>
          </p:cNvSpPr>
          <p:nvPr/>
        </p:nvSpPr>
        <p:spPr bwMode="auto">
          <a:xfrm flipV="1">
            <a:off x="900113" y="1412875"/>
            <a:ext cx="20161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5" name="Line 18"/>
          <p:cNvSpPr>
            <a:spLocks noChangeShapeType="1"/>
          </p:cNvSpPr>
          <p:nvPr/>
        </p:nvSpPr>
        <p:spPr bwMode="auto">
          <a:xfrm>
            <a:off x="900113" y="1844675"/>
            <a:ext cx="215900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6" name="Line 19"/>
          <p:cNvSpPr>
            <a:spLocks noChangeShapeType="1"/>
          </p:cNvSpPr>
          <p:nvPr/>
        </p:nvSpPr>
        <p:spPr bwMode="auto">
          <a:xfrm>
            <a:off x="900113" y="1844675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7" name="Line 20"/>
          <p:cNvSpPr>
            <a:spLocks noChangeShapeType="1"/>
          </p:cNvSpPr>
          <p:nvPr/>
        </p:nvSpPr>
        <p:spPr bwMode="auto">
          <a:xfrm flipV="1">
            <a:off x="1619250" y="2852738"/>
            <a:ext cx="13684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8" name="Line 21"/>
          <p:cNvSpPr>
            <a:spLocks noChangeShapeType="1"/>
          </p:cNvSpPr>
          <p:nvPr/>
        </p:nvSpPr>
        <p:spPr bwMode="auto">
          <a:xfrm>
            <a:off x="2987675" y="1412875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9" name="Line 22"/>
          <p:cNvSpPr>
            <a:spLocks noChangeShapeType="1"/>
          </p:cNvSpPr>
          <p:nvPr/>
        </p:nvSpPr>
        <p:spPr bwMode="auto">
          <a:xfrm>
            <a:off x="2987675" y="2781300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0" name="Line 23"/>
          <p:cNvSpPr>
            <a:spLocks noChangeShapeType="1"/>
          </p:cNvSpPr>
          <p:nvPr/>
        </p:nvSpPr>
        <p:spPr bwMode="auto">
          <a:xfrm flipV="1">
            <a:off x="2987675" y="1412875"/>
            <a:ext cx="1944688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1" name="Line 24"/>
          <p:cNvSpPr>
            <a:spLocks noChangeShapeType="1"/>
          </p:cNvSpPr>
          <p:nvPr/>
        </p:nvSpPr>
        <p:spPr bwMode="auto">
          <a:xfrm flipV="1">
            <a:off x="4932363" y="476250"/>
            <a:ext cx="12954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2" name="Line 25"/>
          <p:cNvSpPr>
            <a:spLocks noChangeShapeType="1"/>
          </p:cNvSpPr>
          <p:nvPr/>
        </p:nvSpPr>
        <p:spPr bwMode="auto">
          <a:xfrm flipH="1">
            <a:off x="4932363" y="476250"/>
            <a:ext cx="1368425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3" name="Line 26"/>
          <p:cNvSpPr>
            <a:spLocks noChangeShapeType="1"/>
          </p:cNvSpPr>
          <p:nvPr/>
        </p:nvSpPr>
        <p:spPr bwMode="auto">
          <a:xfrm>
            <a:off x="6300788" y="47625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4" name="Line 27"/>
          <p:cNvSpPr>
            <a:spLocks noChangeShapeType="1"/>
          </p:cNvSpPr>
          <p:nvPr/>
        </p:nvSpPr>
        <p:spPr bwMode="auto">
          <a:xfrm>
            <a:off x="6372225" y="476250"/>
            <a:ext cx="936625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5" name="Line 28"/>
          <p:cNvSpPr>
            <a:spLocks noChangeShapeType="1"/>
          </p:cNvSpPr>
          <p:nvPr/>
        </p:nvSpPr>
        <p:spPr bwMode="auto">
          <a:xfrm>
            <a:off x="4932363" y="1412875"/>
            <a:ext cx="2303462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6" name="Line 29"/>
          <p:cNvSpPr>
            <a:spLocks noChangeShapeType="1"/>
          </p:cNvSpPr>
          <p:nvPr/>
        </p:nvSpPr>
        <p:spPr bwMode="auto">
          <a:xfrm flipH="1">
            <a:off x="4932363" y="1916113"/>
            <a:ext cx="2376487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7" name="Line 30"/>
          <p:cNvSpPr>
            <a:spLocks noChangeShapeType="1"/>
          </p:cNvSpPr>
          <p:nvPr/>
        </p:nvSpPr>
        <p:spPr bwMode="auto">
          <a:xfrm flipH="1">
            <a:off x="6300788" y="1916113"/>
            <a:ext cx="1008062" cy="1728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8" name="Line 31"/>
          <p:cNvSpPr>
            <a:spLocks noChangeShapeType="1"/>
          </p:cNvSpPr>
          <p:nvPr/>
        </p:nvSpPr>
        <p:spPr bwMode="auto">
          <a:xfrm>
            <a:off x="4932363" y="2781300"/>
            <a:ext cx="13684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1649" name="Object 32"/>
          <p:cNvGraphicFramePr>
            <a:graphicFrameLocks noChangeAspect="1"/>
          </p:cNvGraphicFramePr>
          <p:nvPr/>
        </p:nvGraphicFramePr>
        <p:xfrm>
          <a:off x="2916238" y="836613"/>
          <a:ext cx="32861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634" imgH="47520" progId="Equation.3">
                  <p:embed/>
                </p:oleObj>
              </mc:Choice>
              <mc:Fallback>
                <p:oleObj name="Equation" r:id="rId2" imgW="28634" imgH="4752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836613"/>
                        <a:ext cx="32861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50" name="Object 33"/>
          <p:cNvGraphicFramePr>
            <a:graphicFrameLocks noChangeAspect="1"/>
          </p:cNvGraphicFramePr>
          <p:nvPr/>
        </p:nvGraphicFramePr>
        <p:xfrm>
          <a:off x="2843213" y="2947988"/>
          <a:ext cx="32861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34" imgH="85860" progId="Equation.3">
                  <p:embed/>
                </p:oleObj>
              </mc:Choice>
              <mc:Fallback>
                <p:oleObj name="Equation" r:id="rId4" imgW="28634" imgH="858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947988"/>
                        <a:ext cx="32861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51" name="Object 34"/>
          <p:cNvGraphicFramePr>
            <a:graphicFrameLocks noChangeAspect="1"/>
          </p:cNvGraphicFramePr>
          <p:nvPr/>
        </p:nvGraphicFramePr>
        <p:xfrm>
          <a:off x="4803775" y="836613"/>
          <a:ext cx="2968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9" imgH="47520" progId="Equation.3">
                  <p:embed/>
                </p:oleObj>
              </mc:Choice>
              <mc:Fallback>
                <p:oleObj name="Equation" r:id="rId6" imgW="19179" imgH="4752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836613"/>
                        <a:ext cx="29686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52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602276"/>
              </p:ext>
            </p:extLst>
          </p:nvPr>
        </p:nvGraphicFramePr>
        <p:xfrm>
          <a:off x="4772025" y="2852936"/>
          <a:ext cx="3603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543" imgH="85860" progId="Equation.3">
                  <p:embed/>
                </p:oleObj>
              </mc:Choice>
              <mc:Fallback>
                <p:oleObj name="Equation" r:id="rId8" imgW="47543" imgH="8586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025" y="2852936"/>
                        <a:ext cx="36036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53" name="Object 36"/>
          <p:cNvGraphicFramePr>
            <a:graphicFrameLocks noChangeAspect="1"/>
          </p:cNvGraphicFramePr>
          <p:nvPr/>
        </p:nvGraphicFramePr>
        <p:xfrm>
          <a:off x="3692525" y="882650"/>
          <a:ext cx="3603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7543" imgH="123930" progId="Equation.3">
                  <p:embed/>
                </p:oleObj>
              </mc:Choice>
              <mc:Fallback>
                <p:oleObj name="Equation" r:id="rId10" imgW="47543" imgH="12393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882650"/>
                        <a:ext cx="36036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54" name="Object 37"/>
          <p:cNvGraphicFramePr>
            <a:graphicFrameLocks noChangeAspect="1"/>
          </p:cNvGraphicFramePr>
          <p:nvPr/>
        </p:nvGraphicFramePr>
        <p:xfrm>
          <a:off x="3548063" y="1700213"/>
          <a:ext cx="3937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268" imgH="123930" progId="Equation.3">
                  <p:embed/>
                </p:oleObj>
              </mc:Choice>
              <mc:Fallback>
                <p:oleObj name="Equation" r:id="rId12" imgW="57268" imgH="12393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1700213"/>
                        <a:ext cx="3937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55" name="Object 38"/>
          <p:cNvGraphicFramePr>
            <a:graphicFrameLocks noChangeAspect="1"/>
          </p:cNvGraphicFramePr>
          <p:nvPr/>
        </p:nvGraphicFramePr>
        <p:xfrm>
          <a:off x="3908425" y="2765425"/>
          <a:ext cx="39211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268" imgH="133380" progId="Equation.3">
                  <p:embed/>
                </p:oleObj>
              </mc:Choice>
              <mc:Fallback>
                <p:oleObj name="Equation" r:id="rId14" imgW="57268" imgH="1333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425" y="2765425"/>
                        <a:ext cx="39211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B922EF-11D4-4604-AACA-4AF113F7F2AD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11264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割点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el-GR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κ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= 1. </a:t>
            </a:r>
          </a:p>
        </p:txBody>
      </p:sp>
      <p:sp>
        <p:nvSpPr>
          <p:cNvPr id="112644" name="Oval 3"/>
          <p:cNvSpPr>
            <a:spLocks noChangeArrowheads="1"/>
          </p:cNvSpPr>
          <p:nvPr/>
        </p:nvSpPr>
        <p:spPr bwMode="auto">
          <a:xfrm>
            <a:off x="2555875" y="765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5" name="Oval 4"/>
          <p:cNvSpPr>
            <a:spLocks noChangeArrowheads="1"/>
          </p:cNvSpPr>
          <p:nvPr/>
        </p:nvSpPr>
        <p:spPr bwMode="auto">
          <a:xfrm>
            <a:off x="4284663" y="7651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6" name="Oval 5"/>
          <p:cNvSpPr>
            <a:spLocks noChangeArrowheads="1"/>
          </p:cNvSpPr>
          <p:nvPr/>
        </p:nvSpPr>
        <p:spPr bwMode="auto">
          <a:xfrm>
            <a:off x="3492500" y="18446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7" name="Oval 6"/>
          <p:cNvSpPr>
            <a:spLocks noChangeArrowheads="1"/>
          </p:cNvSpPr>
          <p:nvPr/>
        </p:nvSpPr>
        <p:spPr bwMode="auto">
          <a:xfrm>
            <a:off x="3492500" y="29972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8" name="Oval 7"/>
          <p:cNvSpPr>
            <a:spLocks noChangeArrowheads="1"/>
          </p:cNvSpPr>
          <p:nvPr/>
        </p:nvSpPr>
        <p:spPr bwMode="auto">
          <a:xfrm>
            <a:off x="2627313" y="39338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9" name="Oval 8"/>
          <p:cNvSpPr>
            <a:spLocks noChangeArrowheads="1"/>
          </p:cNvSpPr>
          <p:nvPr/>
        </p:nvSpPr>
        <p:spPr bwMode="auto">
          <a:xfrm>
            <a:off x="4643438" y="39338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0" name="Line 9"/>
          <p:cNvSpPr>
            <a:spLocks noChangeShapeType="1"/>
          </p:cNvSpPr>
          <p:nvPr/>
        </p:nvSpPr>
        <p:spPr bwMode="auto">
          <a:xfrm>
            <a:off x="2627313" y="836613"/>
            <a:ext cx="936625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51" name="Line 10"/>
          <p:cNvSpPr>
            <a:spLocks noChangeShapeType="1"/>
          </p:cNvSpPr>
          <p:nvPr/>
        </p:nvSpPr>
        <p:spPr bwMode="auto">
          <a:xfrm flipH="1">
            <a:off x="3563938" y="836613"/>
            <a:ext cx="792162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52" name="Line 11"/>
          <p:cNvSpPr>
            <a:spLocks noChangeShapeType="1"/>
          </p:cNvSpPr>
          <p:nvPr/>
        </p:nvSpPr>
        <p:spPr bwMode="auto">
          <a:xfrm>
            <a:off x="3563938" y="1916113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53" name="Line 12"/>
          <p:cNvSpPr>
            <a:spLocks noChangeShapeType="1"/>
          </p:cNvSpPr>
          <p:nvPr/>
        </p:nvSpPr>
        <p:spPr bwMode="auto">
          <a:xfrm flipH="1">
            <a:off x="2700338" y="3068638"/>
            <a:ext cx="8636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54" name="Line 13"/>
          <p:cNvSpPr>
            <a:spLocks noChangeShapeType="1"/>
          </p:cNvSpPr>
          <p:nvPr/>
        </p:nvSpPr>
        <p:spPr bwMode="auto">
          <a:xfrm>
            <a:off x="3563938" y="3068638"/>
            <a:ext cx="11525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2655" name="Object 14"/>
          <p:cNvGraphicFramePr>
            <a:graphicFrameLocks noChangeAspect="1"/>
          </p:cNvGraphicFramePr>
          <p:nvPr/>
        </p:nvGraphicFramePr>
        <p:xfrm>
          <a:off x="3148013" y="2205038"/>
          <a:ext cx="2952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9" imgH="47520" progId="Equation.3">
                  <p:embed/>
                </p:oleObj>
              </mc:Choice>
              <mc:Fallback>
                <p:oleObj name="Equation" r:id="rId2" imgW="19179" imgH="475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2205038"/>
                        <a:ext cx="29527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299678"/>
              </p:ext>
            </p:extLst>
          </p:nvPr>
        </p:nvGraphicFramePr>
        <p:xfrm>
          <a:off x="3707904" y="1668463"/>
          <a:ext cx="3952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268" imgH="66690" progId="Equation.3">
                  <p:embed/>
                </p:oleObj>
              </mc:Choice>
              <mc:Fallback>
                <p:oleObj name="Equation" r:id="rId4" imgW="57268" imgH="6669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668463"/>
                        <a:ext cx="3952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366521"/>
              </p:ext>
            </p:extLst>
          </p:nvPr>
        </p:nvGraphicFramePr>
        <p:xfrm>
          <a:off x="3707904" y="2781300"/>
          <a:ext cx="3952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66690" progId="Equation.3">
                  <p:embed/>
                </p:oleObj>
              </mc:Choice>
              <mc:Fallback>
                <p:oleObj name="Equation" r:id="rId6" imgW="57268" imgH="6669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2781300"/>
                        <a:ext cx="3952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84FAD-B2B7-43B7-8178-7E37546AA57D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11366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6-20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一个连通无向图的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点连通度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是使得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不连通或为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阶图所要删去的最少的节点个数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阶图的点连通度为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0,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而完全无向图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的点连通度为</a:t>
            </a:r>
            <a:r>
              <a:rPr lang="zh-Hans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1366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615519"/>
              </p:ext>
            </p:extLst>
          </p:nvPr>
        </p:nvGraphicFramePr>
        <p:xfrm>
          <a:off x="2339752" y="312837"/>
          <a:ext cx="665956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52689" imgH="104760" progId="Equation.3">
                  <p:embed/>
                </p:oleObj>
              </mc:Choice>
              <mc:Fallback>
                <p:oleObj name="公式" r:id="rId2" imgW="2152689" imgH="1047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312837"/>
                        <a:ext cx="6659562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8A7A32D8-7F94-914F-BDFC-BAB698602E2A}"/>
              </a:ext>
            </a:extLst>
          </p:cNvPr>
          <p:cNvSpPr txBox="1"/>
          <p:nvPr/>
        </p:nvSpPr>
        <p:spPr>
          <a:xfrm>
            <a:off x="5940152" y="4149080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- 1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448FEF-0E4C-4B32-8037-1031B31238FA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11469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点连通度为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连通或重连通图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(bi-connected graph).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确定一个无向图是否重连通具有重要的意义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假定无向图的节点表示电话交换站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边表示电话线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则在点连通度为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的通讯网络系统中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一个站发生故障系统仍可正常工作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2990ED-B161-4808-860F-61DE4E38BA3D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11571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边割集与边连通度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是连通无向图且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中删除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的所有边所得到的子图不连通或是平凡图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而删除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的任意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真子集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都连通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边割集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(cut-set of edges).</a:t>
            </a:r>
          </a:p>
          <a:p>
            <a:pPr eaLnBrk="1" hangingPunct="1">
              <a:lnSpc>
                <a:spcPct val="15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53F3C0-0F99-49FD-BCFA-24307CB7B7A3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11673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恰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使得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不连通或是平凡图所要去掉的边的集合称为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边割集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若边割集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割边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(bridge).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F29D00-EB7C-4CF5-A663-50704E26C474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11776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边割集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: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{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b="1" baseline="-25000" dirty="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b="1" baseline="-25000" dirty="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b="1" baseline="-25000" dirty="0"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}; 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... </a:t>
            </a:r>
          </a:p>
          <a:p>
            <a:pPr eaLnBrk="1" hangingPunct="1">
              <a:lnSpc>
                <a:spcPct val="120000"/>
              </a:lnSpc>
            </a:pPr>
            <a:r>
              <a:rPr lang="el-GR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λ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= 3.</a:t>
            </a:r>
          </a:p>
        </p:txBody>
      </p:sp>
      <p:sp>
        <p:nvSpPr>
          <p:cNvPr id="117764" name="Oval 3"/>
          <p:cNvSpPr>
            <a:spLocks noChangeArrowheads="1"/>
          </p:cNvSpPr>
          <p:nvPr/>
        </p:nvSpPr>
        <p:spPr bwMode="auto">
          <a:xfrm>
            <a:off x="1547813" y="4048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5" name="Oval 4"/>
          <p:cNvSpPr>
            <a:spLocks noChangeArrowheads="1"/>
          </p:cNvSpPr>
          <p:nvPr/>
        </p:nvSpPr>
        <p:spPr bwMode="auto">
          <a:xfrm>
            <a:off x="2916238" y="13414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6" name="Oval 5"/>
          <p:cNvSpPr>
            <a:spLocks noChangeArrowheads="1"/>
          </p:cNvSpPr>
          <p:nvPr/>
        </p:nvSpPr>
        <p:spPr bwMode="auto">
          <a:xfrm>
            <a:off x="2916238" y="27082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7" name="Oval 6"/>
          <p:cNvSpPr>
            <a:spLocks noChangeArrowheads="1"/>
          </p:cNvSpPr>
          <p:nvPr/>
        </p:nvSpPr>
        <p:spPr bwMode="auto">
          <a:xfrm>
            <a:off x="1547813" y="33575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8" name="Oval 7"/>
          <p:cNvSpPr>
            <a:spLocks noChangeArrowheads="1"/>
          </p:cNvSpPr>
          <p:nvPr/>
        </p:nvSpPr>
        <p:spPr bwMode="auto">
          <a:xfrm>
            <a:off x="827088" y="17732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9" name="Oval 8"/>
          <p:cNvSpPr>
            <a:spLocks noChangeArrowheads="1"/>
          </p:cNvSpPr>
          <p:nvPr/>
        </p:nvSpPr>
        <p:spPr bwMode="auto">
          <a:xfrm>
            <a:off x="4859338" y="13414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0" name="Oval 9"/>
          <p:cNvSpPr>
            <a:spLocks noChangeArrowheads="1"/>
          </p:cNvSpPr>
          <p:nvPr/>
        </p:nvSpPr>
        <p:spPr bwMode="auto">
          <a:xfrm>
            <a:off x="4859338" y="27082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1" name="Oval 10"/>
          <p:cNvSpPr>
            <a:spLocks noChangeArrowheads="1"/>
          </p:cNvSpPr>
          <p:nvPr/>
        </p:nvSpPr>
        <p:spPr bwMode="auto">
          <a:xfrm>
            <a:off x="6227763" y="4048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2" name="Oval 11"/>
          <p:cNvSpPr>
            <a:spLocks noChangeArrowheads="1"/>
          </p:cNvSpPr>
          <p:nvPr/>
        </p:nvSpPr>
        <p:spPr bwMode="auto">
          <a:xfrm>
            <a:off x="7235825" y="18446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3" name="Oval 12"/>
          <p:cNvSpPr>
            <a:spLocks noChangeArrowheads="1"/>
          </p:cNvSpPr>
          <p:nvPr/>
        </p:nvSpPr>
        <p:spPr bwMode="auto">
          <a:xfrm>
            <a:off x="6227763" y="36449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74" name="Line 13"/>
          <p:cNvSpPr>
            <a:spLocks noChangeShapeType="1"/>
          </p:cNvSpPr>
          <p:nvPr/>
        </p:nvSpPr>
        <p:spPr bwMode="auto">
          <a:xfrm flipH="1">
            <a:off x="900113" y="476250"/>
            <a:ext cx="719137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5" name="Line 14"/>
          <p:cNvSpPr>
            <a:spLocks noChangeShapeType="1"/>
          </p:cNvSpPr>
          <p:nvPr/>
        </p:nvSpPr>
        <p:spPr bwMode="auto">
          <a:xfrm>
            <a:off x="1619250" y="476250"/>
            <a:ext cx="0" cy="295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6" name="Line 15"/>
          <p:cNvSpPr>
            <a:spLocks noChangeShapeType="1"/>
          </p:cNvSpPr>
          <p:nvPr/>
        </p:nvSpPr>
        <p:spPr bwMode="auto">
          <a:xfrm>
            <a:off x="1619250" y="476250"/>
            <a:ext cx="1368425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7" name="Line 16"/>
          <p:cNvSpPr>
            <a:spLocks noChangeShapeType="1"/>
          </p:cNvSpPr>
          <p:nvPr/>
        </p:nvSpPr>
        <p:spPr bwMode="auto">
          <a:xfrm>
            <a:off x="1619250" y="476250"/>
            <a:ext cx="13684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8" name="Line 17"/>
          <p:cNvSpPr>
            <a:spLocks noChangeShapeType="1"/>
          </p:cNvSpPr>
          <p:nvPr/>
        </p:nvSpPr>
        <p:spPr bwMode="auto">
          <a:xfrm flipV="1">
            <a:off x="900113" y="1412875"/>
            <a:ext cx="20161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9" name="Line 18"/>
          <p:cNvSpPr>
            <a:spLocks noChangeShapeType="1"/>
          </p:cNvSpPr>
          <p:nvPr/>
        </p:nvSpPr>
        <p:spPr bwMode="auto">
          <a:xfrm>
            <a:off x="900113" y="1844675"/>
            <a:ext cx="215900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0" name="Line 19"/>
          <p:cNvSpPr>
            <a:spLocks noChangeShapeType="1"/>
          </p:cNvSpPr>
          <p:nvPr/>
        </p:nvSpPr>
        <p:spPr bwMode="auto">
          <a:xfrm>
            <a:off x="900113" y="1844675"/>
            <a:ext cx="64770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1" name="Line 20"/>
          <p:cNvSpPr>
            <a:spLocks noChangeShapeType="1"/>
          </p:cNvSpPr>
          <p:nvPr/>
        </p:nvSpPr>
        <p:spPr bwMode="auto">
          <a:xfrm flipV="1">
            <a:off x="1619250" y="2852738"/>
            <a:ext cx="13684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2" name="Line 21"/>
          <p:cNvSpPr>
            <a:spLocks noChangeShapeType="1"/>
          </p:cNvSpPr>
          <p:nvPr/>
        </p:nvSpPr>
        <p:spPr bwMode="auto">
          <a:xfrm>
            <a:off x="2987675" y="1412875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3" name="Line 22"/>
          <p:cNvSpPr>
            <a:spLocks noChangeShapeType="1"/>
          </p:cNvSpPr>
          <p:nvPr/>
        </p:nvSpPr>
        <p:spPr bwMode="auto">
          <a:xfrm>
            <a:off x="2987675" y="2781300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4" name="Line 23"/>
          <p:cNvSpPr>
            <a:spLocks noChangeShapeType="1"/>
          </p:cNvSpPr>
          <p:nvPr/>
        </p:nvSpPr>
        <p:spPr bwMode="auto">
          <a:xfrm flipV="1">
            <a:off x="2987675" y="1412875"/>
            <a:ext cx="1944688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5" name="Line 24"/>
          <p:cNvSpPr>
            <a:spLocks noChangeShapeType="1"/>
          </p:cNvSpPr>
          <p:nvPr/>
        </p:nvSpPr>
        <p:spPr bwMode="auto">
          <a:xfrm flipV="1">
            <a:off x="4932363" y="476250"/>
            <a:ext cx="12954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6" name="Line 25"/>
          <p:cNvSpPr>
            <a:spLocks noChangeShapeType="1"/>
          </p:cNvSpPr>
          <p:nvPr/>
        </p:nvSpPr>
        <p:spPr bwMode="auto">
          <a:xfrm flipH="1">
            <a:off x="4932363" y="476250"/>
            <a:ext cx="1368425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7" name="Line 26"/>
          <p:cNvSpPr>
            <a:spLocks noChangeShapeType="1"/>
          </p:cNvSpPr>
          <p:nvPr/>
        </p:nvSpPr>
        <p:spPr bwMode="auto">
          <a:xfrm>
            <a:off x="6300788" y="47625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8" name="Line 27"/>
          <p:cNvSpPr>
            <a:spLocks noChangeShapeType="1"/>
          </p:cNvSpPr>
          <p:nvPr/>
        </p:nvSpPr>
        <p:spPr bwMode="auto">
          <a:xfrm>
            <a:off x="6372225" y="476250"/>
            <a:ext cx="936625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9" name="Line 28"/>
          <p:cNvSpPr>
            <a:spLocks noChangeShapeType="1"/>
          </p:cNvSpPr>
          <p:nvPr/>
        </p:nvSpPr>
        <p:spPr bwMode="auto">
          <a:xfrm>
            <a:off x="4932363" y="1412875"/>
            <a:ext cx="2303462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90" name="Line 29"/>
          <p:cNvSpPr>
            <a:spLocks noChangeShapeType="1"/>
          </p:cNvSpPr>
          <p:nvPr/>
        </p:nvSpPr>
        <p:spPr bwMode="auto">
          <a:xfrm flipH="1">
            <a:off x="4932363" y="1916113"/>
            <a:ext cx="2376487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91" name="Line 30"/>
          <p:cNvSpPr>
            <a:spLocks noChangeShapeType="1"/>
          </p:cNvSpPr>
          <p:nvPr/>
        </p:nvSpPr>
        <p:spPr bwMode="auto">
          <a:xfrm flipH="1">
            <a:off x="6300788" y="1916113"/>
            <a:ext cx="1008062" cy="1728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92" name="Line 31"/>
          <p:cNvSpPr>
            <a:spLocks noChangeShapeType="1"/>
          </p:cNvSpPr>
          <p:nvPr/>
        </p:nvSpPr>
        <p:spPr bwMode="auto">
          <a:xfrm>
            <a:off x="4932363" y="2781300"/>
            <a:ext cx="13684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7793" name="Object 32"/>
          <p:cNvGraphicFramePr>
            <a:graphicFrameLocks noChangeAspect="1"/>
          </p:cNvGraphicFramePr>
          <p:nvPr/>
        </p:nvGraphicFramePr>
        <p:xfrm>
          <a:off x="2916238" y="836613"/>
          <a:ext cx="32861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634" imgH="47520" progId="Equation.3">
                  <p:embed/>
                </p:oleObj>
              </mc:Choice>
              <mc:Fallback>
                <p:oleObj name="Equation" r:id="rId2" imgW="28634" imgH="4752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836613"/>
                        <a:ext cx="32861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4" name="Object 33"/>
          <p:cNvGraphicFramePr>
            <a:graphicFrameLocks noChangeAspect="1"/>
          </p:cNvGraphicFramePr>
          <p:nvPr/>
        </p:nvGraphicFramePr>
        <p:xfrm>
          <a:off x="2843213" y="2947988"/>
          <a:ext cx="32861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34" imgH="85860" progId="Equation.3">
                  <p:embed/>
                </p:oleObj>
              </mc:Choice>
              <mc:Fallback>
                <p:oleObj name="Equation" r:id="rId4" imgW="28634" imgH="858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947988"/>
                        <a:ext cx="32861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5" name="Object 34"/>
          <p:cNvGraphicFramePr>
            <a:graphicFrameLocks noChangeAspect="1"/>
          </p:cNvGraphicFramePr>
          <p:nvPr/>
        </p:nvGraphicFramePr>
        <p:xfrm>
          <a:off x="4803775" y="836613"/>
          <a:ext cx="2968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9" imgH="47520" progId="Equation.3">
                  <p:embed/>
                </p:oleObj>
              </mc:Choice>
              <mc:Fallback>
                <p:oleObj name="Equation" r:id="rId6" imgW="19179" imgH="4752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836613"/>
                        <a:ext cx="29686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6" name="Object 35"/>
          <p:cNvGraphicFramePr>
            <a:graphicFrameLocks noChangeAspect="1"/>
          </p:cNvGraphicFramePr>
          <p:nvPr/>
        </p:nvGraphicFramePr>
        <p:xfrm>
          <a:off x="4772025" y="2947988"/>
          <a:ext cx="3603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543" imgH="85860" progId="Equation.3">
                  <p:embed/>
                </p:oleObj>
              </mc:Choice>
              <mc:Fallback>
                <p:oleObj name="Equation" r:id="rId8" imgW="47543" imgH="8586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025" y="2947988"/>
                        <a:ext cx="36036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7" name="Object 36"/>
          <p:cNvGraphicFramePr>
            <a:graphicFrameLocks noChangeAspect="1"/>
          </p:cNvGraphicFramePr>
          <p:nvPr/>
        </p:nvGraphicFramePr>
        <p:xfrm>
          <a:off x="3692525" y="882650"/>
          <a:ext cx="3603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7543" imgH="123930" progId="Equation.3">
                  <p:embed/>
                </p:oleObj>
              </mc:Choice>
              <mc:Fallback>
                <p:oleObj name="Equation" r:id="rId10" imgW="47543" imgH="12393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882650"/>
                        <a:ext cx="36036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8" name="Object 37"/>
          <p:cNvGraphicFramePr>
            <a:graphicFrameLocks noChangeAspect="1"/>
          </p:cNvGraphicFramePr>
          <p:nvPr/>
        </p:nvGraphicFramePr>
        <p:xfrm>
          <a:off x="3548063" y="1700213"/>
          <a:ext cx="3937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268" imgH="123930" progId="Equation.3">
                  <p:embed/>
                </p:oleObj>
              </mc:Choice>
              <mc:Fallback>
                <p:oleObj name="Equation" r:id="rId12" imgW="57268" imgH="12393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1700213"/>
                        <a:ext cx="3937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9" name="Object 38"/>
          <p:cNvGraphicFramePr>
            <a:graphicFrameLocks noChangeAspect="1"/>
          </p:cNvGraphicFramePr>
          <p:nvPr/>
        </p:nvGraphicFramePr>
        <p:xfrm>
          <a:off x="3908425" y="2765425"/>
          <a:ext cx="39211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268" imgH="133380" progId="Equation.3">
                  <p:embed/>
                </p:oleObj>
              </mc:Choice>
              <mc:Fallback>
                <p:oleObj name="Equation" r:id="rId14" imgW="57268" imgH="1333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425" y="2765425"/>
                        <a:ext cx="39211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61502D-79A0-477B-A95F-49F125B86DD6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1878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割边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: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el-GR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λ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= 1.</a:t>
            </a:r>
          </a:p>
        </p:txBody>
      </p:sp>
      <p:sp>
        <p:nvSpPr>
          <p:cNvPr id="118788" name="Oval 3"/>
          <p:cNvSpPr>
            <a:spLocks noChangeArrowheads="1"/>
          </p:cNvSpPr>
          <p:nvPr/>
        </p:nvSpPr>
        <p:spPr bwMode="auto">
          <a:xfrm>
            <a:off x="2555875" y="765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89" name="Oval 4"/>
          <p:cNvSpPr>
            <a:spLocks noChangeArrowheads="1"/>
          </p:cNvSpPr>
          <p:nvPr/>
        </p:nvSpPr>
        <p:spPr bwMode="auto">
          <a:xfrm>
            <a:off x="4284663" y="7651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0" name="Oval 5"/>
          <p:cNvSpPr>
            <a:spLocks noChangeArrowheads="1"/>
          </p:cNvSpPr>
          <p:nvPr/>
        </p:nvSpPr>
        <p:spPr bwMode="auto">
          <a:xfrm>
            <a:off x="3492500" y="18446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1" name="Oval 6"/>
          <p:cNvSpPr>
            <a:spLocks noChangeArrowheads="1"/>
          </p:cNvSpPr>
          <p:nvPr/>
        </p:nvSpPr>
        <p:spPr bwMode="auto">
          <a:xfrm>
            <a:off x="3492500" y="29972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2" name="Oval 7"/>
          <p:cNvSpPr>
            <a:spLocks noChangeArrowheads="1"/>
          </p:cNvSpPr>
          <p:nvPr/>
        </p:nvSpPr>
        <p:spPr bwMode="auto">
          <a:xfrm>
            <a:off x="2627313" y="39338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3" name="Oval 8"/>
          <p:cNvSpPr>
            <a:spLocks noChangeArrowheads="1"/>
          </p:cNvSpPr>
          <p:nvPr/>
        </p:nvSpPr>
        <p:spPr bwMode="auto">
          <a:xfrm>
            <a:off x="4643438" y="39338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4" name="Line 9"/>
          <p:cNvSpPr>
            <a:spLocks noChangeShapeType="1"/>
          </p:cNvSpPr>
          <p:nvPr/>
        </p:nvSpPr>
        <p:spPr bwMode="auto">
          <a:xfrm>
            <a:off x="2627313" y="836613"/>
            <a:ext cx="936625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5" name="Line 10"/>
          <p:cNvSpPr>
            <a:spLocks noChangeShapeType="1"/>
          </p:cNvSpPr>
          <p:nvPr/>
        </p:nvSpPr>
        <p:spPr bwMode="auto">
          <a:xfrm flipH="1">
            <a:off x="3563938" y="836613"/>
            <a:ext cx="792162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6" name="Line 11"/>
          <p:cNvSpPr>
            <a:spLocks noChangeShapeType="1"/>
          </p:cNvSpPr>
          <p:nvPr/>
        </p:nvSpPr>
        <p:spPr bwMode="auto">
          <a:xfrm>
            <a:off x="3563938" y="1916113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7" name="Line 12"/>
          <p:cNvSpPr>
            <a:spLocks noChangeShapeType="1"/>
          </p:cNvSpPr>
          <p:nvPr/>
        </p:nvSpPr>
        <p:spPr bwMode="auto">
          <a:xfrm flipH="1">
            <a:off x="2700338" y="3068638"/>
            <a:ext cx="8636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8" name="Line 13"/>
          <p:cNvSpPr>
            <a:spLocks noChangeShapeType="1"/>
          </p:cNvSpPr>
          <p:nvPr/>
        </p:nvSpPr>
        <p:spPr bwMode="auto">
          <a:xfrm>
            <a:off x="3563938" y="3068638"/>
            <a:ext cx="11525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8799" name="Object 14"/>
          <p:cNvGraphicFramePr>
            <a:graphicFrameLocks noChangeAspect="1"/>
          </p:cNvGraphicFramePr>
          <p:nvPr/>
        </p:nvGraphicFramePr>
        <p:xfrm>
          <a:off x="3148013" y="2205038"/>
          <a:ext cx="2952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9" imgH="47520" progId="Equation.3">
                  <p:embed/>
                </p:oleObj>
              </mc:Choice>
              <mc:Fallback>
                <p:oleObj name="Equation" r:id="rId2" imgW="19179" imgH="475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2205038"/>
                        <a:ext cx="29527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00" name="Object 15"/>
          <p:cNvGraphicFramePr>
            <a:graphicFrameLocks noChangeAspect="1"/>
          </p:cNvGraphicFramePr>
          <p:nvPr/>
        </p:nvGraphicFramePr>
        <p:xfrm>
          <a:off x="3962400" y="1668463"/>
          <a:ext cx="3952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268" imgH="66690" progId="Equation.3">
                  <p:embed/>
                </p:oleObj>
              </mc:Choice>
              <mc:Fallback>
                <p:oleObj name="Equation" r:id="rId4" imgW="57268" imgH="6669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668463"/>
                        <a:ext cx="3952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01" name="Object 16"/>
          <p:cNvGraphicFramePr>
            <a:graphicFrameLocks noChangeAspect="1"/>
          </p:cNvGraphicFramePr>
          <p:nvPr/>
        </p:nvGraphicFramePr>
        <p:xfrm>
          <a:off x="3851275" y="2781300"/>
          <a:ext cx="3952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66690" progId="Equation.3">
                  <p:embed/>
                </p:oleObj>
              </mc:Choice>
              <mc:Fallback>
                <p:oleObj name="Equation" r:id="rId6" imgW="57268" imgH="6669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781300"/>
                        <a:ext cx="3952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732CFB-084C-4F2A-B2C3-81B5C741F402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11981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itchFamily="18" charset="0"/>
                <a:ea typeface="楷体_GB2312" pitchFamily="49" charset="-122"/>
              </a:rPr>
              <a:t>Def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6-21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一个连通无向图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边连通度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是使得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不连通或为平凡图所要删去的最少的边的数目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19812" name="Object 3"/>
          <p:cNvGraphicFramePr>
            <a:graphicFrameLocks noChangeAspect="1"/>
          </p:cNvGraphicFramePr>
          <p:nvPr/>
        </p:nvGraphicFramePr>
        <p:xfrm>
          <a:off x="1819275" y="1212850"/>
          <a:ext cx="56642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85967" imgH="104760" progId="Equation.3">
                  <p:embed/>
                </p:oleObj>
              </mc:Choice>
              <mc:Fallback>
                <p:oleObj name="公式" r:id="rId2" imgW="2085967" imgH="1047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1212850"/>
                        <a:ext cx="56642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72638-A3DF-4D07-8E28-763B84D74794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12083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下面的定理是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H. Whitney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1932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年给出的关于点连通度、边连通度及最小度之间的联系的一个结论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6-6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是连通无向图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 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由于将任意一个节点所</a:t>
            </a:r>
          </a:p>
          <a:p>
            <a:pPr eaLnBrk="1" hangingPunct="1">
              <a:lnSpc>
                <a:spcPct val="120000"/>
              </a:lnSpc>
              <a:buFont typeface="Wingdings 2" pitchFamily="18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关联的边全去掉后都不连通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</a:p>
          <a:p>
            <a:pPr eaLnBrk="1" hangingPunct="1">
              <a:lnSpc>
                <a:spcPct val="120000"/>
              </a:lnSpc>
              <a:buFont typeface="Wingdings 2" pitchFamily="18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所以有</a:t>
            </a:r>
          </a:p>
        </p:txBody>
      </p:sp>
      <p:graphicFrame>
        <p:nvGraphicFramePr>
          <p:cNvPr id="12083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991478"/>
              </p:ext>
            </p:extLst>
          </p:nvPr>
        </p:nvGraphicFramePr>
        <p:xfrm>
          <a:off x="2555763" y="3068961"/>
          <a:ext cx="4104469" cy="60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9655" imgH="104760" progId="Equation.3">
                  <p:embed/>
                </p:oleObj>
              </mc:Choice>
              <mc:Fallback>
                <p:oleObj name="Equation" r:id="rId2" imgW="1209655" imgH="1047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63" y="3068961"/>
                        <a:ext cx="4104469" cy="60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801569"/>
              </p:ext>
            </p:extLst>
          </p:nvPr>
        </p:nvGraphicFramePr>
        <p:xfrm>
          <a:off x="2051050" y="5589240"/>
          <a:ext cx="2664966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52590" imgH="104760" progId="Equation.3">
                  <p:embed/>
                </p:oleObj>
              </mc:Choice>
              <mc:Fallback>
                <p:oleObj name="Equation" r:id="rId4" imgW="752590" imgH="1047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589240"/>
                        <a:ext cx="2664966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9F18B4-E7D9-487A-9636-370A3567A0FE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12185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l-GR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κ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)≤</a:t>
            </a:r>
            <a:r>
              <a:rPr lang="el-GR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= 1,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结论显然成立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l-GR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的恰具有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条边的边割集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则删除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中所有的边不连通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而删除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中任意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- 1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条边均连通但有一条桥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838AAF3-B2EE-6648-A4D5-EF3E954905F5}"/>
              </a:ext>
            </a:extLst>
          </p:cNvPr>
          <p:cNvGrpSpPr/>
          <p:nvPr/>
        </p:nvGrpSpPr>
        <p:grpSpPr>
          <a:xfrm>
            <a:off x="1979712" y="3987330"/>
            <a:ext cx="4392488" cy="2496020"/>
            <a:chOff x="827088" y="3788866"/>
            <a:chExt cx="6553200" cy="3384550"/>
          </a:xfrm>
        </p:grpSpPr>
        <p:sp>
          <p:nvSpPr>
            <p:cNvPr id="8" name="Oval 3">
              <a:extLst>
                <a:ext uri="{FF2B5EF4-FFF2-40B4-BE49-F238E27FC236}">
                  <a16:creationId xmlns:a16="http://schemas.microsoft.com/office/drawing/2014/main" id="{F9C933DA-A2F9-6A4D-9CCC-35C3820AC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813" y="3788866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4">
              <a:extLst>
                <a:ext uri="{FF2B5EF4-FFF2-40B4-BE49-F238E27FC236}">
                  <a16:creationId xmlns:a16="http://schemas.microsoft.com/office/drawing/2014/main" id="{BB5CD655-8CC0-C345-9B51-3357644BF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238" y="4725491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7FD48106-62FA-F24A-BA18-0B65653EC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238" y="6092328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0379B2E1-79DF-D946-AAF8-E58CB4EF8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813" y="6741616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4AA41AAD-3246-1647-B2B7-3546CDC62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088" y="5157291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8">
              <a:extLst>
                <a:ext uri="{FF2B5EF4-FFF2-40B4-BE49-F238E27FC236}">
                  <a16:creationId xmlns:a16="http://schemas.microsoft.com/office/drawing/2014/main" id="{A3A020A3-5DD9-D14B-A18E-6F6FDB2A0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338" y="4725491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9">
              <a:extLst>
                <a:ext uri="{FF2B5EF4-FFF2-40B4-BE49-F238E27FC236}">
                  <a16:creationId xmlns:a16="http://schemas.microsoft.com/office/drawing/2014/main" id="{5FB2ED68-9189-174C-915A-D3D61EBAB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338" y="6092328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0">
              <a:extLst>
                <a:ext uri="{FF2B5EF4-FFF2-40B4-BE49-F238E27FC236}">
                  <a16:creationId xmlns:a16="http://schemas.microsoft.com/office/drawing/2014/main" id="{61EC8C6A-7295-9B44-AFED-DDC6E8352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3788866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1">
              <a:extLst>
                <a:ext uri="{FF2B5EF4-FFF2-40B4-BE49-F238E27FC236}">
                  <a16:creationId xmlns:a16="http://schemas.microsoft.com/office/drawing/2014/main" id="{535DD19F-CE61-E04F-AA28-CA8F592C8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5825" y="522872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2">
              <a:extLst>
                <a:ext uri="{FF2B5EF4-FFF2-40B4-BE49-F238E27FC236}">
                  <a16:creationId xmlns:a16="http://schemas.microsoft.com/office/drawing/2014/main" id="{D27989DF-850C-4D4D-932D-1BA8B6F0D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7028953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6DD1282C-FA34-FD4C-B008-ADE643CD4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0113" y="3860303"/>
              <a:ext cx="719137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C1D1129D-CBFB-B14E-9792-7867F8C2D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250" y="3860303"/>
              <a:ext cx="0" cy="2952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AB4D53ED-A564-5040-996C-8FA2CADB9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250" y="3860303"/>
              <a:ext cx="1368425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70569CD0-EF05-494E-8714-84C7B098F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250" y="3860303"/>
              <a:ext cx="1368425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4BA4FB2A-274A-EF4B-84BD-435115347B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0113" y="4796928"/>
              <a:ext cx="2016125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1C2ECDA5-1347-3841-9C75-0B12F06D35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0113" y="5228728"/>
              <a:ext cx="2159000" cy="100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F80B730A-E0F9-1A4F-A28C-138357164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0113" y="5228728"/>
              <a:ext cx="647700" cy="1584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483B1CA8-7E9A-8F46-9B2B-8D6FEDD572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9250" y="6236791"/>
              <a:ext cx="1368425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7F8397C9-AD75-8545-AFCF-92FF8DCF2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7675" y="4796928"/>
              <a:ext cx="1871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3A87903F-740A-2F49-AB72-444633140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7675" y="6165353"/>
              <a:ext cx="1871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FBA47C35-39D8-CD40-B974-FDCAC10C85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7675" y="4796928"/>
              <a:ext cx="1944688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8AF8AD40-2BA7-DF41-AD87-A987C39262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2363" y="3860303"/>
              <a:ext cx="129540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7F426165-25F5-C34E-95A6-C4AC795AC1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2363" y="3860303"/>
              <a:ext cx="1368425" cy="2305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B731EBFC-B955-E846-A96E-5A2D041E5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0788" y="3860303"/>
              <a:ext cx="0" cy="3240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D6F7EE1C-7F39-7648-9FE9-502AD5B6D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2225" y="3860303"/>
              <a:ext cx="936625" cy="1368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8">
              <a:extLst>
                <a:ext uri="{FF2B5EF4-FFF2-40B4-BE49-F238E27FC236}">
                  <a16:creationId xmlns:a16="http://schemas.microsoft.com/office/drawing/2014/main" id="{F303AD94-32ED-4741-B010-2EB2D0272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363" y="4796928"/>
              <a:ext cx="2303462" cy="503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29">
              <a:extLst>
                <a:ext uri="{FF2B5EF4-FFF2-40B4-BE49-F238E27FC236}">
                  <a16:creationId xmlns:a16="http://schemas.microsoft.com/office/drawing/2014/main" id="{D53303AD-56FE-3846-9807-7178D367A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2363" y="5300166"/>
              <a:ext cx="2376487" cy="865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0">
              <a:extLst>
                <a:ext uri="{FF2B5EF4-FFF2-40B4-BE49-F238E27FC236}">
                  <a16:creationId xmlns:a16="http://schemas.microsoft.com/office/drawing/2014/main" id="{5139EC58-CFA8-4540-817B-5E209B89E0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00788" y="5300166"/>
              <a:ext cx="1008062" cy="17287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1">
              <a:extLst>
                <a:ext uri="{FF2B5EF4-FFF2-40B4-BE49-F238E27FC236}">
                  <a16:creationId xmlns:a16="http://schemas.microsoft.com/office/drawing/2014/main" id="{476ACFEC-2BD8-044D-B4DD-DF37A15AF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363" y="6165353"/>
              <a:ext cx="1368425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7" name="Object 32">
              <a:extLst>
                <a:ext uri="{FF2B5EF4-FFF2-40B4-BE49-F238E27FC236}">
                  <a16:creationId xmlns:a16="http://schemas.microsoft.com/office/drawing/2014/main" id="{622444F9-AB9B-A340-B74C-299AC6C121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2120310"/>
                </p:ext>
              </p:extLst>
            </p:nvPr>
          </p:nvGraphicFramePr>
          <p:xfrm>
            <a:off x="2916238" y="4220666"/>
            <a:ext cx="328612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8634" imgH="47520" progId="Equation.3">
                    <p:embed/>
                  </p:oleObj>
                </mc:Choice>
                <mc:Fallback>
                  <p:oleObj name="Equation" r:id="rId2" imgW="28634" imgH="47520" progId="Equation.3">
                    <p:embed/>
                    <p:pic>
                      <p:nvPicPr>
                        <p:cNvPr id="31" name="Object 32">
                          <a:extLst>
                            <a:ext uri="{FF2B5EF4-FFF2-40B4-BE49-F238E27FC236}">
                              <a16:creationId xmlns:a16="http://schemas.microsoft.com/office/drawing/2014/main" id="{FEF88B2C-ED11-D14E-8169-C67495D6BC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6238" y="4220666"/>
                          <a:ext cx="328612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3">
              <a:extLst>
                <a:ext uri="{FF2B5EF4-FFF2-40B4-BE49-F238E27FC236}">
                  <a16:creationId xmlns:a16="http://schemas.microsoft.com/office/drawing/2014/main" id="{5B7C740D-25FB-8E41-8035-34B31E7A17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6092510"/>
                </p:ext>
              </p:extLst>
            </p:nvPr>
          </p:nvGraphicFramePr>
          <p:xfrm>
            <a:off x="2843213" y="6332041"/>
            <a:ext cx="304799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8634" imgH="85860" progId="Equation.3">
                    <p:embed/>
                  </p:oleObj>
                </mc:Choice>
                <mc:Fallback>
                  <p:oleObj name="Equation" r:id="rId4" imgW="28634" imgH="85860" progId="Equation.3">
                    <p:embed/>
                    <p:pic>
                      <p:nvPicPr>
                        <p:cNvPr id="32" name="Object 33">
                          <a:extLst>
                            <a:ext uri="{FF2B5EF4-FFF2-40B4-BE49-F238E27FC236}">
                              <a16:creationId xmlns:a16="http://schemas.microsoft.com/office/drawing/2014/main" id="{12EC3C72-7EEF-6C45-90B8-466C0121AE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213" y="6332041"/>
                          <a:ext cx="304799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4">
              <a:extLst>
                <a:ext uri="{FF2B5EF4-FFF2-40B4-BE49-F238E27FC236}">
                  <a16:creationId xmlns:a16="http://schemas.microsoft.com/office/drawing/2014/main" id="{53E208AF-39B1-2244-B240-E60A5D539F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628075"/>
                </p:ext>
              </p:extLst>
            </p:nvPr>
          </p:nvGraphicFramePr>
          <p:xfrm>
            <a:off x="4803775" y="4220666"/>
            <a:ext cx="296863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179" imgH="47520" progId="Equation.3">
                    <p:embed/>
                  </p:oleObj>
                </mc:Choice>
                <mc:Fallback>
                  <p:oleObj name="Equation" r:id="rId6" imgW="19179" imgH="47520" progId="Equation.3">
                    <p:embed/>
                    <p:pic>
                      <p:nvPicPr>
                        <p:cNvPr id="33" name="Object 34">
                          <a:extLst>
                            <a:ext uri="{FF2B5EF4-FFF2-40B4-BE49-F238E27FC236}">
                              <a16:creationId xmlns:a16="http://schemas.microsoft.com/office/drawing/2014/main" id="{B91F685D-EC77-A648-BCBC-51356F38E6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3775" y="4220666"/>
                          <a:ext cx="296863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5">
              <a:extLst>
                <a:ext uri="{FF2B5EF4-FFF2-40B4-BE49-F238E27FC236}">
                  <a16:creationId xmlns:a16="http://schemas.microsoft.com/office/drawing/2014/main" id="{CA8A15FD-7E20-874B-9570-8F1BB2124F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7411059"/>
                </p:ext>
              </p:extLst>
            </p:nvPr>
          </p:nvGraphicFramePr>
          <p:xfrm>
            <a:off x="4772025" y="6332041"/>
            <a:ext cx="360363" cy="458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7543" imgH="85860" progId="Equation.3">
                    <p:embed/>
                  </p:oleObj>
                </mc:Choice>
                <mc:Fallback>
                  <p:oleObj name="Equation" r:id="rId8" imgW="47543" imgH="85860" progId="Equation.3">
                    <p:embed/>
                    <p:pic>
                      <p:nvPicPr>
                        <p:cNvPr id="34" name="Object 35">
                          <a:extLst>
                            <a:ext uri="{FF2B5EF4-FFF2-40B4-BE49-F238E27FC236}">
                              <a16:creationId xmlns:a16="http://schemas.microsoft.com/office/drawing/2014/main" id="{EC86C7E9-60B5-7F4D-AC91-FFBDA6F64A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2025" y="6332041"/>
                          <a:ext cx="360363" cy="458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36">
              <a:extLst>
                <a:ext uri="{FF2B5EF4-FFF2-40B4-BE49-F238E27FC236}">
                  <a16:creationId xmlns:a16="http://schemas.microsoft.com/office/drawing/2014/main" id="{F3380DCF-6F50-784E-B632-9E91020902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1139119"/>
                </p:ext>
              </p:extLst>
            </p:nvPr>
          </p:nvGraphicFramePr>
          <p:xfrm>
            <a:off x="3692525" y="4266703"/>
            <a:ext cx="360363" cy="557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7543" imgH="123930" progId="Equation.3">
                    <p:embed/>
                  </p:oleObj>
                </mc:Choice>
                <mc:Fallback>
                  <p:oleObj name="Equation" r:id="rId10" imgW="47543" imgH="123930" progId="Equation.3">
                    <p:embed/>
                    <p:pic>
                      <p:nvPicPr>
                        <p:cNvPr id="35" name="Object 36">
                          <a:extLst>
                            <a:ext uri="{FF2B5EF4-FFF2-40B4-BE49-F238E27FC236}">
                              <a16:creationId xmlns:a16="http://schemas.microsoft.com/office/drawing/2014/main" id="{C5C15294-F31F-0040-9537-B0A0471544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2525" y="4266703"/>
                          <a:ext cx="360363" cy="557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37">
              <a:extLst>
                <a:ext uri="{FF2B5EF4-FFF2-40B4-BE49-F238E27FC236}">
                  <a16:creationId xmlns:a16="http://schemas.microsoft.com/office/drawing/2014/main" id="{E145A145-66E5-E346-B084-1FA22A9C5C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1626917"/>
                </p:ext>
              </p:extLst>
            </p:nvPr>
          </p:nvGraphicFramePr>
          <p:xfrm>
            <a:off x="3548063" y="5084266"/>
            <a:ext cx="393700" cy="557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7268" imgH="123930" progId="Equation.3">
                    <p:embed/>
                  </p:oleObj>
                </mc:Choice>
                <mc:Fallback>
                  <p:oleObj name="Equation" r:id="rId12" imgW="57268" imgH="123930" progId="Equation.3">
                    <p:embed/>
                    <p:pic>
                      <p:nvPicPr>
                        <p:cNvPr id="36" name="Object 37">
                          <a:extLst>
                            <a:ext uri="{FF2B5EF4-FFF2-40B4-BE49-F238E27FC236}">
                              <a16:creationId xmlns:a16="http://schemas.microsoft.com/office/drawing/2014/main" id="{688E88AC-079D-884F-AC68-EA294FC8E5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8063" y="5084266"/>
                          <a:ext cx="393700" cy="557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38">
              <a:extLst>
                <a:ext uri="{FF2B5EF4-FFF2-40B4-BE49-F238E27FC236}">
                  <a16:creationId xmlns:a16="http://schemas.microsoft.com/office/drawing/2014/main" id="{83BDB258-EEBC-0748-B583-66A0CBC9E8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3909254"/>
                </p:ext>
              </p:extLst>
            </p:nvPr>
          </p:nvGraphicFramePr>
          <p:xfrm>
            <a:off x="3908425" y="6149478"/>
            <a:ext cx="392113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7268" imgH="133380" progId="Equation.3">
                    <p:embed/>
                  </p:oleObj>
                </mc:Choice>
                <mc:Fallback>
                  <p:oleObj name="Equation" r:id="rId14" imgW="57268" imgH="133380" progId="Equation.3">
                    <p:embed/>
                    <p:pic>
                      <p:nvPicPr>
                        <p:cNvPr id="37" name="Object 38">
                          <a:extLst>
                            <a:ext uri="{FF2B5EF4-FFF2-40B4-BE49-F238E27FC236}">
                              <a16:creationId xmlns:a16="http://schemas.microsoft.com/office/drawing/2014/main" id="{0EC7DCEA-31B6-C742-B511-063B2FA955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8425" y="6149478"/>
                          <a:ext cx="392113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371AF7-7E44-46B7-A37B-7F69C2510895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12288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对于删除的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- 1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均选取一个不同于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当把这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– 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个节点都删除时至少删除了上面的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- 1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若删除这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– 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个节点后不连通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则显然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)≤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–1 &lt;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若删除这</a:t>
            </a:r>
            <a:r>
              <a:rPr lang="el-GR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– 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个节点后连通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再删除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所得到的图不连通或是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</a:p>
          <a:p>
            <a:pPr eaLnBrk="1" hangingPunct="1">
              <a:lnSpc>
                <a:spcPct val="120000"/>
              </a:lnSpc>
              <a:buFont typeface="Wingdings 2" pitchFamily="18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即得知结论成立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E1139E-52C7-4F32-BF1F-EB5617820DFA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196610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3908" name="Rectangle 3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/>
              <a:t>小结与作业</a:t>
            </a:r>
          </a:p>
        </p:txBody>
      </p:sp>
      <p:grpSp>
        <p:nvGrpSpPr>
          <p:cNvPr id="123909" name="Group 4"/>
          <p:cNvGrpSpPr>
            <a:grpSpLocks/>
          </p:cNvGrpSpPr>
          <p:nvPr/>
        </p:nvGrpSpPr>
        <p:grpSpPr bwMode="auto">
          <a:xfrm>
            <a:off x="1401620" y="1538890"/>
            <a:ext cx="5181600" cy="508000"/>
            <a:chOff x="1419" y="1480"/>
            <a:chExt cx="3575" cy="363"/>
          </a:xfrm>
        </p:grpSpPr>
        <p:grpSp>
          <p:nvGrpSpPr>
            <p:cNvPr id="123944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96614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96615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  <a:latin typeface="Times New Roman" pitchFamily="18" charset="0"/>
                  </a:rPr>
                  <a:t>连通无向图的定义</a:t>
                </a:r>
              </a:p>
            </p:txBody>
          </p:sp>
        </p:grpSp>
        <p:sp>
          <p:nvSpPr>
            <p:cNvPr id="196616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3946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3910" name="Group 10"/>
          <p:cNvGrpSpPr>
            <a:grpSpLocks/>
          </p:cNvGrpSpPr>
          <p:nvPr/>
        </p:nvGrpSpPr>
        <p:grpSpPr bwMode="auto">
          <a:xfrm>
            <a:off x="1981200" y="2481466"/>
            <a:ext cx="5181600" cy="508000"/>
            <a:chOff x="1419" y="1480"/>
            <a:chExt cx="3575" cy="363"/>
          </a:xfrm>
        </p:grpSpPr>
        <p:grpSp>
          <p:nvGrpSpPr>
            <p:cNvPr id="123939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96620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96621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无向图的连通分支</a:t>
                </a:r>
              </a:p>
            </p:txBody>
          </p:sp>
        </p:grpSp>
        <p:sp>
          <p:nvSpPr>
            <p:cNvPr id="196622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394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3912" name="AutoShape 22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123914" name="Group 24"/>
          <p:cNvGrpSpPr>
            <a:grpSpLocks/>
          </p:cNvGrpSpPr>
          <p:nvPr/>
        </p:nvGrpSpPr>
        <p:grpSpPr bwMode="auto">
          <a:xfrm>
            <a:off x="1116013" y="5105404"/>
            <a:ext cx="5380037" cy="665163"/>
            <a:chOff x="1152" y="2845"/>
            <a:chExt cx="3408" cy="419"/>
          </a:xfrm>
        </p:grpSpPr>
        <p:grpSp>
          <p:nvGrpSpPr>
            <p:cNvPr id="123927" name="Group 25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23931" name="AutoShape 26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932" name="AutoShape 27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636" name="AutoShape 28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23928" name="Line 29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30" name="Text Box 31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作业</a:t>
              </a:r>
            </a:p>
          </p:txBody>
        </p:sp>
      </p:grpSp>
      <p:grpSp>
        <p:nvGrpSpPr>
          <p:cNvPr id="123915" name="Group 4"/>
          <p:cNvGrpSpPr>
            <a:grpSpLocks/>
          </p:cNvGrpSpPr>
          <p:nvPr/>
        </p:nvGrpSpPr>
        <p:grpSpPr bwMode="auto">
          <a:xfrm>
            <a:off x="2067985" y="3561870"/>
            <a:ext cx="5181600" cy="508000"/>
            <a:chOff x="1419" y="1480"/>
            <a:chExt cx="3575" cy="363"/>
          </a:xfrm>
        </p:grpSpPr>
        <p:grpSp>
          <p:nvGrpSpPr>
            <p:cNvPr id="123922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8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无向连通图的点连通度</a:t>
                </a:r>
              </a:p>
            </p:txBody>
          </p:sp>
        </p:grpSp>
        <p:sp>
          <p:nvSpPr>
            <p:cNvPr id="36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3924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3916" name="Group 10"/>
          <p:cNvGrpSpPr>
            <a:grpSpLocks/>
          </p:cNvGrpSpPr>
          <p:nvPr/>
        </p:nvGrpSpPr>
        <p:grpSpPr bwMode="auto">
          <a:xfrm>
            <a:off x="1820863" y="4538663"/>
            <a:ext cx="5181600" cy="508000"/>
            <a:chOff x="1419" y="1480"/>
            <a:chExt cx="3575" cy="363"/>
          </a:xfrm>
        </p:grpSpPr>
        <p:grpSp>
          <p:nvGrpSpPr>
            <p:cNvPr id="123917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44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5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无向连通图的边连通度</a:t>
                </a:r>
              </a:p>
            </p:txBody>
          </p:sp>
        </p:grpSp>
        <p:sp>
          <p:nvSpPr>
            <p:cNvPr id="42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3919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7EC62-05BF-4C17-91AF-FF4EC74C4E26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124931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>
                <a:latin typeface="Times New Roman" pitchFamily="18" charset="0"/>
              </a:rPr>
              <a:t>6.5  </a:t>
            </a:r>
            <a:r>
              <a:rPr lang="zh-CN" altLang="en-US" b="1">
                <a:latin typeface="Times New Roman" pitchFamily="18" charset="0"/>
              </a:rPr>
              <a:t>图的连通性</a:t>
            </a:r>
            <a:endParaRPr lang="zh-CN" altLang="en-US" b="1"/>
          </a:p>
        </p:txBody>
      </p:sp>
      <p:sp>
        <p:nvSpPr>
          <p:cNvPr id="124932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124933" name="Group 4"/>
          <p:cNvGrpSpPr>
            <a:grpSpLocks/>
          </p:cNvGrpSpPr>
          <p:nvPr/>
        </p:nvGrpSpPr>
        <p:grpSpPr bwMode="auto">
          <a:xfrm>
            <a:off x="1042988" y="1365250"/>
            <a:ext cx="5410200" cy="712788"/>
            <a:chOff x="1152" y="1101"/>
            <a:chExt cx="3408" cy="449"/>
          </a:xfrm>
        </p:grpSpPr>
        <p:grpSp>
          <p:nvGrpSpPr>
            <p:cNvPr id="124951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124955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956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8120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2495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53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无向图的连通性</a:t>
              </a:r>
            </a:p>
          </p:txBody>
        </p:sp>
        <p:sp>
          <p:nvSpPr>
            <p:cNvPr id="124954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124934" name="Group 12"/>
          <p:cNvGrpSpPr>
            <a:grpSpLocks/>
          </p:cNvGrpSpPr>
          <p:nvPr/>
        </p:nvGrpSpPr>
        <p:grpSpPr bwMode="auto">
          <a:xfrm>
            <a:off x="1042988" y="2708275"/>
            <a:ext cx="7827962" cy="712788"/>
            <a:chOff x="1152" y="1677"/>
            <a:chExt cx="4931" cy="449"/>
          </a:xfrm>
        </p:grpSpPr>
        <p:grpSp>
          <p:nvGrpSpPr>
            <p:cNvPr id="124944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24948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949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8128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24945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46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39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无向连通图的点连通度与边连通度</a:t>
              </a:r>
            </a:p>
          </p:txBody>
        </p:sp>
        <p:sp>
          <p:nvSpPr>
            <p:cNvPr id="124947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124935" name="Group 20"/>
          <p:cNvGrpSpPr>
            <a:grpSpLocks/>
          </p:cNvGrpSpPr>
          <p:nvPr/>
        </p:nvGrpSpPr>
        <p:grpSpPr bwMode="auto">
          <a:xfrm>
            <a:off x="1042988" y="4076700"/>
            <a:ext cx="5410200" cy="712788"/>
            <a:chOff x="1152" y="2239"/>
            <a:chExt cx="3408" cy="449"/>
          </a:xfrm>
        </p:grpSpPr>
        <p:grpSp>
          <p:nvGrpSpPr>
            <p:cNvPr id="124937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24941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942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8136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24938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39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有向图的连通性</a:t>
              </a:r>
            </a:p>
          </p:txBody>
        </p:sp>
        <p:sp>
          <p:nvSpPr>
            <p:cNvPr id="124940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sp>
        <p:nvSpPr>
          <p:cNvPr id="124936" name="Rectangle 28"/>
          <p:cNvSpPr>
            <a:spLocks noChangeArrowheads="1"/>
          </p:cNvSpPr>
          <p:nvPr/>
        </p:nvSpPr>
        <p:spPr bwMode="auto">
          <a:xfrm>
            <a:off x="971550" y="3716338"/>
            <a:ext cx="5545138" cy="1441450"/>
          </a:xfrm>
          <a:prstGeom prst="rect">
            <a:avLst/>
          </a:prstGeom>
          <a:noFill/>
          <a:ln w="38100" algn="ctr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5272D8-1295-DD4A-B22F-1A0014CC1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46" y="548680"/>
            <a:ext cx="8540750" cy="4902373"/>
          </a:xfrm>
        </p:spPr>
        <p:txBody>
          <a:bodyPr/>
          <a:lstStyle/>
          <a:p>
            <a:r>
              <a:rPr kumimoji="1" lang="zh-Hans" altLang="en-US" dirty="0"/>
              <a:t>连通性</a:t>
            </a:r>
            <a:endParaRPr kumimoji="1" lang="en-US" altLang="zh-Hans" dirty="0"/>
          </a:p>
          <a:p>
            <a:r>
              <a:rPr kumimoji="1" lang="zh-Hans" altLang="en-US" dirty="0"/>
              <a:t>无向图？</a:t>
            </a:r>
            <a:endParaRPr kumimoji="1" lang="en-US" altLang="zh-Hans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Hans" altLang="en-US" dirty="0"/>
              <a:t>有向图？</a:t>
            </a:r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5C44D505-1EC1-8647-8D23-238045AA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5092" y="6306369"/>
            <a:ext cx="2289175" cy="476250"/>
          </a:xfrm>
        </p:spPr>
        <p:txBody>
          <a:bodyPr/>
          <a:lstStyle/>
          <a:p>
            <a:pPr>
              <a:defRPr/>
            </a:pPr>
            <a:fld id="{0A888A11-146E-4ED3-BE13-8C24FE4F5897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B71681-60B9-B44A-B783-75AAB115F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695" y="640383"/>
            <a:ext cx="1975329" cy="264460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4C69968-7747-E446-8C8C-DFEBF2F5A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478" y="681260"/>
            <a:ext cx="1922866" cy="2603724"/>
          </a:xfrm>
          <a:prstGeom prst="rect">
            <a:avLst/>
          </a:prstGeom>
        </p:spPr>
      </p:pic>
      <p:sp>
        <p:nvSpPr>
          <p:cNvPr id="9" name="Oval 3">
            <a:extLst>
              <a:ext uri="{FF2B5EF4-FFF2-40B4-BE49-F238E27FC236}">
                <a16:creationId xmlns:a16="http://schemas.microsoft.com/office/drawing/2014/main" id="{06E08950-B1A0-4D44-95F7-16DE35C79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12993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CC023422-29D2-004E-89FE-96A9515B6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730" y="412993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E77336E8-591B-3340-8273-6153E8D45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85713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6">
            <a:extLst>
              <a:ext uri="{FF2B5EF4-FFF2-40B4-BE49-F238E27FC236}">
                <a16:creationId xmlns:a16="http://schemas.microsoft.com/office/drawing/2014/main" id="{A64CD6E8-38F8-5040-8A52-F9E68975A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448" y="585713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8B0A65CA-0722-284C-8EBE-5B68D9BEA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610" y="412993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Oval 8">
            <a:extLst>
              <a:ext uri="{FF2B5EF4-FFF2-40B4-BE49-F238E27FC236}">
                <a16:creationId xmlns:a16="http://schemas.microsoft.com/office/drawing/2014/main" id="{71588A26-EB8B-5D4B-AD89-6FF10EE77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448" y="412993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Oval 9">
            <a:extLst>
              <a:ext uri="{FF2B5EF4-FFF2-40B4-BE49-F238E27FC236}">
                <a16:creationId xmlns:a16="http://schemas.microsoft.com/office/drawing/2014/main" id="{5A44C799-DC71-724A-8C4D-A2E9D9609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023" y="592856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Oval 10">
            <a:extLst>
              <a:ext uri="{FF2B5EF4-FFF2-40B4-BE49-F238E27FC236}">
                <a16:creationId xmlns:a16="http://schemas.microsoft.com/office/drawing/2014/main" id="{6A19FD56-67F6-6D4C-92C5-76185C9BE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448" y="593015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Oval 11">
            <a:extLst>
              <a:ext uri="{FF2B5EF4-FFF2-40B4-BE49-F238E27FC236}">
                <a16:creationId xmlns:a16="http://schemas.microsoft.com/office/drawing/2014/main" id="{975B44D3-4432-7E40-8EB1-2AFC8631C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8" y="4201938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id="{C90FFF5C-AB43-C345-A333-426A21FDB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348" y="4201938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Oval 13">
            <a:extLst>
              <a:ext uri="{FF2B5EF4-FFF2-40B4-BE49-F238E27FC236}">
                <a16:creationId xmlns:a16="http://schemas.microsoft.com/office/drawing/2014/main" id="{E2048FE6-4C70-FE46-B42C-E850245F4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486" y="5929138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Oval 14">
            <a:extLst>
              <a:ext uri="{FF2B5EF4-FFF2-40B4-BE49-F238E27FC236}">
                <a16:creationId xmlns:a16="http://schemas.microsoft.com/office/drawing/2014/main" id="{CFDADF17-C25F-EA4E-B64B-E0B96E268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348" y="5929138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15">
            <a:extLst>
              <a:ext uri="{FF2B5EF4-FFF2-40B4-BE49-F238E27FC236}">
                <a16:creationId xmlns:a16="http://schemas.microsoft.com/office/drawing/2014/main" id="{862010A8-6135-EF43-B340-15D755AE0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998" y="4201368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6">
            <a:extLst>
              <a:ext uri="{FF2B5EF4-FFF2-40B4-BE49-F238E27FC236}">
                <a16:creationId xmlns:a16="http://schemas.microsoft.com/office/drawing/2014/main" id="{3BFACC92-9F3C-7B4E-89A4-364FCF720E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4297" y="4345830"/>
            <a:ext cx="1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BD500CAD-9769-0B48-B358-534C2C317B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7460" y="5930155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8">
            <a:extLst>
              <a:ext uri="{FF2B5EF4-FFF2-40B4-BE49-F238E27FC236}">
                <a16:creationId xmlns:a16="http://schemas.microsoft.com/office/drawing/2014/main" id="{99D26651-F019-FE46-B084-DE6CC19831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2998" y="4272805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Object 20">
            <a:extLst>
              <a:ext uri="{FF2B5EF4-FFF2-40B4-BE49-F238E27FC236}">
                <a16:creationId xmlns:a16="http://schemas.microsoft.com/office/drawing/2014/main" id="{8FBB0C2C-E0A3-0C45-988A-26D22108A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330003"/>
              </p:ext>
            </p:extLst>
          </p:nvPr>
        </p:nvGraphicFramePr>
        <p:xfrm>
          <a:off x="1116385" y="6168280"/>
          <a:ext cx="5937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446" imgH="104760" progId="Equation.3">
                  <p:embed/>
                </p:oleObj>
              </mc:Choice>
              <mc:Fallback>
                <p:oleObj name="Equation" r:id="rId4" imgW="133446" imgH="104760" progId="Equation.3">
                  <p:embed/>
                  <p:pic>
                    <p:nvPicPr>
                      <p:cNvPr id="19" name="Object 20">
                        <a:extLst>
                          <a:ext uri="{FF2B5EF4-FFF2-40B4-BE49-F238E27FC236}">
                            <a16:creationId xmlns:a16="http://schemas.microsoft.com/office/drawing/2014/main" id="{7804D9E6-D830-144A-8A98-D0A42467A4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385" y="6168280"/>
                        <a:ext cx="5937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Line 21">
            <a:extLst>
              <a:ext uri="{FF2B5EF4-FFF2-40B4-BE49-F238E27FC236}">
                <a16:creationId xmlns:a16="http://schemas.microsoft.com/office/drawing/2014/main" id="{0F2EE5CA-B3F1-F34C-8EE5-E7E04602D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510" y="4201368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2">
            <a:extLst>
              <a:ext uri="{FF2B5EF4-FFF2-40B4-BE49-F238E27FC236}">
                <a16:creationId xmlns:a16="http://schemas.microsoft.com/office/drawing/2014/main" id="{2447EC21-1679-1043-A7F2-DBFF48B79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473" y="4345830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5E846CF1-4DA9-7147-A9CD-5CD1AA026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485" y="600159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4">
            <a:extLst>
              <a:ext uri="{FF2B5EF4-FFF2-40B4-BE49-F238E27FC236}">
                <a16:creationId xmlns:a16="http://schemas.microsoft.com/office/drawing/2014/main" id="{D1110180-138B-3348-AEBF-783B924625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8048" y="4417268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Object 25">
            <a:extLst>
              <a:ext uri="{FF2B5EF4-FFF2-40B4-BE49-F238E27FC236}">
                <a16:creationId xmlns:a16="http://schemas.microsoft.com/office/drawing/2014/main" id="{1236C13C-9942-4749-B83C-DC23180F8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676711"/>
              </p:ext>
            </p:extLst>
          </p:nvPr>
        </p:nvGraphicFramePr>
        <p:xfrm>
          <a:off x="3419848" y="6217493"/>
          <a:ext cx="5937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446" imgH="104760" progId="Equation.3">
                  <p:embed/>
                </p:oleObj>
              </mc:Choice>
              <mc:Fallback>
                <p:oleObj name="Equation" r:id="rId6" imgW="133446" imgH="104760" progId="Equation.3">
                  <p:embed/>
                  <p:pic>
                    <p:nvPicPr>
                      <p:cNvPr id="24" name="Object 25">
                        <a:extLst>
                          <a:ext uri="{FF2B5EF4-FFF2-40B4-BE49-F238E27FC236}">
                            <a16:creationId xmlns:a16="http://schemas.microsoft.com/office/drawing/2014/main" id="{11E1A083-B5C1-6A44-8199-75DE9A7224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48" y="6217493"/>
                        <a:ext cx="5937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26">
            <a:extLst>
              <a:ext uri="{FF2B5EF4-FFF2-40B4-BE49-F238E27FC236}">
                <a16:creationId xmlns:a16="http://schemas.microsoft.com/office/drawing/2014/main" id="{A31017D2-3D18-3946-9557-711069BE0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6923" y="4273376"/>
            <a:ext cx="122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27">
            <a:extLst>
              <a:ext uri="{FF2B5EF4-FFF2-40B4-BE49-F238E27FC236}">
                <a16:creationId xmlns:a16="http://schemas.microsoft.com/office/drawing/2014/main" id="{A2C3A0A5-1013-4F4D-8E1C-9EE319EC9D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8373" y="4489276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28">
            <a:extLst>
              <a:ext uri="{FF2B5EF4-FFF2-40B4-BE49-F238E27FC236}">
                <a16:creationId xmlns:a16="http://schemas.microsoft.com/office/drawing/2014/main" id="{1CCE8D4D-E1D3-AC4F-B95E-6100EB447B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1386" y="6002163"/>
            <a:ext cx="1081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29">
            <a:extLst>
              <a:ext uri="{FF2B5EF4-FFF2-40B4-BE49-F238E27FC236}">
                <a16:creationId xmlns:a16="http://schemas.microsoft.com/office/drawing/2014/main" id="{FD2E565F-5B5D-C742-B487-E150C2ACDB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5486" y="4489276"/>
            <a:ext cx="0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6" name="Object 30">
            <a:extLst>
              <a:ext uri="{FF2B5EF4-FFF2-40B4-BE49-F238E27FC236}">
                <a16:creationId xmlns:a16="http://schemas.microsoft.com/office/drawing/2014/main" id="{70B9E0F1-B4EF-6C4B-8984-6581FE915F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020120"/>
              </p:ext>
            </p:extLst>
          </p:nvPr>
        </p:nvGraphicFramePr>
        <p:xfrm>
          <a:off x="5596186" y="6289501"/>
          <a:ext cx="5603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721" imgH="104760" progId="Equation.3">
                  <p:embed/>
                </p:oleObj>
              </mc:Choice>
              <mc:Fallback>
                <p:oleObj name="Equation" r:id="rId8" imgW="123721" imgH="104760" progId="Equation.3">
                  <p:embed/>
                  <p:pic>
                    <p:nvPicPr>
                      <p:cNvPr id="29" name="Object 30">
                        <a:extLst>
                          <a:ext uri="{FF2B5EF4-FFF2-40B4-BE49-F238E27FC236}">
                            <a16:creationId xmlns:a16="http://schemas.microsoft.com/office/drawing/2014/main" id="{31B606F5-5FB4-294B-AFFD-5A4B7545D7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6186" y="6289501"/>
                        <a:ext cx="5603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CCD8E197-FE19-7F41-9D69-EAE025B50504}"/>
              </a:ext>
            </a:extLst>
          </p:cNvPr>
          <p:cNvSpPr txBox="1"/>
          <p:nvPr/>
        </p:nvSpPr>
        <p:spPr>
          <a:xfrm>
            <a:off x="107504" y="-27384"/>
            <a:ext cx="1644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2800" dirty="0"/>
              <a:t>引   入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4367746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94E304-ED46-487C-8CD0-D5DECCEE8F8B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12595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6.5.3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有向图的连通性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无向图只有连通与不连通两种情况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而有向图存在多种连通特性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有向图的连通性分下述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种情形分别讨论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E52FBE-FF01-B84C-B64D-11B2694516BA}"/>
              </a:ext>
            </a:extLst>
          </p:cNvPr>
          <p:cNvSpPr txBox="1"/>
          <p:nvPr/>
        </p:nvSpPr>
        <p:spPr>
          <a:xfrm>
            <a:off x="966746" y="3861048"/>
            <a:ext cx="3600400" cy="145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强连通</a:t>
            </a:r>
            <a:endParaRPr kumimoji="1" lang="en-US" altLang="zh-Hans" sz="2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Hans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弱连通</a:t>
            </a:r>
            <a:endParaRPr kumimoji="1" lang="en-US" altLang="zh-Hans" sz="2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Hans" altLang="en-US" sz="2600" dirty="0">
                <a:latin typeface="SimSun" panose="02010600030101010101" pitchFamily="2" charset="-122"/>
                <a:ea typeface="SimSun" panose="02010600030101010101" pitchFamily="2" charset="-122"/>
              </a:rPr>
              <a:t>单向连通</a:t>
            </a:r>
            <a:endParaRPr kumimoji="1" lang="zh-CN" altLang="en-US" sz="2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B399D5-1FA3-4691-88A8-1290F361BF83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128003" name="Rectangle 2"/>
          <p:cNvSpPr>
            <a:spLocks noGrp="1" noRot="1" noChangeArrowheads="1"/>
          </p:cNvSpPr>
          <p:nvPr>
            <p:ph/>
          </p:nvPr>
        </p:nvSpPr>
        <p:spPr>
          <a:xfrm>
            <a:off x="301625" y="228600"/>
            <a:ext cx="8540750" cy="6368752"/>
          </a:xfrm>
        </p:spPr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强连通图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 单向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连通图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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弱连通图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但反过来均不成立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128004" name="Oval 3"/>
          <p:cNvSpPr>
            <a:spLocks noChangeArrowheads="1"/>
          </p:cNvSpPr>
          <p:nvPr/>
        </p:nvSpPr>
        <p:spPr bwMode="auto">
          <a:xfrm>
            <a:off x="971550" y="765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05" name="Oval 4"/>
          <p:cNvSpPr>
            <a:spLocks noChangeArrowheads="1"/>
          </p:cNvSpPr>
          <p:nvPr/>
        </p:nvSpPr>
        <p:spPr bwMode="auto">
          <a:xfrm>
            <a:off x="2448720" y="7651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06" name="Oval 5"/>
          <p:cNvSpPr>
            <a:spLocks noChangeArrowheads="1"/>
          </p:cNvSpPr>
          <p:nvPr/>
        </p:nvSpPr>
        <p:spPr bwMode="auto">
          <a:xfrm>
            <a:off x="971550" y="24923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07" name="Oval 6"/>
          <p:cNvSpPr>
            <a:spLocks noChangeArrowheads="1"/>
          </p:cNvSpPr>
          <p:nvPr/>
        </p:nvSpPr>
        <p:spPr bwMode="auto">
          <a:xfrm>
            <a:off x="2484438" y="24923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08" name="Oval 7"/>
          <p:cNvSpPr>
            <a:spLocks noChangeArrowheads="1"/>
          </p:cNvSpPr>
          <p:nvPr/>
        </p:nvSpPr>
        <p:spPr bwMode="auto">
          <a:xfrm>
            <a:off x="3276600" y="765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09" name="Oval 8"/>
          <p:cNvSpPr>
            <a:spLocks noChangeArrowheads="1"/>
          </p:cNvSpPr>
          <p:nvPr/>
        </p:nvSpPr>
        <p:spPr bwMode="auto">
          <a:xfrm>
            <a:off x="4643438" y="7651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10" name="Oval 9"/>
          <p:cNvSpPr>
            <a:spLocks noChangeArrowheads="1"/>
          </p:cNvSpPr>
          <p:nvPr/>
        </p:nvSpPr>
        <p:spPr bwMode="auto">
          <a:xfrm>
            <a:off x="3275013" y="25638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11" name="Oval 10"/>
          <p:cNvSpPr>
            <a:spLocks noChangeArrowheads="1"/>
          </p:cNvSpPr>
          <p:nvPr/>
        </p:nvSpPr>
        <p:spPr bwMode="auto">
          <a:xfrm>
            <a:off x="4643438" y="25654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12" name="Oval 11"/>
          <p:cNvSpPr>
            <a:spLocks noChangeArrowheads="1"/>
          </p:cNvSpPr>
          <p:nvPr/>
        </p:nvSpPr>
        <p:spPr bwMode="auto">
          <a:xfrm>
            <a:off x="5724525" y="765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13" name="Oval 12"/>
          <p:cNvSpPr>
            <a:spLocks noChangeArrowheads="1"/>
          </p:cNvSpPr>
          <p:nvPr/>
        </p:nvSpPr>
        <p:spPr bwMode="auto">
          <a:xfrm>
            <a:off x="7235825" y="765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14" name="Oval 13"/>
          <p:cNvSpPr>
            <a:spLocks noChangeArrowheads="1"/>
          </p:cNvSpPr>
          <p:nvPr/>
        </p:nvSpPr>
        <p:spPr bwMode="auto">
          <a:xfrm>
            <a:off x="5795963" y="24923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15" name="Oval 14"/>
          <p:cNvSpPr>
            <a:spLocks noChangeArrowheads="1"/>
          </p:cNvSpPr>
          <p:nvPr/>
        </p:nvSpPr>
        <p:spPr bwMode="auto">
          <a:xfrm>
            <a:off x="7235825" y="24923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16" name="Line 15"/>
          <p:cNvSpPr>
            <a:spLocks noChangeShapeType="1"/>
          </p:cNvSpPr>
          <p:nvPr/>
        </p:nvSpPr>
        <p:spPr bwMode="auto">
          <a:xfrm>
            <a:off x="1042988" y="836613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17" name="Line 16"/>
          <p:cNvSpPr>
            <a:spLocks noChangeShapeType="1"/>
          </p:cNvSpPr>
          <p:nvPr/>
        </p:nvSpPr>
        <p:spPr bwMode="auto">
          <a:xfrm flipH="1">
            <a:off x="2554287" y="981075"/>
            <a:ext cx="1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18" name="Line 17"/>
          <p:cNvSpPr>
            <a:spLocks noChangeShapeType="1"/>
          </p:cNvSpPr>
          <p:nvPr/>
        </p:nvSpPr>
        <p:spPr bwMode="auto">
          <a:xfrm flipH="1">
            <a:off x="1187450" y="25654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19" name="Line 18"/>
          <p:cNvSpPr>
            <a:spLocks noChangeShapeType="1"/>
          </p:cNvSpPr>
          <p:nvPr/>
        </p:nvSpPr>
        <p:spPr bwMode="auto">
          <a:xfrm flipV="1">
            <a:off x="1042988" y="908050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0" name="Line 19"/>
          <p:cNvSpPr>
            <a:spLocks noChangeShapeType="1"/>
          </p:cNvSpPr>
          <p:nvPr/>
        </p:nvSpPr>
        <p:spPr bwMode="auto">
          <a:xfrm flipV="1">
            <a:off x="1116013" y="1052513"/>
            <a:ext cx="1295400" cy="14398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8021" name="Object 20"/>
          <p:cNvGraphicFramePr>
            <a:graphicFrameLocks noChangeAspect="1"/>
          </p:cNvGraphicFramePr>
          <p:nvPr/>
        </p:nvGraphicFramePr>
        <p:xfrm>
          <a:off x="1476375" y="2803525"/>
          <a:ext cx="5937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446" imgH="104760" progId="Equation.3">
                  <p:embed/>
                </p:oleObj>
              </mc:Choice>
              <mc:Fallback>
                <p:oleObj name="Equation" r:id="rId3" imgW="133446" imgH="10476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803525"/>
                        <a:ext cx="5937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22" name="Line 21"/>
          <p:cNvSpPr>
            <a:spLocks noChangeShapeType="1"/>
          </p:cNvSpPr>
          <p:nvPr/>
        </p:nvSpPr>
        <p:spPr bwMode="auto">
          <a:xfrm>
            <a:off x="3492500" y="836613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3" name="Line 22"/>
          <p:cNvSpPr>
            <a:spLocks noChangeShapeType="1"/>
          </p:cNvSpPr>
          <p:nvPr/>
        </p:nvSpPr>
        <p:spPr bwMode="auto">
          <a:xfrm>
            <a:off x="4716463" y="981075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4" name="Line 23"/>
          <p:cNvSpPr>
            <a:spLocks noChangeShapeType="1"/>
          </p:cNvSpPr>
          <p:nvPr/>
        </p:nvSpPr>
        <p:spPr bwMode="auto">
          <a:xfrm>
            <a:off x="3419475" y="2636838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5" name="Line 24"/>
          <p:cNvSpPr>
            <a:spLocks noChangeShapeType="1"/>
          </p:cNvSpPr>
          <p:nvPr/>
        </p:nvSpPr>
        <p:spPr bwMode="auto">
          <a:xfrm flipV="1">
            <a:off x="3348038" y="1052513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8026" name="Object 25"/>
          <p:cNvGraphicFramePr>
            <a:graphicFrameLocks noChangeAspect="1"/>
          </p:cNvGraphicFramePr>
          <p:nvPr/>
        </p:nvGraphicFramePr>
        <p:xfrm>
          <a:off x="3779838" y="2852738"/>
          <a:ext cx="5937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446" imgH="104760" progId="Equation.3">
                  <p:embed/>
                </p:oleObj>
              </mc:Choice>
              <mc:Fallback>
                <p:oleObj name="Equation" r:id="rId5" imgW="133446" imgH="10476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2852738"/>
                        <a:ext cx="5937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27" name="Line 26"/>
          <p:cNvSpPr>
            <a:spLocks noChangeShapeType="1"/>
          </p:cNvSpPr>
          <p:nvPr/>
        </p:nvSpPr>
        <p:spPr bwMode="auto">
          <a:xfrm>
            <a:off x="5867400" y="836613"/>
            <a:ext cx="122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8" name="Line 27"/>
          <p:cNvSpPr>
            <a:spLocks noChangeShapeType="1"/>
          </p:cNvSpPr>
          <p:nvPr/>
        </p:nvSpPr>
        <p:spPr bwMode="auto">
          <a:xfrm flipV="1">
            <a:off x="7308850" y="1052513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29" name="Line 28"/>
          <p:cNvSpPr>
            <a:spLocks noChangeShapeType="1"/>
          </p:cNvSpPr>
          <p:nvPr/>
        </p:nvSpPr>
        <p:spPr bwMode="auto">
          <a:xfrm flipH="1">
            <a:off x="6011863" y="2565400"/>
            <a:ext cx="1081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30" name="Line 29"/>
          <p:cNvSpPr>
            <a:spLocks noChangeShapeType="1"/>
          </p:cNvSpPr>
          <p:nvPr/>
        </p:nvSpPr>
        <p:spPr bwMode="auto">
          <a:xfrm>
            <a:off x="5795963" y="1052513"/>
            <a:ext cx="0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8031" name="Object 30"/>
          <p:cNvGraphicFramePr>
            <a:graphicFrameLocks noChangeAspect="1"/>
          </p:cNvGraphicFramePr>
          <p:nvPr/>
        </p:nvGraphicFramePr>
        <p:xfrm>
          <a:off x="6316663" y="2852738"/>
          <a:ext cx="5603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721" imgH="104760" progId="Equation.3">
                  <p:embed/>
                </p:oleObj>
              </mc:Choice>
              <mc:Fallback>
                <p:oleObj name="Equation" r:id="rId7" imgW="123721" imgH="1047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6663" y="2852738"/>
                        <a:ext cx="5603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80A0D5-EC38-4F97-8592-4FCE969F4BDF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12697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强连通图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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zh-CN" alt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均相互可达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强连通图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(strongly connected digraph).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由定义易知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是一个强连通图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特别地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平凡图是强连通图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250505-E39F-4BD2-A4F0-6ABB89E2532C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129027" name="Rectangle 2"/>
          <p:cNvSpPr>
            <a:spLocks noGrp="1" noRot="1" noChangeArrowheads="1"/>
          </p:cNvSpPr>
          <p:nvPr>
            <p:ph/>
          </p:nvPr>
        </p:nvSpPr>
        <p:spPr>
          <a:xfrm>
            <a:off x="301625" y="44624"/>
            <a:ext cx="8540750" cy="5870575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Theorem6-7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≥2)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强连通当且仅当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中存在一条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它通过所有节点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F0A704-7A2A-BE43-955A-8262BA80CC86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323528" y="2204864"/>
            <a:ext cx="8540750" cy="587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5000"/>
              <a:buFont typeface="Wingdings 2" pitchFamily="18" charset="2"/>
              <a:buChar char="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 2" pitchFamily="18" charset="2"/>
              <a:buChar char="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  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是有向图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的极大的强连通子图称为</a:t>
            </a:r>
            <a:r>
              <a:rPr lang="en-US" altLang="zh-CN" b="1" i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kern="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强连通分支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(strongly connected component).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kern="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子图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(ii) 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强连通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(iii) </a:t>
            </a:r>
            <a:r>
              <a:rPr lang="zh-CN" altLang="en-US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</a:t>
            </a:r>
            <a:r>
              <a:rPr lang="en-US" altLang="zh-CN" b="1" kern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kern="0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90B86D-670F-47AA-AEFE-E1D0FDF58346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13107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>
              <a:latin typeface="Times New Roman" pitchFamily="18" charset="0"/>
            </a:endParaRPr>
          </a:p>
        </p:txBody>
      </p:sp>
      <p:sp>
        <p:nvSpPr>
          <p:cNvPr id="131076" name="Oval 3"/>
          <p:cNvSpPr>
            <a:spLocks noChangeArrowheads="1"/>
          </p:cNvSpPr>
          <p:nvPr/>
        </p:nvSpPr>
        <p:spPr bwMode="auto">
          <a:xfrm>
            <a:off x="2051050" y="6921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7" name="Oval 4"/>
          <p:cNvSpPr>
            <a:spLocks noChangeArrowheads="1"/>
          </p:cNvSpPr>
          <p:nvPr/>
        </p:nvSpPr>
        <p:spPr bwMode="auto">
          <a:xfrm>
            <a:off x="1403350" y="22764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8" name="Oval 5"/>
          <p:cNvSpPr>
            <a:spLocks noChangeArrowheads="1"/>
          </p:cNvSpPr>
          <p:nvPr/>
        </p:nvSpPr>
        <p:spPr bwMode="auto">
          <a:xfrm>
            <a:off x="2627313" y="22764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9" name="Oval 6"/>
          <p:cNvSpPr>
            <a:spLocks noChangeArrowheads="1"/>
          </p:cNvSpPr>
          <p:nvPr/>
        </p:nvSpPr>
        <p:spPr bwMode="auto">
          <a:xfrm>
            <a:off x="3708400" y="6921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0" name="Oval 7"/>
          <p:cNvSpPr>
            <a:spLocks noChangeArrowheads="1"/>
          </p:cNvSpPr>
          <p:nvPr/>
        </p:nvSpPr>
        <p:spPr bwMode="auto">
          <a:xfrm>
            <a:off x="4427538" y="2205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1" name="Oval 8"/>
          <p:cNvSpPr>
            <a:spLocks noChangeArrowheads="1"/>
          </p:cNvSpPr>
          <p:nvPr/>
        </p:nvSpPr>
        <p:spPr bwMode="auto">
          <a:xfrm>
            <a:off x="5292725" y="765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2" name="Line 9"/>
          <p:cNvSpPr>
            <a:spLocks noChangeShapeType="1"/>
          </p:cNvSpPr>
          <p:nvPr/>
        </p:nvSpPr>
        <p:spPr bwMode="auto">
          <a:xfrm flipH="1">
            <a:off x="1547813" y="908050"/>
            <a:ext cx="5032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3" name="Line 10"/>
          <p:cNvSpPr>
            <a:spLocks noChangeShapeType="1"/>
          </p:cNvSpPr>
          <p:nvPr/>
        </p:nvSpPr>
        <p:spPr bwMode="auto">
          <a:xfrm>
            <a:off x="1547813" y="2349500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4" name="Line 11"/>
          <p:cNvSpPr>
            <a:spLocks noChangeShapeType="1"/>
          </p:cNvSpPr>
          <p:nvPr/>
        </p:nvSpPr>
        <p:spPr bwMode="auto">
          <a:xfrm flipH="1" flipV="1">
            <a:off x="2195513" y="908050"/>
            <a:ext cx="43180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5" name="Line 12"/>
          <p:cNvSpPr>
            <a:spLocks noChangeShapeType="1"/>
          </p:cNvSpPr>
          <p:nvPr/>
        </p:nvSpPr>
        <p:spPr bwMode="auto">
          <a:xfrm>
            <a:off x="2195513" y="765175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6" name="Line 13"/>
          <p:cNvSpPr>
            <a:spLocks noChangeShapeType="1"/>
          </p:cNvSpPr>
          <p:nvPr/>
        </p:nvSpPr>
        <p:spPr bwMode="auto">
          <a:xfrm>
            <a:off x="3851275" y="908050"/>
            <a:ext cx="5762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87" name="Line 14"/>
          <p:cNvSpPr>
            <a:spLocks noChangeShapeType="1"/>
          </p:cNvSpPr>
          <p:nvPr/>
        </p:nvSpPr>
        <p:spPr bwMode="auto">
          <a:xfrm flipV="1">
            <a:off x="4572000" y="981075"/>
            <a:ext cx="720725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1088" name="Object 15"/>
          <p:cNvGraphicFramePr>
            <a:graphicFrameLocks noChangeAspect="1"/>
          </p:cNvGraphicFramePr>
          <p:nvPr/>
        </p:nvGraphicFramePr>
        <p:xfrm>
          <a:off x="1568450" y="525463"/>
          <a:ext cx="2301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66690" progId="Equation.3">
                  <p:embed/>
                </p:oleObj>
              </mc:Choice>
              <mc:Fallback>
                <p:oleObj name="Equation" r:id="rId2" imgW="0" imgH="6669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50" y="525463"/>
                        <a:ext cx="2301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8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349284"/>
              </p:ext>
            </p:extLst>
          </p:nvPr>
        </p:nvGraphicFramePr>
        <p:xfrm>
          <a:off x="850900" y="2060575"/>
          <a:ext cx="3286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34" imgH="66690" progId="Equation.3">
                  <p:embed/>
                </p:oleObj>
              </mc:Choice>
              <mc:Fallback>
                <p:oleObj name="Equation" r:id="rId4" imgW="28634" imgH="6669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2060575"/>
                        <a:ext cx="3286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0" name="Object 17"/>
          <p:cNvGraphicFramePr>
            <a:graphicFrameLocks noChangeAspect="1"/>
          </p:cNvGraphicFramePr>
          <p:nvPr/>
        </p:nvGraphicFramePr>
        <p:xfrm>
          <a:off x="2955925" y="2189163"/>
          <a:ext cx="2952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9" imgH="85860" progId="Equation.3">
                  <p:embed/>
                </p:oleObj>
              </mc:Choice>
              <mc:Fallback>
                <p:oleObj name="Equation" r:id="rId6" imgW="19179" imgH="858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925" y="2189163"/>
                        <a:ext cx="2952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1" name="Object 18"/>
          <p:cNvGraphicFramePr>
            <a:graphicFrameLocks noChangeAspect="1"/>
          </p:cNvGraphicFramePr>
          <p:nvPr/>
        </p:nvGraphicFramePr>
        <p:xfrm>
          <a:off x="3875088" y="404813"/>
          <a:ext cx="3302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634" imgH="66690" progId="Equation.3">
                  <p:embed/>
                </p:oleObj>
              </mc:Choice>
              <mc:Fallback>
                <p:oleObj name="Equation" r:id="rId8" imgW="28634" imgH="6669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088" y="404813"/>
                        <a:ext cx="3302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2" name="Object 19"/>
          <p:cNvGraphicFramePr>
            <a:graphicFrameLocks noChangeAspect="1"/>
          </p:cNvGraphicFramePr>
          <p:nvPr/>
        </p:nvGraphicFramePr>
        <p:xfrm>
          <a:off x="4827588" y="2189163"/>
          <a:ext cx="2952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179" imgH="85860" progId="Equation.3">
                  <p:embed/>
                </p:oleObj>
              </mc:Choice>
              <mc:Fallback>
                <p:oleObj name="Equation" r:id="rId10" imgW="19179" imgH="858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2189163"/>
                        <a:ext cx="2952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3" name="Object 20"/>
          <p:cNvGraphicFramePr>
            <a:graphicFrameLocks noChangeAspect="1"/>
          </p:cNvGraphicFramePr>
          <p:nvPr/>
        </p:nvGraphicFramePr>
        <p:xfrm>
          <a:off x="5530850" y="460375"/>
          <a:ext cx="330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634" imgH="85860" progId="Equation.3">
                  <p:embed/>
                </p:oleObj>
              </mc:Choice>
              <mc:Fallback>
                <p:oleObj name="Equation" r:id="rId12" imgW="28634" imgH="8586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850" y="460375"/>
                        <a:ext cx="3302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4" name="Object 21"/>
          <p:cNvGraphicFramePr>
            <a:graphicFrameLocks noChangeAspect="1"/>
          </p:cNvGraphicFramePr>
          <p:nvPr/>
        </p:nvGraphicFramePr>
        <p:xfrm>
          <a:off x="2892425" y="2997200"/>
          <a:ext cx="13493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28701" imgH="104760" progId="Equation.3">
                  <p:embed/>
                </p:oleObj>
              </mc:Choice>
              <mc:Fallback>
                <p:oleObj name="公式" r:id="rId14" imgW="428701" imgH="1047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2997200"/>
                        <a:ext cx="134937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5" name="Object 22"/>
          <p:cNvGraphicFramePr>
            <a:graphicFrameLocks noChangeAspect="1"/>
          </p:cNvGraphicFramePr>
          <p:nvPr/>
        </p:nvGraphicFramePr>
        <p:xfrm>
          <a:off x="3132138" y="3644900"/>
          <a:ext cx="85566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38257" imgH="104760" progId="Equation.3">
                  <p:embed/>
                </p:oleObj>
              </mc:Choice>
              <mc:Fallback>
                <p:oleObj name="公式" r:id="rId16" imgW="238257" imgH="10476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644900"/>
                        <a:ext cx="855662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6" name="Object 23"/>
          <p:cNvGraphicFramePr>
            <a:graphicFrameLocks noChangeAspect="1"/>
          </p:cNvGraphicFramePr>
          <p:nvPr/>
        </p:nvGraphicFramePr>
        <p:xfrm>
          <a:off x="3132138" y="5013325"/>
          <a:ext cx="8223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19078" imgH="104760" progId="Equation.3">
                  <p:embed/>
                </p:oleObj>
              </mc:Choice>
              <mc:Fallback>
                <p:oleObj name="公式" r:id="rId18" imgW="219078" imgH="1047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013325"/>
                        <a:ext cx="8223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97" name="Object 24"/>
          <p:cNvGraphicFramePr>
            <a:graphicFrameLocks noChangeAspect="1"/>
          </p:cNvGraphicFramePr>
          <p:nvPr/>
        </p:nvGraphicFramePr>
        <p:xfrm>
          <a:off x="3132138" y="4292600"/>
          <a:ext cx="8223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19078" imgH="104760" progId="Equation.3">
                  <p:embed/>
                </p:oleObj>
              </mc:Choice>
              <mc:Fallback>
                <p:oleObj name="公式" r:id="rId20" imgW="219078" imgH="10476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292600"/>
                        <a:ext cx="8223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4A6A560-4358-6845-AC4F-6E41126EC25F}"/>
              </a:ext>
            </a:extLst>
          </p:cNvPr>
          <p:cNvSpPr txBox="1"/>
          <p:nvPr/>
        </p:nvSpPr>
        <p:spPr>
          <a:xfrm>
            <a:off x="1713583" y="404813"/>
            <a:ext cx="338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kumimoji="1" lang="en-US" altLang="zh-Hans" sz="2800" b="0" dirty="0">
                <a:solidFill>
                  <a:schemeClr val="tx1"/>
                </a:solidFill>
              </a:rPr>
              <a:t>1</a:t>
            </a:r>
            <a:endParaRPr kumimoji="1" lang="zh-CN" altLang="en-US" sz="2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84F7FE-956D-4007-B8EB-C9E19B93F3CB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13209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6-8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的任意节点都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位于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仅位于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的一个强连通分支中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Hint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本身强连通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" name="Oval 3">
            <a:extLst>
              <a:ext uri="{FF2B5EF4-FFF2-40B4-BE49-F238E27FC236}">
                <a16:creationId xmlns:a16="http://schemas.microsoft.com/office/drawing/2014/main" id="{460870BD-498B-ADA3-ADA8-DACBE034A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385105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20EBCBE1-2718-B12A-E3FA-3A80A23E7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4353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16457A72-AA3E-FC6B-4E6F-07F3E79A8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43537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8A67F80F-E782-33B4-75FD-0B6B52417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385105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E5529F18-922C-44CE-BAC9-9BE8DA0B4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363939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529A9C49-C36C-6C2F-17F5-54DAEBCD3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9240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F119B658-0FE1-03C1-C2F8-A11C289151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4066951"/>
            <a:ext cx="5032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1CA076F4-77F2-3D7D-389E-C7B24121F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5508401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7767B4BC-6351-34FA-DC07-266561DBA34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95513" y="4066951"/>
            <a:ext cx="43180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F35CEBFB-A9FC-3D50-AA15-1A4A24C1DF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3924076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4AB46AAF-97C7-51AC-B55A-148FAF032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4066951"/>
            <a:ext cx="5762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535344BB-8C28-639F-592F-58C6EC3D19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4139976"/>
            <a:ext cx="720725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407C42CC-266A-42CE-EF30-7327CCC88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874354"/>
              </p:ext>
            </p:extLst>
          </p:nvPr>
        </p:nvGraphicFramePr>
        <p:xfrm>
          <a:off x="1568450" y="3684364"/>
          <a:ext cx="2301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66690" progId="Equation.3">
                  <p:embed/>
                </p:oleObj>
              </mc:Choice>
              <mc:Fallback>
                <p:oleObj name="Equation" r:id="rId2" imgW="0" imgH="66690" progId="Equation.3">
                  <p:embed/>
                  <p:pic>
                    <p:nvPicPr>
                      <p:cNvPr id="15" name="Object 15">
                        <a:extLst>
                          <a:ext uri="{FF2B5EF4-FFF2-40B4-BE49-F238E27FC236}">
                            <a16:creationId xmlns:a16="http://schemas.microsoft.com/office/drawing/2014/main" id="{407C42CC-266A-42CE-EF30-7327CCC886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50" y="3684364"/>
                        <a:ext cx="2301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AD1E2040-D0EA-323D-0925-AA282461B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635459"/>
              </p:ext>
            </p:extLst>
          </p:nvPr>
        </p:nvGraphicFramePr>
        <p:xfrm>
          <a:off x="850900" y="5219476"/>
          <a:ext cx="3286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34" imgH="66690" progId="Equation.3">
                  <p:embed/>
                </p:oleObj>
              </mc:Choice>
              <mc:Fallback>
                <p:oleObj name="Equation" r:id="rId4" imgW="28634" imgH="66690" progId="Equation.3">
                  <p:embed/>
                  <p:pic>
                    <p:nvPicPr>
                      <p:cNvPr id="16" name="Object 16">
                        <a:extLst>
                          <a:ext uri="{FF2B5EF4-FFF2-40B4-BE49-F238E27FC236}">
                            <a16:creationId xmlns:a16="http://schemas.microsoft.com/office/drawing/2014/main" id="{AD1E2040-D0EA-323D-0925-AA282461BE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5219476"/>
                        <a:ext cx="3286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29B762A4-4FB9-5AC5-CEC6-9AADFDADC1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389263"/>
              </p:ext>
            </p:extLst>
          </p:nvPr>
        </p:nvGraphicFramePr>
        <p:xfrm>
          <a:off x="2955925" y="5348064"/>
          <a:ext cx="2952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9" imgH="85860" progId="Equation.3">
                  <p:embed/>
                </p:oleObj>
              </mc:Choice>
              <mc:Fallback>
                <p:oleObj name="Equation" r:id="rId6" imgW="19179" imgH="85860" progId="Equation.3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29B762A4-4FB9-5AC5-CEC6-9AADFDADC1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925" y="5348064"/>
                        <a:ext cx="2952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F568C1AF-F0F7-6627-5654-6EB247B8E0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514377"/>
              </p:ext>
            </p:extLst>
          </p:nvPr>
        </p:nvGraphicFramePr>
        <p:xfrm>
          <a:off x="3875088" y="3563714"/>
          <a:ext cx="3302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634" imgH="66690" progId="Equation.3">
                  <p:embed/>
                </p:oleObj>
              </mc:Choice>
              <mc:Fallback>
                <p:oleObj name="Equation" r:id="rId8" imgW="28634" imgH="66690" progId="Equation.3">
                  <p:embed/>
                  <p:pic>
                    <p:nvPicPr>
                      <p:cNvPr id="18" name="Object 18">
                        <a:extLst>
                          <a:ext uri="{FF2B5EF4-FFF2-40B4-BE49-F238E27FC236}">
                            <a16:creationId xmlns:a16="http://schemas.microsoft.com/office/drawing/2014/main" id="{F568C1AF-F0F7-6627-5654-6EB247B8E0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088" y="3563714"/>
                        <a:ext cx="3302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>
            <a:extLst>
              <a:ext uri="{FF2B5EF4-FFF2-40B4-BE49-F238E27FC236}">
                <a16:creationId xmlns:a16="http://schemas.microsoft.com/office/drawing/2014/main" id="{7237BF6B-4F08-F70B-1745-8CDA0165C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403147"/>
              </p:ext>
            </p:extLst>
          </p:nvPr>
        </p:nvGraphicFramePr>
        <p:xfrm>
          <a:off x="4827588" y="5348064"/>
          <a:ext cx="2952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179" imgH="85860" progId="Equation.3">
                  <p:embed/>
                </p:oleObj>
              </mc:Choice>
              <mc:Fallback>
                <p:oleObj name="Equation" r:id="rId10" imgW="19179" imgH="85860" progId="Equation.3">
                  <p:embed/>
                  <p:pic>
                    <p:nvPicPr>
                      <p:cNvPr id="19" name="Object 19">
                        <a:extLst>
                          <a:ext uri="{FF2B5EF4-FFF2-40B4-BE49-F238E27FC236}">
                            <a16:creationId xmlns:a16="http://schemas.microsoft.com/office/drawing/2014/main" id="{7237BF6B-4F08-F70B-1745-8CDA0165C1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5348064"/>
                        <a:ext cx="2952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>
            <a:extLst>
              <a:ext uri="{FF2B5EF4-FFF2-40B4-BE49-F238E27FC236}">
                <a16:creationId xmlns:a16="http://schemas.microsoft.com/office/drawing/2014/main" id="{50938107-C276-BDA8-B037-69657AF981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521755"/>
              </p:ext>
            </p:extLst>
          </p:nvPr>
        </p:nvGraphicFramePr>
        <p:xfrm>
          <a:off x="5530850" y="3619276"/>
          <a:ext cx="330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634" imgH="85860" progId="Equation.3">
                  <p:embed/>
                </p:oleObj>
              </mc:Choice>
              <mc:Fallback>
                <p:oleObj name="Equation" r:id="rId12" imgW="28634" imgH="85860" progId="Equation.3">
                  <p:embed/>
                  <p:pic>
                    <p:nvPicPr>
                      <p:cNvPr id="20" name="Object 20">
                        <a:extLst>
                          <a:ext uri="{FF2B5EF4-FFF2-40B4-BE49-F238E27FC236}">
                            <a16:creationId xmlns:a16="http://schemas.microsoft.com/office/drawing/2014/main" id="{50938107-C276-BDA8-B037-69657AF981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850" y="3619276"/>
                        <a:ext cx="3302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DED54DD4-54BE-9AFA-9DA1-FD4FC7A66C0E}"/>
              </a:ext>
            </a:extLst>
          </p:cNvPr>
          <p:cNvSpPr txBox="1"/>
          <p:nvPr/>
        </p:nvSpPr>
        <p:spPr>
          <a:xfrm>
            <a:off x="1713583" y="3563714"/>
            <a:ext cx="338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kumimoji="1" lang="en-US" altLang="zh-Hans" sz="2800" b="0" dirty="0">
                <a:solidFill>
                  <a:schemeClr val="tx1"/>
                </a:solidFill>
              </a:rPr>
              <a:t>1</a:t>
            </a:r>
            <a:endParaRPr kumimoji="1" lang="zh-CN" altLang="en-US" sz="2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3D4CE3-05C7-49FD-A3C6-A217C1476C57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13312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单向连通图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对于任意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或者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单向连通图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(unilateral connected digraph). 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B6EF94-C5C9-43DA-BE03-E38B5310A434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13414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下述定理对确定有向图的单向连通分支是非常有用的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6-9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单向连通当且仅当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中存在一条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它通过所有节点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(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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B6EF94-C5C9-43DA-BE03-E38B5310A434}" type="slidenum">
              <a:rPr lang="en-US" altLang="zh-CN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13414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6-9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单向连通当且仅当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中存在一条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它通过所有节点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单向连通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“对于任意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子集</a:t>
            </a:r>
            <a:r>
              <a:rPr lang="en-US" altLang="zh-Hans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均存在一个</a:t>
            </a:r>
            <a:r>
              <a:rPr lang="en-US" altLang="zh-Hans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中的节点（在</a:t>
            </a:r>
            <a:r>
              <a:rPr lang="en-US" altLang="zh-Hans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中）到</a:t>
            </a:r>
            <a:r>
              <a:rPr lang="en-US" altLang="zh-Hans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中其余节点都有路”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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利用</a:t>
            </a:r>
            <a:r>
              <a:rPr lang="en-US" altLang="zh-Hans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zh-Hans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构造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中存在一条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9593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23CFB7-678D-4A3A-A2A8-9089E5A3D9EC}" type="slidenum">
              <a:rPr lang="en-US" altLang="zh-CN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13721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6-26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的极大的单向连通子图称为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单向连通分支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下图有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个单向连通分支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[1, 2, 3, 4, 5];   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G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[5, 6].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243049-B997-477E-BFED-BB67C64B7596}" type="slidenum">
              <a:rPr lang="en-US" altLang="zh-CN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13824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>
              <a:latin typeface="Times New Roman" pitchFamily="18" charset="0"/>
            </a:endParaRPr>
          </a:p>
          <a:p>
            <a:pPr eaLnBrk="1" hangingPunct="1"/>
            <a:endParaRPr lang="en-US" altLang="zh-CN" dirty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Remark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有向图的节点</a:t>
            </a:r>
          </a:p>
          <a:p>
            <a:pPr eaLnBrk="1" hangingPunct="1">
              <a:lnSpc>
                <a:spcPct val="120000"/>
              </a:lnSpc>
              <a:buFont typeface="Wingdings 2" pitchFamily="18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可以位于不同的单向连通分支中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38244" name="Oval 3"/>
          <p:cNvSpPr>
            <a:spLocks noChangeArrowheads="1"/>
          </p:cNvSpPr>
          <p:nvPr/>
        </p:nvSpPr>
        <p:spPr bwMode="auto">
          <a:xfrm>
            <a:off x="2051050" y="6921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5" name="Oval 4"/>
          <p:cNvSpPr>
            <a:spLocks noChangeArrowheads="1"/>
          </p:cNvSpPr>
          <p:nvPr/>
        </p:nvSpPr>
        <p:spPr bwMode="auto">
          <a:xfrm>
            <a:off x="1403350" y="22764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6" name="Oval 5"/>
          <p:cNvSpPr>
            <a:spLocks noChangeArrowheads="1"/>
          </p:cNvSpPr>
          <p:nvPr/>
        </p:nvSpPr>
        <p:spPr bwMode="auto">
          <a:xfrm>
            <a:off x="2627313" y="22764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7" name="Oval 6"/>
          <p:cNvSpPr>
            <a:spLocks noChangeArrowheads="1"/>
          </p:cNvSpPr>
          <p:nvPr/>
        </p:nvSpPr>
        <p:spPr bwMode="auto">
          <a:xfrm>
            <a:off x="3708400" y="6921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8" name="Oval 7"/>
          <p:cNvSpPr>
            <a:spLocks noChangeArrowheads="1"/>
          </p:cNvSpPr>
          <p:nvPr/>
        </p:nvSpPr>
        <p:spPr bwMode="auto">
          <a:xfrm>
            <a:off x="4427538" y="2205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9" name="Oval 8"/>
          <p:cNvSpPr>
            <a:spLocks noChangeArrowheads="1"/>
          </p:cNvSpPr>
          <p:nvPr/>
        </p:nvSpPr>
        <p:spPr bwMode="auto">
          <a:xfrm>
            <a:off x="5292725" y="765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50" name="Line 9"/>
          <p:cNvSpPr>
            <a:spLocks noChangeShapeType="1"/>
          </p:cNvSpPr>
          <p:nvPr/>
        </p:nvSpPr>
        <p:spPr bwMode="auto">
          <a:xfrm flipH="1">
            <a:off x="1547813" y="908050"/>
            <a:ext cx="5032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1" name="Line 10"/>
          <p:cNvSpPr>
            <a:spLocks noChangeShapeType="1"/>
          </p:cNvSpPr>
          <p:nvPr/>
        </p:nvSpPr>
        <p:spPr bwMode="auto">
          <a:xfrm>
            <a:off x="1547813" y="2349500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2" name="Line 11"/>
          <p:cNvSpPr>
            <a:spLocks noChangeShapeType="1"/>
          </p:cNvSpPr>
          <p:nvPr/>
        </p:nvSpPr>
        <p:spPr bwMode="auto">
          <a:xfrm flipH="1" flipV="1">
            <a:off x="2195513" y="908050"/>
            <a:ext cx="43180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3" name="Line 12"/>
          <p:cNvSpPr>
            <a:spLocks noChangeShapeType="1"/>
          </p:cNvSpPr>
          <p:nvPr/>
        </p:nvSpPr>
        <p:spPr bwMode="auto">
          <a:xfrm>
            <a:off x="2195513" y="765175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4" name="Line 13"/>
          <p:cNvSpPr>
            <a:spLocks noChangeShapeType="1"/>
          </p:cNvSpPr>
          <p:nvPr/>
        </p:nvSpPr>
        <p:spPr bwMode="auto">
          <a:xfrm>
            <a:off x="3851275" y="908050"/>
            <a:ext cx="5762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5" name="Line 14"/>
          <p:cNvSpPr>
            <a:spLocks noChangeShapeType="1"/>
          </p:cNvSpPr>
          <p:nvPr/>
        </p:nvSpPr>
        <p:spPr bwMode="auto">
          <a:xfrm flipV="1">
            <a:off x="4572000" y="981075"/>
            <a:ext cx="720725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256" name="Object 15"/>
              <p:cNvSpPr txBox="1"/>
              <p:nvPr/>
            </p:nvSpPr>
            <p:spPr bwMode="auto">
              <a:xfrm>
                <a:off x="1749524" y="476672"/>
                <a:ext cx="230188" cy="425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8256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9524" y="476672"/>
                <a:ext cx="230188" cy="425450"/>
              </a:xfrm>
              <a:prstGeom prst="rect">
                <a:avLst/>
              </a:prstGeom>
              <a:blipFill>
                <a:blip r:embed="rId2"/>
                <a:stretch>
                  <a:fillRect r="-368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8257" name="Object 16"/>
          <p:cNvGraphicFramePr>
            <a:graphicFrameLocks noChangeAspect="1"/>
          </p:cNvGraphicFramePr>
          <p:nvPr/>
        </p:nvGraphicFramePr>
        <p:xfrm>
          <a:off x="850900" y="2060575"/>
          <a:ext cx="3286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634" imgH="66690" progId="Equation.3">
                  <p:embed/>
                </p:oleObj>
              </mc:Choice>
              <mc:Fallback>
                <p:oleObj name="Equation" r:id="rId3" imgW="28634" imgH="6669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2060575"/>
                        <a:ext cx="3286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8" name="Object 17"/>
          <p:cNvGraphicFramePr>
            <a:graphicFrameLocks noChangeAspect="1"/>
          </p:cNvGraphicFramePr>
          <p:nvPr/>
        </p:nvGraphicFramePr>
        <p:xfrm>
          <a:off x="2955925" y="2189163"/>
          <a:ext cx="2952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179" imgH="85860" progId="Equation.3">
                  <p:embed/>
                </p:oleObj>
              </mc:Choice>
              <mc:Fallback>
                <p:oleObj name="Equation" r:id="rId5" imgW="19179" imgH="858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925" y="2189163"/>
                        <a:ext cx="2952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9" name="Object 18"/>
          <p:cNvGraphicFramePr>
            <a:graphicFrameLocks noChangeAspect="1"/>
          </p:cNvGraphicFramePr>
          <p:nvPr/>
        </p:nvGraphicFramePr>
        <p:xfrm>
          <a:off x="3875088" y="404813"/>
          <a:ext cx="3302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634" imgH="66690" progId="Equation.3">
                  <p:embed/>
                </p:oleObj>
              </mc:Choice>
              <mc:Fallback>
                <p:oleObj name="Equation" r:id="rId7" imgW="28634" imgH="6669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088" y="404813"/>
                        <a:ext cx="3302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937066"/>
              </p:ext>
            </p:extLst>
          </p:nvPr>
        </p:nvGraphicFramePr>
        <p:xfrm>
          <a:off x="4644008" y="2189163"/>
          <a:ext cx="2952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179" imgH="85860" progId="Equation.3">
                  <p:embed/>
                </p:oleObj>
              </mc:Choice>
              <mc:Fallback>
                <p:oleObj name="Equation" r:id="rId9" imgW="19179" imgH="858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2189163"/>
                        <a:ext cx="2952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1" name="Object 20"/>
          <p:cNvGraphicFramePr>
            <a:graphicFrameLocks noChangeAspect="1"/>
          </p:cNvGraphicFramePr>
          <p:nvPr/>
        </p:nvGraphicFramePr>
        <p:xfrm>
          <a:off x="5530850" y="460375"/>
          <a:ext cx="330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634" imgH="85860" progId="Equation.3">
                  <p:embed/>
                </p:oleObj>
              </mc:Choice>
              <mc:Fallback>
                <p:oleObj name="Equation" r:id="rId11" imgW="28634" imgH="8586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850" y="460375"/>
                        <a:ext cx="3302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2" name="Object 21"/>
          <p:cNvGraphicFramePr>
            <a:graphicFrameLocks noChangeAspect="1"/>
          </p:cNvGraphicFramePr>
          <p:nvPr/>
        </p:nvGraphicFramePr>
        <p:xfrm>
          <a:off x="2617788" y="2852738"/>
          <a:ext cx="190817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638054" imgH="104760" progId="Equation.3">
                  <p:embed/>
                </p:oleObj>
              </mc:Choice>
              <mc:Fallback>
                <p:oleObj name="公式" r:id="rId13" imgW="638054" imgH="1047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2852738"/>
                        <a:ext cx="190817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3" name="Object 22"/>
          <p:cNvGraphicFramePr>
            <a:graphicFrameLocks noChangeAspect="1"/>
          </p:cNvGraphicFramePr>
          <p:nvPr/>
        </p:nvGraphicFramePr>
        <p:xfrm>
          <a:off x="3059113" y="3644900"/>
          <a:ext cx="111918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33344" imgH="104760" progId="Equation.3">
                  <p:embed/>
                </p:oleObj>
              </mc:Choice>
              <mc:Fallback>
                <p:oleObj name="公式" r:id="rId15" imgW="333344" imgH="10476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644900"/>
                        <a:ext cx="111918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77736D-216A-4C1A-89ED-4038C4720DB3}" type="slidenum">
              <a:rPr lang="en-US" altLang="zh-CN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13926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弱连通图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6-27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若不考虑边的方向是一个无向连通图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则称有向图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弱连通图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(weakly connected digraph),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简称有向图连通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23A554-EDF5-49CB-9B93-886329040105}" type="slidenum">
              <a:rPr lang="en-US" altLang="zh-CN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14029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三者之间的关系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6-28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的极大的弱连通子图称为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弱连通分支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C6E2D-C988-4358-8197-729433ED4337}" type="slidenum">
              <a:rPr lang="en-US" altLang="zh-CN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234498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41316" name="Rectangle 3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/>
              <a:t>小结与作业</a:t>
            </a:r>
          </a:p>
        </p:txBody>
      </p:sp>
      <p:grpSp>
        <p:nvGrpSpPr>
          <p:cNvPr id="141317" name="Group 4"/>
          <p:cNvGrpSpPr>
            <a:grpSpLocks/>
          </p:cNvGrpSpPr>
          <p:nvPr/>
        </p:nvGrpSpPr>
        <p:grpSpPr bwMode="auto">
          <a:xfrm>
            <a:off x="1042988" y="1268413"/>
            <a:ext cx="5181600" cy="508000"/>
            <a:chOff x="1419" y="1480"/>
            <a:chExt cx="3575" cy="363"/>
          </a:xfrm>
        </p:grpSpPr>
        <p:grpSp>
          <p:nvGrpSpPr>
            <p:cNvPr id="141340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3450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3450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强连通图及强连通分支</a:t>
                </a:r>
              </a:p>
            </p:txBody>
          </p:sp>
        </p:grpSp>
        <p:sp>
          <p:nvSpPr>
            <p:cNvPr id="23450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41342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1318" name="Group 10"/>
          <p:cNvGrpSpPr>
            <a:grpSpLocks/>
          </p:cNvGrpSpPr>
          <p:nvPr/>
        </p:nvGrpSpPr>
        <p:grpSpPr bwMode="auto">
          <a:xfrm>
            <a:off x="1908175" y="2492375"/>
            <a:ext cx="5832475" cy="508000"/>
            <a:chOff x="1419" y="1480"/>
            <a:chExt cx="3575" cy="363"/>
          </a:xfrm>
        </p:grpSpPr>
        <p:grpSp>
          <p:nvGrpSpPr>
            <p:cNvPr id="141335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3450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3450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单向连通图及单向连通分支</a:t>
                </a:r>
              </a:p>
            </p:txBody>
          </p:sp>
        </p:grpSp>
        <p:sp>
          <p:nvSpPr>
            <p:cNvPr id="23451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41337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1319" name="Group 16"/>
          <p:cNvGrpSpPr>
            <a:grpSpLocks/>
          </p:cNvGrpSpPr>
          <p:nvPr/>
        </p:nvGrpSpPr>
        <p:grpSpPr bwMode="auto">
          <a:xfrm>
            <a:off x="1979613" y="3789363"/>
            <a:ext cx="5181600" cy="508000"/>
            <a:chOff x="1419" y="1480"/>
            <a:chExt cx="3575" cy="363"/>
          </a:xfrm>
        </p:grpSpPr>
        <p:grpSp>
          <p:nvGrpSpPr>
            <p:cNvPr id="141330" name="Group 17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34514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34515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弱连通图及弱连通分支</a:t>
                </a:r>
              </a:p>
            </p:txBody>
          </p:sp>
        </p:grpSp>
        <p:sp>
          <p:nvSpPr>
            <p:cNvPr id="234516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41332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1320" name="AutoShape 22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141322" name="Group 24"/>
          <p:cNvGrpSpPr>
            <a:grpSpLocks/>
          </p:cNvGrpSpPr>
          <p:nvPr/>
        </p:nvGrpSpPr>
        <p:grpSpPr bwMode="auto">
          <a:xfrm>
            <a:off x="1116013" y="5084763"/>
            <a:ext cx="5976937" cy="685800"/>
            <a:chOff x="1152" y="2832"/>
            <a:chExt cx="3408" cy="432"/>
          </a:xfrm>
        </p:grpSpPr>
        <p:grpSp>
          <p:nvGrpSpPr>
            <p:cNvPr id="141323" name="Group 25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41327" name="AutoShape 26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328" name="AutoShape 27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524" name="AutoShape 28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50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41324" name="Line 29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25" name="Text Box 30"/>
            <p:cNvSpPr txBox="1">
              <a:spLocks noChangeArrowheads="1"/>
            </p:cNvSpPr>
            <p:nvPr/>
          </p:nvSpPr>
          <p:spPr bwMode="auto">
            <a:xfrm>
              <a:off x="2112" y="2832"/>
              <a:ext cx="196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</a:rPr>
                <a:t>习题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6.5     2   7   11</a:t>
              </a:r>
            </a:p>
          </p:txBody>
        </p:sp>
        <p:sp>
          <p:nvSpPr>
            <p:cNvPr id="141326" name="Text Box 31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作业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763588" y="2222500"/>
            <a:ext cx="7481887" cy="560388"/>
          </a:xfrm>
        </p:spPr>
        <p:txBody>
          <a:bodyPr/>
          <a:lstStyle/>
          <a:p>
            <a:pPr eaLnBrk="1" hangingPunct="1"/>
            <a:r>
              <a:rPr lang="en-US" altLang="zh-CN" sz="3600" b="1">
                <a:solidFill>
                  <a:schemeClr val="tx1"/>
                </a:solidFill>
                <a:latin typeface="Times New Roman" pitchFamily="18" charset="0"/>
              </a:rPr>
              <a:t>6.6 </a:t>
            </a:r>
            <a:r>
              <a:rPr lang="zh-CN" altLang="en-US"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图的矩阵表示</a:t>
            </a:r>
          </a:p>
        </p:txBody>
      </p:sp>
      <p:sp>
        <p:nvSpPr>
          <p:cNvPr id="142339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258888" y="908050"/>
            <a:ext cx="6400800" cy="782638"/>
          </a:xfrm>
        </p:spPr>
        <p:txBody>
          <a:bodyPr/>
          <a:lstStyle/>
          <a:p>
            <a:pPr eaLnBrk="1" hangingPunct="1"/>
            <a:r>
              <a:rPr lang="zh-CN" altLang="en-US" sz="4400" b="1">
                <a:latin typeface="Times New Roman" pitchFamily="18" charset="0"/>
              </a:rPr>
              <a:t>第</a:t>
            </a:r>
            <a:r>
              <a:rPr lang="en-US" altLang="zh-CN" sz="4400" b="1">
                <a:latin typeface="Times New Roman" pitchFamily="18" charset="0"/>
              </a:rPr>
              <a:t>6</a:t>
            </a:r>
            <a:r>
              <a:rPr lang="zh-CN" altLang="en-US" sz="4400" b="1">
                <a:latin typeface="Times New Roman" pitchFamily="18" charset="0"/>
              </a:rPr>
              <a:t>章 图论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23B186-575D-479B-8BA9-1D926EC92F8C}" type="slidenum">
              <a:rPr lang="en-US" altLang="zh-CN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143363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>
                <a:solidFill>
                  <a:schemeClr val="tx1"/>
                </a:solidFill>
                <a:latin typeface="Times New Roman" pitchFamily="18" charset="0"/>
              </a:rPr>
              <a:t>6.6 </a:t>
            </a: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图的矩阵表示</a:t>
            </a:r>
            <a:endParaRPr lang="zh-CN" altLang="en-US" b="1"/>
          </a:p>
        </p:txBody>
      </p:sp>
      <p:sp>
        <p:nvSpPr>
          <p:cNvPr id="143364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143365" name="Group 4"/>
          <p:cNvGrpSpPr>
            <a:grpSpLocks/>
          </p:cNvGrpSpPr>
          <p:nvPr/>
        </p:nvGrpSpPr>
        <p:grpSpPr bwMode="auto">
          <a:xfrm>
            <a:off x="1042988" y="1365250"/>
            <a:ext cx="5410200" cy="712788"/>
            <a:chOff x="1152" y="1101"/>
            <a:chExt cx="3408" cy="449"/>
          </a:xfrm>
        </p:grpSpPr>
        <p:grpSp>
          <p:nvGrpSpPr>
            <p:cNvPr id="143383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143387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388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52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43384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385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6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图的邻接矩阵</a:t>
              </a:r>
            </a:p>
          </p:txBody>
        </p:sp>
        <p:sp>
          <p:nvSpPr>
            <p:cNvPr id="143386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143366" name="Group 12"/>
          <p:cNvGrpSpPr>
            <a:grpSpLocks/>
          </p:cNvGrpSpPr>
          <p:nvPr/>
        </p:nvGrpSpPr>
        <p:grpSpPr bwMode="auto">
          <a:xfrm>
            <a:off x="1042988" y="2708275"/>
            <a:ext cx="5410200" cy="712788"/>
            <a:chOff x="1152" y="1677"/>
            <a:chExt cx="3408" cy="449"/>
          </a:xfrm>
        </p:grpSpPr>
        <p:grpSp>
          <p:nvGrpSpPr>
            <p:cNvPr id="143376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43380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381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60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43377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378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16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图的可达矩阵</a:t>
              </a:r>
            </a:p>
          </p:txBody>
        </p:sp>
        <p:sp>
          <p:nvSpPr>
            <p:cNvPr id="143379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143367" name="Group 20"/>
          <p:cNvGrpSpPr>
            <a:grpSpLocks/>
          </p:cNvGrpSpPr>
          <p:nvPr/>
        </p:nvGrpSpPr>
        <p:grpSpPr bwMode="auto">
          <a:xfrm>
            <a:off x="1042988" y="4076700"/>
            <a:ext cx="5410200" cy="712788"/>
            <a:chOff x="1152" y="2239"/>
            <a:chExt cx="3408" cy="449"/>
          </a:xfrm>
        </p:grpSpPr>
        <p:grpSp>
          <p:nvGrpSpPr>
            <p:cNvPr id="143369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43373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374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68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43370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371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16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图的关联矩阵</a:t>
              </a:r>
            </a:p>
          </p:txBody>
        </p:sp>
        <p:sp>
          <p:nvSpPr>
            <p:cNvPr id="143372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</p:grpSp>
      <p:sp>
        <p:nvSpPr>
          <p:cNvPr id="143368" name="矩形 1"/>
          <p:cNvSpPr>
            <a:spLocks noChangeArrowheads="1"/>
          </p:cNvSpPr>
          <p:nvPr/>
        </p:nvSpPr>
        <p:spPr bwMode="auto">
          <a:xfrm>
            <a:off x="827088" y="1196752"/>
            <a:ext cx="6121400" cy="4032473"/>
          </a:xfrm>
          <a:prstGeom prst="rect">
            <a:avLst/>
          </a:prstGeom>
          <a:noFill/>
          <a:ln w="57150" cmpd="thinThick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8BB935-8C74-4DDE-B0DD-A12F547A2A6A}" type="slidenum">
              <a:rPr lang="en-US" altLang="zh-CN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144387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6.6  </a:t>
            </a:r>
            <a:r>
              <a:rPr lang="zh-CN" altLang="en-US" b="1">
                <a:latin typeface="Times New Roman" pitchFamily="18" charset="0"/>
              </a:rPr>
              <a:t>图的矩阵表示</a:t>
            </a:r>
          </a:p>
        </p:txBody>
      </p:sp>
      <p:sp>
        <p:nvSpPr>
          <p:cNvPr id="144388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图的表示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本节简单介绍图的常见的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种矩阵表示及一些简单结论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53F2A2-2B8C-445A-A057-89B7DA7BD84B}" type="slidenum">
              <a:rPr lang="en-US" altLang="zh-CN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14541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6.6.1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图的邻接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(adjacency)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矩阵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图的邻接矩阵表示图中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节点间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邻接关系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6-29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对节点编号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…,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}.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邻接到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1, 2, …,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45412" name="Object 3"/>
          <p:cNvGraphicFramePr>
            <a:graphicFrameLocks noChangeAspect="1"/>
          </p:cNvGraphicFramePr>
          <p:nvPr/>
        </p:nvGraphicFramePr>
        <p:xfrm>
          <a:off x="1660525" y="2781300"/>
          <a:ext cx="4573588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66990" imgH="847800" progId="Equation.3">
                  <p:embed/>
                </p:oleObj>
              </mc:Choice>
              <mc:Fallback>
                <p:oleObj name="公式" r:id="rId2" imgW="1666990" imgH="847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2781300"/>
                        <a:ext cx="4573588" cy="241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A95BA-FFF2-4731-9CC9-B209CAF1E7BF}" type="slidenum">
              <a:rPr lang="en-US" altLang="zh-CN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14643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46436" name="Oval 3"/>
          <p:cNvSpPr>
            <a:spLocks noChangeArrowheads="1"/>
          </p:cNvSpPr>
          <p:nvPr/>
        </p:nvSpPr>
        <p:spPr bwMode="auto">
          <a:xfrm>
            <a:off x="1692275" y="9080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7" name="Oval 4"/>
          <p:cNvSpPr>
            <a:spLocks noChangeArrowheads="1"/>
          </p:cNvSpPr>
          <p:nvPr/>
        </p:nvSpPr>
        <p:spPr bwMode="auto">
          <a:xfrm>
            <a:off x="3276600" y="9080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6438" name="Object 5"/>
          <p:cNvGraphicFramePr>
            <a:graphicFrameLocks noChangeAspect="1"/>
          </p:cNvGraphicFramePr>
          <p:nvPr/>
        </p:nvGraphicFramePr>
        <p:xfrm>
          <a:off x="1116013" y="692150"/>
          <a:ext cx="36353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692150"/>
                        <a:ext cx="36353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9" name="Oval 6"/>
          <p:cNvSpPr>
            <a:spLocks noChangeArrowheads="1"/>
          </p:cNvSpPr>
          <p:nvPr/>
        </p:nvSpPr>
        <p:spPr bwMode="auto">
          <a:xfrm>
            <a:off x="1692275" y="25654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0" name="Oval 7"/>
          <p:cNvSpPr>
            <a:spLocks noChangeArrowheads="1"/>
          </p:cNvSpPr>
          <p:nvPr/>
        </p:nvSpPr>
        <p:spPr bwMode="auto">
          <a:xfrm>
            <a:off x="3275013" y="25638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1" name="Oval 8"/>
          <p:cNvSpPr>
            <a:spLocks noChangeArrowheads="1"/>
          </p:cNvSpPr>
          <p:nvPr/>
        </p:nvSpPr>
        <p:spPr bwMode="auto">
          <a:xfrm>
            <a:off x="5651500" y="9080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2" name="Oval 9"/>
          <p:cNvSpPr>
            <a:spLocks noChangeArrowheads="1"/>
          </p:cNvSpPr>
          <p:nvPr/>
        </p:nvSpPr>
        <p:spPr bwMode="auto">
          <a:xfrm>
            <a:off x="7380288" y="90805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3" name="Oval 10"/>
          <p:cNvSpPr>
            <a:spLocks noChangeArrowheads="1"/>
          </p:cNvSpPr>
          <p:nvPr/>
        </p:nvSpPr>
        <p:spPr bwMode="auto">
          <a:xfrm>
            <a:off x="5651500" y="26368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4" name="Oval 11"/>
          <p:cNvSpPr>
            <a:spLocks noChangeArrowheads="1"/>
          </p:cNvSpPr>
          <p:nvPr/>
        </p:nvSpPr>
        <p:spPr bwMode="auto">
          <a:xfrm>
            <a:off x="7380288" y="25654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5" name="Freeform 12"/>
          <p:cNvSpPr>
            <a:spLocks/>
          </p:cNvSpPr>
          <p:nvPr/>
        </p:nvSpPr>
        <p:spPr bwMode="auto">
          <a:xfrm>
            <a:off x="1763713" y="1052513"/>
            <a:ext cx="298450" cy="1512887"/>
          </a:xfrm>
          <a:custGeom>
            <a:avLst/>
            <a:gdLst>
              <a:gd name="T0" fmla="*/ 0 w 188"/>
              <a:gd name="T1" fmla="*/ 0 h 953"/>
              <a:gd name="T2" fmla="*/ 2147483647 w 188"/>
              <a:gd name="T3" fmla="*/ 2147483647 h 953"/>
              <a:gd name="T4" fmla="*/ 2147483647 w 188"/>
              <a:gd name="T5" fmla="*/ 2147483647 h 953"/>
              <a:gd name="T6" fmla="*/ 0 60000 65536"/>
              <a:gd name="T7" fmla="*/ 0 60000 65536"/>
              <a:gd name="T8" fmla="*/ 0 60000 65536"/>
              <a:gd name="T9" fmla="*/ 0 w 188"/>
              <a:gd name="T10" fmla="*/ 0 h 953"/>
              <a:gd name="T11" fmla="*/ 188 w 188"/>
              <a:gd name="T12" fmla="*/ 953 h 9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8" h="953">
                <a:moveTo>
                  <a:pt x="0" y="0"/>
                </a:moveTo>
                <a:cubicBezTo>
                  <a:pt x="87" y="124"/>
                  <a:pt x="174" y="249"/>
                  <a:pt x="181" y="408"/>
                </a:cubicBezTo>
                <a:cubicBezTo>
                  <a:pt x="188" y="567"/>
                  <a:pt x="68" y="862"/>
                  <a:pt x="45" y="95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46" name="Freeform 13"/>
          <p:cNvSpPr>
            <a:spLocks/>
          </p:cNvSpPr>
          <p:nvPr/>
        </p:nvSpPr>
        <p:spPr bwMode="auto">
          <a:xfrm>
            <a:off x="1392238" y="1052513"/>
            <a:ext cx="371475" cy="1584325"/>
          </a:xfrm>
          <a:custGeom>
            <a:avLst/>
            <a:gdLst>
              <a:gd name="T0" fmla="*/ 2147483647 w 234"/>
              <a:gd name="T1" fmla="*/ 2147483647 h 998"/>
              <a:gd name="T2" fmla="*/ 2147483647 w 234"/>
              <a:gd name="T3" fmla="*/ 2147483647 h 998"/>
              <a:gd name="T4" fmla="*/ 2147483647 w 234"/>
              <a:gd name="T5" fmla="*/ 0 h 998"/>
              <a:gd name="T6" fmla="*/ 0 60000 65536"/>
              <a:gd name="T7" fmla="*/ 0 60000 65536"/>
              <a:gd name="T8" fmla="*/ 0 60000 65536"/>
              <a:gd name="T9" fmla="*/ 0 w 234"/>
              <a:gd name="T10" fmla="*/ 0 h 998"/>
              <a:gd name="T11" fmla="*/ 234 w 234"/>
              <a:gd name="T12" fmla="*/ 998 h 9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" h="998">
                <a:moveTo>
                  <a:pt x="234" y="998"/>
                </a:moveTo>
                <a:cubicBezTo>
                  <a:pt x="124" y="831"/>
                  <a:pt x="14" y="665"/>
                  <a:pt x="7" y="499"/>
                </a:cubicBezTo>
                <a:cubicBezTo>
                  <a:pt x="0" y="333"/>
                  <a:pt x="94" y="166"/>
                  <a:pt x="189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47" name="Line 14"/>
          <p:cNvSpPr>
            <a:spLocks noChangeShapeType="1"/>
          </p:cNvSpPr>
          <p:nvPr/>
        </p:nvSpPr>
        <p:spPr bwMode="auto">
          <a:xfrm>
            <a:off x="1763713" y="2636838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48" name="Line 15"/>
          <p:cNvSpPr>
            <a:spLocks noChangeShapeType="1"/>
          </p:cNvSpPr>
          <p:nvPr/>
        </p:nvSpPr>
        <p:spPr bwMode="auto">
          <a:xfrm flipV="1">
            <a:off x="3348038" y="1052513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49" name="Line 16"/>
          <p:cNvSpPr>
            <a:spLocks noChangeShapeType="1"/>
          </p:cNvSpPr>
          <p:nvPr/>
        </p:nvSpPr>
        <p:spPr bwMode="auto">
          <a:xfrm>
            <a:off x="1763713" y="981075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0" name="Freeform 17"/>
          <p:cNvSpPr>
            <a:spLocks/>
          </p:cNvSpPr>
          <p:nvPr/>
        </p:nvSpPr>
        <p:spPr bwMode="auto">
          <a:xfrm>
            <a:off x="2916238" y="260350"/>
            <a:ext cx="1236662" cy="995363"/>
          </a:xfrm>
          <a:custGeom>
            <a:avLst/>
            <a:gdLst>
              <a:gd name="T0" fmla="*/ 2147483647 w 779"/>
              <a:gd name="T1" fmla="*/ 2147483647 h 627"/>
              <a:gd name="T2" fmla="*/ 2147483647 w 779"/>
              <a:gd name="T3" fmla="*/ 2147483647 h 627"/>
              <a:gd name="T4" fmla="*/ 2147483647 w 779"/>
              <a:gd name="T5" fmla="*/ 2147483647 h 627"/>
              <a:gd name="T6" fmla="*/ 2147483647 w 779"/>
              <a:gd name="T7" fmla="*/ 2147483647 h 627"/>
              <a:gd name="T8" fmla="*/ 2147483647 w 779"/>
              <a:gd name="T9" fmla="*/ 2147483647 h 627"/>
              <a:gd name="T10" fmla="*/ 2147483647 w 779"/>
              <a:gd name="T11" fmla="*/ 2147483647 h 6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79"/>
              <a:gd name="T19" fmla="*/ 0 h 627"/>
              <a:gd name="T20" fmla="*/ 779 w 779"/>
              <a:gd name="T21" fmla="*/ 627 h 6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79" h="627">
                <a:moveTo>
                  <a:pt x="242" y="363"/>
                </a:moveTo>
                <a:cubicBezTo>
                  <a:pt x="121" y="226"/>
                  <a:pt x="0" y="90"/>
                  <a:pt x="60" y="45"/>
                </a:cubicBezTo>
                <a:cubicBezTo>
                  <a:pt x="120" y="0"/>
                  <a:pt x="492" y="8"/>
                  <a:pt x="605" y="91"/>
                </a:cubicBezTo>
                <a:cubicBezTo>
                  <a:pt x="718" y="174"/>
                  <a:pt x="779" y="461"/>
                  <a:pt x="741" y="544"/>
                </a:cubicBezTo>
                <a:cubicBezTo>
                  <a:pt x="703" y="627"/>
                  <a:pt x="446" y="597"/>
                  <a:pt x="378" y="590"/>
                </a:cubicBezTo>
                <a:cubicBezTo>
                  <a:pt x="310" y="583"/>
                  <a:pt x="321" y="541"/>
                  <a:pt x="333" y="49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1" name="Freeform 18"/>
          <p:cNvSpPr>
            <a:spLocks/>
          </p:cNvSpPr>
          <p:nvPr/>
        </p:nvSpPr>
        <p:spPr bwMode="auto">
          <a:xfrm>
            <a:off x="5208588" y="981075"/>
            <a:ext cx="442912" cy="1655763"/>
          </a:xfrm>
          <a:custGeom>
            <a:avLst/>
            <a:gdLst>
              <a:gd name="T0" fmla="*/ 2147483647 w 279"/>
              <a:gd name="T1" fmla="*/ 0 h 1043"/>
              <a:gd name="T2" fmla="*/ 2147483647 w 279"/>
              <a:gd name="T3" fmla="*/ 2147483647 h 1043"/>
              <a:gd name="T4" fmla="*/ 2147483647 w 279"/>
              <a:gd name="T5" fmla="*/ 2147483647 h 1043"/>
              <a:gd name="T6" fmla="*/ 0 60000 65536"/>
              <a:gd name="T7" fmla="*/ 0 60000 65536"/>
              <a:gd name="T8" fmla="*/ 0 60000 65536"/>
              <a:gd name="T9" fmla="*/ 0 w 279"/>
              <a:gd name="T10" fmla="*/ 0 h 1043"/>
              <a:gd name="T11" fmla="*/ 279 w 279"/>
              <a:gd name="T12" fmla="*/ 1043 h 10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9" h="1043">
                <a:moveTo>
                  <a:pt x="279" y="0"/>
                </a:moveTo>
                <a:cubicBezTo>
                  <a:pt x="146" y="162"/>
                  <a:pt x="14" y="325"/>
                  <a:pt x="7" y="499"/>
                </a:cubicBezTo>
                <a:cubicBezTo>
                  <a:pt x="0" y="673"/>
                  <a:pt x="196" y="952"/>
                  <a:pt x="234" y="104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2" name="Freeform 19"/>
          <p:cNvSpPr>
            <a:spLocks/>
          </p:cNvSpPr>
          <p:nvPr/>
        </p:nvSpPr>
        <p:spPr bwMode="auto">
          <a:xfrm>
            <a:off x="5796136" y="1052513"/>
            <a:ext cx="360363" cy="1584325"/>
          </a:xfrm>
          <a:custGeom>
            <a:avLst/>
            <a:gdLst>
              <a:gd name="T0" fmla="*/ 0 w 227"/>
              <a:gd name="T1" fmla="*/ 0 h 998"/>
              <a:gd name="T2" fmla="*/ 2147483647 w 227"/>
              <a:gd name="T3" fmla="*/ 2147483647 h 998"/>
              <a:gd name="T4" fmla="*/ 0 w 227"/>
              <a:gd name="T5" fmla="*/ 2147483647 h 998"/>
              <a:gd name="T6" fmla="*/ 0 60000 65536"/>
              <a:gd name="T7" fmla="*/ 0 60000 65536"/>
              <a:gd name="T8" fmla="*/ 0 60000 65536"/>
              <a:gd name="T9" fmla="*/ 0 w 227"/>
              <a:gd name="T10" fmla="*/ 0 h 998"/>
              <a:gd name="T11" fmla="*/ 227 w 227"/>
              <a:gd name="T12" fmla="*/ 998 h 9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998">
                <a:moveTo>
                  <a:pt x="0" y="0"/>
                </a:moveTo>
                <a:cubicBezTo>
                  <a:pt x="113" y="189"/>
                  <a:pt x="227" y="378"/>
                  <a:pt x="227" y="544"/>
                </a:cubicBezTo>
                <a:cubicBezTo>
                  <a:pt x="227" y="710"/>
                  <a:pt x="113" y="854"/>
                  <a:pt x="0" y="99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3" name="Line 20"/>
          <p:cNvSpPr>
            <a:spLocks noChangeShapeType="1"/>
          </p:cNvSpPr>
          <p:nvPr/>
        </p:nvSpPr>
        <p:spPr bwMode="auto">
          <a:xfrm>
            <a:off x="5867400" y="2708275"/>
            <a:ext cx="144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4" name="Line 21"/>
          <p:cNvSpPr>
            <a:spLocks noChangeShapeType="1"/>
          </p:cNvSpPr>
          <p:nvPr/>
        </p:nvSpPr>
        <p:spPr bwMode="auto">
          <a:xfrm flipH="1">
            <a:off x="5867400" y="981075"/>
            <a:ext cx="151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5" name="Line 22"/>
          <p:cNvSpPr>
            <a:spLocks noChangeShapeType="1"/>
          </p:cNvSpPr>
          <p:nvPr/>
        </p:nvSpPr>
        <p:spPr bwMode="auto">
          <a:xfrm flipV="1">
            <a:off x="7451725" y="1125538"/>
            <a:ext cx="0" cy="1366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6" name="Freeform 23"/>
          <p:cNvSpPr>
            <a:spLocks/>
          </p:cNvSpPr>
          <p:nvPr/>
        </p:nvSpPr>
        <p:spPr bwMode="auto">
          <a:xfrm>
            <a:off x="7164388" y="333375"/>
            <a:ext cx="1390650" cy="1031875"/>
          </a:xfrm>
          <a:custGeom>
            <a:avLst/>
            <a:gdLst>
              <a:gd name="T0" fmla="*/ 2147483647 w 876"/>
              <a:gd name="T1" fmla="*/ 2147483647 h 650"/>
              <a:gd name="T2" fmla="*/ 2147483647 w 876"/>
              <a:gd name="T3" fmla="*/ 2147483647 h 650"/>
              <a:gd name="T4" fmla="*/ 2147483647 w 876"/>
              <a:gd name="T5" fmla="*/ 2147483647 h 650"/>
              <a:gd name="T6" fmla="*/ 2147483647 w 876"/>
              <a:gd name="T7" fmla="*/ 2147483647 h 650"/>
              <a:gd name="T8" fmla="*/ 2147483647 w 876"/>
              <a:gd name="T9" fmla="*/ 2147483647 h 6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6"/>
              <a:gd name="T16" fmla="*/ 0 h 650"/>
              <a:gd name="T17" fmla="*/ 876 w 876"/>
              <a:gd name="T18" fmla="*/ 650 h 6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6" h="650">
                <a:moveTo>
                  <a:pt x="113" y="317"/>
                </a:moveTo>
                <a:cubicBezTo>
                  <a:pt x="56" y="200"/>
                  <a:pt x="0" y="83"/>
                  <a:pt x="113" y="45"/>
                </a:cubicBezTo>
                <a:cubicBezTo>
                  <a:pt x="226" y="7"/>
                  <a:pt x="710" y="0"/>
                  <a:pt x="793" y="91"/>
                </a:cubicBezTo>
                <a:cubicBezTo>
                  <a:pt x="876" y="182"/>
                  <a:pt x="695" y="530"/>
                  <a:pt x="612" y="590"/>
                </a:cubicBezTo>
                <a:cubicBezTo>
                  <a:pt x="529" y="650"/>
                  <a:pt x="411" y="552"/>
                  <a:pt x="294" y="45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6457" name="Object 24"/>
          <p:cNvGraphicFramePr>
            <a:graphicFrameLocks noChangeAspect="1"/>
          </p:cNvGraphicFramePr>
          <p:nvPr/>
        </p:nvGraphicFramePr>
        <p:xfrm>
          <a:off x="5076825" y="620713"/>
          <a:ext cx="36353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543" imgH="123930" progId="Equation.3">
                  <p:embed/>
                </p:oleObj>
              </mc:Choice>
              <mc:Fallback>
                <p:oleObj name="Equation" r:id="rId4" imgW="47543" imgH="12393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620713"/>
                        <a:ext cx="36353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8" name="Object 25"/>
          <p:cNvGraphicFramePr>
            <a:graphicFrameLocks noChangeAspect="1"/>
          </p:cNvGraphicFramePr>
          <p:nvPr/>
        </p:nvGraphicFramePr>
        <p:xfrm>
          <a:off x="1084263" y="2492375"/>
          <a:ext cx="4286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723" imgH="123930" progId="Equation.3">
                  <p:embed/>
                </p:oleObj>
              </mc:Choice>
              <mc:Fallback>
                <p:oleObj name="Equation" r:id="rId6" imgW="66723" imgH="12393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2492375"/>
                        <a:ext cx="4286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9" name="Object 26"/>
          <p:cNvGraphicFramePr>
            <a:graphicFrameLocks noChangeAspect="1"/>
          </p:cNvGraphicFramePr>
          <p:nvPr/>
        </p:nvGraphicFramePr>
        <p:xfrm>
          <a:off x="5003800" y="2565400"/>
          <a:ext cx="4286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23930" progId="Equation.3">
                  <p:embed/>
                </p:oleObj>
              </mc:Choice>
              <mc:Fallback>
                <p:oleObj name="Equation" r:id="rId8" imgW="66723" imgH="12393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565400"/>
                        <a:ext cx="4286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60" name="Object 27"/>
          <p:cNvGraphicFramePr>
            <a:graphicFrameLocks noChangeAspect="1"/>
          </p:cNvGraphicFramePr>
          <p:nvPr/>
        </p:nvGraphicFramePr>
        <p:xfrm>
          <a:off x="3435350" y="460375"/>
          <a:ext cx="3968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268" imgH="133380" progId="Equation.3">
                  <p:embed/>
                </p:oleObj>
              </mc:Choice>
              <mc:Fallback>
                <p:oleObj name="Equation" r:id="rId10" imgW="57268" imgH="1333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0" y="460375"/>
                        <a:ext cx="3968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61" name="Object 28"/>
          <p:cNvGraphicFramePr>
            <a:graphicFrameLocks noChangeAspect="1"/>
          </p:cNvGraphicFramePr>
          <p:nvPr/>
        </p:nvGraphicFramePr>
        <p:xfrm>
          <a:off x="7524750" y="476250"/>
          <a:ext cx="3968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268" imgH="133380" progId="Equation.3">
                  <p:embed/>
                </p:oleObj>
              </mc:Choice>
              <mc:Fallback>
                <p:oleObj name="Equation" r:id="rId12" imgW="57268" imgH="1333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76250"/>
                        <a:ext cx="3968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62" name="Object 29"/>
          <p:cNvGraphicFramePr>
            <a:graphicFrameLocks noChangeAspect="1"/>
          </p:cNvGraphicFramePr>
          <p:nvPr/>
        </p:nvGraphicFramePr>
        <p:xfrm>
          <a:off x="3548063" y="2436813"/>
          <a:ext cx="43021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723" imgH="123930" progId="Equation.3">
                  <p:embed/>
                </p:oleObj>
              </mc:Choice>
              <mc:Fallback>
                <p:oleObj name="Equation" r:id="rId14" imgW="66723" imgH="12393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2436813"/>
                        <a:ext cx="43021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63" name="Object 30"/>
          <p:cNvGraphicFramePr>
            <a:graphicFrameLocks noChangeAspect="1"/>
          </p:cNvGraphicFramePr>
          <p:nvPr/>
        </p:nvGraphicFramePr>
        <p:xfrm>
          <a:off x="7667625" y="2349500"/>
          <a:ext cx="4302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6723" imgH="123930" progId="Equation.3">
                  <p:embed/>
                </p:oleObj>
              </mc:Choice>
              <mc:Fallback>
                <p:oleObj name="Equation" r:id="rId16" imgW="66723" imgH="12393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2349500"/>
                        <a:ext cx="43021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64" name="Object 31"/>
          <p:cNvGraphicFramePr>
            <a:graphicFrameLocks noChangeAspect="1"/>
          </p:cNvGraphicFramePr>
          <p:nvPr/>
        </p:nvGraphicFramePr>
        <p:xfrm>
          <a:off x="2339975" y="2781300"/>
          <a:ext cx="4635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5632" imgH="123930" progId="Equation.3">
                  <p:embed/>
                </p:oleObj>
              </mc:Choice>
              <mc:Fallback>
                <p:oleObj name="Equation" r:id="rId18" imgW="85632" imgH="12393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781300"/>
                        <a:ext cx="4635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65" name="Object 32"/>
          <p:cNvGraphicFramePr>
            <a:graphicFrameLocks noChangeAspect="1"/>
          </p:cNvGraphicFramePr>
          <p:nvPr/>
        </p:nvGraphicFramePr>
        <p:xfrm>
          <a:off x="6372225" y="2781300"/>
          <a:ext cx="5302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4812" imgH="123930" progId="Equation.3">
                  <p:embed/>
                </p:oleObj>
              </mc:Choice>
              <mc:Fallback>
                <p:oleObj name="Equation" r:id="rId20" imgW="104812" imgH="12393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781300"/>
                        <a:ext cx="5302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6466" name="Picture 33" descr="1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59" y="3497703"/>
            <a:ext cx="6894682" cy="2878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4ECE0A-49AE-46DA-8210-6ED262C42DF5}" type="slidenum">
              <a:rPr lang="en-US" altLang="zh-CN"/>
              <a:pPr>
                <a:defRPr/>
              </a:pPr>
              <a:t>48</a:t>
            </a:fld>
            <a:endParaRPr lang="en-US" altLang="zh-CN"/>
          </a:p>
        </p:txBody>
      </p:sp>
      <p:sp>
        <p:nvSpPr>
          <p:cNvPr id="147459" name="Rectangle 2"/>
          <p:cNvSpPr>
            <a:spLocks noGrp="1" noRot="1" noChangeArrowheads="1"/>
          </p:cNvSpPr>
          <p:nvPr>
            <p:ph/>
          </p:nvPr>
        </p:nvSpPr>
        <p:spPr>
          <a:xfrm>
            <a:off x="301625" y="366737"/>
            <a:ext cx="8540750" cy="58705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无向图的邻接矩阵是对称矩阵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一个图与其邻接矩阵是一一对应的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从一个有向图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的邻接矩阵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容易得出每个节点的度数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中第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行元素之和为第个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的出度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1, 2, …,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列元素之和为第个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的入度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1, 2, …,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CFE0CB-66A2-4963-8CD6-17B8BBCCDE8A}" type="slidenum">
              <a:rPr lang="en-US" altLang="zh-CN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148483" name="Rectangle 2"/>
          <p:cNvSpPr>
            <a:spLocks noGrp="1" noRot="1" noChangeArrowheads="1"/>
          </p:cNvSpPr>
          <p:nvPr>
            <p:ph/>
          </p:nvPr>
        </p:nvSpPr>
        <p:spPr>
          <a:xfrm>
            <a:off x="35496" y="-27384"/>
            <a:ext cx="9108504" cy="58705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6-10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的邻接矩阵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位置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元素为从节点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长度为</a:t>
            </a:r>
            <a:r>
              <a:rPr lang="en-US" altLang="zh-CN" b="1" i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≥1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路的数目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归纳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1,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显然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时结论成立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48484" name="Oval 3"/>
          <p:cNvSpPr>
            <a:spLocks noChangeArrowheads="1"/>
          </p:cNvSpPr>
          <p:nvPr/>
        </p:nvSpPr>
        <p:spPr bwMode="auto">
          <a:xfrm>
            <a:off x="2746922" y="48560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848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00248"/>
              </p:ext>
            </p:extLst>
          </p:nvPr>
        </p:nvGraphicFramePr>
        <p:xfrm>
          <a:off x="188290" y="3033785"/>
          <a:ext cx="8776197" cy="1115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66988" imgH="333450" progId="Equation.3">
                  <p:embed/>
                </p:oleObj>
              </mc:Choice>
              <mc:Fallback>
                <p:oleObj name="Equation" r:id="rId2" imgW="3266988" imgH="33345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90" y="3033785"/>
                        <a:ext cx="8776197" cy="11152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6" name="Oval 5"/>
          <p:cNvSpPr>
            <a:spLocks noChangeArrowheads="1"/>
          </p:cNvSpPr>
          <p:nvPr/>
        </p:nvSpPr>
        <p:spPr bwMode="auto">
          <a:xfrm>
            <a:off x="4763047" y="42798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487" name="Oval 6"/>
          <p:cNvSpPr>
            <a:spLocks noChangeArrowheads="1"/>
          </p:cNvSpPr>
          <p:nvPr/>
        </p:nvSpPr>
        <p:spPr bwMode="auto">
          <a:xfrm>
            <a:off x="4763047" y="471162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488" name="Oval 7"/>
          <p:cNvSpPr>
            <a:spLocks noChangeArrowheads="1"/>
          </p:cNvSpPr>
          <p:nvPr/>
        </p:nvSpPr>
        <p:spPr bwMode="auto">
          <a:xfrm>
            <a:off x="4763047" y="55037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489" name="Oval 8"/>
          <p:cNvSpPr>
            <a:spLocks noChangeArrowheads="1"/>
          </p:cNvSpPr>
          <p:nvPr/>
        </p:nvSpPr>
        <p:spPr bwMode="auto">
          <a:xfrm>
            <a:off x="5771109" y="48560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490" name="Line 9"/>
          <p:cNvSpPr>
            <a:spLocks noChangeShapeType="1"/>
          </p:cNvSpPr>
          <p:nvPr/>
        </p:nvSpPr>
        <p:spPr bwMode="auto">
          <a:xfrm flipV="1">
            <a:off x="2818359" y="4352850"/>
            <a:ext cx="2016125" cy="5746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91" name="Line 10"/>
          <p:cNvSpPr>
            <a:spLocks noChangeShapeType="1"/>
          </p:cNvSpPr>
          <p:nvPr/>
        </p:nvSpPr>
        <p:spPr bwMode="auto">
          <a:xfrm flipV="1">
            <a:off x="2818359" y="4784650"/>
            <a:ext cx="2016125" cy="1428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92" name="Line 11"/>
          <p:cNvSpPr>
            <a:spLocks noChangeShapeType="1"/>
          </p:cNvSpPr>
          <p:nvPr/>
        </p:nvSpPr>
        <p:spPr bwMode="auto">
          <a:xfrm>
            <a:off x="2818359" y="4927525"/>
            <a:ext cx="2016125" cy="6492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93" name="Line 12"/>
          <p:cNvSpPr>
            <a:spLocks noChangeShapeType="1"/>
          </p:cNvSpPr>
          <p:nvPr/>
        </p:nvSpPr>
        <p:spPr bwMode="auto">
          <a:xfrm>
            <a:off x="4834484" y="4352850"/>
            <a:ext cx="100965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94" name="Line 13"/>
          <p:cNvSpPr>
            <a:spLocks noChangeShapeType="1"/>
          </p:cNvSpPr>
          <p:nvPr/>
        </p:nvSpPr>
        <p:spPr bwMode="auto">
          <a:xfrm>
            <a:off x="4834484" y="4784650"/>
            <a:ext cx="100965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495" name="Line 14"/>
          <p:cNvSpPr>
            <a:spLocks noChangeShapeType="1"/>
          </p:cNvSpPr>
          <p:nvPr/>
        </p:nvSpPr>
        <p:spPr bwMode="auto">
          <a:xfrm flipV="1">
            <a:off x="4834484" y="4927525"/>
            <a:ext cx="936625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849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945720"/>
              </p:ext>
            </p:extLst>
          </p:nvPr>
        </p:nvGraphicFramePr>
        <p:xfrm>
          <a:off x="5913537" y="4568750"/>
          <a:ext cx="4302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42830" progId="Equation.3">
                  <p:embed/>
                </p:oleObj>
              </mc:Choice>
              <mc:Fallback>
                <p:oleObj name="Equation" r:id="rId4" imgW="66723" imgH="1428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3537" y="4568750"/>
                        <a:ext cx="43021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9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37558"/>
              </p:ext>
            </p:extLst>
          </p:nvPr>
        </p:nvGraphicFramePr>
        <p:xfrm>
          <a:off x="2311475" y="4607471"/>
          <a:ext cx="363538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7543" imgH="133380" progId="Equation.3">
                  <p:embed/>
                </p:oleObj>
              </mc:Choice>
              <mc:Fallback>
                <p:oleObj name="Equation" r:id="rId6" imgW="47543" imgH="1333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75" y="4607471"/>
                        <a:ext cx="363538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9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92462"/>
              </p:ext>
            </p:extLst>
          </p:nvPr>
        </p:nvGraphicFramePr>
        <p:xfrm>
          <a:off x="4829919" y="3938636"/>
          <a:ext cx="3635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543" imgH="123930" progId="Equation.3">
                  <p:embed/>
                </p:oleObj>
              </mc:Choice>
              <mc:Fallback>
                <p:oleObj name="Equation" r:id="rId8" imgW="47543" imgH="1239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9919" y="3938636"/>
                        <a:ext cx="3635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9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038655"/>
              </p:ext>
            </p:extLst>
          </p:nvPr>
        </p:nvGraphicFramePr>
        <p:xfrm>
          <a:off x="4945609" y="4568750"/>
          <a:ext cx="4302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6723" imgH="123930" progId="Equation.3">
                  <p:embed/>
                </p:oleObj>
              </mc:Choice>
              <mc:Fallback>
                <p:oleObj name="Equation" r:id="rId10" imgW="66723" imgH="1239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609" y="4568750"/>
                        <a:ext cx="43021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496867"/>
              </p:ext>
            </p:extLst>
          </p:nvPr>
        </p:nvGraphicFramePr>
        <p:xfrm>
          <a:off x="4774159" y="4887838"/>
          <a:ext cx="1984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95310" progId="Equation.3">
                  <p:embed/>
                </p:oleObj>
              </mc:Choice>
              <mc:Fallback>
                <p:oleObj name="Equation" r:id="rId12" imgW="0" imgH="9531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4159" y="4887838"/>
                        <a:ext cx="198438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631565"/>
              </p:ext>
            </p:extLst>
          </p:nvPr>
        </p:nvGraphicFramePr>
        <p:xfrm>
          <a:off x="4907261" y="5360317"/>
          <a:ext cx="43021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723" imgH="133380" progId="Equation.3">
                  <p:embed/>
                </p:oleObj>
              </mc:Choice>
              <mc:Fallback>
                <p:oleObj name="Equation" r:id="rId14" imgW="66723" imgH="1333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261" y="5360317"/>
                        <a:ext cx="430212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14181411-B4C0-445A-297A-A0F198E3A205}"/>
              </a:ext>
            </a:extLst>
          </p:cNvPr>
          <p:cNvSpPr txBox="1"/>
          <p:nvPr/>
        </p:nvSpPr>
        <p:spPr>
          <a:xfrm>
            <a:off x="2813496" y="6453336"/>
            <a:ext cx="33151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200" i="1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200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200" i="1" dirty="0" err="1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200" i="1" baseline="-25000" dirty="0" err="1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2200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长度为</a:t>
            </a:r>
            <a:r>
              <a:rPr lang="en-US" altLang="zh-CN" sz="2200" i="1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200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200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≥1</a:t>
            </a:r>
            <a:r>
              <a:rPr lang="en-US" altLang="zh-CN" sz="2200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solidFill>
                  <a:srgbClr val="025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的路</a:t>
            </a:r>
            <a:endParaRPr lang="zh-CN" altLang="en-US" sz="2200" dirty="0">
              <a:solidFill>
                <a:srgbClr val="0250FF"/>
              </a:solidFill>
              <a:highlight>
                <a:srgbClr val="FFFF00"/>
              </a:highlight>
            </a:endParaRP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DC53638B-83CB-03E0-4D2C-907EA78AE1B7}"/>
              </a:ext>
            </a:extLst>
          </p:cNvPr>
          <p:cNvSpPr/>
          <p:nvPr/>
        </p:nvSpPr>
        <p:spPr bwMode="auto">
          <a:xfrm rot="16200000">
            <a:off x="3611019" y="5047977"/>
            <a:ext cx="216023" cy="2088034"/>
          </a:xfrm>
          <a:prstGeom prst="leftBrace">
            <a:avLst>
              <a:gd name="adj1" fmla="val 26474"/>
              <a:gd name="adj2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7871BBC2-D1C2-D4DB-BE4F-8719D090BE41}"/>
              </a:ext>
            </a:extLst>
          </p:cNvPr>
          <p:cNvSpPr/>
          <p:nvPr/>
        </p:nvSpPr>
        <p:spPr bwMode="auto">
          <a:xfrm rot="16200000">
            <a:off x="5303406" y="5587838"/>
            <a:ext cx="216025" cy="1008311"/>
          </a:xfrm>
          <a:prstGeom prst="leftBrace">
            <a:avLst>
              <a:gd name="adj1" fmla="val 26474"/>
              <a:gd name="adj2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8EEB9F-02D6-6C25-1AFD-8DF2788355D2}"/>
              </a:ext>
            </a:extLst>
          </p:cNvPr>
          <p:cNvSpPr txBox="1"/>
          <p:nvPr/>
        </p:nvSpPr>
        <p:spPr>
          <a:xfrm>
            <a:off x="3472902" y="6097992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l-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BE01CD-5800-C861-D979-398C00D386BF}"/>
              </a:ext>
            </a:extLst>
          </p:cNvPr>
          <p:cNvSpPr txBox="1"/>
          <p:nvPr/>
        </p:nvSpPr>
        <p:spPr>
          <a:xfrm>
            <a:off x="5287615" y="6093296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D41CC5A-93D1-2136-50F7-D32966A6249E}"/>
                  </a:ext>
                </a:extLst>
              </p:cNvPr>
              <p:cNvSpPr txBox="1"/>
              <p:nvPr/>
            </p:nvSpPr>
            <p:spPr>
              <a:xfrm>
                <a:off x="3823742" y="4224624"/>
                <a:ext cx="683200" cy="415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5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5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25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zh-CN" altLang="en-US" sz="2500" b="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D41CC5A-93D1-2136-50F7-D32966A62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742" y="4224624"/>
                <a:ext cx="683200" cy="4155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4EE0D26-CD03-2CEC-D4C2-B3BA1DB07322}"/>
                  </a:ext>
                </a:extLst>
              </p:cNvPr>
              <p:cNvSpPr txBox="1"/>
              <p:nvPr/>
            </p:nvSpPr>
            <p:spPr>
              <a:xfrm>
                <a:off x="5223510" y="4239925"/>
                <a:ext cx="505459" cy="463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zh-CN" altLang="en-US" sz="2400" b="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4EE0D26-CD03-2CEC-D4C2-B3BA1DB07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510" y="4239925"/>
                <a:ext cx="505459" cy="46384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4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4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4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4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 animBg="1"/>
      <p:bldP spid="148486" grpId="0" animBg="1"/>
      <p:bldP spid="148487" grpId="0" animBg="1"/>
      <p:bldP spid="148488" grpId="0" animBg="1"/>
      <p:bldP spid="148489" grpId="0" animBg="1"/>
      <p:bldP spid="148490" grpId="0" animBg="1"/>
      <p:bldP spid="148491" grpId="0" animBg="1"/>
      <p:bldP spid="148492" grpId="0" animBg="1"/>
      <p:bldP spid="148493" grpId="0" animBg="1"/>
      <p:bldP spid="148494" grpId="0" animBg="1"/>
      <p:bldP spid="148495" grpId="0" animBg="1"/>
      <p:bldP spid="2" grpId="0"/>
      <p:bldP spid="3" grpId="0" animBg="1"/>
      <p:bldP spid="4" grpId="0" animBg="1"/>
      <p:bldP spid="5" grpId="0"/>
      <p:bldP spid="6" grpId="0"/>
      <p:bldP spid="7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D666D5-9CF0-433A-BA79-8D182E17B9B0}" type="slidenum">
              <a:rPr lang="en-US" altLang="zh-CN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14950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>
                <a:latin typeface="Times New Roman" pitchFamily="18" charset="0"/>
                <a:ea typeface="华文新魏" pitchFamily="2" charset="-122"/>
              </a:rPr>
              <a:t>6-7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49508" name="Oval 3"/>
          <p:cNvSpPr>
            <a:spLocks noChangeArrowheads="1"/>
          </p:cNvSpPr>
          <p:nvPr/>
        </p:nvSpPr>
        <p:spPr bwMode="auto">
          <a:xfrm>
            <a:off x="3204047" y="177284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09" name="Oval 4"/>
          <p:cNvSpPr>
            <a:spLocks noChangeArrowheads="1"/>
          </p:cNvSpPr>
          <p:nvPr/>
        </p:nvSpPr>
        <p:spPr bwMode="auto">
          <a:xfrm>
            <a:off x="4859809" y="184586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10" name="Oval 5"/>
          <p:cNvSpPr>
            <a:spLocks noChangeArrowheads="1"/>
          </p:cNvSpPr>
          <p:nvPr/>
        </p:nvSpPr>
        <p:spPr bwMode="auto">
          <a:xfrm>
            <a:off x="3275484" y="26154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11" name="Oval 6"/>
          <p:cNvSpPr>
            <a:spLocks noChangeArrowheads="1"/>
          </p:cNvSpPr>
          <p:nvPr/>
        </p:nvSpPr>
        <p:spPr bwMode="auto">
          <a:xfrm>
            <a:off x="4788372" y="26154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12" name="Oval 7"/>
          <p:cNvSpPr>
            <a:spLocks noChangeArrowheads="1"/>
          </p:cNvSpPr>
          <p:nvPr/>
        </p:nvSpPr>
        <p:spPr bwMode="auto">
          <a:xfrm>
            <a:off x="3996209" y="1053704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13" name="Line 8"/>
          <p:cNvSpPr>
            <a:spLocks noChangeShapeType="1"/>
          </p:cNvSpPr>
          <p:nvPr/>
        </p:nvSpPr>
        <p:spPr bwMode="auto">
          <a:xfrm>
            <a:off x="3348509" y="1845866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4" name="Line 9"/>
          <p:cNvSpPr>
            <a:spLocks noChangeShapeType="1"/>
          </p:cNvSpPr>
          <p:nvPr/>
        </p:nvSpPr>
        <p:spPr bwMode="auto">
          <a:xfrm flipH="1" flipV="1">
            <a:off x="4140672" y="1196579"/>
            <a:ext cx="719137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5" name="Line 10"/>
          <p:cNvSpPr>
            <a:spLocks noChangeShapeType="1"/>
          </p:cNvSpPr>
          <p:nvPr/>
        </p:nvSpPr>
        <p:spPr bwMode="auto">
          <a:xfrm flipH="1">
            <a:off x="4859809" y="404416"/>
            <a:ext cx="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6" name="Line 11"/>
          <p:cNvSpPr>
            <a:spLocks noChangeShapeType="1"/>
          </p:cNvSpPr>
          <p:nvPr/>
        </p:nvSpPr>
        <p:spPr bwMode="auto">
          <a:xfrm flipH="1">
            <a:off x="3419947" y="332979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7" name="Line 12"/>
          <p:cNvSpPr>
            <a:spLocks noChangeShapeType="1"/>
          </p:cNvSpPr>
          <p:nvPr/>
        </p:nvSpPr>
        <p:spPr bwMode="auto">
          <a:xfrm flipV="1">
            <a:off x="3275484" y="477441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8" name="Line 13"/>
          <p:cNvSpPr>
            <a:spLocks noChangeShapeType="1"/>
          </p:cNvSpPr>
          <p:nvPr/>
        </p:nvSpPr>
        <p:spPr bwMode="auto">
          <a:xfrm>
            <a:off x="3419947" y="404416"/>
            <a:ext cx="576262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19" name="Line 14"/>
          <p:cNvSpPr>
            <a:spLocks noChangeShapeType="1"/>
          </p:cNvSpPr>
          <p:nvPr/>
        </p:nvSpPr>
        <p:spPr bwMode="auto">
          <a:xfrm flipH="1">
            <a:off x="3348509" y="1196579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20" name="Line 15"/>
          <p:cNvSpPr>
            <a:spLocks noChangeShapeType="1"/>
          </p:cNvSpPr>
          <p:nvPr/>
        </p:nvSpPr>
        <p:spPr bwMode="auto">
          <a:xfrm flipV="1">
            <a:off x="4140672" y="404416"/>
            <a:ext cx="64770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952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086718"/>
              </p:ext>
            </p:extLst>
          </p:nvPr>
        </p:nvGraphicFramePr>
        <p:xfrm>
          <a:off x="2768302" y="1556792"/>
          <a:ext cx="3635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302" y="1556792"/>
                        <a:ext cx="3635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42380"/>
              </p:ext>
            </p:extLst>
          </p:nvPr>
        </p:nvGraphicFramePr>
        <p:xfrm>
          <a:off x="5076056" y="1556792"/>
          <a:ext cx="43021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723" imgH="123930" progId="Equation.3">
                  <p:embed/>
                </p:oleObj>
              </mc:Choice>
              <mc:Fallback>
                <p:oleObj name="公式" r:id="rId4" imgW="66723" imgH="1239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1556792"/>
                        <a:ext cx="43021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663961"/>
              </p:ext>
            </p:extLst>
          </p:nvPr>
        </p:nvGraphicFramePr>
        <p:xfrm>
          <a:off x="5076056" y="44624"/>
          <a:ext cx="3968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268" imgH="133380" progId="Equation.3">
                  <p:embed/>
                </p:oleObj>
              </mc:Choice>
              <mc:Fallback>
                <p:oleObj name="公式" r:id="rId6" imgW="57268" imgH="1333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44624"/>
                        <a:ext cx="3968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726849"/>
              </p:ext>
            </p:extLst>
          </p:nvPr>
        </p:nvGraphicFramePr>
        <p:xfrm>
          <a:off x="2810347" y="-27384"/>
          <a:ext cx="43021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6723" imgH="123930" progId="Equation.3">
                  <p:embed/>
                </p:oleObj>
              </mc:Choice>
              <mc:Fallback>
                <p:oleObj name="公式" r:id="rId8" imgW="66723" imgH="12393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0347" y="-27384"/>
                        <a:ext cx="43021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5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45765"/>
              </p:ext>
            </p:extLst>
          </p:nvPr>
        </p:nvGraphicFramePr>
        <p:xfrm>
          <a:off x="3908897" y="388541"/>
          <a:ext cx="3968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7268" imgH="133380" progId="Equation.3">
                  <p:embed/>
                </p:oleObj>
              </mc:Choice>
              <mc:Fallback>
                <p:oleObj name="公式" r:id="rId10" imgW="57268" imgH="1333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897" y="388541"/>
                        <a:ext cx="3968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6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695103"/>
              </p:ext>
            </p:extLst>
          </p:nvPr>
        </p:nvGraphicFramePr>
        <p:xfrm>
          <a:off x="1539105" y="3369602"/>
          <a:ext cx="3735388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43101" imgH="1047870" progId="Equation.3">
                  <p:embed/>
                </p:oleObj>
              </mc:Choice>
              <mc:Fallback>
                <p:oleObj name="公式" r:id="rId12" imgW="1343101" imgH="104787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105" y="3369602"/>
                        <a:ext cx="3735388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918C12DA-597E-18AC-ED77-DF08F9653AC2}"/>
              </a:ext>
            </a:extLst>
          </p:cNvPr>
          <p:cNvSpPr txBox="1"/>
          <p:nvPr/>
        </p:nvSpPr>
        <p:spPr>
          <a:xfrm>
            <a:off x="971600" y="2229357"/>
            <a:ext cx="7379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长度为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1,2,3,4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的路的数目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62C55F-3BC2-4AC8-920A-B15BCD63FDA6}" type="slidenum">
              <a:rPr lang="en-US" altLang="zh-CN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15053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>
              <a:latin typeface="Times New Roman" pitchFamily="18" charset="0"/>
            </a:endParaRPr>
          </a:p>
          <a:p>
            <a:pPr eaLnBrk="1" hangingPunct="1"/>
            <a:endParaRPr lang="en-US" altLang="zh-CN">
              <a:latin typeface="Times New Roman" pitchFamily="18" charset="0"/>
            </a:endParaRPr>
          </a:p>
          <a:p>
            <a:pPr eaLnBrk="1" hangingPunct="1"/>
            <a:endParaRPr lang="en-US" altLang="zh-CN">
              <a:latin typeface="Times New Roman" pitchFamily="18" charset="0"/>
            </a:endParaRPr>
          </a:p>
          <a:p>
            <a:pPr eaLnBrk="1" hangingPunct="1"/>
            <a:endParaRPr lang="en-US" altLang="zh-CN">
              <a:latin typeface="Times New Roman" pitchFamily="18" charset="0"/>
            </a:endParaRPr>
          </a:p>
        </p:txBody>
      </p:sp>
      <p:graphicFrame>
        <p:nvGraphicFramePr>
          <p:cNvPr id="150532" name="Object 3"/>
          <p:cNvGraphicFramePr>
            <a:graphicFrameLocks noChangeAspect="1"/>
          </p:cNvGraphicFramePr>
          <p:nvPr/>
        </p:nvGraphicFramePr>
        <p:xfrm>
          <a:off x="1387475" y="333375"/>
          <a:ext cx="6875463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43302" imgH="1047870" progId="Equation.3">
                  <p:embed/>
                </p:oleObj>
              </mc:Choice>
              <mc:Fallback>
                <p:oleObj name="公式" r:id="rId2" imgW="2543302" imgH="104787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333375"/>
                        <a:ext cx="6875463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3" name="Line 4"/>
          <p:cNvSpPr>
            <a:spLocks noChangeShapeType="1"/>
          </p:cNvSpPr>
          <p:nvPr/>
        </p:nvSpPr>
        <p:spPr bwMode="auto">
          <a:xfrm>
            <a:off x="2627313" y="908050"/>
            <a:ext cx="2303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4" name="Line 5"/>
          <p:cNvSpPr>
            <a:spLocks noChangeShapeType="1"/>
          </p:cNvSpPr>
          <p:nvPr/>
        </p:nvSpPr>
        <p:spPr bwMode="auto">
          <a:xfrm>
            <a:off x="5435600" y="476250"/>
            <a:ext cx="0" cy="266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0535" name="Object 6"/>
          <p:cNvGraphicFramePr>
            <a:graphicFrameLocks noChangeAspect="1"/>
          </p:cNvGraphicFramePr>
          <p:nvPr/>
        </p:nvGraphicFramePr>
        <p:xfrm>
          <a:off x="1979613" y="3357563"/>
          <a:ext cx="3271837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62112" imgH="1047870" progId="Equation.3">
                  <p:embed/>
                </p:oleObj>
              </mc:Choice>
              <mc:Fallback>
                <p:oleObj name="公式" r:id="rId4" imgW="1162112" imgH="104787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357563"/>
                        <a:ext cx="3271837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E48C43-5591-4ED6-82EE-3B0F6383A225}" type="slidenum">
              <a:rPr lang="en-US" altLang="zh-CN"/>
              <a:pPr>
                <a:defRPr/>
              </a:pPr>
              <a:t>52</a:t>
            </a:fld>
            <a:endParaRPr lang="en-US" altLang="zh-CN"/>
          </a:p>
        </p:txBody>
      </p:sp>
      <p:graphicFrame>
        <p:nvGraphicFramePr>
          <p:cNvPr id="15155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292761"/>
              </p:ext>
            </p:extLst>
          </p:nvPr>
        </p:nvGraphicFramePr>
        <p:xfrm>
          <a:off x="1332434" y="333375"/>
          <a:ext cx="3900487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0099" imgH="1047870" progId="Equation.3">
                  <p:embed/>
                </p:oleObj>
              </mc:Choice>
              <mc:Fallback>
                <p:oleObj name="公式" r:id="rId2" imgW="1400099" imgH="104787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434" y="333375"/>
                        <a:ext cx="3900487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744899"/>
              </p:ext>
            </p:extLst>
          </p:nvPr>
        </p:nvGraphicFramePr>
        <p:xfrm>
          <a:off x="1332434" y="3614761"/>
          <a:ext cx="3835400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81190" imgH="1047870" progId="Equation.3">
                  <p:embed/>
                </p:oleObj>
              </mc:Choice>
              <mc:Fallback>
                <p:oleObj name="公式" r:id="rId4" imgW="1381190" imgH="104787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434" y="3614761"/>
                        <a:ext cx="3835400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8" name="Line 5"/>
          <p:cNvSpPr>
            <a:spLocks noChangeShapeType="1"/>
          </p:cNvSpPr>
          <p:nvPr/>
        </p:nvSpPr>
        <p:spPr bwMode="auto">
          <a:xfrm>
            <a:off x="2340496" y="404813"/>
            <a:ext cx="2663825" cy="2736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090313-CF6B-25C3-8AE2-336A219A8FBF}"/>
              </a:ext>
            </a:extLst>
          </p:cNvPr>
          <p:cNvSpPr txBox="1"/>
          <p:nvPr/>
        </p:nvSpPr>
        <p:spPr>
          <a:xfrm>
            <a:off x="6347891" y="333375"/>
            <a:ext cx="26997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中长度为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的路的数目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其中有多少条是回路？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E4338B-3849-C941-0B03-5C75C4894DDF}"/>
              </a:ext>
            </a:extLst>
          </p:cNvPr>
          <p:cNvSpPr txBox="1"/>
          <p:nvPr/>
        </p:nvSpPr>
        <p:spPr>
          <a:xfrm>
            <a:off x="5406692" y="3501008"/>
            <a:ext cx="3672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 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是哪类连通图？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731E7-5C36-4468-9314-7FBDAA3D8D09}" type="slidenum">
              <a:rPr lang="en-US" altLang="zh-CN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15257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6.6.2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图的可达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(accessible)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矩阵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图的可达矩阵表示图中节点间的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可达关系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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…,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}.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1,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可达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否则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0,</a:t>
            </a:r>
          </a:p>
          <a:p>
            <a:pPr eaLnBrk="1" hangingPunct="1">
              <a:lnSpc>
                <a:spcPct val="120000"/>
              </a:lnSpc>
              <a:buFont typeface="Wingdings 2" pitchFamily="18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1, 2, …,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52580" name="Object 3"/>
          <p:cNvGraphicFramePr>
            <a:graphicFrameLocks noChangeAspect="1"/>
          </p:cNvGraphicFramePr>
          <p:nvPr/>
        </p:nvGraphicFramePr>
        <p:xfrm>
          <a:off x="1692275" y="2205038"/>
          <a:ext cx="4673600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5079" imgH="847800" progId="Equation.3">
                  <p:embed/>
                </p:oleObj>
              </mc:Choice>
              <mc:Fallback>
                <p:oleObj name="Equation" r:id="rId2" imgW="1705079" imgH="847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205038"/>
                        <a:ext cx="4673600" cy="241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681AB9-9874-4F74-8FDA-4F2576D067CE}" type="slidenum">
              <a:rPr lang="en-US" altLang="zh-CN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15360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6-7</a:t>
            </a:r>
            <a:endParaRPr lang="en-US" altLang="zh-CN" b="1" dirty="0"/>
          </a:p>
        </p:txBody>
      </p:sp>
      <p:sp>
        <p:nvSpPr>
          <p:cNvPr id="153604" name="Oval 3"/>
          <p:cNvSpPr>
            <a:spLocks noChangeArrowheads="1"/>
          </p:cNvSpPr>
          <p:nvPr/>
        </p:nvSpPr>
        <p:spPr bwMode="auto">
          <a:xfrm>
            <a:off x="3563938" y="22764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05" name="Oval 4"/>
          <p:cNvSpPr>
            <a:spLocks noChangeArrowheads="1"/>
          </p:cNvSpPr>
          <p:nvPr/>
        </p:nvSpPr>
        <p:spPr bwMode="auto">
          <a:xfrm>
            <a:off x="5148064" y="2276872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06" name="Oval 5"/>
          <p:cNvSpPr>
            <a:spLocks noChangeArrowheads="1"/>
          </p:cNvSpPr>
          <p:nvPr/>
        </p:nvSpPr>
        <p:spPr bwMode="auto">
          <a:xfrm>
            <a:off x="3635375" y="765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07" name="Oval 6"/>
          <p:cNvSpPr>
            <a:spLocks noChangeArrowheads="1"/>
          </p:cNvSpPr>
          <p:nvPr/>
        </p:nvSpPr>
        <p:spPr bwMode="auto">
          <a:xfrm>
            <a:off x="5148263" y="7651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08" name="Oval 7"/>
          <p:cNvSpPr>
            <a:spLocks noChangeArrowheads="1"/>
          </p:cNvSpPr>
          <p:nvPr/>
        </p:nvSpPr>
        <p:spPr bwMode="auto">
          <a:xfrm>
            <a:off x="4356100" y="15573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09" name="Line 8"/>
          <p:cNvSpPr>
            <a:spLocks noChangeShapeType="1"/>
          </p:cNvSpPr>
          <p:nvPr/>
        </p:nvSpPr>
        <p:spPr bwMode="auto">
          <a:xfrm>
            <a:off x="3708400" y="2349500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10" name="Line 9"/>
          <p:cNvSpPr>
            <a:spLocks noChangeShapeType="1"/>
          </p:cNvSpPr>
          <p:nvPr/>
        </p:nvSpPr>
        <p:spPr bwMode="auto">
          <a:xfrm flipH="1" flipV="1">
            <a:off x="4500563" y="1700213"/>
            <a:ext cx="719137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11" name="Line 10"/>
          <p:cNvSpPr>
            <a:spLocks noChangeShapeType="1"/>
          </p:cNvSpPr>
          <p:nvPr/>
        </p:nvSpPr>
        <p:spPr bwMode="auto">
          <a:xfrm flipH="1">
            <a:off x="5219700" y="908050"/>
            <a:ext cx="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12" name="Line 11"/>
          <p:cNvSpPr>
            <a:spLocks noChangeShapeType="1"/>
          </p:cNvSpPr>
          <p:nvPr/>
        </p:nvSpPr>
        <p:spPr bwMode="auto">
          <a:xfrm flipH="1">
            <a:off x="3779838" y="836613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13" name="Line 12"/>
          <p:cNvSpPr>
            <a:spLocks noChangeShapeType="1"/>
          </p:cNvSpPr>
          <p:nvPr/>
        </p:nvSpPr>
        <p:spPr bwMode="auto">
          <a:xfrm flipV="1">
            <a:off x="3635375" y="981075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14" name="Line 13"/>
          <p:cNvSpPr>
            <a:spLocks noChangeShapeType="1"/>
          </p:cNvSpPr>
          <p:nvPr/>
        </p:nvSpPr>
        <p:spPr bwMode="auto">
          <a:xfrm>
            <a:off x="3779838" y="908050"/>
            <a:ext cx="576262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15" name="Line 14"/>
          <p:cNvSpPr>
            <a:spLocks noChangeShapeType="1"/>
          </p:cNvSpPr>
          <p:nvPr/>
        </p:nvSpPr>
        <p:spPr bwMode="auto">
          <a:xfrm flipH="1">
            <a:off x="3708400" y="1700213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16" name="Line 15"/>
          <p:cNvSpPr>
            <a:spLocks noChangeShapeType="1"/>
          </p:cNvSpPr>
          <p:nvPr/>
        </p:nvSpPr>
        <p:spPr bwMode="auto">
          <a:xfrm flipV="1">
            <a:off x="4500563" y="908050"/>
            <a:ext cx="64770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3617" name="Object 16"/>
          <p:cNvGraphicFramePr>
            <a:graphicFrameLocks noChangeAspect="1"/>
          </p:cNvGraphicFramePr>
          <p:nvPr/>
        </p:nvGraphicFramePr>
        <p:xfrm>
          <a:off x="2987675" y="2133600"/>
          <a:ext cx="3635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133600"/>
                        <a:ext cx="3635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8" name="Object 17"/>
          <p:cNvGraphicFramePr>
            <a:graphicFrameLocks noChangeAspect="1"/>
          </p:cNvGraphicFramePr>
          <p:nvPr/>
        </p:nvGraphicFramePr>
        <p:xfrm>
          <a:off x="5475288" y="2133600"/>
          <a:ext cx="43021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723" imgH="123930" progId="Equation.3">
                  <p:embed/>
                </p:oleObj>
              </mc:Choice>
              <mc:Fallback>
                <p:oleObj name="公式" r:id="rId4" imgW="66723" imgH="1239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5288" y="2133600"/>
                        <a:ext cx="43021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9" name="Object 18"/>
          <p:cNvGraphicFramePr>
            <a:graphicFrameLocks noChangeAspect="1"/>
          </p:cNvGraphicFramePr>
          <p:nvPr/>
        </p:nvGraphicFramePr>
        <p:xfrm>
          <a:off x="5492750" y="460375"/>
          <a:ext cx="3968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268" imgH="133380" progId="Equation.3">
                  <p:embed/>
                </p:oleObj>
              </mc:Choice>
              <mc:Fallback>
                <p:oleObj name="公式" r:id="rId6" imgW="57268" imgH="1333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0" y="460375"/>
                        <a:ext cx="3968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20" name="Object 19"/>
          <p:cNvGraphicFramePr>
            <a:graphicFrameLocks noChangeAspect="1"/>
          </p:cNvGraphicFramePr>
          <p:nvPr/>
        </p:nvGraphicFramePr>
        <p:xfrm>
          <a:off x="2987675" y="549275"/>
          <a:ext cx="43021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6723" imgH="123930" progId="Equation.3">
                  <p:embed/>
                </p:oleObj>
              </mc:Choice>
              <mc:Fallback>
                <p:oleObj name="公式" r:id="rId8" imgW="66723" imgH="12393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49275"/>
                        <a:ext cx="43021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21" name="Object 20"/>
          <p:cNvGraphicFramePr>
            <a:graphicFrameLocks noChangeAspect="1"/>
          </p:cNvGraphicFramePr>
          <p:nvPr/>
        </p:nvGraphicFramePr>
        <p:xfrm>
          <a:off x="4268788" y="892175"/>
          <a:ext cx="3968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7268" imgH="133380" progId="Equation.3">
                  <p:embed/>
                </p:oleObj>
              </mc:Choice>
              <mc:Fallback>
                <p:oleObj name="公式" r:id="rId10" imgW="57268" imgH="1333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8788" y="892175"/>
                        <a:ext cx="3968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22" name="Object 21"/>
          <p:cNvGraphicFramePr>
            <a:graphicFrameLocks noChangeAspect="1"/>
          </p:cNvGraphicFramePr>
          <p:nvPr/>
        </p:nvGraphicFramePr>
        <p:xfrm>
          <a:off x="2698750" y="3068638"/>
          <a:ext cx="3305175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71567" imgH="1047870" progId="Equation.3">
                  <p:embed/>
                </p:oleObj>
              </mc:Choice>
              <mc:Fallback>
                <p:oleObj name="公式" r:id="rId12" imgW="1171567" imgH="104787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3068638"/>
                        <a:ext cx="3305175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791A5F-08B8-4104-9796-9D592DEF0F1A}" type="slidenum">
              <a:rPr lang="en-US" altLang="zh-CN"/>
              <a:pPr>
                <a:defRPr/>
              </a:pPr>
              <a:t>55</a:t>
            </a:fld>
            <a:endParaRPr lang="en-US" altLang="zh-CN"/>
          </a:p>
        </p:txBody>
      </p:sp>
      <p:sp>
        <p:nvSpPr>
          <p:cNvPr id="15565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6.6.3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图的关联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(incidence)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矩阵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图的关联矩阵表示节点与边之间的关联关系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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无向图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对节点编号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…,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},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对边编号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…,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}.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关联次数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55652" name="Object 3"/>
          <p:cNvGraphicFramePr>
            <a:graphicFrameLocks noChangeAspect="1"/>
          </p:cNvGraphicFramePr>
          <p:nvPr/>
        </p:nvGraphicFramePr>
        <p:xfrm>
          <a:off x="2411413" y="3860800"/>
          <a:ext cx="27463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1943" imgH="162000" progId="Equation.3">
                  <p:embed/>
                </p:oleObj>
              </mc:Choice>
              <mc:Fallback>
                <p:oleObj name="Equation" r:id="rId2" imgW="961943" imgH="162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860800"/>
                        <a:ext cx="274637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D09D62-3AC8-41ED-B4B3-4316600B6E27}" type="slidenum">
              <a:rPr lang="en-US" altLang="zh-CN"/>
              <a:pPr>
                <a:defRPr/>
              </a:pPr>
              <a:t>56</a:t>
            </a:fld>
            <a:endParaRPr lang="en-US" altLang="zh-CN"/>
          </a:p>
        </p:txBody>
      </p:sp>
      <p:sp>
        <p:nvSpPr>
          <p:cNvPr id="15667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56676" name="Oval 3"/>
          <p:cNvSpPr>
            <a:spLocks noChangeArrowheads="1"/>
          </p:cNvSpPr>
          <p:nvPr/>
        </p:nvSpPr>
        <p:spPr bwMode="auto">
          <a:xfrm>
            <a:off x="1692275" y="9080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7" name="Oval 4"/>
          <p:cNvSpPr>
            <a:spLocks noChangeArrowheads="1"/>
          </p:cNvSpPr>
          <p:nvPr/>
        </p:nvSpPr>
        <p:spPr bwMode="auto">
          <a:xfrm>
            <a:off x="3276600" y="9080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6678" name="Object 5"/>
          <p:cNvGraphicFramePr>
            <a:graphicFrameLocks noChangeAspect="1"/>
          </p:cNvGraphicFramePr>
          <p:nvPr/>
        </p:nvGraphicFramePr>
        <p:xfrm>
          <a:off x="1116013" y="692150"/>
          <a:ext cx="36353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692150"/>
                        <a:ext cx="36353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9" name="Oval 6"/>
          <p:cNvSpPr>
            <a:spLocks noChangeArrowheads="1"/>
          </p:cNvSpPr>
          <p:nvPr/>
        </p:nvSpPr>
        <p:spPr bwMode="auto">
          <a:xfrm>
            <a:off x="1692275" y="25654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0" name="Oval 7"/>
          <p:cNvSpPr>
            <a:spLocks noChangeArrowheads="1"/>
          </p:cNvSpPr>
          <p:nvPr/>
        </p:nvSpPr>
        <p:spPr bwMode="auto">
          <a:xfrm>
            <a:off x="3275013" y="256381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1" name="Freeform 8"/>
          <p:cNvSpPr>
            <a:spLocks/>
          </p:cNvSpPr>
          <p:nvPr/>
        </p:nvSpPr>
        <p:spPr bwMode="auto">
          <a:xfrm>
            <a:off x="3295650" y="1033463"/>
            <a:ext cx="441325" cy="1512887"/>
          </a:xfrm>
          <a:custGeom>
            <a:avLst/>
            <a:gdLst>
              <a:gd name="T0" fmla="*/ 0 w 188"/>
              <a:gd name="T1" fmla="*/ 0 h 953"/>
              <a:gd name="T2" fmla="*/ 2147483647 w 188"/>
              <a:gd name="T3" fmla="*/ 2147483647 h 953"/>
              <a:gd name="T4" fmla="*/ 2147483647 w 188"/>
              <a:gd name="T5" fmla="*/ 2147483647 h 953"/>
              <a:gd name="T6" fmla="*/ 0 60000 65536"/>
              <a:gd name="T7" fmla="*/ 0 60000 65536"/>
              <a:gd name="T8" fmla="*/ 0 60000 65536"/>
              <a:gd name="T9" fmla="*/ 0 w 188"/>
              <a:gd name="T10" fmla="*/ 0 h 953"/>
              <a:gd name="T11" fmla="*/ 188 w 188"/>
              <a:gd name="T12" fmla="*/ 953 h 9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8" h="953">
                <a:moveTo>
                  <a:pt x="0" y="0"/>
                </a:moveTo>
                <a:cubicBezTo>
                  <a:pt x="87" y="124"/>
                  <a:pt x="174" y="249"/>
                  <a:pt x="181" y="408"/>
                </a:cubicBezTo>
                <a:cubicBezTo>
                  <a:pt x="188" y="567"/>
                  <a:pt x="68" y="862"/>
                  <a:pt x="45" y="95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82" name="Freeform 9"/>
          <p:cNvSpPr>
            <a:spLocks/>
          </p:cNvSpPr>
          <p:nvPr/>
        </p:nvSpPr>
        <p:spPr bwMode="auto">
          <a:xfrm>
            <a:off x="2987675" y="1052513"/>
            <a:ext cx="371475" cy="1584325"/>
          </a:xfrm>
          <a:custGeom>
            <a:avLst/>
            <a:gdLst>
              <a:gd name="T0" fmla="*/ 2147483647 w 234"/>
              <a:gd name="T1" fmla="*/ 2147483647 h 998"/>
              <a:gd name="T2" fmla="*/ 2147483647 w 234"/>
              <a:gd name="T3" fmla="*/ 2147483647 h 998"/>
              <a:gd name="T4" fmla="*/ 2147483647 w 234"/>
              <a:gd name="T5" fmla="*/ 0 h 998"/>
              <a:gd name="T6" fmla="*/ 0 60000 65536"/>
              <a:gd name="T7" fmla="*/ 0 60000 65536"/>
              <a:gd name="T8" fmla="*/ 0 60000 65536"/>
              <a:gd name="T9" fmla="*/ 0 w 234"/>
              <a:gd name="T10" fmla="*/ 0 h 998"/>
              <a:gd name="T11" fmla="*/ 234 w 234"/>
              <a:gd name="T12" fmla="*/ 998 h 9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" h="998">
                <a:moveTo>
                  <a:pt x="234" y="998"/>
                </a:moveTo>
                <a:cubicBezTo>
                  <a:pt x="124" y="831"/>
                  <a:pt x="14" y="665"/>
                  <a:pt x="7" y="499"/>
                </a:cubicBezTo>
                <a:cubicBezTo>
                  <a:pt x="0" y="333"/>
                  <a:pt x="94" y="166"/>
                  <a:pt x="189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83" name="Line 10"/>
          <p:cNvSpPr>
            <a:spLocks noChangeShapeType="1"/>
          </p:cNvSpPr>
          <p:nvPr/>
        </p:nvSpPr>
        <p:spPr bwMode="auto">
          <a:xfrm>
            <a:off x="1763713" y="2636838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84" name="Line 11"/>
          <p:cNvSpPr>
            <a:spLocks noChangeShapeType="1"/>
          </p:cNvSpPr>
          <p:nvPr/>
        </p:nvSpPr>
        <p:spPr bwMode="auto">
          <a:xfrm flipV="1">
            <a:off x="1763713" y="1052513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6685" name="Object 12"/>
          <p:cNvGraphicFramePr>
            <a:graphicFrameLocks noChangeAspect="1"/>
          </p:cNvGraphicFramePr>
          <p:nvPr/>
        </p:nvGraphicFramePr>
        <p:xfrm>
          <a:off x="3563938" y="549275"/>
          <a:ext cx="4286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23930" progId="Equation.3">
                  <p:embed/>
                </p:oleObj>
              </mc:Choice>
              <mc:Fallback>
                <p:oleObj name="Equation" r:id="rId4" imgW="66723" imgH="12393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49275"/>
                        <a:ext cx="4286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6" name="Object 13"/>
          <p:cNvGraphicFramePr>
            <a:graphicFrameLocks noChangeAspect="1"/>
          </p:cNvGraphicFramePr>
          <p:nvPr/>
        </p:nvGraphicFramePr>
        <p:xfrm>
          <a:off x="3563938" y="2420938"/>
          <a:ext cx="3968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133380" progId="Equation.3">
                  <p:embed/>
                </p:oleObj>
              </mc:Choice>
              <mc:Fallback>
                <p:oleObj name="Equation" r:id="rId6" imgW="57268" imgH="1333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420938"/>
                        <a:ext cx="39687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7" name="Object 14"/>
          <p:cNvGraphicFramePr>
            <a:graphicFrameLocks noChangeAspect="1"/>
          </p:cNvGraphicFramePr>
          <p:nvPr/>
        </p:nvGraphicFramePr>
        <p:xfrm>
          <a:off x="1116013" y="2420938"/>
          <a:ext cx="43021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23930" progId="Equation.3">
                  <p:embed/>
                </p:oleObj>
              </mc:Choice>
              <mc:Fallback>
                <p:oleObj name="Equation" r:id="rId8" imgW="66723" imgH="1239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420938"/>
                        <a:ext cx="43021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8" name="Object 15"/>
          <p:cNvGraphicFramePr>
            <a:graphicFrameLocks noChangeAspect="1"/>
          </p:cNvGraphicFramePr>
          <p:nvPr/>
        </p:nvGraphicFramePr>
        <p:xfrm>
          <a:off x="2252663" y="3068638"/>
          <a:ext cx="46355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632" imgH="123930" progId="Equation.3">
                  <p:embed/>
                </p:oleObj>
              </mc:Choice>
              <mc:Fallback>
                <p:oleObj name="Equation" r:id="rId10" imgW="85632" imgH="1239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3068638"/>
                        <a:ext cx="46355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9" name="Freeform 16"/>
          <p:cNvSpPr>
            <a:spLocks/>
          </p:cNvSpPr>
          <p:nvPr/>
        </p:nvSpPr>
        <p:spPr bwMode="auto">
          <a:xfrm>
            <a:off x="1365250" y="227013"/>
            <a:ext cx="901700" cy="755650"/>
          </a:xfrm>
          <a:custGeom>
            <a:avLst/>
            <a:gdLst>
              <a:gd name="T0" fmla="*/ 2147483647 w 568"/>
              <a:gd name="T1" fmla="*/ 2147483647 h 476"/>
              <a:gd name="T2" fmla="*/ 0 w 568"/>
              <a:gd name="T3" fmla="*/ 2147483647 h 476"/>
              <a:gd name="T4" fmla="*/ 2147483647 w 568"/>
              <a:gd name="T5" fmla="*/ 2147483647 h 476"/>
              <a:gd name="T6" fmla="*/ 2147483647 w 568"/>
              <a:gd name="T7" fmla="*/ 2147483647 h 476"/>
              <a:gd name="T8" fmla="*/ 2147483647 w 568"/>
              <a:gd name="T9" fmla="*/ 2147483647 h 4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8"/>
              <a:gd name="T16" fmla="*/ 0 h 476"/>
              <a:gd name="T17" fmla="*/ 568 w 568"/>
              <a:gd name="T18" fmla="*/ 476 h 4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8" h="476">
                <a:moveTo>
                  <a:pt x="182" y="476"/>
                </a:moveTo>
                <a:cubicBezTo>
                  <a:pt x="91" y="423"/>
                  <a:pt x="0" y="370"/>
                  <a:pt x="0" y="295"/>
                </a:cubicBezTo>
                <a:cubicBezTo>
                  <a:pt x="0" y="220"/>
                  <a:pt x="91" y="46"/>
                  <a:pt x="182" y="23"/>
                </a:cubicBezTo>
                <a:cubicBezTo>
                  <a:pt x="273" y="0"/>
                  <a:pt x="522" y="91"/>
                  <a:pt x="545" y="159"/>
                </a:cubicBezTo>
                <a:cubicBezTo>
                  <a:pt x="568" y="227"/>
                  <a:pt x="356" y="386"/>
                  <a:pt x="318" y="43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6690" name="Object 17"/>
          <p:cNvGraphicFramePr>
            <a:graphicFrameLocks noChangeAspect="1"/>
          </p:cNvGraphicFramePr>
          <p:nvPr/>
        </p:nvGraphicFramePr>
        <p:xfrm>
          <a:off x="2339975" y="188913"/>
          <a:ext cx="36353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7543" imgH="123930" progId="Equation.3">
                  <p:embed/>
                </p:oleObj>
              </mc:Choice>
              <mc:Fallback>
                <p:oleObj name="Equation" r:id="rId12" imgW="47543" imgH="1239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88913"/>
                        <a:ext cx="36353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91" name="Object 18"/>
          <p:cNvGraphicFramePr>
            <a:graphicFrameLocks noChangeAspect="1"/>
          </p:cNvGraphicFramePr>
          <p:nvPr/>
        </p:nvGraphicFramePr>
        <p:xfrm>
          <a:off x="3763963" y="1484313"/>
          <a:ext cx="3968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268" imgH="123930" progId="Equation.3">
                  <p:embed/>
                </p:oleObj>
              </mc:Choice>
              <mc:Fallback>
                <p:oleObj name="Equation" r:id="rId14" imgW="57268" imgH="1239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1484313"/>
                        <a:ext cx="39687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92" name="Object 19"/>
          <p:cNvGraphicFramePr>
            <a:graphicFrameLocks noChangeAspect="1"/>
          </p:cNvGraphicFramePr>
          <p:nvPr/>
        </p:nvGraphicFramePr>
        <p:xfrm>
          <a:off x="2555875" y="1412875"/>
          <a:ext cx="3968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268" imgH="133380" progId="Equation.3">
                  <p:embed/>
                </p:oleObj>
              </mc:Choice>
              <mc:Fallback>
                <p:oleObj name="Equation" r:id="rId16" imgW="57268" imgH="1333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412875"/>
                        <a:ext cx="3968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93" name="Object 20"/>
          <p:cNvGraphicFramePr>
            <a:graphicFrameLocks noChangeAspect="1"/>
          </p:cNvGraphicFramePr>
          <p:nvPr/>
        </p:nvGraphicFramePr>
        <p:xfrm>
          <a:off x="1116013" y="1428750"/>
          <a:ext cx="3968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7268" imgH="123930" progId="Equation.3">
                  <p:embed/>
                </p:oleObj>
              </mc:Choice>
              <mc:Fallback>
                <p:oleObj name="Equation" r:id="rId18" imgW="57268" imgH="12393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428750"/>
                        <a:ext cx="39687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94" name="Object 21"/>
          <p:cNvGraphicFramePr>
            <a:graphicFrameLocks noChangeAspect="1"/>
          </p:cNvGraphicFramePr>
          <p:nvPr/>
        </p:nvGraphicFramePr>
        <p:xfrm>
          <a:off x="2268538" y="2117725"/>
          <a:ext cx="3968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7268" imgH="133380" progId="Equation.3">
                  <p:embed/>
                </p:oleObj>
              </mc:Choice>
              <mc:Fallback>
                <p:oleObj name="Equation" r:id="rId20" imgW="57268" imgH="1333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117725"/>
                        <a:ext cx="3968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6695" name="Picture 22" descr="1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476250"/>
            <a:ext cx="3529013" cy="268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3FCAB0-3C8F-437E-B832-C05FAC71EB36}" type="slidenum">
              <a:rPr lang="en-US" altLang="zh-CN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15769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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有向图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G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= (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),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= {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2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, …, </a:t>
            </a:r>
            <a:r>
              <a:rPr lang="en-US" altLang="zh-CN" b="1" i="1" dirty="0" err="1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v</a:t>
            </a:r>
            <a:r>
              <a:rPr lang="en-US" altLang="zh-CN" b="1" i="1" baseline="-25000" dirty="0" err="1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},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= {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b="1" baseline="-250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1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b="1" baseline="-250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2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, …, </a:t>
            </a:r>
            <a:r>
              <a:rPr lang="en-US" altLang="zh-CN" b="1" i="1" dirty="0" err="1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e</a:t>
            </a:r>
            <a:r>
              <a:rPr lang="en-US" altLang="zh-CN" b="1" i="1" baseline="-25000" dirty="0" err="1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}: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57700" name="Object 3"/>
          <p:cNvGraphicFramePr>
            <a:graphicFrameLocks noChangeAspect="1"/>
          </p:cNvGraphicFramePr>
          <p:nvPr/>
        </p:nvGraphicFramePr>
        <p:xfrm>
          <a:off x="2843213" y="2276475"/>
          <a:ext cx="27463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1943" imgH="162000" progId="Equation.3">
                  <p:embed/>
                </p:oleObj>
              </mc:Choice>
              <mc:Fallback>
                <p:oleObj name="Equation" r:id="rId2" imgW="961943" imgH="162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276475"/>
                        <a:ext cx="274637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1" name="Object 4"/>
          <p:cNvGraphicFramePr>
            <a:graphicFrameLocks noChangeAspect="1"/>
          </p:cNvGraphicFramePr>
          <p:nvPr/>
        </p:nvGraphicFramePr>
        <p:xfrm>
          <a:off x="2124075" y="3068638"/>
          <a:ext cx="4132263" cy="256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04911" imgH="895320" progId="Equation.3">
                  <p:embed/>
                </p:oleObj>
              </mc:Choice>
              <mc:Fallback>
                <p:oleObj name="公式" r:id="rId4" imgW="1504911" imgH="895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068638"/>
                        <a:ext cx="4132263" cy="25638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872E5D-21CE-40B0-ABCA-6CB7606E9976}" type="slidenum">
              <a:rPr lang="en-US" altLang="zh-CN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158723" name="AutoShape 5"/>
          <p:cNvSpPr>
            <a:spLocks noChangeArrowheads="1"/>
          </p:cNvSpPr>
          <p:nvPr/>
        </p:nvSpPr>
        <p:spPr bwMode="auto">
          <a:xfrm>
            <a:off x="4140200" y="2636838"/>
            <a:ext cx="719138" cy="431800"/>
          </a:xfrm>
          <a:prstGeom prst="leftRightArrow">
            <a:avLst>
              <a:gd name="adj1" fmla="val 50000"/>
              <a:gd name="adj2" fmla="val 33309"/>
            </a:avLst>
          </a:prstGeom>
          <a:solidFill>
            <a:srgbClr val="FF0000">
              <a:alpha val="0"/>
            </a:srgbClr>
          </a:solidFill>
          <a:ln w="57150" cmpd="thinThick" algn="ctr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8724" name="Object 3"/>
          <p:cNvGraphicFramePr>
            <a:graphicFrameLocks noGrp="1" noChangeAspect="1"/>
          </p:cNvGraphicFramePr>
          <p:nvPr>
            <p:ph/>
          </p:nvPr>
        </p:nvGraphicFramePr>
        <p:xfrm>
          <a:off x="5024438" y="2035175"/>
          <a:ext cx="3833812" cy="164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85967" imgH="866700" progId="Equation.3">
                  <p:embed/>
                </p:oleObj>
              </mc:Choice>
              <mc:Fallback>
                <p:oleObj name="公式" r:id="rId2" imgW="2085967" imgH="866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438" y="2035175"/>
                        <a:ext cx="3833812" cy="164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8725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84313"/>
            <a:ext cx="3422278" cy="254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CC8CA3-AD65-4E40-9F97-4EB65FF4B056}" type="slidenum">
              <a:rPr lang="en-US" altLang="zh-CN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253954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60772" name="Rectangle 3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/>
              <a:t>小结与作业</a:t>
            </a:r>
          </a:p>
        </p:txBody>
      </p:sp>
      <p:grpSp>
        <p:nvGrpSpPr>
          <p:cNvPr id="160773" name="Group 4"/>
          <p:cNvGrpSpPr>
            <a:grpSpLocks/>
          </p:cNvGrpSpPr>
          <p:nvPr/>
        </p:nvGrpSpPr>
        <p:grpSpPr bwMode="auto">
          <a:xfrm>
            <a:off x="1042988" y="1268413"/>
            <a:ext cx="5181600" cy="508000"/>
            <a:chOff x="1419" y="1480"/>
            <a:chExt cx="3575" cy="363"/>
          </a:xfrm>
        </p:grpSpPr>
        <p:grpSp>
          <p:nvGrpSpPr>
            <p:cNvPr id="160802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53958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53959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图的邻接矩阵</a:t>
                </a:r>
              </a:p>
            </p:txBody>
          </p:sp>
        </p:grpSp>
        <p:sp>
          <p:nvSpPr>
            <p:cNvPr id="253960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0804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0774" name="Group 10"/>
          <p:cNvGrpSpPr>
            <a:grpSpLocks/>
          </p:cNvGrpSpPr>
          <p:nvPr/>
        </p:nvGrpSpPr>
        <p:grpSpPr bwMode="auto">
          <a:xfrm>
            <a:off x="1763713" y="2276475"/>
            <a:ext cx="5181600" cy="508000"/>
            <a:chOff x="1419" y="1480"/>
            <a:chExt cx="3575" cy="363"/>
          </a:xfrm>
        </p:grpSpPr>
        <p:grpSp>
          <p:nvGrpSpPr>
            <p:cNvPr id="160797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53964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53965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图的可达矩阵</a:t>
                </a:r>
              </a:p>
            </p:txBody>
          </p:sp>
        </p:grpSp>
        <p:sp>
          <p:nvSpPr>
            <p:cNvPr id="253966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0799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0775" name="Group 16"/>
          <p:cNvGrpSpPr>
            <a:grpSpLocks/>
          </p:cNvGrpSpPr>
          <p:nvPr/>
        </p:nvGrpSpPr>
        <p:grpSpPr bwMode="auto">
          <a:xfrm>
            <a:off x="2051050" y="3284538"/>
            <a:ext cx="5181600" cy="508000"/>
            <a:chOff x="1419" y="1480"/>
            <a:chExt cx="3575" cy="363"/>
          </a:xfrm>
        </p:grpSpPr>
        <p:grpSp>
          <p:nvGrpSpPr>
            <p:cNvPr id="160792" name="Group 17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53970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53971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</a:rPr>
                  <a:t>图的关联矩阵</a:t>
                </a:r>
              </a:p>
            </p:txBody>
          </p:sp>
        </p:grpSp>
        <p:sp>
          <p:nvSpPr>
            <p:cNvPr id="253972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0794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0776" name="Group 22"/>
          <p:cNvGrpSpPr>
            <a:grpSpLocks/>
          </p:cNvGrpSpPr>
          <p:nvPr/>
        </p:nvGrpSpPr>
        <p:grpSpPr bwMode="auto">
          <a:xfrm>
            <a:off x="1835150" y="4292600"/>
            <a:ext cx="5181600" cy="508000"/>
            <a:chOff x="1419" y="1480"/>
            <a:chExt cx="3575" cy="363"/>
          </a:xfrm>
        </p:grpSpPr>
        <p:grpSp>
          <p:nvGrpSpPr>
            <p:cNvPr id="160787" name="Group 23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53976" name="Oval 24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53977" name="AutoShape 25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>
                    <a:solidFill>
                      <a:srgbClr val="003300"/>
                    </a:solidFill>
                    <a:latin typeface="Times New Roman" pitchFamily="18" charset="0"/>
                  </a:rPr>
                  <a:t>其他矩阵表示</a:t>
                </a:r>
              </a:p>
            </p:txBody>
          </p:sp>
        </p:grpSp>
        <p:sp>
          <p:nvSpPr>
            <p:cNvPr id="253978" name="Oval 26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0789" name="Oval 27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0777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160779" name="Group 30"/>
          <p:cNvGrpSpPr>
            <a:grpSpLocks/>
          </p:cNvGrpSpPr>
          <p:nvPr/>
        </p:nvGrpSpPr>
        <p:grpSpPr bwMode="auto">
          <a:xfrm>
            <a:off x="1116013" y="5084763"/>
            <a:ext cx="5380037" cy="685800"/>
            <a:chOff x="1152" y="2832"/>
            <a:chExt cx="3408" cy="432"/>
          </a:xfrm>
        </p:grpSpPr>
        <p:grpSp>
          <p:nvGrpSpPr>
            <p:cNvPr id="160780" name="Group 31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60784" name="AutoShape 32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0785" name="AutoShape 33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3986" name="AutoShape 34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60781" name="Line 35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782" name="Text Box 36"/>
            <p:cNvSpPr txBox="1">
              <a:spLocks noChangeArrowheads="1"/>
            </p:cNvSpPr>
            <p:nvPr/>
          </p:nvSpPr>
          <p:spPr bwMode="auto">
            <a:xfrm>
              <a:off x="2112" y="2832"/>
              <a:ext cx="243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</a:rPr>
                <a:t>习题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6.6      3, </a:t>
              </a:r>
              <a:r>
                <a:rPr lang="zh-Hans" altLang="en-US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   </a:t>
              </a:r>
              <a:r>
                <a:rPr lang="en-US" altLang="zh-Hans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6(</a:t>
              </a:r>
              <a:r>
                <a:rPr lang="zh-CN" altLang="en-US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课</a:t>
              </a:r>
              <a:r>
                <a:rPr lang="en-US" altLang="zh-Hans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  <a:endParaRPr lang="en-US" altLang="zh-CN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0783" name="Text Box 37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作业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763588" y="2222500"/>
            <a:ext cx="7481887" cy="560388"/>
          </a:xfrm>
        </p:spPr>
        <p:txBody>
          <a:bodyPr/>
          <a:lstStyle/>
          <a:p>
            <a:pPr eaLnBrk="1" hangingPunct="1"/>
            <a:r>
              <a:rPr lang="en-US" altLang="zh-CN" sz="3600" b="1" dirty="0">
                <a:solidFill>
                  <a:schemeClr val="tx1"/>
                </a:solidFill>
                <a:latin typeface="Times New Roman" pitchFamily="18" charset="0"/>
              </a:rPr>
              <a:t>6.7 </a:t>
            </a:r>
            <a:r>
              <a:rPr lang="zh-CN" altLang="en-US" sz="36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赋权图与最短路径</a:t>
            </a:r>
          </a:p>
        </p:txBody>
      </p:sp>
      <p:sp>
        <p:nvSpPr>
          <p:cNvPr id="16179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258888" y="908050"/>
            <a:ext cx="6400800" cy="782638"/>
          </a:xfrm>
        </p:spPr>
        <p:txBody>
          <a:bodyPr/>
          <a:lstStyle/>
          <a:p>
            <a:pPr eaLnBrk="1" hangingPunct="1"/>
            <a:r>
              <a:rPr lang="zh-CN" altLang="en-US" sz="4400" b="1">
                <a:latin typeface="Times New Roman" pitchFamily="18" charset="0"/>
              </a:rPr>
              <a:t>第</a:t>
            </a:r>
            <a:r>
              <a:rPr lang="en-US" altLang="zh-CN" sz="4400" b="1">
                <a:latin typeface="Times New Roman" pitchFamily="18" charset="0"/>
              </a:rPr>
              <a:t>6</a:t>
            </a:r>
            <a:r>
              <a:rPr lang="zh-CN" altLang="en-US" sz="4400" b="1">
                <a:latin typeface="Times New Roman" pitchFamily="18" charset="0"/>
              </a:rPr>
              <a:t>章 图论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781443-324C-40B6-98E8-300D79D61EF0}" type="slidenum">
              <a:rPr lang="en-US" altLang="zh-CN"/>
              <a:pPr>
                <a:defRPr/>
              </a:pPr>
              <a:t>61</a:t>
            </a:fld>
            <a:endParaRPr lang="en-US" altLang="zh-CN"/>
          </a:p>
        </p:txBody>
      </p:sp>
      <p:sp>
        <p:nvSpPr>
          <p:cNvPr id="162819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>
                <a:solidFill>
                  <a:schemeClr val="tx1"/>
                </a:solidFill>
                <a:latin typeface="Times New Roman" pitchFamily="18" charset="0"/>
              </a:rPr>
              <a:t>6.7 </a:t>
            </a:r>
            <a:r>
              <a:rPr lang="zh-CN" altLang="en-US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赋权图与最短路径</a:t>
            </a:r>
            <a:endParaRPr lang="zh-CN" altLang="en-US" b="1"/>
          </a:p>
        </p:txBody>
      </p:sp>
      <p:sp>
        <p:nvSpPr>
          <p:cNvPr id="162820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162821" name="Group 4"/>
          <p:cNvGrpSpPr>
            <a:grpSpLocks/>
          </p:cNvGrpSpPr>
          <p:nvPr/>
        </p:nvGrpSpPr>
        <p:grpSpPr bwMode="auto">
          <a:xfrm>
            <a:off x="1042988" y="1365250"/>
            <a:ext cx="5410200" cy="712788"/>
            <a:chOff x="1152" y="1101"/>
            <a:chExt cx="3408" cy="449"/>
          </a:xfrm>
        </p:grpSpPr>
        <p:grpSp>
          <p:nvGrpSpPr>
            <p:cNvPr id="162831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162835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36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008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6283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833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赋权图</a:t>
              </a:r>
            </a:p>
          </p:txBody>
        </p:sp>
        <p:sp>
          <p:nvSpPr>
            <p:cNvPr id="162834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162822" name="Group 12"/>
          <p:cNvGrpSpPr>
            <a:grpSpLocks/>
          </p:cNvGrpSpPr>
          <p:nvPr/>
        </p:nvGrpSpPr>
        <p:grpSpPr bwMode="auto">
          <a:xfrm>
            <a:off x="1042988" y="2924175"/>
            <a:ext cx="5410200" cy="712788"/>
            <a:chOff x="1152" y="1677"/>
            <a:chExt cx="3408" cy="449"/>
          </a:xfrm>
        </p:grpSpPr>
        <p:grpSp>
          <p:nvGrpSpPr>
            <p:cNvPr id="162824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62828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829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016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62825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826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11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tx1"/>
                  </a:solidFill>
                </a:rPr>
                <a:t>最短路径</a:t>
              </a:r>
            </a:p>
          </p:txBody>
        </p:sp>
        <p:sp>
          <p:nvSpPr>
            <p:cNvPr id="162827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sp>
        <p:nvSpPr>
          <p:cNvPr id="162823" name="矩形 1"/>
          <p:cNvSpPr>
            <a:spLocks noChangeArrowheads="1"/>
          </p:cNvSpPr>
          <p:nvPr/>
        </p:nvSpPr>
        <p:spPr bwMode="auto">
          <a:xfrm>
            <a:off x="900113" y="1196975"/>
            <a:ext cx="6264275" cy="2952750"/>
          </a:xfrm>
          <a:prstGeom prst="rect">
            <a:avLst/>
          </a:prstGeom>
          <a:noFill/>
          <a:ln w="57150" cmpd="thinThick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0563D-A4E3-4986-9AB2-406F8A97146C}" type="slidenum">
              <a:rPr lang="en-US" altLang="zh-CN"/>
              <a:pPr>
                <a:defRPr/>
              </a:pPr>
              <a:t>62</a:t>
            </a:fld>
            <a:endParaRPr lang="en-US" altLang="zh-CN"/>
          </a:p>
        </p:txBody>
      </p:sp>
      <p:sp>
        <p:nvSpPr>
          <p:cNvPr id="163843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6.7  </a:t>
            </a:r>
            <a:r>
              <a:rPr lang="zh-CN" altLang="en-US" b="1">
                <a:latin typeface="Times New Roman" pitchFamily="18" charset="0"/>
              </a:rPr>
              <a:t>赋权图及最短路径</a:t>
            </a:r>
          </a:p>
        </p:txBody>
      </p:sp>
      <p:sp>
        <p:nvSpPr>
          <p:cNvPr id="163844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6.7.1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赋权图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在图的实际应用中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除建立图论模型外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有时还需要将一些附加信息赋予图的边或节点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其中之一就是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赋权图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加权图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(weighted graph).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本节仅讨论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赋权图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8C5728-5936-4CDF-8E35-7D051674697C}" type="slidenum">
              <a:rPr lang="en-US" altLang="zh-CN"/>
              <a:pPr>
                <a:defRPr/>
              </a:pPr>
              <a:t>63</a:t>
            </a:fld>
            <a:endParaRPr lang="en-US" altLang="zh-CN"/>
          </a:p>
        </p:txBody>
      </p:sp>
      <p:sp>
        <p:nvSpPr>
          <p:cNvPr id="16486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是任意图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的每一条边上都赋予一个非负实数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边赋权图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164868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844675"/>
            <a:ext cx="72009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E2E495-3CE8-44DB-BDAC-BE990960A967}" type="slidenum">
              <a:rPr lang="en-US" altLang="zh-CN"/>
              <a:pPr>
                <a:defRPr/>
              </a:pPr>
              <a:t>64</a:t>
            </a:fld>
            <a:endParaRPr lang="en-US" altLang="zh-CN"/>
          </a:p>
        </p:txBody>
      </p:sp>
      <p:sp>
        <p:nvSpPr>
          <p:cNvPr id="16589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在边赋权图中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每条边上所赋的非负实数称为这条边上的权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它可以理解为该边上的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流量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或通过该边的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时间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费用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还可以理解为为该边铺设光纤的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长度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</a:pPr>
            <a:endParaRPr lang="en-US" altLang="zh-CN" sz="3600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内容占位符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无平行边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!)</a:t>
            </a:r>
            <a:r>
              <a:rPr 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赋权图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6-39</a:t>
            </a:r>
            <a:r>
              <a:rPr 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的邻接矩阵分别为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317FEF-0EAD-4C5E-B3D0-F00D790CE334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  <p:pic>
        <p:nvPicPr>
          <p:cNvPr id="166916" name="Picture 2" descr="C:\Users\Administrator.SKY-20140917ELY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1714500"/>
            <a:ext cx="7250112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7EC30-6C31-4C98-AAC2-F689CB015845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39938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6.7.2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最短路径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在赋权图中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从一个节点到另一个节点的路上所有边上的权之和称为该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路的“权”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例如在图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6.39(a)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的权为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 + 2 + 3 + 1 + 5 = 13.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910" y="3332324"/>
            <a:ext cx="4209306" cy="3481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8384894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331F0E-E3DC-4B68-9598-61B4EAEB5718}" type="slidenum">
              <a:rPr lang="en-US" altLang="zh-CN"/>
              <a:pPr>
                <a:defRPr/>
              </a:pPr>
              <a:t>67</a:t>
            </a:fld>
            <a:endParaRPr lang="en-US" altLang="zh-CN"/>
          </a:p>
        </p:txBody>
      </p:sp>
      <p:sp>
        <p:nvSpPr>
          <p:cNvPr id="16896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在实际应用中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最短线路的铺设、运输网络的最少时间以及互联网上的最短路由问题等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都需要得出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从一个节点到别的节点权最小的一条路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它必为路径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最短路径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42D545-CBE3-41A9-9DBD-2144B2211D7C}" type="slidenum">
              <a:rPr lang="en-US" altLang="zh-CN"/>
              <a:pPr>
                <a:defRPr/>
              </a:pPr>
              <a:t>68</a:t>
            </a:fld>
            <a:endParaRPr lang="en-US" altLang="zh-CN"/>
          </a:p>
        </p:txBody>
      </p:sp>
      <p:sp>
        <p:nvSpPr>
          <p:cNvPr id="16998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荷兰计算机专家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1972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年图灵奖获得者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E. W.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Dijkstra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(1930-2002)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1959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年提出的求一个节点到其他任意节点的最短路径算法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是至今为止被大家公认的有效算法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其时间复杂度为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为图的节点个数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dirty="0">
              <a:latin typeface="宋体" pitchFamily="2" charset="-122"/>
            </a:endParaRPr>
          </a:p>
          <a:p>
            <a:pPr eaLnBrk="1" hangingPunct="1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数据结构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》, 《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算法分析与设计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》.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2045DB-E0AD-445D-AF81-B28FCEC26608}" type="slidenum">
              <a:rPr lang="en-US" altLang="zh-CN"/>
              <a:pPr>
                <a:defRPr/>
              </a:pPr>
              <a:t>69</a:t>
            </a:fld>
            <a:endParaRPr lang="en-US" altLang="zh-CN"/>
          </a:p>
        </p:txBody>
      </p:sp>
      <p:sp>
        <p:nvSpPr>
          <p:cNvPr id="17101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阶边加权简单图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不妨设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≥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…,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},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ij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的边上的权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则令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ij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+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目标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求节点</a:t>
            </a:r>
            <a:r>
              <a:rPr lang="en-US" altLang="zh-CN" b="1" i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到其他任意节点的最短路径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B43854-0165-4B37-BAA0-74D99192DF57}" type="slidenum">
              <a:rPr lang="en-US" altLang="zh-CN"/>
              <a:pPr>
                <a:defRPr/>
              </a:pPr>
              <a:t>70</a:t>
            </a:fld>
            <a:endParaRPr lang="en-US" altLang="zh-CN"/>
          </a:p>
        </p:txBody>
      </p:sp>
      <p:sp>
        <p:nvSpPr>
          <p:cNvPr id="172035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Dijkstra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算法将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划分成两部分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表示永久性节点集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称为临时节点集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每节点</a:t>
            </a:r>
            <a:r>
              <a:rPr lang="en-US" altLang="zh-CN" b="1" i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标号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FFC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表示节点</a:t>
            </a:r>
            <a:r>
              <a:rPr lang="en-US" altLang="zh-CN" b="1" i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的最短路径的权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中每节点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标号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的一条路上的权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C99437-4CCF-4629-937E-014C8142E24B}" type="slidenum">
              <a:rPr lang="en-US" altLang="zh-CN"/>
              <a:pPr>
                <a:defRPr/>
              </a:pPr>
              <a:t>71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059" name="Rectangle 2"/>
              <p:cNvSpPr>
                <a:spLocks noGrp="1" noRot="1" noChangeArrowheads="1"/>
              </p:cNvSpPr>
              <p:nvPr>
                <p:ph/>
              </p:nvPr>
            </p:nvSpPr>
            <p:spPr>
              <a:xfrm>
                <a:off x="157609" y="44624"/>
                <a:ext cx="8374831" cy="5870575"/>
              </a:xfrm>
            </p:spPr>
            <p:txBody>
              <a:bodyPr/>
              <a:lstStyle/>
              <a:p>
                <a:pPr eaLnBrk="1" hangingPunct="1">
                  <a:lnSpc>
                    <a:spcPct val="140000"/>
                  </a:lnSpc>
                </a:pPr>
                <a:r>
                  <a:rPr lang="en-US" altLang="zh-CN" sz="2800" b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Dijkstra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算法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+mj-ea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):</a:t>
                </a:r>
              </a:p>
              <a:p>
                <a:pPr eaLnBrk="1" hangingPunct="1">
                  <a:lnSpc>
                    <a:spcPct val="140000"/>
                  </a:lnSpc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Step 1 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{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}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且对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进行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标号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= 0, 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- 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中节点</a:t>
                </a:r>
                <a:r>
                  <a:rPr lang="en-US" altLang="zh-CN" sz="2800" b="1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="1" i="1" baseline="-25000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进行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标号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="1" i="1" baseline="-25000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 = 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w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b="1" i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2, 3, …, 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>
                  <a:lnSpc>
                    <a:spcPct val="140000"/>
                  </a:lnSpc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Step 2 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在所有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标号的节点中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选取最小标号节点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="1" i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进入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, 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="1" i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标号为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𝒍</m:t>
                    </m:r>
                    <m:r>
                      <a:rPr lang="en-US" altLang="zh-CN" sz="2800" b="1" i="1" smtClean="0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>
                  <a:lnSpc>
                    <a:spcPct val="140000"/>
                  </a:lnSpc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Step 3 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| = 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停止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否则转向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Step 4. 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Step 4 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重新按下列方式计算具有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标号的其他节点</a:t>
                </a:r>
                <a:r>
                  <a:rPr lang="en-US" altLang="zh-CN" sz="2800" b="1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800" b="1" i="1" baseline="-25000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en-US" altLang="zh-CN" sz="2800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标号并转向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Step 2:</a:t>
                </a:r>
              </a:p>
              <a:p>
                <a:pPr marL="0" indent="0" eaLnBrk="1" hangingPunct="1">
                  <a:lnSpc>
                    <a:spcPct val="120000"/>
                  </a:lnSpc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/>
                            <a:ea typeface="楷体_GB2312" pitchFamily="49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800" b="1" i="1">
                            <a:latin typeface="Cambria Math"/>
                            <a:ea typeface="楷体_GB2312" pitchFamily="49" charset="-122"/>
                          </a:rPr>
                          <m:t>𝒋</m:t>
                        </m:r>
                      </m:sub>
                    </m:sSub>
                    <m:r>
                      <a:rPr lang="en-US" altLang="zh-CN" sz="2800" b="1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800" b="1" i="1">
                        <a:latin typeface="Cambria Math"/>
                        <a:ea typeface="Cambria Math"/>
                      </a:rPr>
                      <m:t>𝑻</m:t>
                    </m:r>
                    <m:r>
                      <a:rPr lang="en-US" altLang="zh-CN" sz="2800" b="1" i="1"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altLang="zh-CN" sz="2800" b="1" i="1">
                        <a:latin typeface="Cambria Math"/>
                        <a:ea typeface="楷体_GB2312" pitchFamily="49" charset="-122"/>
                      </a:rPr>
                      <m:t>𝒍</m:t>
                    </m:r>
                    <m:r>
                      <a:rPr lang="en-US" altLang="zh-CN" sz="2800" b="1" i="1">
                        <a:latin typeface="Cambria Math"/>
                        <a:ea typeface="楷体_GB2312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/>
                            <a:ea typeface="楷体_GB2312" pitchFamily="49" charset="-122"/>
                          </a:rPr>
                          <m:t>𝒗</m:t>
                        </m:r>
                      </m:e>
                      <m:sub>
                        <m:r>
                          <a:rPr lang="en-US" altLang="zh-CN" sz="2800" b="1" i="1">
                            <a:latin typeface="Cambria Math"/>
                            <a:ea typeface="楷体_GB2312" pitchFamily="49" charset="-122"/>
                          </a:rPr>
                          <m:t>𝒋</m:t>
                        </m:r>
                      </m:sub>
                    </m:sSub>
                    <m:r>
                      <a:rPr lang="en-US" altLang="zh-CN" sz="2800" b="1" i="1">
                        <a:latin typeface="Cambria Math"/>
                        <a:ea typeface="楷体_GB2312" pitchFamily="49" charset="-122"/>
                      </a:rPr>
                      <m:t>)</m:t>
                    </m:r>
                    <m:r>
                      <a:rPr lang="en-US" altLang="zh-CN" sz="2800" b="1" i="1"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altLang="zh-CN" sz="2800" b="1">
                        <a:latin typeface="Cambria Math"/>
                        <a:ea typeface="Cambria Math"/>
                      </a:rPr>
                      <m:t>𝐦𝐢𝐧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/>
                            <a:ea typeface="楷体_GB2312" pitchFamily="49" charset="-122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/>
                                    <a:ea typeface="楷体_GB2312" pitchFamily="49" charset="-122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/>
                                    <a:ea typeface="楷体_GB2312" pitchFamily="49" charset="-122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1" i="1">
                            <a:latin typeface="Cambria Math"/>
                            <a:ea typeface="楷体_GB2312" pitchFamily="49" charset="-122"/>
                          </a:rPr>
                          <m:t>,</m:t>
                        </m:r>
                        <m:r>
                          <a:rPr lang="en-US" altLang="zh-CN" sz="2800" b="1" i="1">
                            <a:latin typeface="Cambria Math"/>
                            <a:ea typeface="楷体_GB2312" pitchFamily="49" charset="-122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/>
                                    <a:ea typeface="楷体_GB2312" pitchFamily="49" charset="-122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/>
                                    <a:ea typeface="楷体_GB2312" pitchFamily="49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1" i="1">
                            <a:latin typeface="Cambria Math"/>
                            <a:ea typeface="楷体_GB2312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/>
                                <a:ea typeface="楷体_GB2312" pitchFamily="49" charset="-122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/>
                                <a:ea typeface="楷体_GB2312" pitchFamily="49" charset="-122"/>
                              </a:rPr>
                              <m:t>𝒊𝒋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8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305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7609" y="44624"/>
                <a:ext cx="8374831" cy="5870575"/>
              </a:xfrm>
              <a:blipFill>
                <a:blip r:embed="rId2"/>
                <a:stretch>
                  <a:fillRect l="-909" r="-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016683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F8F224-3B3A-4EBC-A315-2B341D9AA47B}" type="slidenum">
              <a:rPr lang="en-US" altLang="zh-CN"/>
              <a:pPr>
                <a:defRPr/>
              </a:pPr>
              <a:t>72</a:t>
            </a:fld>
            <a:endParaRPr lang="en-US" altLang="zh-CN"/>
          </a:p>
        </p:txBody>
      </p:sp>
      <p:sp>
        <p:nvSpPr>
          <p:cNvPr id="175107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例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6-10  Figure 6-39(a)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75108" name="Oval 3"/>
          <p:cNvSpPr>
            <a:spLocks noChangeArrowheads="1"/>
          </p:cNvSpPr>
          <p:nvPr/>
        </p:nvSpPr>
        <p:spPr bwMode="auto">
          <a:xfrm>
            <a:off x="1908175" y="27813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09" name="Oval 4"/>
          <p:cNvSpPr>
            <a:spLocks noChangeArrowheads="1"/>
          </p:cNvSpPr>
          <p:nvPr/>
        </p:nvSpPr>
        <p:spPr bwMode="auto">
          <a:xfrm>
            <a:off x="2987675" y="1700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10" name="Oval 5"/>
          <p:cNvSpPr>
            <a:spLocks noChangeArrowheads="1"/>
          </p:cNvSpPr>
          <p:nvPr/>
        </p:nvSpPr>
        <p:spPr bwMode="auto">
          <a:xfrm>
            <a:off x="3708400" y="28527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11" name="Oval 6"/>
          <p:cNvSpPr>
            <a:spLocks noChangeArrowheads="1"/>
          </p:cNvSpPr>
          <p:nvPr/>
        </p:nvSpPr>
        <p:spPr bwMode="auto">
          <a:xfrm>
            <a:off x="2987675" y="40052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12" name="Oval 7"/>
          <p:cNvSpPr>
            <a:spLocks noChangeArrowheads="1"/>
          </p:cNvSpPr>
          <p:nvPr/>
        </p:nvSpPr>
        <p:spPr bwMode="auto">
          <a:xfrm>
            <a:off x="5076825" y="1700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13" name="Oval 8"/>
          <p:cNvSpPr>
            <a:spLocks noChangeArrowheads="1"/>
          </p:cNvSpPr>
          <p:nvPr/>
        </p:nvSpPr>
        <p:spPr bwMode="auto">
          <a:xfrm>
            <a:off x="5003800" y="40767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14" name="Oval 9"/>
          <p:cNvSpPr>
            <a:spLocks noChangeArrowheads="1"/>
          </p:cNvSpPr>
          <p:nvPr/>
        </p:nvSpPr>
        <p:spPr bwMode="auto">
          <a:xfrm>
            <a:off x="6011863" y="28527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15" name="Line 10"/>
          <p:cNvSpPr>
            <a:spLocks noChangeShapeType="1"/>
          </p:cNvSpPr>
          <p:nvPr/>
        </p:nvSpPr>
        <p:spPr bwMode="auto">
          <a:xfrm flipV="1">
            <a:off x="2051050" y="1844675"/>
            <a:ext cx="9366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6" name="Line 11"/>
          <p:cNvSpPr>
            <a:spLocks noChangeShapeType="1"/>
          </p:cNvSpPr>
          <p:nvPr/>
        </p:nvSpPr>
        <p:spPr bwMode="auto">
          <a:xfrm>
            <a:off x="2101850" y="2995613"/>
            <a:ext cx="865188" cy="100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7" name="Line 12"/>
          <p:cNvSpPr>
            <a:spLocks noChangeShapeType="1"/>
          </p:cNvSpPr>
          <p:nvPr/>
        </p:nvSpPr>
        <p:spPr bwMode="auto">
          <a:xfrm>
            <a:off x="2122488" y="2924175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8" name="Line 13"/>
          <p:cNvSpPr>
            <a:spLocks noChangeShapeType="1"/>
          </p:cNvSpPr>
          <p:nvPr/>
        </p:nvSpPr>
        <p:spPr bwMode="auto">
          <a:xfrm>
            <a:off x="3132138" y="1844675"/>
            <a:ext cx="57626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9" name="Line 14"/>
          <p:cNvSpPr>
            <a:spLocks noChangeShapeType="1"/>
          </p:cNvSpPr>
          <p:nvPr/>
        </p:nvSpPr>
        <p:spPr bwMode="auto">
          <a:xfrm flipH="1">
            <a:off x="3132138" y="3068638"/>
            <a:ext cx="5762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0" name="Line 15"/>
          <p:cNvSpPr>
            <a:spLocks noChangeShapeType="1"/>
          </p:cNvSpPr>
          <p:nvPr/>
        </p:nvSpPr>
        <p:spPr bwMode="auto">
          <a:xfrm>
            <a:off x="3132138" y="1773238"/>
            <a:ext cx="1871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1" name="Line 16"/>
          <p:cNvSpPr>
            <a:spLocks noChangeShapeType="1"/>
          </p:cNvSpPr>
          <p:nvPr/>
        </p:nvSpPr>
        <p:spPr bwMode="auto">
          <a:xfrm flipV="1">
            <a:off x="3851275" y="1989138"/>
            <a:ext cx="1152525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2" name="Line 17"/>
          <p:cNvSpPr>
            <a:spLocks noChangeShapeType="1"/>
          </p:cNvSpPr>
          <p:nvPr/>
        </p:nvSpPr>
        <p:spPr bwMode="auto">
          <a:xfrm>
            <a:off x="3132138" y="4149725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3" name="Line 18"/>
          <p:cNvSpPr>
            <a:spLocks noChangeShapeType="1"/>
          </p:cNvSpPr>
          <p:nvPr/>
        </p:nvSpPr>
        <p:spPr bwMode="auto">
          <a:xfrm>
            <a:off x="3851275" y="2997200"/>
            <a:ext cx="1081088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4" name="Line 19"/>
          <p:cNvSpPr>
            <a:spLocks noChangeShapeType="1"/>
          </p:cNvSpPr>
          <p:nvPr/>
        </p:nvSpPr>
        <p:spPr bwMode="auto">
          <a:xfrm flipV="1">
            <a:off x="5076825" y="1989138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5" name="Line 20"/>
          <p:cNvSpPr>
            <a:spLocks noChangeShapeType="1"/>
          </p:cNvSpPr>
          <p:nvPr/>
        </p:nvSpPr>
        <p:spPr bwMode="auto">
          <a:xfrm flipV="1">
            <a:off x="5148263" y="3068638"/>
            <a:ext cx="86360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26" name="Line 21"/>
          <p:cNvSpPr>
            <a:spLocks noChangeShapeType="1"/>
          </p:cNvSpPr>
          <p:nvPr/>
        </p:nvSpPr>
        <p:spPr bwMode="auto">
          <a:xfrm>
            <a:off x="5219700" y="1844675"/>
            <a:ext cx="792163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5127" name="Object 22"/>
          <p:cNvGraphicFramePr>
            <a:graphicFrameLocks noChangeAspect="1"/>
          </p:cNvGraphicFramePr>
          <p:nvPr/>
        </p:nvGraphicFramePr>
        <p:xfrm>
          <a:off x="1403350" y="2565400"/>
          <a:ext cx="3635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565400"/>
                        <a:ext cx="3635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8" name="Object 23"/>
          <p:cNvGraphicFramePr>
            <a:graphicFrameLocks noChangeAspect="1"/>
          </p:cNvGraphicFramePr>
          <p:nvPr/>
        </p:nvGraphicFramePr>
        <p:xfrm>
          <a:off x="2738438" y="981075"/>
          <a:ext cx="43021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23930" progId="Equation.3">
                  <p:embed/>
                </p:oleObj>
              </mc:Choice>
              <mc:Fallback>
                <p:oleObj name="Equation" r:id="rId4" imgW="66723" imgH="12393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981075"/>
                        <a:ext cx="43021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9" name="Object 24"/>
          <p:cNvGraphicFramePr>
            <a:graphicFrameLocks noChangeAspect="1"/>
          </p:cNvGraphicFramePr>
          <p:nvPr/>
        </p:nvGraphicFramePr>
        <p:xfrm>
          <a:off x="4083050" y="2620963"/>
          <a:ext cx="3968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133380" progId="Equation.3">
                  <p:embed/>
                </p:oleObj>
              </mc:Choice>
              <mc:Fallback>
                <p:oleObj name="Equation" r:id="rId6" imgW="57268" imgH="1333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2620963"/>
                        <a:ext cx="39687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0" name="Object 25"/>
          <p:cNvGraphicFramePr>
            <a:graphicFrameLocks noChangeAspect="1"/>
          </p:cNvGraphicFramePr>
          <p:nvPr/>
        </p:nvGraphicFramePr>
        <p:xfrm>
          <a:off x="2755900" y="4237038"/>
          <a:ext cx="4286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23930" progId="Equation.3">
                  <p:embed/>
                </p:oleObj>
              </mc:Choice>
              <mc:Fallback>
                <p:oleObj name="Equation" r:id="rId8" imgW="66723" imgH="12393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4237038"/>
                        <a:ext cx="4286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1" name="Object 26"/>
          <p:cNvGraphicFramePr>
            <a:graphicFrameLocks noChangeAspect="1"/>
          </p:cNvGraphicFramePr>
          <p:nvPr/>
        </p:nvGraphicFramePr>
        <p:xfrm>
          <a:off x="4948238" y="4349750"/>
          <a:ext cx="395287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268" imgH="133380" progId="Equation.3">
                  <p:embed/>
                </p:oleObj>
              </mc:Choice>
              <mc:Fallback>
                <p:oleObj name="Equation" r:id="rId10" imgW="57268" imgH="1333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238" y="4349750"/>
                        <a:ext cx="395287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2" name="Object 27"/>
          <p:cNvGraphicFramePr>
            <a:graphicFrameLocks noChangeAspect="1"/>
          </p:cNvGraphicFramePr>
          <p:nvPr/>
        </p:nvGraphicFramePr>
        <p:xfrm>
          <a:off x="4987925" y="1052513"/>
          <a:ext cx="427038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723" imgH="133380" progId="Equation.3">
                  <p:embed/>
                </p:oleObj>
              </mc:Choice>
              <mc:Fallback>
                <p:oleObj name="Equation" r:id="rId12" imgW="66723" imgH="1333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1052513"/>
                        <a:ext cx="427038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3" name="Object 28"/>
          <p:cNvGraphicFramePr>
            <a:graphicFrameLocks noChangeAspect="1"/>
          </p:cNvGraphicFramePr>
          <p:nvPr/>
        </p:nvGraphicFramePr>
        <p:xfrm>
          <a:off x="6300788" y="2565400"/>
          <a:ext cx="427037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723" imgH="133380" progId="Equation.3">
                  <p:embed/>
                </p:oleObj>
              </mc:Choice>
              <mc:Fallback>
                <p:oleObj name="Equation" r:id="rId14" imgW="66723" imgH="1333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565400"/>
                        <a:ext cx="427037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4" name="Object 29"/>
          <p:cNvGraphicFramePr>
            <a:graphicFrameLocks noChangeAspect="1"/>
          </p:cNvGraphicFramePr>
          <p:nvPr/>
        </p:nvGraphicFramePr>
        <p:xfrm>
          <a:off x="2173288" y="1854200"/>
          <a:ext cx="3286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634" imgH="66690" progId="Equation.3">
                  <p:embed/>
                </p:oleObj>
              </mc:Choice>
              <mc:Fallback>
                <p:oleObj name="Equation" r:id="rId16" imgW="28634" imgH="6669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1854200"/>
                        <a:ext cx="3286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5" name="Object 30"/>
          <p:cNvGraphicFramePr>
            <a:graphicFrameLocks noChangeAspect="1"/>
          </p:cNvGraphicFramePr>
          <p:nvPr/>
        </p:nvGraphicFramePr>
        <p:xfrm>
          <a:off x="2139950" y="3413125"/>
          <a:ext cx="2968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179" imgH="85860" progId="Equation.3">
                  <p:embed/>
                </p:oleObj>
              </mc:Choice>
              <mc:Fallback>
                <p:oleObj name="Equation" r:id="rId18" imgW="19179" imgH="858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3413125"/>
                        <a:ext cx="2968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6" name="Object 31"/>
          <p:cNvGraphicFramePr>
            <a:graphicFrameLocks noChangeAspect="1"/>
          </p:cNvGraphicFramePr>
          <p:nvPr/>
        </p:nvGraphicFramePr>
        <p:xfrm>
          <a:off x="2771775" y="2420938"/>
          <a:ext cx="2968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179" imgH="85860" progId="Equation.3">
                  <p:embed/>
                </p:oleObj>
              </mc:Choice>
              <mc:Fallback>
                <p:oleObj name="Equation" r:id="rId20" imgW="19179" imgH="8586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420938"/>
                        <a:ext cx="29686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7" name="Object 32"/>
          <p:cNvGraphicFramePr>
            <a:graphicFrameLocks noChangeAspect="1"/>
          </p:cNvGraphicFramePr>
          <p:nvPr/>
        </p:nvGraphicFramePr>
        <p:xfrm>
          <a:off x="3092450" y="3228975"/>
          <a:ext cx="230188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66690" progId="Equation.3">
                  <p:embed/>
                </p:oleObj>
              </mc:Choice>
              <mc:Fallback>
                <p:oleObj name="Equation" r:id="rId22" imgW="0" imgH="6669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3228975"/>
                        <a:ext cx="230188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8" name="Object 33"/>
          <p:cNvGraphicFramePr>
            <a:graphicFrameLocks noChangeAspect="1"/>
          </p:cNvGraphicFramePr>
          <p:nvPr/>
        </p:nvGraphicFramePr>
        <p:xfrm>
          <a:off x="3443288" y="1989138"/>
          <a:ext cx="3286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8634" imgH="66690" progId="Equation.3">
                  <p:embed/>
                </p:oleObj>
              </mc:Choice>
              <mc:Fallback>
                <p:oleObj name="Equation" r:id="rId24" imgW="28634" imgH="6669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8" y="1989138"/>
                        <a:ext cx="328612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9" name="Object 34"/>
          <p:cNvGraphicFramePr>
            <a:graphicFrameLocks noChangeAspect="1"/>
          </p:cNvGraphicFramePr>
          <p:nvPr/>
        </p:nvGraphicFramePr>
        <p:xfrm>
          <a:off x="3995738" y="1252538"/>
          <a:ext cx="32861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8634" imgH="85860" progId="Equation.3">
                  <p:embed/>
                </p:oleObj>
              </mc:Choice>
              <mc:Fallback>
                <p:oleObj name="Equation" r:id="rId26" imgW="28634" imgH="8586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252538"/>
                        <a:ext cx="32861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40" name="Object 35"/>
          <p:cNvGraphicFramePr>
            <a:graphicFrameLocks noChangeAspect="1"/>
          </p:cNvGraphicFramePr>
          <p:nvPr/>
        </p:nvGraphicFramePr>
        <p:xfrm>
          <a:off x="4227513" y="2133600"/>
          <a:ext cx="2952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179" imgH="85860" progId="Equation.3">
                  <p:embed/>
                </p:oleObj>
              </mc:Choice>
              <mc:Fallback>
                <p:oleObj name="Equation" r:id="rId28" imgW="19179" imgH="8586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13" y="2133600"/>
                        <a:ext cx="29527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41" name="Object 36"/>
          <p:cNvGraphicFramePr>
            <a:graphicFrameLocks noChangeAspect="1"/>
          </p:cNvGraphicFramePr>
          <p:nvPr/>
        </p:nvGraphicFramePr>
        <p:xfrm>
          <a:off x="3851275" y="4149725"/>
          <a:ext cx="2952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179" imgH="85860" progId="Equation.3">
                  <p:embed/>
                </p:oleObj>
              </mc:Choice>
              <mc:Fallback>
                <p:oleObj name="Equation" r:id="rId30" imgW="19179" imgH="8586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4149725"/>
                        <a:ext cx="29527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42" name="Object 37"/>
          <p:cNvGraphicFramePr>
            <a:graphicFrameLocks noChangeAspect="1"/>
          </p:cNvGraphicFramePr>
          <p:nvPr/>
        </p:nvGraphicFramePr>
        <p:xfrm>
          <a:off x="3995738" y="3284538"/>
          <a:ext cx="29686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179" imgH="85860" progId="Equation.3">
                  <p:embed/>
                </p:oleObj>
              </mc:Choice>
              <mc:Fallback>
                <p:oleObj name="Equation" r:id="rId18" imgW="19179" imgH="8586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284538"/>
                        <a:ext cx="29686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43" name="Object 38"/>
          <p:cNvGraphicFramePr>
            <a:graphicFrameLocks noChangeAspect="1"/>
          </p:cNvGraphicFramePr>
          <p:nvPr/>
        </p:nvGraphicFramePr>
        <p:xfrm>
          <a:off x="5580063" y="1773238"/>
          <a:ext cx="2952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9179" imgH="85860" progId="Equation.3">
                  <p:embed/>
                </p:oleObj>
              </mc:Choice>
              <mc:Fallback>
                <p:oleObj name="Equation" r:id="rId33" imgW="19179" imgH="8586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773238"/>
                        <a:ext cx="29527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44" name="Object 39"/>
          <p:cNvGraphicFramePr>
            <a:graphicFrameLocks noChangeAspect="1"/>
          </p:cNvGraphicFramePr>
          <p:nvPr/>
        </p:nvGraphicFramePr>
        <p:xfrm>
          <a:off x="5724525" y="3429000"/>
          <a:ext cx="3286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8634" imgH="85860" progId="Equation.3">
                  <p:embed/>
                </p:oleObj>
              </mc:Choice>
              <mc:Fallback>
                <p:oleObj name="Equation" r:id="rId26" imgW="28634" imgH="8586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429000"/>
                        <a:ext cx="32861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45" name="Object 40"/>
          <p:cNvGraphicFramePr>
            <a:graphicFrameLocks noChangeAspect="1"/>
          </p:cNvGraphicFramePr>
          <p:nvPr/>
        </p:nvGraphicFramePr>
        <p:xfrm>
          <a:off x="5148263" y="2781300"/>
          <a:ext cx="23018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66690" progId="Equation.3">
                  <p:embed/>
                </p:oleObj>
              </mc:Choice>
              <mc:Fallback>
                <p:oleObj name="Equation" r:id="rId22" imgW="0" imgH="6669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781300"/>
                        <a:ext cx="230187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2978881" y="4810217"/>
            <a:ext cx="2693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6-39(a)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Box 1">
            <a:extLst>
              <a:ext uri="{FF2B5EF4-FFF2-40B4-BE49-F238E27FC236}">
                <a16:creationId xmlns:a16="http://schemas.microsoft.com/office/drawing/2014/main" id="{D0317235-10A6-994F-9399-7F0EC556C86E}"/>
              </a:ext>
            </a:extLst>
          </p:cNvPr>
          <p:cNvSpPr txBox="1"/>
          <p:nvPr/>
        </p:nvSpPr>
        <p:spPr>
          <a:xfrm>
            <a:off x="5160600" y="264004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(1)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𝑃</m:t>
                    </m:r>
                    <m:r>
                      <a:rPr lang="en-US" altLang="zh-CN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𝑇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𝑉</m:t>
                    </m:r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r>
                      <a:rPr lang="en-US" altLang="zh-CN" b="0" i="1" smtClean="0">
                        <a:latin typeface="Cambria Math"/>
                      </a:rPr>
                      <m:t>𝑃</m:t>
                    </m:r>
                    <m:r>
                      <a:rPr lang="en-US" altLang="zh-CN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</a:rPr>
                      <m:t>5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</a:rPr>
                      <m:t>3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=2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𝑇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𝑉</m:t>
                    </m:r>
                    <m:r>
                      <a:rPr lang="en-US" altLang="zh-CN" i="1">
                        <a:latin typeface="Cambria Math"/>
                      </a:rPr>
                      <m:t>−</m:t>
                    </m:r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𝒍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altLang="zh-CN" sz="2800" b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𝐦𝐢𝐧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𝒋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𝟓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𝟔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𝟕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zh-CN" altLang="en-US" sz="28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</a:rPr>
                      <m:t>4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  <a:ea typeface="Cambria Math"/>
                      </a:rPr>
                      <m:t>9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  <a:p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 rotWithShape="1">
                <a:blip r:embed="rId2"/>
                <a:stretch>
                  <a:fillRect l="-1070" t="-1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967AA4-D0C8-47E4-AC34-B9A79AD23456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2203389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267641" y="115938"/>
                <a:ext cx="8540750" cy="5870575"/>
              </a:xfrm>
            </p:spPr>
            <p:txBody>
              <a:bodyPr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(3)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=2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𝑇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𝑉</m:t>
                    </m:r>
                    <m:r>
                      <a:rPr lang="en-US" altLang="zh-CN" i="1">
                        <a:latin typeface="Cambria Math"/>
                      </a:rPr>
                      <m:t>−</m:t>
                    </m:r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𝒍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𝐦𝐢𝐧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𝟒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𝒋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𝟓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𝟔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/>
                      </a:rPr>
                      <m:t>𝟕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=4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  <a:ea typeface="Cambria Math"/>
                      </a:rPr>
                      <m:t>8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9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CN" sz="16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(4)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=2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=4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</a:rPr>
                      <m:t>𝑇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𝑉</m:t>
                    </m:r>
                    <m:r>
                      <a:rPr lang="en-US" altLang="zh-CN" i="1">
                        <a:latin typeface="Cambria Math"/>
                      </a:rPr>
                      <m:t>−</m:t>
                    </m:r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𝒍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𝐦𝐢𝐧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𝒋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𝟓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𝟔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/>
                      </a:rPr>
                      <m:t>𝟕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  <a:ea typeface="Cambria Math"/>
                      </a:rPr>
                      <m:t>7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9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endPara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7641" y="115938"/>
                <a:ext cx="8540750" cy="5870575"/>
              </a:xfrm>
              <a:blipFill>
                <a:blip r:embed="rId2"/>
                <a:stretch>
                  <a:fillRect l="-1142" t="-1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967AA4-D0C8-47E4-AC34-B9A79AD23456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2328592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(5)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=2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=4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7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𝑇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𝑉</m:t>
                    </m:r>
                    <m:r>
                      <a:rPr lang="en-US" altLang="zh-CN" i="1">
                        <a:latin typeface="Cambria Math"/>
                      </a:rPr>
                      <m:t>−</m:t>
                    </m:r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𝒍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𝐦𝐢𝐧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𝟓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𝒋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𝟔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𝟕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  <a:ea typeface="Cambria Math"/>
                      </a:rPr>
                      <m:t>8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  <a:ea typeface="Cambria Math"/>
                      </a:rPr>
                      <m:t>14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(6)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=2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=3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=4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7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8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𝑇</m:t>
                    </m:r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𝑉</m:t>
                    </m:r>
                    <m:r>
                      <a:rPr lang="en-US" altLang="zh-CN" i="1">
                        <a:latin typeface="Cambria Math"/>
                      </a:rPr>
                      <m:t>−</m:t>
                    </m:r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𝒍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𝐦𝐢𝐧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𝟔</m:t>
                            </m:r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𝒋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𝟕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zh-CN" b="0" i="1" dirty="0" smtClean="0">
                        <a:latin typeface="Cambria Math"/>
                        <a:ea typeface="Cambria Math"/>
                      </a:rPr>
                      <m:t>3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(7)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𝑃</m:t>
                    </m:r>
                    <m:r>
                      <a:rPr lang="en-US" altLang="zh-CN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i="1" dirty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altLang="zh-CN" b="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 rotWithShape="1">
                <a:blip r:embed="rId2"/>
                <a:stretch>
                  <a:fillRect l="-1070" t="-1454" b="-9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967AA4-D0C8-47E4-AC34-B9A79AD23456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803253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81CE2-F37C-4BDD-B4C3-928168729838}" type="slidenum">
              <a:rPr lang="en-US" altLang="zh-CN"/>
              <a:pPr>
                <a:defRPr/>
              </a:pPr>
              <a:t>76</a:t>
            </a:fld>
            <a:endParaRPr lang="en-US" altLang="zh-CN"/>
          </a:p>
        </p:txBody>
      </p:sp>
      <p:sp>
        <p:nvSpPr>
          <p:cNvPr id="176131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76132" name="Oval 3"/>
          <p:cNvSpPr>
            <a:spLocks noChangeArrowheads="1"/>
          </p:cNvSpPr>
          <p:nvPr/>
        </p:nvSpPr>
        <p:spPr bwMode="auto">
          <a:xfrm>
            <a:off x="1908175" y="27813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33" name="Oval 4"/>
          <p:cNvSpPr>
            <a:spLocks noChangeArrowheads="1"/>
          </p:cNvSpPr>
          <p:nvPr/>
        </p:nvSpPr>
        <p:spPr bwMode="auto">
          <a:xfrm>
            <a:off x="2987675" y="1700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34" name="Oval 5"/>
          <p:cNvSpPr>
            <a:spLocks noChangeArrowheads="1"/>
          </p:cNvSpPr>
          <p:nvPr/>
        </p:nvSpPr>
        <p:spPr bwMode="auto">
          <a:xfrm>
            <a:off x="3708400" y="28527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35" name="Oval 6"/>
          <p:cNvSpPr>
            <a:spLocks noChangeArrowheads="1"/>
          </p:cNvSpPr>
          <p:nvPr/>
        </p:nvSpPr>
        <p:spPr bwMode="auto">
          <a:xfrm>
            <a:off x="2987675" y="40052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36" name="Oval 7"/>
          <p:cNvSpPr>
            <a:spLocks noChangeArrowheads="1"/>
          </p:cNvSpPr>
          <p:nvPr/>
        </p:nvSpPr>
        <p:spPr bwMode="auto">
          <a:xfrm>
            <a:off x="5076825" y="1700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37" name="Oval 8"/>
          <p:cNvSpPr>
            <a:spLocks noChangeArrowheads="1"/>
          </p:cNvSpPr>
          <p:nvPr/>
        </p:nvSpPr>
        <p:spPr bwMode="auto">
          <a:xfrm>
            <a:off x="5003800" y="40767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38" name="Oval 9"/>
          <p:cNvSpPr>
            <a:spLocks noChangeArrowheads="1"/>
          </p:cNvSpPr>
          <p:nvPr/>
        </p:nvSpPr>
        <p:spPr bwMode="auto">
          <a:xfrm>
            <a:off x="6011863" y="28527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139" name="Line 10"/>
          <p:cNvSpPr>
            <a:spLocks noChangeShapeType="1"/>
          </p:cNvSpPr>
          <p:nvPr/>
        </p:nvSpPr>
        <p:spPr bwMode="auto">
          <a:xfrm flipV="1">
            <a:off x="2051050" y="1844675"/>
            <a:ext cx="936625" cy="9366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40" name="Line 11"/>
          <p:cNvSpPr>
            <a:spLocks noChangeShapeType="1"/>
          </p:cNvSpPr>
          <p:nvPr/>
        </p:nvSpPr>
        <p:spPr bwMode="auto">
          <a:xfrm>
            <a:off x="2101850" y="2995613"/>
            <a:ext cx="865188" cy="10096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41" name="Line 12"/>
          <p:cNvSpPr>
            <a:spLocks noChangeShapeType="1"/>
          </p:cNvSpPr>
          <p:nvPr/>
        </p:nvSpPr>
        <p:spPr bwMode="auto">
          <a:xfrm>
            <a:off x="2122488" y="2924175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42" name="Line 13"/>
          <p:cNvSpPr>
            <a:spLocks noChangeShapeType="1"/>
          </p:cNvSpPr>
          <p:nvPr/>
        </p:nvSpPr>
        <p:spPr bwMode="auto">
          <a:xfrm>
            <a:off x="3132138" y="1844675"/>
            <a:ext cx="576262" cy="9366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43" name="Line 14"/>
          <p:cNvSpPr>
            <a:spLocks noChangeShapeType="1"/>
          </p:cNvSpPr>
          <p:nvPr/>
        </p:nvSpPr>
        <p:spPr bwMode="auto">
          <a:xfrm flipH="1">
            <a:off x="3132138" y="3068638"/>
            <a:ext cx="5762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44" name="Line 15"/>
          <p:cNvSpPr>
            <a:spLocks noChangeShapeType="1"/>
          </p:cNvSpPr>
          <p:nvPr/>
        </p:nvSpPr>
        <p:spPr bwMode="auto">
          <a:xfrm>
            <a:off x="3132138" y="1773238"/>
            <a:ext cx="1871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45" name="Line 16"/>
          <p:cNvSpPr>
            <a:spLocks noChangeShapeType="1"/>
          </p:cNvSpPr>
          <p:nvPr/>
        </p:nvSpPr>
        <p:spPr bwMode="auto">
          <a:xfrm flipV="1">
            <a:off x="3851275" y="1989138"/>
            <a:ext cx="1152525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46" name="Line 17"/>
          <p:cNvSpPr>
            <a:spLocks noChangeShapeType="1"/>
          </p:cNvSpPr>
          <p:nvPr/>
        </p:nvSpPr>
        <p:spPr bwMode="auto">
          <a:xfrm>
            <a:off x="3132138" y="4149725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47" name="Line 18"/>
          <p:cNvSpPr>
            <a:spLocks noChangeShapeType="1"/>
          </p:cNvSpPr>
          <p:nvPr/>
        </p:nvSpPr>
        <p:spPr bwMode="auto">
          <a:xfrm>
            <a:off x="3851275" y="2997200"/>
            <a:ext cx="1081088" cy="10080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48" name="Line 19"/>
          <p:cNvSpPr>
            <a:spLocks noChangeShapeType="1"/>
          </p:cNvSpPr>
          <p:nvPr/>
        </p:nvSpPr>
        <p:spPr bwMode="auto">
          <a:xfrm flipV="1">
            <a:off x="5076825" y="1989138"/>
            <a:ext cx="0" cy="20161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49" name="Line 20"/>
          <p:cNvSpPr>
            <a:spLocks noChangeShapeType="1"/>
          </p:cNvSpPr>
          <p:nvPr/>
        </p:nvSpPr>
        <p:spPr bwMode="auto">
          <a:xfrm flipV="1">
            <a:off x="5148263" y="3068638"/>
            <a:ext cx="86360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50" name="Line 21"/>
          <p:cNvSpPr>
            <a:spLocks noChangeShapeType="1"/>
          </p:cNvSpPr>
          <p:nvPr/>
        </p:nvSpPr>
        <p:spPr bwMode="auto">
          <a:xfrm>
            <a:off x="5219700" y="1844675"/>
            <a:ext cx="792163" cy="863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6151" name="Object 22"/>
          <p:cNvGraphicFramePr>
            <a:graphicFrameLocks noChangeAspect="1"/>
          </p:cNvGraphicFramePr>
          <p:nvPr/>
        </p:nvGraphicFramePr>
        <p:xfrm>
          <a:off x="1403350" y="2565400"/>
          <a:ext cx="3635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565400"/>
                        <a:ext cx="3635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52" name="Object 23"/>
          <p:cNvGraphicFramePr>
            <a:graphicFrameLocks noChangeAspect="1"/>
          </p:cNvGraphicFramePr>
          <p:nvPr/>
        </p:nvGraphicFramePr>
        <p:xfrm>
          <a:off x="2738438" y="981075"/>
          <a:ext cx="43021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23930" progId="Equation.3">
                  <p:embed/>
                </p:oleObj>
              </mc:Choice>
              <mc:Fallback>
                <p:oleObj name="Equation" r:id="rId4" imgW="66723" imgH="1239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981075"/>
                        <a:ext cx="43021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53" name="Object 24"/>
          <p:cNvGraphicFramePr>
            <a:graphicFrameLocks noChangeAspect="1"/>
          </p:cNvGraphicFramePr>
          <p:nvPr/>
        </p:nvGraphicFramePr>
        <p:xfrm>
          <a:off x="4083050" y="2620963"/>
          <a:ext cx="3968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133380" progId="Equation.3">
                  <p:embed/>
                </p:oleObj>
              </mc:Choice>
              <mc:Fallback>
                <p:oleObj name="Equation" r:id="rId6" imgW="57268" imgH="1333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2620963"/>
                        <a:ext cx="39687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54" name="Object 25"/>
          <p:cNvGraphicFramePr>
            <a:graphicFrameLocks noChangeAspect="1"/>
          </p:cNvGraphicFramePr>
          <p:nvPr/>
        </p:nvGraphicFramePr>
        <p:xfrm>
          <a:off x="2755900" y="4237038"/>
          <a:ext cx="4286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23930" progId="Equation.3">
                  <p:embed/>
                </p:oleObj>
              </mc:Choice>
              <mc:Fallback>
                <p:oleObj name="Equation" r:id="rId8" imgW="66723" imgH="1239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4237038"/>
                        <a:ext cx="4286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55" name="Object 26"/>
          <p:cNvGraphicFramePr>
            <a:graphicFrameLocks noChangeAspect="1"/>
          </p:cNvGraphicFramePr>
          <p:nvPr/>
        </p:nvGraphicFramePr>
        <p:xfrm>
          <a:off x="4948238" y="4349750"/>
          <a:ext cx="395287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268" imgH="133380" progId="Equation.3">
                  <p:embed/>
                </p:oleObj>
              </mc:Choice>
              <mc:Fallback>
                <p:oleObj name="Equation" r:id="rId10" imgW="57268" imgH="1333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238" y="4349750"/>
                        <a:ext cx="395287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56" name="Object 27"/>
          <p:cNvGraphicFramePr>
            <a:graphicFrameLocks noChangeAspect="1"/>
          </p:cNvGraphicFramePr>
          <p:nvPr/>
        </p:nvGraphicFramePr>
        <p:xfrm>
          <a:off x="4987925" y="1052513"/>
          <a:ext cx="427038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723" imgH="133380" progId="Equation.3">
                  <p:embed/>
                </p:oleObj>
              </mc:Choice>
              <mc:Fallback>
                <p:oleObj name="Equation" r:id="rId12" imgW="66723" imgH="1333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1052513"/>
                        <a:ext cx="427038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57" name="Object 28"/>
          <p:cNvGraphicFramePr>
            <a:graphicFrameLocks noChangeAspect="1"/>
          </p:cNvGraphicFramePr>
          <p:nvPr/>
        </p:nvGraphicFramePr>
        <p:xfrm>
          <a:off x="6300788" y="2565400"/>
          <a:ext cx="427037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723" imgH="133380" progId="Equation.3">
                  <p:embed/>
                </p:oleObj>
              </mc:Choice>
              <mc:Fallback>
                <p:oleObj name="Equation" r:id="rId14" imgW="66723" imgH="1333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565400"/>
                        <a:ext cx="427037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58" name="Object 29"/>
          <p:cNvGraphicFramePr>
            <a:graphicFrameLocks noChangeAspect="1"/>
          </p:cNvGraphicFramePr>
          <p:nvPr/>
        </p:nvGraphicFramePr>
        <p:xfrm>
          <a:off x="2173288" y="1854200"/>
          <a:ext cx="3286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634" imgH="66690" progId="Equation.3">
                  <p:embed/>
                </p:oleObj>
              </mc:Choice>
              <mc:Fallback>
                <p:oleObj name="Equation" r:id="rId16" imgW="28634" imgH="666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1854200"/>
                        <a:ext cx="3286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59" name="Object 30"/>
          <p:cNvGraphicFramePr>
            <a:graphicFrameLocks noChangeAspect="1"/>
          </p:cNvGraphicFramePr>
          <p:nvPr/>
        </p:nvGraphicFramePr>
        <p:xfrm>
          <a:off x="2139950" y="3413125"/>
          <a:ext cx="2968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179" imgH="85860" progId="Equation.3">
                  <p:embed/>
                </p:oleObj>
              </mc:Choice>
              <mc:Fallback>
                <p:oleObj name="Equation" r:id="rId18" imgW="19179" imgH="858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3413125"/>
                        <a:ext cx="2968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0" name="Object 31"/>
          <p:cNvGraphicFramePr>
            <a:graphicFrameLocks noChangeAspect="1"/>
          </p:cNvGraphicFramePr>
          <p:nvPr/>
        </p:nvGraphicFramePr>
        <p:xfrm>
          <a:off x="2771775" y="2420938"/>
          <a:ext cx="2968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179" imgH="85860" progId="Equation.3">
                  <p:embed/>
                </p:oleObj>
              </mc:Choice>
              <mc:Fallback>
                <p:oleObj name="Equation" r:id="rId20" imgW="19179" imgH="858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420938"/>
                        <a:ext cx="29686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1" name="Object 32"/>
          <p:cNvGraphicFramePr>
            <a:graphicFrameLocks noChangeAspect="1"/>
          </p:cNvGraphicFramePr>
          <p:nvPr/>
        </p:nvGraphicFramePr>
        <p:xfrm>
          <a:off x="3092450" y="3228975"/>
          <a:ext cx="230188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66690" progId="Equation.3">
                  <p:embed/>
                </p:oleObj>
              </mc:Choice>
              <mc:Fallback>
                <p:oleObj name="Equation" r:id="rId22" imgW="0" imgH="666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3228975"/>
                        <a:ext cx="230188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2" name="Object 33"/>
          <p:cNvGraphicFramePr>
            <a:graphicFrameLocks noChangeAspect="1"/>
          </p:cNvGraphicFramePr>
          <p:nvPr/>
        </p:nvGraphicFramePr>
        <p:xfrm>
          <a:off x="3443288" y="1989138"/>
          <a:ext cx="3286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8634" imgH="66690" progId="Equation.3">
                  <p:embed/>
                </p:oleObj>
              </mc:Choice>
              <mc:Fallback>
                <p:oleObj name="Equation" r:id="rId24" imgW="28634" imgH="666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8" y="1989138"/>
                        <a:ext cx="328612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3" name="Object 34"/>
          <p:cNvGraphicFramePr>
            <a:graphicFrameLocks noChangeAspect="1"/>
          </p:cNvGraphicFramePr>
          <p:nvPr/>
        </p:nvGraphicFramePr>
        <p:xfrm>
          <a:off x="3995738" y="1252538"/>
          <a:ext cx="32861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8634" imgH="85860" progId="Equation.3">
                  <p:embed/>
                </p:oleObj>
              </mc:Choice>
              <mc:Fallback>
                <p:oleObj name="Equation" r:id="rId26" imgW="28634" imgH="858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252538"/>
                        <a:ext cx="32861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4" name="Object 35"/>
          <p:cNvGraphicFramePr>
            <a:graphicFrameLocks noChangeAspect="1"/>
          </p:cNvGraphicFramePr>
          <p:nvPr/>
        </p:nvGraphicFramePr>
        <p:xfrm>
          <a:off x="4227513" y="2133600"/>
          <a:ext cx="2952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179" imgH="85860" progId="Equation.3">
                  <p:embed/>
                </p:oleObj>
              </mc:Choice>
              <mc:Fallback>
                <p:oleObj name="Equation" r:id="rId28" imgW="19179" imgH="858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13" y="2133600"/>
                        <a:ext cx="29527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5" name="Object 36"/>
          <p:cNvGraphicFramePr>
            <a:graphicFrameLocks noChangeAspect="1"/>
          </p:cNvGraphicFramePr>
          <p:nvPr/>
        </p:nvGraphicFramePr>
        <p:xfrm>
          <a:off x="3851275" y="4149725"/>
          <a:ext cx="2952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179" imgH="85860" progId="Equation.3">
                  <p:embed/>
                </p:oleObj>
              </mc:Choice>
              <mc:Fallback>
                <p:oleObj name="Equation" r:id="rId30" imgW="19179" imgH="858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4149725"/>
                        <a:ext cx="29527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6" name="Object 37"/>
          <p:cNvGraphicFramePr>
            <a:graphicFrameLocks noChangeAspect="1"/>
          </p:cNvGraphicFramePr>
          <p:nvPr/>
        </p:nvGraphicFramePr>
        <p:xfrm>
          <a:off x="3995738" y="3284538"/>
          <a:ext cx="29686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179" imgH="85860" progId="Equation.3">
                  <p:embed/>
                </p:oleObj>
              </mc:Choice>
              <mc:Fallback>
                <p:oleObj name="Equation" r:id="rId18" imgW="19179" imgH="858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284538"/>
                        <a:ext cx="29686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7" name="Object 38"/>
          <p:cNvGraphicFramePr>
            <a:graphicFrameLocks noChangeAspect="1"/>
          </p:cNvGraphicFramePr>
          <p:nvPr/>
        </p:nvGraphicFramePr>
        <p:xfrm>
          <a:off x="5580063" y="1773238"/>
          <a:ext cx="2952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9179" imgH="85860" progId="Equation.3">
                  <p:embed/>
                </p:oleObj>
              </mc:Choice>
              <mc:Fallback>
                <p:oleObj name="Equation" r:id="rId33" imgW="19179" imgH="858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773238"/>
                        <a:ext cx="29527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8" name="Object 39"/>
          <p:cNvGraphicFramePr>
            <a:graphicFrameLocks noChangeAspect="1"/>
          </p:cNvGraphicFramePr>
          <p:nvPr/>
        </p:nvGraphicFramePr>
        <p:xfrm>
          <a:off x="5724525" y="3429000"/>
          <a:ext cx="3286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8634" imgH="85860" progId="Equation.3">
                  <p:embed/>
                </p:oleObj>
              </mc:Choice>
              <mc:Fallback>
                <p:oleObj name="Equation" r:id="rId26" imgW="28634" imgH="858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429000"/>
                        <a:ext cx="32861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9" name="Object 40"/>
          <p:cNvGraphicFramePr>
            <a:graphicFrameLocks noChangeAspect="1"/>
          </p:cNvGraphicFramePr>
          <p:nvPr/>
        </p:nvGraphicFramePr>
        <p:xfrm>
          <a:off x="5148263" y="2781300"/>
          <a:ext cx="23018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66690" progId="Equation.3">
                  <p:embed/>
                </p:oleObj>
              </mc:Choice>
              <mc:Fallback>
                <p:oleObj name="Equation" r:id="rId22" imgW="0" imgH="666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781300"/>
                        <a:ext cx="230187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160600" y="264004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921543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说明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所在列</a:t>
                </a:r>
                <a:r>
                  <a:rPr lang="en-US" altLang="zh-CN" b="1" u="sng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7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/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表示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7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是所在行的标号最小者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画下划线标记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而它是根据进入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的节点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得出的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将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写在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的下方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并且显然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邻接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依此类推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节点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b="1" i="1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进入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更新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中节点标号：</a:t>
                </a:r>
                <a:endPara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𝒍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altLang="zh-CN" b="1" i="0" smtClean="0">
                        <a:latin typeface="Cambria Math"/>
                        <a:ea typeface="Cambria Math"/>
                      </a:rPr>
                      <m:t>𝐦𝐢𝐧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𝒊𝒋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 rotWithShape="1">
                <a:blip r:embed="rId2"/>
                <a:stretch>
                  <a:fillRect l="-1070" t="-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967AA4-D0C8-47E4-AC34-B9A79AD23456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7346170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/>
              <p:cNvGraphicFramePr>
                <a:graphicFrameLocks noGrp="1"/>
              </p:cNvGraphicFramePr>
              <p:nvPr>
                <p:ph/>
                <p:extLst>
                  <p:ext uri="{D42A27DB-BD31-4B8C-83A1-F6EECF244321}">
                    <p14:modId xmlns:p14="http://schemas.microsoft.com/office/powerpoint/2010/main" val="1282103545"/>
                  </p:ext>
                </p:extLst>
              </p:nvPr>
            </p:nvGraphicFramePr>
            <p:xfrm>
              <a:off x="301625" y="228600"/>
              <a:ext cx="8540748" cy="4145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9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11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3610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16116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948972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b="1" u="sng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800" b="1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800" b="1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800" b="1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b="1" u="sng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800" b="1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800" b="1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u="sng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800" b="1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u="sng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800" b="1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u="sng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𝟓</m:t>
                                  </m:r>
                                </m:sub>
                              </m:sSub>
                            </m:oMath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854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u="sng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𝟔</m:t>
                                  </m:r>
                                </m:sub>
                              </m:sSub>
                            </m:oMath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854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/>
              <p:cNvGraphicFramePr>
                <a:graphicFrameLocks noGrp="1"/>
              </p:cNvGraphicFramePr>
              <p:nvPr>
                <p:ph/>
                <p:extLst>
                  <p:ext uri="{D42A27DB-BD31-4B8C-83A1-F6EECF244321}">
                    <p14:modId xmlns:p14="http://schemas.microsoft.com/office/powerpoint/2010/main" val="1282103545"/>
                  </p:ext>
                </p:extLst>
              </p:nvPr>
            </p:nvGraphicFramePr>
            <p:xfrm>
              <a:off x="301625" y="228600"/>
              <a:ext cx="8540748" cy="4145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972"/>
                    <a:gridCol w="801123"/>
                    <a:gridCol w="864096"/>
                    <a:gridCol w="1008112"/>
                    <a:gridCol w="936104"/>
                    <a:gridCol w="936104"/>
                    <a:gridCol w="936104"/>
                    <a:gridCol w="1161161"/>
                    <a:gridCol w="948972"/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19084" t="-1176" r="-851145" b="-7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2113" t="-1176" r="-685211" b="-7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58434" t="-1176" r="-486145" b="-7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88889" t="-1176" r="-427451" b="-7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85714" t="-1176" r="-324675" b="-7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85714" t="-1176" r="-224675" b="-7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55789" t="-1176" r="-82105" b="-7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2113" t="-101176" r="-685211" b="-6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85714" t="-101176" r="-324675" b="-6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85714" t="-101176" r="-224675" b="-6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55789" t="-101176" r="-82105" b="-6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98718" t="-101176" b="-631765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88889" t="-201176" r="-427451" b="-5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85714" t="-201176" r="-324675" b="-5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55789" t="-201176" r="-82105" b="-5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98718" t="-201176" b="-531765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58434" t="-301176" r="-486145" b="-4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55789" t="-301176" r="-82105" b="-4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98718" t="-301176" b="-431765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85714" t="-401176" r="-324675" b="-3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55789" t="-401176" r="-82105" b="-3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98718" t="-401176" b="-331765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85714" t="-501176" r="-224675" b="-2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98718" t="-501176" b="-231765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55789" t="-601176" r="-82105" b="-13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98718" t="-601176" b="-131765"/>
                          </a:stretch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b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98718" t="-701176" b="-3176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967AA4-D0C8-47E4-AC34-B9A79AD23456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  <p:sp>
        <p:nvSpPr>
          <p:cNvPr id="7" name="任意多边形 6"/>
          <p:cNvSpPr/>
          <p:nvPr/>
        </p:nvSpPr>
        <p:spPr bwMode="auto">
          <a:xfrm>
            <a:off x="2661920" y="538480"/>
            <a:ext cx="174881" cy="568960"/>
          </a:xfrm>
          <a:custGeom>
            <a:avLst/>
            <a:gdLst>
              <a:gd name="connsiteX0" fmla="*/ 81280 w 174881"/>
              <a:gd name="connsiteY0" fmla="*/ 568960 h 568960"/>
              <a:gd name="connsiteX1" fmla="*/ 172720 w 174881"/>
              <a:gd name="connsiteY1" fmla="*/ 182880 h 568960"/>
              <a:gd name="connsiteX2" fmla="*/ 0 w 174881"/>
              <a:gd name="connsiteY2" fmla="*/ 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881" h="568960">
                <a:moveTo>
                  <a:pt x="81280" y="568960"/>
                </a:moveTo>
                <a:cubicBezTo>
                  <a:pt x="133773" y="423333"/>
                  <a:pt x="186267" y="277707"/>
                  <a:pt x="172720" y="182880"/>
                </a:cubicBezTo>
                <a:cubicBezTo>
                  <a:pt x="159173" y="88053"/>
                  <a:pt x="79586" y="44026"/>
                  <a:pt x="0" y="0"/>
                </a:cubicBezTo>
              </a:path>
            </a:pathLst>
          </a:custGeom>
          <a:noFill/>
          <a:ln w="25400" cap="flat" cmpd="thinThick" algn="ctr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3635896" y="538480"/>
            <a:ext cx="246889" cy="1515264"/>
          </a:xfrm>
          <a:custGeom>
            <a:avLst/>
            <a:gdLst>
              <a:gd name="connsiteX0" fmla="*/ 81280 w 174881"/>
              <a:gd name="connsiteY0" fmla="*/ 568960 h 568960"/>
              <a:gd name="connsiteX1" fmla="*/ 172720 w 174881"/>
              <a:gd name="connsiteY1" fmla="*/ 182880 h 568960"/>
              <a:gd name="connsiteX2" fmla="*/ 0 w 174881"/>
              <a:gd name="connsiteY2" fmla="*/ 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881" h="568960">
                <a:moveTo>
                  <a:pt x="81280" y="568960"/>
                </a:moveTo>
                <a:cubicBezTo>
                  <a:pt x="133773" y="423333"/>
                  <a:pt x="186267" y="277707"/>
                  <a:pt x="172720" y="182880"/>
                </a:cubicBezTo>
                <a:cubicBezTo>
                  <a:pt x="159173" y="88053"/>
                  <a:pt x="79586" y="44026"/>
                  <a:pt x="0" y="0"/>
                </a:cubicBezTo>
              </a:path>
            </a:pathLst>
          </a:custGeom>
          <a:noFill/>
          <a:ln w="25400" cap="flat" cmpd="thinThick" algn="ctr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9" name="任意多边形 8"/>
          <p:cNvSpPr/>
          <p:nvPr/>
        </p:nvSpPr>
        <p:spPr bwMode="auto">
          <a:xfrm>
            <a:off x="4572000" y="538480"/>
            <a:ext cx="246889" cy="944880"/>
          </a:xfrm>
          <a:custGeom>
            <a:avLst/>
            <a:gdLst>
              <a:gd name="connsiteX0" fmla="*/ 81280 w 174881"/>
              <a:gd name="connsiteY0" fmla="*/ 568960 h 568960"/>
              <a:gd name="connsiteX1" fmla="*/ 172720 w 174881"/>
              <a:gd name="connsiteY1" fmla="*/ 182880 h 568960"/>
              <a:gd name="connsiteX2" fmla="*/ 0 w 174881"/>
              <a:gd name="connsiteY2" fmla="*/ 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881" h="568960">
                <a:moveTo>
                  <a:pt x="81280" y="568960"/>
                </a:moveTo>
                <a:cubicBezTo>
                  <a:pt x="133773" y="423333"/>
                  <a:pt x="186267" y="277707"/>
                  <a:pt x="172720" y="182880"/>
                </a:cubicBezTo>
                <a:cubicBezTo>
                  <a:pt x="159173" y="88053"/>
                  <a:pt x="79586" y="44026"/>
                  <a:pt x="0" y="0"/>
                </a:cubicBezTo>
              </a:path>
            </a:pathLst>
          </a:custGeom>
          <a:noFill/>
          <a:ln w="25400" cap="flat" cmpd="thinThick" algn="ctr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10" name="任意多边形 9"/>
          <p:cNvSpPr/>
          <p:nvPr/>
        </p:nvSpPr>
        <p:spPr bwMode="auto">
          <a:xfrm>
            <a:off x="5508104" y="538480"/>
            <a:ext cx="246889" cy="2084224"/>
          </a:xfrm>
          <a:custGeom>
            <a:avLst/>
            <a:gdLst>
              <a:gd name="connsiteX0" fmla="*/ 81280 w 174881"/>
              <a:gd name="connsiteY0" fmla="*/ 568960 h 568960"/>
              <a:gd name="connsiteX1" fmla="*/ 172720 w 174881"/>
              <a:gd name="connsiteY1" fmla="*/ 182880 h 568960"/>
              <a:gd name="connsiteX2" fmla="*/ 0 w 174881"/>
              <a:gd name="connsiteY2" fmla="*/ 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881" h="568960">
                <a:moveTo>
                  <a:pt x="81280" y="568960"/>
                </a:moveTo>
                <a:cubicBezTo>
                  <a:pt x="133773" y="423333"/>
                  <a:pt x="186267" y="277707"/>
                  <a:pt x="172720" y="182880"/>
                </a:cubicBezTo>
                <a:cubicBezTo>
                  <a:pt x="159173" y="88053"/>
                  <a:pt x="79586" y="44026"/>
                  <a:pt x="0" y="0"/>
                </a:cubicBezTo>
              </a:path>
            </a:pathLst>
          </a:custGeom>
          <a:noFill/>
          <a:ln w="25400" cap="flat" cmpd="thinThick" algn="ctr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11" name="任意多边形 10"/>
          <p:cNvSpPr/>
          <p:nvPr/>
        </p:nvSpPr>
        <p:spPr bwMode="auto">
          <a:xfrm>
            <a:off x="6444208" y="538480"/>
            <a:ext cx="246889" cy="2653184"/>
          </a:xfrm>
          <a:custGeom>
            <a:avLst/>
            <a:gdLst>
              <a:gd name="connsiteX0" fmla="*/ 81280 w 174881"/>
              <a:gd name="connsiteY0" fmla="*/ 568960 h 568960"/>
              <a:gd name="connsiteX1" fmla="*/ 172720 w 174881"/>
              <a:gd name="connsiteY1" fmla="*/ 182880 h 568960"/>
              <a:gd name="connsiteX2" fmla="*/ 0 w 174881"/>
              <a:gd name="connsiteY2" fmla="*/ 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881" h="568960">
                <a:moveTo>
                  <a:pt x="81280" y="568960"/>
                </a:moveTo>
                <a:cubicBezTo>
                  <a:pt x="133773" y="423333"/>
                  <a:pt x="186267" y="277707"/>
                  <a:pt x="172720" y="182880"/>
                </a:cubicBezTo>
                <a:cubicBezTo>
                  <a:pt x="159173" y="88053"/>
                  <a:pt x="79586" y="44026"/>
                  <a:pt x="0" y="0"/>
                </a:cubicBezTo>
              </a:path>
            </a:pathLst>
          </a:custGeom>
          <a:noFill/>
          <a:ln w="25400" cap="flat" cmpd="thinThick" algn="ctr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  <p:sp>
        <p:nvSpPr>
          <p:cNvPr id="12" name="任意多边形 11"/>
          <p:cNvSpPr/>
          <p:nvPr/>
        </p:nvSpPr>
        <p:spPr bwMode="auto">
          <a:xfrm>
            <a:off x="7452320" y="620688"/>
            <a:ext cx="318897" cy="2945224"/>
          </a:xfrm>
          <a:custGeom>
            <a:avLst/>
            <a:gdLst>
              <a:gd name="connsiteX0" fmla="*/ 81280 w 174881"/>
              <a:gd name="connsiteY0" fmla="*/ 568960 h 568960"/>
              <a:gd name="connsiteX1" fmla="*/ 172720 w 174881"/>
              <a:gd name="connsiteY1" fmla="*/ 182880 h 568960"/>
              <a:gd name="connsiteX2" fmla="*/ 0 w 174881"/>
              <a:gd name="connsiteY2" fmla="*/ 0 h 56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881" h="568960">
                <a:moveTo>
                  <a:pt x="81280" y="568960"/>
                </a:moveTo>
                <a:cubicBezTo>
                  <a:pt x="133773" y="423333"/>
                  <a:pt x="186267" y="277707"/>
                  <a:pt x="172720" y="182880"/>
                </a:cubicBezTo>
                <a:cubicBezTo>
                  <a:pt x="159173" y="88053"/>
                  <a:pt x="79586" y="44026"/>
                  <a:pt x="0" y="0"/>
                </a:cubicBezTo>
              </a:path>
            </a:pathLst>
          </a:custGeom>
          <a:noFill/>
          <a:ln w="25400" cap="flat" cmpd="thinThick" algn="ctr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rgbClr val="FFFF99"/>
              </a:solidFill>
              <a:effectLst/>
              <a:latin typeface="Arial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2854670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(1)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最右边是进入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的节点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所指行是根据它得出的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中节点临时标号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(2)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行的最小标号用下划线标注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/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下表示是根据进入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的哪个节点得到的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行的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得到的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行的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得到的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行的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得到的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行的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7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得到的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行的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8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得到的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行的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13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得到的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 rotWithShape="1">
                <a:blip r:embed="rId2"/>
                <a:stretch>
                  <a:fillRect l="-1070" t="-1765" r="-1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967AA4-D0C8-47E4-AC34-B9A79AD23456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830834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(3)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/>
                      </a:rPr>
                      <m:t>𝒍</m:t>
                    </m:r>
                    <m:r>
                      <a:rPr lang="en-US" altLang="zh-CN" b="1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altLang="zh-CN" b="1" i="1">
                        <a:latin typeface="Cambria Math"/>
                      </a:rPr>
                      <m:t>)</m:t>
                    </m:r>
                    <m:r>
                      <a:rPr lang="en-US" altLang="zh-CN" b="1" i="1"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altLang="zh-CN" b="1" i="1">
                        <a:latin typeface="Cambria Math"/>
                        <a:ea typeface="Cambria Math"/>
                      </a:rPr>
                      <m:t>𝐦𝐢𝐧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>
                            <a:latin typeface="Cambria Math"/>
                          </a:rPr>
                          <m:t>,</m:t>
                        </m:r>
                        <m:r>
                          <a:rPr lang="en-US" altLang="zh-CN" b="1" i="1">
                            <a:latin typeface="Cambria Math"/>
                          </a:rPr>
                          <m:t>𝒍</m:t>
                        </m:r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/>
                              </a:rPr>
                              <m:t>𝒊𝒋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 “/”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后面的节点与最上方的节点是邻接的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邻接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b="1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邻接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邻接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b="1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邻接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b="1" dirty="0"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邻接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邻接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>
                    <a:latin typeface="Times New Roman" pitchFamily="18" charset="0"/>
                    <a:ea typeface="楷体_GB2312" pitchFamily="49" charset="-122"/>
                  </a:rPr>
                  <a:t>Problems  </a:t>
                </a:r>
                <a:r>
                  <a:rPr lang="zh-CN" altLang="en-US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正确性</a:t>
                </a:r>
                <a:r>
                  <a:rPr lang="en-US" altLang="zh-CN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? </a:t>
                </a:r>
                <a:r>
                  <a:rPr lang="zh-CN" altLang="en-US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复杂度分析</a:t>
                </a:r>
                <a:r>
                  <a:rPr lang="en-US" altLang="zh-CN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? </a:t>
                </a:r>
                <a:r>
                  <a:rPr lang="zh-CN" altLang="en-US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算法实现</a:t>
                </a:r>
                <a:r>
                  <a:rPr lang="en-US" altLang="zh-CN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?</a:t>
                </a:r>
              </a:p>
              <a:p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 rotWithShape="1">
                <a:blip r:embed="rId2"/>
                <a:stretch>
                  <a:fillRect l="-1070" t="-1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967AA4-D0C8-47E4-AC34-B9A79AD23456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2268929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56FF33-DEF1-457C-8AEC-869442ED82FE}" type="slidenum">
              <a:rPr lang="en-US" altLang="zh-CN"/>
              <a:pPr>
                <a:defRPr/>
              </a:pPr>
              <a:t>81</a:t>
            </a:fld>
            <a:endParaRPr lang="en-US" altLang="zh-CN"/>
          </a:p>
        </p:txBody>
      </p:sp>
      <p:sp>
        <p:nvSpPr>
          <p:cNvPr id="178179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(b)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Dijkstra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算法既适合于有向图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也适合于无向图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178180" name="Picture 3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74813"/>
            <a:ext cx="7632700" cy="331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8182" name="任意多边形 1"/>
          <p:cNvSpPr>
            <a:spLocks/>
          </p:cNvSpPr>
          <p:nvPr/>
        </p:nvSpPr>
        <p:spPr bwMode="auto">
          <a:xfrm>
            <a:off x="3940175" y="2295525"/>
            <a:ext cx="223838" cy="525463"/>
          </a:xfrm>
          <a:custGeom>
            <a:avLst/>
            <a:gdLst>
              <a:gd name="T0" fmla="*/ 65856 w 224775"/>
              <a:gd name="T1" fmla="*/ 526653 h 525293"/>
              <a:gd name="T2" fmla="*/ 216382 w 224775"/>
              <a:gd name="T3" fmla="*/ 107284 h 525293"/>
              <a:gd name="T4" fmla="*/ 0 w 224775"/>
              <a:gd name="T5" fmla="*/ 0 h 52529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4775" h="525293">
                <a:moveTo>
                  <a:pt x="68094" y="525293"/>
                </a:moveTo>
                <a:cubicBezTo>
                  <a:pt x="151589" y="359923"/>
                  <a:pt x="235085" y="194553"/>
                  <a:pt x="223736" y="107004"/>
                </a:cubicBezTo>
                <a:cubicBezTo>
                  <a:pt x="212387" y="19455"/>
                  <a:pt x="106193" y="9727"/>
                  <a:pt x="0" y="0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flat" cmpd="thinThick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8183" name="任意多边形 2"/>
          <p:cNvSpPr>
            <a:spLocks/>
          </p:cNvSpPr>
          <p:nvPr/>
        </p:nvSpPr>
        <p:spPr bwMode="auto">
          <a:xfrm>
            <a:off x="3940175" y="2344738"/>
            <a:ext cx="106363" cy="407987"/>
          </a:xfrm>
          <a:custGeom>
            <a:avLst/>
            <a:gdLst>
              <a:gd name="T0" fmla="*/ 27014 w 107395"/>
              <a:gd name="T1" fmla="*/ 403985 h 408562"/>
              <a:gd name="T2" fmla="*/ 99050 w 107395"/>
              <a:gd name="T3" fmla="*/ 125044 h 408562"/>
              <a:gd name="T4" fmla="*/ 0 w 107395"/>
              <a:gd name="T5" fmla="*/ 0 h 408562"/>
              <a:gd name="T6" fmla="*/ 0 w 107395"/>
              <a:gd name="T7" fmla="*/ 0 h 408562"/>
              <a:gd name="T8" fmla="*/ 0 w 107395"/>
              <a:gd name="T9" fmla="*/ 0 h 408562"/>
              <a:gd name="T10" fmla="*/ 0 w 107395"/>
              <a:gd name="T11" fmla="*/ 0 h 40856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7395" h="408562">
                <a:moveTo>
                  <a:pt x="29183" y="408562"/>
                </a:moveTo>
                <a:cubicBezTo>
                  <a:pt x="70525" y="301558"/>
                  <a:pt x="111868" y="194554"/>
                  <a:pt x="107004" y="126460"/>
                </a:cubicBezTo>
                <a:cubicBezTo>
                  <a:pt x="102140" y="58366"/>
                  <a:pt x="0" y="0"/>
                  <a:pt x="0" y="0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flat" cmpd="thinThick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8184" name="任意多边形 3"/>
          <p:cNvSpPr>
            <a:spLocks/>
          </p:cNvSpPr>
          <p:nvPr/>
        </p:nvSpPr>
        <p:spPr bwMode="auto">
          <a:xfrm>
            <a:off x="5795963" y="2344738"/>
            <a:ext cx="225425" cy="1381125"/>
          </a:xfrm>
          <a:custGeom>
            <a:avLst/>
            <a:gdLst>
              <a:gd name="T0" fmla="*/ 87125 w 225561"/>
              <a:gd name="T1" fmla="*/ 91975045 h 817123"/>
              <a:gd name="T2" fmla="*/ 222659 w 225561"/>
              <a:gd name="T3" fmla="*/ 16424124 h 817123"/>
              <a:gd name="T4" fmla="*/ 0 w 225561"/>
              <a:gd name="T5" fmla="*/ 0 h 81712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5561" h="817123">
                <a:moveTo>
                  <a:pt x="87549" y="817123"/>
                </a:moveTo>
                <a:cubicBezTo>
                  <a:pt x="162938" y="549612"/>
                  <a:pt x="238327" y="282102"/>
                  <a:pt x="223736" y="145915"/>
                </a:cubicBezTo>
                <a:cubicBezTo>
                  <a:pt x="209145" y="9728"/>
                  <a:pt x="104572" y="4864"/>
                  <a:pt x="0" y="0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ap="flat" cmpd="thinThick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3974360" y="2261274"/>
            <a:ext cx="98111" cy="594199"/>
          </a:xfrm>
          <a:custGeom>
            <a:avLst/>
            <a:gdLst>
              <a:gd name="connsiteX0" fmla="*/ 38911 w 98111"/>
              <a:gd name="connsiteY0" fmla="*/ 594199 h 594199"/>
              <a:gd name="connsiteX1" fmla="*/ 97277 w 98111"/>
              <a:gd name="connsiteY1" fmla="*/ 78633 h 594199"/>
              <a:gd name="connsiteX2" fmla="*/ 0 w 98111"/>
              <a:gd name="connsiteY2" fmla="*/ 10539 h 594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111" h="594199">
                <a:moveTo>
                  <a:pt x="38911" y="594199"/>
                </a:moveTo>
                <a:cubicBezTo>
                  <a:pt x="71336" y="385054"/>
                  <a:pt x="103762" y="175910"/>
                  <a:pt x="97277" y="78633"/>
                </a:cubicBezTo>
                <a:cubicBezTo>
                  <a:pt x="90792" y="-18644"/>
                  <a:pt x="45396" y="-4053"/>
                  <a:pt x="0" y="10539"/>
                </a:cubicBezTo>
              </a:path>
            </a:pathLst>
          </a:custGeom>
          <a:noFill/>
          <a:ln w="57150" cap="flat" cmpd="thinThick" algn="ctr">
            <a:gradFill>
              <a:gsLst>
                <a:gs pos="0">
                  <a:srgbClr val="FF0000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triangl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任意多边形 9"/>
          <p:cNvSpPr/>
          <p:nvPr/>
        </p:nvSpPr>
        <p:spPr bwMode="auto">
          <a:xfrm>
            <a:off x="4788025" y="2295729"/>
            <a:ext cx="266824" cy="822392"/>
          </a:xfrm>
          <a:custGeom>
            <a:avLst/>
            <a:gdLst>
              <a:gd name="connsiteX0" fmla="*/ 38911 w 98111"/>
              <a:gd name="connsiteY0" fmla="*/ 594199 h 594199"/>
              <a:gd name="connsiteX1" fmla="*/ 97277 w 98111"/>
              <a:gd name="connsiteY1" fmla="*/ 78633 h 594199"/>
              <a:gd name="connsiteX2" fmla="*/ 0 w 98111"/>
              <a:gd name="connsiteY2" fmla="*/ 10539 h 594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111" h="594199">
                <a:moveTo>
                  <a:pt x="38911" y="594199"/>
                </a:moveTo>
                <a:cubicBezTo>
                  <a:pt x="71336" y="385054"/>
                  <a:pt x="103762" y="175910"/>
                  <a:pt x="97277" y="78633"/>
                </a:cubicBezTo>
                <a:cubicBezTo>
                  <a:pt x="90792" y="-18644"/>
                  <a:pt x="45396" y="-4053"/>
                  <a:pt x="0" y="10539"/>
                </a:cubicBezTo>
              </a:path>
            </a:pathLst>
          </a:custGeom>
          <a:noFill/>
          <a:ln w="57150" cap="flat" cmpd="thinThick" algn="ctr">
            <a:gradFill>
              <a:gsLst>
                <a:gs pos="0">
                  <a:srgbClr val="FF0000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triangl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1" name="任意多边形 10"/>
          <p:cNvSpPr/>
          <p:nvPr/>
        </p:nvSpPr>
        <p:spPr bwMode="auto">
          <a:xfrm>
            <a:off x="6732240" y="2378809"/>
            <a:ext cx="266824" cy="953327"/>
          </a:xfrm>
          <a:custGeom>
            <a:avLst/>
            <a:gdLst>
              <a:gd name="connsiteX0" fmla="*/ 38911 w 98111"/>
              <a:gd name="connsiteY0" fmla="*/ 594199 h 594199"/>
              <a:gd name="connsiteX1" fmla="*/ 97277 w 98111"/>
              <a:gd name="connsiteY1" fmla="*/ 78633 h 594199"/>
              <a:gd name="connsiteX2" fmla="*/ 0 w 98111"/>
              <a:gd name="connsiteY2" fmla="*/ 10539 h 594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111" h="594199">
                <a:moveTo>
                  <a:pt x="38911" y="594199"/>
                </a:moveTo>
                <a:cubicBezTo>
                  <a:pt x="71336" y="385054"/>
                  <a:pt x="103762" y="175910"/>
                  <a:pt x="97277" y="78633"/>
                </a:cubicBezTo>
                <a:cubicBezTo>
                  <a:pt x="90792" y="-18644"/>
                  <a:pt x="45396" y="-4053"/>
                  <a:pt x="0" y="10539"/>
                </a:cubicBezTo>
              </a:path>
            </a:pathLst>
          </a:custGeom>
          <a:noFill/>
          <a:ln w="57150" cap="flat" cmpd="thinThick" algn="ctr">
            <a:gradFill>
              <a:gsLst>
                <a:gs pos="0">
                  <a:srgbClr val="FF0000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triangl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2" name="任意多边形 11"/>
          <p:cNvSpPr/>
          <p:nvPr/>
        </p:nvSpPr>
        <p:spPr bwMode="auto">
          <a:xfrm>
            <a:off x="5754873" y="2344367"/>
            <a:ext cx="266824" cy="1380720"/>
          </a:xfrm>
          <a:custGeom>
            <a:avLst/>
            <a:gdLst>
              <a:gd name="connsiteX0" fmla="*/ 38911 w 98111"/>
              <a:gd name="connsiteY0" fmla="*/ 594199 h 594199"/>
              <a:gd name="connsiteX1" fmla="*/ 97277 w 98111"/>
              <a:gd name="connsiteY1" fmla="*/ 78633 h 594199"/>
              <a:gd name="connsiteX2" fmla="*/ 0 w 98111"/>
              <a:gd name="connsiteY2" fmla="*/ 10539 h 594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111" h="594199">
                <a:moveTo>
                  <a:pt x="38911" y="594199"/>
                </a:moveTo>
                <a:cubicBezTo>
                  <a:pt x="71336" y="385054"/>
                  <a:pt x="103762" y="175910"/>
                  <a:pt x="97277" y="78633"/>
                </a:cubicBezTo>
                <a:cubicBezTo>
                  <a:pt x="90792" y="-18644"/>
                  <a:pt x="45396" y="-4053"/>
                  <a:pt x="0" y="10539"/>
                </a:cubicBezTo>
              </a:path>
            </a:pathLst>
          </a:custGeom>
          <a:noFill/>
          <a:ln w="57150" cap="flat" cmpd="thinThick" algn="ctr">
            <a:gradFill>
              <a:gsLst>
                <a:gs pos="0">
                  <a:srgbClr val="FF0000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triangl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3" name="任意多边形 12"/>
          <p:cNvSpPr/>
          <p:nvPr/>
        </p:nvSpPr>
        <p:spPr bwMode="auto">
          <a:xfrm>
            <a:off x="7740352" y="2344367"/>
            <a:ext cx="338832" cy="1857384"/>
          </a:xfrm>
          <a:custGeom>
            <a:avLst/>
            <a:gdLst>
              <a:gd name="connsiteX0" fmla="*/ 38911 w 98111"/>
              <a:gd name="connsiteY0" fmla="*/ 594199 h 594199"/>
              <a:gd name="connsiteX1" fmla="*/ 97277 w 98111"/>
              <a:gd name="connsiteY1" fmla="*/ 78633 h 594199"/>
              <a:gd name="connsiteX2" fmla="*/ 0 w 98111"/>
              <a:gd name="connsiteY2" fmla="*/ 10539 h 594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111" h="594199">
                <a:moveTo>
                  <a:pt x="38911" y="594199"/>
                </a:moveTo>
                <a:cubicBezTo>
                  <a:pt x="71336" y="385054"/>
                  <a:pt x="103762" y="175910"/>
                  <a:pt x="97277" y="78633"/>
                </a:cubicBezTo>
                <a:cubicBezTo>
                  <a:pt x="90792" y="-18644"/>
                  <a:pt x="45396" y="-4053"/>
                  <a:pt x="0" y="10539"/>
                </a:cubicBezTo>
              </a:path>
            </a:pathLst>
          </a:custGeom>
          <a:noFill/>
          <a:ln w="57150" cap="flat" cmpd="thinThick" algn="ctr">
            <a:gradFill>
              <a:gsLst>
                <a:gs pos="0">
                  <a:srgbClr val="FF0000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triangl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F59F9F-700B-4672-8A8E-6F117437BCE5}" type="slidenum">
              <a:rPr lang="en-US" altLang="zh-CN"/>
              <a:pPr>
                <a:defRPr/>
              </a:pPr>
              <a:t>82</a:t>
            </a:fld>
            <a:endParaRPr lang="en-US" altLang="zh-CN"/>
          </a:p>
        </p:txBody>
      </p:sp>
      <p:sp>
        <p:nvSpPr>
          <p:cNvPr id="179203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79204" name="Oval 3"/>
          <p:cNvSpPr>
            <a:spLocks noChangeArrowheads="1"/>
          </p:cNvSpPr>
          <p:nvPr/>
        </p:nvSpPr>
        <p:spPr bwMode="auto">
          <a:xfrm>
            <a:off x="2124075" y="198913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5" name="Oval 4"/>
          <p:cNvSpPr>
            <a:spLocks noChangeArrowheads="1"/>
          </p:cNvSpPr>
          <p:nvPr/>
        </p:nvSpPr>
        <p:spPr bwMode="auto">
          <a:xfrm>
            <a:off x="3348038" y="90805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6" name="Oval 5"/>
          <p:cNvSpPr>
            <a:spLocks noChangeArrowheads="1"/>
          </p:cNvSpPr>
          <p:nvPr/>
        </p:nvSpPr>
        <p:spPr bwMode="auto">
          <a:xfrm>
            <a:off x="3348038" y="3213100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7" name="Oval 6"/>
          <p:cNvSpPr>
            <a:spLocks noChangeArrowheads="1"/>
          </p:cNvSpPr>
          <p:nvPr/>
        </p:nvSpPr>
        <p:spPr bwMode="auto">
          <a:xfrm>
            <a:off x="5219700" y="9080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8" name="Oval 7"/>
          <p:cNvSpPr>
            <a:spLocks noChangeArrowheads="1"/>
          </p:cNvSpPr>
          <p:nvPr/>
        </p:nvSpPr>
        <p:spPr bwMode="auto">
          <a:xfrm>
            <a:off x="5219700" y="32131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9" name="Oval 8"/>
          <p:cNvSpPr>
            <a:spLocks noChangeArrowheads="1"/>
          </p:cNvSpPr>
          <p:nvPr/>
        </p:nvSpPr>
        <p:spPr bwMode="auto">
          <a:xfrm>
            <a:off x="6588125" y="213360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0" name="Line 9"/>
          <p:cNvSpPr>
            <a:spLocks noChangeShapeType="1"/>
          </p:cNvSpPr>
          <p:nvPr/>
        </p:nvSpPr>
        <p:spPr bwMode="auto">
          <a:xfrm flipV="1">
            <a:off x="2268538" y="1052513"/>
            <a:ext cx="1079500" cy="9366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1" name="Line 10"/>
          <p:cNvSpPr>
            <a:spLocks noChangeShapeType="1"/>
          </p:cNvSpPr>
          <p:nvPr/>
        </p:nvSpPr>
        <p:spPr bwMode="auto">
          <a:xfrm>
            <a:off x="3419475" y="981075"/>
            <a:ext cx="0" cy="2303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2" name="Line 11"/>
          <p:cNvSpPr>
            <a:spLocks noChangeShapeType="1"/>
          </p:cNvSpPr>
          <p:nvPr/>
        </p:nvSpPr>
        <p:spPr bwMode="auto">
          <a:xfrm>
            <a:off x="2195513" y="2060575"/>
            <a:ext cx="1223962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3" name="Line 12"/>
          <p:cNvSpPr>
            <a:spLocks noChangeShapeType="1"/>
          </p:cNvSpPr>
          <p:nvPr/>
        </p:nvSpPr>
        <p:spPr bwMode="auto">
          <a:xfrm>
            <a:off x="5292725" y="981075"/>
            <a:ext cx="0" cy="2303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4" name="Line 13"/>
          <p:cNvSpPr>
            <a:spLocks noChangeShapeType="1"/>
          </p:cNvSpPr>
          <p:nvPr/>
        </p:nvSpPr>
        <p:spPr bwMode="auto">
          <a:xfrm>
            <a:off x="3419475" y="3284538"/>
            <a:ext cx="18732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5" name="Line 14"/>
          <p:cNvSpPr>
            <a:spLocks noChangeShapeType="1"/>
          </p:cNvSpPr>
          <p:nvPr/>
        </p:nvSpPr>
        <p:spPr bwMode="auto">
          <a:xfrm>
            <a:off x="3419475" y="981075"/>
            <a:ext cx="1873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6" name="Line 15"/>
          <p:cNvSpPr>
            <a:spLocks noChangeShapeType="1"/>
          </p:cNvSpPr>
          <p:nvPr/>
        </p:nvSpPr>
        <p:spPr bwMode="auto">
          <a:xfrm>
            <a:off x="3419475" y="1052513"/>
            <a:ext cx="1944688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7" name="Line 16"/>
          <p:cNvSpPr>
            <a:spLocks noChangeShapeType="1"/>
          </p:cNvSpPr>
          <p:nvPr/>
        </p:nvSpPr>
        <p:spPr bwMode="auto">
          <a:xfrm>
            <a:off x="5292725" y="981075"/>
            <a:ext cx="1366838" cy="12239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8" name="Line 17"/>
          <p:cNvSpPr>
            <a:spLocks noChangeShapeType="1"/>
          </p:cNvSpPr>
          <p:nvPr/>
        </p:nvSpPr>
        <p:spPr bwMode="auto">
          <a:xfrm flipH="1">
            <a:off x="5292725" y="2205038"/>
            <a:ext cx="1366838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9219" name="Object 18"/>
          <p:cNvGraphicFramePr>
            <a:graphicFrameLocks noChangeAspect="1"/>
          </p:cNvGraphicFramePr>
          <p:nvPr/>
        </p:nvGraphicFramePr>
        <p:xfrm>
          <a:off x="1619250" y="1844675"/>
          <a:ext cx="3635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23930" progId="Equation.3">
                  <p:embed/>
                </p:oleObj>
              </mc:Choice>
              <mc:Fallback>
                <p:oleObj name="Equation" r:id="rId2" imgW="47543" imgH="1239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844675"/>
                        <a:ext cx="3635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0" name="Object 19"/>
          <p:cNvGraphicFramePr>
            <a:graphicFrameLocks noChangeAspect="1"/>
          </p:cNvGraphicFramePr>
          <p:nvPr/>
        </p:nvGraphicFramePr>
        <p:xfrm>
          <a:off x="3170238" y="260350"/>
          <a:ext cx="43021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23930" progId="Equation.3">
                  <p:embed/>
                </p:oleObj>
              </mc:Choice>
              <mc:Fallback>
                <p:oleObj name="Equation" r:id="rId4" imgW="66723" imgH="12393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238" y="260350"/>
                        <a:ext cx="43021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1" name="Object 20"/>
          <p:cNvGraphicFramePr>
            <a:graphicFrameLocks noChangeAspect="1"/>
          </p:cNvGraphicFramePr>
          <p:nvPr/>
        </p:nvGraphicFramePr>
        <p:xfrm>
          <a:off x="3187700" y="3484563"/>
          <a:ext cx="3968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68" imgH="133380" progId="Equation.3">
                  <p:embed/>
                </p:oleObj>
              </mc:Choice>
              <mc:Fallback>
                <p:oleObj name="Equation" r:id="rId6" imgW="57268" imgH="1333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3484563"/>
                        <a:ext cx="39687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2" name="Object 21"/>
          <p:cNvGraphicFramePr>
            <a:graphicFrameLocks noChangeAspect="1"/>
          </p:cNvGraphicFramePr>
          <p:nvPr/>
        </p:nvGraphicFramePr>
        <p:xfrm>
          <a:off x="5187950" y="333375"/>
          <a:ext cx="4286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23930" progId="Equation.3">
                  <p:embed/>
                </p:oleObj>
              </mc:Choice>
              <mc:Fallback>
                <p:oleObj name="Equation" r:id="rId8" imgW="66723" imgH="12393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333375"/>
                        <a:ext cx="4286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3" name="Object 22"/>
          <p:cNvGraphicFramePr>
            <a:graphicFrameLocks noChangeAspect="1"/>
          </p:cNvGraphicFramePr>
          <p:nvPr/>
        </p:nvGraphicFramePr>
        <p:xfrm>
          <a:off x="5060950" y="3484563"/>
          <a:ext cx="3968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268" imgH="133380" progId="Equation.3">
                  <p:embed/>
                </p:oleObj>
              </mc:Choice>
              <mc:Fallback>
                <p:oleObj name="Equation" r:id="rId10" imgW="57268" imgH="1333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950" y="3484563"/>
                        <a:ext cx="39687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4" name="Object 23"/>
          <p:cNvGraphicFramePr>
            <a:graphicFrameLocks noChangeAspect="1"/>
          </p:cNvGraphicFramePr>
          <p:nvPr/>
        </p:nvGraphicFramePr>
        <p:xfrm>
          <a:off x="6845300" y="1828800"/>
          <a:ext cx="4286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723" imgH="133380" progId="Equation.3">
                  <p:embed/>
                </p:oleObj>
              </mc:Choice>
              <mc:Fallback>
                <p:oleObj name="Equation" r:id="rId12" imgW="66723" imgH="1333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1828800"/>
                        <a:ext cx="42862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5" name="Object 24"/>
          <p:cNvGraphicFramePr>
            <a:graphicFrameLocks noChangeAspect="1"/>
          </p:cNvGraphicFramePr>
          <p:nvPr/>
        </p:nvGraphicFramePr>
        <p:xfrm>
          <a:off x="2405063" y="973138"/>
          <a:ext cx="2317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66690" progId="Equation.3">
                  <p:embed/>
                </p:oleObj>
              </mc:Choice>
              <mc:Fallback>
                <p:oleObj name="Equation" r:id="rId14" imgW="0" imgH="6669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973138"/>
                        <a:ext cx="23177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6" name="Object 25"/>
          <p:cNvGraphicFramePr>
            <a:graphicFrameLocks noChangeAspect="1"/>
          </p:cNvGraphicFramePr>
          <p:nvPr/>
        </p:nvGraphicFramePr>
        <p:xfrm>
          <a:off x="3009900" y="1844675"/>
          <a:ext cx="3302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634" imgH="66690" progId="Equation.3">
                  <p:embed/>
                </p:oleObj>
              </mc:Choice>
              <mc:Fallback>
                <p:oleObj name="Equation" r:id="rId16" imgW="28634" imgH="6669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1844675"/>
                        <a:ext cx="3302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7" name="Object 26"/>
          <p:cNvGraphicFramePr>
            <a:graphicFrameLocks noChangeAspect="1"/>
          </p:cNvGraphicFramePr>
          <p:nvPr/>
        </p:nvGraphicFramePr>
        <p:xfrm>
          <a:off x="2435225" y="2636838"/>
          <a:ext cx="3302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634" imgH="66690" progId="Equation.3">
                  <p:embed/>
                </p:oleObj>
              </mc:Choice>
              <mc:Fallback>
                <p:oleObj name="Equation" r:id="rId18" imgW="28634" imgH="6669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2636838"/>
                        <a:ext cx="3302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8" name="Object 27"/>
          <p:cNvGraphicFramePr>
            <a:graphicFrameLocks noChangeAspect="1"/>
          </p:cNvGraphicFramePr>
          <p:nvPr/>
        </p:nvGraphicFramePr>
        <p:xfrm>
          <a:off x="4211638" y="3429000"/>
          <a:ext cx="2317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66690" progId="Equation.3">
                  <p:embed/>
                </p:oleObj>
              </mc:Choice>
              <mc:Fallback>
                <p:oleObj name="Equation" r:id="rId20" imgW="0" imgH="6669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429000"/>
                        <a:ext cx="23177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9" name="Object 28"/>
          <p:cNvGraphicFramePr>
            <a:graphicFrameLocks noChangeAspect="1"/>
          </p:cNvGraphicFramePr>
          <p:nvPr/>
        </p:nvGraphicFramePr>
        <p:xfrm>
          <a:off x="4322763" y="1684338"/>
          <a:ext cx="2984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179" imgH="85860" progId="Equation.3">
                  <p:embed/>
                </p:oleObj>
              </mc:Choice>
              <mc:Fallback>
                <p:oleObj name="Equation" r:id="rId22" imgW="19179" imgH="858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763" y="1684338"/>
                        <a:ext cx="2984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30" name="Object 29"/>
          <p:cNvGraphicFramePr>
            <a:graphicFrameLocks noChangeAspect="1"/>
          </p:cNvGraphicFramePr>
          <p:nvPr/>
        </p:nvGraphicFramePr>
        <p:xfrm>
          <a:off x="4162425" y="533400"/>
          <a:ext cx="3317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8634" imgH="85860" progId="Equation.3">
                  <p:embed/>
                </p:oleObj>
              </mc:Choice>
              <mc:Fallback>
                <p:oleObj name="Equation" r:id="rId24" imgW="28634" imgH="858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533400"/>
                        <a:ext cx="33178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31" name="Object 30"/>
          <p:cNvGraphicFramePr>
            <a:graphicFrameLocks noChangeAspect="1"/>
          </p:cNvGraphicFramePr>
          <p:nvPr/>
        </p:nvGraphicFramePr>
        <p:xfrm>
          <a:off x="5330825" y="1828800"/>
          <a:ext cx="2984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179" imgH="85860" progId="Equation.3">
                  <p:embed/>
                </p:oleObj>
              </mc:Choice>
              <mc:Fallback>
                <p:oleObj name="Equation" r:id="rId26" imgW="19179" imgH="858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825" y="1828800"/>
                        <a:ext cx="2984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32" name="Object 31"/>
          <p:cNvGraphicFramePr>
            <a:graphicFrameLocks noChangeAspect="1"/>
          </p:cNvGraphicFramePr>
          <p:nvPr/>
        </p:nvGraphicFramePr>
        <p:xfrm>
          <a:off x="6035675" y="1125538"/>
          <a:ext cx="3302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8634" imgH="66690" progId="Equation.3">
                  <p:embed/>
                </p:oleObj>
              </mc:Choice>
              <mc:Fallback>
                <p:oleObj name="Equation" r:id="rId28" imgW="28634" imgH="6669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675" y="1125538"/>
                        <a:ext cx="3302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33" name="Object 32"/>
          <p:cNvGraphicFramePr>
            <a:graphicFrameLocks noChangeAspect="1"/>
          </p:cNvGraphicFramePr>
          <p:nvPr/>
        </p:nvGraphicFramePr>
        <p:xfrm>
          <a:off x="6084888" y="2692400"/>
          <a:ext cx="3302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8634" imgH="85860" progId="Equation.3">
                  <p:embed/>
                </p:oleObj>
              </mc:Choice>
              <mc:Fallback>
                <p:oleObj name="Equation" r:id="rId30" imgW="28634" imgH="8586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692400"/>
                        <a:ext cx="3302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053789" y="5288736"/>
                <a:ext cx="5801525" cy="666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/>
                        </a:rPr>
                        <m:t>𝒍</m:t>
                      </m:r>
                      <m:r>
                        <a:rPr lang="en-US" altLang="zh-CN" b="1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CN" b="1" i="1">
                              <a:latin typeface="Cambria Math"/>
                            </a:rPr>
                            <m:t>𝒋</m:t>
                          </m:r>
                        </m:sub>
                      </m:sSub>
                      <m:r>
                        <a:rPr lang="en-US" altLang="zh-CN" b="1" i="1">
                          <a:latin typeface="Cambria Math"/>
                        </a:rPr>
                        <m:t>)</m:t>
                      </m:r>
                      <m:r>
                        <a:rPr lang="en-US" altLang="zh-CN" b="1" i="1">
                          <a:latin typeface="Cambria Math"/>
                          <a:ea typeface="Cambria Math"/>
                        </a:rPr>
                        <m:t>←</m:t>
                      </m:r>
                      <m:r>
                        <a:rPr lang="en-US" altLang="zh-CN" b="1" i="1">
                          <a:latin typeface="Cambria Math"/>
                          <a:ea typeface="Cambria Math"/>
                        </a:rPr>
                        <m:t>𝐦𝐢𝐧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/>
                            </a:rPr>
                            <m:t>𝒍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>
                              <a:latin typeface="Cambria Math"/>
                            </a:rPr>
                            <m:t>,</m:t>
                          </m:r>
                          <m:r>
                            <a:rPr lang="en-US" altLang="zh-CN" b="1" i="1">
                              <a:latin typeface="Cambria Math"/>
                            </a:rPr>
                            <m:t>𝒍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89" y="5288736"/>
                <a:ext cx="5801525" cy="666657"/>
              </a:xfrm>
              <a:prstGeom prst="rect">
                <a:avLst/>
              </a:prstGeom>
              <a:blipFill rotWithShape="1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203848" y="4225442"/>
            <a:ext cx="2693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6-39(b)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5F628D-CF5F-4134-8C0F-0E52D1246E49}" type="slidenum">
              <a:rPr lang="en-US" altLang="zh-CN"/>
              <a:pPr>
                <a:defRPr/>
              </a:pPr>
              <a:t>83</a:t>
            </a:fld>
            <a:endParaRPr lang="en-US" altLang="zh-CN"/>
          </a:p>
        </p:txBody>
      </p:sp>
      <p:sp>
        <p:nvSpPr>
          <p:cNvPr id="273410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81252" name="Rectangle 3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/>
              <a:t>小结与作业</a:t>
            </a:r>
          </a:p>
        </p:txBody>
      </p:sp>
      <p:grpSp>
        <p:nvGrpSpPr>
          <p:cNvPr id="181253" name="Group 4"/>
          <p:cNvGrpSpPr>
            <a:grpSpLocks/>
          </p:cNvGrpSpPr>
          <p:nvPr/>
        </p:nvGrpSpPr>
        <p:grpSpPr bwMode="auto">
          <a:xfrm>
            <a:off x="1547813" y="1916113"/>
            <a:ext cx="5181600" cy="508000"/>
            <a:chOff x="1419" y="1480"/>
            <a:chExt cx="3575" cy="363"/>
          </a:xfrm>
        </p:grpSpPr>
        <p:grpSp>
          <p:nvGrpSpPr>
            <p:cNvPr id="181270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73414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73415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dirty="0">
                    <a:solidFill>
                      <a:srgbClr val="0033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赋权图</a:t>
                </a:r>
              </a:p>
            </p:txBody>
          </p:sp>
        </p:grpSp>
        <p:sp>
          <p:nvSpPr>
            <p:cNvPr id="273416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1272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1254" name="Group 10"/>
          <p:cNvGrpSpPr>
            <a:grpSpLocks/>
          </p:cNvGrpSpPr>
          <p:nvPr/>
        </p:nvGrpSpPr>
        <p:grpSpPr bwMode="auto">
          <a:xfrm>
            <a:off x="2051050" y="3573463"/>
            <a:ext cx="5181600" cy="508000"/>
            <a:chOff x="1419" y="1480"/>
            <a:chExt cx="3575" cy="363"/>
          </a:xfrm>
        </p:grpSpPr>
        <p:grpSp>
          <p:nvGrpSpPr>
            <p:cNvPr id="181265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73420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73421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zh-CN" altLang="en-US" dirty="0">
                    <a:solidFill>
                      <a:srgbClr val="0033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最短路径</a:t>
                </a:r>
              </a:p>
            </p:txBody>
          </p:sp>
        </p:grpSp>
        <p:sp>
          <p:nvSpPr>
            <p:cNvPr id="273422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1267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1255" name="AutoShape 16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181257" name="Group 18"/>
          <p:cNvGrpSpPr>
            <a:grpSpLocks/>
          </p:cNvGrpSpPr>
          <p:nvPr/>
        </p:nvGrpSpPr>
        <p:grpSpPr bwMode="auto">
          <a:xfrm>
            <a:off x="1116013" y="5105403"/>
            <a:ext cx="5380037" cy="1619251"/>
            <a:chOff x="1152" y="2845"/>
            <a:chExt cx="3408" cy="1020"/>
          </a:xfrm>
        </p:grpSpPr>
        <p:grpSp>
          <p:nvGrpSpPr>
            <p:cNvPr id="181258" name="Group 1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81262" name="AutoShape 2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1263" name="AutoShape 2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3430" name="AutoShape 22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81259" name="Line 2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60" name="Text Box 24"/>
            <p:cNvSpPr txBox="1">
              <a:spLocks noChangeArrowheads="1"/>
            </p:cNvSpPr>
            <p:nvPr/>
          </p:nvSpPr>
          <p:spPr bwMode="auto">
            <a:xfrm>
              <a:off x="2201" y="3497"/>
              <a:ext cx="135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习题</a:t>
              </a:r>
              <a:r>
                <a:rPr lang="en-US" altLang="zh-CN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6.7    3</a:t>
              </a:r>
            </a:p>
          </p:txBody>
        </p:sp>
        <p:sp>
          <p:nvSpPr>
            <p:cNvPr id="181261" name="Text Box 25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rgbClr val="FFFF99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作业</a:t>
              </a:r>
            </a:p>
          </p:txBody>
        </p:sp>
      </p:grpSp>
      <p:sp>
        <p:nvSpPr>
          <p:cNvPr id="2" name="Text Box 30">
            <a:extLst>
              <a:ext uri="{FF2B5EF4-FFF2-40B4-BE49-F238E27FC236}">
                <a16:creationId xmlns:a16="http://schemas.microsoft.com/office/drawing/2014/main" id="{5C7E008B-FA98-0D8C-0631-90E407509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657" y="5084763"/>
            <a:ext cx="30346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习题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6.5    2     11</a:t>
            </a:r>
          </a:p>
        </p:txBody>
      </p:sp>
      <p:sp>
        <p:nvSpPr>
          <p:cNvPr id="3" name="Text Box 36">
            <a:extLst>
              <a:ext uri="{FF2B5EF4-FFF2-40B4-BE49-F238E27FC236}">
                <a16:creationId xmlns:a16="http://schemas.microsoft.com/office/drawing/2014/main" id="{416FBD9A-9C01-C7AC-D3BF-19BD398A2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800" y="5653112"/>
            <a:ext cx="21339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FF99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习题</a:t>
            </a:r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6.6    3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B71B71-53E7-6B84-323C-6DE80047BA42}"/>
              </a:ext>
            </a:extLst>
          </p:cNvPr>
          <p:cNvSpPr txBox="1"/>
          <p:nvPr/>
        </p:nvSpPr>
        <p:spPr>
          <a:xfrm>
            <a:off x="773446" y="5682753"/>
            <a:ext cx="2015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dirty="0"/>
              <a:t>Week 12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天坛月色">
  <a:themeElements>
    <a:clrScheme name="天坛月色 1">
      <a:dk1>
        <a:srgbClr val="DDDDDD"/>
      </a:dk1>
      <a:lt1>
        <a:srgbClr val="FFFFFF"/>
      </a:lt1>
      <a:dk2>
        <a:srgbClr val="3366CC"/>
      </a:dk2>
      <a:lt2>
        <a:srgbClr val="FFFF66"/>
      </a:lt2>
      <a:accent1>
        <a:srgbClr val="879CC8"/>
      </a:accent1>
      <a:accent2>
        <a:srgbClr val="C0C0C0"/>
      </a:accent2>
      <a:accent3>
        <a:srgbClr val="ADB8E2"/>
      </a:accent3>
      <a:accent4>
        <a:srgbClr val="DADADA"/>
      </a:accent4>
      <a:accent5>
        <a:srgbClr val="C3CBE0"/>
      </a:accent5>
      <a:accent6>
        <a:srgbClr val="AEAEAE"/>
      </a:accent6>
      <a:hlink>
        <a:srgbClr val="66FFFF"/>
      </a:hlink>
      <a:folHlink>
        <a:srgbClr val="CCFFCC"/>
      </a:folHlink>
    </a:clrScheme>
    <a:fontScheme name="天坛月色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accent1">
                <a:alpha val="17000"/>
              </a:schemeClr>
            </a:gs>
            <a:gs pos="100000">
              <a:srgbClr val="0000CC"/>
            </a:gs>
          </a:gsLst>
          <a:lin ang="2700000" scaled="1"/>
        </a:gradFill>
        <a:ln w="57150" cap="flat" cmpd="thinThick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天坛月色 1">
        <a:dk1>
          <a:srgbClr val="DDDDDD"/>
        </a:dk1>
        <a:lt1>
          <a:srgbClr val="FFFFFF"/>
        </a:lt1>
        <a:dk2>
          <a:srgbClr val="3366CC"/>
        </a:dk2>
        <a:lt2>
          <a:srgbClr val="FFFF66"/>
        </a:lt2>
        <a:accent1>
          <a:srgbClr val="879CC8"/>
        </a:accent1>
        <a:accent2>
          <a:srgbClr val="C0C0C0"/>
        </a:accent2>
        <a:accent3>
          <a:srgbClr val="ADB8E2"/>
        </a:accent3>
        <a:accent4>
          <a:srgbClr val="DADADA"/>
        </a:accent4>
        <a:accent5>
          <a:srgbClr val="C3CBE0"/>
        </a:accent5>
        <a:accent6>
          <a:srgbClr val="AEAEAE"/>
        </a:accent6>
        <a:hlink>
          <a:srgbClr val="66FFFF"/>
        </a:hlink>
        <a:folHlink>
          <a:srgbClr val="CC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2">
        <a:dk1>
          <a:srgbClr val="C0C0C0"/>
        </a:dk1>
        <a:lt1>
          <a:srgbClr val="FFFFFF"/>
        </a:lt1>
        <a:dk2>
          <a:srgbClr val="006699"/>
        </a:dk2>
        <a:lt2>
          <a:srgbClr val="FFFFFF"/>
        </a:lt2>
        <a:accent1>
          <a:srgbClr val="93B090"/>
        </a:accent1>
        <a:accent2>
          <a:srgbClr val="CCECFF"/>
        </a:accent2>
        <a:accent3>
          <a:srgbClr val="AAB8CA"/>
        </a:accent3>
        <a:accent4>
          <a:srgbClr val="DADADA"/>
        </a:accent4>
        <a:accent5>
          <a:srgbClr val="C8D4C6"/>
        </a:accent5>
        <a:accent6>
          <a:srgbClr val="B9D6E7"/>
        </a:accent6>
        <a:hlink>
          <a:srgbClr val="FFFF66"/>
        </a:hlink>
        <a:folHlink>
          <a:srgbClr val="66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3">
        <a:dk1>
          <a:srgbClr val="DDDDDD"/>
        </a:dk1>
        <a:lt1>
          <a:srgbClr val="FFFFFF"/>
        </a:lt1>
        <a:dk2>
          <a:srgbClr val="7B7BA7"/>
        </a:dk2>
        <a:lt2>
          <a:srgbClr val="FFFF66"/>
        </a:lt2>
        <a:accent1>
          <a:srgbClr val="78AE90"/>
        </a:accent1>
        <a:accent2>
          <a:srgbClr val="B8B8D0"/>
        </a:accent2>
        <a:accent3>
          <a:srgbClr val="BFBFD0"/>
        </a:accent3>
        <a:accent4>
          <a:srgbClr val="DADADA"/>
        </a:accent4>
        <a:accent5>
          <a:srgbClr val="BED3C6"/>
        </a:accent5>
        <a:accent6>
          <a:srgbClr val="A6A6BC"/>
        </a:accent6>
        <a:hlink>
          <a:srgbClr val="66FFCC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4">
        <a:dk1>
          <a:srgbClr val="DDDDDD"/>
        </a:dk1>
        <a:lt1>
          <a:srgbClr val="FFFF00"/>
        </a:lt1>
        <a:dk2>
          <a:srgbClr val="6600CC"/>
        </a:dk2>
        <a:lt2>
          <a:srgbClr val="FFFFFF"/>
        </a:lt2>
        <a:accent1>
          <a:srgbClr val="7296B6"/>
        </a:accent1>
        <a:accent2>
          <a:srgbClr val="FF6600"/>
        </a:accent2>
        <a:accent3>
          <a:srgbClr val="B8AAE2"/>
        </a:accent3>
        <a:accent4>
          <a:srgbClr val="DADA00"/>
        </a:accent4>
        <a:accent5>
          <a:srgbClr val="BCC9D7"/>
        </a:accent5>
        <a:accent6>
          <a:srgbClr val="E75C00"/>
        </a:accent6>
        <a:hlink>
          <a:srgbClr val="99FF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5">
        <a:dk1>
          <a:srgbClr val="DDDDDD"/>
        </a:dk1>
        <a:lt1>
          <a:srgbClr val="FFFFFF"/>
        </a:lt1>
        <a:dk2>
          <a:srgbClr val="0099CC"/>
        </a:dk2>
        <a:lt2>
          <a:srgbClr val="CCECFF"/>
        </a:lt2>
        <a:accent1>
          <a:srgbClr val="DD8A79"/>
        </a:accent1>
        <a:accent2>
          <a:srgbClr val="339966"/>
        </a:accent2>
        <a:accent3>
          <a:srgbClr val="AACAE2"/>
        </a:accent3>
        <a:accent4>
          <a:srgbClr val="DADADA"/>
        </a:accent4>
        <a:accent5>
          <a:srgbClr val="EBC4BE"/>
        </a:accent5>
        <a:accent6>
          <a:srgbClr val="2D8A5C"/>
        </a:accent6>
        <a:hlink>
          <a:srgbClr val="FFFF66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6">
        <a:dk1>
          <a:srgbClr val="C0C0C0"/>
        </a:dk1>
        <a:lt1>
          <a:srgbClr val="FFFFFF"/>
        </a:lt1>
        <a:dk2>
          <a:srgbClr val="536DAD"/>
        </a:dk2>
        <a:lt2>
          <a:srgbClr val="66FF66"/>
        </a:lt2>
        <a:accent1>
          <a:srgbClr val="C48AB6"/>
        </a:accent1>
        <a:accent2>
          <a:srgbClr val="FFCCFF"/>
        </a:accent2>
        <a:accent3>
          <a:srgbClr val="B3BAD3"/>
        </a:accent3>
        <a:accent4>
          <a:srgbClr val="DADADA"/>
        </a:accent4>
        <a:accent5>
          <a:srgbClr val="DEC4D7"/>
        </a:accent5>
        <a:accent6>
          <a:srgbClr val="E7B9E7"/>
        </a:accent6>
        <a:hlink>
          <a:srgbClr val="00FFFF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7">
        <a:dk1>
          <a:srgbClr val="C0C0C0"/>
        </a:dk1>
        <a:lt1>
          <a:srgbClr val="FFFF00"/>
        </a:lt1>
        <a:dk2>
          <a:srgbClr val="996633"/>
        </a:dk2>
        <a:lt2>
          <a:srgbClr val="66FFFF"/>
        </a:lt2>
        <a:accent1>
          <a:srgbClr val="CD7C73"/>
        </a:accent1>
        <a:accent2>
          <a:srgbClr val="B6B6CE"/>
        </a:accent2>
        <a:accent3>
          <a:srgbClr val="CAB8AD"/>
        </a:accent3>
        <a:accent4>
          <a:srgbClr val="DADA00"/>
        </a:accent4>
        <a:accent5>
          <a:srgbClr val="E3BFBC"/>
        </a:accent5>
        <a:accent6>
          <a:srgbClr val="A5A5BA"/>
        </a:accent6>
        <a:hlink>
          <a:srgbClr val="000000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8">
        <a:dk1>
          <a:srgbClr val="C0C0C0"/>
        </a:dk1>
        <a:lt1>
          <a:srgbClr val="FFFF66"/>
        </a:lt1>
        <a:dk2>
          <a:srgbClr val="008080"/>
        </a:dk2>
        <a:lt2>
          <a:srgbClr val="FFFF00"/>
        </a:lt2>
        <a:accent1>
          <a:srgbClr val="859CC9"/>
        </a:accent1>
        <a:accent2>
          <a:srgbClr val="FFCCFF"/>
        </a:accent2>
        <a:accent3>
          <a:srgbClr val="AAC0C0"/>
        </a:accent3>
        <a:accent4>
          <a:srgbClr val="DADA56"/>
        </a:accent4>
        <a:accent5>
          <a:srgbClr val="C2CBE1"/>
        </a:accent5>
        <a:accent6>
          <a:srgbClr val="E7B9E7"/>
        </a:accent6>
        <a:hlink>
          <a:srgbClr val="99FFCC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7867</TotalTime>
  <Words>3970</Words>
  <Application>Microsoft Office PowerPoint</Application>
  <PresentationFormat>全屏显示(4:3)</PresentationFormat>
  <Paragraphs>503</Paragraphs>
  <Slides>84</Slides>
  <Notes>3</Notes>
  <HiddenSlides>6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84</vt:i4>
      </vt:variant>
    </vt:vector>
  </HeadingPairs>
  <TitlesOfParts>
    <vt:vector size="98" baseType="lpstr">
      <vt:lpstr>Gulim</vt:lpstr>
      <vt:lpstr>楷体</vt:lpstr>
      <vt:lpstr>楷体_GB2312</vt:lpstr>
      <vt:lpstr>宋体</vt:lpstr>
      <vt:lpstr>宋体</vt:lpstr>
      <vt:lpstr>Arial</vt:lpstr>
      <vt:lpstr>Cambria Math</vt:lpstr>
      <vt:lpstr>Times New Roman</vt:lpstr>
      <vt:lpstr>Wingdings 2</vt:lpstr>
      <vt:lpstr>自定义设计方案</vt:lpstr>
      <vt:lpstr>1_自定义设计方案</vt:lpstr>
      <vt:lpstr>天坛月色</vt:lpstr>
      <vt:lpstr>Equation</vt:lpstr>
      <vt:lpstr>公式</vt:lpstr>
      <vt:lpstr>PowerPoint 演示文稿</vt:lpstr>
      <vt:lpstr>6.5 图的连通性</vt:lpstr>
      <vt:lpstr>6.5  图的连通性</vt:lpstr>
      <vt:lpstr>6.5  图的连通性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6.5  图的连通性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6.6 图的矩阵表示</vt:lpstr>
      <vt:lpstr>6.6 图的矩阵表示</vt:lpstr>
      <vt:lpstr>6.6  图的矩阵表示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6.7 赋权图与最短路径</vt:lpstr>
      <vt:lpstr>6.7 赋权图与最短路径</vt:lpstr>
      <vt:lpstr>6.7  赋权图及最短路径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</vt:vector>
  </TitlesOfParts>
  <Company>fdf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邓辉文</dc:creator>
  <cp:lastModifiedBy>Xia Zeng</cp:lastModifiedBy>
  <cp:revision>264</cp:revision>
  <dcterms:created xsi:type="dcterms:W3CDTF">2007-10-03T12:58:11Z</dcterms:created>
  <dcterms:modified xsi:type="dcterms:W3CDTF">2025-05-14T09:18:46Z</dcterms:modified>
</cp:coreProperties>
</file>