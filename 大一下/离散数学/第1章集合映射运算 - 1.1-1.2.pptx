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8"/>
  </p:notesMasterIdLst>
  <p:handoutMasterIdLst>
    <p:handoutMasterId r:id="rId89"/>
  </p:handoutMasterIdLst>
  <p:sldIdLst>
    <p:sldId id="277" r:id="rId2"/>
    <p:sldId id="436" r:id="rId3"/>
    <p:sldId id="267" r:id="rId4"/>
    <p:sldId id="287" r:id="rId5"/>
    <p:sldId id="278" r:id="rId6"/>
    <p:sldId id="293" r:id="rId7"/>
    <p:sldId id="288" r:id="rId8"/>
    <p:sldId id="279" r:id="rId9"/>
    <p:sldId id="280" r:id="rId10"/>
    <p:sldId id="289" r:id="rId11"/>
    <p:sldId id="534" r:id="rId12"/>
    <p:sldId id="281" r:id="rId13"/>
    <p:sldId id="533" r:id="rId14"/>
    <p:sldId id="282" r:id="rId15"/>
    <p:sldId id="290" r:id="rId16"/>
    <p:sldId id="283" r:id="rId17"/>
    <p:sldId id="291" r:id="rId18"/>
    <p:sldId id="284" r:id="rId19"/>
    <p:sldId id="285" r:id="rId20"/>
    <p:sldId id="286" r:id="rId21"/>
    <p:sldId id="528" r:id="rId22"/>
    <p:sldId id="299" r:id="rId23"/>
    <p:sldId id="300" r:id="rId24"/>
    <p:sldId id="301" r:id="rId25"/>
    <p:sldId id="302" r:id="rId26"/>
    <p:sldId id="303" r:id="rId27"/>
    <p:sldId id="304" r:id="rId28"/>
    <p:sldId id="306" r:id="rId29"/>
    <p:sldId id="307" r:id="rId30"/>
    <p:sldId id="308" r:id="rId31"/>
    <p:sldId id="536" r:id="rId32"/>
    <p:sldId id="310" r:id="rId33"/>
    <p:sldId id="311" r:id="rId34"/>
    <p:sldId id="312" r:id="rId35"/>
    <p:sldId id="538" r:id="rId36"/>
    <p:sldId id="314" r:id="rId37"/>
    <p:sldId id="315" r:id="rId38"/>
    <p:sldId id="316" r:id="rId39"/>
    <p:sldId id="318" r:id="rId40"/>
    <p:sldId id="319" r:id="rId41"/>
    <p:sldId id="320" r:id="rId42"/>
    <p:sldId id="321" r:id="rId43"/>
    <p:sldId id="323" r:id="rId44"/>
    <p:sldId id="324" r:id="rId45"/>
    <p:sldId id="325" r:id="rId46"/>
    <p:sldId id="326" r:id="rId47"/>
    <p:sldId id="327" r:id="rId48"/>
    <p:sldId id="328" r:id="rId49"/>
    <p:sldId id="329" r:id="rId50"/>
    <p:sldId id="330" r:id="rId51"/>
    <p:sldId id="332" r:id="rId52"/>
    <p:sldId id="543" r:id="rId53"/>
    <p:sldId id="333" r:id="rId54"/>
    <p:sldId id="334" r:id="rId55"/>
    <p:sldId id="335" r:id="rId56"/>
    <p:sldId id="539" r:id="rId57"/>
    <p:sldId id="338" r:id="rId58"/>
    <p:sldId id="339" r:id="rId59"/>
    <p:sldId id="340" r:id="rId60"/>
    <p:sldId id="341" r:id="rId61"/>
    <p:sldId id="342" r:id="rId62"/>
    <p:sldId id="540" r:id="rId63"/>
    <p:sldId id="343" r:id="rId64"/>
    <p:sldId id="344" r:id="rId65"/>
    <p:sldId id="345" r:id="rId66"/>
    <p:sldId id="503" r:id="rId67"/>
    <p:sldId id="504" r:id="rId68"/>
    <p:sldId id="505" r:id="rId69"/>
    <p:sldId id="509" r:id="rId70"/>
    <p:sldId id="510" r:id="rId71"/>
    <p:sldId id="511" r:id="rId72"/>
    <p:sldId id="512" r:id="rId73"/>
    <p:sldId id="513" r:id="rId74"/>
    <p:sldId id="514" r:id="rId75"/>
    <p:sldId id="515" r:id="rId76"/>
    <p:sldId id="516" r:id="rId77"/>
    <p:sldId id="517" r:id="rId78"/>
    <p:sldId id="518" r:id="rId79"/>
    <p:sldId id="541" r:id="rId80"/>
    <p:sldId id="519" r:id="rId81"/>
    <p:sldId id="520" r:id="rId82"/>
    <p:sldId id="521" r:id="rId83"/>
    <p:sldId id="522" r:id="rId84"/>
    <p:sldId id="523" r:id="rId85"/>
    <p:sldId id="524" r:id="rId86"/>
    <p:sldId id="542" r:id="rId8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72" autoAdjust="0"/>
    <p:restoredTop sz="89858" autoAdjust="0"/>
  </p:normalViewPr>
  <p:slideViewPr>
    <p:cSldViewPr>
      <p:cViewPr varScale="1">
        <p:scale>
          <a:sx n="80" d="100"/>
          <a:sy n="80" d="100"/>
        </p:scale>
        <p:origin x="148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handoutMaster" Target="handoutMasters/handout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4695A5-8679-E646-B59C-2E6D5E84153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AC801C-E603-9E46-BF6C-06624626D3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A16D7EC9-9748-7D49-9E9A-55FBFDAE5A2F}" type="datetimeFigureOut">
              <a:rPr lang="en-US"/>
              <a:pPr>
                <a:defRPr/>
              </a:pPr>
              <a:t>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8ED4AD-8E4A-E44F-9246-A62411B2CA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B42E58-B9A9-8243-A9B3-EDD0EE52782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C0B85BB-DF87-9D4D-8C6C-730DF0BF316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BFC719A-E23C-A04C-8769-6BD6C7E026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E95E83A-25C4-F04A-9E26-9A364969E91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7A53800-4988-E943-B09F-65D1A3379681}" type="datetimeFigureOut">
              <a:rPr lang="zh-CN" altLang="en-US"/>
              <a:pPr>
                <a:defRPr/>
              </a:pPr>
              <a:t>2025/2/25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DF76A675-2BCC-D745-9743-F2EDD9B962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3E8EE318-0A68-CB45-9B8D-32A1236A0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BFBA78-B6F5-574E-A50F-5392B9D8330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CC0D29-F007-5E4F-9DDB-5B7B9D36D0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B0664DFA-B5B9-FF48-94A9-33A71E06C8C8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idu.com/s?sa=re_dqa_generate&amp;wd=MathWorld&amp;rsv_pq=a9425eb000b52922&amp;oq=Mathworld%E6%98%AF&amp;rsv_t=9fc3VwOrU9jCiC8PRlEBn/jbB6AnatG38mDSE/up58JUvibQYtwsd328XEY&amp;tn=baidu&amp;ie=utf-8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baidu.com/s?sa=re_dqa_generate&amp;wd=Mathematica&amp;rsv_pq=a9425eb000b52922&amp;oq=Mathworld%E6%98%AF&amp;rsv_t=9fc3VwOrU9jCiC8PRlEBn/jbB6AnatG38mDSE/up58JUvibQYtwsd328XEY&amp;tn=baidu&amp;ie=utf-8" TargetMode="External"/><Relationship Id="rId4" Type="http://schemas.openxmlformats.org/officeDocument/2006/relationships/hyperlink" Target="https://www.baidu.com/s?sa=re_dqa_generate&amp;wd=%E6%B2%83%E5%A4%AB%E6%9C%97%E7%A0%94%E7%A9%B6%E5%85%AC%E5%8F%B8&amp;rsv_pq=a9425eb000b52922&amp;oq=Mathworld%E6%98%AF&amp;rsv_t=9fc3VwOrU9jCiC8PRlEBn/jbB6AnatG38mDSE/up58JUvibQYtwsd328XEY&amp;tn=baidu&amp;ie=utf-8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idu.com/s?rsv_idx=1&amp;wd=%E7%AC%AC%E4%B8%89%E6%AC%A1%E6%95%B0%E5%AD%A6%E5%8D%B1%E6%9C%BA&amp;fenlei=256&amp;usm=1&amp;ie=utf-8&amp;rsv_pq=f24f177100af15cc&amp;oq=%E7%AC%AC%E4%B8%89%E6%AC%A1%E6%95%B0%E5%AD%A6%E5%8D%B1%E6%9C%BA%E6%9C%80%E7%BB%88%E5%A6%82%E4%BD%95%E8%A7%A3%E5%86%B3%E4%BA%86&amp;rsv_t=e204lt8KvOWsV1%2BLy51%2BYzM%2BRa%2F7SIIzBM3GWCoWwt6LsrAw2c8ZYLxNvgI&amp;sa=re_dqa_generate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baidu.com/s?rsv_idx=1&amp;wd=%E5%85%AC%E7%90%86%E5%8C%96%E9%9B%86%E5%90%88%E7%B3%BB%E7%BB%9F&amp;fenlei=256&amp;usm=1&amp;ie=utf-8&amp;rsv_pq=f24f177100af15cc&amp;oq=%E7%AC%AC%E4%B8%89%E6%AC%A1%E6%95%B0%E5%AD%A6%E5%8D%B1%E6%9C%BA%E6%9C%80%E7%BB%88%E5%A6%82%E4%BD%95%E8%A7%A3%E5%86%B3%E4%BA%86&amp;rsv_t=8d6bEFeKEmyEPxx%2BO6mTK7FQESd9qdJ%2B9G3JJ4K0nCg%2BFp%2BYz6gc86uyPwA&amp;sa=re_dqa_generate" TargetMode="Externa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幻灯片图像占位符 1">
            <a:extLst>
              <a:ext uri="{FF2B5EF4-FFF2-40B4-BE49-F238E27FC236}">
                <a16:creationId xmlns:a16="http://schemas.microsoft.com/office/drawing/2014/main" id="{8405154B-63E1-1B44-9EAA-4B65B9CDEF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备注占位符 2">
            <a:extLst>
              <a:ext uri="{FF2B5EF4-FFF2-40B4-BE49-F238E27FC236}">
                <a16:creationId xmlns:a16="http://schemas.microsoft.com/office/drawing/2014/main" id="{D3917517-23B5-1B4D-BBCC-C035B0E0C79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课程背景</a:t>
            </a:r>
          </a:p>
        </p:txBody>
      </p:sp>
      <p:sp>
        <p:nvSpPr>
          <p:cNvPr id="8196" name="灯片编号占位符 3">
            <a:extLst>
              <a:ext uri="{FF2B5EF4-FFF2-40B4-BE49-F238E27FC236}">
                <a16:creationId xmlns:a16="http://schemas.microsoft.com/office/drawing/2014/main" id="{83E1A90E-FA86-814E-AEA6-4D39E3520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BDC24E0-3881-3B4F-B8BB-50EA823742F0}" type="slidenum">
              <a:rPr lang="zh-CN" altLang="en-US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研究离散对象的数学学科；相比较而言，高等数学则更注重研究连续对象，如连续函数的微积分性质等。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64DFA-B5B9-FF48-94A9-33A71E06C8C8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1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‌</a:t>
            </a:r>
            <a:r>
              <a:rPr lang="en-US" altLang="zh-CN" b="1" i="0" u="none" strike="noStrike" dirty="0" err="1">
                <a:solidFill>
                  <a:srgbClr val="333333"/>
                </a:solidFill>
                <a:effectLst/>
                <a:latin typeface="-apple-system"/>
                <a:hlinkClick r:id="rId3"/>
              </a:rPr>
              <a:t>MathWorld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-apple-system"/>
              </a:rPr>
              <a:t>是一个综合的线上数学百科全书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‌，由</a:t>
            </a:r>
            <a:r>
              <a:rPr lang="zh-CN" altLang="en-US" b="0" i="0" u="none" strike="noStrike" dirty="0">
                <a:effectLst/>
                <a:latin typeface="-apple-system"/>
                <a:hlinkClick r:id="rId4"/>
              </a:rPr>
              <a:t>沃夫朗研究公司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-apple-system"/>
              </a:rPr>
              <a:t>Wolfram Research inc., WRI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）赞助。这家公司同时也是全球闻名的数学软件</a:t>
            </a:r>
            <a:r>
              <a:rPr lang="en-US" altLang="zh-CN" b="0" i="0" u="none" strike="noStrike" dirty="0">
                <a:effectLst/>
                <a:latin typeface="-apple-system"/>
                <a:hlinkClick r:id="rId5"/>
              </a:rPr>
              <a:t>Mathematica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的生产商。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64DFA-B5B9-FF48-94A9-33A71E06C8C8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10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编码论、组合论、信息论、递归计数等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64DFA-B5B9-FF48-94A9-33A71E06C8C8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221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‌</a:t>
            </a:r>
            <a:r>
              <a:rPr lang="zh-CN" altLang="en-US" b="0" i="0" u="none" strike="noStrike" dirty="0">
                <a:effectLst/>
                <a:latin typeface="-apple-system"/>
                <a:hlinkClick r:id="rId3"/>
              </a:rPr>
              <a:t>第三次数学危机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最终通过</a:t>
            </a:r>
            <a:r>
              <a:rPr lang="zh-CN" altLang="en-US" dirty="0"/>
              <a:t>‌</a:t>
            </a:r>
            <a:r>
              <a:rPr lang="zh-CN" altLang="en-US" b="1" dirty="0">
                <a:effectLst/>
                <a:latin typeface="-apple-system"/>
              </a:rPr>
              <a:t>‌</a:t>
            </a:r>
            <a:r>
              <a:rPr lang="zh-CN" altLang="en-US" b="1" u="none" strike="noStrike" dirty="0">
                <a:effectLst/>
                <a:latin typeface="-apple-system"/>
                <a:hlinkClick r:id="rId4"/>
              </a:rPr>
              <a:t>公理化集合系统</a:t>
            </a:r>
            <a:r>
              <a:rPr lang="zh-CN" altLang="en-US" dirty="0"/>
              <a:t>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-apple-system"/>
              </a:rPr>
              <a:t>的建立而得以解决。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64DFA-B5B9-FF48-94A9-33A71E06C8C8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037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64DFA-B5B9-FF48-94A9-33A71E06C8C8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307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>
            <a:extLst>
              <a:ext uri="{FF2B5EF4-FFF2-40B4-BE49-F238E27FC236}">
                <a16:creationId xmlns:a16="http://schemas.microsoft.com/office/drawing/2014/main" id="{F2C31577-4CB6-644A-B896-008190B0B16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备注占位符 2">
            <a:extLst>
              <a:ext uri="{FF2B5EF4-FFF2-40B4-BE49-F238E27FC236}">
                <a16:creationId xmlns:a16="http://schemas.microsoft.com/office/drawing/2014/main" id="{D11613EE-3FCE-344A-B8A0-3010B5EF13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例子</a:t>
            </a:r>
          </a:p>
        </p:txBody>
      </p:sp>
      <p:sp>
        <p:nvSpPr>
          <p:cNvPr id="46084" name="灯片编号占位符 3">
            <a:extLst>
              <a:ext uri="{FF2B5EF4-FFF2-40B4-BE49-F238E27FC236}">
                <a16:creationId xmlns:a16="http://schemas.microsoft.com/office/drawing/2014/main" id="{F2EADD5B-9764-AC42-BBA3-D2D1B1949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C0472D4-6EC6-7545-BEF6-EE45A0DA4686}" type="slidenum">
              <a:rPr lang="zh-CN" altLang="en-US"/>
              <a:pPr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笛卡尔积，直积，叉积；由已知的集合构造出新的集合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64DFA-B5B9-FF48-94A9-33A71E06C8C8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257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f(x)=2x; -2x-1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课堂练习：</a:t>
            </a:r>
            <a:r>
              <a:rPr lang="en-US" altLang="zh-CN" dirty="0"/>
              <a:t>P11T2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）（</a:t>
            </a:r>
            <a:r>
              <a:rPr lang="en-US" altLang="zh-CN"/>
              <a:t>4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64DFA-B5B9-FF48-94A9-33A71E06C8C8}" type="slidenum">
              <a:rPr lang="zh-CN" altLang="en-US" smtClean="0"/>
              <a:pPr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774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提问：有限集合</a:t>
            </a:r>
            <a:r>
              <a:rPr lang="en-US" altLang="zh-CN" dirty="0"/>
              <a:t>A</a:t>
            </a:r>
            <a:r>
              <a:rPr lang="zh-CN" altLang="en-US" dirty="0"/>
              <a:t>到</a:t>
            </a:r>
            <a:r>
              <a:rPr lang="en-US" altLang="zh-CN" dirty="0"/>
              <a:t>B</a:t>
            </a:r>
            <a:r>
              <a:rPr lang="zh-CN" altLang="en-US" dirty="0"/>
              <a:t>的双射函数数目？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64DFA-B5B9-FF48-94A9-33A71E06C8C8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59372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>
            <a:extLst>
              <a:ext uri="{FF2B5EF4-FFF2-40B4-BE49-F238E27FC236}">
                <a16:creationId xmlns:a16="http://schemas.microsoft.com/office/drawing/2014/main" id="{420E04DF-70BB-BF4E-B7AF-16AA060108B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备注占位符 2">
            <a:extLst>
              <a:ext uri="{FF2B5EF4-FFF2-40B4-BE49-F238E27FC236}">
                <a16:creationId xmlns:a16="http://schemas.microsoft.com/office/drawing/2014/main" id="{A8A1EF37-43D9-C140-A2D0-ACDDD99B0C0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课堂练习：</a:t>
            </a:r>
            <a:r>
              <a:rPr lang="en-US" altLang="zh-CN" dirty="0"/>
              <a:t>P11 T2</a:t>
            </a:r>
            <a:endParaRPr lang="zh-CN" altLang="en-US" dirty="0"/>
          </a:p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4756" name="灯片编号占位符 3">
            <a:extLst>
              <a:ext uri="{FF2B5EF4-FFF2-40B4-BE49-F238E27FC236}">
                <a16:creationId xmlns:a16="http://schemas.microsoft.com/office/drawing/2014/main" id="{4B99BB0D-7DB0-D04C-85B1-A5DE3E4AC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2F183AF-D7D0-354B-B493-DCC35800218D}" type="slidenum">
              <a:rPr lang="zh-CN" altLang="en-US"/>
              <a:pPr/>
              <a:t>68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平方函数和正弦函数的复合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664DFA-B5B9-FF48-94A9-33A71E06C8C8}" type="slidenum">
              <a:rPr lang="zh-CN" altLang="en-US" smtClean="0"/>
              <a:pPr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504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A16F94-243E-F040-9282-2AD1146835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D58279F-8D6A-0946-9989-FE55DB1FD8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003633-F879-8045-960F-0DD151AD3A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C83D8B-BCF2-2549-8384-C5F784556CC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2670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BEA819C-0EA6-FA44-B4AB-F89E9D2C99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9AA588-DC56-1D48-B56A-35ECD1FF14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6B6D35-0E2F-DD45-9390-160B9FE4AB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AFF525-D0EA-1541-84E3-0116F342FD1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6328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C75F97-DBF3-1948-B725-B08F6BB144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7EA54AC-B9CA-2444-9350-AB07B0A2C4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3D6ED4-F1CE-FF43-8C73-793D977CD4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C6567A-FD3B-FC42-8EF0-5979AB26150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5846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53D402-11E1-E849-B4B9-54E822C173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C819F5-04ED-F043-9B74-C9824909C6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C62445-9604-F842-A39F-90B6920DE2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90C944-F2FA-3640-A453-C53D5236049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7382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44E0DB4-3EE9-2244-9432-F10F84CBCC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13A9AD2-FE26-2748-98B0-1EAA422AC8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EF327F0-56F7-B649-9803-96EDA9C6ED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2A644E-0DCB-3346-876D-92409759E6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0652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3C816EE-11E8-7444-93C9-FCB2B04393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AB1D409-4D57-2647-8CE7-CB1D43D881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CE6C846-8950-074B-AD5E-86FD233BED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612E65-C680-0D47-B4EF-9FC50301EBC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6414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DFA3843-0FD2-9043-B182-E554BE1B3D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ADAE985-B16F-344D-ADF7-1AB813A209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ED332C4-6625-414C-9099-61D700DBA5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78BD68-39DC-7344-B449-4BD1BDE8A19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4289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64EDA2-9FB0-8B41-94AE-FB8345EAF2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03D502-5165-234E-B454-AF082E755E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744F02-BEB1-EF47-8043-13AED4ACFA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0DE8E1-C484-574C-A6FD-376FDEE1C28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7143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4330F7-9C64-D649-A4ED-984326F5C5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7FD693-104E-494F-97A4-D5B68255AB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E05B5E-103F-0A42-96A9-9DFE4FAC6E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AF04E8-695F-2E45-87AC-FA19F2E9EE1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0654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B46BC5-A007-C547-8081-18CEA34508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7AEEDF1-5496-4F4F-9B14-E8A0DDCED6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FF4527E-B2CA-E74D-BAB2-A256AFB794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418E79-3EAB-8947-B94A-86D22F1500D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470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
第二级
第三级
第四级
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9D873AF-3915-0348-BFF6-128D1F350E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837ECED-0993-4D4C-99BB-996C91FB46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BC94E2-5FF6-A64D-A927-0D860A93DC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D99C37-1D52-314A-84CC-27850800FE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4676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60350"/>
            <a:ext cx="8229600" cy="5865813"/>
          </a:xfrm>
        </p:spPr>
        <p:txBody>
          <a:bodyPr/>
          <a:lstStyle/>
          <a:p>
            <a:pPr lvl="0"/>
            <a:r>
              <a:rPr lang="zh-CN" altLang="en-US"/>
              <a:t>编辑母版文本样式
第二级
第三级
第四级
第五级</a:t>
            </a:r>
            <a:endParaRPr lang="zh-CN" altLang="en-US" dirty="0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50CCBA6-5443-334B-A961-0008C8C7F0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77C0DE6-3EA7-9F48-9DF6-5F8FB1D404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60B6B4F-81FD-F44B-AE4B-88A3240D8D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16688" y="5805488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E273E79F-9C44-854B-B99C-75F525D2258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2304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171528B-5FE7-E44B-AB2F-8A1F63BC0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0350"/>
            <a:ext cx="771525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3804ECE-FE47-F941-B8C7-8FC4CA943D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759EE22-589D-3947-BDBC-B85D44DFE9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D2E58AA-2FE8-0B4B-8567-DAFD3B35458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65D37E9-CF03-0640-BCD2-8D9D8E32755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95764B1C-AF17-FB4F-A424-B2E3576E51D0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1" name="Rectangle 10">
            <a:extLst>
              <a:ext uri="{FF2B5EF4-FFF2-40B4-BE49-F238E27FC236}">
                <a16:creationId xmlns:a16="http://schemas.microsoft.com/office/drawing/2014/main" id="{ECC02E08-6DF1-6149-8DBB-7394A1A5E6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172450" y="333375"/>
            <a:ext cx="720725" cy="1079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1032" name="Picture 11" descr="图片1">
            <a:extLst>
              <a:ext uri="{FF2B5EF4-FFF2-40B4-BE49-F238E27FC236}">
                <a16:creationId xmlns:a16="http://schemas.microsoft.com/office/drawing/2014/main" id="{581D65AF-FA60-6749-B3B6-D1FC81B3D3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013" y="611188"/>
            <a:ext cx="8636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mathworld.wolfram.com/topics/DiscreteMathematics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9.emf"/><Relationship Id="rId4" Type="http://schemas.openxmlformats.org/officeDocument/2006/relationships/oleObject" Target="../embeddings/oleObject3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4" Type="http://schemas.openxmlformats.org/officeDocument/2006/relationships/oleObject" Target="../embeddings/oleObject7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1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.bin"/><Relationship Id="rId18" Type="http://schemas.openxmlformats.org/officeDocument/2006/relationships/image" Target="../media/image43.png"/><Relationship Id="rId12" Type="http://schemas.openxmlformats.org/officeDocument/2006/relationships/image" Target="../media/image370.png"/><Relationship Id="rId17" Type="http://schemas.openxmlformats.org/officeDocument/2006/relationships/image" Target="../media/image420.png"/><Relationship Id="rId16" Type="http://schemas.openxmlformats.org/officeDocument/2006/relationships/image" Target="../media/image410.png"/><Relationship Id="rId1" Type="http://schemas.openxmlformats.org/officeDocument/2006/relationships/slideLayout" Target="../slideLayouts/slideLayout12.xml"/><Relationship Id="rId11" Type="http://schemas.openxmlformats.org/officeDocument/2006/relationships/image" Target="../media/image45.png"/><Relationship Id="rId15" Type="http://schemas.openxmlformats.org/officeDocument/2006/relationships/image" Target="../media/image401.png"/><Relationship Id="rId19" Type="http://schemas.openxmlformats.org/officeDocument/2006/relationships/image" Target="../media/image46.png"/><Relationship Id="rId14" Type="http://schemas.openxmlformats.org/officeDocument/2006/relationships/image" Target="../media/image38.e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470.png"/><Relationship Id="rId4" Type="http://schemas.openxmlformats.org/officeDocument/2006/relationships/image" Target="../media/image9.emf"/><Relationship Id="rId9" Type="http://schemas.openxmlformats.org/officeDocument/2006/relationships/image" Target="../media/image40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3" Type="http://schemas.openxmlformats.org/officeDocument/2006/relationships/image" Target="../media/image7.emf"/><Relationship Id="rId7" Type="http://schemas.openxmlformats.org/officeDocument/2006/relationships/image" Target="../media/image39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5.bin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40.emf"/><Relationship Id="rId4" Type="http://schemas.openxmlformats.org/officeDocument/2006/relationships/oleObject" Target="../embeddings/oleObject13.bin"/><Relationship Id="rId9" Type="http://schemas.openxmlformats.org/officeDocument/2006/relationships/oleObject" Target="../embeddings/oleObject17.bin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56.png"/><Relationship Id="rId3" Type="http://schemas.openxmlformats.org/officeDocument/2006/relationships/image" Target="../media/image7.emf"/><Relationship Id="rId7" Type="http://schemas.openxmlformats.org/officeDocument/2006/relationships/image" Target="../media/image41.emf"/><Relationship Id="rId12" Type="http://schemas.openxmlformats.org/officeDocument/2006/relationships/image" Target="../media/image44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1.bin"/><Relationship Id="rId11" Type="http://schemas.openxmlformats.org/officeDocument/2006/relationships/oleObject" Target="../embeddings/oleObject23.bin"/><Relationship Id="rId5" Type="http://schemas.openxmlformats.org/officeDocument/2006/relationships/image" Target="../media/image9.emf"/><Relationship Id="rId10" Type="http://schemas.openxmlformats.org/officeDocument/2006/relationships/image" Target="../media/image43.emf"/><Relationship Id="rId4" Type="http://schemas.openxmlformats.org/officeDocument/2006/relationships/oleObject" Target="../embeddings/oleObject20.bin"/><Relationship Id="rId9" Type="http://schemas.openxmlformats.org/officeDocument/2006/relationships/image" Target="../media/image42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9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39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54.e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61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60.emf"/><Relationship Id="rId18" Type="http://schemas.openxmlformats.org/officeDocument/2006/relationships/oleObject" Target="../embeddings/oleObject35.bin"/><Relationship Id="rId3" Type="http://schemas.openxmlformats.org/officeDocument/2006/relationships/image" Target="../media/image55.png"/><Relationship Id="rId7" Type="http://schemas.openxmlformats.org/officeDocument/2006/relationships/image" Target="../media/image57.emf"/><Relationship Id="rId12" Type="http://schemas.openxmlformats.org/officeDocument/2006/relationships/oleObject" Target="../embeddings/oleObject32.bin"/><Relationship Id="rId17" Type="http://schemas.openxmlformats.org/officeDocument/2006/relationships/image" Target="../media/image9.emf"/><Relationship Id="rId2" Type="http://schemas.openxmlformats.org/officeDocument/2006/relationships/notesSlide" Target="../notesSlides/notesSlide10.xml"/><Relationship Id="rId16" Type="http://schemas.openxmlformats.org/officeDocument/2006/relationships/oleObject" Target="../embeddings/oleObject34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59.emf"/><Relationship Id="rId5" Type="http://schemas.openxmlformats.org/officeDocument/2006/relationships/image" Target="../media/image56.emf"/><Relationship Id="rId15" Type="http://schemas.openxmlformats.org/officeDocument/2006/relationships/image" Target="../media/image61.emf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8.bin"/><Relationship Id="rId9" Type="http://schemas.openxmlformats.org/officeDocument/2006/relationships/image" Target="../media/image58.emf"/><Relationship Id="rId14" Type="http://schemas.openxmlformats.org/officeDocument/2006/relationships/oleObject" Target="../embeddings/oleObject33.bin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1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81.png"/><Relationship Id="rId7" Type="http://schemas.openxmlformats.org/officeDocument/2006/relationships/image" Target="../media/image83.png"/><Relationship Id="rId2" Type="http://schemas.openxmlformats.org/officeDocument/2006/relationships/image" Target="../media/image80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4.e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8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1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62.emf"/><Relationship Id="rId7" Type="http://schemas.openxmlformats.org/officeDocument/2006/relationships/image" Target="../media/image94.png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89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96.png"/><Relationship Id="rId7" Type="http://schemas.openxmlformats.org/officeDocument/2006/relationships/image" Target="../media/image100.png"/><Relationship Id="rId2" Type="http://schemas.openxmlformats.org/officeDocument/2006/relationships/image" Target="../media/image89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0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50.png"/><Relationship Id="rId5" Type="http://schemas.openxmlformats.org/officeDocument/2006/relationships/image" Target="../media/image921.png"/><Relationship Id="rId4" Type="http://schemas.openxmlformats.org/officeDocument/2006/relationships/image" Target="../media/image54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image" Target="../media/image63.emf"/><Relationship Id="rId7" Type="http://schemas.openxmlformats.org/officeDocument/2006/relationships/image" Target="../media/image65.e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40.bin"/><Relationship Id="rId11" Type="http://schemas.openxmlformats.org/officeDocument/2006/relationships/image" Target="../media/image106.png"/><Relationship Id="rId5" Type="http://schemas.openxmlformats.org/officeDocument/2006/relationships/image" Target="../media/image64.emf"/><Relationship Id="rId10" Type="http://schemas.openxmlformats.org/officeDocument/2006/relationships/image" Target="../media/image105.png"/><Relationship Id="rId4" Type="http://schemas.openxmlformats.org/officeDocument/2006/relationships/oleObject" Target="../embeddings/oleObject39.bin"/><Relationship Id="rId9" Type="http://schemas.openxmlformats.org/officeDocument/2006/relationships/image" Target="../media/image66.emf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0.png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0.png"/><Relationship Id="rId13" Type="http://schemas.openxmlformats.org/officeDocument/2006/relationships/image" Target="../media/image840.png"/><Relationship Id="rId3" Type="http://schemas.openxmlformats.org/officeDocument/2006/relationships/image" Target="../media/image62.png"/><Relationship Id="rId7" Type="http://schemas.openxmlformats.org/officeDocument/2006/relationships/image" Target="../media/image660.png"/><Relationship Id="rId12" Type="http://schemas.openxmlformats.org/officeDocument/2006/relationships/image" Target="../media/image830.png"/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5.png"/><Relationship Id="rId11" Type="http://schemas.openxmlformats.org/officeDocument/2006/relationships/image" Target="../media/image820.png"/><Relationship Id="rId5" Type="http://schemas.openxmlformats.org/officeDocument/2006/relationships/image" Target="../media/image640.png"/><Relationship Id="rId10" Type="http://schemas.openxmlformats.org/officeDocument/2006/relationships/image" Target="../media/image810.png"/><Relationship Id="rId4" Type="http://schemas.openxmlformats.org/officeDocument/2006/relationships/image" Target="../media/image630.png"/><Relationship Id="rId9" Type="http://schemas.openxmlformats.org/officeDocument/2006/relationships/image" Target="../media/image800.png"/><Relationship Id="rId14" Type="http://schemas.openxmlformats.org/officeDocument/2006/relationships/image" Target="../media/image92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2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97EE753F-BD60-D843-8315-2B7B695D6B3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650" y="1476375"/>
            <a:ext cx="7772400" cy="1736725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离散数学</a:t>
            </a:r>
            <a:br>
              <a:rPr lang="zh-CN" altLang="en-US" b="1">
                <a:latin typeface="Times New Roman" panose="02020603050405020304" pitchFamily="18" charset="0"/>
              </a:rPr>
            </a:br>
            <a:r>
              <a:rPr lang="en-US" altLang="zh-CN" b="1">
                <a:latin typeface="Times New Roman" panose="02020603050405020304" pitchFamily="18" charset="0"/>
              </a:rPr>
              <a:t>Discrete Mathematics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B2C31BBB-95EC-774D-956C-433C19CC6FE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482850" y="3716338"/>
            <a:ext cx="4537075" cy="1368425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曾   霞</a:t>
            </a: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xzeng0712@swu.edu.cn</a:t>
            </a:r>
            <a:endParaRPr lang="zh-CN" altLang="en-US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19437B8E-D073-73D7-4C7E-4DA1946BC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551" y="1391104"/>
            <a:ext cx="2281937" cy="314096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13BA28D-9336-762A-6775-1FEBBBBA3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5031" y="5937300"/>
            <a:ext cx="8785225" cy="647700"/>
          </a:xfrm>
        </p:spPr>
        <p:txBody>
          <a:bodyPr/>
          <a:lstStyle/>
          <a:p>
            <a:r>
              <a:rPr lang="en-US" altLang="zh-CN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http://cis.swu.edu.cn/info/1014/4464.htm</a:t>
            </a:r>
            <a:endParaRPr lang="zh-CN" altLang="en-US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9907E6-64A1-8352-1111-39071BB48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-14124"/>
            <a:ext cx="6732241" cy="5747380"/>
          </a:xfrm>
        </p:spPr>
        <p:txBody>
          <a:bodyPr/>
          <a:lstStyle/>
          <a:p>
            <a:pPr marL="279400" indent="-279400" algn="l">
              <a:spcAft>
                <a:spcPts val="750"/>
              </a:spcAft>
            </a:pPr>
            <a:r>
              <a:rPr lang="zh-CN" altLang="en-US" sz="2900" b="1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曾 霞</a:t>
            </a:r>
            <a:r>
              <a:rPr lang="en-US" altLang="zh-CN" sz="29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9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副教授</a:t>
            </a:r>
            <a:r>
              <a:rPr lang="en-US" altLang="zh-CN" sz="29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9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硕导</a:t>
            </a:r>
            <a:r>
              <a:rPr lang="en-US" altLang="zh-CN" sz="29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900" b="0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900" b="1" i="0" dirty="0"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个人介绍</a:t>
            </a:r>
            <a:endParaRPr lang="en-US" altLang="zh-CN" sz="2800" b="1" i="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79400" indent="-279400" algn="l">
              <a:spcAft>
                <a:spcPts val="750"/>
              </a:spcAft>
            </a:pPr>
            <a:r>
              <a:rPr lang="zh-CN" altLang="en-US" sz="2800" b="1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主要研究方向</a:t>
            </a:r>
            <a:r>
              <a:rPr lang="en-US" altLang="zh-CN" sz="2800" b="1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:  </a:t>
            </a:r>
            <a:r>
              <a:rPr lang="zh-CN" altLang="en-US" sz="2800" b="1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形式化方法</a:t>
            </a:r>
            <a:r>
              <a:rPr lang="en-US" altLang="zh-CN" sz="2800" b="1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+AI</a:t>
            </a:r>
            <a:r>
              <a:rPr lang="zh-CN" altLang="en-US" sz="2800" b="1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、智能系统安全控制、信息物理系统分析与验证、可信人工智能</a:t>
            </a:r>
            <a:r>
              <a:rPr lang="en-US" altLang="zh-CN" sz="2800" b="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endParaRPr lang="zh-CN" altLang="en-US" sz="2800" b="0" i="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79400" indent="-279400" algn="l">
              <a:spcAft>
                <a:spcPts val="750"/>
              </a:spcAft>
            </a:pPr>
            <a:r>
              <a:rPr lang="zh-CN" altLang="en-US" sz="28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主持：国家自然基金青年项目、国家自然基金面上项目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8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执行期</a:t>
            </a:r>
            <a:r>
              <a:rPr lang="en-US" altLang="zh-CN" sz="2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2024-2028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) </a:t>
            </a:r>
          </a:p>
          <a:p>
            <a:pPr marL="279400" indent="-279400" algn="l">
              <a:spcAft>
                <a:spcPts val="750"/>
              </a:spcAft>
            </a:pPr>
            <a:r>
              <a:rPr lang="zh-CN" altLang="en-US" sz="28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主持并结题：教育部产学合作协同育人项目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8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百度，第一批）</a:t>
            </a:r>
          </a:p>
          <a:p>
            <a:pPr marL="279400" indent="-279400" algn="l">
              <a:spcAft>
                <a:spcPts val="750"/>
              </a:spcAft>
            </a:pPr>
            <a:r>
              <a:rPr lang="zh-CN" altLang="en-US" sz="28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参与主研国家自然科学基金面上项目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项</a:t>
            </a:r>
            <a:endParaRPr lang="en-US" altLang="zh-CN" sz="2800" b="0" i="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79400" indent="-279400" algn="l">
              <a:spcAft>
                <a:spcPts val="750"/>
              </a:spcAft>
            </a:pPr>
            <a:r>
              <a:rPr lang="zh-CN" altLang="en-US" sz="28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参与：航天嵌入式软件可信保障示范应用</a:t>
            </a:r>
            <a:r>
              <a:rPr lang="en-US" altLang="zh-CN" sz="28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sz="2800" b="0" i="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国家级</a:t>
            </a:r>
            <a:endParaRPr lang="en-US" altLang="zh-CN" sz="2800" b="0" i="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79400" indent="-279400" algn="l">
              <a:spcAft>
                <a:spcPts val="750"/>
              </a:spcAft>
            </a:pPr>
            <a:endParaRPr lang="zh-CN" altLang="en-US" sz="2900" b="0" i="0" dirty="0">
              <a:solidFill>
                <a:srgbClr val="00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E1EECF-196B-3983-47C5-449443E7C4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第</a:t>
            </a:r>
            <a:fld id="{41585508-8364-4B33-A848-52D2438DCC82}" type="slidenum">
              <a:rPr lang="zh-CN" altLang="en-US" smtClean="0"/>
              <a:pPr>
                <a:defRPr/>
              </a:pPr>
              <a:t>2</a:t>
            </a:fld>
            <a:r>
              <a:rPr lang="zh-CN" altLang="en-US"/>
              <a:t>页</a:t>
            </a:r>
          </a:p>
        </p:txBody>
      </p:sp>
    </p:spTree>
    <p:extLst>
      <p:ext uri="{BB962C8B-B14F-4D97-AF65-F5344CB8AC3E}">
        <p14:creationId xmlns:p14="http://schemas.microsoft.com/office/powerpoint/2010/main" val="2930075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6">
            <a:extLst>
              <a:ext uri="{FF2B5EF4-FFF2-40B4-BE49-F238E27FC236}">
                <a16:creationId xmlns:a16="http://schemas.microsoft.com/office/drawing/2014/main" id="{608254FD-C08D-FB4B-95DC-8F1835C663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3463" y="400050"/>
            <a:ext cx="7715250" cy="1157288"/>
          </a:xfrm>
        </p:spPr>
        <p:txBody>
          <a:bodyPr/>
          <a:lstStyle/>
          <a:p>
            <a:pPr algn="l" eaLnBrk="1" hangingPunct="1"/>
            <a:r>
              <a:rPr lang="zh-CN" altLang="en-US" b="1"/>
              <a:t>本讲内容</a:t>
            </a:r>
          </a:p>
        </p:txBody>
      </p:sp>
      <p:sp>
        <p:nvSpPr>
          <p:cNvPr id="6147" name="Rectangle 7">
            <a:extLst>
              <a:ext uri="{FF2B5EF4-FFF2-40B4-BE49-F238E27FC236}">
                <a16:creationId xmlns:a16="http://schemas.microsoft.com/office/drawing/2014/main" id="{0123AA70-B667-254A-8C90-15BBEF143E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950913"/>
            <a:ext cx="8229600" cy="4525962"/>
          </a:xfrm>
        </p:spPr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pSp>
        <p:nvGrpSpPr>
          <p:cNvPr id="6148" name="Group 8">
            <a:extLst>
              <a:ext uri="{FF2B5EF4-FFF2-40B4-BE49-F238E27FC236}">
                <a16:creationId xmlns:a16="http://schemas.microsoft.com/office/drawing/2014/main" id="{EFDB0FB2-2A05-B943-9BDC-4DE526D01BE0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1409700"/>
            <a:ext cx="5410200" cy="668338"/>
            <a:chOff x="1152" y="1129"/>
            <a:chExt cx="3408" cy="421"/>
          </a:xfrm>
        </p:grpSpPr>
        <p:grpSp>
          <p:nvGrpSpPr>
            <p:cNvPr id="6182" name="Group 9">
              <a:extLst>
                <a:ext uri="{FF2B5EF4-FFF2-40B4-BE49-F238E27FC236}">
                  <a16:creationId xmlns:a16="http://schemas.microsoft.com/office/drawing/2014/main" id="{AD57395F-6760-6B43-A4FD-0C794B3A98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6186" name="AutoShape 10">
                <a:extLst>
                  <a:ext uri="{FF2B5EF4-FFF2-40B4-BE49-F238E27FC236}">
                    <a16:creationId xmlns:a16="http://schemas.microsoft.com/office/drawing/2014/main" id="{8A06F2D7-E289-AF45-9474-6FD2C9DF561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87" name="AutoShape 11">
                <a:extLst>
                  <a:ext uri="{FF2B5EF4-FFF2-40B4-BE49-F238E27FC236}">
                    <a16:creationId xmlns:a16="http://schemas.microsoft.com/office/drawing/2014/main" id="{41FEF3FE-1917-B948-9D18-A3692800E54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3324" name="AutoShape 12">
                <a:extLst>
                  <a:ext uri="{FF2B5EF4-FFF2-40B4-BE49-F238E27FC236}">
                    <a16:creationId xmlns:a16="http://schemas.microsoft.com/office/drawing/2014/main" id="{C59B6D30-5101-4F43-96C4-21DDAD2563E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6183" name="Line 13">
              <a:extLst>
                <a:ext uri="{FF2B5EF4-FFF2-40B4-BE49-F238E27FC236}">
                  <a16:creationId xmlns:a16="http://schemas.microsoft.com/office/drawing/2014/main" id="{8B485762-ED3C-B043-9EF6-DAFB21580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4" name="Text Box 14">
              <a:extLst>
                <a:ext uri="{FF2B5EF4-FFF2-40B4-BE49-F238E27FC236}">
                  <a16:creationId xmlns:a16="http://schemas.microsoft.com/office/drawing/2014/main" id="{55B89C27-7B58-7F48-A0A1-4C7421A348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129"/>
              <a:ext cx="191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/>
                <a:t>什么是离散数学</a:t>
              </a:r>
            </a:p>
          </p:txBody>
        </p:sp>
        <p:sp>
          <p:nvSpPr>
            <p:cNvPr id="6185" name="Text Box 15">
              <a:extLst>
                <a:ext uri="{FF2B5EF4-FFF2-40B4-BE49-F238E27FC236}">
                  <a16:creationId xmlns:a16="http://schemas.microsoft.com/office/drawing/2014/main" id="{29768D80-6CDA-A242-9473-DE5476568F24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66" y="11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6149" name="Group 16">
            <a:extLst>
              <a:ext uri="{FF2B5EF4-FFF2-40B4-BE49-F238E27FC236}">
                <a16:creationId xmlns:a16="http://schemas.microsoft.com/office/drawing/2014/main" id="{4C6788AE-5EDA-8744-8070-53E472316188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2454275"/>
            <a:ext cx="7250112" cy="679450"/>
            <a:chOff x="1152" y="1698"/>
            <a:chExt cx="4567" cy="428"/>
          </a:xfrm>
        </p:grpSpPr>
        <p:grpSp>
          <p:nvGrpSpPr>
            <p:cNvPr id="6175" name="Group 17">
              <a:extLst>
                <a:ext uri="{FF2B5EF4-FFF2-40B4-BE49-F238E27FC236}">
                  <a16:creationId xmlns:a16="http://schemas.microsoft.com/office/drawing/2014/main" id="{006552B5-3F9F-CF46-B024-7337D4E8DB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6179" name="AutoShape 18">
                <a:extLst>
                  <a:ext uri="{FF2B5EF4-FFF2-40B4-BE49-F238E27FC236}">
                    <a16:creationId xmlns:a16="http://schemas.microsoft.com/office/drawing/2014/main" id="{9371A61D-F282-9A46-A2B1-3047DAF8CCE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80" name="AutoShape 19">
                <a:extLst>
                  <a:ext uri="{FF2B5EF4-FFF2-40B4-BE49-F238E27FC236}">
                    <a16:creationId xmlns:a16="http://schemas.microsoft.com/office/drawing/2014/main" id="{097682F5-9ACD-3745-B5A5-B57A8CA3525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3332" name="AutoShape 20">
                <a:extLst>
                  <a:ext uri="{FF2B5EF4-FFF2-40B4-BE49-F238E27FC236}">
                    <a16:creationId xmlns:a16="http://schemas.microsoft.com/office/drawing/2014/main" id="{5B361A92-0966-EC47-84EE-F13D5DD2400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6176" name="Line 21">
              <a:extLst>
                <a:ext uri="{FF2B5EF4-FFF2-40B4-BE49-F238E27FC236}">
                  <a16:creationId xmlns:a16="http://schemas.microsoft.com/office/drawing/2014/main" id="{5A58DEE5-960D-B34E-BEE3-34B36CBAAA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091"/>
              <a:ext cx="4183" cy="8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7" name="Text Box 22">
              <a:extLst>
                <a:ext uri="{FF2B5EF4-FFF2-40B4-BE49-F238E27FC236}">
                  <a16:creationId xmlns:a16="http://schemas.microsoft.com/office/drawing/2014/main" id="{C94F330E-DFB1-D94D-AB32-3E4AEFB104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1" y="1698"/>
              <a:ext cx="3490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/>
                <a:t>计算机专业为何要学离散数学</a:t>
              </a:r>
            </a:p>
          </p:txBody>
        </p:sp>
        <p:sp>
          <p:nvSpPr>
            <p:cNvPr id="6178" name="Text Box 23">
              <a:extLst>
                <a:ext uri="{FF2B5EF4-FFF2-40B4-BE49-F238E27FC236}">
                  <a16:creationId xmlns:a16="http://schemas.microsoft.com/office/drawing/2014/main" id="{25E90826-942E-1149-97C9-7D384ACB3E7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6150" name="Group 24">
            <a:extLst>
              <a:ext uri="{FF2B5EF4-FFF2-40B4-BE49-F238E27FC236}">
                <a16:creationId xmlns:a16="http://schemas.microsoft.com/office/drawing/2014/main" id="{D0381A49-471B-5F43-BE29-F8A590CC8FF7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3525838"/>
            <a:ext cx="5410200" cy="712787"/>
            <a:chOff x="1152" y="2239"/>
            <a:chExt cx="3408" cy="449"/>
          </a:xfrm>
        </p:grpSpPr>
        <p:grpSp>
          <p:nvGrpSpPr>
            <p:cNvPr id="6168" name="Group 25">
              <a:extLst>
                <a:ext uri="{FF2B5EF4-FFF2-40B4-BE49-F238E27FC236}">
                  <a16:creationId xmlns:a16="http://schemas.microsoft.com/office/drawing/2014/main" id="{7EEA2FC1-4A3F-424B-9C6A-47D84F2138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6172" name="AutoShape 26">
                <a:extLst>
                  <a:ext uri="{FF2B5EF4-FFF2-40B4-BE49-F238E27FC236}">
                    <a16:creationId xmlns:a16="http://schemas.microsoft.com/office/drawing/2014/main" id="{BF64531B-AED0-1F45-AEB4-0692CCB0A0C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73" name="AutoShape 27">
                <a:extLst>
                  <a:ext uri="{FF2B5EF4-FFF2-40B4-BE49-F238E27FC236}">
                    <a16:creationId xmlns:a16="http://schemas.microsoft.com/office/drawing/2014/main" id="{481EA7B4-2DB7-014D-BF7D-E32047AE464C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3340" name="AutoShape 28">
                <a:extLst>
                  <a:ext uri="{FF2B5EF4-FFF2-40B4-BE49-F238E27FC236}">
                    <a16:creationId xmlns:a16="http://schemas.microsoft.com/office/drawing/2014/main" id="{8B029751-BFFF-9C4E-903A-24974EAEA5C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6169" name="Line 29">
              <a:extLst>
                <a:ext uri="{FF2B5EF4-FFF2-40B4-BE49-F238E27FC236}">
                  <a16:creationId xmlns:a16="http://schemas.microsoft.com/office/drawing/2014/main" id="{ACB82BCE-937F-2E49-9272-50C5171CE8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0" name="Text Box 30">
              <a:extLst>
                <a:ext uri="{FF2B5EF4-FFF2-40B4-BE49-F238E27FC236}">
                  <a16:creationId xmlns:a16="http://schemas.microsoft.com/office/drawing/2014/main" id="{BFA2C1AB-8191-7C45-95E1-C185A3F2AF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239"/>
              <a:ext cx="242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/>
                <a:t>离散数学的基本内容</a:t>
              </a:r>
            </a:p>
          </p:txBody>
        </p:sp>
        <p:sp>
          <p:nvSpPr>
            <p:cNvPr id="6171" name="Text Box 31">
              <a:extLst>
                <a:ext uri="{FF2B5EF4-FFF2-40B4-BE49-F238E27FC236}">
                  <a16:creationId xmlns:a16="http://schemas.microsoft.com/office/drawing/2014/main" id="{D5AA5140-90BE-0441-90AF-445F6D7BE4E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6151" name="Group 32">
            <a:extLst>
              <a:ext uri="{FF2B5EF4-FFF2-40B4-BE49-F238E27FC236}">
                <a16:creationId xmlns:a16="http://schemas.microsoft.com/office/drawing/2014/main" id="{2264ACB1-86A2-1943-8ADC-9A6823BDF4CB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4821238"/>
            <a:ext cx="5410200" cy="712787"/>
            <a:chOff x="1152" y="2815"/>
            <a:chExt cx="3408" cy="449"/>
          </a:xfrm>
        </p:grpSpPr>
        <p:grpSp>
          <p:nvGrpSpPr>
            <p:cNvPr id="6161" name="Group 33">
              <a:extLst>
                <a:ext uri="{FF2B5EF4-FFF2-40B4-BE49-F238E27FC236}">
                  <a16:creationId xmlns:a16="http://schemas.microsoft.com/office/drawing/2014/main" id="{AC51904A-7DB7-0D4A-9B06-CA1C885BC1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6165" name="AutoShape 34">
                <a:extLst>
                  <a:ext uri="{FF2B5EF4-FFF2-40B4-BE49-F238E27FC236}">
                    <a16:creationId xmlns:a16="http://schemas.microsoft.com/office/drawing/2014/main" id="{3C9975D6-4C4E-624C-B22F-BC5812AB5A7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66" name="AutoShape 35">
                <a:extLst>
                  <a:ext uri="{FF2B5EF4-FFF2-40B4-BE49-F238E27FC236}">
                    <a16:creationId xmlns:a16="http://schemas.microsoft.com/office/drawing/2014/main" id="{E77F49E5-61C5-384A-B5A7-C8A29C3AE6D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3348" name="AutoShape 36">
                <a:extLst>
                  <a:ext uri="{FF2B5EF4-FFF2-40B4-BE49-F238E27FC236}">
                    <a16:creationId xmlns:a16="http://schemas.microsoft.com/office/drawing/2014/main" id="{4AEF8D15-429F-B544-834D-C0AEE12EC86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6162" name="Line 37">
              <a:extLst>
                <a:ext uri="{FF2B5EF4-FFF2-40B4-BE49-F238E27FC236}">
                  <a16:creationId xmlns:a16="http://schemas.microsoft.com/office/drawing/2014/main" id="{77FB2BDD-890B-FD47-874A-D60641B55B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3" name="Text Box 38">
              <a:extLst>
                <a:ext uri="{FF2B5EF4-FFF2-40B4-BE49-F238E27FC236}">
                  <a16:creationId xmlns:a16="http://schemas.microsoft.com/office/drawing/2014/main" id="{70E9655A-28C0-8B43-B3B1-95159977E1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815"/>
              <a:ext cx="242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/>
                <a:t>学习离散数学的方法</a:t>
              </a:r>
            </a:p>
          </p:txBody>
        </p:sp>
        <p:sp>
          <p:nvSpPr>
            <p:cNvPr id="6164" name="Text Box 39">
              <a:extLst>
                <a:ext uri="{FF2B5EF4-FFF2-40B4-BE49-F238E27FC236}">
                  <a16:creationId xmlns:a16="http://schemas.microsoft.com/office/drawing/2014/main" id="{90944941-F739-E748-A7F3-EBC5CF65ADC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81" y="29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6152" name="Group 41">
            <a:extLst>
              <a:ext uri="{FF2B5EF4-FFF2-40B4-BE49-F238E27FC236}">
                <a16:creationId xmlns:a16="http://schemas.microsoft.com/office/drawing/2014/main" id="{0D467F54-D577-D547-A287-960CFB307088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5876925"/>
            <a:ext cx="5410200" cy="712788"/>
            <a:chOff x="1152" y="2239"/>
            <a:chExt cx="3408" cy="449"/>
          </a:xfrm>
        </p:grpSpPr>
        <p:grpSp>
          <p:nvGrpSpPr>
            <p:cNvPr id="6154" name="Group 42">
              <a:extLst>
                <a:ext uri="{FF2B5EF4-FFF2-40B4-BE49-F238E27FC236}">
                  <a16:creationId xmlns:a16="http://schemas.microsoft.com/office/drawing/2014/main" id="{10C928E3-647C-5F49-83A0-2FB44E3611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6158" name="AutoShape 43">
                <a:extLst>
                  <a:ext uri="{FF2B5EF4-FFF2-40B4-BE49-F238E27FC236}">
                    <a16:creationId xmlns:a16="http://schemas.microsoft.com/office/drawing/2014/main" id="{024CF2A1-89BE-1246-BBF1-3E4A428D9C1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6159" name="AutoShape 44">
                <a:extLst>
                  <a:ext uri="{FF2B5EF4-FFF2-40B4-BE49-F238E27FC236}">
                    <a16:creationId xmlns:a16="http://schemas.microsoft.com/office/drawing/2014/main" id="{AF73C233-CED9-A640-BBB0-E2AFC946271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3357" name="AutoShape 45">
                <a:extLst>
                  <a:ext uri="{FF2B5EF4-FFF2-40B4-BE49-F238E27FC236}">
                    <a16:creationId xmlns:a16="http://schemas.microsoft.com/office/drawing/2014/main" id="{4B12D559-65FF-9744-9E36-7D7B92276EA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6155" name="Line 46">
              <a:extLst>
                <a:ext uri="{FF2B5EF4-FFF2-40B4-BE49-F238E27FC236}">
                  <a16:creationId xmlns:a16="http://schemas.microsoft.com/office/drawing/2014/main" id="{7235A719-931D-2D43-AF82-034FFD1B5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56" name="Text Box 47">
              <a:extLst>
                <a:ext uri="{FF2B5EF4-FFF2-40B4-BE49-F238E27FC236}">
                  <a16:creationId xmlns:a16="http://schemas.microsoft.com/office/drawing/2014/main" id="{70AC58CD-62D9-4447-9543-EA85FA01D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239"/>
              <a:ext cx="242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/>
                <a:t>离散数学的学习资源</a:t>
              </a:r>
            </a:p>
          </p:txBody>
        </p:sp>
        <p:sp>
          <p:nvSpPr>
            <p:cNvPr id="6157" name="Text Box 48">
              <a:extLst>
                <a:ext uri="{FF2B5EF4-FFF2-40B4-BE49-F238E27FC236}">
                  <a16:creationId xmlns:a16="http://schemas.microsoft.com/office/drawing/2014/main" id="{B7AEC989-B0D5-B244-93BA-D9DA80B13CD0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6153" name="灯片编号占位符 1">
            <a:extLst>
              <a:ext uri="{FF2B5EF4-FFF2-40B4-BE49-F238E27FC236}">
                <a16:creationId xmlns:a16="http://schemas.microsoft.com/office/drawing/2014/main" id="{A6554B98-801D-8945-A46C-4FED0B017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9466BE9-169A-DB4D-A4EE-61909356B9A1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C55FE78D-04EC-474A-B389-F19E848543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1188" y="2276475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b="1">
                <a:solidFill>
                  <a:schemeClr val="tx1"/>
                </a:solidFill>
              </a:rPr>
              <a:t>什么是离散数学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65AFB805-BC2C-AE40-8F47-0F65BB29386B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solidFill>
                  <a:schemeClr val="hlink"/>
                </a:solidFill>
                <a:latin typeface="Times New Roman" panose="02020603050405020304" pitchFamily="18" charset="0"/>
              </a:rPr>
              <a:t>离散</a:t>
            </a:r>
            <a:r>
              <a:rPr lang="en-US" altLang="zh-CN" b="1" dirty="0">
                <a:latin typeface="Times New Roman" panose="02020603050405020304" pitchFamily="18" charset="0"/>
              </a:rPr>
              <a:t>: </a:t>
            </a:r>
            <a:r>
              <a:rPr lang="zh-CN" altLang="en-US" b="1" dirty="0">
                <a:latin typeface="Times New Roman" panose="02020603050405020304" pitchFamily="18" charset="0"/>
              </a:rPr>
              <a:t>分离、分开、拆散、分散、</a:t>
            </a:r>
            <a:r>
              <a:rPr lang="en-US" altLang="zh-CN" b="1" dirty="0">
                <a:latin typeface="Times New Roman" panose="02020603050405020304" pitchFamily="18" charset="0"/>
              </a:rPr>
              <a:t>….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例如 我们班的同学们，再如 正整数、 土豆、 苹果、 人、计算机等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b="1" dirty="0">
                <a:solidFill>
                  <a:srgbClr val="006600"/>
                </a:solidFill>
                <a:latin typeface="Times New Roman" panose="02020603050405020304" pitchFamily="18" charset="0"/>
              </a:rPr>
              <a:t>离散 </a:t>
            </a:r>
            <a:r>
              <a:rPr lang="zh-CN" altLang="en-US" b="1" dirty="0">
                <a:solidFill>
                  <a:srgbClr val="006600"/>
                </a:solidFill>
                <a:latin typeface="Times New Roman" panose="02020603050405020304" pitchFamily="18" charset="0"/>
                <a:sym typeface="Symbol" pitchFamily="2" charset="2"/>
              </a:rPr>
              <a:t> 孤立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: </a:t>
            </a:r>
            <a:r>
              <a:rPr lang="zh-CN" altLang="en-US" b="1" dirty="0">
                <a:latin typeface="Times New Roman" panose="02020603050405020304" pitchFamily="18" charset="0"/>
              </a:rPr>
              <a:t>社会网络</a:t>
            </a:r>
            <a:r>
              <a:rPr lang="en-US" altLang="zh-CN" b="1" dirty="0">
                <a:latin typeface="Times New Roman" panose="02020603050405020304" pitchFamily="18" charset="0"/>
              </a:rPr>
              <a:t>(social networks)</a:t>
            </a:r>
            <a:r>
              <a:rPr lang="zh-CN" altLang="en-US" b="1" dirty="0">
                <a:latin typeface="Times New Roman" panose="02020603050405020304" pitchFamily="18" charset="0"/>
              </a:rPr>
              <a:t>研究人与人之间的关系</a:t>
            </a:r>
            <a:r>
              <a:rPr lang="en-US" altLang="zh-CN" b="1" dirty="0">
                <a:latin typeface="Times New Roman" panose="02020603050405020304" pitchFamily="18" charset="0"/>
              </a:rPr>
              <a:t>, Internet</a:t>
            </a:r>
            <a:r>
              <a:rPr lang="zh-CN" altLang="en-US" b="1" dirty="0">
                <a:latin typeface="Times New Roman" panose="02020603050405020304" pitchFamily="18" charset="0"/>
              </a:rPr>
              <a:t>研究计算机之间的关系</a:t>
            </a:r>
            <a:r>
              <a:rPr lang="en-US" altLang="zh-CN" b="1" dirty="0">
                <a:latin typeface="Times New Roman" panose="02020603050405020304" pitchFamily="18" charset="0"/>
              </a:rPr>
              <a:t>, WWW</a:t>
            </a:r>
            <a:r>
              <a:rPr lang="zh-CN" altLang="en-US" b="1" dirty="0">
                <a:latin typeface="Times New Roman" panose="02020603050405020304" pitchFamily="18" charset="0"/>
              </a:rPr>
              <a:t>研究网页之间的关系</a:t>
            </a:r>
            <a:r>
              <a:rPr lang="en-US" altLang="zh-CN" b="1" dirty="0">
                <a:latin typeface="Times New Roman" panose="02020603050405020304" pitchFamily="18" charset="0"/>
              </a:rPr>
              <a:t>, …</a:t>
            </a:r>
          </a:p>
        </p:txBody>
      </p:sp>
      <p:sp>
        <p:nvSpPr>
          <p:cNvPr id="9219" name="灯片编号占位符 1">
            <a:extLst>
              <a:ext uri="{FF2B5EF4-FFF2-40B4-BE49-F238E27FC236}">
                <a16:creationId xmlns:a16="http://schemas.microsoft.com/office/drawing/2014/main" id="{6A86B4F2-C3BD-CB41-A912-EB1B26E98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2C2336-4780-5949-8B2F-45FCE814FC33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0" name="Rectangle 4">
            <a:extLst>
              <a:ext uri="{FF2B5EF4-FFF2-40B4-BE49-F238E27FC236}">
                <a16:creationId xmlns:a16="http://schemas.microsoft.com/office/drawing/2014/main" id="{9075287A-880B-1740-80F7-050ECBB3F429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离散数学就是研究</a:t>
            </a:r>
            <a:r>
              <a:rPr lang="zh-CN" altLang="en-US" b="1">
                <a:solidFill>
                  <a:srgbClr val="0070C0"/>
                </a:solidFill>
                <a:latin typeface="Times New Roman" panose="02020603050405020304" pitchFamily="18" charset="0"/>
              </a:rPr>
              <a:t>离散对象</a:t>
            </a:r>
            <a:r>
              <a:rPr lang="zh-CN" altLang="en-US" b="1">
                <a:latin typeface="Times New Roman" panose="02020603050405020304" pitchFamily="18" charset="0"/>
              </a:rPr>
              <a:t>及其之间的关系的学科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sz="3600" b="1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</a:rPr>
              <a:t>实际上</a:t>
            </a:r>
            <a:r>
              <a:rPr lang="en-US" altLang="zh-CN" b="1">
                <a:latin typeface="Times New Roman" panose="02020603050405020304" pitchFamily="18" charset="0"/>
                <a:ea typeface="华文楷体" panose="02010600040101010101" pitchFamily="2" charset="-122"/>
              </a:rPr>
              <a:t>, </a:t>
            </a:r>
            <a:r>
              <a:rPr lang="zh-CN" altLang="en-US" b="1">
                <a:latin typeface="Times New Roman" panose="02020603050405020304" pitchFamily="18" charset="0"/>
                <a:ea typeface="华文楷体" panose="02010600040101010101" pitchFamily="2" charset="-122"/>
              </a:rPr>
              <a:t>科学研究的任务就是发现对象之间的内在关系和规律</a:t>
            </a:r>
            <a:r>
              <a:rPr lang="en-US" altLang="zh-CN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/>
          </a:p>
        </p:txBody>
      </p:sp>
      <p:sp>
        <p:nvSpPr>
          <p:cNvPr id="10243" name="灯片编号占位符 1">
            <a:extLst>
              <a:ext uri="{FF2B5EF4-FFF2-40B4-BE49-F238E27FC236}">
                <a16:creationId xmlns:a16="http://schemas.microsoft.com/office/drawing/2014/main" id="{C28F7D83-4E81-9F4B-BE69-4283F43BB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F7182D-6C64-6144-927A-E4E03BEFB771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55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F2826889-AF28-EA42-A21A-75C9EF457CA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50825" y="2130425"/>
            <a:ext cx="8353425" cy="1470025"/>
          </a:xfrm>
        </p:spPr>
        <p:txBody>
          <a:bodyPr/>
          <a:lstStyle/>
          <a:p>
            <a:pPr eaLnBrk="1" hangingPunct="1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、计算机专业为何要学离散数学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3507583C-6C7B-DB44-B3AE-5E2D849BEE9B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177800"/>
            <a:ext cx="8229600" cy="586581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endParaRPr lang="en-US" altLang="zh-CN" b="1">
              <a:latin typeface="Times New Roman" panose="02020603050405020304" pitchFamily="18" charset="0"/>
            </a:endParaRPr>
          </a:p>
          <a:p>
            <a:pPr marL="0" indent="0" eaLnBrk="1" hangingPunct="1"/>
            <a:r>
              <a:rPr lang="en-US" altLang="zh-CN" b="1">
                <a:latin typeface="Times New Roman" panose="02020603050405020304" pitchFamily="18" charset="0"/>
              </a:rPr>
              <a:t>(1) </a:t>
            </a:r>
            <a:r>
              <a:rPr lang="zh-CN" altLang="en-US" b="1">
                <a:latin typeface="Times New Roman" panose="02020603050405020304" pitchFamily="18" charset="0"/>
              </a:rPr>
              <a:t>当今计算机处理的对象均离散</a:t>
            </a:r>
            <a:r>
              <a:rPr lang="en-US" altLang="zh-CN" b="1">
                <a:latin typeface="Times New Roman" panose="02020603050405020304" pitchFamily="18" charset="0"/>
              </a:rPr>
              <a:t>: 0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>
                <a:latin typeface="Times New Roman" panose="02020603050405020304" pitchFamily="18" charset="0"/>
              </a:rPr>
              <a:t>1.</a:t>
            </a:r>
          </a:p>
          <a:p>
            <a:pPr marL="0" indent="0"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marL="0" indent="0"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marL="0" indent="0"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marL="0" indent="0" eaLnBrk="1" hangingPunct="1"/>
            <a:r>
              <a:rPr lang="en-US" altLang="zh-CN" b="1">
                <a:latin typeface="Times New Roman" panose="02020603050405020304" pitchFamily="18" charset="0"/>
              </a:rPr>
              <a:t>(2) </a:t>
            </a:r>
            <a:r>
              <a:rPr lang="zh-CN" altLang="en-US" b="1">
                <a:latin typeface="Times New Roman" panose="02020603050405020304" pitchFamily="18" charset="0"/>
              </a:rPr>
              <a:t>为后继专业课程的学习作知识上的准备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marL="0" indent="0"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(3) </a:t>
            </a:r>
            <a:r>
              <a:rPr lang="zh-CN" altLang="en-US" b="1">
                <a:latin typeface="Times New Roman" panose="02020603050405020304" pitchFamily="18" charset="0"/>
              </a:rPr>
              <a:t>培养各种能力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zh-CN" altLang="en-US" b="1">
                <a:latin typeface="Times New Roman" panose="02020603050405020304" pitchFamily="18" charset="0"/>
              </a:rPr>
              <a:t>抽象思维能力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逻辑思维能力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计算思维</a:t>
            </a:r>
            <a:r>
              <a:rPr lang="en-US" altLang="zh-CN" b="1">
                <a:latin typeface="Times New Roman" panose="02020603050405020304" pitchFamily="18" charset="0"/>
              </a:rPr>
              <a:t>(computational thinking, 2006, Jeannette M. Wing</a:t>
            </a:r>
            <a:r>
              <a:rPr lang="en-US" altLang="zh-CN"/>
              <a:t> 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  <a:r>
              <a:rPr lang="zh-CN" altLang="en-US" b="1">
                <a:latin typeface="Times New Roman" panose="02020603050405020304" pitchFamily="18" charset="0"/>
              </a:rPr>
              <a:t>能力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en-US" altLang="zh-CN" sz="4000" b="1">
                <a:latin typeface="Times New Roman" panose="02020603050405020304" pitchFamily="18" charset="0"/>
              </a:rPr>
              <a:t>…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marL="0" indent="0" eaLnBrk="1" hangingPunct="1"/>
            <a:r>
              <a:rPr lang="en-US" altLang="zh-CN" b="1">
                <a:latin typeface="Times New Roman" panose="02020603050405020304" pitchFamily="18" charset="0"/>
              </a:rPr>
              <a:t>(4) (</a:t>
            </a:r>
            <a:r>
              <a:rPr lang="zh-CN" altLang="en-US" b="1">
                <a:latin typeface="Times New Roman" panose="02020603050405020304" pitchFamily="18" charset="0"/>
              </a:rPr>
              <a:t>教育部</a:t>
            </a:r>
            <a:r>
              <a:rPr lang="en-US" altLang="zh-CN" b="1">
                <a:latin typeface="Times New Roman" panose="02020603050405020304" pitchFamily="18" charset="0"/>
              </a:rPr>
              <a:t>, 2009)</a:t>
            </a:r>
            <a:r>
              <a:rPr lang="zh-CN" altLang="en-US" b="1">
                <a:latin typeface="Times New Roman" panose="02020603050405020304" pitchFamily="18" charset="0"/>
              </a:rPr>
              <a:t>离散数学是计算机各专业的</a:t>
            </a:r>
            <a:r>
              <a:rPr lang="zh-CN" altLang="en-US" b="1">
                <a:solidFill>
                  <a:schemeClr val="hlin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专业基础课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2291" name="灯片编号占位符 1">
            <a:extLst>
              <a:ext uri="{FF2B5EF4-FFF2-40B4-BE49-F238E27FC236}">
                <a16:creationId xmlns:a16="http://schemas.microsoft.com/office/drawing/2014/main" id="{2133455F-1A13-0F41-99EF-B5C2C4B27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F38907-7A6B-6D4A-A0CB-215FE16ED4DC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/>
          </a:p>
        </p:txBody>
      </p:sp>
      <p:pic>
        <p:nvPicPr>
          <p:cNvPr id="12292" name="Picture 5" descr="preview">
            <a:extLst>
              <a:ext uri="{FF2B5EF4-FFF2-40B4-BE49-F238E27FC236}">
                <a16:creationId xmlns:a16="http://schemas.microsoft.com/office/drawing/2014/main" id="{8A557C70-AB0C-2049-9A7B-16E540775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300" y="1484313"/>
            <a:ext cx="6192838" cy="145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4F0A67E-AB10-0B41-BE58-0D4896CBFC5E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519113" y="115888"/>
            <a:ext cx="8229600" cy="586581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b="1">
                <a:latin typeface="微软雅黑 Light" panose="020B0503020204020204" pitchFamily="34" charset="-122"/>
                <a:ea typeface="微软雅黑 Light" panose="020B0503020204020204" pitchFamily="34" charset="-122"/>
              </a:rPr>
              <a:t>计算机专业</a:t>
            </a:r>
            <a:r>
              <a:rPr lang="zh-CN" altLang="en-US" b="1">
                <a:solidFill>
                  <a:srgbClr val="C00000"/>
                </a:solidFill>
                <a:latin typeface="微软雅黑 Light" panose="020B0503020204020204" pitchFamily="34" charset="-122"/>
                <a:ea typeface="微软雅黑 Light" panose="020B0503020204020204" pitchFamily="34" charset="-122"/>
              </a:rPr>
              <a:t>八大核心课程</a:t>
            </a:r>
            <a:endParaRPr lang="en-US" altLang="zh-CN" b="1">
              <a:solidFill>
                <a:srgbClr val="C00000"/>
              </a:solidFill>
              <a:latin typeface="微软雅黑 Light" panose="020B0503020204020204" pitchFamily="34" charset="-122"/>
              <a:ea typeface="微软雅黑 Light" panose="020B0503020204020204" pitchFamily="34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程序设计语言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solidFill>
                  <a:srgbClr val="FFC000"/>
                </a:solidFill>
                <a:latin typeface="Times New Roman" panose="02020603050405020304" pitchFamily="18" charset="0"/>
                <a:ea typeface="楷体_GB2312" pitchFamily="49" charset="-122"/>
              </a:rPr>
              <a:t>离散数学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数据结构与算法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计算机组成原理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计算机网络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操作系统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数据库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软件工程</a:t>
            </a:r>
          </a:p>
        </p:txBody>
      </p:sp>
      <p:sp>
        <p:nvSpPr>
          <p:cNvPr id="13315" name="灯片编号占位符 1">
            <a:extLst>
              <a:ext uri="{FF2B5EF4-FFF2-40B4-BE49-F238E27FC236}">
                <a16:creationId xmlns:a16="http://schemas.microsoft.com/office/drawing/2014/main" id="{DE69C7C5-BD96-D746-83FD-33484B89E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19B7CF-C4AD-0F4F-AFB6-9970FD8271D0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>
            <a:extLst>
              <a:ext uri="{FF2B5EF4-FFF2-40B4-BE49-F238E27FC236}">
                <a16:creationId xmlns:a16="http://schemas.microsoft.com/office/drawing/2014/main" id="{19550351-059C-6245-B75A-AFBA613D1F5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、离散数学的基本内容</a:t>
            </a:r>
          </a:p>
        </p:txBody>
      </p:sp>
      <p:sp>
        <p:nvSpPr>
          <p:cNvPr id="14339" name="Rectangle 5">
            <a:extLst>
              <a:ext uri="{FF2B5EF4-FFF2-40B4-BE49-F238E27FC236}">
                <a16:creationId xmlns:a16="http://schemas.microsoft.com/office/drawing/2014/main" id="{7F4C52B9-2A76-2B43-BF50-58B1AA48331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 b="1" dirty="0" err="1">
                <a:latin typeface="Times New Roman" panose="02020603050405020304" pitchFamily="18" charset="0"/>
              </a:rPr>
              <a:t>Mathworld</a:t>
            </a:r>
            <a:endParaRPr lang="zh-CN" altLang="en-US" b="1" dirty="0">
              <a:latin typeface="Times New Roman" panose="02020603050405020304" pitchFamily="18" charset="0"/>
              <a:hlinkClick r:id="rId3"/>
            </a:endParaRP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hlinkClick r:id="rId3"/>
              </a:rPr>
              <a:t>http://mathworld.wolfram.com/topics/DiscreteMathematics.html</a:t>
            </a:r>
            <a:r>
              <a:rPr lang="en-US" altLang="zh-CN" dirty="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>
            <a:extLst>
              <a:ext uri="{FF2B5EF4-FFF2-40B4-BE49-F238E27FC236}">
                <a16:creationId xmlns:a16="http://schemas.microsoft.com/office/drawing/2014/main" id="{915374C7-63BE-E94E-B01D-DF8311B7C8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15363" name="幻灯片编号占位符 3">
            <a:extLst>
              <a:ext uri="{FF2B5EF4-FFF2-40B4-BE49-F238E27FC236}">
                <a16:creationId xmlns:a16="http://schemas.microsoft.com/office/drawing/2014/main" id="{D2999F57-AA3A-CE41-8A62-6BDC4EDFC2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C67F5F-E1AD-044D-8D2D-3CF63385EA2C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/>
          </a:p>
        </p:txBody>
      </p:sp>
      <p:pic>
        <p:nvPicPr>
          <p:cNvPr id="15364" name="内容占位符 4">
            <a:extLst>
              <a:ext uri="{FF2B5EF4-FFF2-40B4-BE49-F238E27FC236}">
                <a16:creationId xmlns:a16="http://schemas.microsoft.com/office/drawing/2014/main" id="{6661DD5B-A4A0-6A4F-B965-1911582AD48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54375" y="1404938"/>
            <a:ext cx="4918075" cy="4525962"/>
          </a:xfr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BABB3D9-FCE2-1941-8AE9-B94718C0017A}"/>
              </a:ext>
            </a:extLst>
          </p:cNvPr>
          <p:cNvSpPr txBox="1"/>
          <p:nvPr/>
        </p:nvSpPr>
        <p:spPr>
          <a:xfrm>
            <a:off x="395288" y="1884363"/>
            <a:ext cx="2520950" cy="36941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zh-Hans" altLang="en-US" dirty="0"/>
              <a:t>“</a:t>
            </a:r>
            <a:r>
              <a:rPr lang="en-US" altLang="zh-CN" dirty="0"/>
              <a:t>Discrete mathematics is the part of mathematics devoted to the study of </a:t>
            </a:r>
            <a:r>
              <a:rPr lang="en-US" altLang="zh-CN" b="1" dirty="0">
                <a:solidFill>
                  <a:schemeClr val="tx2">
                    <a:lumMod val="75000"/>
                  </a:schemeClr>
                </a:solidFill>
              </a:rPr>
              <a:t>discrete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chemeClr val="tx2">
                    <a:lumMod val="75000"/>
                  </a:schemeClr>
                </a:solidFill>
              </a:rPr>
              <a:t>objects</a:t>
            </a:r>
            <a:r>
              <a:rPr lang="en-US" altLang="zh-CN" dirty="0"/>
              <a:t>.</a:t>
            </a:r>
            <a:r>
              <a:rPr lang="zh-Hans" altLang="en-US" dirty="0"/>
              <a:t>”</a:t>
            </a:r>
            <a:endParaRPr lang="en-US" altLang="zh-Han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altLang="zh-Hans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zh-Hans" dirty="0"/>
              <a:t>Mathematical</a:t>
            </a:r>
            <a:r>
              <a:rPr lang="zh-Hans" altLang="en-US" dirty="0"/>
              <a:t> </a:t>
            </a:r>
            <a:r>
              <a:rPr lang="en-US" altLang="zh-Hans" dirty="0"/>
              <a:t>f</a:t>
            </a:r>
            <a:r>
              <a:rPr lang="en-US" altLang="zh-CN" dirty="0"/>
              <a:t>oundation</a:t>
            </a:r>
            <a:r>
              <a:rPr lang="en-US" altLang="zh-Hans" dirty="0"/>
              <a:t>s</a:t>
            </a:r>
            <a:r>
              <a:rPr lang="en-US" altLang="zh-CN" dirty="0"/>
              <a:t> for computer science students</a:t>
            </a: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kumimoji="1"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6A2E295-52D5-594F-8EA2-60487D66C6B9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1. </a:t>
            </a:r>
            <a:r>
              <a:rPr lang="zh-CN" altLang="en-US" sz="2000" b="1" dirty="0">
                <a:latin typeface="Times New Roman" panose="02020603050405020304" pitchFamily="18" charset="0"/>
              </a:rPr>
              <a:t>集合与关系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Chapter 1 </a:t>
            </a:r>
            <a:r>
              <a:rPr lang="zh-CN" altLang="en-US" sz="2000" b="1" dirty="0">
                <a:latin typeface="Times New Roman" panose="02020603050405020304" pitchFamily="18" charset="0"/>
              </a:rPr>
              <a:t>集合、映射与运算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Chapter 2 </a:t>
            </a:r>
            <a:r>
              <a:rPr lang="zh-CN" altLang="en-US" sz="2000" b="1" dirty="0">
                <a:latin typeface="Times New Roman" panose="02020603050405020304" pitchFamily="18" charset="0"/>
              </a:rPr>
              <a:t>关系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2. </a:t>
            </a:r>
            <a:r>
              <a:rPr lang="zh-CN" altLang="en-US" sz="2000" b="1" dirty="0">
                <a:latin typeface="Times New Roman" panose="02020603050405020304" pitchFamily="18" charset="0"/>
              </a:rPr>
              <a:t>数理逻辑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Chapter 3 </a:t>
            </a:r>
            <a:r>
              <a:rPr lang="zh-CN" altLang="en-US" sz="2000" b="1" dirty="0">
                <a:latin typeface="Times New Roman" panose="02020603050405020304" pitchFamily="18" charset="0"/>
              </a:rPr>
              <a:t>命题逻辑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Chapter 4 </a:t>
            </a:r>
            <a:r>
              <a:rPr lang="zh-CN" altLang="en-US" sz="2000" b="1" dirty="0">
                <a:latin typeface="Times New Roman" panose="02020603050405020304" pitchFamily="18" charset="0"/>
              </a:rPr>
              <a:t>谓词逻辑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3. </a:t>
            </a:r>
            <a:r>
              <a:rPr lang="zh-CN" altLang="en-US" sz="2000" b="1" dirty="0">
                <a:latin typeface="Times New Roman" panose="02020603050405020304" pitchFamily="18" charset="0"/>
              </a:rPr>
              <a:t>初等数论</a:t>
            </a:r>
            <a:r>
              <a:rPr lang="en-US" altLang="zh-CN" sz="2000" b="1" dirty="0">
                <a:latin typeface="Times New Roman" panose="02020603050405020304" pitchFamily="18" charset="0"/>
              </a:rPr>
              <a:t>(Chapter 5)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4. </a:t>
            </a:r>
            <a:r>
              <a:rPr lang="zh-CN" altLang="en-US" sz="2000" b="1" dirty="0">
                <a:latin typeface="Times New Roman" panose="02020603050405020304" pitchFamily="18" charset="0"/>
              </a:rPr>
              <a:t>图论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Chapter 6 </a:t>
            </a:r>
            <a:r>
              <a:rPr lang="zh-CN" altLang="en-US" sz="2000" b="1" dirty="0">
                <a:latin typeface="Times New Roman" panose="02020603050405020304" pitchFamily="18" charset="0"/>
              </a:rPr>
              <a:t>图论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Chapter 7 </a:t>
            </a:r>
            <a:r>
              <a:rPr lang="zh-CN" altLang="en-US" sz="2000" b="1" dirty="0">
                <a:latin typeface="Times New Roman" panose="02020603050405020304" pitchFamily="18" charset="0"/>
              </a:rPr>
              <a:t>几类特殊的图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5. </a:t>
            </a:r>
            <a:r>
              <a:rPr lang="zh-CN" altLang="en-US" sz="2000" b="1" dirty="0">
                <a:latin typeface="Times New Roman" panose="02020603050405020304" pitchFamily="18" charset="0"/>
              </a:rPr>
              <a:t>组合计数</a:t>
            </a:r>
            <a:r>
              <a:rPr lang="en-US" altLang="zh-CN" sz="2000" b="1" dirty="0">
                <a:latin typeface="Times New Roman" panose="02020603050405020304" pitchFamily="18" charset="0"/>
              </a:rPr>
              <a:t>(Chapter 8)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6.</a:t>
            </a:r>
            <a:r>
              <a:rPr lang="zh-CN" altLang="en-US" sz="2000" b="1" dirty="0">
                <a:latin typeface="Times New Roman" panose="02020603050405020304" pitchFamily="18" charset="0"/>
              </a:rPr>
              <a:t> 代数结构</a:t>
            </a:r>
            <a:r>
              <a:rPr lang="en-US" altLang="zh-CN" sz="2000" b="1" dirty="0">
                <a:latin typeface="Times New Roman" panose="02020603050405020304" pitchFamily="18" charset="0"/>
              </a:rPr>
              <a:t>(Chapter 9)</a:t>
            </a:r>
          </a:p>
          <a:p>
            <a:pPr eaLnBrk="1" hangingPunct="1">
              <a:lnSpc>
                <a:spcPct val="120000"/>
              </a:lnSpc>
            </a:pP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6387" name="灯片编号占位符 1">
            <a:extLst>
              <a:ext uri="{FF2B5EF4-FFF2-40B4-BE49-F238E27FC236}">
                <a16:creationId xmlns:a16="http://schemas.microsoft.com/office/drawing/2014/main" id="{B1B2A0B5-455E-F348-9990-1A8209C61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61A4A0-160B-4048-9273-0AED0BB4AB21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A419F65-4DB1-9643-9AB4-3E13B1F81748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1. </a:t>
            </a:r>
            <a:r>
              <a:rPr lang="zh-CN" altLang="en-US" sz="2000" b="1" dirty="0">
                <a:latin typeface="Times New Roman" panose="02020603050405020304" pitchFamily="18" charset="0"/>
              </a:rPr>
              <a:t>集合与关系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Chapter 1 </a:t>
            </a:r>
            <a:r>
              <a:rPr lang="zh-CN" altLang="en-US" sz="2000" b="1" dirty="0">
                <a:latin typeface="Times New Roman" panose="02020603050405020304" pitchFamily="18" charset="0"/>
              </a:rPr>
              <a:t>集合、映射与运算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Chapter 2 </a:t>
            </a:r>
            <a:r>
              <a:rPr lang="zh-CN" altLang="en-US" sz="2000" b="1" dirty="0">
                <a:latin typeface="Times New Roman" panose="02020603050405020304" pitchFamily="18" charset="0"/>
              </a:rPr>
              <a:t>关系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2. </a:t>
            </a:r>
            <a:r>
              <a:rPr lang="zh-CN" altLang="en-US" sz="2000" b="1" dirty="0">
                <a:latin typeface="Times New Roman" panose="02020603050405020304" pitchFamily="18" charset="0"/>
              </a:rPr>
              <a:t>数理逻辑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Chapter 3 </a:t>
            </a:r>
            <a:r>
              <a:rPr lang="zh-CN" altLang="en-US" sz="2000" b="1" dirty="0">
                <a:latin typeface="Times New Roman" panose="02020603050405020304" pitchFamily="18" charset="0"/>
              </a:rPr>
              <a:t>命题逻辑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Chapter 4 </a:t>
            </a:r>
            <a:r>
              <a:rPr lang="zh-CN" altLang="en-US" sz="2000" b="1" dirty="0">
                <a:latin typeface="Times New Roman" panose="02020603050405020304" pitchFamily="18" charset="0"/>
              </a:rPr>
              <a:t>谓词逻辑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初等数论</a:t>
            </a:r>
            <a:r>
              <a:rPr lang="en-US" altLang="zh-CN" sz="2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</a:rPr>
              <a:t>(Chapter 5)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4. </a:t>
            </a:r>
            <a:r>
              <a:rPr lang="zh-CN" altLang="en-US" sz="2000" b="1" dirty="0">
                <a:latin typeface="Times New Roman" panose="02020603050405020304" pitchFamily="18" charset="0"/>
              </a:rPr>
              <a:t>图论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Chapter 6 </a:t>
            </a:r>
            <a:r>
              <a:rPr lang="zh-CN" altLang="en-US" sz="2000" b="1" dirty="0">
                <a:latin typeface="Times New Roman" panose="02020603050405020304" pitchFamily="18" charset="0"/>
              </a:rPr>
              <a:t>图论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Chapter 7 </a:t>
            </a:r>
            <a:r>
              <a:rPr lang="zh-CN" altLang="en-US" sz="2000" b="1" dirty="0">
                <a:latin typeface="Times New Roman" panose="02020603050405020304" pitchFamily="18" charset="0"/>
              </a:rPr>
              <a:t>几类特殊的图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 b="1" dirty="0">
                <a:latin typeface="Times New Roman" panose="02020603050405020304" pitchFamily="18" charset="0"/>
              </a:rPr>
              <a:t>5. </a:t>
            </a:r>
            <a:r>
              <a:rPr lang="zh-CN" altLang="en-US" sz="2000" b="1" dirty="0">
                <a:latin typeface="Times New Roman" panose="02020603050405020304" pitchFamily="18" charset="0"/>
              </a:rPr>
              <a:t>组合计数</a:t>
            </a:r>
            <a:r>
              <a:rPr lang="en-US" altLang="zh-CN" sz="2000" b="1" dirty="0">
                <a:latin typeface="Times New Roman" panose="02020603050405020304" pitchFamily="18" charset="0"/>
              </a:rPr>
              <a:t>(Chapter 8)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 b="1" dirty="0">
                <a:solidFill>
                  <a:srgbClr val="CCCCCC"/>
                </a:solidFill>
                <a:latin typeface="Times New Roman" panose="02020603050405020304" pitchFamily="18" charset="0"/>
              </a:rPr>
              <a:t>6.</a:t>
            </a:r>
            <a:r>
              <a:rPr lang="zh-CN" altLang="en-US" sz="2000" b="1" dirty="0">
                <a:solidFill>
                  <a:srgbClr val="CCCCCC"/>
                </a:solidFill>
                <a:latin typeface="Times New Roman" panose="02020603050405020304" pitchFamily="18" charset="0"/>
              </a:rPr>
              <a:t> 代数结构</a:t>
            </a:r>
            <a:r>
              <a:rPr lang="en-US" altLang="zh-CN" sz="2000" b="1" dirty="0">
                <a:solidFill>
                  <a:srgbClr val="CCCCCC"/>
                </a:solidFill>
                <a:latin typeface="Times New Roman" panose="02020603050405020304" pitchFamily="18" charset="0"/>
              </a:rPr>
              <a:t>(Chapter 9)</a:t>
            </a:r>
          </a:p>
          <a:p>
            <a:pPr eaLnBrk="1" hangingPunct="1">
              <a:lnSpc>
                <a:spcPct val="120000"/>
              </a:lnSpc>
            </a:pPr>
            <a:endParaRPr lang="en-US" altLang="zh-CN" sz="2000" b="1" dirty="0">
              <a:latin typeface="Times New Roman" panose="02020603050405020304" pitchFamily="18" charset="0"/>
            </a:endParaRPr>
          </a:p>
        </p:txBody>
      </p:sp>
      <p:sp>
        <p:nvSpPr>
          <p:cNvPr id="17411" name="灯片编号占位符 1">
            <a:extLst>
              <a:ext uri="{FF2B5EF4-FFF2-40B4-BE49-F238E27FC236}">
                <a16:creationId xmlns:a16="http://schemas.microsoft.com/office/drawing/2014/main" id="{3E664F7A-E62A-7243-9F72-FEE314F6C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5E0EE9-55EF-F14E-8DDB-8AB62C0F3751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6EE263C-0767-224E-941E-9D17516958E9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 b="1"/>
          </a:p>
          <a:p>
            <a:pPr eaLnBrk="1" hangingPunct="1"/>
            <a:endParaRPr lang="en-US" altLang="zh-CN" b="1"/>
          </a:p>
          <a:p>
            <a:pPr eaLnBrk="1" hangingPunct="1"/>
            <a:r>
              <a:rPr lang="zh-CN" altLang="en-US" b="1"/>
              <a:t>各章内容之间的框架结构</a:t>
            </a:r>
            <a:r>
              <a:rPr lang="en-US" altLang="zh-CN" b="1"/>
              <a:t>: </a:t>
            </a:r>
          </a:p>
          <a:p>
            <a:pPr eaLnBrk="1" hangingPunct="1"/>
            <a:endParaRPr lang="en-US" altLang="zh-CN" b="1"/>
          </a:p>
          <a:p>
            <a:pPr eaLnBrk="1" hangingPunct="1"/>
            <a:endParaRPr lang="en-US" altLang="zh-CN"/>
          </a:p>
        </p:txBody>
      </p:sp>
      <p:sp>
        <p:nvSpPr>
          <p:cNvPr id="18435" name="Line 4">
            <a:extLst>
              <a:ext uri="{FF2B5EF4-FFF2-40B4-BE49-F238E27FC236}">
                <a16:creationId xmlns:a16="http://schemas.microsoft.com/office/drawing/2014/main" id="{3DC989B2-2113-3147-B9F2-5A4EF6168D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4005263"/>
            <a:ext cx="287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6" name="Line 5">
            <a:extLst>
              <a:ext uri="{FF2B5EF4-FFF2-40B4-BE49-F238E27FC236}">
                <a16:creationId xmlns:a16="http://schemas.microsoft.com/office/drawing/2014/main" id="{C0526D8A-3EC0-AD40-A903-228BBB365E20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5013325"/>
            <a:ext cx="2873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7" name="Line 6">
            <a:extLst>
              <a:ext uri="{FF2B5EF4-FFF2-40B4-BE49-F238E27FC236}">
                <a16:creationId xmlns:a16="http://schemas.microsoft.com/office/drawing/2014/main" id="{B5961A56-3C69-8144-AC5B-7AD58CA066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32131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8" name="Line 7">
            <a:extLst>
              <a:ext uri="{FF2B5EF4-FFF2-40B4-BE49-F238E27FC236}">
                <a16:creationId xmlns:a16="http://schemas.microsoft.com/office/drawing/2014/main" id="{4B2A87ED-FBEA-F643-A1C2-55CDB6F8C3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11638" y="4508500"/>
            <a:ext cx="16557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39" name="灯片编号占位符 1">
            <a:extLst>
              <a:ext uri="{FF2B5EF4-FFF2-40B4-BE49-F238E27FC236}">
                <a16:creationId xmlns:a16="http://schemas.microsoft.com/office/drawing/2014/main" id="{FAA1578D-33DB-9E4C-AC07-435C5F22D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34E461-7E8A-7241-BA4D-D1E8B1DEF7B5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/>
          </a:p>
        </p:txBody>
      </p:sp>
      <p:pic>
        <p:nvPicPr>
          <p:cNvPr id="18440" name="图片 3">
            <a:extLst>
              <a:ext uri="{FF2B5EF4-FFF2-40B4-BE49-F238E27FC236}">
                <a16:creationId xmlns:a16="http://schemas.microsoft.com/office/drawing/2014/main" id="{0F261498-E4FC-9B46-BBBD-0B4D5B16A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314575"/>
            <a:ext cx="6769100" cy="337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>
            <a:extLst>
              <a:ext uri="{FF2B5EF4-FFF2-40B4-BE49-F238E27FC236}">
                <a16:creationId xmlns:a16="http://schemas.microsoft.com/office/drawing/2014/main" id="{3C28FF61-9B57-AD4E-8261-ABFAAE619DF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、学习离散数学的方法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B1C55E4-C8DF-0D49-BE1E-022E93BB9E79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数学的学习方法</a:t>
            </a:r>
          </a:p>
          <a:p>
            <a:pPr lvl="1" eaLnBrk="1" hangingPunct="1"/>
            <a:r>
              <a:rPr lang="en-US" altLang="zh-CN" b="1" dirty="0">
                <a:latin typeface="Times New Roman" panose="02020603050405020304" pitchFamily="18" charset="0"/>
              </a:rPr>
              <a:t>1. </a:t>
            </a:r>
            <a:r>
              <a:rPr lang="zh-CN" altLang="en-US" b="1" dirty="0">
                <a:latin typeface="Times New Roman" panose="02020603050405020304" pitchFamily="18" charset="0"/>
              </a:rPr>
              <a:t>预习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</a:rPr>
              <a:t>智慧树平台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b="1" dirty="0">
                <a:latin typeface="Times New Roman" panose="02020603050405020304" pitchFamily="18" charset="0"/>
              </a:rPr>
              <a:t>2. </a:t>
            </a:r>
            <a:r>
              <a:rPr lang="zh-CN" altLang="en-US" b="1" dirty="0">
                <a:latin typeface="Times New Roman" panose="02020603050405020304" pitchFamily="18" charset="0"/>
              </a:rPr>
              <a:t>听课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</a:rPr>
              <a:t>课本</a:t>
            </a:r>
            <a:r>
              <a:rPr lang="en-US" altLang="zh-CN" b="1" dirty="0">
                <a:latin typeface="Times New Roman" panose="02020603050405020304" pitchFamily="18" charset="0"/>
              </a:rPr>
              <a:t>+</a:t>
            </a:r>
            <a:r>
              <a:rPr lang="zh-CN" altLang="en-US" b="1" dirty="0">
                <a:latin typeface="Times New Roman" panose="02020603050405020304" pitchFamily="18" charset="0"/>
              </a:rPr>
              <a:t>课堂练习本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en-US" altLang="zh-CN" b="1" dirty="0">
                <a:latin typeface="Times New Roman" panose="02020603050405020304" pitchFamily="18" charset="0"/>
              </a:rPr>
              <a:t>3. </a:t>
            </a:r>
            <a:r>
              <a:rPr lang="zh-CN" altLang="en-US" b="1" dirty="0">
                <a:latin typeface="Times New Roman" panose="02020603050405020304" pitchFamily="18" charset="0"/>
              </a:rPr>
              <a:t>复习</a:t>
            </a:r>
          </a:p>
          <a:p>
            <a:pPr lvl="1"/>
            <a:r>
              <a:rPr lang="en-US" altLang="zh-CN" b="1" dirty="0">
                <a:latin typeface="Times New Roman" panose="02020603050405020304" pitchFamily="18" charset="0"/>
              </a:rPr>
              <a:t>4. </a:t>
            </a:r>
            <a:r>
              <a:rPr lang="zh-CN" altLang="en-US" sz="3200" b="1" dirty="0">
                <a:solidFill>
                  <a:srgbClr val="00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作业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</a:rPr>
              <a:t>智慧树平台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/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这样就可以专心致志地学好离散数学理论知识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在后继课程中有实际的应用价值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sz="2400" dirty="0">
                <a:latin typeface="Times New Roman" panose="02020603050405020304" pitchFamily="18" charset="0"/>
              </a:rPr>
              <a:t>【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哈工大</a:t>
            </a: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门课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上海交大</a:t>
            </a: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门课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北大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两学期</a:t>
            </a:r>
            <a:r>
              <a:rPr lang="en-US" altLang="zh-CN" sz="2400" dirty="0">
                <a:latin typeface="Times New Roman" panose="02020603050405020304" pitchFamily="18" charset="0"/>
              </a:rPr>
              <a:t>,…】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20483" name="灯片编号占位符 1">
            <a:extLst>
              <a:ext uri="{FF2B5EF4-FFF2-40B4-BE49-F238E27FC236}">
                <a16:creationId xmlns:a16="http://schemas.microsoft.com/office/drawing/2014/main" id="{E97A05F7-D02C-CA43-93BE-E003B0F84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37DA6B-C45A-BC42-90AE-5A64CE51AB3C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>
            <a:extLst>
              <a:ext uri="{FF2B5EF4-FFF2-40B4-BE49-F238E27FC236}">
                <a16:creationId xmlns:a16="http://schemas.microsoft.com/office/drawing/2014/main" id="{E776807F-06E8-B440-8FF8-70777DDF6F2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7950" y="1196975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5</a:t>
            </a:r>
            <a:r>
              <a:rPr lang="zh-CN" altLang="en-US">
                <a:latin typeface="Times New Roman" panose="02020603050405020304" pitchFamily="18" charset="0"/>
              </a:rPr>
              <a:t>、</a:t>
            </a:r>
            <a:r>
              <a:rPr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离散数学的学习资源</a:t>
            </a:r>
          </a:p>
        </p:txBody>
      </p:sp>
      <p:sp>
        <p:nvSpPr>
          <p:cNvPr id="21507" name="文本框 1">
            <a:extLst>
              <a:ext uri="{FF2B5EF4-FFF2-40B4-BE49-F238E27FC236}">
                <a16:creationId xmlns:a16="http://schemas.microsoft.com/office/drawing/2014/main" id="{FC26A297-60C6-DC4C-B800-A90981667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2852738"/>
            <a:ext cx="7345362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zh-CN" altLang="en-US" sz="2800" b="1">
                <a:solidFill>
                  <a:srgbClr val="0070C0"/>
                </a:solidFill>
              </a:rPr>
              <a:t>授课选用教材</a:t>
            </a:r>
            <a:r>
              <a:rPr lang="zh-CN" altLang="en-US" sz="2800"/>
              <a:t>：</a:t>
            </a:r>
            <a:r>
              <a:rPr lang="zh-CN" altLang="en-US" sz="2800" b="1">
                <a:latin typeface="Times New Roman" panose="02020603050405020304" pitchFamily="18" charset="0"/>
              </a:rPr>
              <a:t>邓辉文编著 离散数学（第</a:t>
            </a:r>
            <a:r>
              <a:rPr lang="en-US" altLang="zh-CN" sz="2800" b="1">
                <a:latin typeface="Times New Roman" panose="02020603050405020304" pitchFamily="18" charset="0"/>
              </a:rPr>
              <a:t>4</a:t>
            </a:r>
            <a:r>
              <a:rPr lang="zh-CN" altLang="en-US" sz="2800" b="1">
                <a:latin typeface="Times New Roman" panose="02020603050405020304" pitchFamily="18" charset="0"/>
              </a:rPr>
              <a:t>版）清华大学出版社 </a:t>
            </a:r>
            <a:r>
              <a:rPr lang="en-US" altLang="zh-CN" sz="2800" b="1">
                <a:latin typeface="Times New Roman" panose="02020603050405020304" pitchFamily="18" charset="0"/>
              </a:rPr>
              <a:t>2019</a:t>
            </a:r>
            <a:endParaRPr lang="zh-CN" altLang="en-US" sz="2800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1508" name="矩形 2">
            <a:extLst>
              <a:ext uri="{FF2B5EF4-FFF2-40B4-BE49-F238E27FC236}">
                <a16:creationId xmlns:a16="http://schemas.microsoft.com/office/drawing/2014/main" id="{E6B4B781-3DC9-9C4A-AC4F-9B6F59C36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3898900"/>
            <a:ext cx="4656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itchFamily="2" charset="2"/>
              <a:buChar char="Ø"/>
            </a:pPr>
            <a:r>
              <a:rPr lang="zh-CN" altLang="en-US" sz="1800" b="1">
                <a:latin typeface="Verdana" panose="020B0604030504040204" pitchFamily="34" charset="0"/>
              </a:rPr>
              <a:t>普通高等教育</a:t>
            </a:r>
            <a:r>
              <a:rPr lang="zh-CN" altLang="en-US" sz="1800" b="1"/>
              <a:t>“</a:t>
            </a:r>
            <a:r>
              <a:rPr lang="zh-CN" altLang="en-US" sz="1800" b="1">
                <a:latin typeface="Verdana" panose="020B0604030504040204" pitchFamily="34" charset="0"/>
              </a:rPr>
              <a:t>十二五</a:t>
            </a:r>
            <a:r>
              <a:rPr lang="zh-CN" altLang="en-US" sz="1800" b="1"/>
              <a:t>”</a:t>
            </a:r>
            <a:r>
              <a:rPr lang="zh-CN" altLang="en-US" sz="1800" b="1">
                <a:latin typeface="Verdana" panose="020B0604030504040204" pitchFamily="34" charset="0"/>
              </a:rPr>
              <a:t>国家级规划教材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DCD48EE8-8665-EC48-8866-E19199F89916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323850" y="395288"/>
            <a:ext cx="8569325" cy="5865812"/>
          </a:xfrm>
        </p:spPr>
        <p:txBody>
          <a:bodyPr/>
          <a:lstStyle/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参考书籍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zh-CN" altLang="en-US" b="1">
                <a:latin typeface="Times New Roman" panose="02020603050405020304" pitchFamily="18" charset="0"/>
              </a:rPr>
              <a:t>均为国家精品课程</a:t>
            </a:r>
            <a:r>
              <a:rPr lang="en-US" altLang="zh-CN" b="1">
                <a:latin typeface="Times New Roman" panose="02020603050405020304" pitchFamily="18" charset="0"/>
              </a:rPr>
              <a:t>):</a:t>
            </a:r>
          </a:p>
          <a:p>
            <a:pPr lvl="1" eaLnBrk="1" hangingPunct="1"/>
            <a:r>
              <a:rPr lang="zh-CN" altLang="en-US" sz="2500" b="1">
                <a:latin typeface="Times New Roman" panose="02020603050405020304" pitchFamily="18" charset="0"/>
              </a:rPr>
              <a:t>屈婉玲</a:t>
            </a:r>
            <a:r>
              <a:rPr lang="en-US" altLang="zh-CN" sz="2500" b="1">
                <a:latin typeface="Times New Roman" panose="02020603050405020304" pitchFamily="18" charset="0"/>
              </a:rPr>
              <a:t>, </a:t>
            </a:r>
            <a:r>
              <a:rPr lang="zh-CN" altLang="en-US" sz="2500" b="1">
                <a:latin typeface="Times New Roman" panose="02020603050405020304" pitchFamily="18" charset="0"/>
              </a:rPr>
              <a:t>耿素云</a:t>
            </a:r>
            <a:r>
              <a:rPr lang="en-US" altLang="zh-CN" sz="2500" b="1">
                <a:latin typeface="Times New Roman" panose="02020603050405020304" pitchFamily="18" charset="0"/>
              </a:rPr>
              <a:t>, </a:t>
            </a:r>
            <a:r>
              <a:rPr lang="zh-CN" altLang="en-US" sz="2500" b="1">
                <a:latin typeface="Times New Roman" panose="02020603050405020304" pitchFamily="18" charset="0"/>
              </a:rPr>
              <a:t>张立昂</a:t>
            </a:r>
            <a:r>
              <a:rPr lang="en-US" altLang="zh-CN" sz="2500" b="1">
                <a:latin typeface="Times New Roman" panose="02020603050405020304" pitchFamily="18" charset="0"/>
              </a:rPr>
              <a:t>, </a:t>
            </a:r>
            <a:r>
              <a:rPr lang="zh-CN" altLang="en-US" sz="2500" b="1">
                <a:solidFill>
                  <a:schemeClr val="hlin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离散数学</a:t>
            </a:r>
            <a:r>
              <a:rPr lang="en-US" altLang="zh-CN" sz="2500" b="1">
                <a:latin typeface="Times New Roman" panose="02020603050405020304" pitchFamily="18" charset="0"/>
              </a:rPr>
              <a:t>, </a:t>
            </a:r>
            <a:r>
              <a:rPr lang="zh-CN" altLang="en-US" sz="2500" b="1">
                <a:latin typeface="Times New Roman" panose="02020603050405020304" pitchFamily="18" charset="0"/>
              </a:rPr>
              <a:t>高等教育出版社</a:t>
            </a:r>
            <a:r>
              <a:rPr lang="en-US" altLang="zh-CN" sz="2500" b="1">
                <a:latin typeface="Times New Roman" panose="02020603050405020304" pitchFamily="18" charset="0"/>
              </a:rPr>
              <a:t>, 2007. (108—144</a:t>
            </a:r>
            <a:r>
              <a:rPr lang="zh-CN" altLang="en-US" sz="2500" b="1">
                <a:latin typeface="Times New Roman" panose="02020603050405020304" pitchFamily="18" charset="0"/>
              </a:rPr>
              <a:t>学时</a:t>
            </a:r>
            <a:r>
              <a:rPr lang="en-US" altLang="zh-CN" sz="2500" b="1">
                <a:latin typeface="Times New Roman" panose="02020603050405020304" pitchFamily="18" charset="0"/>
              </a:rPr>
              <a:t>)</a:t>
            </a:r>
          </a:p>
          <a:p>
            <a:pPr lvl="1" eaLnBrk="1" hangingPunct="1"/>
            <a:r>
              <a:rPr lang="zh-CN" altLang="en-US" sz="2500" b="1">
                <a:latin typeface="Times New Roman" panose="02020603050405020304" pitchFamily="18" charset="0"/>
              </a:rPr>
              <a:t>傅彦</a:t>
            </a:r>
            <a:r>
              <a:rPr lang="en-US" altLang="zh-CN" sz="2500" b="1">
                <a:latin typeface="Times New Roman" panose="02020603050405020304" pitchFamily="18" charset="0"/>
              </a:rPr>
              <a:t>, </a:t>
            </a:r>
            <a:r>
              <a:rPr lang="zh-CN" altLang="en-US" sz="2500" b="1">
                <a:latin typeface="Times New Roman" panose="02020603050405020304" pitchFamily="18" charset="0"/>
              </a:rPr>
              <a:t>顾小丰</a:t>
            </a:r>
            <a:r>
              <a:rPr lang="en-US" altLang="zh-CN" sz="2500" b="1">
                <a:latin typeface="Times New Roman" panose="02020603050405020304" pitchFamily="18" charset="0"/>
              </a:rPr>
              <a:t>, </a:t>
            </a:r>
            <a:r>
              <a:rPr lang="zh-CN" altLang="en-US" sz="2500" b="1">
                <a:latin typeface="Times New Roman" panose="02020603050405020304" pitchFamily="18" charset="0"/>
              </a:rPr>
              <a:t>王庆先</a:t>
            </a:r>
            <a:r>
              <a:rPr lang="en-US" altLang="zh-CN" sz="2500" b="1">
                <a:latin typeface="Times New Roman" panose="02020603050405020304" pitchFamily="18" charset="0"/>
              </a:rPr>
              <a:t>, </a:t>
            </a:r>
            <a:r>
              <a:rPr lang="zh-CN" altLang="en-US" sz="2500" b="1">
                <a:solidFill>
                  <a:schemeClr val="hlin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离散数学及其应用</a:t>
            </a:r>
            <a:r>
              <a:rPr lang="en-US" altLang="zh-CN" sz="2500" b="1">
                <a:latin typeface="Times New Roman" panose="02020603050405020304" pitchFamily="18" charset="0"/>
              </a:rPr>
              <a:t>, </a:t>
            </a:r>
            <a:r>
              <a:rPr lang="zh-CN" altLang="en-US" sz="2500" b="1">
                <a:latin typeface="Times New Roman" panose="02020603050405020304" pitchFamily="18" charset="0"/>
              </a:rPr>
              <a:t>高等教育出版社</a:t>
            </a:r>
            <a:r>
              <a:rPr lang="en-US" altLang="zh-CN" sz="2500" b="1">
                <a:latin typeface="Times New Roman" panose="02020603050405020304" pitchFamily="18" charset="0"/>
              </a:rPr>
              <a:t>, 2008. (</a:t>
            </a:r>
            <a:r>
              <a:rPr lang="zh-CN" altLang="en-US" sz="2500" b="1">
                <a:latin typeface="Times New Roman" panose="02020603050405020304" pitchFamily="18" charset="0"/>
              </a:rPr>
              <a:t>两个学期</a:t>
            </a:r>
            <a:r>
              <a:rPr lang="en-US" altLang="zh-CN" sz="2500" b="1">
                <a:latin typeface="Times New Roman" panose="02020603050405020304" pitchFamily="18" charset="0"/>
              </a:rPr>
              <a:t>)</a:t>
            </a:r>
            <a:endParaRPr lang="en-US" altLang="zh-CN" sz="2500" b="1"/>
          </a:p>
          <a:p>
            <a:pPr lvl="1" eaLnBrk="1" hangingPunct="1"/>
            <a:r>
              <a:rPr lang="zh-CN" altLang="en-US" sz="2500" b="1">
                <a:latin typeface="Times New Roman" panose="02020603050405020304" pitchFamily="18" charset="0"/>
              </a:rPr>
              <a:t>王元元</a:t>
            </a:r>
            <a:r>
              <a:rPr lang="en-US" altLang="zh-CN" sz="2500" b="1">
                <a:latin typeface="Times New Roman" panose="02020603050405020304" pitchFamily="18" charset="0"/>
              </a:rPr>
              <a:t>, </a:t>
            </a:r>
            <a:r>
              <a:rPr lang="zh-CN" altLang="en-US" sz="2500" b="1">
                <a:latin typeface="Times New Roman" panose="02020603050405020304" pitchFamily="18" charset="0"/>
              </a:rPr>
              <a:t>沈克勤</a:t>
            </a:r>
            <a:r>
              <a:rPr lang="en-US" altLang="zh-CN" sz="2500" b="1">
                <a:latin typeface="Times New Roman" panose="02020603050405020304" pitchFamily="18" charset="0"/>
              </a:rPr>
              <a:t>, </a:t>
            </a:r>
            <a:r>
              <a:rPr lang="zh-CN" altLang="en-US" sz="2500" b="1">
                <a:latin typeface="Times New Roman" panose="02020603050405020304" pitchFamily="18" charset="0"/>
              </a:rPr>
              <a:t>李拥军</a:t>
            </a:r>
            <a:r>
              <a:rPr lang="en-US" altLang="zh-CN" sz="2500" b="1">
                <a:latin typeface="Times New Roman" panose="02020603050405020304" pitchFamily="18" charset="0"/>
              </a:rPr>
              <a:t>, </a:t>
            </a:r>
            <a:r>
              <a:rPr lang="zh-CN" altLang="en-US" sz="2500" b="1">
                <a:latin typeface="Times New Roman" panose="02020603050405020304" pitchFamily="18" charset="0"/>
              </a:rPr>
              <a:t>贺汛</a:t>
            </a:r>
            <a:r>
              <a:rPr lang="en-US" altLang="zh-CN" sz="2500" b="1">
                <a:latin typeface="Times New Roman" panose="02020603050405020304" pitchFamily="18" charset="0"/>
              </a:rPr>
              <a:t>, </a:t>
            </a:r>
            <a:r>
              <a:rPr lang="zh-CN" altLang="en-US" sz="2500" b="1">
                <a:solidFill>
                  <a:schemeClr val="hlin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离散数学教程</a:t>
            </a:r>
            <a:r>
              <a:rPr lang="en-US" altLang="zh-CN" sz="2500" b="1">
                <a:latin typeface="Times New Roman" panose="02020603050405020304" pitchFamily="18" charset="0"/>
              </a:rPr>
              <a:t>, </a:t>
            </a:r>
            <a:r>
              <a:rPr lang="zh-CN" altLang="en-US" sz="2500" b="1">
                <a:latin typeface="Times New Roman" panose="02020603050405020304" pitchFamily="18" charset="0"/>
              </a:rPr>
              <a:t>高等教育出版社</a:t>
            </a:r>
            <a:r>
              <a:rPr lang="en-US" altLang="zh-CN" sz="2500" b="1">
                <a:latin typeface="Times New Roman" panose="02020603050405020304" pitchFamily="18" charset="0"/>
              </a:rPr>
              <a:t>, 2010.</a:t>
            </a:r>
          </a:p>
          <a:p>
            <a:pPr lvl="1" eaLnBrk="1" hangingPunct="1"/>
            <a:r>
              <a:rPr lang="zh-CN" altLang="en-US" sz="2500" b="1">
                <a:latin typeface="Times New Roman" panose="02020603050405020304" pitchFamily="18" charset="0"/>
              </a:rPr>
              <a:t>陈莉、刘晓霞</a:t>
            </a:r>
            <a:r>
              <a:rPr lang="en-US" altLang="zh-CN" sz="2500" b="1">
                <a:latin typeface="Times New Roman" panose="02020603050405020304" pitchFamily="18" charset="0"/>
              </a:rPr>
              <a:t>, </a:t>
            </a:r>
            <a:r>
              <a:rPr lang="zh-CN" altLang="en-US" sz="2500" b="1">
                <a:solidFill>
                  <a:schemeClr val="hlin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离散数学</a:t>
            </a:r>
            <a:r>
              <a:rPr lang="en-US" altLang="zh-CN" sz="2500" b="1">
                <a:solidFill>
                  <a:schemeClr val="hlin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(</a:t>
            </a:r>
            <a:r>
              <a:rPr lang="zh-CN" altLang="en-US" sz="2500" b="1">
                <a:solidFill>
                  <a:schemeClr val="hlin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第</a:t>
            </a:r>
            <a:r>
              <a:rPr lang="en-US" altLang="zh-CN" sz="2500" b="1">
                <a:solidFill>
                  <a:schemeClr val="hlin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lang="zh-CN" altLang="en-US" sz="2500" b="1">
                <a:solidFill>
                  <a:schemeClr val="hlin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版</a:t>
            </a:r>
            <a:r>
              <a:rPr lang="en-US" altLang="zh-CN" sz="2500" b="1">
                <a:solidFill>
                  <a:schemeClr val="hlin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)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500" b="1">
                <a:latin typeface="Times New Roman" panose="02020603050405020304" pitchFamily="18" charset="0"/>
              </a:rPr>
              <a:t>高等教育出版社</a:t>
            </a:r>
            <a:r>
              <a:rPr lang="en-US" altLang="zh-CN" sz="2500" b="1">
                <a:latin typeface="Times New Roman" panose="02020603050405020304" pitchFamily="18" charset="0"/>
              </a:rPr>
              <a:t>, 2010.</a:t>
            </a:r>
          </a:p>
          <a:p>
            <a:pPr lvl="1" eaLnBrk="1" hangingPunct="1"/>
            <a:r>
              <a:rPr lang="zh-CN" altLang="en-US" sz="2500" b="1">
                <a:latin typeface="Times New Roman" panose="02020603050405020304" pitchFamily="18" charset="0"/>
              </a:rPr>
              <a:t>杨炳儒、谢永红等</a:t>
            </a:r>
            <a:r>
              <a:rPr lang="en-US" altLang="zh-CN" sz="2500" b="1">
                <a:latin typeface="Times New Roman" panose="02020603050405020304" pitchFamily="18" charset="0"/>
              </a:rPr>
              <a:t>, </a:t>
            </a:r>
            <a:r>
              <a:rPr lang="zh-CN" altLang="en-US" sz="2500" b="1">
                <a:solidFill>
                  <a:schemeClr val="hlink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离散数学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500" b="1">
                <a:latin typeface="Times New Roman" panose="02020603050405020304" pitchFamily="18" charset="0"/>
              </a:rPr>
              <a:t>高等教育出版社</a:t>
            </a:r>
            <a:r>
              <a:rPr lang="en-US" altLang="zh-CN" sz="2500" b="1">
                <a:latin typeface="Times New Roman" panose="02020603050405020304" pitchFamily="18" charset="0"/>
              </a:rPr>
              <a:t>, 2012</a:t>
            </a:r>
            <a:r>
              <a:rPr lang="en-US" altLang="zh-CN" sz="2500" b="1"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endParaRPr lang="en-US" altLang="zh-CN" sz="2500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Ebooks?</a:t>
            </a:r>
          </a:p>
        </p:txBody>
      </p:sp>
      <p:sp>
        <p:nvSpPr>
          <p:cNvPr id="22531" name="灯片编号占位符 1">
            <a:extLst>
              <a:ext uri="{FF2B5EF4-FFF2-40B4-BE49-F238E27FC236}">
                <a16:creationId xmlns:a16="http://schemas.microsoft.com/office/drawing/2014/main" id="{FD2DB946-BC36-1C45-819E-A678F83C4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DFECC3-31C0-0B4B-9C4E-506FE2CEBD78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F8472364-4152-2C40-B92F-2C4C7157599D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390525" y="415925"/>
            <a:ext cx="8362950" cy="5865813"/>
          </a:xfrm>
        </p:spPr>
        <p:txBody>
          <a:bodyPr/>
          <a:lstStyle/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有关网络教学资源：</a:t>
            </a:r>
            <a:endParaRPr lang="zh-CN" altLang="de-DE" b="1">
              <a:latin typeface="Times New Roman" panose="02020603050405020304" pitchFamily="18" charset="0"/>
            </a:endParaRPr>
          </a:p>
          <a:p>
            <a:pPr eaLnBrk="1" hangingPunct="1"/>
            <a:r>
              <a:rPr lang="de-DE" altLang="zh-CN" b="1">
                <a:latin typeface="Times New Roman" panose="02020603050405020304" pitchFamily="18" charset="0"/>
              </a:rPr>
              <a:t>(1) Kenneth H. Rosen website: http://www.mhhe.com/rosen</a:t>
            </a: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《Discrete Mathematics and Its Applications》(</a:t>
            </a:r>
            <a:r>
              <a:rPr lang="zh-CN" altLang="en-US" b="1">
                <a:latin typeface="Times New Roman" panose="02020603050405020304" pitchFamily="18" charset="0"/>
              </a:rPr>
              <a:t>世界上有</a:t>
            </a:r>
            <a:r>
              <a:rPr lang="en-US" altLang="zh-CN" b="1">
                <a:latin typeface="Times New Roman" panose="02020603050405020304" pitchFamily="18" charset="0"/>
              </a:rPr>
              <a:t>600</a:t>
            </a:r>
            <a:r>
              <a:rPr lang="zh-CN" altLang="en-US" b="1">
                <a:latin typeface="Times New Roman" panose="02020603050405020304" pitchFamily="18" charset="0"/>
              </a:rPr>
              <a:t>多所大学使用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有影印本和翻译本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(2) ArsDigita University: http://aduni.org/courses/discrete/index.php?view=cw </a:t>
            </a:r>
          </a:p>
        </p:txBody>
      </p:sp>
      <p:sp>
        <p:nvSpPr>
          <p:cNvPr id="23555" name="灯片编号占位符 1">
            <a:extLst>
              <a:ext uri="{FF2B5EF4-FFF2-40B4-BE49-F238E27FC236}">
                <a16:creationId xmlns:a16="http://schemas.microsoft.com/office/drawing/2014/main" id="{DA61A59C-E929-A641-8267-D5AA25166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F36D91-DE37-984A-AF69-AE27FEFF4C07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0E91FCD-3E40-A540-8EFA-1E93CEFA07CD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sz="2800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</a:rPr>
              <a:t>(3) Harver Mudd College: </a:t>
            </a: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</a:rPr>
              <a:t>http://www.infocobuild.com/education/learn-through-</a:t>
            </a:r>
            <a:r>
              <a:rPr lang="en-US" altLang="zh-CN" sz="2800" b="1">
                <a:solidFill>
                  <a:srgbClr val="006600"/>
                </a:solidFill>
                <a:latin typeface="Times New Roman" panose="02020603050405020304" pitchFamily="18" charset="0"/>
              </a:rPr>
              <a:t>videos</a:t>
            </a:r>
            <a:r>
              <a:rPr lang="en-US" altLang="zh-CN" sz="2800" b="1">
                <a:latin typeface="Times New Roman" panose="02020603050405020304" pitchFamily="18" charset="0"/>
              </a:rPr>
              <a:t>/mathematics/discrete-mathematics.html</a:t>
            </a: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</a:rPr>
              <a:t>(4) MIT(Massachusetts Institute of Technology): </a:t>
            </a: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</a:rPr>
              <a:t>http://ocw.mit.edu/OcwWeb/Electrical-Engineering-and-Computer-Science/6-042JFall-2005/CourseHome/index.htm</a:t>
            </a:r>
            <a:r>
              <a:rPr lang="en-US" altLang="zh-CN"/>
              <a:t> </a:t>
            </a:r>
            <a:endParaRPr lang="en-US" altLang="zh-CN" sz="28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(5) 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49" charset="-122"/>
              </a:rPr>
              <a:t>离散数学资源共享课程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:   http://www.</a:t>
            </a:r>
            <a:r>
              <a: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icourses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49" charset="-122"/>
              </a:rPr>
              <a:t>.edu.cn/</a:t>
            </a:r>
          </a:p>
        </p:txBody>
      </p:sp>
      <p:sp>
        <p:nvSpPr>
          <p:cNvPr id="24579" name="灯片编号占位符 1">
            <a:extLst>
              <a:ext uri="{FF2B5EF4-FFF2-40B4-BE49-F238E27FC236}">
                <a16:creationId xmlns:a16="http://schemas.microsoft.com/office/drawing/2014/main" id="{DE2D0498-1393-664F-AED7-9CAE4B4E9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F53783D-718F-E246-B93E-9D2E4C1C342C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内容占位符 1">
            <a:extLst>
              <a:ext uri="{FF2B5EF4-FFF2-40B4-BE49-F238E27FC236}">
                <a16:creationId xmlns:a16="http://schemas.microsoft.com/office/drawing/2014/main" id="{6B1BBA33-A2C4-CA4F-958F-3A236A5692A3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11163" y="1524000"/>
            <a:ext cx="8229600" cy="5865813"/>
          </a:xfrm>
        </p:spPr>
        <p:txBody>
          <a:bodyPr/>
          <a:lstStyle/>
          <a:p>
            <a:r>
              <a:rPr lang="zh-CN" altLang="en-US" dirty="0"/>
              <a:t>课程考核：</a:t>
            </a:r>
            <a:endParaRPr lang="en-US" altLang="zh-CN" dirty="0"/>
          </a:p>
          <a:p>
            <a:endParaRPr lang="en-US" altLang="zh-CN" sz="2000" dirty="0"/>
          </a:p>
          <a:p>
            <a:r>
              <a:rPr kumimoji="1" lang="en-US" altLang="zh-CN" dirty="0"/>
              <a:t>Final exam grade: 70%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Regular grade:</a:t>
            </a:r>
            <a:r>
              <a:rPr kumimoji="1" lang="zh-CN" altLang="en-US" dirty="0"/>
              <a:t> </a:t>
            </a:r>
            <a:r>
              <a:rPr kumimoji="1" lang="en-US" altLang="zh-CN" dirty="0"/>
              <a:t>30%</a:t>
            </a:r>
          </a:p>
          <a:p>
            <a:endParaRPr lang="zh-CN" altLang="en-US" dirty="0"/>
          </a:p>
        </p:txBody>
      </p:sp>
      <p:sp>
        <p:nvSpPr>
          <p:cNvPr id="25603" name="灯片编号占位符 2">
            <a:extLst>
              <a:ext uri="{FF2B5EF4-FFF2-40B4-BE49-F238E27FC236}">
                <a16:creationId xmlns:a16="http://schemas.microsoft.com/office/drawing/2014/main" id="{6D90CFC4-64DA-6940-992E-9FBD295CA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D0AD065-A79E-E54F-A0B5-526491AA2086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53AFC53-852A-1A47-9F39-27F6CDEBB82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第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zh-CN" altLang="en-US" b="1">
                <a:latin typeface="Times New Roman" panose="02020603050405020304" pitchFamily="18" charset="0"/>
              </a:rPr>
              <a:t>章  集合、映射与运算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0130ED23-7A96-914B-9962-B8BE84077EC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1.1 </a:t>
            </a:r>
            <a:r>
              <a:rPr lang="zh-CN" altLang="en-US" b="1">
                <a:latin typeface="Times New Roman" panose="02020603050405020304" pitchFamily="18" charset="0"/>
              </a:rPr>
              <a:t>集合的有关概念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C9ADDA3A-24D9-EB41-9B61-AC16A94D72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550" y="361950"/>
            <a:ext cx="7715250" cy="1157288"/>
          </a:xfrm>
        </p:spPr>
        <p:txBody>
          <a:bodyPr/>
          <a:lstStyle/>
          <a:p>
            <a:pPr algn="l" eaLnBrk="1" hangingPunct="1"/>
            <a:r>
              <a:rPr lang="zh-CN" altLang="en-US" b="1"/>
              <a:t>本讲内容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753EB69-3A91-0945-92E7-B125C469A0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pSp>
        <p:nvGrpSpPr>
          <p:cNvPr id="27652" name="Group 4">
            <a:extLst>
              <a:ext uri="{FF2B5EF4-FFF2-40B4-BE49-F238E27FC236}">
                <a16:creationId xmlns:a16="http://schemas.microsoft.com/office/drawing/2014/main" id="{884B6F9C-17FC-1340-BBBF-0642CFA9F325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1365250"/>
            <a:ext cx="5410200" cy="712788"/>
            <a:chOff x="1152" y="1101"/>
            <a:chExt cx="3408" cy="449"/>
          </a:xfrm>
        </p:grpSpPr>
        <p:grpSp>
          <p:nvGrpSpPr>
            <p:cNvPr id="27686" name="Group 5">
              <a:extLst>
                <a:ext uri="{FF2B5EF4-FFF2-40B4-BE49-F238E27FC236}">
                  <a16:creationId xmlns:a16="http://schemas.microsoft.com/office/drawing/2014/main" id="{C6AC4E3A-8BC1-CF42-B3AA-A883DAF267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27690" name="AutoShape 6">
                <a:extLst>
                  <a:ext uri="{FF2B5EF4-FFF2-40B4-BE49-F238E27FC236}">
                    <a16:creationId xmlns:a16="http://schemas.microsoft.com/office/drawing/2014/main" id="{14CD91DD-0D60-7C4F-BDC4-FF9AE460565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7691" name="AutoShape 7">
                <a:extLst>
                  <a:ext uri="{FF2B5EF4-FFF2-40B4-BE49-F238E27FC236}">
                    <a16:creationId xmlns:a16="http://schemas.microsoft.com/office/drawing/2014/main" id="{C81F04B1-0984-9E46-9C21-20821ABAFC4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75784" name="AutoShape 8">
                <a:extLst>
                  <a:ext uri="{FF2B5EF4-FFF2-40B4-BE49-F238E27FC236}">
                    <a16:creationId xmlns:a16="http://schemas.microsoft.com/office/drawing/2014/main" id="{D8A7D8BF-C4C6-384D-89ED-7855E5CDA9DA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27687" name="Line 9">
              <a:extLst>
                <a:ext uri="{FF2B5EF4-FFF2-40B4-BE49-F238E27FC236}">
                  <a16:creationId xmlns:a16="http://schemas.microsoft.com/office/drawing/2014/main" id="{76E9A237-DDC2-8D4B-999C-6CEFA6267D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8" name="Text Box 10">
              <a:extLst>
                <a:ext uri="{FF2B5EF4-FFF2-40B4-BE49-F238E27FC236}">
                  <a16:creationId xmlns:a16="http://schemas.microsoft.com/office/drawing/2014/main" id="{B3E41707-D4C2-B444-BBC4-E74BBD3F1D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101"/>
              <a:ext cx="6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/>
                <a:t>集合</a:t>
              </a:r>
            </a:p>
          </p:txBody>
        </p:sp>
        <p:sp>
          <p:nvSpPr>
            <p:cNvPr id="27689" name="Text Box 11">
              <a:extLst>
                <a:ext uri="{FF2B5EF4-FFF2-40B4-BE49-F238E27FC236}">
                  <a16:creationId xmlns:a16="http://schemas.microsoft.com/office/drawing/2014/main" id="{93D9AB71-42C5-014B-88D6-F8E5640FFE9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66" y="11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27653" name="Group 12">
            <a:extLst>
              <a:ext uri="{FF2B5EF4-FFF2-40B4-BE49-F238E27FC236}">
                <a16:creationId xmlns:a16="http://schemas.microsoft.com/office/drawing/2014/main" id="{AAA7BFD3-0E61-854A-8520-0C5FABB334ED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2444750"/>
            <a:ext cx="5410200" cy="712788"/>
            <a:chOff x="1152" y="1677"/>
            <a:chExt cx="3408" cy="449"/>
          </a:xfrm>
        </p:grpSpPr>
        <p:grpSp>
          <p:nvGrpSpPr>
            <p:cNvPr id="27679" name="Group 13">
              <a:extLst>
                <a:ext uri="{FF2B5EF4-FFF2-40B4-BE49-F238E27FC236}">
                  <a16:creationId xmlns:a16="http://schemas.microsoft.com/office/drawing/2014/main" id="{AEC1860D-C6F1-9B44-8618-9AB9C68744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27683" name="AutoShape 14">
                <a:extLst>
                  <a:ext uri="{FF2B5EF4-FFF2-40B4-BE49-F238E27FC236}">
                    <a16:creationId xmlns:a16="http://schemas.microsoft.com/office/drawing/2014/main" id="{DA6D0ABD-A7CB-0D49-BA9B-B9C55C6FB0E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7684" name="AutoShape 15">
                <a:extLst>
                  <a:ext uri="{FF2B5EF4-FFF2-40B4-BE49-F238E27FC236}">
                    <a16:creationId xmlns:a16="http://schemas.microsoft.com/office/drawing/2014/main" id="{26C4507B-5693-AF40-A3F2-13B80D59C35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75792" name="AutoShape 16">
                <a:extLst>
                  <a:ext uri="{FF2B5EF4-FFF2-40B4-BE49-F238E27FC236}">
                    <a16:creationId xmlns:a16="http://schemas.microsoft.com/office/drawing/2014/main" id="{D386E9E1-F953-8F4F-B4CD-0F51490925F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27680" name="Line 17">
              <a:extLst>
                <a:ext uri="{FF2B5EF4-FFF2-40B4-BE49-F238E27FC236}">
                  <a16:creationId xmlns:a16="http://schemas.microsoft.com/office/drawing/2014/main" id="{BE9C7856-AF28-3C48-A3B3-549A4C3137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81" name="Text Box 18">
              <a:extLst>
                <a:ext uri="{FF2B5EF4-FFF2-40B4-BE49-F238E27FC236}">
                  <a16:creationId xmlns:a16="http://schemas.microsoft.com/office/drawing/2014/main" id="{248D46D2-4187-D54A-86B5-BEE41A8444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677"/>
              <a:ext cx="6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/>
                <a:t>子集</a:t>
              </a:r>
            </a:p>
          </p:txBody>
        </p:sp>
        <p:sp>
          <p:nvSpPr>
            <p:cNvPr id="27682" name="Text Box 19">
              <a:extLst>
                <a:ext uri="{FF2B5EF4-FFF2-40B4-BE49-F238E27FC236}">
                  <a16:creationId xmlns:a16="http://schemas.microsoft.com/office/drawing/2014/main" id="{689C0C74-A63F-CA42-956E-84CEB01D2C6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grpSp>
        <p:nvGrpSpPr>
          <p:cNvPr id="27654" name="Group 20">
            <a:extLst>
              <a:ext uri="{FF2B5EF4-FFF2-40B4-BE49-F238E27FC236}">
                <a16:creationId xmlns:a16="http://schemas.microsoft.com/office/drawing/2014/main" id="{93B2AF3C-670B-9F4D-B8B2-DFF9315640AE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3525838"/>
            <a:ext cx="5410200" cy="712787"/>
            <a:chOff x="1152" y="2239"/>
            <a:chExt cx="3408" cy="449"/>
          </a:xfrm>
        </p:grpSpPr>
        <p:grpSp>
          <p:nvGrpSpPr>
            <p:cNvPr id="27672" name="Group 21">
              <a:extLst>
                <a:ext uri="{FF2B5EF4-FFF2-40B4-BE49-F238E27FC236}">
                  <a16:creationId xmlns:a16="http://schemas.microsoft.com/office/drawing/2014/main" id="{7DA4DA30-310C-5647-9AEF-12F7CB48F7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27676" name="AutoShape 22">
                <a:extLst>
                  <a:ext uri="{FF2B5EF4-FFF2-40B4-BE49-F238E27FC236}">
                    <a16:creationId xmlns:a16="http://schemas.microsoft.com/office/drawing/2014/main" id="{1CFC112F-5099-1C49-9FF0-757D91BBD61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7677" name="AutoShape 23">
                <a:extLst>
                  <a:ext uri="{FF2B5EF4-FFF2-40B4-BE49-F238E27FC236}">
                    <a16:creationId xmlns:a16="http://schemas.microsoft.com/office/drawing/2014/main" id="{D67B1CB4-5D81-D448-B0C6-070CBFB892C4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75800" name="AutoShape 24">
                <a:extLst>
                  <a:ext uri="{FF2B5EF4-FFF2-40B4-BE49-F238E27FC236}">
                    <a16:creationId xmlns:a16="http://schemas.microsoft.com/office/drawing/2014/main" id="{ADEE1CDF-F739-0946-9607-C1E1C7CFED8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27673" name="Line 25">
              <a:extLst>
                <a:ext uri="{FF2B5EF4-FFF2-40B4-BE49-F238E27FC236}">
                  <a16:creationId xmlns:a16="http://schemas.microsoft.com/office/drawing/2014/main" id="{8756357B-E19C-B043-858A-C27E380D03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4" name="Text Box 26">
              <a:extLst>
                <a:ext uri="{FF2B5EF4-FFF2-40B4-BE49-F238E27FC236}">
                  <a16:creationId xmlns:a16="http://schemas.microsoft.com/office/drawing/2014/main" id="{DCC91C2A-A2D4-4A42-A372-2EAA9DE51A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239"/>
              <a:ext cx="6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/>
                <a:t>幂集</a:t>
              </a:r>
            </a:p>
          </p:txBody>
        </p:sp>
        <p:sp>
          <p:nvSpPr>
            <p:cNvPr id="27675" name="Text Box 27">
              <a:extLst>
                <a:ext uri="{FF2B5EF4-FFF2-40B4-BE49-F238E27FC236}">
                  <a16:creationId xmlns:a16="http://schemas.microsoft.com/office/drawing/2014/main" id="{534A154F-E1C7-E746-A89D-72D36C783ABB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</p:grpSp>
      <p:grpSp>
        <p:nvGrpSpPr>
          <p:cNvPr id="27655" name="Group 28">
            <a:extLst>
              <a:ext uri="{FF2B5EF4-FFF2-40B4-BE49-F238E27FC236}">
                <a16:creationId xmlns:a16="http://schemas.microsoft.com/office/drawing/2014/main" id="{0F2A518D-BE14-4945-AC94-29C59F89BE8D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4724400"/>
            <a:ext cx="5410200" cy="685800"/>
            <a:chOff x="1152" y="2832"/>
            <a:chExt cx="3408" cy="432"/>
          </a:xfrm>
        </p:grpSpPr>
        <p:grpSp>
          <p:nvGrpSpPr>
            <p:cNvPr id="27665" name="Group 29">
              <a:extLst>
                <a:ext uri="{FF2B5EF4-FFF2-40B4-BE49-F238E27FC236}">
                  <a16:creationId xmlns:a16="http://schemas.microsoft.com/office/drawing/2014/main" id="{7E09CEB8-D9DE-7B4D-AF09-9EDEE23992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27669" name="AutoShape 30">
                <a:extLst>
                  <a:ext uri="{FF2B5EF4-FFF2-40B4-BE49-F238E27FC236}">
                    <a16:creationId xmlns:a16="http://schemas.microsoft.com/office/drawing/2014/main" id="{D2391E38-7408-9744-A757-FB287DA8516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7670" name="AutoShape 31">
                <a:extLst>
                  <a:ext uri="{FF2B5EF4-FFF2-40B4-BE49-F238E27FC236}">
                    <a16:creationId xmlns:a16="http://schemas.microsoft.com/office/drawing/2014/main" id="{307ABF3A-2AB6-CB48-AA2D-E6926D7B29C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75808" name="AutoShape 32">
                <a:extLst>
                  <a:ext uri="{FF2B5EF4-FFF2-40B4-BE49-F238E27FC236}">
                    <a16:creationId xmlns:a16="http://schemas.microsoft.com/office/drawing/2014/main" id="{DF8B1728-9BD9-3142-BEF8-D5ED314918E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27666" name="Line 33">
              <a:extLst>
                <a:ext uri="{FF2B5EF4-FFF2-40B4-BE49-F238E27FC236}">
                  <a16:creationId xmlns:a16="http://schemas.microsoft.com/office/drawing/2014/main" id="{0F5AF0C3-6C60-434A-90FE-3F5A9BBCD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7" name="Text Box 34">
              <a:extLst>
                <a:ext uri="{FF2B5EF4-FFF2-40B4-BE49-F238E27FC236}">
                  <a16:creationId xmlns:a16="http://schemas.microsoft.com/office/drawing/2014/main" id="{D001456E-1FD7-8C49-890D-6C8637E03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832"/>
              <a:ext cx="77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b="1" i="1">
                  <a:latin typeface="Times New Roman" panose="02020603050405020304" pitchFamily="18" charset="0"/>
                </a:rPr>
                <a:t>n</a:t>
              </a:r>
              <a:r>
                <a:rPr lang="zh-CN" altLang="en-US" b="1">
                  <a:latin typeface="Times New Roman" panose="02020603050405020304" pitchFamily="18" charset="0"/>
                </a:rPr>
                <a:t>元组</a:t>
              </a:r>
            </a:p>
          </p:txBody>
        </p:sp>
        <p:sp>
          <p:nvSpPr>
            <p:cNvPr id="27668" name="Text Box 35">
              <a:extLst>
                <a:ext uri="{FF2B5EF4-FFF2-40B4-BE49-F238E27FC236}">
                  <a16:creationId xmlns:a16="http://schemas.microsoft.com/office/drawing/2014/main" id="{18DEE53A-530E-B14B-B0B6-831FF217516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81" y="29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</p:grpSp>
      <p:grpSp>
        <p:nvGrpSpPr>
          <p:cNvPr id="27656" name="Group 36">
            <a:extLst>
              <a:ext uri="{FF2B5EF4-FFF2-40B4-BE49-F238E27FC236}">
                <a16:creationId xmlns:a16="http://schemas.microsoft.com/office/drawing/2014/main" id="{65262CAE-1B6B-FE4B-9BEB-A330ABAAD324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5805488"/>
            <a:ext cx="5410200" cy="712787"/>
            <a:chOff x="1152" y="2239"/>
            <a:chExt cx="3408" cy="449"/>
          </a:xfrm>
        </p:grpSpPr>
        <p:grpSp>
          <p:nvGrpSpPr>
            <p:cNvPr id="27658" name="Group 37">
              <a:extLst>
                <a:ext uri="{FF2B5EF4-FFF2-40B4-BE49-F238E27FC236}">
                  <a16:creationId xmlns:a16="http://schemas.microsoft.com/office/drawing/2014/main" id="{6D8733CD-C61B-314F-9554-40ADCB78D3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269"/>
              <a:ext cx="480" cy="419"/>
              <a:chOff x="1110" y="2656"/>
              <a:chExt cx="1549" cy="1351"/>
            </a:xfrm>
          </p:grpSpPr>
          <p:sp>
            <p:nvSpPr>
              <p:cNvPr id="27662" name="AutoShape 38">
                <a:extLst>
                  <a:ext uri="{FF2B5EF4-FFF2-40B4-BE49-F238E27FC236}">
                    <a16:creationId xmlns:a16="http://schemas.microsoft.com/office/drawing/2014/main" id="{87BD5D25-6B3C-FB45-9950-F5AD0613B7E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27663" name="AutoShape 39">
                <a:extLst>
                  <a:ext uri="{FF2B5EF4-FFF2-40B4-BE49-F238E27FC236}">
                    <a16:creationId xmlns:a16="http://schemas.microsoft.com/office/drawing/2014/main" id="{E3CD183D-9A4F-4445-9DCB-265CFD3A2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75816" name="AutoShape 40">
                <a:extLst>
                  <a:ext uri="{FF2B5EF4-FFF2-40B4-BE49-F238E27FC236}">
                    <a16:creationId xmlns:a16="http://schemas.microsoft.com/office/drawing/2014/main" id="{1A71FB56-4DC1-B84F-A6A7-2ACD999C9B6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27659" name="Line 41">
              <a:extLst>
                <a:ext uri="{FF2B5EF4-FFF2-40B4-BE49-F238E27FC236}">
                  <a16:creationId xmlns:a16="http://schemas.microsoft.com/office/drawing/2014/main" id="{38407C14-030E-B144-A9F3-79C7401C9E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653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60" name="Text Box 42">
              <a:extLst>
                <a:ext uri="{FF2B5EF4-FFF2-40B4-BE49-F238E27FC236}">
                  <a16:creationId xmlns:a16="http://schemas.microsoft.com/office/drawing/2014/main" id="{B864BE6D-B58D-0949-BED6-4F4FDE22A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239"/>
              <a:ext cx="11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/>
                <a:t>笛卡儿积</a:t>
              </a:r>
            </a:p>
          </p:txBody>
        </p:sp>
        <p:sp>
          <p:nvSpPr>
            <p:cNvPr id="27661" name="Text Box 43">
              <a:extLst>
                <a:ext uri="{FF2B5EF4-FFF2-40B4-BE49-F238E27FC236}">
                  <a16:creationId xmlns:a16="http://schemas.microsoft.com/office/drawing/2014/main" id="{9B9FD8ED-4958-2D49-B32D-BBA36BA6769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81" y="2332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400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</p:grpSp>
      <p:sp>
        <p:nvSpPr>
          <p:cNvPr id="27657" name="灯片编号占位符 1">
            <a:extLst>
              <a:ext uri="{FF2B5EF4-FFF2-40B4-BE49-F238E27FC236}">
                <a16:creationId xmlns:a16="http://schemas.microsoft.com/office/drawing/2014/main" id="{56E8E86F-3A3C-3D45-A6A7-9D39C98E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576D32-1828-7049-9608-2FC4567B5CB7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8028346D-6C1D-674A-8867-02CCAFE32B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5763" y="404813"/>
            <a:ext cx="7715250" cy="1157287"/>
          </a:xfrm>
        </p:spPr>
        <p:txBody>
          <a:bodyPr/>
          <a:lstStyle/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1.1 </a:t>
            </a:r>
            <a:r>
              <a:rPr lang="zh-CN" altLang="en-US" b="1">
                <a:latin typeface="Times New Roman" panose="02020603050405020304" pitchFamily="18" charset="0"/>
              </a:rPr>
              <a:t>集合的有关概念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B5409FD9-CBCD-9746-8183-4C1B3DE238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708525"/>
          </a:xfrm>
        </p:spPr>
        <p:txBody>
          <a:bodyPr/>
          <a:lstStyle/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 b="1">
                <a:latin typeface="Times New Roman" panose="02020603050405020304" pitchFamily="18" charset="0"/>
              </a:rPr>
              <a:t>集合</a:t>
            </a: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集合是数学中的</a:t>
            </a:r>
            <a:r>
              <a:rPr lang="zh-CN" altLang="en-US" b="1">
                <a:solidFill>
                  <a:srgbClr val="0070C0"/>
                </a:solidFill>
                <a:latin typeface="Times New Roman" panose="02020603050405020304" pitchFamily="18" charset="0"/>
              </a:rPr>
              <a:t>最基本概念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集合是表示</a:t>
            </a: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离散</a:t>
            </a: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对象的工具，在数据结构中有</a:t>
            </a: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sz="2400" b="1">
                <a:latin typeface="楷体" panose="02010609060101010101" pitchFamily="49" charset="-122"/>
                <a:ea typeface="楷体" panose="02010609060101010101" pitchFamily="49" charset="-122"/>
              </a:rPr>
              <a:t>集合结构</a:t>
            </a:r>
            <a:r>
              <a:rPr lang="en-US" altLang="zh-CN" sz="2400" b="1">
                <a:latin typeface="楷体" panose="02010609060101010101" pitchFamily="49" charset="-122"/>
                <a:ea typeface="楷体" panose="02010609060101010101" pitchFamily="49" charset="-122"/>
              </a:rPr>
              <a:t>”.</a:t>
            </a: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什么是集合</a:t>
            </a:r>
            <a:r>
              <a:rPr lang="en-US" altLang="zh-CN" b="1">
                <a:latin typeface="Times New Roman" panose="02020603050405020304" pitchFamily="18" charset="0"/>
              </a:rPr>
              <a:t>?</a:t>
            </a:r>
          </a:p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在一定范围内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lang="zh-CN" altLang="en-US" b="1">
                <a:latin typeface="Times New Roman" panose="02020603050405020304" pitchFamily="18" charset="0"/>
              </a:rPr>
              <a:t>集合</a:t>
            </a:r>
            <a:r>
              <a:rPr lang="en-US" altLang="zh-CN" b="1">
                <a:latin typeface="Times New Roman" panose="02020603050405020304" pitchFamily="18" charset="0"/>
              </a:rPr>
              <a:t>(set)</a:t>
            </a:r>
            <a:r>
              <a:rPr lang="zh-CN" altLang="en-US" b="1">
                <a:latin typeface="Times New Roman" panose="02020603050405020304" pitchFamily="18" charset="0"/>
              </a:rPr>
              <a:t>是其</a:t>
            </a:r>
            <a:r>
              <a:rPr lang="zh-CN" altLang="en-US" b="1">
                <a:solidFill>
                  <a:srgbClr val="0070C0"/>
                </a:solidFill>
                <a:latin typeface="宋体" panose="02010600030101010101" pitchFamily="2" charset="-122"/>
              </a:rPr>
              <a:t>具有某种特定性质</a:t>
            </a:r>
            <a:r>
              <a:rPr lang="zh-CN" altLang="en-US" b="1">
                <a:latin typeface="Times New Roman" panose="02020603050405020304" pitchFamily="18" charset="0"/>
              </a:rPr>
              <a:t>的对象汇集成的一个整体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其中的每一个对象都称为该集合的元素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(element).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28676" name="灯片编号占位符 1">
            <a:extLst>
              <a:ext uri="{FF2B5EF4-FFF2-40B4-BE49-F238E27FC236}">
                <a16:creationId xmlns:a16="http://schemas.microsoft.com/office/drawing/2014/main" id="{CB963E06-9214-EC48-AA3E-FB7C5E42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7037E3-3492-4B4B-A942-9D6E45701CE7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A2E2FE87-C69B-4648-9529-F79B5D04E22E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这里所指范围是全集</a:t>
            </a:r>
            <a:r>
              <a:rPr lang="en-US" altLang="zh-CN" b="1" i="1" dirty="0">
                <a:latin typeface="Times New Roman" panose="02020603050405020304" pitchFamily="18" charset="0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在数学中</a:t>
            </a:r>
            <a:r>
              <a:rPr lang="zh-CN" altLang="en-US" b="1" dirty="0">
                <a:solidFill>
                  <a:srgbClr val="3C8C93"/>
                </a:solidFill>
                <a:latin typeface="Times New Roman" panose="02020603050405020304" pitchFamily="18" charset="0"/>
              </a:rPr>
              <a:t>常用</a:t>
            </a:r>
            <a:r>
              <a:rPr lang="en-US" altLang="zh-CN" b="1" dirty="0">
                <a:solidFill>
                  <a:srgbClr val="A40000"/>
                </a:solidFill>
                <a:latin typeface="Times New Roman" panose="02020603050405020304" pitchFamily="18" charset="0"/>
              </a:rPr>
              <a:t>{   }</a:t>
            </a:r>
            <a:r>
              <a:rPr lang="zh-CN" altLang="en-US" b="1" dirty="0">
                <a:latin typeface="Times New Roman" panose="02020603050405020304" pitchFamily="18" charset="0"/>
              </a:rPr>
              <a:t>表示整体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/>
              <a:t>可以将考虑的离散对象装在集合中</a:t>
            </a:r>
            <a:r>
              <a:rPr lang="en-US" altLang="zh-CN" b="1" dirty="0">
                <a:latin typeface="Times New Roman" panose="02020603050405020304" pitchFamily="18" charset="0"/>
              </a:rPr>
              <a:t>…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74FFB51B-F127-BD4E-A866-F44ECF7A0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2062163"/>
            <a:ext cx="2879725" cy="20875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9700" name="Oval 4">
            <a:extLst>
              <a:ext uri="{FF2B5EF4-FFF2-40B4-BE49-F238E27FC236}">
                <a16:creationId xmlns:a16="http://schemas.microsoft.com/office/drawing/2014/main" id="{2368DFB1-8507-0845-BFE3-0D8A685BB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4800" y="2566988"/>
            <a:ext cx="1368425" cy="100806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>
              <a:latin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701" name="Object 5">
                <a:extLst>
                  <a:ext uri="{FF2B5EF4-FFF2-40B4-BE49-F238E27FC236}">
                    <a16:creationId xmlns:a16="http://schemas.microsoft.com/office/drawing/2014/main" id="{B3EFA106-757A-BB4C-B08D-C9A56A391560}"/>
                  </a:ext>
                </a:extLst>
              </p:cNvPr>
              <p:cNvSpPr txBox="1"/>
              <p:nvPr/>
            </p:nvSpPr>
            <p:spPr bwMode="auto">
              <a:xfrm>
                <a:off x="4573588" y="2062163"/>
                <a:ext cx="423862" cy="4556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29701" name="Object 5">
                <a:extLst>
                  <a:ext uri="{FF2B5EF4-FFF2-40B4-BE49-F238E27FC236}">
                    <a16:creationId xmlns:a16="http://schemas.microsoft.com/office/drawing/2014/main" id="{B3EFA106-757A-BB4C-B08D-C9A56A3915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3588" y="2062163"/>
                <a:ext cx="423862" cy="4556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02" name="灯片编号占位符 1">
            <a:extLst>
              <a:ext uri="{FF2B5EF4-FFF2-40B4-BE49-F238E27FC236}">
                <a16:creationId xmlns:a16="http://schemas.microsoft.com/office/drawing/2014/main" id="{7F7AAA5E-D8DF-BE43-A5AF-E245788A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266E60-87BC-1C41-BB90-C3FD406CCE12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4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C47CF4-52D1-FBB8-E256-B8CFF0FCAA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375" y="2921794"/>
            <a:ext cx="647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dirty="0"/>
              <a:t>A</a:t>
            </a:r>
            <a:endParaRPr lang="zh-CN" altLang="en-US" i="1" dirty="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6157B62-BEE2-0E43-A13D-57FBCCA24674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17513" y="1341438"/>
            <a:ext cx="8042275" cy="1223962"/>
          </a:xfrm>
        </p:spPr>
        <p:txBody>
          <a:bodyPr/>
          <a:lstStyle/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(classic set)</a:t>
            </a:r>
            <a:r>
              <a:rPr lang="zh-CN" altLang="en-US" b="1">
                <a:latin typeface="Times New Roman" panose="02020603050405020304" pitchFamily="18" charset="0"/>
              </a:rPr>
              <a:t>若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zh-CN" altLang="en-US" b="1">
                <a:latin typeface="Times New Roman" panose="02020603050405020304" pitchFamily="18" charset="0"/>
              </a:rPr>
              <a:t>是</a:t>
            </a:r>
            <a:r>
              <a:rPr lang="zh-CN" altLang="en-US" b="1">
                <a:solidFill>
                  <a:srgbClr val="006600"/>
                </a:solidFill>
                <a:latin typeface="Times New Roman" panose="02020603050405020304" pitchFamily="18" charset="0"/>
              </a:rPr>
              <a:t>集合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中</a:t>
            </a:r>
            <a:r>
              <a:rPr lang="zh-CN" altLang="en-US" b="1">
                <a:solidFill>
                  <a:srgbClr val="006600"/>
                </a:solidFill>
                <a:latin typeface="Times New Roman" panose="02020603050405020304" pitchFamily="18" charset="0"/>
              </a:rPr>
              <a:t>元素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则记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sym typeface="Symbol" pitchFamily="2" charset="2"/>
              </a:rPr>
              <a:t>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否则 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>
                <a:solidFill>
                  <a:schemeClr val="folHlink"/>
                </a:solidFill>
                <a:latin typeface="Times New Roman" panose="02020603050405020304" pitchFamily="18" charset="0"/>
                <a:sym typeface="Symbol" pitchFamily="2" charset="2"/>
              </a:rPr>
              <a:t></a:t>
            </a:r>
            <a:r>
              <a:rPr lang="en-US" altLang="zh-CN" b="1" i="1">
                <a:solidFill>
                  <a:schemeClr val="folHlink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693CFCF-2665-414E-A890-97C19FCF6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3213100"/>
            <a:ext cx="3024187" cy="19446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0724" name="Oval 4">
            <a:extLst>
              <a:ext uri="{FF2B5EF4-FFF2-40B4-BE49-F238E27FC236}">
                <a16:creationId xmlns:a16="http://schemas.microsoft.com/office/drawing/2014/main" id="{5CF4BA26-72F5-3E49-B6AF-A9F511FDA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644900"/>
            <a:ext cx="1368425" cy="1008063"/>
          </a:xfrm>
          <a:prstGeom prst="ellipse">
            <a:avLst/>
          </a:prstGeom>
          <a:solidFill>
            <a:schemeClr val="accent2">
              <a:lumMod val="40000"/>
              <a:lumOff val="60000"/>
              <a:alpha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>
              <a:latin typeface="Verdana" panose="020B0604030504040204" pitchFamily="34" charset="0"/>
            </a:endParaRPr>
          </a:p>
        </p:txBody>
      </p:sp>
      <p:graphicFrame>
        <p:nvGraphicFramePr>
          <p:cNvPr id="30725" name="Object 5">
            <a:extLst>
              <a:ext uri="{FF2B5EF4-FFF2-40B4-BE49-F238E27FC236}">
                <a16:creationId xmlns:a16="http://schemas.microsoft.com/office/drawing/2014/main" id="{B145BE6C-E940-4444-9706-6D23F04A44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8263" y="3284538"/>
          <a:ext cx="423862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100" imgH="38100" progId="Equation.3">
                  <p:embed/>
                </p:oleObj>
              </mc:Choice>
              <mc:Fallback>
                <p:oleObj name="公式" r:id="rId2" imgW="38100" imgH="38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3284538"/>
                        <a:ext cx="423862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Oval 7">
            <a:extLst>
              <a:ext uri="{FF2B5EF4-FFF2-40B4-BE49-F238E27FC236}">
                <a16:creationId xmlns:a16="http://schemas.microsoft.com/office/drawing/2014/main" id="{8B18A6FD-A077-D042-BC8B-516D8C4D9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4365625"/>
            <a:ext cx="71437" cy="71438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0727" name="Oval 8">
            <a:extLst>
              <a:ext uri="{FF2B5EF4-FFF2-40B4-BE49-F238E27FC236}">
                <a16:creationId xmlns:a16="http://schemas.microsoft.com/office/drawing/2014/main" id="{C4D43A64-1C13-2641-B9D5-76F4FB621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500438"/>
            <a:ext cx="71438" cy="71437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0728" name="Oval 9">
            <a:extLst>
              <a:ext uri="{FF2B5EF4-FFF2-40B4-BE49-F238E27FC236}">
                <a16:creationId xmlns:a16="http://schemas.microsoft.com/office/drawing/2014/main" id="{88AC25F3-D129-0843-A8DB-CD9594730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652963"/>
            <a:ext cx="71438" cy="71437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0729" name="Oval 10">
            <a:extLst>
              <a:ext uri="{FF2B5EF4-FFF2-40B4-BE49-F238E27FC236}">
                <a16:creationId xmlns:a16="http://schemas.microsoft.com/office/drawing/2014/main" id="{499CE090-613A-BA4F-8262-69C93CFF3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3789363"/>
            <a:ext cx="71437" cy="71437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0730" name="文本框 1">
            <a:extLst>
              <a:ext uri="{FF2B5EF4-FFF2-40B4-BE49-F238E27FC236}">
                <a16:creationId xmlns:a16="http://schemas.microsoft.com/office/drawing/2014/main" id="{ED9908FC-DD57-F941-8EB0-308F6B80E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3113" y="3235325"/>
            <a:ext cx="358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i="1">
                <a:latin typeface="Times New Roman" panose="02020603050405020304" pitchFamily="18" charset="0"/>
              </a:rPr>
              <a:t>x</a:t>
            </a:r>
            <a:r>
              <a:rPr lang="en-US" altLang="zh-CN" sz="800" b="1" i="1">
                <a:latin typeface="Times New Roman" panose="02020603050405020304" pitchFamily="18" charset="0"/>
              </a:rPr>
              <a:t>1</a:t>
            </a:r>
            <a:endParaRPr lang="zh-CN" altLang="en-US" sz="800"/>
          </a:p>
        </p:txBody>
      </p:sp>
      <p:sp>
        <p:nvSpPr>
          <p:cNvPr id="30731" name="文本框 11">
            <a:extLst>
              <a:ext uri="{FF2B5EF4-FFF2-40B4-BE49-F238E27FC236}">
                <a16:creationId xmlns:a16="http://schemas.microsoft.com/office/drawing/2014/main" id="{187C5249-8584-B040-AF61-EF6918B31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0663" y="3598863"/>
            <a:ext cx="360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i="1">
                <a:latin typeface="Times New Roman" panose="02020603050405020304" pitchFamily="18" charset="0"/>
              </a:rPr>
              <a:t>x</a:t>
            </a:r>
            <a:r>
              <a:rPr lang="en-US" altLang="zh-CN" sz="800" b="1" i="1">
                <a:latin typeface="Times New Roman" panose="02020603050405020304" pitchFamily="18" charset="0"/>
              </a:rPr>
              <a:t>2</a:t>
            </a:r>
            <a:endParaRPr lang="zh-CN" altLang="en-US" sz="800"/>
          </a:p>
        </p:txBody>
      </p:sp>
      <p:sp>
        <p:nvSpPr>
          <p:cNvPr id="30732" name="文本框 12">
            <a:extLst>
              <a:ext uri="{FF2B5EF4-FFF2-40B4-BE49-F238E27FC236}">
                <a16:creationId xmlns:a16="http://schemas.microsoft.com/office/drawing/2014/main" id="{7A0EAACA-CE25-4B4F-8766-77AA59566C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4211638"/>
            <a:ext cx="3603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i="1">
                <a:latin typeface="Times New Roman" panose="02020603050405020304" pitchFamily="18" charset="0"/>
              </a:rPr>
              <a:t>x</a:t>
            </a:r>
            <a:r>
              <a:rPr lang="en-US" altLang="zh-CN" sz="800" b="1" i="1">
                <a:latin typeface="Times New Roman" panose="02020603050405020304" pitchFamily="18" charset="0"/>
              </a:rPr>
              <a:t>3</a:t>
            </a:r>
            <a:endParaRPr lang="zh-CN" altLang="en-US" sz="800"/>
          </a:p>
        </p:txBody>
      </p:sp>
      <p:sp>
        <p:nvSpPr>
          <p:cNvPr id="30733" name="文本框 13">
            <a:extLst>
              <a:ext uri="{FF2B5EF4-FFF2-40B4-BE49-F238E27FC236}">
                <a16:creationId xmlns:a16="http://schemas.microsoft.com/office/drawing/2014/main" id="{627C0892-5A32-7240-A6C9-DD0F8C55F9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4508500"/>
            <a:ext cx="3603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b="1" i="1">
                <a:latin typeface="Times New Roman" panose="02020603050405020304" pitchFamily="18" charset="0"/>
              </a:rPr>
              <a:t>x</a:t>
            </a:r>
            <a:r>
              <a:rPr lang="en-US" altLang="zh-CN" sz="800" b="1" i="1">
                <a:latin typeface="Times New Roman" panose="02020603050405020304" pitchFamily="18" charset="0"/>
              </a:rPr>
              <a:t>4</a:t>
            </a:r>
            <a:endParaRPr lang="zh-CN" altLang="en-US" sz="800"/>
          </a:p>
        </p:txBody>
      </p:sp>
      <p:sp>
        <p:nvSpPr>
          <p:cNvPr id="30734" name="灯片编号占位符 2">
            <a:extLst>
              <a:ext uri="{FF2B5EF4-FFF2-40B4-BE49-F238E27FC236}">
                <a16:creationId xmlns:a16="http://schemas.microsoft.com/office/drawing/2014/main" id="{CF25B8FD-7D18-A746-A5E6-B37BD0A45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259AB7-2763-534C-AF95-A52FE8B0BE47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400"/>
          </a:p>
        </p:txBody>
      </p:sp>
      <p:sp>
        <p:nvSpPr>
          <p:cNvPr id="30735" name="文本框 1">
            <a:extLst>
              <a:ext uri="{FF2B5EF4-FFF2-40B4-BE49-F238E27FC236}">
                <a16:creationId xmlns:a16="http://schemas.microsoft.com/office/drawing/2014/main" id="{4584FFE5-3EDD-2142-A22C-9A4FB0E55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9925" y="3962400"/>
            <a:ext cx="647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i="1" dirty="0"/>
              <a:t>A</a:t>
            </a:r>
            <a:endParaRPr lang="zh-CN" altLang="en-US" i="1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F45E66AB-F84B-E348-B168-91ED3B0269EB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1339850"/>
            <a:ext cx="8229600" cy="5113338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N </a:t>
            </a:r>
            <a:r>
              <a:rPr lang="zh-CN" altLang="en-US" b="1" dirty="0">
                <a:latin typeface="Times New Roman" panose="02020603050405020304" pitchFamily="18" charset="0"/>
              </a:rPr>
              <a:t>是自然数集合</a:t>
            </a:r>
            <a:r>
              <a:rPr lang="en-US" altLang="zh-CN" b="1" dirty="0">
                <a:latin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</a:rPr>
              <a:t>包括数</a:t>
            </a:r>
            <a:r>
              <a:rPr lang="en-US" altLang="zh-CN" b="1" dirty="0"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Z </a:t>
            </a:r>
            <a:r>
              <a:rPr lang="zh-CN" altLang="en-US" b="1" dirty="0">
                <a:latin typeface="Times New Roman" panose="02020603050405020304" pitchFamily="18" charset="0"/>
              </a:rPr>
              <a:t>是整数集合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Z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+</a:t>
            </a:r>
            <a:r>
              <a:rPr lang="zh-CN" altLang="en-US" b="1" dirty="0">
                <a:latin typeface="Times New Roman" panose="02020603050405020304" pitchFamily="18" charset="0"/>
              </a:rPr>
              <a:t>是正整数集合</a:t>
            </a:r>
            <a:r>
              <a:rPr lang="en-US" altLang="zh-CN" b="1" dirty="0">
                <a:latin typeface="Times New Roman" panose="02020603050405020304" pitchFamily="18" charset="0"/>
              </a:rPr>
              <a:t>(N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+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Q </a:t>
            </a:r>
            <a:r>
              <a:rPr lang="zh-CN" altLang="en-US" b="1" dirty="0">
                <a:latin typeface="Times New Roman" panose="02020603050405020304" pitchFamily="18" charset="0"/>
              </a:rPr>
              <a:t>是有理数集合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R </a:t>
            </a:r>
            <a:r>
              <a:rPr lang="zh-CN" altLang="en-US" b="1" dirty="0">
                <a:latin typeface="Times New Roman" panose="02020603050405020304" pitchFamily="18" charset="0"/>
              </a:rPr>
              <a:t>是实数集合</a:t>
            </a:r>
          </a:p>
          <a:p>
            <a:pPr eaLnBrk="1" hangingPunct="1">
              <a:lnSpc>
                <a:spcPct val="120000"/>
              </a:lnSpc>
            </a:pPr>
            <a:endParaRPr lang="zh-CN" altLang="en-US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素数集合</a:t>
            </a:r>
            <a:r>
              <a:rPr lang="en-US" altLang="zh-CN" b="1" dirty="0">
                <a:latin typeface="Times New Roman" panose="02020603050405020304" pitchFamily="18" charset="0"/>
              </a:rPr>
              <a:t>P : 2, 3, 5, 7, 11, 13, 17, 19, 23</a:t>
            </a:r>
            <a:r>
              <a:rPr lang="zh-CN" altLang="en-US" b="1" dirty="0">
                <a:latin typeface="Times New Roman" panose="02020603050405020304" pitchFamily="18" charset="0"/>
              </a:rPr>
              <a:t>等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31747" name="灯片编号占位符 1">
            <a:extLst>
              <a:ext uri="{FF2B5EF4-FFF2-40B4-BE49-F238E27FC236}">
                <a16:creationId xmlns:a16="http://schemas.microsoft.com/office/drawing/2014/main" id="{3FE56834-B71F-2643-BAEB-C18C2F919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044FA7-F8EF-E84E-A97A-81C1501971D2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EE880408-9ECB-8E4F-AAD5-2858BCA66452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1379538"/>
            <a:ext cx="8229600" cy="586581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表示集合的常用方法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(1) 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</a:rPr>
              <a:t>列举法</a:t>
            </a:r>
            <a:r>
              <a:rPr lang="en-US" altLang="zh-CN" b="1" dirty="0">
                <a:latin typeface="Times New Roman" panose="02020603050405020304" pitchFamily="18" charset="0"/>
              </a:rPr>
              <a:t>: </a:t>
            </a:r>
            <a:r>
              <a:rPr lang="zh-CN" altLang="en-US" b="1" dirty="0"/>
              <a:t>将集合中的元素按一定规律列举出来</a:t>
            </a:r>
            <a:r>
              <a:rPr lang="en-US" altLang="zh-CN" b="1" dirty="0">
                <a:latin typeface="Times New Roman" panose="02020603050405020304" pitchFamily="18" charset="0"/>
              </a:rPr>
              <a:t>,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如</a:t>
            </a:r>
            <a:r>
              <a:rPr lang="en-US" altLang="zh-CN" b="1" dirty="0">
                <a:latin typeface="Times New Roman" panose="02020603050405020304" pitchFamily="18" charset="0"/>
              </a:rPr>
              <a:t>{2,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}, N = {0, 1, 2, 3, …}, P?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(2) 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</a:rPr>
              <a:t>描述法</a:t>
            </a:r>
            <a:r>
              <a:rPr lang="en-US" altLang="zh-CN" b="1" dirty="0">
                <a:latin typeface="Times New Roman" panose="02020603050405020304" pitchFamily="18" charset="0"/>
              </a:rPr>
              <a:t>: {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x</a:t>
            </a:r>
            <a:r>
              <a:rPr lang="en-US" altLang="zh-CN" b="1" dirty="0" err="1">
                <a:latin typeface="Times New Roman" panose="02020603050405020304" pitchFamily="18" charset="0"/>
              </a:rPr>
              <a:t>|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</a:rPr>
              <a:t>满足的条件</a:t>
            </a:r>
            <a:r>
              <a:rPr lang="en-US" altLang="zh-CN" b="1" dirty="0">
                <a:latin typeface="Times New Roman" panose="02020603050405020304" pitchFamily="18" charset="0"/>
              </a:rPr>
              <a:t>}.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{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| 0&lt; 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 &lt; 5},     {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: 0&lt; 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 &lt; 5}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32771" name="灯片编号占位符 1">
            <a:extLst>
              <a:ext uri="{FF2B5EF4-FFF2-40B4-BE49-F238E27FC236}">
                <a16:creationId xmlns:a16="http://schemas.microsoft.com/office/drawing/2014/main" id="{3B4D3750-C101-3D4A-951B-1681DC7A5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49D5C3-EF5F-2A43-802F-EE9580F533DF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19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19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849A45D7-F560-8D4A-B674-075A23DC2762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803275"/>
            <a:ext cx="7499350" cy="5865813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(3) 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</a:rPr>
              <a:t>递归法</a:t>
            </a: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递归的思想</a:t>
            </a:r>
            <a:r>
              <a:rPr lang="en-US" altLang="zh-CN" b="1" dirty="0">
                <a:latin typeface="Times New Roman" panose="02020603050405020304" pitchFamily="18" charset="0"/>
              </a:rPr>
              <a:t>:  “</a:t>
            </a:r>
            <a:r>
              <a:rPr lang="zh-CN" altLang="en-US" b="1" dirty="0">
                <a:latin typeface="Times New Roman" panose="02020603050405020304" pitchFamily="18" charset="0"/>
              </a:rPr>
              <a:t>知道他的过去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就知道他的现在</a:t>
            </a:r>
            <a:r>
              <a:rPr lang="en-US" altLang="zh-CN" b="1" dirty="0">
                <a:latin typeface="Times New Roman" panose="02020603050405020304" pitchFamily="18" charset="0"/>
              </a:rPr>
              <a:t>; </a:t>
            </a:r>
            <a:r>
              <a:rPr lang="zh-CN" altLang="en-US" b="1" dirty="0">
                <a:latin typeface="Times New Roman" panose="02020603050405020304" pitchFamily="18" charset="0"/>
              </a:rPr>
              <a:t>知道他的过去和现在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就知道他的将来”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的递归定义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(a) 0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N.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(b)</a:t>
            </a:r>
            <a:r>
              <a:rPr lang="zh-CN" altLang="en-US" b="1" dirty="0">
                <a:latin typeface="Times New Roman" panose="02020603050405020304" pitchFamily="18" charset="0"/>
              </a:rPr>
              <a:t>若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n</a:t>
            </a:r>
            <a:r>
              <a:rPr lang="en-US" altLang="zh-CN" b="1" dirty="0" err="1">
                <a:latin typeface="Times New Roman" panose="02020603050405020304" pitchFamily="18" charset="0"/>
                <a:sym typeface="Symbol" pitchFamily="2" charset="2"/>
              </a:rPr>
              <a:t>N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的后继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+1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N.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  <a:sym typeface="Symbol" pitchFamily="2" charset="2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) 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有限次使用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(a)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(b)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得到的元素是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中仅有元素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. 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33795" name="灯片编号占位符 1">
            <a:extLst>
              <a:ext uri="{FF2B5EF4-FFF2-40B4-BE49-F238E27FC236}">
                <a16:creationId xmlns:a16="http://schemas.microsoft.com/office/drawing/2014/main" id="{C1007AB5-5232-E74B-B21A-EB42F7463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4C7E73-98B2-1847-AE87-F2647CD1B673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400"/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3D1087B-1C5F-F345-B98E-7BE76F152093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93713" y="875555"/>
            <a:ext cx="8229600" cy="5865813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Remarks 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dirty="0" err="1"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集合中的元素可以是任意元素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如集合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例如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 = 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},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</a:rPr>
              <a:t>}.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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  <a:p>
            <a:pPr marL="0" indent="0" eaLnBrk="1" hangingPunct="1"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该集合悖论的出现引发了数学的第三次危机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4819" name="灯片编号占位符 1">
            <a:extLst>
              <a:ext uri="{FF2B5EF4-FFF2-40B4-BE49-F238E27FC236}">
                <a16:creationId xmlns:a16="http://schemas.microsoft.com/office/drawing/2014/main" id="{01F5A211-F46D-0949-82D9-7BA5F5B42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6544B9-B631-B748-9E37-849CDB23CA98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400"/>
          </a:p>
        </p:txBody>
      </p:sp>
      <p:pic>
        <p:nvPicPr>
          <p:cNvPr id="34820" name="图片 2">
            <a:extLst>
              <a:ext uri="{FF2B5EF4-FFF2-40B4-BE49-F238E27FC236}">
                <a16:creationId xmlns:a16="http://schemas.microsoft.com/office/drawing/2014/main" id="{748F3D63-B02A-7C4C-AF06-EC66A8866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3321958"/>
            <a:ext cx="3744416" cy="640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026B863-C67C-F44B-86C8-F59B622080C0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155475"/>
            <a:ext cx="8229600" cy="5865813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Remarks 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dirty="0" err="1">
                <a:latin typeface="Times New Roman" panose="02020603050405020304" pitchFamily="18" charset="0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集合中的元素可以是任意元素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如集合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例如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 = 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},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</a:rPr>
              <a:t>}.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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该集合悖论的出现引发了数学的第三次危机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eaLnBrk="1" hangingPunct="1"/>
            <a:endParaRPr lang="en-US" altLang="zh-CN" sz="1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(ii) </a:t>
            </a:r>
            <a:r>
              <a:rPr lang="zh-CN" altLang="en-US" b="1" dirty="0">
                <a:latin typeface="Times New Roman" panose="02020603050405020304" pitchFamily="18" charset="0"/>
              </a:rPr>
              <a:t>集合之间的元素</a:t>
            </a:r>
            <a:r>
              <a:rPr lang="zh-CN" altLang="en-US" dirty="0">
                <a:solidFill>
                  <a:srgbClr val="00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原则上</a:t>
            </a:r>
            <a:r>
              <a:rPr lang="zh-CN" altLang="en-US" b="1" dirty="0">
                <a:latin typeface="Times New Roman" panose="02020603050405020304" pitchFamily="18" charset="0"/>
              </a:rPr>
              <a:t>是</a:t>
            </a:r>
            <a:r>
              <a:rPr lang="zh-CN" altLang="en-US" b="1" dirty="0">
                <a:solidFill>
                  <a:srgbClr val="A40000"/>
                </a:solidFill>
                <a:latin typeface="Times New Roman" panose="02020603050405020304" pitchFamily="18" charset="0"/>
              </a:rPr>
              <a:t>没有次序</a:t>
            </a:r>
            <a:r>
              <a:rPr lang="zh-CN" altLang="en-US" b="1" dirty="0">
                <a:latin typeface="Times New Roman" panose="02020603050405020304" pitchFamily="18" charset="0"/>
              </a:rPr>
              <a:t>的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如</a:t>
            </a:r>
            <a:r>
              <a:rPr lang="zh-CN" altLang="en-US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A = </a:t>
            </a:r>
            <a:r>
              <a:rPr lang="en-US" altLang="zh-CN" b="1" dirty="0">
                <a:latin typeface="Times New Roman" panose="02020603050405020304" pitchFamily="18" charset="0"/>
              </a:rPr>
              <a:t>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},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</a:rPr>
              <a:t>就是</a:t>
            </a:r>
            <a:r>
              <a:rPr lang="zh-CN" altLang="en-US" b="1" i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</a:rPr>
              <a:t>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c </a:t>
            </a:r>
            <a:r>
              <a:rPr lang="en-US" altLang="zh-CN" b="1" dirty="0">
                <a:latin typeface="Times New Roman" panose="02020603050405020304" pitchFamily="18" charset="0"/>
              </a:rPr>
              <a:t>, 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}}.</a:t>
            </a:r>
          </a:p>
          <a:p>
            <a:pPr eaLnBrk="1" hangingPunct="1"/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(iii) </a:t>
            </a:r>
            <a:r>
              <a:rPr lang="zh-CN" altLang="en-US" b="1" dirty="0">
                <a:latin typeface="Times New Roman" panose="02020603050405020304" pitchFamily="18" charset="0"/>
              </a:rPr>
              <a:t>集合中的元素</a:t>
            </a:r>
            <a:r>
              <a:rPr lang="zh-CN" altLang="en-US" dirty="0">
                <a:solidFill>
                  <a:srgbClr val="0066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原则上</a:t>
            </a:r>
            <a:r>
              <a:rPr lang="zh-CN" altLang="en-US" b="1" dirty="0">
                <a:solidFill>
                  <a:srgbClr val="A40000"/>
                </a:solidFill>
                <a:latin typeface="Times New Roman" panose="02020603050405020304" pitchFamily="18" charset="0"/>
              </a:rPr>
              <a:t>不重复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如</a:t>
            </a:r>
            <a:r>
              <a:rPr lang="en-US" altLang="zh-CN" b="1" dirty="0">
                <a:latin typeface="Times New Roman" panose="02020603050405020304" pitchFamily="18" charset="0"/>
              </a:rPr>
              <a:t>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},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</a:rPr>
              <a:t>}</a:t>
            </a:r>
            <a:r>
              <a:rPr lang="zh-CN" altLang="en-US" b="1" dirty="0">
                <a:latin typeface="Times New Roman" panose="02020603050405020304" pitchFamily="18" charset="0"/>
              </a:rPr>
              <a:t>还是集合</a:t>
            </a:r>
            <a:r>
              <a:rPr lang="en-US" altLang="zh-CN" b="1" i="1" dirty="0">
                <a:latin typeface="Times New Roman" panose="02020603050405020304" pitchFamily="18" charset="0"/>
              </a:rPr>
              <a:t>A = </a:t>
            </a:r>
            <a:r>
              <a:rPr lang="en-US" altLang="zh-CN" b="1" dirty="0">
                <a:latin typeface="Times New Roman" panose="02020603050405020304" pitchFamily="18" charset="0"/>
              </a:rPr>
              <a:t>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},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</a:rPr>
              <a:t>}. </a:t>
            </a:r>
          </a:p>
        </p:txBody>
      </p:sp>
      <p:sp>
        <p:nvSpPr>
          <p:cNvPr id="35843" name="灯片编号占位符 1">
            <a:extLst>
              <a:ext uri="{FF2B5EF4-FFF2-40B4-BE49-F238E27FC236}">
                <a16:creationId xmlns:a16="http://schemas.microsoft.com/office/drawing/2014/main" id="{829559B0-59DC-E645-A371-3DA29191C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2780ED-8626-2F48-9F0A-252A32927DF2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400"/>
          </a:p>
        </p:txBody>
      </p:sp>
      <p:pic>
        <p:nvPicPr>
          <p:cNvPr id="35844" name="图片 1">
            <a:extLst>
              <a:ext uri="{FF2B5EF4-FFF2-40B4-BE49-F238E27FC236}">
                <a16:creationId xmlns:a16="http://schemas.microsoft.com/office/drawing/2014/main" id="{A17CEED0-9488-3B4F-A979-6C7268301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792" y="2388021"/>
            <a:ext cx="3023790" cy="475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">
            <a:extLst>
              <a:ext uri="{FF2B5EF4-FFF2-40B4-BE49-F238E27FC236}">
                <a16:creationId xmlns:a16="http://schemas.microsoft.com/office/drawing/2014/main" id="{D29553A5-F220-154F-9863-25A9FC26697B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611188" y="692150"/>
            <a:ext cx="7705725" cy="5834063"/>
          </a:xfrm>
        </p:spPr>
        <p:txBody>
          <a:bodyPr/>
          <a:lstStyle/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2. </a:t>
            </a:r>
            <a:r>
              <a:rPr lang="zh-CN" altLang="en-US" b="1">
                <a:latin typeface="Times New Roman" panose="02020603050405020304" pitchFamily="18" charset="0"/>
              </a:rPr>
              <a:t>子集</a:t>
            </a:r>
          </a:p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(1) </a:t>
            </a:r>
            <a:r>
              <a:rPr lang="zh-CN" altLang="en-US" b="1">
                <a:latin typeface="Times New Roman" panose="02020603050405020304" pitchFamily="18" charset="0"/>
              </a:rPr>
              <a:t>给定两个集合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 i="1">
                <a:latin typeface="Times New Roman" panose="02020603050405020304" pitchFamily="18" charset="0"/>
              </a:rPr>
              <a:t>B,</a:t>
            </a:r>
            <a:r>
              <a:rPr lang="zh-CN" altLang="en-US" b="1" i="1">
                <a:latin typeface="Times New Roman" panose="02020603050405020304" pitchFamily="18" charset="0"/>
              </a:rPr>
              <a:t> </a:t>
            </a:r>
            <a:r>
              <a:rPr lang="zh-CN" altLang="en-US" b="1">
                <a:latin typeface="Times New Roman" panose="02020603050405020304" pitchFamily="18" charset="0"/>
              </a:rPr>
              <a:t>若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中的任意元素都属于</a:t>
            </a:r>
            <a:r>
              <a:rPr lang="en-US" altLang="zh-CN" b="1" i="1">
                <a:latin typeface="Times New Roman" panose="02020603050405020304" pitchFamily="18" charset="0"/>
              </a:rPr>
              <a:t>B, </a:t>
            </a:r>
            <a:r>
              <a:rPr lang="zh-CN" altLang="en-US" b="1">
                <a:latin typeface="Times New Roman" panose="02020603050405020304" pitchFamily="18" charset="0"/>
              </a:rPr>
              <a:t>则称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zh-CN" altLang="en-US" b="1">
                <a:latin typeface="Times New Roman" panose="02020603050405020304" pitchFamily="18" charset="0"/>
              </a:rPr>
              <a:t>包含于</a:t>
            </a:r>
            <a:r>
              <a:rPr lang="en-US" altLang="zh-CN" b="1" i="1">
                <a:latin typeface="Times New Roman" panose="02020603050405020304" pitchFamily="18" charset="0"/>
              </a:rPr>
              <a:t>B,</a:t>
            </a:r>
            <a:r>
              <a:rPr lang="zh-CN" altLang="en-US" b="1" i="1">
                <a:latin typeface="Times New Roman" panose="02020603050405020304" pitchFamily="18" charset="0"/>
              </a:rPr>
              <a:t> </a:t>
            </a:r>
            <a:r>
              <a:rPr lang="zh-CN" altLang="en-US" b="1">
                <a:latin typeface="Times New Roman" panose="02020603050405020304" pitchFamily="18" charset="0"/>
              </a:rPr>
              <a:t>或称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zh-CN" altLang="en-US" b="1">
                <a:latin typeface="Times New Roman" panose="02020603050405020304" pitchFamily="18" charset="0"/>
              </a:rPr>
              <a:t>包含</a:t>
            </a:r>
            <a:r>
              <a:rPr lang="en-US" altLang="zh-CN" b="1" i="1">
                <a:latin typeface="Times New Roman" panose="02020603050405020304" pitchFamily="18" charset="0"/>
              </a:rPr>
              <a:t>A, </a:t>
            </a:r>
            <a:r>
              <a:rPr lang="zh-CN" altLang="en-US" b="1">
                <a:latin typeface="Times New Roman" panose="02020603050405020304" pitchFamily="18" charset="0"/>
              </a:rPr>
              <a:t>记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 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B</a:t>
            </a:r>
            <a:endParaRPr lang="en-US" altLang="zh-CN" b="1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空集是任意集合的子集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.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{}</a:t>
            </a:r>
            <a:endParaRPr lang="en-US" altLang="zh-CN" b="1" i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“</a:t>
            </a:r>
            <a:r>
              <a:rPr lang="zh-CN" altLang="en-US" b="1">
                <a:latin typeface="Times New Roman" panose="02020603050405020304" pitchFamily="18" charset="0"/>
              </a:rPr>
              <a:t>小”</a:t>
            </a:r>
          </a:p>
          <a:p>
            <a:pPr eaLnBrk="1" hangingPunct="1"/>
            <a:endParaRPr lang="zh-CN" altLang="en-US" b="1" i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(2) 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= 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B</a:t>
            </a: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36867" name="灯片编号占位符 1">
            <a:extLst>
              <a:ext uri="{FF2B5EF4-FFF2-40B4-BE49-F238E27FC236}">
                <a16:creationId xmlns:a16="http://schemas.microsoft.com/office/drawing/2014/main" id="{6CBFDF01-E601-094E-8F8A-072E0D922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AD795D-2403-5F45-A6BA-AB751B755F14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400"/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960F6C8A-DF6C-D64C-AE69-71E09F529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5013" y="2587625"/>
            <a:ext cx="2592387" cy="14176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6869" name="Oval 3">
            <a:extLst>
              <a:ext uri="{FF2B5EF4-FFF2-40B4-BE49-F238E27FC236}">
                <a16:creationId xmlns:a16="http://schemas.microsoft.com/office/drawing/2014/main" id="{EACEE123-90A3-794D-B8AB-B9FF0221A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2876550"/>
            <a:ext cx="1944688" cy="863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6870" name="Oval 5">
            <a:extLst>
              <a:ext uri="{FF2B5EF4-FFF2-40B4-BE49-F238E27FC236}">
                <a16:creationId xmlns:a16="http://schemas.microsoft.com/office/drawing/2014/main" id="{C766A4EF-D848-B04C-A95B-5006371EB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3092450"/>
            <a:ext cx="792162" cy="3603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36871" name="Object 6">
            <a:extLst>
              <a:ext uri="{FF2B5EF4-FFF2-40B4-BE49-F238E27FC236}">
                <a16:creationId xmlns:a16="http://schemas.microsoft.com/office/drawing/2014/main" id="{F69D71C4-02D2-7F4A-8564-952C86BE2A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2587625"/>
          <a:ext cx="423863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100" imgH="38100" progId="Equation.3">
                  <p:embed/>
                </p:oleObj>
              </mc:Choice>
              <mc:Fallback>
                <p:oleObj name="公式" r:id="rId2" imgW="38100" imgH="38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2587625"/>
                        <a:ext cx="423863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2" name="Object 7">
            <a:extLst>
              <a:ext uri="{FF2B5EF4-FFF2-40B4-BE49-F238E27FC236}">
                <a16:creationId xmlns:a16="http://schemas.microsoft.com/office/drawing/2014/main" id="{CAE6F100-9B30-B74B-A51E-6D5EA0F33A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6075" y="3035300"/>
          <a:ext cx="392113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100" imgH="38100" progId="Equation.DSMT4">
                  <p:embed/>
                </p:oleObj>
              </mc:Choice>
              <mc:Fallback>
                <p:oleObj name="Equation" r:id="rId4" imgW="38100" imgH="38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6075" y="3035300"/>
                        <a:ext cx="392113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3" name="Object 8">
            <a:extLst>
              <a:ext uri="{FF2B5EF4-FFF2-40B4-BE49-F238E27FC236}">
                <a16:creationId xmlns:a16="http://schemas.microsoft.com/office/drawing/2014/main" id="{960E6E06-4826-5240-AD33-3014A4A5B1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3019425"/>
          <a:ext cx="39052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8100" imgH="38100" progId="Equation.3">
                  <p:embed/>
                </p:oleObj>
              </mc:Choice>
              <mc:Fallback>
                <p:oleObj name="公式" r:id="rId6" imgW="38100" imgH="38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019425"/>
                        <a:ext cx="39052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85AFC047-B641-064D-9207-A13CB136DC95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684213" y="692150"/>
            <a:ext cx="8229600" cy="5865813"/>
          </a:xfrm>
        </p:spPr>
        <p:txBody>
          <a:bodyPr/>
          <a:lstStyle/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Theorem 1-2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(1)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 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(2)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 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 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A 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 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 = 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(3)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 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 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C 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 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 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C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Theorem 1-3</a:t>
            </a:r>
            <a:r>
              <a:rPr lang="en-US" altLang="zh-CN" b="1" i="1">
                <a:latin typeface="Times New Roman" panose="02020603050405020304" pitchFamily="18" charset="0"/>
              </a:rPr>
              <a:t> 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= 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 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 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且 </a:t>
            </a:r>
            <a:r>
              <a:rPr lang="en-US" altLang="zh-CN" b="1" i="1">
                <a:latin typeface="Times New Roman" panose="02020603050405020304" pitchFamily="18" charset="0"/>
              </a:rPr>
              <a:t>B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 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.</a:t>
            </a:r>
          </a:p>
          <a:p>
            <a:pPr eaLnBrk="1" hangingPunct="1"/>
            <a:endParaRPr lang="en-US" altLang="zh-CN" b="1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1186044-E4A5-7445-BCF7-59B1774E7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1063" y="3502025"/>
            <a:ext cx="4464050" cy="8636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7892" name="灯片编号占位符 1">
            <a:extLst>
              <a:ext uri="{FF2B5EF4-FFF2-40B4-BE49-F238E27FC236}">
                <a16:creationId xmlns:a16="http://schemas.microsoft.com/office/drawing/2014/main" id="{529CC0D3-BC95-1843-A6FF-65AD1CD2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A44BAC-044E-5642-B062-9D8B5BBCDAA6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BEB9D5B-18EF-3344-AE31-986E56CEE81D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658813"/>
            <a:ext cx="8229600" cy="5865812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 注意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与  的不同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: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1-2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</a:rPr>
              <a:t>由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 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,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 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C</a:t>
            </a:r>
            <a:r>
              <a:rPr lang="zh-CN" altLang="en-US" b="1" dirty="0">
                <a:latin typeface="Times New Roman" panose="02020603050405020304" pitchFamily="18" charset="0"/>
              </a:rPr>
              <a:t>可否得出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 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</a:rPr>
              <a:t>?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Solution </a:t>
            </a:r>
            <a:r>
              <a:rPr lang="zh-CN" altLang="en-US" b="1" dirty="0">
                <a:latin typeface="Times New Roman" panose="02020603050405020304" pitchFamily="18" charset="0"/>
              </a:rPr>
              <a:t>不成立</a:t>
            </a:r>
            <a:r>
              <a:rPr lang="en-US" altLang="zh-CN" b="1" dirty="0">
                <a:latin typeface="Times New Roman" panose="02020603050405020304" pitchFamily="18" charset="0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</a:rPr>
              <a:t>例如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 = 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},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 = 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</a:rPr>
              <a:t>}, </a:t>
            </a:r>
            <a:r>
              <a:rPr lang="en-US" altLang="zh-CN" b="1" i="1" dirty="0"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</a:rPr>
              <a:t> = 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</a:rPr>
              <a:t>}}.</a:t>
            </a: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进一步，可否得出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不包含于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C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是否存在集合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,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使得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 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,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 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?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练习题</a:t>
            </a:r>
            <a:r>
              <a:rPr lang="en-US" altLang="zh-CN" b="1" dirty="0">
                <a:latin typeface="Times New Roman" panose="02020603050405020304" pitchFamily="18" charset="0"/>
              </a:rPr>
              <a:t>: </a:t>
            </a:r>
            <a:r>
              <a:rPr lang="zh-CN" altLang="en-US" b="1" dirty="0">
                <a:latin typeface="Times New Roman" panose="02020603050405020304" pitchFamily="18" charset="0"/>
              </a:rPr>
              <a:t>习题</a:t>
            </a:r>
            <a:r>
              <a:rPr lang="en-US" altLang="zh-CN" b="1" dirty="0">
                <a:latin typeface="Times New Roman" panose="02020603050405020304" pitchFamily="18" charset="0"/>
              </a:rPr>
              <a:t>1.1   3. 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778294D-2EB9-9843-AF1E-2E1BA5193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8916" name="灯片编号占位符 1">
            <a:extLst>
              <a:ext uri="{FF2B5EF4-FFF2-40B4-BE49-F238E27FC236}">
                <a16:creationId xmlns:a16="http://schemas.microsoft.com/office/drawing/2014/main" id="{0174EDB2-095D-2F49-B027-1471FDD67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6FBE25A-890A-8846-A20A-553EA05C6F3D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1400"/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44808D6D-F626-594F-A2E9-4CEE7CE982BF}"/>
              </a:ext>
            </a:extLst>
          </p:cNvPr>
          <p:cNvSpPr/>
          <p:nvPr/>
        </p:nvSpPr>
        <p:spPr>
          <a:xfrm>
            <a:off x="4932363" y="1557338"/>
            <a:ext cx="792162" cy="503237"/>
          </a:xfrm>
          <a:prstGeom prst="roundRect">
            <a:avLst/>
          </a:prstGeom>
          <a:noFill/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CE0ADA8E-193C-E242-A4C0-1F19F76E6E2B}"/>
              </a:ext>
            </a:extLst>
          </p:cNvPr>
          <p:cNvSpPr/>
          <p:nvPr/>
        </p:nvSpPr>
        <p:spPr>
          <a:xfrm>
            <a:off x="4356100" y="2197100"/>
            <a:ext cx="647700" cy="439738"/>
          </a:xfrm>
          <a:prstGeom prst="roundRect">
            <a:avLst/>
          </a:prstGeom>
          <a:noFill/>
          <a:ln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pic>
        <p:nvPicPr>
          <p:cNvPr id="38919" name="图片 3">
            <a:extLst>
              <a:ext uri="{FF2B5EF4-FFF2-40B4-BE49-F238E27FC236}">
                <a16:creationId xmlns:a16="http://schemas.microsoft.com/office/drawing/2014/main" id="{FFCA5C63-4E61-4F40-9EB9-D37ACE78A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1536700"/>
            <a:ext cx="4103687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0" name="图片 5">
            <a:extLst>
              <a:ext uri="{FF2B5EF4-FFF2-40B4-BE49-F238E27FC236}">
                <a16:creationId xmlns:a16="http://schemas.microsoft.com/office/drawing/2014/main" id="{CC14E4AC-CD80-3742-B00C-0424D6FEA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3" y="2132013"/>
            <a:ext cx="41703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651B648-72E4-4DC6-C2A5-AABA2AEB5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E79F-9C44-854B-B99C-75F525D22582}" type="slidenum">
              <a:rPr lang="en-US" altLang="zh-CN" smtClean="0"/>
              <a:pPr/>
              <a:t>35</a:t>
            </a:fld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AD2BE74-87B2-B05E-2181-FC13703AC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9" y="579660"/>
            <a:ext cx="8280920" cy="306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6592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D695FD7-155A-594B-A065-214B156AA99F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519113" y="658813"/>
            <a:ext cx="8229600" cy="5865812"/>
          </a:xfrm>
        </p:spPr>
        <p:txBody>
          <a:bodyPr/>
          <a:lstStyle/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3. </a:t>
            </a:r>
            <a:r>
              <a:rPr lang="zh-CN" altLang="en-US" b="1">
                <a:latin typeface="Times New Roman" panose="02020603050405020304" pitchFamily="18" charset="0"/>
              </a:rPr>
              <a:t>幂集</a:t>
            </a:r>
            <a:r>
              <a:rPr lang="en-US" altLang="zh-CN" b="1">
                <a:latin typeface="Times New Roman" panose="02020603050405020304" pitchFamily="18" charset="0"/>
              </a:rPr>
              <a:t>(power set)</a:t>
            </a:r>
          </a:p>
          <a:p>
            <a:pPr eaLnBrk="1" hangingPunct="1"/>
            <a:endParaRPr lang="en-US" altLang="zh-CN" b="1" i="1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endParaRPr lang="en-US" altLang="zh-CN" b="1" i="1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(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), </a:t>
            </a:r>
          </a:p>
          <a:p>
            <a:pPr eaLnBrk="1" hangingPunct="1"/>
            <a:endParaRPr lang="en-US" altLang="zh-CN" b="1" i="1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 = {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}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 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P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) = {, {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}, {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}, {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}}.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为何要考虑幂集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结合其上的运算及性质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)?</a:t>
            </a:r>
          </a:p>
          <a:p>
            <a:pPr eaLnBrk="1" hangingPunct="1"/>
            <a:endParaRPr lang="en-US" altLang="zh-CN" b="1" i="1">
              <a:latin typeface="Times New Roman" panose="02020603050405020304" pitchFamily="18" charset="0"/>
              <a:sym typeface="Symbol" pitchFamily="2" charset="2"/>
            </a:endParaRPr>
          </a:p>
        </p:txBody>
      </p:sp>
      <p:graphicFrame>
        <p:nvGraphicFramePr>
          <p:cNvPr id="40964" name="Object 4">
            <a:extLst>
              <a:ext uri="{FF2B5EF4-FFF2-40B4-BE49-F238E27FC236}">
                <a16:creationId xmlns:a16="http://schemas.microsoft.com/office/drawing/2014/main" id="{04BC1E60-00C8-9C43-9C44-B19F6FD910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2420938"/>
          <a:ext cx="585788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100" imgH="38100" progId="Equation.3">
                  <p:embed/>
                </p:oleObj>
              </mc:Choice>
              <mc:Fallback>
                <p:oleObj name="公式" r:id="rId2" imgW="38100" imgH="38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420938"/>
                        <a:ext cx="585788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5" name="灯片编号占位符 1">
            <a:extLst>
              <a:ext uri="{FF2B5EF4-FFF2-40B4-BE49-F238E27FC236}">
                <a16:creationId xmlns:a16="http://schemas.microsoft.com/office/drawing/2014/main" id="{36D8DE21-4653-E14F-90A4-FF8A75C8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CAF26D-014E-FC48-B18D-5C6DAF921337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EB57DE6-A120-2B4C-A92D-BEE5484DDFB2}"/>
                  </a:ext>
                </a:extLst>
              </p:cNvPr>
              <p:cNvSpPr/>
              <p:nvPr/>
            </p:nvSpPr>
            <p:spPr>
              <a:xfrm>
                <a:off x="2698566" y="1628800"/>
                <a:ext cx="3096815" cy="52322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)={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⊆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EB57DE6-A120-2B4C-A92D-BEE5484DDF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566" y="1628800"/>
                <a:ext cx="3096815" cy="523220"/>
              </a:xfrm>
              <a:prstGeom prst="rect">
                <a:avLst/>
              </a:prstGeom>
              <a:blipFill>
                <a:blip r:embed="rId5"/>
                <a:stretch>
                  <a:fillRect t="-130952" r="-11837" b="-20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DF56ABF8-FA0A-7049-876D-C21A7D993FEB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395288" y="1412875"/>
            <a:ext cx="8229600" cy="5865813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计算  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() 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，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 P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()) </a:t>
            </a:r>
            <a:endParaRPr lang="en-US" altLang="zh-CN" b="1" i="1" dirty="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endParaRPr lang="en-US" altLang="zh-CN" b="1" i="1" dirty="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() = {}.</a:t>
            </a:r>
          </a:p>
          <a:p>
            <a:pPr eaLnBrk="1" hangingPunct="1"/>
            <a:endParaRPr lang="en-US" altLang="zh-CN" b="1" i="1" dirty="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()) = 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P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({}) = {, {}}.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区别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: , {}, {{}}.</a:t>
            </a:r>
            <a:endParaRPr lang="en-US" altLang="zh-CN" b="1" dirty="0"/>
          </a:p>
          <a:p>
            <a:pPr eaLnBrk="1" hangingPunct="1"/>
            <a:endParaRPr lang="en-US" altLang="zh-CN" dirty="0"/>
          </a:p>
        </p:txBody>
      </p:sp>
      <p:sp>
        <p:nvSpPr>
          <p:cNvPr id="41987" name="灯片编号占位符 1">
            <a:extLst>
              <a:ext uri="{FF2B5EF4-FFF2-40B4-BE49-F238E27FC236}">
                <a16:creationId xmlns:a16="http://schemas.microsoft.com/office/drawing/2014/main" id="{706AAA85-E779-484D-A263-D4E1178DC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61220E-529E-EB48-8542-943B687BB5E7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48A6B921-E46A-7541-8D54-00B5BFF35071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590550" y="658813"/>
            <a:ext cx="8229600" cy="5865812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有限集合</a:t>
            </a:r>
            <a:r>
              <a:rPr lang="en-US" altLang="zh-CN" b="1" i="1">
                <a:latin typeface="Times New Roman" panose="02020603050405020304" pitchFamily="18" charset="0"/>
                <a:ea typeface="华文新魏" panose="02010800040101010101" pitchFamily="2" charset="-122"/>
              </a:rPr>
              <a:t>A</a:t>
            </a: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的元素个数</a:t>
            </a:r>
            <a:r>
              <a:rPr lang="en-US" altLang="zh-CN" b="1">
                <a:latin typeface="Times New Roman" panose="02020603050405020304" pitchFamily="18" charset="0"/>
              </a:rPr>
              <a:t>|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|, </a:t>
            </a:r>
            <a:r>
              <a:rPr lang="en-US" altLang="zh-CN" b="1">
                <a:solidFill>
                  <a:schemeClr val="accent1"/>
                </a:solidFill>
                <a:latin typeface="Times New Roman" panose="02020603050405020304" pitchFamily="18" charset="0"/>
              </a:rPr>
              <a:t>card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</a:rPr>
              <a:t>).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Theorem 1-4 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Hint 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3011" name="灯片编号占位符 1">
            <a:extLst>
              <a:ext uri="{FF2B5EF4-FFF2-40B4-BE49-F238E27FC236}">
                <a16:creationId xmlns:a16="http://schemas.microsoft.com/office/drawing/2014/main" id="{7FBEF3C0-E80B-8142-AB8A-28FEB8DCE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BA2003-E267-6949-BB0F-1AB9651D2D93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zh-CN" sz="1400"/>
          </a:p>
        </p:txBody>
      </p:sp>
      <p:pic>
        <p:nvPicPr>
          <p:cNvPr id="43012" name="图片 2">
            <a:extLst>
              <a:ext uri="{FF2B5EF4-FFF2-40B4-BE49-F238E27FC236}">
                <a16:creationId xmlns:a16="http://schemas.microsoft.com/office/drawing/2014/main" id="{834A968F-788A-514F-A107-4866DEF76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4076700"/>
            <a:ext cx="491807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3" name="图片 4">
            <a:extLst>
              <a:ext uri="{FF2B5EF4-FFF2-40B4-BE49-F238E27FC236}">
                <a16:creationId xmlns:a16="http://schemas.microsoft.com/office/drawing/2014/main" id="{2DCE6FB7-4A13-5B49-A5FA-341CF90B4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1843088"/>
            <a:ext cx="3427413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4" name="图片 6">
            <a:extLst>
              <a:ext uri="{FF2B5EF4-FFF2-40B4-BE49-F238E27FC236}">
                <a16:creationId xmlns:a16="http://schemas.microsoft.com/office/drawing/2014/main" id="{15B62D64-9F47-A346-8DCC-02C03D312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3135313"/>
            <a:ext cx="2833687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E586537-38AA-114B-8293-4D996AC87DBC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519113" y="692150"/>
            <a:ext cx="8229600" cy="58658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4. </a:t>
            </a:r>
            <a:r>
              <a:rPr lang="en-US" altLang="zh-CN" b="1" i="1">
                <a:latin typeface="Times New Roman" panose="02020603050405020304" pitchFamily="18" charset="0"/>
                <a:ea typeface="华文新魏" panose="02010800040101010101" pitchFamily="2" charset="-122"/>
              </a:rPr>
              <a:t>n</a:t>
            </a: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元组</a:t>
            </a:r>
            <a:r>
              <a:rPr lang="zh-CN" altLang="en-US" b="1">
                <a:solidFill>
                  <a:schemeClr val="accent1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(</a:t>
            </a: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抽象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!)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Def 1-4 </a:t>
            </a:r>
            <a:r>
              <a:rPr lang="zh-CN" altLang="en-US" b="1">
                <a:latin typeface="Times New Roman" panose="02020603050405020304" pitchFamily="18" charset="0"/>
              </a:rPr>
              <a:t>将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个</a:t>
            </a: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元素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,…,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i="1" baseline="-25000">
                <a:latin typeface="Times New Roman" panose="02020603050405020304" pitchFamily="18" charset="0"/>
              </a:rPr>
              <a:t>n </a:t>
            </a:r>
            <a:r>
              <a:rPr lang="zh-CN" altLang="en-US" b="1">
                <a:latin typeface="Times New Roman" panose="02020603050405020304" pitchFamily="18" charset="0"/>
              </a:rPr>
              <a:t>按一定顺序排列就得到一个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元</a:t>
            </a:r>
            <a:r>
              <a:rPr lang="zh-CN" altLang="en-US" b="1">
                <a:solidFill>
                  <a:srgbClr val="A4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有序组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-tuple).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44035" name="AutoShape 7">
            <a:extLst>
              <a:ext uri="{FF2B5EF4-FFF2-40B4-BE49-F238E27FC236}">
                <a16:creationId xmlns:a16="http://schemas.microsoft.com/office/drawing/2014/main" id="{099A2A1C-852E-4449-807F-D342EDC79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4175" y="2928938"/>
            <a:ext cx="976313" cy="485775"/>
          </a:xfrm>
          <a:prstGeom prst="lef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4036" name="灯片编号占位符 1">
            <a:extLst>
              <a:ext uri="{FF2B5EF4-FFF2-40B4-BE49-F238E27FC236}">
                <a16:creationId xmlns:a16="http://schemas.microsoft.com/office/drawing/2014/main" id="{90AE87DB-1775-B843-9226-51CFA8402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02FD05-1005-8946-87D9-0F89488D624E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zh-CN" sz="1400"/>
          </a:p>
        </p:txBody>
      </p:sp>
      <p:pic>
        <p:nvPicPr>
          <p:cNvPr id="44037" name="图片 2">
            <a:extLst>
              <a:ext uri="{FF2B5EF4-FFF2-40B4-BE49-F238E27FC236}">
                <a16:creationId xmlns:a16="http://schemas.microsoft.com/office/drawing/2014/main" id="{7C761D9B-E88D-8640-B330-9A87DCC44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25" y="3667125"/>
            <a:ext cx="1998663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图片 4">
            <a:extLst>
              <a:ext uri="{FF2B5EF4-FFF2-40B4-BE49-F238E27FC236}">
                <a16:creationId xmlns:a16="http://schemas.microsoft.com/office/drawing/2014/main" id="{9D395116-09C8-104A-8157-069A33ED5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75" y="4481513"/>
            <a:ext cx="19685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9" name="图片 6">
            <a:extLst>
              <a:ext uri="{FF2B5EF4-FFF2-40B4-BE49-F238E27FC236}">
                <a16:creationId xmlns:a16="http://schemas.microsoft.com/office/drawing/2014/main" id="{7310C2CC-ECE4-EF47-84E1-8335870E5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038" y="5918200"/>
            <a:ext cx="24765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0" name="图片 8">
            <a:extLst>
              <a:ext uri="{FF2B5EF4-FFF2-40B4-BE49-F238E27FC236}">
                <a16:creationId xmlns:a16="http://schemas.microsoft.com/office/drawing/2014/main" id="{51D49B88-92D9-9740-A249-64D5CB500B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5338" y="2854325"/>
            <a:ext cx="19939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B6CDBFDD-1B73-B041-A90C-08BC278FA8BE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1379538"/>
            <a:ext cx="8229600" cy="586581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线性代数中的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维向量</a:t>
            </a: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元组在数据结构中是一个线性表、栈或队列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在数据库中是一条记录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如</a:t>
            </a:r>
            <a:endParaRPr lang="en-US" altLang="zh-CN" b="1">
              <a:latin typeface="Times New Roman" panose="02020603050405020304" pitchFamily="18" charset="0"/>
            </a:endParaRPr>
          </a:p>
          <a:p>
            <a:pPr marL="457200" lvl="1" indent="0" eaLnBrk="1" hangingPunct="1">
              <a:lnSpc>
                <a:spcPct val="120000"/>
              </a:lnSpc>
              <a:buFontTx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                        (</a:t>
            </a:r>
            <a:r>
              <a:rPr lang="zh-CN" altLang="en-US" b="1">
                <a:latin typeface="Times New Roman" panose="02020603050405020304" pitchFamily="18" charset="0"/>
              </a:rPr>
              <a:t>张三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男</a:t>
            </a:r>
            <a:r>
              <a:rPr lang="en-US" altLang="zh-CN" b="1">
                <a:latin typeface="Times New Roman" panose="02020603050405020304" pitchFamily="18" charset="0"/>
              </a:rPr>
              <a:t>, 19, </a:t>
            </a:r>
            <a:r>
              <a:rPr lang="zh-CN" altLang="en-US" b="1">
                <a:latin typeface="Times New Roman" panose="02020603050405020304" pitchFamily="18" charset="0"/>
              </a:rPr>
              <a:t>重庆</a:t>
            </a:r>
            <a:r>
              <a:rPr lang="en-US" altLang="zh-CN" b="1">
                <a:latin typeface="Times New Roman" panose="02020603050405020304" pitchFamily="18" charset="0"/>
              </a:rPr>
              <a:t>).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i="1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 = 2, </a:t>
            </a:r>
            <a:r>
              <a:rPr lang="en-US" altLang="zh-CN" b="1" i="1">
                <a:latin typeface="Times New Roman" panose="02020603050405020304" pitchFamily="18" charset="0"/>
              </a:rPr>
              <a:t>n</a:t>
            </a:r>
            <a:r>
              <a:rPr lang="en-US" altLang="zh-CN" b="1">
                <a:latin typeface="Times New Roman" panose="02020603050405020304" pitchFamily="18" charset="0"/>
              </a:rPr>
              <a:t> = 3:</a:t>
            </a:r>
          </a:p>
          <a:p>
            <a:pPr eaLnBrk="1" hangingPunct="1">
              <a:lnSpc>
                <a:spcPct val="120000"/>
              </a:lnSpc>
            </a:pPr>
            <a:endParaRPr lang="en-US" altLang="zh-CN"/>
          </a:p>
        </p:txBody>
      </p:sp>
      <p:sp>
        <p:nvSpPr>
          <p:cNvPr id="45059" name="灯片编号占位符 2">
            <a:extLst>
              <a:ext uri="{FF2B5EF4-FFF2-40B4-BE49-F238E27FC236}">
                <a16:creationId xmlns:a16="http://schemas.microsoft.com/office/drawing/2014/main" id="{E1FB0623-B067-834C-AC72-46AEC3418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36B648-B83A-CF49-AEA2-91866559545C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zh-CN" sz="1400"/>
          </a:p>
        </p:txBody>
      </p:sp>
      <p:sp>
        <p:nvSpPr>
          <p:cNvPr id="45060" name="文本框 1">
            <a:extLst>
              <a:ext uri="{FF2B5EF4-FFF2-40B4-BE49-F238E27FC236}">
                <a16:creationId xmlns:a16="http://schemas.microsoft.com/office/drawing/2014/main" id="{F34179C4-6E7B-0D44-9C8E-E2E7DEDE9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2060575"/>
            <a:ext cx="266382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, …</a:t>
            </a:r>
            <a:r>
              <a:rPr lang="en-US" altLang="zh-CN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30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30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0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2C2104DB-B734-3D4D-BE35-F1749CE06067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539750" y="692150"/>
            <a:ext cx="8229600" cy="5865813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 = 2: (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).                        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 = 3: (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z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一般说来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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).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47107" name="Line 3">
            <a:extLst>
              <a:ext uri="{FF2B5EF4-FFF2-40B4-BE49-F238E27FC236}">
                <a16:creationId xmlns:a16="http://schemas.microsoft.com/office/drawing/2014/main" id="{83006619-3D02-E049-8BC5-78D56DAAEF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2988" y="2733675"/>
            <a:ext cx="21605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8" name="Line 4">
            <a:extLst>
              <a:ext uri="{FF2B5EF4-FFF2-40B4-BE49-F238E27FC236}">
                <a16:creationId xmlns:a16="http://schemas.microsoft.com/office/drawing/2014/main" id="{E4FC144D-0255-FD48-B84F-5E32B01D06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58888" y="1581150"/>
            <a:ext cx="0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7109" name="Object 6">
            <a:extLst>
              <a:ext uri="{FF2B5EF4-FFF2-40B4-BE49-F238E27FC236}">
                <a16:creationId xmlns:a16="http://schemas.microsoft.com/office/drawing/2014/main" id="{F5227BDD-E615-9E41-B70F-7A2E75769F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5338" y="2757488"/>
          <a:ext cx="3905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100" imgH="38100" progId="Equation.3">
                  <p:embed/>
                </p:oleObj>
              </mc:Choice>
              <mc:Fallback>
                <p:oleObj name="Equation" r:id="rId2" imgW="38100" imgH="38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338" y="2757488"/>
                        <a:ext cx="39052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0" name="Oval 7">
            <a:extLst>
              <a:ext uri="{FF2B5EF4-FFF2-40B4-BE49-F238E27FC236}">
                <a16:creationId xmlns:a16="http://schemas.microsoft.com/office/drawing/2014/main" id="{615E3E5D-E5C6-FE42-9B52-B5C86186A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1797050"/>
            <a:ext cx="144463" cy="1444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7111" name="Line 8">
            <a:extLst>
              <a:ext uri="{FF2B5EF4-FFF2-40B4-BE49-F238E27FC236}">
                <a16:creationId xmlns:a16="http://schemas.microsoft.com/office/drawing/2014/main" id="{A0D1B411-219A-3143-9297-3F20F7606C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2275" y="1941513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2" name="Line 9">
            <a:extLst>
              <a:ext uri="{FF2B5EF4-FFF2-40B4-BE49-F238E27FC236}">
                <a16:creationId xmlns:a16="http://schemas.microsoft.com/office/drawing/2014/main" id="{BD045E01-3748-7444-A32E-B34C8BACCE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58888" y="1868488"/>
            <a:ext cx="43338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3" name="Line 10">
            <a:extLst>
              <a:ext uri="{FF2B5EF4-FFF2-40B4-BE49-F238E27FC236}">
                <a16:creationId xmlns:a16="http://schemas.microsoft.com/office/drawing/2014/main" id="{B03A3F54-D204-FD47-9FB3-39C8DBE278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1863" y="2781300"/>
            <a:ext cx="16557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4" name="Line 11">
            <a:extLst>
              <a:ext uri="{FF2B5EF4-FFF2-40B4-BE49-F238E27FC236}">
                <a16:creationId xmlns:a16="http://schemas.microsoft.com/office/drawing/2014/main" id="{DC7660C6-8873-F14A-8D9B-29E25BE895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1863" y="1628775"/>
            <a:ext cx="0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5" name="Line 12">
            <a:extLst>
              <a:ext uri="{FF2B5EF4-FFF2-40B4-BE49-F238E27FC236}">
                <a16:creationId xmlns:a16="http://schemas.microsoft.com/office/drawing/2014/main" id="{14D539FD-7A87-CB41-9CD3-02179A44F71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92725" y="2781300"/>
            <a:ext cx="719138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6" name="Oval 13">
            <a:extLst>
              <a:ext uri="{FF2B5EF4-FFF2-40B4-BE49-F238E27FC236}">
                <a16:creationId xmlns:a16="http://schemas.microsoft.com/office/drawing/2014/main" id="{9E0DE704-35AC-4644-87B6-58028817F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1916113"/>
            <a:ext cx="144463" cy="1444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7117" name="Line 14">
            <a:extLst>
              <a:ext uri="{FF2B5EF4-FFF2-40B4-BE49-F238E27FC236}">
                <a16:creationId xmlns:a16="http://schemas.microsoft.com/office/drawing/2014/main" id="{D8FFD052-AE02-8C43-BE0E-7EB371C50CC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7050" y="2060575"/>
            <a:ext cx="0" cy="10080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8" name="Line 15">
            <a:extLst>
              <a:ext uri="{FF2B5EF4-FFF2-40B4-BE49-F238E27FC236}">
                <a16:creationId xmlns:a16="http://schemas.microsoft.com/office/drawing/2014/main" id="{DA63E273-E0D2-A84C-B447-D2AE1D84CA6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80063" y="3068638"/>
            <a:ext cx="129698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9" name="Line 16">
            <a:extLst>
              <a:ext uri="{FF2B5EF4-FFF2-40B4-BE49-F238E27FC236}">
                <a16:creationId xmlns:a16="http://schemas.microsoft.com/office/drawing/2014/main" id="{DB4D66D2-7D63-C44B-B1C1-BEEEC535664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7050" y="2781300"/>
            <a:ext cx="287338" cy="28733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7120" name="Object 18">
            <a:extLst>
              <a:ext uri="{FF2B5EF4-FFF2-40B4-BE49-F238E27FC236}">
                <a16:creationId xmlns:a16="http://schemas.microsoft.com/office/drawing/2014/main" id="{1277C8C8-B8CB-AD48-B0CC-59C54ADBEE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2420938"/>
          <a:ext cx="3905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100" imgH="38100" progId="Equation.3">
                  <p:embed/>
                </p:oleObj>
              </mc:Choice>
              <mc:Fallback>
                <p:oleObj name="Equation" r:id="rId4" imgW="38100" imgH="381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2420938"/>
                        <a:ext cx="39052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22" name="Oval 20">
            <a:extLst>
              <a:ext uri="{FF2B5EF4-FFF2-40B4-BE49-F238E27FC236}">
                <a16:creationId xmlns:a16="http://schemas.microsoft.com/office/drawing/2014/main" id="{2A3903F7-7342-404D-BAE7-B1EC0FCBB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2228850"/>
            <a:ext cx="144463" cy="1444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7123" name="灯片编号占位符 1">
            <a:extLst>
              <a:ext uri="{FF2B5EF4-FFF2-40B4-BE49-F238E27FC236}">
                <a16:creationId xmlns:a16="http://schemas.microsoft.com/office/drawing/2014/main" id="{70CC6A91-36F4-3048-9031-A3657D0FB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F9A5FA-D7A8-B144-A77F-2BF2396DB6AF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zh-CN" sz="1400"/>
          </a:p>
        </p:txBody>
      </p:sp>
      <p:sp>
        <p:nvSpPr>
          <p:cNvPr id="47124" name="文本框 1">
            <a:extLst>
              <a:ext uri="{FF2B5EF4-FFF2-40B4-BE49-F238E27FC236}">
                <a16:creationId xmlns:a16="http://schemas.microsoft.com/office/drawing/2014/main" id="{845A4DC6-24BD-2244-8085-11F5E1BA22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0" y="1447800"/>
            <a:ext cx="936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y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  <a:endParaRPr lang="zh-CN" altLang="en-US"/>
          </a:p>
        </p:txBody>
      </p:sp>
      <p:sp>
        <p:nvSpPr>
          <p:cNvPr id="47125" name="文本框 2">
            <a:extLst>
              <a:ext uri="{FF2B5EF4-FFF2-40B4-BE49-F238E27FC236}">
                <a16:creationId xmlns:a16="http://schemas.microsoft.com/office/drawing/2014/main" id="{3A4D7999-EF28-9941-83E4-37FDECB2C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4400" y="2052638"/>
            <a:ext cx="935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y, x</a:t>
            </a:r>
            <a:r>
              <a:rPr lang="en-US" altLang="zh-CN" b="1">
                <a:latin typeface="Times New Roman" panose="02020603050405020304" pitchFamily="18" charset="0"/>
              </a:rPr>
              <a:t>)</a:t>
            </a:r>
            <a:endParaRPr lang="zh-CN" altLang="en-US"/>
          </a:p>
        </p:txBody>
      </p:sp>
      <p:sp>
        <p:nvSpPr>
          <p:cNvPr id="47126" name="文本框 3">
            <a:extLst>
              <a:ext uri="{FF2B5EF4-FFF2-40B4-BE49-F238E27FC236}">
                <a16:creationId xmlns:a16="http://schemas.microsoft.com/office/drawing/2014/main" id="{062EA824-EAE2-0645-89EE-C47826FB5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1728788"/>
            <a:ext cx="13303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y, z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endParaRPr lang="zh-CN" alt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C7EC575-7EA6-004C-8B7B-221CBDE0CBE3}"/>
                  </a:ext>
                </a:extLst>
              </p:cNvPr>
              <p:cNvSpPr/>
              <p:nvPr/>
            </p:nvSpPr>
            <p:spPr>
              <a:xfrm>
                <a:off x="-7714" y="5059401"/>
                <a:ext cx="9324528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endChr m:val=""/>
                          <m:ctrlPr>
                            <a:rPr lang="zh-CN" altLang="en-US" sz="3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30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3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zh-CN" altLang="en-US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3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)=</m:t>
                          </m:r>
                          <m:d>
                            <m:dPr>
                              <m:ctrlPr>
                                <a:rPr lang="zh-CN" altLang="en-US" sz="3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en-US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30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3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30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3000" i="0">
                                  <a:latin typeface="Cambria Math" panose="02040503050406030204" pitchFamily="18" charset="0"/>
                                </a:rPr>
                                <m:t>,...,</m:t>
                              </m:r>
                              <m:sSub>
                                <m:sSubPr>
                                  <m:ctrlPr>
                                    <a:rPr lang="zh-CN" altLang="en-US" sz="3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30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3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⇔</m:t>
                          </m:r>
                          <m:sSub>
                            <m:sSubPr>
                              <m:ctrlPr>
                                <a:rPr lang="zh-CN" altLang="en-US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3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zh-CN" altLang="en-US" sz="3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3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3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,∀</m:t>
                          </m:r>
                          <m:r>
                            <a:rPr lang="zh-CN" altLang="en-US" sz="3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3000" b="0" i="0" smtClean="0">
                              <a:latin typeface="Cambria Math" panose="02040503050406030204" pitchFamily="18" charset="0"/>
                            </a:rPr>
                            <m:t>=1,…</m:t>
                          </m:r>
                          <m:r>
                            <a:rPr lang="en-US" altLang="zh-CN" sz="3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d>
                    </m:oMath>
                  </m:oMathPara>
                </a14:m>
                <a:endParaRPr lang="zh-CN" altLang="en-US" sz="30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C7EC575-7EA6-004C-8B7B-221CBDE0CB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714" y="5059401"/>
                <a:ext cx="9324528" cy="553998"/>
              </a:xfrm>
              <a:prstGeom prst="rect">
                <a:avLst/>
              </a:prstGeom>
              <a:blipFill>
                <a:blip r:embed="rId6"/>
                <a:stretch>
                  <a:fillRect l="-5034" t="-131111" b="-20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301B96ED-F5D6-554E-8E93-F3BD60E3DE74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539750" y="1844675"/>
            <a:ext cx="8229600" cy="5865813"/>
          </a:xfrm>
        </p:spPr>
        <p:txBody>
          <a:bodyPr/>
          <a:lstStyle/>
          <a:p>
            <a:pPr eaLnBrk="1" hangingPunct="1"/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元组常称为</a:t>
            </a:r>
            <a:r>
              <a:rPr lang="zh-CN" altLang="en-US" b="1">
                <a:solidFill>
                  <a:srgbClr val="A4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有序对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(ordered pair)</a:t>
            </a:r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或</a:t>
            </a:r>
            <a:r>
              <a:rPr lang="zh-CN" altLang="en-US" b="1">
                <a:solidFill>
                  <a:srgbClr val="A4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序偶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6000">
                <a:solidFill>
                  <a:schemeClr val="folHlink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6000" i="1">
                <a:latin typeface="Times New Roman" panose="02020603050405020304" pitchFamily="18" charset="0"/>
              </a:rPr>
              <a:t>x</a:t>
            </a:r>
            <a:r>
              <a:rPr lang="en-US" altLang="zh-CN" sz="6000">
                <a:latin typeface="Times New Roman" panose="02020603050405020304" pitchFamily="18" charset="0"/>
              </a:rPr>
              <a:t>, </a:t>
            </a:r>
            <a:r>
              <a:rPr lang="en-US" altLang="zh-CN" sz="6000" i="1">
                <a:latin typeface="Times New Roman" panose="02020603050405020304" pitchFamily="18" charset="0"/>
              </a:rPr>
              <a:t>y</a:t>
            </a:r>
            <a:r>
              <a:rPr lang="en-US" altLang="zh-CN" sz="6000">
                <a:solidFill>
                  <a:schemeClr val="folHlink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48131" name="Line 3">
            <a:extLst>
              <a:ext uri="{FF2B5EF4-FFF2-40B4-BE49-F238E27FC236}">
                <a16:creationId xmlns:a16="http://schemas.microsoft.com/office/drawing/2014/main" id="{BDCD967B-6920-4E4F-BAFD-FA60A7B946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31913" y="4076700"/>
            <a:ext cx="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2" name="Line 4">
            <a:extLst>
              <a:ext uri="{FF2B5EF4-FFF2-40B4-BE49-F238E27FC236}">
                <a16:creationId xmlns:a16="http://schemas.microsoft.com/office/drawing/2014/main" id="{5815B4B2-1737-6643-A7DD-C78AB04C750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1050" y="4076700"/>
            <a:ext cx="0" cy="100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4" name="Line 6">
            <a:extLst>
              <a:ext uri="{FF2B5EF4-FFF2-40B4-BE49-F238E27FC236}">
                <a16:creationId xmlns:a16="http://schemas.microsoft.com/office/drawing/2014/main" id="{C2401A21-0005-4A4F-9CB9-A060FF12B9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91363" y="3357563"/>
            <a:ext cx="936625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5" name="Line 7">
            <a:extLst>
              <a:ext uri="{FF2B5EF4-FFF2-40B4-BE49-F238E27FC236}">
                <a16:creationId xmlns:a16="http://schemas.microsoft.com/office/drawing/2014/main" id="{D5446620-FCA2-BF40-9778-659DA937A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950" y="3355975"/>
            <a:ext cx="1223963" cy="1511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6" name="灯片编号占位符 1">
            <a:extLst>
              <a:ext uri="{FF2B5EF4-FFF2-40B4-BE49-F238E27FC236}">
                <a16:creationId xmlns:a16="http://schemas.microsoft.com/office/drawing/2014/main" id="{94403688-D1C7-8747-BA64-CBC7DD761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CF6B3A-7A05-354A-9220-3D35FE401958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3EA5B12-658B-1F44-B01E-39D775A74B7C}"/>
                  </a:ext>
                </a:extLst>
              </p:cNvPr>
              <p:cNvSpPr/>
              <p:nvPr/>
            </p:nvSpPr>
            <p:spPr>
              <a:xfrm>
                <a:off x="5666416" y="3178750"/>
                <a:ext cx="1499641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zh-CN" altLang="en-US" sz="4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4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4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4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zh-CN" altLang="en-US" sz="40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3EA5B12-658B-1F44-B01E-39D775A74B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416" y="3178750"/>
                <a:ext cx="1499641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F32F2BB7-BBDF-F741-B5D3-3D30CDB90159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658813"/>
            <a:ext cx="8229600" cy="5865812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5. </a:t>
            </a:r>
            <a:r>
              <a:rPr lang="zh-CN" altLang="en-US" b="1" dirty="0">
                <a:latin typeface="Times New Roman" panose="02020603050405020304" pitchFamily="18" charset="0"/>
              </a:rPr>
              <a:t>笛卡儿积</a:t>
            </a:r>
            <a:r>
              <a:rPr lang="en-US" altLang="zh-CN" b="1" dirty="0">
                <a:latin typeface="Times New Roman" panose="02020603050405020304" pitchFamily="18" charset="0"/>
              </a:rPr>
              <a:t>(cross product)</a:t>
            </a:r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解析几何之父笛卡儿</a:t>
            </a:r>
            <a:r>
              <a:rPr lang="en-US" altLang="zh-CN" b="1" dirty="0">
                <a:latin typeface="Times New Roman" panose="02020603050405020304" pitchFamily="18" charset="0"/>
              </a:rPr>
              <a:t>(R. Cartesian, 1596--1650)</a:t>
            </a:r>
            <a:r>
              <a:rPr lang="zh-CN" altLang="en-US" b="1" dirty="0">
                <a:latin typeface="Times New Roman" panose="02020603050405020304" pitchFamily="18" charset="0"/>
              </a:rPr>
              <a:t>是法国数学家</a:t>
            </a:r>
            <a:r>
              <a:rPr lang="en-US" altLang="zh-CN" b="1" dirty="0">
                <a:latin typeface="Times New Roman" panose="02020603050405020304" pitchFamily="18" charset="0"/>
              </a:rPr>
              <a:t>, “</a:t>
            </a:r>
            <a:r>
              <a:rPr lang="zh-CN" altLang="en-US" b="1" dirty="0">
                <a:solidFill>
                  <a:srgbClr val="006600"/>
                </a:solidFill>
                <a:latin typeface="Times New Roman" panose="02020603050405020304" pitchFamily="18" charset="0"/>
              </a:rPr>
              <a:t>我思故我在</a:t>
            </a:r>
            <a:r>
              <a:rPr lang="zh-CN" altLang="en-US" b="1" dirty="0">
                <a:latin typeface="Times New Roman" panose="02020603050405020304" pitchFamily="18" charset="0"/>
              </a:rPr>
              <a:t>”和“</a:t>
            </a:r>
            <a:r>
              <a:rPr lang="zh-CN" altLang="en-US" b="1" dirty="0">
                <a:solidFill>
                  <a:srgbClr val="006600"/>
                </a:solidFill>
                <a:latin typeface="Times New Roman" panose="02020603050405020304" pitchFamily="18" charset="0"/>
              </a:rPr>
              <a:t>越学习越发现自己的无知</a:t>
            </a:r>
            <a:r>
              <a:rPr lang="zh-CN" altLang="en-US" b="1" dirty="0">
                <a:latin typeface="Times New Roman" panose="02020603050405020304" pitchFamily="18" charset="0"/>
              </a:rPr>
              <a:t>”是他的名言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  <a:r>
              <a:rPr lang="en-US" altLang="zh-CN" dirty="0"/>
              <a:t> </a:t>
            </a:r>
          </a:p>
        </p:txBody>
      </p:sp>
      <p:graphicFrame>
        <p:nvGraphicFramePr>
          <p:cNvPr id="49156" name="Object 4">
            <a:extLst>
              <a:ext uri="{FF2B5EF4-FFF2-40B4-BE49-F238E27FC236}">
                <a16:creationId xmlns:a16="http://schemas.microsoft.com/office/drawing/2014/main" id="{842772B5-A4B0-0946-B6A5-4CBF371327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7746070"/>
              </p:ext>
            </p:extLst>
          </p:nvPr>
        </p:nvGraphicFramePr>
        <p:xfrm>
          <a:off x="214512" y="2559738"/>
          <a:ext cx="8929488" cy="91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63500" progId="Equation.3">
                  <p:embed/>
                </p:oleObj>
              </mc:Choice>
              <mc:Fallback>
                <p:oleObj name="Equation" r:id="rId3" imgW="914400" imgH="63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512" y="2559738"/>
                        <a:ext cx="8929488" cy="91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7" name="灯片编号占位符 1">
            <a:extLst>
              <a:ext uri="{FF2B5EF4-FFF2-40B4-BE49-F238E27FC236}">
                <a16:creationId xmlns:a16="http://schemas.microsoft.com/office/drawing/2014/main" id="{F9FC88DA-C97F-5145-9AA1-0F39D65D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026290-F3AF-9A46-A683-F31CE7092B8E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12E9AE0-FE0E-A145-8048-CA5B88148AA3}"/>
                  </a:ext>
                </a:extLst>
              </p:cNvPr>
              <p:cNvSpPr/>
              <p:nvPr/>
            </p:nvSpPr>
            <p:spPr>
              <a:xfrm>
                <a:off x="88746" y="1844824"/>
                <a:ext cx="918102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×...×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={(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)|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=1,2,..,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}.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12E9AE0-FE0E-A145-8048-CA5B88148A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46" y="1844824"/>
                <a:ext cx="918102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186C442B-4097-C74E-A2E0-4A01F88DA662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323850" y="658813"/>
            <a:ext cx="8640763" cy="586581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1-4 </a:t>
            </a:r>
            <a:r>
              <a:rPr lang="zh-CN" altLang="en-US" b="1" dirty="0">
                <a:latin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 = {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},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 = {1, 2}, </a:t>
            </a:r>
            <a:r>
              <a:rPr lang="en-US" altLang="zh-CN" b="1" i="1" dirty="0"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</a:rPr>
              <a:t> = {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</a:t>
            </a:r>
            <a:r>
              <a:rPr lang="en-US" altLang="zh-CN" b="1" dirty="0">
                <a:latin typeface="Times New Roman" panose="02020603050405020304" pitchFamily="18" charset="0"/>
              </a:rPr>
              <a:t>}, </a:t>
            </a:r>
            <a:r>
              <a:rPr lang="zh-CN" altLang="en-US" b="1" dirty="0">
                <a:latin typeface="Times New Roman" panose="02020603050405020304" pitchFamily="18" charset="0"/>
              </a:rPr>
              <a:t>求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en-US" altLang="zh-CN" b="1" i="1" dirty="0">
                <a:latin typeface="Times New Roman" panose="02020603050405020304" pitchFamily="18" charset="0"/>
              </a:rPr>
              <a:t>    A 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 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,</a:t>
            </a:r>
            <a:r>
              <a:rPr lang="en-US" altLang="zh-CN" b="1" i="1" dirty="0">
                <a:latin typeface="Times New Roman" panose="02020603050405020304" pitchFamily="18" charset="0"/>
              </a:rPr>
              <a:t> B 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 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A 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 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B 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 </a:t>
            </a:r>
            <a:r>
              <a:rPr lang="en-US" altLang="zh-CN" b="1" i="1" dirty="0">
                <a:latin typeface="Times New Roman" panose="02020603050405020304" pitchFamily="18" charset="0"/>
              </a:rPr>
              <a:t>C 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B 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 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.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Solution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800" i="1" dirty="0">
                <a:latin typeface="Times New Roman" panose="02020603050405020304" pitchFamily="18" charset="0"/>
              </a:rPr>
              <a:t>                     A</a:t>
            </a:r>
            <a:r>
              <a:rPr lang="en-US" altLang="zh-CN" sz="2800" dirty="0">
                <a:latin typeface="Times New Roman" panose="02020603050405020304" pitchFamily="18" charset="0"/>
                <a:sym typeface="Symbol" pitchFamily="2" charset="2"/>
              </a:rPr>
              <a:t></a:t>
            </a:r>
            <a:r>
              <a:rPr lang="en-US" altLang="zh-CN" sz="2800" i="1" dirty="0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</a:t>
            </a:r>
            <a:r>
              <a:rPr lang="en-US" altLang="zh-CN" i="1" dirty="0">
                <a:latin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  <a:sym typeface="Symbol" pitchFamily="2" charset="2"/>
              </a:rPr>
              <a:t> ={(</a:t>
            </a:r>
            <a:r>
              <a:rPr lang="en-US" altLang="zh-CN" sz="2800" i="1" dirty="0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sym typeface="Symbol" pitchFamily="2" charset="2"/>
              </a:rPr>
              <a:t>,1,), (</a:t>
            </a:r>
            <a:r>
              <a:rPr lang="en-US" altLang="zh-CN" sz="2800" i="1" dirty="0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sym typeface="Symbol" pitchFamily="2" charset="2"/>
              </a:rPr>
              <a:t>,1,), (</a:t>
            </a:r>
            <a:r>
              <a:rPr lang="en-US" altLang="zh-CN" sz="2800" i="1" dirty="0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zh-CN" sz="2800" dirty="0">
                <a:latin typeface="Times New Roman" panose="02020603050405020304" pitchFamily="18" charset="0"/>
                <a:sym typeface="Symbol" pitchFamily="2" charset="2"/>
              </a:rPr>
              <a:t>,2,), (</a:t>
            </a:r>
            <a:r>
              <a:rPr lang="en-US" altLang="zh-CN" sz="2800" i="1" dirty="0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  <a:sym typeface="Symbol" pitchFamily="2" charset="2"/>
              </a:rPr>
              <a:t>,2,)}.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i="1" dirty="0">
                <a:latin typeface="Times New Roman" panose="02020603050405020304" pitchFamily="18" charset="0"/>
              </a:rPr>
              <a:t>                    B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</a:t>
            </a:r>
            <a:r>
              <a:rPr lang="en-US" altLang="zh-CN" i="1" dirty="0">
                <a:latin typeface="Times New Roman" panose="02020603050405020304" pitchFamily="18" charset="0"/>
                <a:sym typeface="Symbol" pitchFamily="2" charset="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 = {(1, ), (2, )}</a:t>
            </a:r>
          </a:p>
          <a:p>
            <a:pPr eaLnBrk="1" hangingPunct="1">
              <a:lnSpc>
                <a:spcPct val="120000"/>
              </a:lnSpc>
            </a:pP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Remark 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  </a:t>
            </a:r>
            <a:r>
              <a:rPr lang="en-US" altLang="zh-CN" i="1" dirty="0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   = .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0066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itchFamily="2" charset="2"/>
              </a:rPr>
              <a:t>思考</a:t>
            </a:r>
            <a:r>
              <a:rPr lang="zh-CN" altLang="en-US" dirty="0">
                <a:latin typeface="Times New Roman" panose="02020603050405020304" pitchFamily="18" charset="0"/>
                <a:sym typeface="Symbol" pitchFamily="2" charset="2"/>
              </a:rPr>
              <a:t>：若</a:t>
            </a:r>
            <a:r>
              <a:rPr lang="en-US" altLang="zh-CN" i="1" dirty="0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  </a:t>
            </a:r>
            <a:r>
              <a:rPr lang="en-US" altLang="zh-CN" i="1" dirty="0">
                <a:latin typeface="Times New Roman" panose="02020603050405020304" pitchFamily="18" charset="0"/>
                <a:sym typeface="Symbol" pitchFamily="2" charset="2"/>
              </a:rPr>
              <a:t>C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= </a:t>
            </a:r>
            <a:r>
              <a:rPr lang="en-US" altLang="zh-CN" i="1" dirty="0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  </a:t>
            </a:r>
            <a:r>
              <a:rPr lang="en-US" altLang="zh-CN" i="1" dirty="0">
                <a:latin typeface="Times New Roman" panose="02020603050405020304" pitchFamily="18" charset="0"/>
                <a:sym typeface="Symbol" pitchFamily="2" charset="2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sym typeface="Symbol" pitchFamily="2" charset="2"/>
              </a:rPr>
              <a:t>，则</a:t>
            </a:r>
            <a:r>
              <a:rPr lang="en-US" altLang="zh-CN" i="1" dirty="0">
                <a:latin typeface="Times New Roman" panose="02020603050405020304" pitchFamily="18" charset="0"/>
                <a:sym typeface="Symbol" pitchFamily="2" charset="2"/>
              </a:rPr>
              <a:t>A=B</a:t>
            </a:r>
            <a:r>
              <a:rPr lang="en-US" altLang="zh-CN" dirty="0">
                <a:latin typeface="Times New Roman" panose="02020603050405020304" pitchFamily="18" charset="0"/>
                <a:sym typeface="Symbol" pitchFamily="2" charset="2"/>
              </a:rPr>
              <a:t>? 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D3E961FF-D34C-4B44-B8E0-6961C4C46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EF6AF51D-6250-9E4C-82D5-2FF676021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50183" name="灯片编号占位符 1">
            <a:extLst>
              <a:ext uri="{FF2B5EF4-FFF2-40B4-BE49-F238E27FC236}">
                <a16:creationId xmlns:a16="http://schemas.microsoft.com/office/drawing/2014/main" id="{588562B0-0F1E-5A42-AF80-5A67DD374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8DE3DA-D05F-2D4B-B0DF-FBF35FFE05AF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F0754D4-0F72-154D-9613-AF5548CB88C5}"/>
                  </a:ext>
                </a:extLst>
              </p:cNvPr>
              <p:cNvSpPr/>
              <p:nvPr/>
            </p:nvSpPr>
            <p:spPr>
              <a:xfrm>
                <a:off x="2555875" y="2204864"/>
                <a:ext cx="5124673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zh-CN" altLang="en-US" sz="2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zh-CN" altLang="en-US" sz="2600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zh-CN" altLang="en-US" sz="2600" i="0">
                              <a:latin typeface="Cambria Math" panose="02040503050406030204" pitchFamily="18" charset="0"/>
                            </a:rPr>
                            <m:t>={(</m:t>
                          </m:r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sz="2600" i="0">
                              <a:latin typeface="Cambria Math" panose="02040503050406030204" pitchFamily="18" charset="0"/>
                            </a:rPr>
                            <m:t>,1),(</m:t>
                          </m:r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sz="2600" i="0">
                              <a:latin typeface="Cambria Math" panose="02040503050406030204" pitchFamily="18" charset="0"/>
                            </a:rPr>
                            <m:t>,2),(</m:t>
                          </m:r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sz="2600" i="0">
                              <a:latin typeface="Cambria Math" panose="02040503050406030204" pitchFamily="18" charset="0"/>
                            </a:rPr>
                            <m:t>,1),(</m:t>
                          </m:r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sz="2600" i="0">
                              <a:latin typeface="Cambria Math" panose="02040503050406030204" pitchFamily="18" charset="0"/>
                            </a:rPr>
                            <m:t>,2)</m:t>
                          </m:r>
                        </m:e>
                      </m:d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F0754D4-0F72-154D-9613-AF5548CB88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875" y="2204864"/>
                <a:ext cx="5124673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8E23313-E732-E54B-815F-677ABA09804D}"/>
                  </a:ext>
                </a:extLst>
              </p:cNvPr>
              <p:cNvSpPr/>
              <p:nvPr/>
            </p:nvSpPr>
            <p:spPr>
              <a:xfrm>
                <a:off x="2484438" y="2828752"/>
                <a:ext cx="5124673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zh-CN" altLang="en-US" sz="2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zh-CN" altLang="en-US" sz="2600" i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zh-CN" altLang="en-US" sz="2600" i="0">
                              <a:latin typeface="Cambria Math" panose="02040503050406030204" pitchFamily="18" charset="0"/>
                            </a:rPr>
                            <m:t>={(1,</m:t>
                          </m:r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sz="2600" i="0">
                              <a:latin typeface="Cambria Math" panose="02040503050406030204" pitchFamily="18" charset="0"/>
                            </a:rPr>
                            <m:t>),(2,</m:t>
                          </m:r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zh-CN" altLang="en-US" sz="2600" i="0">
                              <a:latin typeface="Cambria Math" panose="02040503050406030204" pitchFamily="18" charset="0"/>
                            </a:rPr>
                            <m:t>),(1,</m:t>
                          </m:r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sz="2600" i="0">
                              <a:latin typeface="Cambria Math" panose="02040503050406030204" pitchFamily="18" charset="0"/>
                            </a:rPr>
                            <m:t>),(2,</m:t>
                          </m:r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sz="2600" i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8E23313-E732-E54B-815F-677ABA0980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438" y="2828752"/>
                <a:ext cx="5124673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8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8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7DD8C6EC-5FE4-E94B-BAF8-4714006BCA7D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1524000"/>
            <a:ext cx="8229600" cy="5865813"/>
          </a:xfrm>
        </p:spPr>
        <p:txBody>
          <a:bodyPr/>
          <a:lstStyle/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Theorem 1-5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Hint 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/>
          </a:p>
          <a:p>
            <a:pPr eaLnBrk="1" hangingPunct="1"/>
            <a:endParaRPr lang="en-US" altLang="zh-CN" b="1"/>
          </a:p>
          <a:p>
            <a:pPr eaLnBrk="1" hangingPunct="1"/>
            <a:endParaRPr lang="en-US" altLang="zh-CN">
              <a:ea typeface="华文新魏" panose="02010800040101010101" pitchFamily="2" charset="-122"/>
            </a:endParaRPr>
          </a:p>
        </p:txBody>
      </p:sp>
      <p:sp>
        <p:nvSpPr>
          <p:cNvPr id="51205" name="灯片编号占位符 1">
            <a:extLst>
              <a:ext uri="{FF2B5EF4-FFF2-40B4-BE49-F238E27FC236}">
                <a16:creationId xmlns:a16="http://schemas.microsoft.com/office/drawing/2014/main" id="{1EEEFAAC-4818-7E44-9291-AFF119A8D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E4A6CC-0479-DF46-9DBF-CE3C54F7ACF1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CD5CE63-A6FB-0D4D-8102-EEA70D870327}"/>
                  </a:ext>
                </a:extLst>
              </p:cNvPr>
              <p:cNvSpPr/>
              <p:nvPr/>
            </p:nvSpPr>
            <p:spPr>
              <a:xfrm>
                <a:off x="3419475" y="1557338"/>
                <a:ext cx="532735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,|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⇒|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𝑚𝑛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CD5CE63-A6FB-0D4D-8102-EEA70D8703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475" y="1557338"/>
                <a:ext cx="5327356" cy="523220"/>
              </a:xfrm>
              <a:prstGeom prst="rect">
                <a:avLst/>
              </a:prstGeom>
              <a:blipFill>
                <a:blip r:embed="rId2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BD0EE99-19C0-FF43-9189-B1864DA60136}"/>
                  </a:ext>
                </a:extLst>
              </p:cNvPr>
              <p:cNvSpPr/>
              <p:nvPr/>
            </p:nvSpPr>
            <p:spPr>
              <a:xfrm>
                <a:off x="2555776" y="3412797"/>
                <a:ext cx="465665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={(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)|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}.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BD0EE99-19C0-FF43-9189-B1864DA601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776" y="3412797"/>
                <a:ext cx="4656659" cy="523220"/>
              </a:xfrm>
              <a:prstGeom prst="rect">
                <a:avLst/>
              </a:prstGeom>
              <a:blipFill>
                <a:blip r:embed="rId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AutoShape 2">
            <a:extLst>
              <a:ext uri="{FF2B5EF4-FFF2-40B4-BE49-F238E27FC236}">
                <a16:creationId xmlns:a16="http://schemas.microsoft.com/office/drawing/2014/main" id="{31DE4487-2782-C74C-8980-43671849BDAC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2251074" y="1573212"/>
            <a:ext cx="4824412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ECB89C6-3BC3-0048-ADA6-7E6394D0C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0" y="361950"/>
            <a:ext cx="7715250" cy="1157288"/>
          </a:xfrm>
        </p:spPr>
        <p:txBody>
          <a:bodyPr/>
          <a:lstStyle/>
          <a:p>
            <a:pPr algn="l" eaLnBrk="1" hangingPunct="1"/>
            <a:r>
              <a:rPr lang="zh-CN" altLang="en-US" sz="4000" b="1"/>
              <a:t>小  结</a:t>
            </a:r>
          </a:p>
        </p:txBody>
      </p:sp>
      <p:grpSp>
        <p:nvGrpSpPr>
          <p:cNvPr id="52228" name="Group 4">
            <a:extLst>
              <a:ext uri="{FF2B5EF4-FFF2-40B4-BE49-F238E27FC236}">
                <a16:creationId xmlns:a16="http://schemas.microsoft.com/office/drawing/2014/main" id="{24991A1A-7475-094F-A891-17DB583523C2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1412875"/>
            <a:ext cx="5181600" cy="508000"/>
            <a:chOff x="1419" y="1480"/>
            <a:chExt cx="3575" cy="363"/>
          </a:xfrm>
        </p:grpSpPr>
        <p:grpSp>
          <p:nvGrpSpPr>
            <p:cNvPr id="52259" name="Group 5">
              <a:extLst>
                <a:ext uri="{FF2B5EF4-FFF2-40B4-BE49-F238E27FC236}">
                  <a16:creationId xmlns:a16="http://schemas.microsoft.com/office/drawing/2014/main" id="{FE8F6313-4905-7D43-A520-4E6346DF3A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02406" name="Oval 6">
                <a:extLst>
                  <a:ext uri="{FF2B5EF4-FFF2-40B4-BE49-F238E27FC236}">
                    <a16:creationId xmlns:a16="http://schemas.microsoft.com/office/drawing/2014/main" id="{B430DBDA-B68F-3246-8E8C-F5BAFF8BA23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102407" name="AutoShape 7">
                <a:extLst>
                  <a:ext uri="{FF2B5EF4-FFF2-40B4-BE49-F238E27FC236}">
                    <a16:creationId xmlns:a16="http://schemas.microsoft.com/office/drawing/2014/main" id="{D64A2618-4257-0747-B20F-6742F6EF948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b="1">
                    <a:latin typeface="Times New Roman" panose="02020603050405020304" pitchFamily="18" charset="0"/>
                  </a:rPr>
                  <a:t>集合就是一些对象构成的整体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02408" name="Oval 8">
              <a:extLst>
                <a:ext uri="{FF2B5EF4-FFF2-40B4-BE49-F238E27FC236}">
                  <a16:creationId xmlns:a16="http://schemas.microsoft.com/office/drawing/2014/main" id="{0AADFF23-0734-B94F-8FDF-AAEFFBE4001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2261" name="Oval 9">
              <a:extLst>
                <a:ext uri="{FF2B5EF4-FFF2-40B4-BE49-F238E27FC236}">
                  <a16:creationId xmlns:a16="http://schemas.microsoft.com/office/drawing/2014/main" id="{A59478EC-0732-3445-9463-F77364E9B27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2229" name="Group 10">
            <a:extLst>
              <a:ext uri="{FF2B5EF4-FFF2-40B4-BE49-F238E27FC236}">
                <a16:creationId xmlns:a16="http://schemas.microsoft.com/office/drawing/2014/main" id="{A6CA0D76-0E65-5245-9819-B74E3F6D735A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2133600"/>
            <a:ext cx="5181600" cy="508000"/>
            <a:chOff x="1419" y="1480"/>
            <a:chExt cx="3575" cy="363"/>
          </a:xfrm>
        </p:grpSpPr>
        <p:grpSp>
          <p:nvGrpSpPr>
            <p:cNvPr id="52254" name="Group 11">
              <a:extLst>
                <a:ext uri="{FF2B5EF4-FFF2-40B4-BE49-F238E27FC236}">
                  <a16:creationId xmlns:a16="http://schemas.microsoft.com/office/drawing/2014/main" id="{374B418A-FA80-C747-8447-0C10A4681E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02412" name="Oval 12">
                <a:extLst>
                  <a:ext uri="{FF2B5EF4-FFF2-40B4-BE49-F238E27FC236}">
                    <a16:creationId xmlns:a16="http://schemas.microsoft.com/office/drawing/2014/main" id="{48D9AE02-A191-BE46-8939-FFB60D71D50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102413" name="AutoShape 13">
                <a:extLst>
                  <a:ext uri="{FF2B5EF4-FFF2-40B4-BE49-F238E27FC236}">
                    <a16:creationId xmlns:a16="http://schemas.microsoft.com/office/drawing/2014/main" id="{3E27D2B5-3501-3B47-8CE9-46F26A469390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zh-CN" sz="3200" b="1">
                  <a:latin typeface="Times New Roman" pitchFamily="18" charset="0"/>
                </a:endParaRPr>
              </a:p>
            </p:txBody>
          </p:sp>
        </p:grpSp>
        <p:sp>
          <p:nvSpPr>
            <p:cNvPr id="102414" name="Oval 14">
              <a:extLst>
                <a:ext uri="{FF2B5EF4-FFF2-40B4-BE49-F238E27FC236}">
                  <a16:creationId xmlns:a16="http://schemas.microsoft.com/office/drawing/2014/main" id="{270EEE66-1FBC-D846-B2B0-68F2AD32B5E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2256" name="Oval 15">
              <a:extLst>
                <a:ext uri="{FF2B5EF4-FFF2-40B4-BE49-F238E27FC236}">
                  <a16:creationId xmlns:a16="http://schemas.microsoft.com/office/drawing/2014/main" id="{410CA21F-27D3-604A-BBD4-7F77108D154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2230" name="Group 16">
            <a:extLst>
              <a:ext uri="{FF2B5EF4-FFF2-40B4-BE49-F238E27FC236}">
                <a16:creationId xmlns:a16="http://schemas.microsoft.com/office/drawing/2014/main" id="{7FCDAE1A-4A29-DF4A-BDA4-2C18D92C1726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2924175"/>
            <a:ext cx="5181600" cy="508000"/>
            <a:chOff x="1419" y="1480"/>
            <a:chExt cx="3575" cy="363"/>
          </a:xfrm>
        </p:grpSpPr>
        <p:grpSp>
          <p:nvGrpSpPr>
            <p:cNvPr id="52249" name="Group 17">
              <a:extLst>
                <a:ext uri="{FF2B5EF4-FFF2-40B4-BE49-F238E27FC236}">
                  <a16:creationId xmlns:a16="http://schemas.microsoft.com/office/drawing/2014/main" id="{F0F84793-3C7C-654B-9BDE-9706F55C23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02418" name="Oval 18">
                <a:extLst>
                  <a:ext uri="{FF2B5EF4-FFF2-40B4-BE49-F238E27FC236}">
                    <a16:creationId xmlns:a16="http://schemas.microsoft.com/office/drawing/2014/main" id="{5A14713D-AFBE-B74A-9BEE-604DBBC71BD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102419" name="AutoShape 19">
                <a:extLst>
                  <a:ext uri="{FF2B5EF4-FFF2-40B4-BE49-F238E27FC236}">
                    <a16:creationId xmlns:a16="http://schemas.microsoft.com/office/drawing/2014/main" id="{288E7FD1-FF5E-7E40-9D6F-DFBBA091285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zh-CN" sz="3200" b="1">
                  <a:latin typeface="Times New Roman" pitchFamily="18" charset="0"/>
                </a:endParaRPr>
              </a:p>
            </p:txBody>
          </p:sp>
        </p:grpSp>
        <p:sp>
          <p:nvSpPr>
            <p:cNvPr id="102420" name="Oval 20">
              <a:extLst>
                <a:ext uri="{FF2B5EF4-FFF2-40B4-BE49-F238E27FC236}">
                  <a16:creationId xmlns:a16="http://schemas.microsoft.com/office/drawing/2014/main" id="{458D735A-870C-F249-B415-330D73363CD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2251" name="Oval 21">
              <a:extLst>
                <a:ext uri="{FF2B5EF4-FFF2-40B4-BE49-F238E27FC236}">
                  <a16:creationId xmlns:a16="http://schemas.microsoft.com/office/drawing/2014/main" id="{FFB7B0CA-0D91-2448-B897-02AFBEA2FE7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52231" name="Group 22">
            <a:extLst>
              <a:ext uri="{FF2B5EF4-FFF2-40B4-BE49-F238E27FC236}">
                <a16:creationId xmlns:a16="http://schemas.microsoft.com/office/drawing/2014/main" id="{060B3440-A6C7-8747-ABD5-D956CBFC4823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4581525"/>
            <a:ext cx="5181600" cy="508000"/>
            <a:chOff x="1419" y="1480"/>
            <a:chExt cx="3575" cy="363"/>
          </a:xfrm>
        </p:grpSpPr>
        <p:grpSp>
          <p:nvGrpSpPr>
            <p:cNvPr id="52244" name="Group 23">
              <a:extLst>
                <a:ext uri="{FF2B5EF4-FFF2-40B4-BE49-F238E27FC236}">
                  <a16:creationId xmlns:a16="http://schemas.microsoft.com/office/drawing/2014/main" id="{B8066187-AD28-FC4E-AD3B-EAC749614A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02424" name="Oval 24">
                <a:extLst>
                  <a:ext uri="{FF2B5EF4-FFF2-40B4-BE49-F238E27FC236}">
                    <a16:creationId xmlns:a16="http://schemas.microsoft.com/office/drawing/2014/main" id="{762C5876-8AA4-3B41-BE68-25D46136B39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102425" name="AutoShape 25">
                <a:extLst>
                  <a:ext uri="{FF2B5EF4-FFF2-40B4-BE49-F238E27FC236}">
                    <a16:creationId xmlns:a16="http://schemas.microsoft.com/office/drawing/2014/main" id="{7A34F5AD-C6AC-1D4B-9C30-293275E1963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zh-CN" sz="3200" b="1">
                  <a:latin typeface="Arial" charset="0"/>
                </a:endParaRPr>
              </a:p>
            </p:txBody>
          </p:sp>
        </p:grpSp>
        <p:sp>
          <p:nvSpPr>
            <p:cNvPr id="102426" name="Oval 26">
              <a:extLst>
                <a:ext uri="{FF2B5EF4-FFF2-40B4-BE49-F238E27FC236}">
                  <a16:creationId xmlns:a16="http://schemas.microsoft.com/office/drawing/2014/main" id="{C58A4E29-3FFB-E242-9A9D-7D9D8E09081A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2246" name="Oval 27">
              <a:extLst>
                <a:ext uri="{FF2B5EF4-FFF2-40B4-BE49-F238E27FC236}">
                  <a16:creationId xmlns:a16="http://schemas.microsoft.com/office/drawing/2014/main" id="{8517F4D5-D8BC-3F4A-AEF0-3870CC47BC1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52232" name="AutoShape 28">
            <a:extLst>
              <a:ext uri="{FF2B5EF4-FFF2-40B4-BE49-F238E27FC236}">
                <a16:creationId xmlns:a16="http://schemas.microsoft.com/office/drawing/2014/main" id="{A20F6A6F-E0DF-384A-8F90-9CF83597B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>
                <a:alpha val="74997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</a:pPr>
            <a:endParaRPr kumimoji="1" lang="zh-CN" altLang="zh-CN" sz="2400" b="1">
              <a:solidFill>
                <a:schemeClr val="tx2"/>
              </a:solidFill>
              <a:ea typeface="Gulim" panose="020B0600000101010101" pitchFamily="34" charset="-127"/>
            </a:endParaRPr>
          </a:p>
        </p:txBody>
      </p:sp>
      <p:sp>
        <p:nvSpPr>
          <p:cNvPr id="52233" name="Rectangle 38">
            <a:extLst>
              <a:ext uri="{FF2B5EF4-FFF2-40B4-BE49-F238E27FC236}">
                <a16:creationId xmlns:a16="http://schemas.microsoft.com/office/drawing/2014/main" id="{E79EC7D8-6F57-1A45-83E6-BBA1A57B1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133600"/>
            <a:ext cx="2447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itchFamily="2" charset="2"/>
              </a:rPr>
              <a:t> </a:t>
            </a:r>
            <a:r>
              <a:rPr lang="en-US" altLang="zh-CN" sz="2800" b="1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sz="2800" b="1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sym typeface="Symbol" pitchFamily="2" charset="2"/>
              </a:rPr>
              <a:t>= </a:t>
            </a:r>
            <a:r>
              <a:rPr lang="en-US" altLang="zh-CN" sz="2800" b="1" i="1">
                <a:latin typeface="Times New Roman" panose="02020603050405020304" pitchFamily="18" charset="0"/>
                <a:sym typeface="Symbol" pitchFamily="2" charset="2"/>
              </a:rPr>
              <a:t>B</a:t>
            </a:r>
          </a:p>
        </p:txBody>
      </p:sp>
      <p:grpSp>
        <p:nvGrpSpPr>
          <p:cNvPr id="52235" name="Group 40">
            <a:extLst>
              <a:ext uri="{FF2B5EF4-FFF2-40B4-BE49-F238E27FC236}">
                <a16:creationId xmlns:a16="http://schemas.microsoft.com/office/drawing/2014/main" id="{7D3CB005-BF75-F942-B8D8-6110369388EF}"/>
              </a:ext>
            </a:extLst>
          </p:cNvPr>
          <p:cNvGrpSpPr>
            <a:grpSpLocks/>
          </p:cNvGrpSpPr>
          <p:nvPr/>
        </p:nvGrpSpPr>
        <p:grpSpPr bwMode="auto">
          <a:xfrm>
            <a:off x="2124075" y="3716338"/>
            <a:ext cx="5181600" cy="508000"/>
            <a:chOff x="1419" y="1480"/>
            <a:chExt cx="3575" cy="363"/>
          </a:xfrm>
        </p:grpSpPr>
        <p:grpSp>
          <p:nvGrpSpPr>
            <p:cNvPr id="52239" name="Group 41">
              <a:extLst>
                <a:ext uri="{FF2B5EF4-FFF2-40B4-BE49-F238E27FC236}">
                  <a16:creationId xmlns:a16="http://schemas.microsoft.com/office/drawing/2014/main" id="{1AFE6327-2C1E-9243-9AFB-B92CEBD196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102442" name="Oval 42">
                <a:extLst>
                  <a:ext uri="{FF2B5EF4-FFF2-40B4-BE49-F238E27FC236}">
                    <a16:creationId xmlns:a16="http://schemas.microsoft.com/office/drawing/2014/main" id="{8207B45D-F235-8046-9708-FE5BCB35E0C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102443" name="AutoShape 43">
                <a:extLst>
                  <a:ext uri="{FF2B5EF4-FFF2-40B4-BE49-F238E27FC236}">
                    <a16:creationId xmlns:a16="http://schemas.microsoft.com/office/drawing/2014/main" id="{DB41993C-AB88-3E45-BE89-BE0C79ABFF73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zh-CN" sz="3200" b="1">
                  <a:latin typeface="Arial" charset="0"/>
                </a:endParaRPr>
              </a:p>
            </p:txBody>
          </p:sp>
        </p:grpSp>
        <p:sp>
          <p:nvSpPr>
            <p:cNvPr id="102444" name="Oval 44">
              <a:extLst>
                <a:ext uri="{FF2B5EF4-FFF2-40B4-BE49-F238E27FC236}">
                  <a16:creationId xmlns:a16="http://schemas.microsoft.com/office/drawing/2014/main" id="{193DAA8F-88DF-654F-A018-B89BA0C7A97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52241" name="Oval 45">
              <a:extLst>
                <a:ext uri="{FF2B5EF4-FFF2-40B4-BE49-F238E27FC236}">
                  <a16:creationId xmlns:a16="http://schemas.microsoft.com/office/drawing/2014/main" id="{A3D6C289-5A75-0A47-BF47-D8605DD8472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52238" name="灯片编号占位符 1">
            <a:extLst>
              <a:ext uri="{FF2B5EF4-FFF2-40B4-BE49-F238E27FC236}">
                <a16:creationId xmlns:a16="http://schemas.microsoft.com/office/drawing/2014/main" id="{1C124F23-E392-2845-8828-24608F6B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0753DC-E3E0-E844-B052-00C696CD2D5B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BC723218-D153-BD41-8C74-E0EB44328B0E}"/>
                  </a:ext>
                </a:extLst>
              </p:cNvPr>
              <p:cNvSpPr/>
              <p:nvPr/>
            </p:nvSpPr>
            <p:spPr>
              <a:xfrm>
                <a:off x="2627313" y="2924175"/>
                <a:ext cx="267002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)={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⊆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BC723218-D153-BD41-8C74-E0EB44328B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313" y="2924175"/>
                <a:ext cx="2670026" cy="461665"/>
              </a:xfrm>
              <a:prstGeom prst="rect">
                <a:avLst/>
              </a:prstGeom>
              <a:blipFill>
                <a:blip r:embed="rId2"/>
                <a:stretch>
                  <a:fillRect t="-121053" r="-10900" b="-184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78C7264-571E-8A4B-926D-8C4DB28FD14E}"/>
                  </a:ext>
                </a:extLst>
              </p:cNvPr>
              <p:cNvSpPr/>
              <p:nvPr/>
            </p:nvSpPr>
            <p:spPr>
              <a:xfrm>
                <a:off x="2627313" y="3644900"/>
                <a:ext cx="213000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78C7264-571E-8A4B-926D-8C4DB28FD1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313" y="3644900"/>
                <a:ext cx="2130007" cy="461665"/>
              </a:xfrm>
              <a:prstGeom prst="rect">
                <a:avLst/>
              </a:prstGeom>
              <a:blipFill>
                <a:blip r:embed="rId3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F96DE98-8167-AC4F-AF4D-45D206A29F31}"/>
                  </a:ext>
                </a:extLst>
              </p:cNvPr>
              <p:cNvSpPr/>
              <p:nvPr/>
            </p:nvSpPr>
            <p:spPr>
              <a:xfrm>
                <a:off x="2627313" y="4581525"/>
                <a:ext cx="224587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4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0">
                          <a:latin typeface="Cambria Math" panose="02040503050406030204" pitchFamily="18" charset="0"/>
                        </a:rPr>
                        <m:t>×...×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F96DE98-8167-AC4F-AF4D-45D206A29F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313" y="4581525"/>
                <a:ext cx="224587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C8CC0B9C-E24F-1147-A200-7E989A0CF5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第</a:t>
            </a:r>
            <a:r>
              <a:rPr lang="en-US" altLang="zh-CN" b="1">
                <a:latin typeface="Times New Roman" panose="02020603050405020304" pitchFamily="18" charset="0"/>
              </a:rPr>
              <a:t>1</a:t>
            </a:r>
            <a:r>
              <a:rPr lang="zh-CN" altLang="en-US" b="1">
                <a:latin typeface="Times New Roman" panose="02020603050405020304" pitchFamily="18" charset="0"/>
              </a:rPr>
              <a:t>章  集合、映射与运算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57AD8372-027D-8F44-81E5-C4F172B0C4D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1.2 </a:t>
            </a:r>
            <a:r>
              <a:rPr lang="zh-CN" altLang="en-US" b="1">
                <a:latin typeface="Times New Roman" panose="02020603050405020304" pitchFamily="18" charset="0"/>
              </a:rPr>
              <a:t>映射的有关概念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DD6D9EC4-2C32-0644-964B-BC4B57187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7925" y="400050"/>
            <a:ext cx="7715250" cy="1157288"/>
          </a:xfrm>
        </p:spPr>
        <p:txBody>
          <a:bodyPr/>
          <a:lstStyle/>
          <a:p>
            <a:pPr algn="l" eaLnBrk="1" hangingPunct="1"/>
            <a:r>
              <a:rPr lang="zh-CN" altLang="en-US" b="1"/>
              <a:t>本讲内容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A38E905F-DD5C-8D45-A3F1-686D602E73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grpSp>
        <p:nvGrpSpPr>
          <p:cNvPr id="54276" name="Group 4">
            <a:extLst>
              <a:ext uri="{FF2B5EF4-FFF2-40B4-BE49-F238E27FC236}">
                <a16:creationId xmlns:a16="http://schemas.microsoft.com/office/drawing/2014/main" id="{E8A0E7CF-977D-474F-8B4E-C775F6E82F18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1916113"/>
            <a:ext cx="5410200" cy="712787"/>
            <a:chOff x="1152" y="1101"/>
            <a:chExt cx="3408" cy="449"/>
          </a:xfrm>
        </p:grpSpPr>
        <p:grpSp>
          <p:nvGrpSpPr>
            <p:cNvPr id="54286" name="Group 5">
              <a:extLst>
                <a:ext uri="{FF2B5EF4-FFF2-40B4-BE49-F238E27FC236}">
                  <a16:creationId xmlns:a16="http://schemas.microsoft.com/office/drawing/2014/main" id="{9A640C11-D22C-C54E-A09D-D8C86E87D0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131"/>
              <a:ext cx="480" cy="419"/>
              <a:chOff x="1110" y="2656"/>
              <a:chExt cx="1549" cy="1351"/>
            </a:xfrm>
          </p:grpSpPr>
          <p:sp>
            <p:nvSpPr>
              <p:cNvPr id="54290" name="AutoShape 6">
                <a:extLst>
                  <a:ext uri="{FF2B5EF4-FFF2-40B4-BE49-F238E27FC236}">
                    <a16:creationId xmlns:a16="http://schemas.microsoft.com/office/drawing/2014/main" id="{1305AA60-07F3-6146-8ED9-39A3949F037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54291" name="AutoShape 7">
                <a:extLst>
                  <a:ext uri="{FF2B5EF4-FFF2-40B4-BE49-F238E27FC236}">
                    <a16:creationId xmlns:a16="http://schemas.microsoft.com/office/drawing/2014/main" id="{B7450D11-F02C-FA4B-9C89-DBA1CA40CBF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04456" name="AutoShape 8">
                <a:extLst>
                  <a:ext uri="{FF2B5EF4-FFF2-40B4-BE49-F238E27FC236}">
                    <a16:creationId xmlns:a16="http://schemas.microsoft.com/office/drawing/2014/main" id="{DCB49F3C-AECB-A04F-AD61-8CB8F50F62B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54287" name="Line 9">
              <a:extLst>
                <a:ext uri="{FF2B5EF4-FFF2-40B4-BE49-F238E27FC236}">
                  <a16:creationId xmlns:a16="http://schemas.microsoft.com/office/drawing/2014/main" id="{BC494E35-2832-0E42-9C1A-467548883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515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8" name="Text Box 10">
              <a:extLst>
                <a:ext uri="{FF2B5EF4-FFF2-40B4-BE49-F238E27FC236}">
                  <a16:creationId xmlns:a16="http://schemas.microsoft.com/office/drawing/2014/main" id="{3FA3AF95-20E1-D743-B19A-E723EF53AC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101"/>
              <a:ext cx="140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/>
                <a:t>映射的定义</a:t>
              </a:r>
            </a:p>
          </p:txBody>
        </p:sp>
        <p:sp>
          <p:nvSpPr>
            <p:cNvPr id="54289" name="Text Box 11">
              <a:extLst>
                <a:ext uri="{FF2B5EF4-FFF2-40B4-BE49-F238E27FC236}">
                  <a16:creationId xmlns:a16="http://schemas.microsoft.com/office/drawing/2014/main" id="{49A98D46-683B-BA41-A9B0-643292BB4D7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66" y="11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54277" name="Group 12">
            <a:extLst>
              <a:ext uri="{FF2B5EF4-FFF2-40B4-BE49-F238E27FC236}">
                <a16:creationId xmlns:a16="http://schemas.microsoft.com/office/drawing/2014/main" id="{A3097BD5-94D4-7A4E-84FD-C9959836F918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3429000"/>
            <a:ext cx="5410200" cy="712788"/>
            <a:chOff x="1152" y="1677"/>
            <a:chExt cx="3408" cy="449"/>
          </a:xfrm>
        </p:grpSpPr>
        <p:grpSp>
          <p:nvGrpSpPr>
            <p:cNvPr id="54279" name="Group 13">
              <a:extLst>
                <a:ext uri="{FF2B5EF4-FFF2-40B4-BE49-F238E27FC236}">
                  <a16:creationId xmlns:a16="http://schemas.microsoft.com/office/drawing/2014/main" id="{22C18F63-67A4-DB4C-AC8D-DBCE12E80A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707"/>
              <a:ext cx="480" cy="419"/>
              <a:chOff x="3174" y="2656"/>
              <a:chExt cx="1549" cy="1351"/>
            </a:xfrm>
          </p:grpSpPr>
          <p:sp>
            <p:nvSpPr>
              <p:cNvPr id="54283" name="AutoShape 14">
                <a:extLst>
                  <a:ext uri="{FF2B5EF4-FFF2-40B4-BE49-F238E27FC236}">
                    <a16:creationId xmlns:a16="http://schemas.microsoft.com/office/drawing/2014/main" id="{993F87C8-2F73-3B43-8AD6-BA34D83A37F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54284" name="AutoShape 15">
                <a:extLst>
                  <a:ext uri="{FF2B5EF4-FFF2-40B4-BE49-F238E27FC236}">
                    <a16:creationId xmlns:a16="http://schemas.microsoft.com/office/drawing/2014/main" id="{44ECE110-D724-4849-9190-4FDCD3117F0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104464" name="AutoShape 16">
                <a:extLst>
                  <a:ext uri="{FF2B5EF4-FFF2-40B4-BE49-F238E27FC236}">
                    <a16:creationId xmlns:a16="http://schemas.microsoft.com/office/drawing/2014/main" id="{AFFC925B-BC2E-7349-A325-F7C7AD76E29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64" y="2737"/>
                <a:ext cx="1349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54280" name="Line 17">
              <a:extLst>
                <a:ext uri="{FF2B5EF4-FFF2-40B4-BE49-F238E27FC236}">
                  <a16:creationId xmlns:a16="http://schemas.microsoft.com/office/drawing/2014/main" id="{FBED65E0-69D1-BE4E-918D-FD48819487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091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281" name="Text Box 18">
              <a:extLst>
                <a:ext uri="{FF2B5EF4-FFF2-40B4-BE49-F238E27FC236}">
                  <a16:creationId xmlns:a16="http://schemas.microsoft.com/office/drawing/2014/main" id="{F44E6311-FA2E-8648-9C00-A51800FD2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677"/>
              <a:ext cx="140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/>
                <a:t>映射的性质</a:t>
              </a:r>
            </a:p>
          </p:txBody>
        </p:sp>
        <p:sp>
          <p:nvSpPr>
            <p:cNvPr id="54282" name="Text Box 19">
              <a:extLst>
                <a:ext uri="{FF2B5EF4-FFF2-40B4-BE49-F238E27FC236}">
                  <a16:creationId xmlns:a16="http://schemas.microsoft.com/office/drawing/2014/main" id="{56B28C5E-57A8-364C-B0F9-EEFB2E48CFAD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66" y="1708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b="1">
                  <a:solidFill>
                    <a:schemeClr val="bg1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54278" name="灯片编号占位符 1">
            <a:extLst>
              <a:ext uri="{FF2B5EF4-FFF2-40B4-BE49-F238E27FC236}">
                <a16:creationId xmlns:a16="http://schemas.microsoft.com/office/drawing/2014/main" id="{869AD630-E6CD-BB41-8B9B-36FE6EE8A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44BB82-E492-3642-AE99-34CF4B0CC021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zh-CN" sz="1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3D83631E-5A36-FA45-9D7D-6E8BECBF34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1.2 </a:t>
            </a:r>
            <a:r>
              <a:rPr lang="zh-CN" altLang="en-US" b="1" dirty="0">
                <a:latin typeface="Times New Roman" panose="02020603050405020304" pitchFamily="18" charset="0"/>
              </a:rPr>
              <a:t>映射的有关概念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8BA1E4B2-B071-7947-B28E-F1F6113DCA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28775"/>
            <a:ext cx="8229600" cy="475297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1. </a:t>
            </a:r>
            <a:r>
              <a:rPr lang="zh-CN" altLang="en-US" b="1" dirty="0">
                <a:latin typeface="Times New Roman" panose="02020603050405020304" pitchFamily="18" charset="0"/>
              </a:rPr>
              <a:t>映射的定义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映射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(mapping) = 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函数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(function).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i="1" dirty="0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 = 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) = 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baseline="30000" dirty="0">
                <a:latin typeface="Times New Roman" panose="02020603050405020304" pitchFamily="18" charset="0"/>
              </a:rPr>
              <a:t>2 </a:t>
            </a:r>
            <a:r>
              <a:rPr lang="en-US" altLang="zh-CN" b="1" dirty="0">
                <a:latin typeface="Times New Roman" panose="02020603050405020304" pitchFamily="18" charset="0"/>
              </a:rPr>
              <a:t>,    ceiling function         , floor function        , …</a:t>
            </a:r>
            <a:endParaRPr lang="en-US" altLang="zh-CN" b="1" baseline="30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函数在计算机中有重要作用。编写</a:t>
            </a:r>
            <a:r>
              <a:rPr lang="en-US" altLang="zh-CN" b="1" dirty="0">
                <a:latin typeface="Times New Roman" panose="02020603050405020304" pitchFamily="18" charset="0"/>
              </a:rPr>
              <a:t>C</a:t>
            </a:r>
            <a:r>
              <a:rPr lang="zh-CN" altLang="en-US" b="1" dirty="0">
                <a:latin typeface="Times New Roman" panose="02020603050405020304" pitchFamily="18" charset="0"/>
              </a:rPr>
              <a:t>语言程序主要就是编写函数</a:t>
            </a:r>
            <a:r>
              <a:rPr lang="en-US" altLang="zh-CN" b="1" dirty="0">
                <a:latin typeface="Times New Roman" panose="02020603050405020304" pitchFamily="18" charset="0"/>
              </a:rPr>
              <a:t>: </a:t>
            </a:r>
            <a:r>
              <a:rPr lang="zh-CN" altLang="en-US" b="1" dirty="0">
                <a:latin typeface="Times New Roman" panose="02020603050405020304" pitchFamily="18" charset="0"/>
              </a:rPr>
              <a:t>从</a:t>
            </a:r>
            <a:r>
              <a:rPr lang="en-US" altLang="zh-CN" b="1" dirty="0">
                <a:latin typeface="Times New Roman" panose="02020603050405020304" pitchFamily="18" charset="0"/>
              </a:rPr>
              <a:t>main</a:t>
            </a:r>
            <a:r>
              <a:rPr lang="zh-CN" altLang="en-US" b="1" dirty="0">
                <a:latin typeface="Times New Roman" panose="02020603050405020304" pitchFamily="18" charset="0"/>
              </a:rPr>
              <a:t>开始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55302" name="灯片编号占位符 1">
            <a:extLst>
              <a:ext uri="{FF2B5EF4-FFF2-40B4-BE49-F238E27FC236}">
                <a16:creationId xmlns:a16="http://schemas.microsoft.com/office/drawing/2014/main" id="{D577B2C7-200B-2D44-9021-72DF42DCD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AA7D9B-209A-9D4E-B18C-375CD21439D5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5A03298-BF5D-E943-A4F5-7A95AE6894CE}"/>
                  </a:ext>
                </a:extLst>
              </p:cNvPr>
              <p:cNvSpPr/>
              <p:nvPr/>
            </p:nvSpPr>
            <p:spPr>
              <a:xfrm>
                <a:off x="6227763" y="3068638"/>
                <a:ext cx="737189" cy="52322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⌈"/>
                          <m:endChr m:val="⌉"/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5A03298-BF5D-E943-A4F5-7A95AE6894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763" y="3068638"/>
                <a:ext cx="737189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159C3FA-E3AA-C342-A1E2-259E3D6F4E48}"/>
                  </a:ext>
                </a:extLst>
              </p:cNvPr>
              <p:cNvSpPr/>
              <p:nvPr/>
            </p:nvSpPr>
            <p:spPr>
              <a:xfrm>
                <a:off x="2339975" y="3716338"/>
                <a:ext cx="699166" cy="492443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159C3FA-E3AA-C342-A1E2-259E3D6F4E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975" y="3716338"/>
                <a:ext cx="699166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F4C745AF-A81D-7544-A179-E3D6E27F7E18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28625" y="1341438"/>
            <a:ext cx="8229600" cy="273526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Def  </a:t>
            </a:r>
            <a:r>
              <a:rPr lang="zh-CN" altLang="en-US" b="1" dirty="0">
                <a:latin typeface="Times New Roman" panose="02020603050405020304" pitchFamily="18" charset="0"/>
              </a:rPr>
              <a:t>任意给定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两个集合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若存在对应法则 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使得对于</a:t>
            </a:r>
            <a:r>
              <a:rPr lang="zh-CN" altLang="en-US" b="1" dirty="0">
                <a:solidFill>
                  <a:srgbClr val="0066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任意</a:t>
            </a:r>
            <a:r>
              <a:rPr lang="zh-CN" altLang="en-US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solidFill>
                  <a:srgbClr val="0066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b="1" dirty="0" err="1">
                <a:solidFill>
                  <a:srgbClr val="006600"/>
                </a:solidFill>
                <a:latin typeface="Times New Roman" panose="02020603050405020304" pitchFamily="18" charset="0"/>
                <a:sym typeface="Symbol" pitchFamily="2" charset="2"/>
              </a:rPr>
              <a:t></a:t>
            </a:r>
            <a:r>
              <a:rPr lang="en-US" altLang="zh-CN" b="1" i="1" dirty="0" err="1">
                <a:solidFill>
                  <a:srgbClr val="006600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均存在</a:t>
            </a:r>
            <a:r>
              <a:rPr lang="zh-CN" altLang="en-US" b="1" dirty="0">
                <a:solidFill>
                  <a:srgbClr val="0066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唯一的</a:t>
            </a:r>
            <a:r>
              <a:rPr lang="zh-CN" altLang="en-US" b="1" dirty="0">
                <a:solidFill>
                  <a:srgbClr val="0066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i="1" dirty="0" err="1">
                <a:solidFill>
                  <a:srgbClr val="006600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b="1" dirty="0" err="1">
                <a:solidFill>
                  <a:srgbClr val="006600"/>
                </a:solidFill>
                <a:latin typeface="Times New Roman" panose="02020603050405020304" pitchFamily="18" charset="0"/>
                <a:sym typeface="Symbol" pitchFamily="2" charset="2"/>
              </a:rPr>
              <a:t></a:t>
            </a:r>
            <a:r>
              <a:rPr lang="en-US" altLang="zh-CN" b="1" i="1" dirty="0" err="1">
                <a:solidFill>
                  <a:srgbClr val="006600"/>
                </a:solidFill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</a:rPr>
              <a:t>与它对应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则称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</a:rPr>
              <a:t>是集合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到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</a:rPr>
              <a:t>的映射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或称其为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到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</a:rPr>
              <a:t>的函数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记为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106499" name="Oval 3">
            <a:extLst>
              <a:ext uri="{FF2B5EF4-FFF2-40B4-BE49-F238E27FC236}">
                <a16:creationId xmlns:a16="http://schemas.microsoft.com/office/drawing/2014/main" id="{218C094C-AF45-8B4E-85AF-B098C9668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4724400"/>
            <a:ext cx="1439862" cy="16573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 i="1" dirty="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06501" name="Oval 5">
            <a:extLst>
              <a:ext uri="{FF2B5EF4-FFF2-40B4-BE49-F238E27FC236}">
                <a16:creationId xmlns:a16="http://schemas.microsoft.com/office/drawing/2014/main" id="{E5E3DB74-D024-C54F-A1F9-01EE24B3F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797425"/>
            <a:ext cx="865188" cy="15843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600" b="1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06502" name="Line 6">
            <a:extLst>
              <a:ext uri="{FF2B5EF4-FFF2-40B4-BE49-F238E27FC236}">
                <a16:creationId xmlns:a16="http://schemas.microsoft.com/office/drawing/2014/main" id="{52DFB3BD-2F33-9C41-9F9B-1AAE2A7EB5E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1275" y="5516563"/>
            <a:ext cx="12255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4" name="Line 8">
            <a:extLst>
              <a:ext uri="{FF2B5EF4-FFF2-40B4-BE49-F238E27FC236}">
                <a16:creationId xmlns:a16="http://schemas.microsoft.com/office/drawing/2014/main" id="{6EC6A596-F4AC-2B4F-8D12-693C75A65A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5013325"/>
            <a:ext cx="2590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5" name="Line 9">
            <a:extLst>
              <a:ext uri="{FF2B5EF4-FFF2-40B4-BE49-F238E27FC236}">
                <a16:creationId xmlns:a16="http://schemas.microsoft.com/office/drawing/2014/main" id="{9EC7DDB7-14DF-BE40-A47A-E490365F31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87675" y="5084763"/>
            <a:ext cx="2592388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506" name="Oval 10">
            <a:extLst>
              <a:ext uri="{FF2B5EF4-FFF2-40B4-BE49-F238E27FC236}">
                <a16:creationId xmlns:a16="http://schemas.microsoft.com/office/drawing/2014/main" id="{6E3C80B0-4BD8-4D44-A4C6-D30554D87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225" y="4941888"/>
            <a:ext cx="142875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06507" name="Oval 11">
            <a:extLst>
              <a:ext uri="{FF2B5EF4-FFF2-40B4-BE49-F238E27FC236}">
                <a16:creationId xmlns:a16="http://schemas.microsoft.com/office/drawing/2014/main" id="{36C0880B-09CF-474B-A117-25BDD9403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5013325"/>
            <a:ext cx="142875" cy="1444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06508" name="Oval 12">
            <a:extLst>
              <a:ext uri="{FF2B5EF4-FFF2-40B4-BE49-F238E27FC236}">
                <a16:creationId xmlns:a16="http://schemas.microsoft.com/office/drawing/2014/main" id="{DE56C03C-88E6-9944-B949-8C9BB7424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5805488"/>
            <a:ext cx="142875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56335" name="灯片编号占位符 1">
            <a:extLst>
              <a:ext uri="{FF2B5EF4-FFF2-40B4-BE49-F238E27FC236}">
                <a16:creationId xmlns:a16="http://schemas.microsoft.com/office/drawing/2014/main" id="{8BC8E996-4E65-C944-A715-94E8CC3DF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2B0761-45A2-794B-8C14-2389F3BFCDCC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D0C88815-971C-E042-A063-21CBEBE9953A}"/>
                  </a:ext>
                </a:extLst>
              </p:cNvPr>
              <p:cNvSpPr/>
              <p:nvPr/>
            </p:nvSpPr>
            <p:spPr>
              <a:xfrm>
                <a:off x="4500563" y="3217863"/>
                <a:ext cx="1623458" cy="52322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D0C88815-971C-E042-A063-21CBEBE99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0563" y="3217863"/>
                <a:ext cx="1623458" cy="523220"/>
              </a:xfrm>
              <a:prstGeom prst="rect">
                <a:avLst/>
              </a:prstGeom>
              <a:blipFill>
                <a:blip r:embed="rId2"/>
                <a:stretch>
                  <a:fillRect l="-775" b="-18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AC9AD8D-E120-7543-AFF8-F0AD40154CF0}"/>
                  </a:ext>
                </a:extLst>
              </p:cNvPr>
              <p:cNvSpPr/>
              <p:nvPr/>
            </p:nvSpPr>
            <p:spPr>
              <a:xfrm>
                <a:off x="4356100" y="5013325"/>
                <a:ext cx="49173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AC9AD8D-E120-7543-AFF8-F0AD40154C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100" y="5013325"/>
                <a:ext cx="491738" cy="523220"/>
              </a:xfrm>
              <a:prstGeom prst="rect">
                <a:avLst/>
              </a:prstGeom>
              <a:blipFill>
                <a:blip r:embed="rId3"/>
                <a:stretch>
                  <a:fillRect l="-5000" r="-2500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DEAA963-6F67-B04A-82DD-9A9FB2030FD4}"/>
                  </a:ext>
                </a:extLst>
              </p:cNvPr>
              <p:cNvSpPr/>
              <p:nvPr/>
            </p:nvSpPr>
            <p:spPr>
              <a:xfrm>
                <a:off x="5652120" y="4725144"/>
                <a:ext cx="469296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DEAA963-6F67-B04A-82DD-9A9FB2030F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25144"/>
                <a:ext cx="469296" cy="492443"/>
              </a:xfrm>
              <a:prstGeom prst="rect">
                <a:avLst/>
              </a:prstGeom>
              <a:blipFill>
                <a:blip r:embed="rId4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F719158-46C8-E34C-ABC7-9B807ED81E7B}"/>
                  </a:ext>
                </a:extLst>
              </p:cNvPr>
              <p:cNvSpPr/>
              <p:nvPr/>
            </p:nvSpPr>
            <p:spPr>
              <a:xfrm>
                <a:off x="2555875" y="5732463"/>
                <a:ext cx="496098" cy="4832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zh-CN" altLang="en-US" sz="2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600" baseline="-25000" dirty="0"/>
                  <a:t>2</a:t>
                </a:r>
                <a:endParaRPr lang="zh-CN" altLang="en-US" sz="2600" baseline="-25000" dirty="0"/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F719158-46C8-E34C-ABC7-9B807ED81E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5875" y="5732463"/>
                <a:ext cx="496098" cy="483209"/>
              </a:xfrm>
              <a:prstGeom prst="rect">
                <a:avLst/>
              </a:prstGeom>
              <a:blipFill>
                <a:blip r:embed="rId5"/>
                <a:stretch>
                  <a:fillRect r="-7317"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60E2118-E2A6-5B93-6EB9-59DC86BD70A0}"/>
                  </a:ext>
                </a:extLst>
              </p:cNvPr>
              <p:cNvSpPr/>
              <p:nvPr/>
            </p:nvSpPr>
            <p:spPr>
              <a:xfrm>
                <a:off x="2563734" y="4890007"/>
                <a:ext cx="496098" cy="4832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zh-CN" altLang="en-US" sz="26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600" baseline="-25000" dirty="0"/>
                  <a:t>1</a:t>
                </a:r>
                <a:endParaRPr lang="zh-CN" altLang="en-US" sz="2600" baseline="-25000" dirty="0"/>
              </a:p>
            </p:txBody>
          </p:sp>
        </mc:Choice>
        <mc:Fallback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60E2118-E2A6-5B93-6EB9-59DC86BD70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734" y="4890007"/>
                <a:ext cx="496098" cy="483209"/>
              </a:xfrm>
              <a:prstGeom prst="rect">
                <a:avLst/>
              </a:prstGeom>
              <a:blipFill>
                <a:blip r:embed="rId6"/>
                <a:stretch>
                  <a:fillRect r="-8642" b="-291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71755D71-3DC4-7049-A727-834AFD633977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879475" y="692150"/>
            <a:ext cx="8229600" cy="58658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</a:rPr>
              <a:t>映射的两个特点</a:t>
            </a:r>
            <a:r>
              <a:rPr lang="en-US" altLang="zh-CN" b="1">
                <a:latin typeface="Times New Roman" panose="02020603050405020304" pitchFamily="18" charset="0"/>
              </a:rPr>
              <a:t>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(1)</a:t>
            </a:r>
            <a:r>
              <a:rPr lang="zh-CN" altLang="en-US" b="1">
                <a:latin typeface="Times New Roman" panose="02020603050405020304" pitchFamily="18" charset="0"/>
              </a:rPr>
              <a:t>全函数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(2)</a:t>
            </a:r>
            <a:r>
              <a:rPr lang="zh-CN" altLang="en-US" b="1">
                <a:latin typeface="Times New Roman" panose="02020603050405020304" pitchFamily="18" charset="0"/>
              </a:rPr>
              <a:t>唯一性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注意区别函数 </a:t>
            </a:r>
            <a:r>
              <a:rPr lang="en-US" altLang="zh-CN" b="1" i="1">
                <a:latin typeface="Times New Roman" panose="02020603050405020304" pitchFamily="18" charset="0"/>
              </a:rPr>
              <a:t>f </a:t>
            </a:r>
            <a:r>
              <a:rPr lang="zh-CN" altLang="en-US" b="1">
                <a:latin typeface="Times New Roman" panose="02020603050405020304" pitchFamily="18" charset="0"/>
              </a:rPr>
              <a:t>与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).</a:t>
            </a:r>
          </a:p>
          <a:p>
            <a:pPr eaLnBrk="1" hangingPunct="1"/>
            <a:r>
              <a:rPr lang="en-US" altLang="zh-CN" b="1" i="1">
                <a:latin typeface="Times New Roman" panose="02020603050405020304" pitchFamily="18" charset="0"/>
              </a:rPr>
              <a:t>y = f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)?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论域、定义域、陪域、值域</a:t>
            </a:r>
            <a:endParaRPr lang="en-US" altLang="zh-CN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</a:rPr>
              <a:t>dom </a:t>
            </a:r>
            <a:r>
              <a:rPr lang="en-US" altLang="zh-CN" i="1">
                <a:latin typeface="Times New Roman" panose="02020603050405020304" pitchFamily="18" charset="0"/>
              </a:rPr>
              <a:t>f      </a:t>
            </a:r>
            <a:r>
              <a:rPr lang="en-US" altLang="zh-CN">
                <a:latin typeface="Times New Roman" panose="02020603050405020304" pitchFamily="18" charset="0"/>
              </a:rPr>
              <a:t>ran</a:t>
            </a:r>
            <a:r>
              <a:rPr lang="en-US" altLang="zh-CN" i="1">
                <a:latin typeface="Times New Roman" panose="02020603050405020304" pitchFamily="18" charset="0"/>
              </a:rPr>
              <a:t> f</a:t>
            </a:r>
          </a:p>
        </p:txBody>
      </p:sp>
      <p:sp>
        <p:nvSpPr>
          <p:cNvPr id="58371" name="灯片编号占位符 1">
            <a:extLst>
              <a:ext uri="{FF2B5EF4-FFF2-40B4-BE49-F238E27FC236}">
                <a16:creationId xmlns:a16="http://schemas.microsoft.com/office/drawing/2014/main" id="{E03D74AA-2D09-B447-BB8C-A9DAD667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FB3057-73C1-C441-B26F-BBC70A46C340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33ED4A3-D704-71F3-C1B0-BFF646F1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E79F-9C44-854B-B99C-75F525D22582}" type="slidenum">
              <a:rPr lang="en-US" altLang="zh-CN" smtClean="0"/>
              <a:pPr/>
              <a:t>52</a:t>
            </a:fld>
            <a:endParaRPr lang="en-US" altLang="zh-C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D4F1D9A-2AB7-1CFE-269B-026D5DF65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114" y="1555751"/>
            <a:ext cx="936526" cy="158432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3A07C22-04AE-4D50-53D1-709F1E798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8919" y="1716684"/>
            <a:ext cx="836910" cy="1295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DB87AF4A-7B86-3375-7A4B-2F3CFC2A3B05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501" y="1941896"/>
            <a:ext cx="1776317" cy="406425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9AD3E78E-C854-F8AB-F439-DB8701145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08" y="1845085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E075909D-DC85-F8FA-D8F1-C684F05BC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08" y="2205447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5EEDEBE2-48AA-7BA9-1EAE-4D40C89A5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08" y="2637247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5F106A36-7EE9-C046-C15F-F11F22F13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818" y="2292946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11" name="Oval 12">
            <a:extLst>
              <a:ext uri="{FF2B5EF4-FFF2-40B4-BE49-F238E27FC236}">
                <a16:creationId xmlns:a16="http://schemas.microsoft.com/office/drawing/2014/main" id="{7D5E49AC-D09F-23E2-D500-A420158BC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393" y="2651721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64CADAAB-3409-153F-1137-ECA02688E15F}"/>
                  </a:ext>
                </a:extLst>
              </p:cNvPr>
              <p:cNvSpPr/>
              <p:nvPr/>
            </p:nvSpPr>
            <p:spPr>
              <a:xfrm>
                <a:off x="684039" y="1484313"/>
                <a:ext cx="492507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64CADAAB-3409-153F-1137-ECA02688E1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39" y="1484313"/>
                <a:ext cx="492507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64F9F7D-9090-7343-9DDB-EEA8BE116772}"/>
                  </a:ext>
                </a:extLst>
              </p:cNvPr>
              <p:cNvSpPr/>
              <p:nvPr/>
            </p:nvSpPr>
            <p:spPr>
              <a:xfrm>
                <a:off x="2874788" y="1470398"/>
                <a:ext cx="504625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464F9F7D-9090-7343-9DDB-EEA8BE1167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788" y="1470398"/>
                <a:ext cx="504625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ine 5">
            <a:extLst>
              <a:ext uri="{FF2B5EF4-FFF2-40B4-BE49-F238E27FC236}">
                <a16:creationId xmlns:a16="http://schemas.microsoft.com/office/drawing/2014/main" id="{11389C95-8E51-9895-8264-05386E0D5B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8501" y="2348320"/>
            <a:ext cx="1704086" cy="1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5">
            <a:extLst>
              <a:ext uri="{FF2B5EF4-FFF2-40B4-BE49-F238E27FC236}">
                <a16:creationId xmlns:a16="http://schemas.microsoft.com/office/drawing/2014/main" id="{D6578EA8-E3C0-9987-433A-6B000627B93A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501" y="2707625"/>
            <a:ext cx="1776316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5">
            <a:extLst>
              <a:ext uri="{FF2B5EF4-FFF2-40B4-BE49-F238E27FC236}">
                <a16:creationId xmlns:a16="http://schemas.microsoft.com/office/drawing/2014/main" id="{C0D7B10D-BF95-6E09-37EB-03E48D755F13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501" y="1970416"/>
            <a:ext cx="1776316" cy="737209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Oval 3">
            <a:extLst>
              <a:ext uri="{FF2B5EF4-FFF2-40B4-BE49-F238E27FC236}">
                <a16:creationId xmlns:a16="http://schemas.microsoft.com/office/drawing/2014/main" id="{08C3B5AE-E037-889D-1438-7CB7EF90D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0065" y="1534331"/>
            <a:ext cx="936526" cy="158432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18" name="Oval 4">
            <a:extLst>
              <a:ext uri="{FF2B5EF4-FFF2-40B4-BE49-F238E27FC236}">
                <a16:creationId xmlns:a16="http://schemas.microsoft.com/office/drawing/2014/main" id="{FB314892-57E9-3E1F-29BA-1ECD8C64A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3870" y="1695264"/>
            <a:ext cx="836910" cy="1295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9" name="Line 5">
            <a:extLst>
              <a:ext uri="{FF2B5EF4-FFF2-40B4-BE49-F238E27FC236}">
                <a16:creationId xmlns:a16="http://schemas.microsoft.com/office/drawing/2014/main" id="{822814BC-8AA4-E1AB-A05F-AE86B108E6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3452" y="1920476"/>
            <a:ext cx="1776317" cy="406425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Oval 8">
            <a:extLst>
              <a:ext uri="{FF2B5EF4-FFF2-40B4-BE49-F238E27FC236}">
                <a16:creationId xmlns:a16="http://schemas.microsoft.com/office/drawing/2014/main" id="{C0B0A599-0C1E-B465-BD4A-B595241D7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759" y="1823665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1" name="Oval 9">
            <a:extLst>
              <a:ext uri="{FF2B5EF4-FFF2-40B4-BE49-F238E27FC236}">
                <a16:creationId xmlns:a16="http://schemas.microsoft.com/office/drawing/2014/main" id="{3E1D4014-5A86-9B0F-26C7-FDC893022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759" y="2184027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2" name="Oval 10">
            <a:extLst>
              <a:ext uri="{FF2B5EF4-FFF2-40B4-BE49-F238E27FC236}">
                <a16:creationId xmlns:a16="http://schemas.microsoft.com/office/drawing/2014/main" id="{8F4FA724-7269-7D89-560F-7B5D09517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759" y="2615827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3" name="Oval 11">
            <a:extLst>
              <a:ext uri="{FF2B5EF4-FFF2-40B4-BE49-F238E27FC236}">
                <a16:creationId xmlns:a16="http://schemas.microsoft.com/office/drawing/2014/main" id="{1530A5CF-D8F4-C37E-D3F5-1E575B784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9769" y="2271526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4" name="Oval 12">
            <a:extLst>
              <a:ext uri="{FF2B5EF4-FFF2-40B4-BE49-F238E27FC236}">
                <a16:creationId xmlns:a16="http://schemas.microsoft.com/office/drawing/2014/main" id="{A50C22D8-B45E-8D95-1BBE-950D716C4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8344" y="2630301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A4A46720-D438-C0ED-70C4-ED495486581D}"/>
                  </a:ext>
                </a:extLst>
              </p:cNvPr>
              <p:cNvSpPr/>
              <p:nvPr/>
            </p:nvSpPr>
            <p:spPr>
              <a:xfrm>
                <a:off x="5718990" y="1462893"/>
                <a:ext cx="492507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A4A46720-D438-C0ED-70C4-ED49548658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990" y="1462893"/>
                <a:ext cx="49250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BD273F5C-6D39-CD0F-3E53-F6A5CD4EB5B4}"/>
                  </a:ext>
                </a:extLst>
              </p:cNvPr>
              <p:cNvSpPr/>
              <p:nvPr/>
            </p:nvSpPr>
            <p:spPr>
              <a:xfrm>
                <a:off x="7909739" y="1448978"/>
                <a:ext cx="504625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BD273F5C-6D39-CD0F-3E53-F6A5CD4EB5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9739" y="1448978"/>
                <a:ext cx="504625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Line 5">
            <a:extLst>
              <a:ext uri="{FF2B5EF4-FFF2-40B4-BE49-F238E27FC236}">
                <a16:creationId xmlns:a16="http://schemas.microsoft.com/office/drawing/2014/main" id="{D97BFBBE-FCB3-3E10-FD99-5C0D8C2AC0D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3452" y="2326901"/>
            <a:ext cx="1655763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Line 5">
            <a:extLst>
              <a:ext uri="{FF2B5EF4-FFF2-40B4-BE49-F238E27FC236}">
                <a16:creationId xmlns:a16="http://schemas.microsoft.com/office/drawing/2014/main" id="{461E5A53-FD09-D594-BA92-FE898AD0D5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3451" y="2398339"/>
            <a:ext cx="1776317" cy="287866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Oval 3">
            <a:extLst>
              <a:ext uri="{FF2B5EF4-FFF2-40B4-BE49-F238E27FC236}">
                <a16:creationId xmlns:a16="http://schemas.microsoft.com/office/drawing/2014/main" id="{1838E268-C54F-8226-2725-0ADD01D63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114" y="4040791"/>
            <a:ext cx="936526" cy="1584324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1" name="Oval 4">
            <a:extLst>
              <a:ext uri="{FF2B5EF4-FFF2-40B4-BE49-F238E27FC236}">
                <a16:creationId xmlns:a16="http://schemas.microsoft.com/office/drawing/2014/main" id="{42F6AE41-1855-4CA1-6520-61B07ACA5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8919" y="4201724"/>
            <a:ext cx="836910" cy="1295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2" name="Line 5">
            <a:extLst>
              <a:ext uri="{FF2B5EF4-FFF2-40B4-BE49-F238E27FC236}">
                <a16:creationId xmlns:a16="http://schemas.microsoft.com/office/drawing/2014/main" id="{870ABAE6-FE46-B08E-7622-DF463D186002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501" y="4426936"/>
            <a:ext cx="1776317" cy="406425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Oval 8">
            <a:extLst>
              <a:ext uri="{FF2B5EF4-FFF2-40B4-BE49-F238E27FC236}">
                <a16:creationId xmlns:a16="http://schemas.microsoft.com/office/drawing/2014/main" id="{9B4DD1A5-B530-A7D7-E5BE-2852B8DD9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08" y="4330125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Oval 9">
            <a:extLst>
              <a:ext uri="{FF2B5EF4-FFF2-40B4-BE49-F238E27FC236}">
                <a16:creationId xmlns:a16="http://schemas.microsoft.com/office/drawing/2014/main" id="{840881B2-CEE5-0B10-FC2A-7C77F3BDC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08" y="4690487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5" name="Oval 10">
            <a:extLst>
              <a:ext uri="{FF2B5EF4-FFF2-40B4-BE49-F238E27FC236}">
                <a16:creationId xmlns:a16="http://schemas.microsoft.com/office/drawing/2014/main" id="{E9614F39-E56C-30DC-92B7-C0BBC7E97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08" y="5122287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6" name="Oval 11">
            <a:extLst>
              <a:ext uri="{FF2B5EF4-FFF2-40B4-BE49-F238E27FC236}">
                <a16:creationId xmlns:a16="http://schemas.microsoft.com/office/drawing/2014/main" id="{A662369A-D93F-8A9E-8167-5EAC86621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818" y="4777986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7" name="Oval 12">
            <a:extLst>
              <a:ext uri="{FF2B5EF4-FFF2-40B4-BE49-F238E27FC236}">
                <a16:creationId xmlns:a16="http://schemas.microsoft.com/office/drawing/2014/main" id="{3921525B-F8C3-4288-DA66-098C7C49C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393" y="5136761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AD36FD42-BDB4-1E03-6900-0AE5FC3F1AFB}"/>
                  </a:ext>
                </a:extLst>
              </p:cNvPr>
              <p:cNvSpPr/>
              <p:nvPr/>
            </p:nvSpPr>
            <p:spPr>
              <a:xfrm>
                <a:off x="684039" y="3969353"/>
                <a:ext cx="492507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AD36FD42-BDB4-1E03-6900-0AE5FC3F1A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39" y="3969353"/>
                <a:ext cx="492507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06AB85A5-7822-42AB-3A58-555AC47026F5}"/>
                  </a:ext>
                </a:extLst>
              </p:cNvPr>
              <p:cNvSpPr/>
              <p:nvPr/>
            </p:nvSpPr>
            <p:spPr>
              <a:xfrm>
                <a:off x="2874788" y="3955438"/>
                <a:ext cx="504625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06AB85A5-7822-42AB-3A58-555AC47026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788" y="3955438"/>
                <a:ext cx="504625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Line 5">
            <a:extLst>
              <a:ext uri="{FF2B5EF4-FFF2-40B4-BE49-F238E27FC236}">
                <a16:creationId xmlns:a16="http://schemas.microsoft.com/office/drawing/2014/main" id="{5A6C9498-2F78-2D14-9D25-98350221CC7A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501" y="5192665"/>
            <a:ext cx="1776316" cy="0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Line 5">
            <a:extLst>
              <a:ext uri="{FF2B5EF4-FFF2-40B4-BE49-F238E27FC236}">
                <a16:creationId xmlns:a16="http://schemas.microsoft.com/office/drawing/2014/main" id="{F23433F1-47D9-8B1F-A669-1312A0390159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501" y="4455456"/>
            <a:ext cx="1776316" cy="737209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24BC472-F6E5-7366-FC12-52B6973CB3CA}"/>
              </a:ext>
            </a:extLst>
          </p:cNvPr>
          <p:cNvSpPr txBox="1"/>
          <p:nvPr/>
        </p:nvSpPr>
        <p:spPr>
          <a:xfrm>
            <a:off x="1642711" y="3246446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E07F147-B6A0-CCD2-13E2-3C98E6CD56CC}"/>
              </a:ext>
            </a:extLst>
          </p:cNvPr>
          <p:cNvSpPr txBox="1"/>
          <p:nvPr/>
        </p:nvSpPr>
        <p:spPr>
          <a:xfrm>
            <a:off x="6751609" y="3216667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752103D3-0A4C-A46A-FAE1-436B21129CDB}"/>
              </a:ext>
            </a:extLst>
          </p:cNvPr>
          <p:cNvSpPr txBox="1"/>
          <p:nvPr/>
        </p:nvSpPr>
        <p:spPr>
          <a:xfrm>
            <a:off x="1619664" y="5805488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99087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0B812C70-282C-1E47-9933-61ADA29B8648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1450975"/>
            <a:ext cx="8229600" cy="58658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>
                <a:latin typeface="宋体" panose="02010600030101010101" pitchFamily="2" charset="-122"/>
              </a:rPr>
              <a:t>函数符号的选取</a:t>
            </a:r>
            <a:r>
              <a:rPr lang="en-US" altLang="zh-CN" b="1">
                <a:latin typeface="宋体" panose="02010600030101010101" pitchFamily="2" charset="-122"/>
              </a:rPr>
              <a:t>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,…,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,…,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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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,…,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sin, exp, main,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add, average, hanoi, delete_string, …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/>
          </a:p>
        </p:txBody>
      </p:sp>
      <p:sp>
        <p:nvSpPr>
          <p:cNvPr id="59395" name="灯片编号占位符 1">
            <a:extLst>
              <a:ext uri="{FF2B5EF4-FFF2-40B4-BE49-F238E27FC236}">
                <a16:creationId xmlns:a16="http://schemas.microsoft.com/office/drawing/2014/main" id="{40C4D518-BF42-8246-9886-3F3800587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91588E-6B94-2644-886A-17436E0916A4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zh-CN" sz="14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360B344F-73D7-914A-8198-1BE8D8CB563C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827088" y="692150"/>
            <a:ext cx="8229600" cy="719138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1-5</a:t>
            </a:r>
            <a:r>
              <a:rPr lang="en-US" altLang="zh-CN" b="1" dirty="0">
                <a:latin typeface="Times New Roman" panose="02020603050405020304" pitchFamily="18" charset="0"/>
              </a:rPr>
              <a:t>  </a:t>
            </a:r>
            <a:r>
              <a:rPr lang="zh-CN" altLang="en-US" b="1" dirty="0">
                <a:latin typeface="Times New Roman" panose="02020603050405020304" pitchFamily="18" charset="0"/>
              </a:rPr>
              <a:t>写出所有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到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</a:rPr>
              <a:t>的映射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60419" name="Oval 3">
            <a:extLst>
              <a:ext uri="{FF2B5EF4-FFF2-40B4-BE49-F238E27FC236}">
                <a16:creationId xmlns:a16="http://schemas.microsoft.com/office/drawing/2014/main" id="{B330F0FF-CC89-2F43-AE4F-F6B70736D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2276475"/>
            <a:ext cx="1152525" cy="23764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r>
              <a:rPr lang="en-US" altLang="zh-CN" sz="2400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60420" name="Oval 4">
            <a:extLst>
              <a:ext uri="{FF2B5EF4-FFF2-40B4-BE49-F238E27FC236}">
                <a16:creationId xmlns:a16="http://schemas.microsoft.com/office/drawing/2014/main" id="{84F20C7F-1E2B-B440-9250-DD2A2B1E9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2565400"/>
            <a:ext cx="1081087" cy="15843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y</a:t>
            </a:r>
            <a:r>
              <a:rPr lang="en-US" altLang="zh-CN" sz="2400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0421" name="Line 5">
            <a:extLst>
              <a:ext uri="{FF2B5EF4-FFF2-40B4-BE49-F238E27FC236}">
                <a16:creationId xmlns:a16="http://schemas.microsoft.com/office/drawing/2014/main" id="{6581EA64-2476-0546-BC72-4976DED5DF0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3357563"/>
            <a:ext cx="1655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4" name="Oval 8">
            <a:extLst>
              <a:ext uri="{FF2B5EF4-FFF2-40B4-BE49-F238E27FC236}">
                <a16:creationId xmlns:a16="http://schemas.microsoft.com/office/drawing/2014/main" id="{5A3AD5B1-D30B-144A-81AC-873B24B5F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3068638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0425" name="Oval 9">
            <a:extLst>
              <a:ext uri="{FF2B5EF4-FFF2-40B4-BE49-F238E27FC236}">
                <a16:creationId xmlns:a16="http://schemas.microsoft.com/office/drawing/2014/main" id="{F7A38FDC-32BE-0742-8BFD-2D5C5EB53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3429000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0426" name="Oval 10">
            <a:extLst>
              <a:ext uri="{FF2B5EF4-FFF2-40B4-BE49-F238E27FC236}">
                <a16:creationId xmlns:a16="http://schemas.microsoft.com/office/drawing/2014/main" id="{7856938C-45DE-A843-94F4-666224F16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3860800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0427" name="Oval 11">
            <a:extLst>
              <a:ext uri="{FF2B5EF4-FFF2-40B4-BE49-F238E27FC236}">
                <a16:creationId xmlns:a16="http://schemas.microsoft.com/office/drawing/2014/main" id="{7173D234-EEF0-6A46-A7EF-19706A021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3141663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0428" name="Oval 12">
            <a:extLst>
              <a:ext uri="{FF2B5EF4-FFF2-40B4-BE49-F238E27FC236}">
                <a16:creationId xmlns:a16="http://schemas.microsoft.com/office/drawing/2014/main" id="{DFBF7AFF-7888-ED42-9C8A-BD16D6C03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2738" y="3500438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0429" name="灯片编号占位符 1">
            <a:extLst>
              <a:ext uri="{FF2B5EF4-FFF2-40B4-BE49-F238E27FC236}">
                <a16:creationId xmlns:a16="http://schemas.microsoft.com/office/drawing/2014/main" id="{AF9C07FE-16B3-1B4A-8665-9B3A3101A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89E7C4-71CB-BE4E-AC6D-36711EA2B8AF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31FA32C-AF63-1949-B54C-5138FD64BB64}"/>
                  </a:ext>
                </a:extLst>
              </p:cNvPr>
              <p:cNvSpPr/>
              <p:nvPr/>
            </p:nvSpPr>
            <p:spPr>
              <a:xfrm>
                <a:off x="2484438" y="2205038"/>
                <a:ext cx="492507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31FA32C-AF63-1949-B54C-5138FD64BB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438" y="2205038"/>
                <a:ext cx="492507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29D8DC1-E57C-E94D-BE79-6F02DEA040A0}"/>
                  </a:ext>
                </a:extLst>
              </p:cNvPr>
              <p:cNvSpPr/>
              <p:nvPr/>
            </p:nvSpPr>
            <p:spPr>
              <a:xfrm>
                <a:off x="5435600" y="2349500"/>
                <a:ext cx="504625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29D8DC1-E57C-E94D-BE79-6F02DEA040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5600" y="2349500"/>
                <a:ext cx="504625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95933A1-C439-5E4B-9EC3-B11E794199EE}"/>
                  </a:ext>
                </a:extLst>
              </p:cNvPr>
              <p:cNvSpPr/>
              <p:nvPr/>
            </p:nvSpPr>
            <p:spPr>
              <a:xfrm>
                <a:off x="951074" y="3852536"/>
                <a:ext cx="817847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)∈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×...×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95933A1-C439-5E4B-9EC3-B11E794199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074" y="3852536"/>
                <a:ext cx="8178477" cy="523220"/>
              </a:xfrm>
              <a:prstGeom prst="rect">
                <a:avLst/>
              </a:prstGeom>
              <a:blipFill>
                <a:blip r:embed="rId11"/>
                <a:stretch>
                  <a:fillRect b="-18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42" name="Rectangle 2">
            <a:extLst>
              <a:ext uri="{FF2B5EF4-FFF2-40B4-BE49-F238E27FC236}">
                <a16:creationId xmlns:a16="http://schemas.microsoft.com/office/drawing/2014/main" id="{9F4AFFAE-CE70-9A4B-B209-9A7497EFB5F1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374848" y="570260"/>
            <a:ext cx="8229600" cy="698500"/>
          </a:xfrm>
        </p:spPr>
        <p:txBody>
          <a:bodyPr/>
          <a:lstStyle/>
          <a:p>
            <a:pPr eaLnBrk="1" hangingPunct="1"/>
            <a:r>
              <a:rPr lang="en-US" altLang="zh-CN" b="1" i="1" dirty="0">
                <a:solidFill>
                  <a:srgbClr val="FFC000"/>
                </a:solidFill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solidFill>
                  <a:srgbClr val="FFC000"/>
                </a:solidFill>
                <a:latin typeface="Times New Roman" panose="02020603050405020304" pitchFamily="18" charset="0"/>
              </a:rPr>
              <a:t>元函数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1</a:t>
            </a:r>
            <a:r>
              <a:rPr lang="en-US" altLang="zh-CN" b="1" dirty="0">
                <a:latin typeface="Times New Roman" panose="02020603050405020304" pitchFamily="18" charset="0"/>
              </a:rPr>
              <a:t>):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61446" name="Oval 6">
            <a:extLst>
              <a:ext uri="{FF2B5EF4-FFF2-40B4-BE49-F238E27FC236}">
                <a16:creationId xmlns:a16="http://schemas.microsoft.com/office/drawing/2014/main" id="{38F8C758-83F3-D044-8334-6FBE08415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1435100"/>
            <a:ext cx="914400" cy="14890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447" name="Oval 7">
            <a:extLst>
              <a:ext uri="{FF2B5EF4-FFF2-40B4-BE49-F238E27FC236}">
                <a16:creationId xmlns:a16="http://schemas.microsoft.com/office/drawing/2014/main" id="{84387DB6-91EE-A04E-91C1-52C26606B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1722438"/>
            <a:ext cx="647700" cy="7921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1448" name="Line 8">
            <a:extLst>
              <a:ext uri="{FF2B5EF4-FFF2-40B4-BE49-F238E27FC236}">
                <a16:creationId xmlns:a16="http://schemas.microsoft.com/office/drawing/2014/main" id="{5513A08F-F7C7-344B-9FA6-A80AA038B9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2082800"/>
            <a:ext cx="11525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52" name="Object 12">
                <a:extLst>
                  <a:ext uri="{FF2B5EF4-FFF2-40B4-BE49-F238E27FC236}">
                    <a16:creationId xmlns:a16="http://schemas.microsoft.com/office/drawing/2014/main" id="{85F2DE7B-35BC-274D-A0CA-D0A5A67CEA70}"/>
                  </a:ext>
                </a:extLst>
              </p:cNvPr>
              <p:cNvSpPr txBox="1"/>
              <p:nvPr/>
            </p:nvSpPr>
            <p:spPr bwMode="auto">
              <a:xfrm>
                <a:off x="3851275" y="1628800"/>
                <a:ext cx="374650" cy="495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1452" name="Object 12">
                <a:extLst>
                  <a:ext uri="{FF2B5EF4-FFF2-40B4-BE49-F238E27FC236}">
                    <a16:creationId xmlns:a16="http://schemas.microsoft.com/office/drawing/2014/main" id="{85F2DE7B-35BC-274D-A0CA-D0A5A67CE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1275" y="1628800"/>
                <a:ext cx="374650" cy="495300"/>
              </a:xfrm>
              <a:prstGeom prst="rect">
                <a:avLst/>
              </a:prstGeom>
              <a:blipFill>
                <a:blip r:embed="rId12"/>
                <a:stretch>
                  <a:fillRect l="-14754" r="-6557" b="-123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429" name="Line 13">
            <a:extLst>
              <a:ext uri="{FF2B5EF4-FFF2-40B4-BE49-F238E27FC236}">
                <a16:creationId xmlns:a16="http://schemas.microsoft.com/office/drawing/2014/main" id="{14E47F2F-5CFA-6E49-B83E-CFAAE3ED70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00788" y="5373688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30" name="Line 14">
            <a:extLst>
              <a:ext uri="{FF2B5EF4-FFF2-40B4-BE49-F238E27FC236}">
                <a16:creationId xmlns:a16="http://schemas.microsoft.com/office/drawing/2014/main" id="{48C36A10-4817-2240-976D-D7910B6C01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6256" y="5373688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31" name="Line 15">
            <a:extLst>
              <a:ext uri="{FF2B5EF4-FFF2-40B4-BE49-F238E27FC236}">
                <a16:creationId xmlns:a16="http://schemas.microsoft.com/office/drawing/2014/main" id="{2F9AF16C-7F70-0E4C-A0CF-F651EB16F8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84368" y="5373688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0432" name="Object 16">
            <a:extLst>
              <a:ext uri="{FF2B5EF4-FFF2-40B4-BE49-F238E27FC236}">
                <a16:creationId xmlns:a16="http://schemas.microsoft.com/office/drawing/2014/main" id="{F23C6259-BFB2-584A-AEAD-E429197789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96100" y="5656263"/>
          <a:ext cx="436563" cy="18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38100" imgH="38100" progId="Equation.3">
                  <p:embed/>
                </p:oleObj>
              </mc:Choice>
              <mc:Fallback>
                <p:oleObj name="公式" r:id="rId13" imgW="38100" imgH="381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6100" y="5656263"/>
                        <a:ext cx="436563" cy="185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57" name="灯片编号占位符 1">
            <a:extLst>
              <a:ext uri="{FF2B5EF4-FFF2-40B4-BE49-F238E27FC236}">
                <a16:creationId xmlns:a16="http://schemas.microsoft.com/office/drawing/2014/main" id="{0E7D5326-F3D0-594C-BDED-97A027867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63EE7D-9358-8E4D-83BB-E832B4541012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zh-CN" sz="1400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9C3E026-DA14-A840-96C9-EFFCCB3F3438}"/>
              </a:ext>
            </a:extLst>
          </p:cNvPr>
          <p:cNvCxnSpPr/>
          <p:nvPr/>
        </p:nvCxnSpPr>
        <p:spPr>
          <a:xfrm>
            <a:off x="3708400" y="4365625"/>
            <a:ext cx="165576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A3A61295-08BB-5246-B7F6-001CA282E50B}"/>
              </a:ext>
            </a:extLst>
          </p:cNvPr>
          <p:cNvSpPr/>
          <p:nvPr/>
        </p:nvSpPr>
        <p:spPr>
          <a:xfrm>
            <a:off x="1475656" y="4005263"/>
            <a:ext cx="288925" cy="287337"/>
          </a:xfrm>
          <a:prstGeom prst="ellipse">
            <a:avLst/>
          </a:prstGeom>
          <a:noFill/>
          <a:ln w="19050">
            <a:solidFill>
              <a:srgbClr val="A4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AC9EE4DA-8563-BF40-91B9-F4CBB40DE3B6}"/>
                  </a:ext>
                </a:extLst>
              </p:cNvPr>
              <p:cNvSpPr/>
              <p:nvPr/>
            </p:nvSpPr>
            <p:spPr>
              <a:xfrm>
                <a:off x="3275856" y="620688"/>
                <a:ext cx="515673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8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×...×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AC9EE4DA-8563-BF40-91B9-F4CBB40DE3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856" y="620688"/>
                <a:ext cx="5156733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66AAD32-894E-B04F-87E5-31F3F5E96269}"/>
                  </a:ext>
                </a:extLst>
              </p:cNvPr>
              <p:cNvSpPr/>
              <p:nvPr/>
            </p:nvSpPr>
            <p:spPr>
              <a:xfrm>
                <a:off x="2627313" y="1856437"/>
                <a:ext cx="492507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766AAD32-894E-B04F-87E5-31F3F5E962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313" y="1856437"/>
                <a:ext cx="492507" cy="49244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ACFF765-A985-2F4B-B7FE-05C9EEB964F8}"/>
                  </a:ext>
                </a:extLst>
              </p:cNvPr>
              <p:cNvSpPr/>
              <p:nvPr/>
            </p:nvSpPr>
            <p:spPr>
              <a:xfrm>
                <a:off x="4788024" y="1866900"/>
                <a:ext cx="504625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0ACFF765-A985-2F4B-B7FE-05C9EEB964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024" y="1866900"/>
                <a:ext cx="504625" cy="492443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93D0C9F-B186-294F-A5D9-7D0DE9D7AC76}"/>
                  </a:ext>
                </a:extLst>
              </p:cNvPr>
              <p:cNvSpPr/>
              <p:nvPr/>
            </p:nvSpPr>
            <p:spPr>
              <a:xfrm>
                <a:off x="1259632" y="3014663"/>
                <a:ext cx="32909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×...×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E93D0C9F-B186-294F-A5D9-7D0DE9D7AC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3014663"/>
                <a:ext cx="3290966" cy="523220"/>
              </a:xfrm>
              <a:prstGeom prst="rect">
                <a:avLst/>
              </a:prstGeom>
              <a:blipFill>
                <a:blip r:embed="rId18"/>
                <a:stretch>
                  <a:fillRect r="-2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74B46F2-D1F5-774A-BC81-4E5B71E13DCB}"/>
                  </a:ext>
                </a:extLst>
              </p:cNvPr>
              <p:cNvSpPr/>
              <p:nvPr/>
            </p:nvSpPr>
            <p:spPr>
              <a:xfrm>
                <a:off x="538808" y="4870441"/>
                <a:ext cx="813764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((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))=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74B46F2-D1F5-774A-BC81-4E5B71E13D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808" y="4870441"/>
                <a:ext cx="8137648" cy="523220"/>
              </a:xfrm>
              <a:prstGeom prst="rect">
                <a:avLst/>
              </a:prstGeom>
              <a:blipFill>
                <a:blip r:embed="rId19"/>
                <a:stretch>
                  <a:fillRect t="-127907" r="-1246" b="-1976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528FC18-0C84-7342-5712-B188B5F2A56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83568" y="692696"/>
            <a:ext cx="8229600" cy="5865813"/>
          </a:xfrm>
        </p:spPr>
        <p:txBody>
          <a:bodyPr/>
          <a:lstStyle/>
          <a:p>
            <a:r>
              <a:rPr lang="zh-CN" altLang="en-US" dirty="0">
                <a:highlight>
                  <a:srgbClr val="FFFF00"/>
                </a:highlight>
              </a:rPr>
              <a:t>课堂思考题</a:t>
            </a:r>
            <a:endParaRPr lang="en-US" altLang="zh-CN" dirty="0">
              <a:highlight>
                <a:srgbClr val="FFFF00"/>
              </a:highlight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C344337-E648-1105-300C-C635F527E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E79F-9C44-854B-B99C-75F525D22582}" type="slidenum">
              <a:rPr lang="en-US" altLang="zh-CN" smtClean="0"/>
              <a:pPr/>
              <a:t>56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B287B5B4-BA58-EE8E-A734-434483EC330E}"/>
                  </a:ext>
                </a:extLst>
              </p:cNvPr>
              <p:cNvSpPr/>
              <p:nvPr/>
            </p:nvSpPr>
            <p:spPr>
              <a:xfrm>
                <a:off x="539552" y="1700808"/>
                <a:ext cx="8186048" cy="1384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若</m:t>
                    </m:r>
                    <m:r>
                      <a:rPr lang="zh-CN" altLang="en-US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zh-CN" altLang="en-US" sz="2800" b="1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sz="28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zh-CN" altLang="en-US" sz="2800" b="1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sz="28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zh-CN" altLang="en-US" sz="2800" b="1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zh-CN" altLang="en-US" sz="2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zh-CN" altLang="en-US" sz="2800" b="1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zh-CN" altLang="en-US" sz="2800" b="1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zh-CN" altLang="en-US" sz="2800" b="1" i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zh-CN" altLang="en-US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zh-CN" altLang="en-US" sz="2800" b="1" i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zh-CN" alt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</a:rPr>
                  <a:t>其中</a:t>
                </a:r>
                <a:r>
                  <a:rPr lang="en-US" altLang="zh-CN" sz="2800" dirty="0">
                    <a:solidFill>
                      <a:srgbClr val="0070C0"/>
                    </a:solidFill>
                  </a:rPr>
                  <a:t>|</a:t>
                </a:r>
                <a:r>
                  <a:rPr lang="zh-CN" altLang="en-US" sz="2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zh-CN" altLang="en-US" sz="28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>
                    <a:solidFill>
                      <a:srgbClr val="0070C0"/>
                    </a:solidFill>
                  </a:rPr>
                  <a:t>|=</a:t>
                </a:r>
                <a:r>
                  <a:rPr lang="en-US" altLang="zh-CN" sz="28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baseline="-25000" dirty="0">
                    <a:solidFill>
                      <a:srgbClr val="0070C0"/>
                    </a:solidFill>
                  </a:rPr>
                  <a:t>1</a:t>
                </a:r>
                <a:r>
                  <a:rPr lang="en-US" altLang="zh-CN" sz="2800" dirty="0">
                    <a:solidFill>
                      <a:srgbClr val="0070C0"/>
                    </a:solidFill>
                  </a:rPr>
                  <a:t>, |</a:t>
                </a:r>
                <a:r>
                  <a:rPr lang="zh-CN" altLang="en-US" sz="28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800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800" dirty="0">
                    <a:solidFill>
                      <a:srgbClr val="0070C0"/>
                    </a:solidFill>
                  </a:rPr>
                  <a:t>|=</a:t>
                </a:r>
                <a:r>
                  <a:rPr lang="en-US" altLang="zh-CN" sz="28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800" baseline="-25000" dirty="0">
                    <a:solidFill>
                      <a:srgbClr val="0070C0"/>
                    </a:solidFill>
                  </a:rPr>
                  <a:t>2</a:t>
                </a:r>
                <a:r>
                  <a:rPr lang="en-US" altLang="zh-CN" sz="2800" dirty="0">
                    <a:solidFill>
                      <a:srgbClr val="0070C0"/>
                    </a:solidFill>
                  </a:rPr>
                  <a:t>,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sz="28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28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=2, </m:t>
                    </m:r>
                    <m:r>
                      <a:rPr lang="zh-CN" altLang="en-US" sz="28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则</m:t>
                    </m:r>
                  </m:oMath>
                </a14:m>
                <a:r>
                  <a:rPr lang="zh-CN" altLang="en-US" sz="2800" dirty="0">
                    <a:solidFill>
                      <a:srgbClr val="0070C0"/>
                    </a:solidFill>
                  </a:rPr>
                  <a:t>建立在集合</a:t>
                </a:r>
                <a:r>
                  <a:rPr lang="en-US" altLang="zh-CN" sz="28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800" dirty="0">
                    <a:solidFill>
                      <a:srgbClr val="0070C0"/>
                    </a:solidFill>
                  </a:rPr>
                  <a:t>到</a:t>
                </a:r>
                <a:r>
                  <a:rPr lang="en-US" altLang="zh-CN" sz="2800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zh-CN" altLang="en-US" sz="2800" dirty="0">
                    <a:solidFill>
                      <a:srgbClr val="0070C0"/>
                    </a:solidFill>
                  </a:rPr>
                  <a:t>之间所有可能的映射有多少种？</a:t>
                </a: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B287B5B4-BA58-EE8E-A734-434483EC33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700808"/>
                <a:ext cx="8186048" cy="1384995"/>
              </a:xfrm>
              <a:prstGeom prst="rect">
                <a:avLst/>
              </a:prstGeom>
              <a:blipFill>
                <a:blip r:embed="rId2"/>
                <a:stretch>
                  <a:fillRect l="-1565" t="-5727" b="-101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85287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977E5B25-EC4F-6548-B9A8-1BCE8EF275A2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2. </a:t>
            </a:r>
            <a:r>
              <a:rPr lang="zh-CN" altLang="en-US" b="1" dirty="0">
                <a:latin typeface="Times New Roman" panose="02020603050405020304" pitchFamily="18" charset="0"/>
              </a:rPr>
              <a:t>映射的性质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(1) </a:t>
            </a:r>
            <a:r>
              <a:rPr lang="zh-CN" altLang="en-US" b="1" dirty="0">
                <a:latin typeface="Times New Roman" panose="02020603050405020304" pitchFamily="18" charset="0"/>
              </a:rPr>
              <a:t>单射</a:t>
            </a:r>
            <a:r>
              <a:rPr lang="en-US" altLang="zh-CN" b="1" dirty="0">
                <a:latin typeface="Times New Roman" panose="02020603050405020304" pitchFamily="18" charset="0"/>
              </a:rPr>
              <a:t>(injection)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63494" name="Oval 6">
            <a:extLst>
              <a:ext uri="{FF2B5EF4-FFF2-40B4-BE49-F238E27FC236}">
                <a16:creationId xmlns:a16="http://schemas.microsoft.com/office/drawing/2014/main" id="{15C05CEB-3D1E-8443-B1A8-8395BCED2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3860800"/>
            <a:ext cx="936625" cy="18002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3495" name="Oval 7">
            <a:extLst>
              <a:ext uri="{FF2B5EF4-FFF2-40B4-BE49-F238E27FC236}">
                <a16:creationId xmlns:a16="http://schemas.microsoft.com/office/drawing/2014/main" id="{AB2E5BF0-3CCA-7B42-87C0-F58A053CB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3429000"/>
            <a:ext cx="1008063" cy="208756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3496" name="Line 8">
            <a:extLst>
              <a:ext uri="{FF2B5EF4-FFF2-40B4-BE49-F238E27FC236}">
                <a16:creationId xmlns:a16="http://schemas.microsoft.com/office/drawing/2014/main" id="{4DB38176-E530-174D-BCF0-5C79866165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4221163"/>
            <a:ext cx="2665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7" name="Line 9">
            <a:extLst>
              <a:ext uri="{FF2B5EF4-FFF2-40B4-BE49-F238E27FC236}">
                <a16:creationId xmlns:a16="http://schemas.microsoft.com/office/drawing/2014/main" id="{CCFACE26-CAC8-3045-8919-2F41E010D7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59113" y="4724400"/>
            <a:ext cx="2520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8" name="Line 10">
            <a:extLst>
              <a:ext uri="{FF2B5EF4-FFF2-40B4-BE49-F238E27FC236}">
                <a16:creationId xmlns:a16="http://schemas.microsoft.com/office/drawing/2014/main" id="{061E8175-D970-1C43-B22B-BFC0641C4C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5157788"/>
            <a:ext cx="2520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499" name="Oval 11">
            <a:extLst>
              <a:ext uri="{FF2B5EF4-FFF2-40B4-BE49-F238E27FC236}">
                <a16:creationId xmlns:a16="http://schemas.microsoft.com/office/drawing/2014/main" id="{AE23555E-147D-5647-9F61-602FDC465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3644900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500" name="Object 12">
                <a:extLst>
                  <a:ext uri="{FF2B5EF4-FFF2-40B4-BE49-F238E27FC236}">
                    <a16:creationId xmlns:a16="http://schemas.microsoft.com/office/drawing/2014/main" id="{BB806CEA-6B71-9842-A4DF-12BA795D9147}"/>
                  </a:ext>
                </a:extLst>
              </p:cNvPr>
              <p:cNvSpPr txBox="1"/>
              <p:nvPr/>
            </p:nvSpPr>
            <p:spPr bwMode="auto">
              <a:xfrm>
                <a:off x="4189413" y="3644900"/>
                <a:ext cx="374650" cy="496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3500" name="Object 12">
                <a:extLst>
                  <a:ext uri="{FF2B5EF4-FFF2-40B4-BE49-F238E27FC236}">
                    <a16:creationId xmlns:a16="http://schemas.microsoft.com/office/drawing/2014/main" id="{BB806CEA-6B71-9842-A4DF-12BA795D9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89413" y="3644900"/>
                <a:ext cx="374650" cy="496888"/>
              </a:xfrm>
              <a:prstGeom prst="rect">
                <a:avLst/>
              </a:prstGeom>
              <a:blipFill>
                <a:blip r:embed="rId2"/>
                <a:stretch>
                  <a:fillRect l="-48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3501" name="Object 13">
            <a:extLst>
              <a:ext uri="{FF2B5EF4-FFF2-40B4-BE49-F238E27FC236}">
                <a16:creationId xmlns:a16="http://schemas.microsoft.com/office/drawing/2014/main" id="{AEDDF5F5-6E69-ED44-BDBE-6E6FA15CD4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5373688"/>
          <a:ext cx="3746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100" imgH="38100" progId="Equation.3">
                  <p:embed/>
                </p:oleObj>
              </mc:Choice>
              <mc:Fallback>
                <p:oleObj name="Equation" r:id="rId3" imgW="38100" imgH="381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5373688"/>
                        <a:ext cx="3746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02" name="Object 14">
            <a:extLst>
              <a:ext uri="{FF2B5EF4-FFF2-40B4-BE49-F238E27FC236}">
                <a16:creationId xmlns:a16="http://schemas.microsoft.com/office/drawing/2014/main" id="{DF6587D9-43A1-B14C-A9DE-A04086B6EB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43213" y="5445125"/>
          <a:ext cx="3746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100" imgH="38100" progId="Equation.3">
                  <p:embed/>
                </p:oleObj>
              </mc:Choice>
              <mc:Fallback>
                <p:oleObj name="Equation" r:id="rId5" imgW="38100" imgH="381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5445125"/>
                        <a:ext cx="3746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03" name="AutoShape 15">
            <a:extLst>
              <a:ext uri="{FF2B5EF4-FFF2-40B4-BE49-F238E27FC236}">
                <a16:creationId xmlns:a16="http://schemas.microsoft.com/office/drawing/2014/main" id="{7E935725-30BD-E140-8FA3-E32EE81F9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060575"/>
            <a:ext cx="503238" cy="504825"/>
          </a:xfrm>
          <a:prstGeom prst="upDownArrow">
            <a:avLst>
              <a:gd name="adj1" fmla="val 50000"/>
              <a:gd name="adj2" fmla="val 2006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3504" name="Oval 16">
            <a:extLst>
              <a:ext uri="{FF2B5EF4-FFF2-40B4-BE49-F238E27FC236}">
                <a16:creationId xmlns:a16="http://schemas.microsoft.com/office/drawing/2014/main" id="{1E3A8100-E1A3-A54F-ADFF-E456A000B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149725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3505" name="Oval 17">
            <a:extLst>
              <a:ext uri="{FF2B5EF4-FFF2-40B4-BE49-F238E27FC236}">
                <a16:creationId xmlns:a16="http://schemas.microsoft.com/office/drawing/2014/main" id="{6472AFFE-E9C7-6A41-98A7-9DAF75A03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652963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3506" name="Oval 18">
            <a:extLst>
              <a:ext uri="{FF2B5EF4-FFF2-40B4-BE49-F238E27FC236}">
                <a16:creationId xmlns:a16="http://schemas.microsoft.com/office/drawing/2014/main" id="{9B966EAF-C251-4344-B8B7-8C88B2EEC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4149725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3507" name="Oval 19">
            <a:extLst>
              <a:ext uri="{FF2B5EF4-FFF2-40B4-BE49-F238E27FC236}">
                <a16:creationId xmlns:a16="http://schemas.microsoft.com/office/drawing/2014/main" id="{0F4F9E48-3C3F-0847-BCAD-9D99089E4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4652963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3508" name="Oval 20">
            <a:extLst>
              <a:ext uri="{FF2B5EF4-FFF2-40B4-BE49-F238E27FC236}">
                <a16:creationId xmlns:a16="http://schemas.microsoft.com/office/drawing/2014/main" id="{DA42E922-5F19-E441-ABAA-85B6BAA2C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5084763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3509" name="Oval 21">
            <a:extLst>
              <a:ext uri="{FF2B5EF4-FFF2-40B4-BE49-F238E27FC236}">
                <a16:creationId xmlns:a16="http://schemas.microsoft.com/office/drawing/2014/main" id="{0DB1C9D7-BBDA-6640-B97D-AED427E110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213" y="5084763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3510" name="灯片编号占位符 1">
            <a:extLst>
              <a:ext uri="{FF2B5EF4-FFF2-40B4-BE49-F238E27FC236}">
                <a16:creationId xmlns:a16="http://schemas.microsoft.com/office/drawing/2014/main" id="{25AE00CE-52BD-6A4C-91C4-E8F1E8CB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C000DC-9C8E-C142-9B28-E9862CC8396E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zh-CN" sz="1400"/>
          </a:p>
        </p:txBody>
      </p:sp>
      <p:sp>
        <p:nvSpPr>
          <p:cNvPr id="63511" name="文本框 1">
            <a:extLst>
              <a:ext uri="{FF2B5EF4-FFF2-40B4-BE49-F238E27FC236}">
                <a16:creationId xmlns:a16="http://schemas.microsoft.com/office/drawing/2014/main" id="{3A18BFAB-48AB-6B4D-A438-F6FEA2164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3455988"/>
            <a:ext cx="5032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i="1"/>
              <a:t>A</a:t>
            </a:r>
            <a:endParaRPr lang="zh-CN" altLang="en-US" sz="1800" i="1"/>
          </a:p>
        </p:txBody>
      </p:sp>
      <p:sp>
        <p:nvSpPr>
          <p:cNvPr id="63512" name="文本框 2">
            <a:extLst>
              <a:ext uri="{FF2B5EF4-FFF2-40B4-BE49-F238E27FC236}">
                <a16:creationId xmlns:a16="http://schemas.microsoft.com/office/drawing/2014/main" id="{1AC4E4E2-3BB3-0047-B244-C97551B4E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3311525"/>
            <a:ext cx="50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i="1"/>
              <a:t>B</a:t>
            </a:r>
            <a:endParaRPr lang="zh-CN" altLang="en-US" sz="1800" i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A4F2590-DB2F-F64C-80C3-ACD548DD3F9F}"/>
                  </a:ext>
                </a:extLst>
              </p:cNvPr>
              <p:cNvSpPr/>
              <p:nvPr/>
            </p:nvSpPr>
            <p:spPr>
              <a:xfrm>
                <a:off x="4508519" y="835026"/>
                <a:ext cx="162345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A4F2590-DB2F-F64C-80C3-ACD548DD3F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8519" y="835026"/>
                <a:ext cx="1623458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F949736-C102-F54B-8EA2-4138F2CDC60F}"/>
                  </a:ext>
                </a:extLst>
              </p:cNvPr>
              <p:cNvSpPr/>
              <p:nvPr/>
            </p:nvSpPr>
            <p:spPr>
              <a:xfrm>
                <a:off x="1476375" y="1484313"/>
                <a:ext cx="606428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∀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≠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)≠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F949736-C102-F54B-8EA2-4138F2CDC6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375" y="1484313"/>
                <a:ext cx="6064289" cy="523220"/>
              </a:xfrm>
              <a:prstGeom prst="rect">
                <a:avLst/>
              </a:prstGeom>
              <a:blipFill>
                <a:blip r:embed="rId9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8F48CFD-8240-1D4D-86DB-4EE468625B59}"/>
                  </a:ext>
                </a:extLst>
              </p:cNvPr>
              <p:cNvSpPr/>
              <p:nvPr/>
            </p:nvSpPr>
            <p:spPr>
              <a:xfrm>
                <a:off x="1476375" y="2565400"/>
                <a:ext cx="606428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∀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)⇒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B8F48CFD-8240-1D4D-86DB-4EE468625B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375" y="2565400"/>
                <a:ext cx="6064289" cy="523220"/>
              </a:xfrm>
              <a:prstGeom prst="rect">
                <a:avLst/>
              </a:prstGeom>
              <a:blipFill>
                <a:blip r:embed="rId10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7221B189-B801-3446-A512-BA07CDC49CA7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476250"/>
            <a:ext cx="8075613" cy="6192838"/>
          </a:xfrm>
        </p:spPr>
        <p:txBody>
          <a:bodyPr/>
          <a:lstStyle/>
          <a:p>
            <a:pPr eaLnBrk="1" hangingPunct="1"/>
            <a:r>
              <a:rPr lang="zh-CN" altLang="en-US" sz="3600" b="1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sz="3600" b="1">
                <a:latin typeface="Times New Roman" panose="02020603050405020304" pitchFamily="18" charset="0"/>
              </a:rPr>
              <a:t>1-6 </a:t>
            </a: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: N</a:t>
            </a:r>
            <a:r>
              <a:rPr lang="en-US" altLang="zh-CN" b="1" i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 N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) = 2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则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zh-CN" altLang="en-US" b="1">
                <a:latin typeface="Times New Roman" panose="02020603050405020304" pitchFamily="18" charset="0"/>
              </a:rPr>
              <a:t>是</a:t>
            </a:r>
            <a:r>
              <a:rPr lang="en-US" altLang="zh-CN" b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到</a:t>
            </a:r>
            <a:r>
              <a:rPr lang="en-US" altLang="zh-CN" b="1">
                <a:latin typeface="Times New Roman" panose="02020603050405020304" pitchFamily="18" charset="0"/>
              </a:rPr>
              <a:t>N</a:t>
            </a:r>
            <a:r>
              <a:rPr lang="zh-CN" altLang="en-US" b="1">
                <a:latin typeface="Times New Roman" panose="02020603050405020304" pitchFamily="18" charset="0"/>
              </a:rPr>
              <a:t>的单射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试证明之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Proof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zh-CN" altLang="en-US" b="1">
                <a:latin typeface="Times New Roman" panose="02020603050405020304" pitchFamily="18" charset="0"/>
              </a:rPr>
              <a:t>对任意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 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若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) = 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), </a:t>
            </a:r>
            <a:r>
              <a:rPr lang="zh-CN" altLang="en-US" b="1">
                <a:latin typeface="Times New Roman" panose="02020603050405020304" pitchFamily="18" charset="0"/>
              </a:rPr>
              <a:t>可得出</a:t>
            </a:r>
            <a:r>
              <a:rPr lang="en-US" altLang="zh-CN" b="1">
                <a:latin typeface="Times New Roman" panose="02020603050405020304" pitchFamily="18" charset="0"/>
              </a:rPr>
              <a:t>2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= 2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进而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=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64515" name="Oval 3">
            <a:extLst>
              <a:ext uri="{FF2B5EF4-FFF2-40B4-BE49-F238E27FC236}">
                <a16:creationId xmlns:a16="http://schemas.microsoft.com/office/drawing/2014/main" id="{AAC05FFD-1A5C-DA4A-BF50-67AC61899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3395663"/>
            <a:ext cx="1295400" cy="2952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4516" name="Oval 4">
            <a:extLst>
              <a:ext uri="{FF2B5EF4-FFF2-40B4-BE49-F238E27FC236}">
                <a16:creationId xmlns:a16="http://schemas.microsoft.com/office/drawing/2014/main" id="{05787182-44C0-2048-ABB2-438A4D54C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3395663"/>
            <a:ext cx="1295400" cy="29527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4517" name="Oval 5">
            <a:extLst>
              <a:ext uri="{FF2B5EF4-FFF2-40B4-BE49-F238E27FC236}">
                <a16:creationId xmlns:a16="http://schemas.microsoft.com/office/drawing/2014/main" id="{17C71021-CFCB-1647-8243-0D155927F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3827463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4518" name="Oval 6">
            <a:extLst>
              <a:ext uri="{FF2B5EF4-FFF2-40B4-BE49-F238E27FC236}">
                <a16:creationId xmlns:a16="http://schemas.microsoft.com/office/drawing/2014/main" id="{8AA38CA4-626F-8E45-BA92-2246D40D1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9200" y="4259263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4519" name="Oval 7">
            <a:extLst>
              <a:ext uri="{FF2B5EF4-FFF2-40B4-BE49-F238E27FC236}">
                <a16:creationId xmlns:a16="http://schemas.microsoft.com/office/drawing/2014/main" id="{646216C2-72CD-9541-B6DC-C91CCD555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4691063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4520" name="Oval 8">
            <a:extLst>
              <a:ext uri="{FF2B5EF4-FFF2-40B4-BE49-F238E27FC236}">
                <a16:creationId xmlns:a16="http://schemas.microsoft.com/office/drawing/2014/main" id="{91BEBBF1-E082-2A42-9291-2BCEF0AF99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5122863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4521" name="Oval 9">
            <a:extLst>
              <a:ext uri="{FF2B5EF4-FFF2-40B4-BE49-F238E27FC236}">
                <a16:creationId xmlns:a16="http://schemas.microsoft.com/office/drawing/2014/main" id="{EE7BF297-1738-FA47-90E8-BE0109DD9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36830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4522" name="Oval 10">
            <a:extLst>
              <a:ext uri="{FF2B5EF4-FFF2-40B4-BE49-F238E27FC236}">
                <a16:creationId xmlns:a16="http://schemas.microsoft.com/office/drawing/2014/main" id="{DD03D324-44EA-A245-B1E6-F2E70E007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043363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4523" name="Oval 11">
            <a:extLst>
              <a:ext uri="{FF2B5EF4-FFF2-40B4-BE49-F238E27FC236}">
                <a16:creationId xmlns:a16="http://schemas.microsoft.com/office/drawing/2014/main" id="{B313FF2D-F09E-D243-B14C-CB3470F7A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475163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4524" name="Oval 12">
            <a:extLst>
              <a:ext uri="{FF2B5EF4-FFF2-40B4-BE49-F238E27FC236}">
                <a16:creationId xmlns:a16="http://schemas.microsoft.com/office/drawing/2014/main" id="{81B222AC-EF7C-C848-B07E-4CF8CBC27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835525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4525" name="Oval 13">
            <a:extLst>
              <a:ext uri="{FF2B5EF4-FFF2-40B4-BE49-F238E27FC236}">
                <a16:creationId xmlns:a16="http://schemas.microsoft.com/office/drawing/2014/main" id="{87950CE0-2D2A-CC4C-A0DE-2BC68A98B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5195888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4526" name="Oval 14">
            <a:extLst>
              <a:ext uri="{FF2B5EF4-FFF2-40B4-BE49-F238E27FC236}">
                <a16:creationId xmlns:a16="http://schemas.microsoft.com/office/drawing/2014/main" id="{B51AFF44-BDF0-484F-BC2A-9FB85845B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555625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4527" name="Oval 15">
            <a:extLst>
              <a:ext uri="{FF2B5EF4-FFF2-40B4-BE49-F238E27FC236}">
                <a16:creationId xmlns:a16="http://schemas.microsoft.com/office/drawing/2014/main" id="{D119ABA3-FD88-E641-A84F-2899A421F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5915025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4528" name="Line 16">
            <a:extLst>
              <a:ext uri="{FF2B5EF4-FFF2-40B4-BE49-F238E27FC236}">
                <a16:creationId xmlns:a16="http://schemas.microsoft.com/office/drawing/2014/main" id="{3D366272-7319-0641-99C5-859982B1F1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00338" y="3756025"/>
            <a:ext cx="2879725" cy="142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29" name="Line 17">
            <a:extLst>
              <a:ext uri="{FF2B5EF4-FFF2-40B4-BE49-F238E27FC236}">
                <a16:creationId xmlns:a16="http://schemas.microsoft.com/office/drawing/2014/main" id="{B073277B-4580-4A42-8406-15D3FCFDB5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7313" y="4332288"/>
            <a:ext cx="295275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30" name="Line 18">
            <a:extLst>
              <a:ext uri="{FF2B5EF4-FFF2-40B4-BE49-F238E27FC236}">
                <a16:creationId xmlns:a16="http://schemas.microsoft.com/office/drawing/2014/main" id="{5E681D99-1B96-5C41-8AFE-556AC5D4405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4764088"/>
            <a:ext cx="2951162" cy="5032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531" name="Line 19">
            <a:extLst>
              <a:ext uri="{FF2B5EF4-FFF2-40B4-BE49-F238E27FC236}">
                <a16:creationId xmlns:a16="http://schemas.microsoft.com/office/drawing/2014/main" id="{129C9125-C9B0-8540-AC93-9340D4C9D5F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5195888"/>
            <a:ext cx="2951162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4532" name="Object 20">
            <a:extLst>
              <a:ext uri="{FF2B5EF4-FFF2-40B4-BE49-F238E27FC236}">
                <a16:creationId xmlns:a16="http://schemas.microsoft.com/office/drawing/2014/main" id="{E595618E-0749-494D-89A6-4F0ABEEDA3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3179763"/>
          <a:ext cx="37465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100" imgH="38100" progId="Equation.3">
                  <p:embed/>
                </p:oleObj>
              </mc:Choice>
              <mc:Fallback>
                <p:oleObj name="Equation" r:id="rId2" imgW="38100" imgH="381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3179763"/>
                        <a:ext cx="37465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3" name="Object 21">
            <a:extLst>
              <a:ext uri="{FF2B5EF4-FFF2-40B4-BE49-F238E27FC236}">
                <a16:creationId xmlns:a16="http://schemas.microsoft.com/office/drawing/2014/main" id="{3471E847-22E7-2044-8ABA-9D7304B576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1413" y="2963863"/>
          <a:ext cx="4064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100" imgH="38100" progId="Equation.3">
                  <p:embed/>
                </p:oleObj>
              </mc:Choice>
              <mc:Fallback>
                <p:oleObj name="公式" r:id="rId4" imgW="38100" imgH="381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963863"/>
                        <a:ext cx="4064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4" name="Object 22">
            <a:extLst>
              <a:ext uri="{FF2B5EF4-FFF2-40B4-BE49-F238E27FC236}">
                <a16:creationId xmlns:a16="http://schemas.microsoft.com/office/drawing/2014/main" id="{B369AEA2-946F-954D-AAA2-B502CFFC0F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3035300"/>
          <a:ext cx="4064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8100" imgH="38100" progId="Equation.3">
                  <p:embed/>
                </p:oleObj>
              </mc:Choice>
              <mc:Fallback>
                <p:oleObj name="公式" r:id="rId5" imgW="38100" imgH="38100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3035300"/>
                        <a:ext cx="4064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5" name="Object 25">
            <a:extLst>
              <a:ext uri="{FF2B5EF4-FFF2-40B4-BE49-F238E27FC236}">
                <a16:creationId xmlns:a16="http://schemas.microsoft.com/office/drawing/2014/main" id="{0F2E96D7-52BA-3448-A0E0-E08A65D0D9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70113" y="4059238"/>
          <a:ext cx="2190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8100" imgH="38100" progId="Equation.3">
                  <p:embed/>
                </p:oleObj>
              </mc:Choice>
              <mc:Fallback>
                <p:oleObj name="公式" r:id="rId6" imgW="38100" imgH="381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0113" y="4059238"/>
                        <a:ext cx="21907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6" name="Object 26">
            <a:extLst>
              <a:ext uri="{FF2B5EF4-FFF2-40B4-BE49-F238E27FC236}">
                <a16:creationId xmlns:a16="http://schemas.microsoft.com/office/drawing/2014/main" id="{7CE836C6-42C8-AD4C-8D35-6CA0DB6DC0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3898900"/>
          <a:ext cx="2190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8100" imgH="38100" progId="Equation.3">
                  <p:embed/>
                </p:oleObj>
              </mc:Choice>
              <mc:Fallback>
                <p:oleObj name="公式" r:id="rId8" imgW="38100" imgH="381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3898900"/>
                        <a:ext cx="21907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7" name="Object 34">
            <a:extLst>
              <a:ext uri="{FF2B5EF4-FFF2-40B4-BE49-F238E27FC236}">
                <a16:creationId xmlns:a16="http://schemas.microsoft.com/office/drawing/2014/main" id="{0AD52F35-82A8-7B43-A9C5-B0E831413C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5411788"/>
          <a:ext cx="18732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38100" imgH="38100" progId="Equation.3">
                  <p:embed/>
                </p:oleObj>
              </mc:Choice>
              <mc:Fallback>
                <p:oleObj name="公式" r:id="rId9" imgW="38100" imgH="381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5411788"/>
                        <a:ext cx="187325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8" name="Object 35">
            <a:extLst>
              <a:ext uri="{FF2B5EF4-FFF2-40B4-BE49-F238E27FC236}">
                <a16:creationId xmlns:a16="http://schemas.microsoft.com/office/drawing/2014/main" id="{006A8325-68E8-BD40-9026-E7C957FAF3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5988050"/>
          <a:ext cx="18732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8100" imgH="38100" progId="Equation.3">
                  <p:embed/>
                </p:oleObj>
              </mc:Choice>
              <mc:Fallback>
                <p:oleObj name="公式" r:id="rId11" imgW="38100" imgH="381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5988050"/>
                        <a:ext cx="187325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39" name="灯片编号占位符 1">
            <a:extLst>
              <a:ext uri="{FF2B5EF4-FFF2-40B4-BE49-F238E27FC236}">
                <a16:creationId xmlns:a16="http://schemas.microsoft.com/office/drawing/2014/main" id="{9B8F27A2-E64B-6742-9B19-27D70C621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35738" y="579278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727C44-553D-824D-8FCB-8C27554E4450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zh-CN" sz="1400"/>
          </a:p>
        </p:txBody>
      </p:sp>
      <p:sp>
        <p:nvSpPr>
          <p:cNvPr id="64540" name="文本框 2">
            <a:extLst>
              <a:ext uri="{FF2B5EF4-FFF2-40B4-BE49-F238E27FC236}">
                <a16:creationId xmlns:a16="http://schemas.microsoft.com/office/drawing/2014/main" id="{EDE438FC-8D6E-CD47-8062-FA55EEE21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9475" y="3676650"/>
            <a:ext cx="91440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6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6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6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6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64541" name="文本框 3">
            <a:extLst>
              <a:ext uri="{FF2B5EF4-FFF2-40B4-BE49-F238E27FC236}">
                <a16:creationId xmlns:a16="http://schemas.microsoft.com/office/drawing/2014/main" id="{43B56E7F-9B4C-8740-B70E-D6C9051AE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5488" y="3455988"/>
            <a:ext cx="914400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6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6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6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6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6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60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6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2" name="Oval 6">
            <a:extLst>
              <a:ext uri="{FF2B5EF4-FFF2-40B4-BE49-F238E27FC236}">
                <a16:creationId xmlns:a16="http://schemas.microsoft.com/office/drawing/2014/main" id="{C327C2C9-B319-3E44-9916-B959A168C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3644900"/>
            <a:ext cx="1079500" cy="13684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5BEA778D-B83F-4248-A3DC-3BAD1849323B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519113" y="660400"/>
            <a:ext cx="8229600" cy="1905000"/>
          </a:xfrm>
        </p:spPr>
        <p:txBody>
          <a:bodyPr/>
          <a:lstStyle/>
          <a:p>
            <a:pPr eaLnBrk="1" hangingPunct="1"/>
            <a:r>
              <a:rPr lang="en-US" altLang="zh-CN" b="1">
                <a:latin typeface="Times New Roman" panose="02020603050405020304" pitchFamily="18" charset="0"/>
              </a:rPr>
              <a:t>(2) </a:t>
            </a:r>
            <a:r>
              <a:rPr lang="zh-CN" altLang="en-US" b="1">
                <a:latin typeface="Times New Roman" panose="02020603050405020304" pitchFamily="18" charset="0"/>
              </a:rPr>
              <a:t>满射</a:t>
            </a:r>
            <a:r>
              <a:rPr lang="en-US" altLang="zh-CN" b="1">
                <a:latin typeface="Times New Roman" panose="02020603050405020304" pitchFamily="18" charset="0"/>
              </a:rPr>
              <a:t>(surjection)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65541" name="Oval 5">
            <a:extLst>
              <a:ext uri="{FF2B5EF4-FFF2-40B4-BE49-F238E27FC236}">
                <a16:creationId xmlns:a16="http://schemas.microsoft.com/office/drawing/2014/main" id="{A71829BD-71F4-F044-9DD1-73E29818A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338" y="3500438"/>
            <a:ext cx="1439862" cy="18002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 i="1">
              <a:latin typeface="Times New Roman" panose="02020603050405020304" pitchFamily="18" charset="0"/>
            </a:endParaRPr>
          </a:p>
        </p:txBody>
      </p:sp>
      <p:sp>
        <p:nvSpPr>
          <p:cNvPr id="65543" name="Line 7">
            <a:extLst>
              <a:ext uri="{FF2B5EF4-FFF2-40B4-BE49-F238E27FC236}">
                <a16:creationId xmlns:a16="http://schemas.microsoft.com/office/drawing/2014/main" id="{C363CFF7-84FB-E047-B0DC-C790B0F28B6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4221163"/>
            <a:ext cx="2374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4" name="Line 8">
            <a:extLst>
              <a:ext uri="{FF2B5EF4-FFF2-40B4-BE49-F238E27FC236}">
                <a16:creationId xmlns:a16="http://schemas.microsoft.com/office/drawing/2014/main" id="{54F759B2-8E3D-3C4C-B515-A5A0982BC09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19475" y="4292600"/>
            <a:ext cx="2160588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546" name="Oval 12">
            <a:extLst>
              <a:ext uri="{FF2B5EF4-FFF2-40B4-BE49-F238E27FC236}">
                <a16:creationId xmlns:a16="http://schemas.microsoft.com/office/drawing/2014/main" id="{1BF302BA-205E-E748-BE81-D6D5E3C01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4149725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5547" name="Oval 13">
            <a:extLst>
              <a:ext uri="{FF2B5EF4-FFF2-40B4-BE49-F238E27FC236}">
                <a16:creationId xmlns:a16="http://schemas.microsoft.com/office/drawing/2014/main" id="{B526E3C6-7F70-574D-80FF-5D7F11F79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4941888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5548" name="灯片编号占位符 1">
            <a:extLst>
              <a:ext uri="{FF2B5EF4-FFF2-40B4-BE49-F238E27FC236}">
                <a16:creationId xmlns:a16="http://schemas.microsoft.com/office/drawing/2014/main" id="{E6E27CCE-0549-E442-BDD5-6C2A1913D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CA6E80-63A7-C348-BE99-4DD50AE73822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zh-CN" sz="1400"/>
          </a:p>
        </p:txBody>
      </p:sp>
      <p:sp>
        <p:nvSpPr>
          <p:cNvPr id="65549" name="文本框 1">
            <a:extLst>
              <a:ext uri="{FF2B5EF4-FFF2-40B4-BE49-F238E27FC236}">
                <a16:creationId xmlns:a16="http://schemas.microsoft.com/office/drawing/2014/main" id="{6E849FD9-CE82-7948-8FD8-8DD4FA682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5163" y="3608388"/>
            <a:ext cx="431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i="1"/>
              <a:t>A</a:t>
            </a:r>
            <a:endParaRPr lang="zh-CN" altLang="en-US" sz="1800" i="1"/>
          </a:p>
        </p:txBody>
      </p:sp>
      <p:sp>
        <p:nvSpPr>
          <p:cNvPr id="65550" name="文本框 2">
            <a:extLst>
              <a:ext uri="{FF2B5EF4-FFF2-40B4-BE49-F238E27FC236}">
                <a16:creationId xmlns:a16="http://schemas.microsoft.com/office/drawing/2014/main" id="{1E4CDEB9-1416-8547-AB6B-9A0F64187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2113" y="3692525"/>
            <a:ext cx="431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i="1"/>
              <a:t>B</a:t>
            </a:r>
            <a:endParaRPr lang="zh-CN" altLang="en-US" sz="1800" i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DAC9540-4C43-B24D-8131-F58CCB4420A3}"/>
                  </a:ext>
                </a:extLst>
              </p:cNvPr>
              <p:cNvSpPr/>
              <p:nvPr/>
            </p:nvSpPr>
            <p:spPr>
              <a:xfrm>
                <a:off x="2536825" y="1492250"/>
                <a:ext cx="417473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,∃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FDAC9540-4C43-B24D-8131-F58CCB4420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825" y="1492250"/>
                <a:ext cx="4174733" cy="523220"/>
              </a:xfrm>
              <a:prstGeom prst="rect">
                <a:avLst/>
              </a:prstGeom>
              <a:blipFill>
                <a:blip r:embed="rId2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6422860-1780-FF4F-B665-B824F466C543}"/>
                  </a:ext>
                </a:extLst>
              </p:cNvPr>
              <p:cNvSpPr/>
              <p:nvPr/>
            </p:nvSpPr>
            <p:spPr>
              <a:xfrm>
                <a:off x="2625725" y="2117725"/>
                <a:ext cx="189834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/>
                        <m:t>ran</m:t>
                      </m:r>
                      <m:r>
                        <m:rPr>
                          <m:nor/>
                        </m:rPr>
                        <a:rPr lang="zh-CN" altLang="en-US" sz="2800"/>
                        <m:t> 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6422860-1780-FF4F-B665-B824F466C5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5725" y="2117725"/>
                <a:ext cx="1898340" cy="523220"/>
              </a:xfrm>
              <a:prstGeom prst="rect">
                <a:avLst/>
              </a:prstGeom>
              <a:blipFill>
                <a:blip r:embed="rId3"/>
                <a:stretch>
                  <a:fillRect t="-4762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EA7F460-4BEF-7C4A-A671-DFE131097FAB}"/>
                  </a:ext>
                </a:extLst>
              </p:cNvPr>
              <p:cNvSpPr/>
              <p:nvPr/>
            </p:nvSpPr>
            <p:spPr>
              <a:xfrm>
                <a:off x="4427538" y="3573463"/>
                <a:ext cx="49173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EA7F460-4BEF-7C4A-A671-DFE131097F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538" y="3573463"/>
                <a:ext cx="491738" cy="523220"/>
              </a:xfrm>
              <a:prstGeom prst="rect">
                <a:avLst/>
              </a:prstGeom>
              <a:blipFill>
                <a:blip r:embed="rId4"/>
                <a:stretch>
                  <a:fillRect l="-5128" r="-2564" b="-18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Oval 12">
            <a:extLst>
              <a:ext uri="{FF2B5EF4-FFF2-40B4-BE49-F238E27FC236}">
                <a16:creationId xmlns:a16="http://schemas.microsoft.com/office/drawing/2014/main" id="{9EBA6CE5-23A3-DC99-1044-EE94517AB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674" y="4149080"/>
            <a:ext cx="144462" cy="14287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1AF1369-C156-971C-8583-36843ADB62F7}"/>
                  </a:ext>
                </a:extLst>
              </p:cNvPr>
              <p:cNvSpPr/>
              <p:nvPr/>
            </p:nvSpPr>
            <p:spPr>
              <a:xfrm>
                <a:off x="4768334" y="701914"/>
                <a:ext cx="162345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1AF1369-C156-971C-8583-36843ADB62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334" y="701914"/>
                <a:ext cx="162345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708DE36A-9FAA-9E41-BC4D-CF1F741395F0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647700"/>
            <a:ext cx="8002588" cy="5865813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</a:rPr>
              <a:t>1-7  </a:t>
            </a:r>
            <a:r>
              <a:rPr lang="zh-CN" altLang="en-US" b="1" dirty="0">
                <a:latin typeface="Times New Roman" panose="02020603050405020304" pitchFamily="18" charset="0"/>
              </a:rPr>
              <a:t>说明                是</a:t>
            </a:r>
            <a:r>
              <a:rPr lang="en-US" altLang="zh-CN" b="1" dirty="0">
                <a:latin typeface="Times New Roman" panose="02020603050405020304" pitchFamily="18" charset="0"/>
              </a:rPr>
              <a:t>Z</a:t>
            </a:r>
            <a:r>
              <a:rPr lang="zh-CN" altLang="en-US" b="1" dirty="0">
                <a:latin typeface="Times New Roman" panose="02020603050405020304" pitchFamily="18" charset="0"/>
              </a:rPr>
              <a:t>到</a:t>
            </a:r>
            <a:r>
              <a:rPr lang="en-US" altLang="zh-CN" b="1" dirty="0">
                <a:latin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</a:rPr>
              <a:t>的满射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但不是</a:t>
            </a:r>
            <a:r>
              <a:rPr lang="en-US" altLang="zh-CN" b="1" dirty="0">
                <a:latin typeface="Times New Roman" panose="02020603050405020304" pitchFamily="18" charset="0"/>
              </a:rPr>
              <a:t>Z</a:t>
            </a:r>
            <a:r>
              <a:rPr lang="zh-CN" altLang="en-US" b="1" dirty="0">
                <a:latin typeface="Times New Roman" panose="02020603050405020304" pitchFamily="18" charset="0"/>
              </a:rPr>
              <a:t>到</a:t>
            </a:r>
            <a:r>
              <a:rPr lang="en-US" altLang="zh-CN" b="1" dirty="0">
                <a:latin typeface="Times New Roman" panose="02020603050405020304" pitchFamily="18" charset="0"/>
              </a:rPr>
              <a:t>Z</a:t>
            </a:r>
            <a:r>
              <a:rPr lang="zh-CN" altLang="en-US" b="1" dirty="0">
                <a:latin typeface="Times New Roman" panose="02020603050405020304" pitchFamily="18" charset="0"/>
              </a:rPr>
              <a:t>的满射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66564" name="Oval 4">
            <a:extLst>
              <a:ext uri="{FF2B5EF4-FFF2-40B4-BE49-F238E27FC236}">
                <a16:creationId xmlns:a16="http://schemas.microsoft.com/office/drawing/2014/main" id="{DB8977D6-5869-D04A-B083-21BBCB78C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1944688"/>
            <a:ext cx="1079500" cy="20161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6565" name="Oval 5">
            <a:extLst>
              <a:ext uri="{FF2B5EF4-FFF2-40B4-BE49-F238E27FC236}">
                <a16:creationId xmlns:a16="http://schemas.microsoft.com/office/drawing/2014/main" id="{2F6C95BC-3B71-0045-A291-4911AD32D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2520950"/>
            <a:ext cx="647700" cy="9366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6566" name="Line 6">
            <a:extLst>
              <a:ext uri="{FF2B5EF4-FFF2-40B4-BE49-F238E27FC236}">
                <a16:creationId xmlns:a16="http://schemas.microsoft.com/office/drawing/2014/main" id="{91A6FB4F-F2F5-534D-BDC3-D6851C84B9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0200" y="2952750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6567" name="Object 7">
            <a:extLst>
              <a:ext uri="{FF2B5EF4-FFF2-40B4-BE49-F238E27FC236}">
                <a16:creationId xmlns:a16="http://schemas.microsoft.com/office/drawing/2014/main" id="{99AFA706-00E6-7649-82D7-E4EFB1FE54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2087563"/>
          <a:ext cx="4064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100" imgH="38100" progId="Equation.3">
                  <p:embed/>
                </p:oleObj>
              </mc:Choice>
              <mc:Fallback>
                <p:oleObj name="公式" r:id="rId2" imgW="38100" imgH="38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087563"/>
                        <a:ext cx="4064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8" name="Object 8">
            <a:extLst>
              <a:ext uri="{FF2B5EF4-FFF2-40B4-BE49-F238E27FC236}">
                <a16:creationId xmlns:a16="http://schemas.microsoft.com/office/drawing/2014/main" id="{24BCD26C-5E93-7842-A11A-B136338B64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48038" y="1598613"/>
          <a:ext cx="37465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100" imgH="38100" progId="Equation.3">
                  <p:embed/>
                </p:oleObj>
              </mc:Choice>
              <mc:Fallback>
                <p:oleObj name="公式" r:id="rId4" imgW="38100" imgH="38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598613"/>
                        <a:ext cx="37465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9" name="Oval 9">
            <a:extLst>
              <a:ext uri="{FF2B5EF4-FFF2-40B4-BE49-F238E27FC236}">
                <a16:creationId xmlns:a16="http://schemas.microsoft.com/office/drawing/2014/main" id="{81D28EB8-4A16-864F-95FB-7EE71FBE6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4464050"/>
            <a:ext cx="1079500" cy="20161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6570" name="Oval 10">
            <a:extLst>
              <a:ext uri="{FF2B5EF4-FFF2-40B4-BE49-F238E27FC236}">
                <a16:creationId xmlns:a16="http://schemas.microsoft.com/office/drawing/2014/main" id="{CDD22FC6-B43A-484A-A0AB-3329F43DE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4464050"/>
            <a:ext cx="1079500" cy="20161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66571" name="Object 11">
            <a:extLst>
              <a:ext uri="{FF2B5EF4-FFF2-40B4-BE49-F238E27FC236}">
                <a16:creationId xmlns:a16="http://schemas.microsoft.com/office/drawing/2014/main" id="{E5C20392-03C3-3F4D-BDC5-3C72219390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5188" y="4103688"/>
          <a:ext cx="37465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100" imgH="38100" progId="Equation.3">
                  <p:embed/>
                </p:oleObj>
              </mc:Choice>
              <mc:Fallback>
                <p:oleObj name="公式" r:id="rId4" imgW="38100" imgH="38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188" y="4103688"/>
                        <a:ext cx="37465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2" name="Object 12">
            <a:extLst>
              <a:ext uri="{FF2B5EF4-FFF2-40B4-BE49-F238E27FC236}">
                <a16:creationId xmlns:a16="http://schemas.microsoft.com/office/drawing/2014/main" id="{004A40AF-7203-D34B-AA39-393452825D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1313" y="4103688"/>
          <a:ext cx="37465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100" imgH="38100" progId="Equation.3">
                  <p:embed/>
                </p:oleObj>
              </mc:Choice>
              <mc:Fallback>
                <p:oleObj name="公式" r:id="rId4" imgW="38100" imgH="381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1313" y="4103688"/>
                        <a:ext cx="37465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3" name="Line 13">
            <a:extLst>
              <a:ext uri="{FF2B5EF4-FFF2-40B4-BE49-F238E27FC236}">
                <a16:creationId xmlns:a16="http://schemas.microsoft.com/office/drawing/2014/main" id="{17ADF7F5-0128-8745-B01C-BF96507C00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638" y="5400675"/>
            <a:ext cx="7921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6574" name="Object 14">
            <a:extLst>
              <a:ext uri="{FF2B5EF4-FFF2-40B4-BE49-F238E27FC236}">
                <a16:creationId xmlns:a16="http://schemas.microsoft.com/office/drawing/2014/main" id="{5AC322FD-C4A5-BC40-824A-EC6D6DB114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05188" y="2160588"/>
          <a:ext cx="303212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8100" imgH="406400" progId="Equation.3">
                  <p:embed/>
                </p:oleObj>
              </mc:Choice>
              <mc:Fallback>
                <p:oleObj name="公式" r:id="rId6" imgW="38100" imgH="4064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5188" y="2160588"/>
                        <a:ext cx="303212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5" name="Object 15">
            <a:extLst>
              <a:ext uri="{FF2B5EF4-FFF2-40B4-BE49-F238E27FC236}">
                <a16:creationId xmlns:a16="http://schemas.microsoft.com/office/drawing/2014/main" id="{5BFA8A62-7E30-6844-BB83-BCE61226A7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19475" y="4679950"/>
          <a:ext cx="319088" cy="165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8100" imgH="406400" progId="Equation.3">
                  <p:embed/>
                </p:oleObj>
              </mc:Choice>
              <mc:Fallback>
                <p:oleObj name="公式" r:id="rId8" imgW="38100" imgH="4064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4679950"/>
                        <a:ext cx="319088" cy="165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6" name="Object 16">
            <a:extLst>
              <a:ext uri="{FF2B5EF4-FFF2-40B4-BE49-F238E27FC236}">
                <a16:creationId xmlns:a16="http://schemas.microsoft.com/office/drawing/2014/main" id="{116F006F-BE51-BF45-BEE4-D1AA8CC09D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5600" y="4679950"/>
          <a:ext cx="303213" cy="151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8100" imgH="406400" progId="Equation.3">
                  <p:embed/>
                </p:oleObj>
              </mc:Choice>
              <mc:Fallback>
                <p:oleObj name="公式" r:id="rId8" imgW="38100" imgH="4064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600" y="4679950"/>
                        <a:ext cx="303213" cy="1512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7" name="Object 18">
            <a:extLst>
              <a:ext uri="{FF2B5EF4-FFF2-40B4-BE49-F238E27FC236}">
                <a16:creationId xmlns:a16="http://schemas.microsoft.com/office/drawing/2014/main" id="{7A715CBD-8496-C943-97A8-F2D8D16358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33888" y="2416175"/>
          <a:ext cx="249237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8100" imgH="38100" progId="Equation.3">
                  <p:embed/>
                </p:oleObj>
              </mc:Choice>
              <mc:Fallback>
                <p:oleObj name="公式" r:id="rId11" imgW="38100" imgH="381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3888" y="2416175"/>
                        <a:ext cx="249237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78" name="Object 19">
            <a:extLst>
              <a:ext uri="{FF2B5EF4-FFF2-40B4-BE49-F238E27FC236}">
                <a16:creationId xmlns:a16="http://schemas.microsoft.com/office/drawing/2014/main" id="{5C992741-C0E4-154B-9CF8-2ABB0E0DBB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4824413"/>
          <a:ext cx="249237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38100" imgH="38100" progId="Equation.3">
                  <p:embed/>
                </p:oleObj>
              </mc:Choice>
              <mc:Fallback>
                <p:oleObj name="公式" r:id="rId13" imgW="38100" imgH="381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824413"/>
                        <a:ext cx="249237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9" name="灯片编号占位符 1">
            <a:extLst>
              <a:ext uri="{FF2B5EF4-FFF2-40B4-BE49-F238E27FC236}">
                <a16:creationId xmlns:a16="http://schemas.microsoft.com/office/drawing/2014/main" id="{3B9CF39B-73D2-B547-8471-94A56599E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6688" y="6192838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8A0A7C-D7E9-204C-9F29-E59FD34837C0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zh-CN" sz="1400"/>
          </a:p>
        </p:txBody>
      </p:sp>
      <p:sp>
        <p:nvSpPr>
          <p:cNvPr id="66580" name="文本框 1">
            <a:extLst>
              <a:ext uri="{FF2B5EF4-FFF2-40B4-BE49-F238E27FC236}">
                <a16:creationId xmlns:a16="http://schemas.microsoft.com/office/drawing/2014/main" id="{AF32A7F7-AFF7-EF46-B0CE-279920281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3200" y="2498725"/>
            <a:ext cx="503238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200" b="1"/>
              <a:t>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b="1"/>
              <a:t>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b="1"/>
              <a:t>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200" b="1"/>
              <a:t>3</a:t>
            </a:r>
          </a:p>
        </p:txBody>
      </p:sp>
      <p:sp>
        <p:nvSpPr>
          <p:cNvPr id="66581" name="文本框 2">
            <a:extLst>
              <a:ext uri="{FF2B5EF4-FFF2-40B4-BE49-F238E27FC236}">
                <a16:creationId xmlns:a16="http://schemas.microsoft.com/office/drawing/2014/main" id="{AA076B6C-CD59-7D4C-BA85-29847E173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2563" y="3208338"/>
            <a:ext cx="461962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/>
              <a:t>…</a:t>
            </a:r>
            <a:endParaRPr lang="zh-CN" alt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39933CB-3EFA-D141-9EB0-4524E858185E}"/>
                  </a:ext>
                </a:extLst>
              </p:cNvPr>
              <p:cNvSpPr/>
              <p:nvPr/>
            </p:nvSpPr>
            <p:spPr>
              <a:xfrm>
                <a:off x="2771800" y="647700"/>
                <a:ext cx="188808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)=|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39933CB-3EFA-D141-9EB0-4524E85818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647700"/>
                <a:ext cx="1888081" cy="523220"/>
              </a:xfrm>
              <a:prstGeom prst="rect">
                <a:avLst/>
              </a:prstGeom>
              <a:blipFill>
                <a:blip r:embed="rId18"/>
                <a:stretch>
                  <a:fillRect l="-667" r="-667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E2A5EA9A-F3CC-584D-9A27-72C9D6B9872F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260350"/>
            <a:ext cx="8229600" cy="6264275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(3) </a:t>
            </a:r>
            <a:r>
              <a:rPr lang="zh-CN" altLang="en-US" b="1" dirty="0">
                <a:latin typeface="Times New Roman" panose="02020603050405020304" pitchFamily="18" charset="0"/>
              </a:rPr>
              <a:t>双射</a:t>
            </a:r>
            <a:r>
              <a:rPr lang="en-US" altLang="zh-CN" sz="2400" b="1" dirty="0">
                <a:latin typeface="Times New Roman" panose="02020603050405020304" pitchFamily="18" charset="0"/>
              </a:rPr>
              <a:t>(bijection, one-to-one correspondence)</a:t>
            </a: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双射又称为一一对应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  <a:r>
              <a:rPr lang="zh-CN" altLang="en-US" b="1" dirty="0">
                <a:latin typeface="Times New Roman" panose="02020603050405020304" pitchFamily="18" charset="0"/>
              </a:rPr>
              <a:t>既单又满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</a:rPr>
              <a:t>1-8 </a:t>
            </a:r>
            <a:r>
              <a:rPr lang="zh-CN" altLang="en-US" b="1" dirty="0">
                <a:latin typeface="Times New Roman" panose="02020603050405020304" pitchFamily="18" charset="0"/>
              </a:rPr>
              <a:t>可否建立一个 </a:t>
            </a:r>
            <a:r>
              <a:rPr lang="en-US" altLang="zh-CN" b="1" dirty="0">
                <a:latin typeface="Times New Roman" panose="02020603050405020304" pitchFamily="18" charset="0"/>
              </a:rPr>
              <a:t>Z </a:t>
            </a:r>
            <a:r>
              <a:rPr lang="zh-CN" altLang="en-US" b="1" dirty="0">
                <a:latin typeface="Times New Roman" panose="02020603050405020304" pitchFamily="18" charset="0"/>
              </a:rPr>
              <a:t>到 </a:t>
            </a:r>
            <a:r>
              <a:rPr lang="en-US" altLang="zh-CN" b="1" dirty="0">
                <a:latin typeface="Times New Roman" panose="02020603050405020304" pitchFamily="18" charset="0"/>
              </a:rPr>
              <a:t>N </a:t>
            </a:r>
            <a:r>
              <a:rPr lang="zh-CN" altLang="en-US" b="1" dirty="0">
                <a:latin typeface="Times New Roman" panose="02020603050405020304" pitchFamily="18" charset="0"/>
              </a:rPr>
              <a:t>的双射函数？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/>
            <a:endParaRPr lang="en-US" altLang="zh-CN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18790" name="Line 6">
            <a:extLst>
              <a:ext uri="{FF2B5EF4-FFF2-40B4-BE49-F238E27FC236}">
                <a16:creationId xmlns:a16="http://schemas.microsoft.com/office/drawing/2014/main" id="{848CB427-3BCD-234B-9D0F-5693502ADD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34701" y="4337050"/>
            <a:ext cx="1955031" cy="126302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91" name="Line 7">
            <a:extLst>
              <a:ext uri="{FF2B5EF4-FFF2-40B4-BE49-F238E27FC236}">
                <a16:creationId xmlns:a16="http://schemas.microsoft.com/office/drawing/2014/main" id="{3B1B1C8E-62EC-BA4A-AFAB-39A3F00094B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67944" y="4337050"/>
            <a:ext cx="1582737" cy="12239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92" name="Line 8">
            <a:extLst>
              <a:ext uri="{FF2B5EF4-FFF2-40B4-BE49-F238E27FC236}">
                <a16:creationId xmlns:a16="http://schemas.microsoft.com/office/drawing/2014/main" id="{DDE55AD8-8113-DC4B-B31E-B8F2BFFE08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99761" y="4408488"/>
            <a:ext cx="1078614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93" name="Line 9">
            <a:extLst>
              <a:ext uri="{FF2B5EF4-FFF2-40B4-BE49-F238E27FC236}">
                <a16:creationId xmlns:a16="http://schemas.microsoft.com/office/drawing/2014/main" id="{BAF1B76F-A25E-C041-9D6B-A7DE5FD892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50681" y="4337051"/>
            <a:ext cx="575444" cy="127823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94" name="Line 10">
            <a:extLst>
              <a:ext uri="{FF2B5EF4-FFF2-40B4-BE49-F238E27FC236}">
                <a16:creationId xmlns:a16="http://schemas.microsoft.com/office/drawing/2014/main" id="{6C1332F0-5F7E-9947-877B-7D0376A4968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79838" y="4337050"/>
            <a:ext cx="1006334" cy="125219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95" name="Line 11">
            <a:extLst>
              <a:ext uri="{FF2B5EF4-FFF2-40B4-BE49-F238E27FC236}">
                <a16:creationId xmlns:a16="http://schemas.microsoft.com/office/drawing/2014/main" id="{D96F1B0C-EF64-854E-BA55-8D88A27C19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11341" y="4337050"/>
            <a:ext cx="216643" cy="127823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96" name="Line 12">
            <a:extLst>
              <a:ext uri="{FF2B5EF4-FFF2-40B4-BE49-F238E27FC236}">
                <a16:creationId xmlns:a16="http://schemas.microsoft.com/office/drawing/2014/main" id="{2A730FA3-0603-4847-AD69-46C977FCFE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2500" y="4311007"/>
            <a:ext cx="1715015" cy="126302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97" name="灯片编号占位符 1">
            <a:extLst>
              <a:ext uri="{FF2B5EF4-FFF2-40B4-BE49-F238E27FC236}">
                <a16:creationId xmlns:a16="http://schemas.microsoft.com/office/drawing/2014/main" id="{31FA0A28-2DD5-094E-A184-0A1E1CC98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9E283B-86D6-9646-A9AE-426AB743753B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8B3BF02-9D0F-514C-8697-806E39585575}"/>
                  </a:ext>
                </a:extLst>
              </p:cNvPr>
              <p:cNvSpPr/>
              <p:nvPr/>
            </p:nvSpPr>
            <p:spPr>
              <a:xfrm>
                <a:off x="3060700" y="2852738"/>
                <a:ext cx="16407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8B3BF02-9D0F-514C-8697-806E395855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700" y="2852738"/>
                <a:ext cx="1640706" cy="523220"/>
              </a:xfrm>
              <a:prstGeom prst="rect">
                <a:avLst/>
              </a:prstGeom>
              <a:blipFill>
                <a:blip r:embed="rId2"/>
                <a:stretch>
                  <a:fillRect l="-769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A762C77A-CF36-9644-B523-E0A025BF54E7}"/>
                  </a:ext>
                </a:extLst>
              </p:cNvPr>
              <p:cNvSpPr/>
              <p:nvPr/>
            </p:nvSpPr>
            <p:spPr>
              <a:xfrm>
                <a:off x="1547676" y="3855912"/>
                <a:ext cx="604864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3200" smtClean="0"/>
                        <m:t>Z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:...,−3,−2,−1,</m:t>
                      </m:r>
                      <m:r>
                        <a:rPr lang="zh-CN" altLang="en-US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1,2,</m:t>
                      </m:r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3,...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A762C77A-CF36-9644-B523-E0A025BF54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76" y="3855912"/>
                <a:ext cx="6048647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1E38DB2-EF62-F349-8BFC-43E61C77E885}"/>
                  </a:ext>
                </a:extLst>
              </p:cNvPr>
              <p:cNvSpPr/>
              <p:nvPr/>
            </p:nvSpPr>
            <p:spPr>
              <a:xfrm>
                <a:off x="2557278" y="5489575"/>
                <a:ext cx="3813543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3200" smtClean="0"/>
                        <m:t>N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:0,</m:t>
                      </m:r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1,</m:t>
                      </m:r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2,</m:t>
                      </m:r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3,</m:t>
                      </m:r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4,</m:t>
                      </m:r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5,</m:t>
                      </m:r>
                      <m:r>
                        <a:rPr lang="en-US" altLang="zh-CN" sz="3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6,...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1E38DB2-EF62-F349-8BFC-43E61C77E8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7278" y="5489575"/>
                <a:ext cx="381354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290D5D7-405C-5712-3CF9-C46B0864E5F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692696"/>
            <a:ext cx="8229600" cy="5865813"/>
          </a:xfrm>
        </p:spPr>
        <p:txBody>
          <a:bodyPr/>
          <a:lstStyle/>
          <a:p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</a:rPr>
              <a:t>1-8 </a:t>
            </a:r>
            <a:r>
              <a:rPr lang="zh-CN" altLang="en-US" b="1" dirty="0">
                <a:latin typeface="Times New Roman" panose="02020603050405020304" pitchFamily="18" charset="0"/>
              </a:rPr>
              <a:t>可否建立一个 </a:t>
            </a:r>
            <a:r>
              <a:rPr lang="en-US" altLang="zh-CN" b="1" dirty="0">
                <a:latin typeface="Times New Roman" panose="02020603050405020304" pitchFamily="18" charset="0"/>
              </a:rPr>
              <a:t>Z </a:t>
            </a:r>
            <a:r>
              <a:rPr lang="zh-CN" altLang="en-US" b="1" dirty="0">
                <a:latin typeface="Times New Roman" panose="02020603050405020304" pitchFamily="18" charset="0"/>
              </a:rPr>
              <a:t>到 </a:t>
            </a:r>
            <a:r>
              <a:rPr lang="en-US" altLang="zh-CN" b="1" dirty="0">
                <a:latin typeface="Times New Roman" panose="02020603050405020304" pitchFamily="18" charset="0"/>
              </a:rPr>
              <a:t>N </a:t>
            </a:r>
            <a:r>
              <a:rPr lang="zh-CN" altLang="en-US" b="1" dirty="0">
                <a:latin typeface="Times New Roman" panose="02020603050405020304" pitchFamily="18" charset="0"/>
              </a:rPr>
              <a:t>的双射函数？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CF185C7-4B4D-9CA2-B0C0-856827B37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3E79F-9C44-854B-B99C-75F525D22582}" type="slidenum">
              <a:rPr lang="en-US" altLang="zh-CN" smtClean="0"/>
              <a:pPr/>
              <a:t>62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61F8C6C1-8024-41EF-A8AB-7765E6B7ED8B}"/>
                  </a:ext>
                </a:extLst>
              </p:cNvPr>
              <p:cNvSpPr/>
              <p:nvPr/>
            </p:nvSpPr>
            <p:spPr>
              <a:xfrm>
                <a:off x="1033264" y="1484784"/>
                <a:ext cx="1800200" cy="5386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9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900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z="290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zh-CN" altLang="en-US" sz="2900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9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zh-CN" altLang="en-US" sz="29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61F8C6C1-8024-41EF-A8AB-7765E6B7ED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264" y="1484784"/>
                <a:ext cx="1800200" cy="5386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F336BAA5-B46B-512F-712A-8B78CFF0A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856" y="1562793"/>
            <a:ext cx="4824536" cy="201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0995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A74F7BA9-437D-384D-9A33-503E735396D4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692150"/>
            <a:ext cx="8229600" cy="347663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1-9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/>
            <a:endParaRPr lang="en-US" altLang="zh-CN"/>
          </a:p>
        </p:txBody>
      </p:sp>
      <p:sp>
        <p:nvSpPr>
          <p:cNvPr id="68612" name="Line 4">
            <a:extLst>
              <a:ext uri="{FF2B5EF4-FFF2-40B4-BE49-F238E27FC236}">
                <a16:creationId xmlns:a16="http://schemas.microsoft.com/office/drawing/2014/main" id="{15407540-3A00-E045-AEDF-771EF1F38C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4364038"/>
            <a:ext cx="23034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13" name="Line 5">
            <a:extLst>
              <a:ext uri="{FF2B5EF4-FFF2-40B4-BE49-F238E27FC236}">
                <a16:creationId xmlns:a16="http://schemas.microsoft.com/office/drawing/2014/main" id="{296468C2-C761-F248-AE1D-E4EC4E64F5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25813" y="3068638"/>
            <a:ext cx="0" cy="2736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14" name="Line 6">
            <a:extLst>
              <a:ext uri="{FF2B5EF4-FFF2-40B4-BE49-F238E27FC236}">
                <a16:creationId xmlns:a16="http://schemas.microsoft.com/office/drawing/2014/main" id="{FF2C6D5A-9658-6645-94EA-3B3B98CB29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6575" y="3211513"/>
            <a:ext cx="9525" cy="25923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8615" name="Object 7">
            <a:extLst>
              <a:ext uri="{FF2B5EF4-FFF2-40B4-BE49-F238E27FC236}">
                <a16:creationId xmlns:a16="http://schemas.microsoft.com/office/drawing/2014/main" id="{A30767FD-1A42-6549-8EA1-5DD3C74046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4365625"/>
          <a:ext cx="287337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100" imgH="38100" progId="Equation.3">
                  <p:embed/>
                </p:oleObj>
              </mc:Choice>
              <mc:Fallback>
                <p:oleObj name="Equation" r:id="rId2" imgW="38100" imgH="38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365625"/>
                        <a:ext cx="287337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6" name="Object 8">
            <a:extLst>
              <a:ext uri="{FF2B5EF4-FFF2-40B4-BE49-F238E27FC236}">
                <a16:creationId xmlns:a16="http://schemas.microsoft.com/office/drawing/2014/main" id="{B1BC866C-5FD6-0A49-A658-C522292D55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689983"/>
              </p:ext>
            </p:extLst>
          </p:nvPr>
        </p:nvGraphicFramePr>
        <p:xfrm>
          <a:off x="3073400" y="1739900"/>
          <a:ext cx="3586832" cy="105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66700" imgH="76200" progId="Equation.3">
                  <p:embed/>
                </p:oleObj>
              </mc:Choice>
              <mc:Fallback>
                <p:oleObj name="公式" r:id="rId4" imgW="266700" imgH="76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1739900"/>
                        <a:ext cx="3586832" cy="105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7" name="Freeform 9">
            <a:extLst>
              <a:ext uri="{FF2B5EF4-FFF2-40B4-BE49-F238E27FC236}">
                <a16:creationId xmlns:a16="http://schemas.microsoft.com/office/drawing/2014/main" id="{A2A651A3-44F2-574B-B3F1-387D731A41FE}"/>
              </a:ext>
            </a:extLst>
          </p:cNvPr>
          <p:cNvSpPr>
            <a:spLocks/>
          </p:cNvSpPr>
          <p:nvPr/>
        </p:nvSpPr>
        <p:spPr bwMode="auto">
          <a:xfrm>
            <a:off x="3348038" y="4364038"/>
            <a:ext cx="503237" cy="1295400"/>
          </a:xfrm>
          <a:custGeom>
            <a:avLst/>
            <a:gdLst>
              <a:gd name="T0" fmla="*/ 0 w 317"/>
              <a:gd name="T1" fmla="*/ 2147483646 h 816"/>
              <a:gd name="T2" fmla="*/ 2147483646 w 317"/>
              <a:gd name="T3" fmla="*/ 2147483646 h 816"/>
              <a:gd name="T4" fmla="*/ 2147483646 w 317"/>
              <a:gd name="T5" fmla="*/ 0 h 816"/>
              <a:gd name="T6" fmla="*/ 0 60000 65536"/>
              <a:gd name="T7" fmla="*/ 0 60000 65536"/>
              <a:gd name="T8" fmla="*/ 0 60000 65536"/>
              <a:gd name="T9" fmla="*/ 0 w 317"/>
              <a:gd name="T10" fmla="*/ 0 h 816"/>
              <a:gd name="T11" fmla="*/ 317 w 317"/>
              <a:gd name="T12" fmla="*/ 816 h 8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7" h="816">
                <a:moveTo>
                  <a:pt x="0" y="816"/>
                </a:moveTo>
                <a:cubicBezTo>
                  <a:pt x="19" y="612"/>
                  <a:pt x="38" y="408"/>
                  <a:pt x="91" y="272"/>
                </a:cubicBezTo>
                <a:cubicBezTo>
                  <a:pt x="144" y="136"/>
                  <a:pt x="230" y="68"/>
                  <a:pt x="317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18" name="Freeform 10">
            <a:extLst>
              <a:ext uri="{FF2B5EF4-FFF2-40B4-BE49-F238E27FC236}">
                <a16:creationId xmlns:a16="http://schemas.microsoft.com/office/drawing/2014/main" id="{E6521D77-6EC9-1D40-80B2-E07264697F32}"/>
              </a:ext>
            </a:extLst>
          </p:cNvPr>
          <p:cNvSpPr>
            <a:spLocks/>
          </p:cNvSpPr>
          <p:nvPr/>
        </p:nvSpPr>
        <p:spPr bwMode="auto">
          <a:xfrm>
            <a:off x="3851275" y="3355975"/>
            <a:ext cx="433388" cy="1008063"/>
          </a:xfrm>
          <a:custGeom>
            <a:avLst/>
            <a:gdLst>
              <a:gd name="T0" fmla="*/ 2147483646 w 273"/>
              <a:gd name="T1" fmla="*/ 0 h 635"/>
              <a:gd name="T2" fmla="*/ 2147483646 w 273"/>
              <a:gd name="T3" fmla="*/ 2147483646 h 635"/>
              <a:gd name="T4" fmla="*/ 0 w 273"/>
              <a:gd name="T5" fmla="*/ 2147483646 h 635"/>
              <a:gd name="T6" fmla="*/ 0 60000 65536"/>
              <a:gd name="T7" fmla="*/ 0 60000 65536"/>
              <a:gd name="T8" fmla="*/ 0 60000 65536"/>
              <a:gd name="T9" fmla="*/ 0 w 273"/>
              <a:gd name="T10" fmla="*/ 0 h 635"/>
              <a:gd name="T11" fmla="*/ 273 w 273"/>
              <a:gd name="T12" fmla="*/ 635 h 6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635">
                <a:moveTo>
                  <a:pt x="273" y="0"/>
                </a:moveTo>
                <a:cubicBezTo>
                  <a:pt x="228" y="173"/>
                  <a:pt x="183" y="347"/>
                  <a:pt x="137" y="453"/>
                </a:cubicBezTo>
                <a:cubicBezTo>
                  <a:pt x="91" y="559"/>
                  <a:pt x="45" y="597"/>
                  <a:pt x="0" y="63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68619" name="Object 11">
            <a:extLst>
              <a:ext uri="{FF2B5EF4-FFF2-40B4-BE49-F238E27FC236}">
                <a16:creationId xmlns:a16="http://schemas.microsoft.com/office/drawing/2014/main" id="{770C3CF4-AC14-F340-BDB2-A690D2632A1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33888" y="4378325"/>
          <a:ext cx="173037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8100" imgH="38100" progId="Equation.3">
                  <p:embed/>
                </p:oleObj>
              </mc:Choice>
              <mc:Fallback>
                <p:oleObj name="公式" r:id="rId6" imgW="38100" imgH="38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3888" y="4378325"/>
                        <a:ext cx="173037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20" name="灯片编号占位符 1">
            <a:extLst>
              <a:ext uri="{FF2B5EF4-FFF2-40B4-BE49-F238E27FC236}">
                <a16:creationId xmlns:a16="http://schemas.microsoft.com/office/drawing/2014/main" id="{47F0E982-7AC8-0A4B-A93B-B1716AB3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5484F4-B8EE-9A4C-8A6B-05361D9B8226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751B6F4-72E2-0440-BB03-CC0872FF35D4}"/>
                  </a:ext>
                </a:extLst>
              </p:cNvPr>
              <p:cNvSpPr/>
              <p:nvPr/>
            </p:nvSpPr>
            <p:spPr>
              <a:xfrm>
                <a:off x="2987675" y="712788"/>
                <a:ext cx="215623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:(0,1)→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751B6F4-72E2-0440-BB03-CC0872FF35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675" y="712788"/>
                <a:ext cx="2156231" cy="523220"/>
              </a:xfrm>
              <a:prstGeom prst="rect">
                <a:avLst/>
              </a:prstGeom>
              <a:blipFill>
                <a:blip r:embed="rId9"/>
                <a:stretch>
                  <a:fillRect l="-585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C4B95BA4-F0D9-644B-B588-6735359DA3A0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Def 1-11 </a:t>
            </a:r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有限集合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到自身的双射称为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</a:rPr>
              <a:t>上的</a:t>
            </a:r>
            <a:r>
              <a:rPr lang="zh-CN" altLang="en-US" b="1" dirty="0">
                <a:solidFill>
                  <a:srgbClr val="A4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置换</a:t>
            </a:r>
            <a:r>
              <a:rPr lang="en-US" altLang="zh-CN" b="1" dirty="0">
                <a:latin typeface="Times New Roman" panose="02020603050405020304" pitchFamily="18" charset="0"/>
              </a:rPr>
              <a:t>(permutation).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1-10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i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第一种方式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</a:p>
        </p:txBody>
      </p:sp>
      <p:sp>
        <p:nvSpPr>
          <p:cNvPr id="69635" name="Oval 3">
            <a:extLst>
              <a:ext uri="{FF2B5EF4-FFF2-40B4-BE49-F238E27FC236}">
                <a16:creationId xmlns:a16="http://schemas.microsoft.com/office/drawing/2014/main" id="{3D07788B-0227-0441-B2F2-3EE93658B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1700213"/>
            <a:ext cx="1150937" cy="18732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69636" name="Oval 4">
            <a:extLst>
              <a:ext uri="{FF2B5EF4-FFF2-40B4-BE49-F238E27FC236}">
                <a16:creationId xmlns:a16="http://schemas.microsoft.com/office/drawing/2014/main" id="{D82510A5-4E49-4F49-8470-CE347EC4D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1773238"/>
            <a:ext cx="1150937" cy="18732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69637" name="Line 5">
            <a:extLst>
              <a:ext uri="{FF2B5EF4-FFF2-40B4-BE49-F238E27FC236}">
                <a16:creationId xmlns:a16="http://schemas.microsoft.com/office/drawing/2014/main" id="{A31A599E-3B42-3041-A71D-9EF95AE6CD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0563" y="2636838"/>
            <a:ext cx="86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638" name="Object 6">
                <a:extLst>
                  <a:ext uri="{FF2B5EF4-FFF2-40B4-BE49-F238E27FC236}">
                    <a16:creationId xmlns:a16="http://schemas.microsoft.com/office/drawing/2014/main" id="{35DA02C5-D26F-144D-97D3-9684EDCC8FFD}"/>
                  </a:ext>
                </a:extLst>
              </p:cNvPr>
              <p:cNvSpPr txBox="1"/>
              <p:nvPr/>
            </p:nvSpPr>
            <p:spPr bwMode="auto">
              <a:xfrm>
                <a:off x="4716463" y="2060575"/>
                <a:ext cx="374650" cy="496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69638" name="Object 6">
                <a:extLst>
                  <a:ext uri="{FF2B5EF4-FFF2-40B4-BE49-F238E27FC236}">
                    <a16:creationId xmlns:a16="http://schemas.microsoft.com/office/drawing/2014/main" id="{35DA02C5-D26F-144D-97D3-9684EDCC8F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16463" y="2060575"/>
                <a:ext cx="374650" cy="496888"/>
              </a:xfrm>
              <a:prstGeom prst="rect">
                <a:avLst/>
              </a:prstGeom>
              <a:blipFill>
                <a:blip r:embed="rId3"/>
                <a:stretch>
                  <a:fillRect l="-14754" r="-6557" b="-1097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9639" name="Object 7">
            <a:extLst>
              <a:ext uri="{FF2B5EF4-FFF2-40B4-BE49-F238E27FC236}">
                <a16:creationId xmlns:a16="http://schemas.microsoft.com/office/drawing/2014/main" id="{258F60D2-31C0-4346-A2C2-E616FDAF43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6013" y="4292600"/>
          <a:ext cx="2435225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41300" imgH="88900" progId="Equation.3">
                  <p:embed/>
                </p:oleObj>
              </mc:Choice>
              <mc:Fallback>
                <p:oleObj name="公式" r:id="rId4" imgW="241300" imgH="88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292600"/>
                        <a:ext cx="2435225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0" name="Object 8">
            <a:extLst>
              <a:ext uri="{FF2B5EF4-FFF2-40B4-BE49-F238E27FC236}">
                <a16:creationId xmlns:a16="http://schemas.microsoft.com/office/drawing/2014/main" id="{5CC4512D-D623-1E4C-987F-AE12508914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4221163"/>
          <a:ext cx="255905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54000" imgH="88900" progId="Equation.3">
                  <p:embed/>
                </p:oleObj>
              </mc:Choice>
              <mc:Fallback>
                <p:oleObj name="公式" r:id="rId6" imgW="254000" imgH="889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4221163"/>
                        <a:ext cx="255905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1" name="Object 9">
            <a:extLst>
              <a:ext uri="{FF2B5EF4-FFF2-40B4-BE49-F238E27FC236}">
                <a16:creationId xmlns:a16="http://schemas.microsoft.com/office/drawing/2014/main" id="{196B6E17-D7C6-874C-A664-FF8E1E12C2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72225" y="4292600"/>
          <a:ext cx="25273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4000" imgH="88900" progId="Equation.3">
                  <p:embed/>
                </p:oleObj>
              </mc:Choice>
              <mc:Fallback>
                <p:oleObj name="公式" r:id="rId8" imgW="254000" imgH="88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292600"/>
                        <a:ext cx="25273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2" name="Object 10">
            <a:extLst>
              <a:ext uri="{FF2B5EF4-FFF2-40B4-BE49-F238E27FC236}">
                <a16:creationId xmlns:a16="http://schemas.microsoft.com/office/drawing/2014/main" id="{309E7D1A-9F40-0047-9B6D-B0C0AAF8E5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8863" y="5373688"/>
          <a:ext cx="25273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54000" imgH="88900" progId="Equation.3">
                  <p:embed/>
                </p:oleObj>
              </mc:Choice>
              <mc:Fallback>
                <p:oleObj name="公式" r:id="rId10" imgW="254000" imgH="889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8863" y="5373688"/>
                        <a:ext cx="25273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3" name="Object 11">
            <a:extLst>
              <a:ext uri="{FF2B5EF4-FFF2-40B4-BE49-F238E27FC236}">
                <a16:creationId xmlns:a16="http://schemas.microsoft.com/office/drawing/2014/main" id="{9F2D8525-FCD3-EA4D-82D1-11F9F6149F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5373688"/>
          <a:ext cx="255905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54000" imgH="88900" progId="Equation.3">
                  <p:embed/>
                </p:oleObj>
              </mc:Choice>
              <mc:Fallback>
                <p:oleObj name="公式" r:id="rId12" imgW="254000" imgH="889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5373688"/>
                        <a:ext cx="255905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44" name="Object 12">
            <a:extLst>
              <a:ext uri="{FF2B5EF4-FFF2-40B4-BE49-F238E27FC236}">
                <a16:creationId xmlns:a16="http://schemas.microsoft.com/office/drawing/2014/main" id="{3C6FCC1C-D8EB-D847-802C-960DB9FD1F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5373688"/>
          <a:ext cx="2527300" cy="111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54000" imgH="88900" progId="Equation.3">
                  <p:embed/>
                </p:oleObj>
              </mc:Choice>
              <mc:Fallback>
                <p:oleObj name="公式" r:id="rId14" imgW="254000" imgH="889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5373688"/>
                        <a:ext cx="2527300" cy="1117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45" name="Oval 13">
            <a:extLst>
              <a:ext uri="{FF2B5EF4-FFF2-40B4-BE49-F238E27FC236}">
                <a16:creationId xmlns:a16="http://schemas.microsoft.com/office/drawing/2014/main" id="{CF1367B0-6631-714E-BFCE-4397E806F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205038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9646" name="Oval 14">
            <a:extLst>
              <a:ext uri="{FF2B5EF4-FFF2-40B4-BE49-F238E27FC236}">
                <a16:creationId xmlns:a16="http://schemas.microsoft.com/office/drawing/2014/main" id="{ED31988B-74EC-0D40-8F95-A26A5D9BF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5654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9647" name="Oval 15">
            <a:extLst>
              <a:ext uri="{FF2B5EF4-FFF2-40B4-BE49-F238E27FC236}">
                <a16:creationId xmlns:a16="http://schemas.microsoft.com/office/drawing/2014/main" id="{99FE6C74-0613-4740-8517-F8CC90A88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2924175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9648" name="Oval 16">
            <a:extLst>
              <a:ext uri="{FF2B5EF4-FFF2-40B4-BE49-F238E27FC236}">
                <a16:creationId xmlns:a16="http://schemas.microsoft.com/office/drawing/2014/main" id="{7DBFCD50-9BD3-754E-A52B-F27AF65B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276475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9649" name="Oval 17">
            <a:extLst>
              <a:ext uri="{FF2B5EF4-FFF2-40B4-BE49-F238E27FC236}">
                <a16:creationId xmlns:a16="http://schemas.microsoft.com/office/drawing/2014/main" id="{3F651FBC-1B22-0048-B0BE-3D4004795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636838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69650" name="Oval 18">
            <a:extLst>
              <a:ext uri="{FF2B5EF4-FFF2-40B4-BE49-F238E27FC236}">
                <a16:creationId xmlns:a16="http://schemas.microsoft.com/office/drawing/2014/main" id="{F84D1E80-6685-5A46-8CD1-3BABE15C1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9972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graphicFrame>
        <p:nvGraphicFramePr>
          <p:cNvPr id="69651" name="Object 19">
            <a:extLst>
              <a:ext uri="{FF2B5EF4-FFF2-40B4-BE49-F238E27FC236}">
                <a16:creationId xmlns:a16="http://schemas.microsoft.com/office/drawing/2014/main" id="{A63A581C-5F29-BB44-A1C2-031E0B6FA3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1341438"/>
          <a:ext cx="3746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8100" imgH="38100" progId="Equation.3">
                  <p:embed/>
                </p:oleObj>
              </mc:Choice>
              <mc:Fallback>
                <p:oleObj name="公式" r:id="rId16" imgW="38100" imgH="381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1341438"/>
                        <a:ext cx="3746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52" name="Object 20">
            <a:extLst>
              <a:ext uri="{FF2B5EF4-FFF2-40B4-BE49-F238E27FC236}">
                <a16:creationId xmlns:a16="http://schemas.microsoft.com/office/drawing/2014/main" id="{A3EAD1D1-783A-0B43-9208-E1C0065D15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1412875"/>
          <a:ext cx="37465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8100" imgH="38100" progId="Equation.3">
                  <p:embed/>
                </p:oleObj>
              </mc:Choice>
              <mc:Fallback>
                <p:oleObj name="公式" r:id="rId18" imgW="38100" imgH="381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1412875"/>
                        <a:ext cx="37465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53" name="灯片编号占位符 1">
            <a:extLst>
              <a:ext uri="{FF2B5EF4-FFF2-40B4-BE49-F238E27FC236}">
                <a16:creationId xmlns:a16="http://schemas.microsoft.com/office/drawing/2014/main" id="{971B973C-2D7F-7B4C-A7DA-A283D0F76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79A2D2-BCDA-CC46-8B19-A9F6A8D9F51F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903568D7-02DC-5F47-A395-48E6B8258C12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684213" y="765175"/>
            <a:ext cx="8229600" cy="5865813"/>
          </a:xfrm>
        </p:spPr>
        <p:txBody>
          <a:bodyPr/>
          <a:lstStyle/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b="1" i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 = {1, 2, 3, 4}</a:t>
            </a:r>
            <a:r>
              <a:rPr lang="zh-CN" altLang="en-US" b="1" dirty="0">
                <a:latin typeface="Times New Roman" panose="02020603050405020304" pitchFamily="18" charset="0"/>
              </a:rPr>
              <a:t>上的所有置换有多少个</a:t>
            </a:r>
            <a:r>
              <a:rPr lang="en-US" altLang="zh-CN" b="1" dirty="0">
                <a:latin typeface="Times New Roman" panose="02020603050405020304" pitchFamily="18" charset="0"/>
              </a:rPr>
              <a:t>?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4!</a:t>
            </a:r>
          </a:p>
          <a:p>
            <a:pPr eaLnBrk="1" hangingPunct="1"/>
            <a:endParaRPr lang="en-US" altLang="zh-CN" b="1" dirty="0"/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重要应用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  <a:r>
              <a:rPr lang="en-US" altLang="zh-CN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置换</a:t>
            </a:r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加密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70661" name="灯片编号占位符 1">
            <a:extLst>
              <a:ext uri="{FF2B5EF4-FFF2-40B4-BE49-F238E27FC236}">
                <a16:creationId xmlns:a16="http://schemas.microsoft.com/office/drawing/2014/main" id="{426BDA43-7CDC-874F-8846-CEF751E64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93E50D-FA1B-8948-904C-DDCC6C6CD781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366C257D-3C4C-B546-9446-EB7AA7ED6E67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663575" y="692150"/>
            <a:ext cx="7437438" cy="1727200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3 </a:t>
            </a:r>
            <a:r>
              <a:rPr lang="zh-CN" altLang="en-US" b="1" dirty="0">
                <a:latin typeface="Times New Roman" panose="02020603050405020304" pitchFamily="18" charset="0"/>
              </a:rPr>
              <a:t>逆映射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latin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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将对应关系 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f 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的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sym typeface="Symbol" pitchFamily="2" charset="2"/>
              </a:rPr>
              <a:t>方向逆转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一般来说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不能得到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到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的映射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: 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71683" name="Oval 3">
            <a:extLst>
              <a:ext uri="{FF2B5EF4-FFF2-40B4-BE49-F238E27FC236}">
                <a16:creationId xmlns:a16="http://schemas.microsoft.com/office/drawing/2014/main" id="{A3B6E9C6-E7E8-284C-813A-AE86D5517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3284538"/>
            <a:ext cx="1152525" cy="1943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a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b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c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2800" i="1">
              <a:latin typeface="Times New Roman" panose="02020603050405020304" pitchFamily="18" charset="0"/>
            </a:endParaRPr>
          </a:p>
        </p:txBody>
      </p:sp>
      <p:sp>
        <p:nvSpPr>
          <p:cNvPr id="71684" name="Oval 4">
            <a:extLst>
              <a:ext uri="{FF2B5EF4-FFF2-40B4-BE49-F238E27FC236}">
                <a16:creationId xmlns:a16="http://schemas.microsoft.com/office/drawing/2014/main" id="{436760D1-4F1D-2349-85CC-FA62840AC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3284538"/>
            <a:ext cx="1152525" cy="1943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71685" name="Line 5">
            <a:extLst>
              <a:ext uri="{FF2B5EF4-FFF2-40B4-BE49-F238E27FC236}">
                <a16:creationId xmlns:a16="http://schemas.microsoft.com/office/drawing/2014/main" id="{0ADF67BB-544C-9F4D-91D4-91BED76D50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3643313"/>
            <a:ext cx="18716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6" name="Line 6">
            <a:extLst>
              <a:ext uri="{FF2B5EF4-FFF2-40B4-BE49-F238E27FC236}">
                <a16:creationId xmlns:a16="http://schemas.microsoft.com/office/drawing/2014/main" id="{A1076521-B4C7-1141-AB2A-BB2E866CB5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3213" y="3716338"/>
            <a:ext cx="1944687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7" name="Line 7">
            <a:extLst>
              <a:ext uri="{FF2B5EF4-FFF2-40B4-BE49-F238E27FC236}">
                <a16:creationId xmlns:a16="http://schemas.microsoft.com/office/drawing/2014/main" id="{5E7615C5-2793-9A4E-AA73-1425D9F78F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71775" y="4075113"/>
            <a:ext cx="1944688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688" name="Oval 8">
            <a:extLst>
              <a:ext uri="{FF2B5EF4-FFF2-40B4-BE49-F238E27FC236}">
                <a16:creationId xmlns:a16="http://schemas.microsoft.com/office/drawing/2014/main" id="{6CB9EF8B-FB9F-D945-AB4B-EF66C721D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3571875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1689" name="Oval 9">
            <a:extLst>
              <a:ext uri="{FF2B5EF4-FFF2-40B4-BE49-F238E27FC236}">
                <a16:creationId xmlns:a16="http://schemas.microsoft.com/office/drawing/2014/main" id="{DF06FBA3-AD82-8149-AAF5-7A2EA2DA2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003675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1690" name="Oval 10">
            <a:extLst>
              <a:ext uri="{FF2B5EF4-FFF2-40B4-BE49-F238E27FC236}">
                <a16:creationId xmlns:a16="http://schemas.microsoft.com/office/drawing/2014/main" id="{615F9BFA-9769-844B-A706-08FE3DBD31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5085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1691" name="Oval 11">
            <a:extLst>
              <a:ext uri="{FF2B5EF4-FFF2-40B4-BE49-F238E27FC236}">
                <a16:creationId xmlns:a16="http://schemas.microsoft.com/office/drawing/2014/main" id="{3601267A-815B-1E48-AF88-5564624E0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0913" y="3571875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1692" name="Oval 12">
            <a:extLst>
              <a:ext uri="{FF2B5EF4-FFF2-40B4-BE49-F238E27FC236}">
                <a16:creationId xmlns:a16="http://schemas.microsoft.com/office/drawing/2014/main" id="{11C84D65-5A60-A340-BDF2-6F4E5361E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3450" y="4003675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1693" name="Oval 13">
            <a:extLst>
              <a:ext uri="{FF2B5EF4-FFF2-40B4-BE49-F238E27FC236}">
                <a16:creationId xmlns:a16="http://schemas.microsoft.com/office/drawing/2014/main" id="{EEC4FA3B-F9F4-B443-94DC-419FA5E28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4435475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694" name="Object 14">
                <a:extLst>
                  <a:ext uri="{FF2B5EF4-FFF2-40B4-BE49-F238E27FC236}">
                    <a16:creationId xmlns:a16="http://schemas.microsoft.com/office/drawing/2014/main" id="{51DE7744-7843-BE40-8B0A-A90A4B00454A}"/>
                  </a:ext>
                </a:extLst>
              </p:cNvPr>
              <p:cNvSpPr txBox="1"/>
              <p:nvPr/>
            </p:nvSpPr>
            <p:spPr bwMode="auto">
              <a:xfrm>
                <a:off x="3635375" y="3211513"/>
                <a:ext cx="327025" cy="4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1694" name="Object 14">
                <a:extLst>
                  <a:ext uri="{FF2B5EF4-FFF2-40B4-BE49-F238E27FC236}">
                    <a16:creationId xmlns:a16="http://schemas.microsoft.com/office/drawing/2014/main" id="{51DE7744-7843-BE40-8B0A-A90A4B004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5375" y="3211513"/>
                <a:ext cx="327025" cy="431800"/>
              </a:xfrm>
              <a:prstGeom prst="rect">
                <a:avLst/>
              </a:prstGeom>
              <a:blipFill>
                <a:blip r:embed="rId2"/>
                <a:stretch>
                  <a:fillRect l="-55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697" name="灯片编号占位符 1">
            <a:extLst>
              <a:ext uri="{FF2B5EF4-FFF2-40B4-BE49-F238E27FC236}">
                <a16:creationId xmlns:a16="http://schemas.microsoft.com/office/drawing/2014/main" id="{F1929292-2270-8A41-9A38-2FD59D90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90F83A-AA94-724A-8E2E-F70B4CE63C28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565292B-D1F5-8A4A-9C05-10994A0F2116}"/>
                  </a:ext>
                </a:extLst>
              </p:cNvPr>
              <p:cNvSpPr/>
              <p:nvPr/>
            </p:nvSpPr>
            <p:spPr>
              <a:xfrm>
                <a:off x="2268538" y="4724400"/>
                <a:ext cx="5152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565292B-D1F5-8A4A-9C05-10994A0F21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538" y="4724400"/>
                <a:ext cx="51520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DBEA439-C18C-5248-B5E9-E84AC7F173FA}"/>
                  </a:ext>
                </a:extLst>
              </p:cNvPr>
              <p:cNvSpPr/>
              <p:nvPr/>
            </p:nvSpPr>
            <p:spPr>
              <a:xfrm>
                <a:off x="4572000" y="4724400"/>
                <a:ext cx="52931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DBEA439-C18C-5248-B5E9-E84AC7F173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724400"/>
                <a:ext cx="52931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693D07CD-F4C8-1745-A5B1-2AEC37443F47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179388" y="476250"/>
            <a:ext cx="8229600" cy="5851525"/>
          </a:xfrm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>
              <a:lnSpc>
                <a:spcPct val="12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Def 1-12 </a:t>
            </a:r>
            <a:r>
              <a:rPr lang="zh-CN" altLang="en-US" b="1">
                <a:latin typeface="Times New Roman" panose="02020603050405020304" pitchFamily="18" charset="0"/>
              </a:rPr>
              <a:t>设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: </a:t>
            </a:r>
            <a:r>
              <a:rPr lang="en-US" altLang="zh-CN" b="1" i="1">
                <a:latin typeface="Times New Roman" panose="02020603050405020304" pitchFamily="18" charset="0"/>
              </a:rPr>
              <a:t>A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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zh-CN" altLang="en-US" sz="3600" b="1">
                <a:solidFill>
                  <a:schemeClr val="folHlink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若</a:t>
            </a: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将对应关系 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f </a:t>
            </a: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方向逆转后能得出一个得到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到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的</a:t>
            </a:r>
            <a:r>
              <a:rPr lang="zh-CN" altLang="en-US" b="1">
                <a:solidFill>
                  <a:srgbClr val="C00000"/>
                </a:solidFill>
                <a:latin typeface="Times New Roman" panose="02020603050405020304" pitchFamily="18" charset="0"/>
                <a:sym typeface="Symbol" pitchFamily="2" charset="2"/>
              </a:rPr>
              <a:t>映射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则称该映射为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f </a:t>
            </a: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的逆映射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(invertible function)</a:t>
            </a: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或反函数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记为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f </a:t>
            </a:r>
            <a:r>
              <a:rPr lang="en-US" altLang="zh-CN" b="1" baseline="30000">
                <a:latin typeface="Times New Roman" panose="02020603050405020304" pitchFamily="18" charset="0"/>
                <a:sym typeface="Symbol" pitchFamily="2" charset="2"/>
              </a:rPr>
              <a:t>-1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.</a:t>
            </a:r>
          </a:p>
        </p:txBody>
      </p:sp>
      <p:sp>
        <p:nvSpPr>
          <p:cNvPr id="72707" name="Oval 3">
            <a:extLst>
              <a:ext uri="{FF2B5EF4-FFF2-40B4-BE49-F238E27FC236}">
                <a16:creationId xmlns:a16="http://schemas.microsoft.com/office/drawing/2014/main" id="{6B1B6725-8382-8648-A5D3-C0298D404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1411288"/>
            <a:ext cx="1152525" cy="1943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b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c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2800" i="1">
              <a:latin typeface="Times New Roman" panose="02020603050405020304" pitchFamily="18" charset="0"/>
            </a:endParaRPr>
          </a:p>
        </p:txBody>
      </p:sp>
      <p:sp>
        <p:nvSpPr>
          <p:cNvPr id="72708" name="Oval 4">
            <a:extLst>
              <a:ext uri="{FF2B5EF4-FFF2-40B4-BE49-F238E27FC236}">
                <a16:creationId xmlns:a16="http://schemas.microsoft.com/office/drawing/2014/main" id="{8FCB2D4B-64D5-1E43-9EDB-9C4FB439C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5463" y="1339850"/>
            <a:ext cx="1152525" cy="1943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72709" name="Line 5">
            <a:extLst>
              <a:ext uri="{FF2B5EF4-FFF2-40B4-BE49-F238E27FC236}">
                <a16:creationId xmlns:a16="http://schemas.microsoft.com/office/drawing/2014/main" id="{CFF57630-7813-E947-8974-7FFC83CA79F8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2575" y="1771650"/>
            <a:ext cx="18716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0" name="Line 6">
            <a:extLst>
              <a:ext uri="{FF2B5EF4-FFF2-40B4-BE49-F238E27FC236}">
                <a16:creationId xmlns:a16="http://schemas.microsoft.com/office/drawing/2014/main" id="{3FBC30CB-6B40-0147-BE30-D17A0ACD75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91138" y="1844675"/>
            <a:ext cx="1944687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1" name="Line 7">
            <a:extLst>
              <a:ext uri="{FF2B5EF4-FFF2-40B4-BE49-F238E27FC236}">
                <a16:creationId xmlns:a16="http://schemas.microsoft.com/office/drawing/2014/main" id="{C8973F33-8C5B-3141-B0EC-B25E109271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91138" y="2203450"/>
            <a:ext cx="1944687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12" name="Oval 8">
            <a:extLst>
              <a:ext uri="{FF2B5EF4-FFF2-40B4-BE49-F238E27FC236}">
                <a16:creationId xmlns:a16="http://schemas.microsoft.com/office/drawing/2014/main" id="{18DB9DF6-9E68-4141-9A02-AF7E04DF2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238" y="1700213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2713" name="Oval 9">
            <a:extLst>
              <a:ext uri="{FF2B5EF4-FFF2-40B4-BE49-F238E27FC236}">
                <a16:creationId xmlns:a16="http://schemas.microsoft.com/office/drawing/2014/main" id="{E7FE2077-5E56-AC4C-A189-8A2314F6D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132013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2714" name="Oval 10">
            <a:extLst>
              <a:ext uri="{FF2B5EF4-FFF2-40B4-BE49-F238E27FC236}">
                <a16:creationId xmlns:a16="http://schemas.microsoft.com/office/drawing/2014/main" id="{7C1F3A67-CD70-3D45-A0B5-FF398BB1F1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92375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2715" name="Oval 11">
            <a:extLst>
              <a:ext uri="{FF2B5EF4-FFF2-40B4-BE49-F238E27FC236}">
                <a16:creationId xmlns:a16="http://schemas.microsoft.com/office/drawing/2014/main" id="{EC3573A2-1F3B-F044-8DC9-F0C291023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8113" y="1700213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2716" name="Oval 12">
            <a:extLst>
              <a:ext uri="{FF2B5EF4-FFF2-40B4-BE49-F238E27FC236}">
                <a16:creationId xmlns:a16="http://schemas.microsoft.com/office/drawing/2014/main" id="{C20AA68D-8388-F348-B08E-2AD431A26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675" y="220345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2717" name="Oval 13">
            <a:extLst>
              <a:ext uri="{FF2B5EF4-FFF2-40B4-BE49-F238E27FC236}">
                <a16:creationId xmlns:a16="http://schemas.microsoft.com/office/drawing/2014/main" id="{A93A729F-D8BB-214F-BE37-79D1ABC77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675" y="2636838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2721" name="灯片编号占位符 1">
            <a:extLst>
              <a:ext uri="{FF2B5EF4-FFF2-40B4-BE49-F238E27FC236}">
                <a16:creationId xmlns:a16="http://schemas.microsoft.com/office/drawing/2014/main" id="{0693892E-F174-8C41-8AAA-79D874FF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B463C5-F7B7-CF4A-818C-790B188ECCE8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zh-CN" sz="1400"/>
          </a:p>
        </p:txBody>
      </p:sp>
      <p:sp>
        <p:nvSpPr>
          <p:cNvPr id="72722" name="Oval 3">
            <a:extLst>
              <a:ext uri="{FF2B5EF4-FFF2-40B4-BE49-F238E27FC236}">
                <a16:creationId xmlns:a16="http://schemas.microsoft.com/office/drawing/2014/main" id="{68FFF6AF-3B35-064B-B72B-EC09F7986A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412875"/>
            <a:ext cx="1152525" cy="1943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a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b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c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2800" i="1">
              <a:latin typeface="Times New Roman" panose="02020603050405020304" pitchFamily="18" charset="0"/>
            </a:endParaRPr>
          </a:p>
        </p:txBody>
      </p:sp>
      <p:sp>
        <p:nvSpPr>
          <p:cNvPr id="72723" name="Oval 4">
            <a:extLst>
              <a:ext uri="{FF2B5EF4-FFF2-40B4-BE49-F238E27FC236}">
                <a16:creationId xmlns:a16="http://schemas.microsoft.com/office/drawing/2014/main" id="{4B436053-92E4-C744-9A7D-B2361144C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1412875"/>
            <a:ext cx="1152525" cy="1943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72724" name="Line 5">
            <a:extLst>
              <a:ext uri="{FF2B5EF4-FFF2-40B4-BE49-F238E27FC236}">
                <a16:creationId xmlns:a16="http://schemas.microsoft.com/office/drawing/2014/main" id="{EE1C88F9-E239-7A43-A572-5C6601155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31913" y="1771650"/>
            <a:ext cx="18716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25" name="Line 6">
            <a:extLst>
              <a:ext uri="{FF2B5EF4-FFF2-40B4-BE49-F238E27FC236}">
                <a16:creationId xmlns:a16="http://schemas.microsoft.com/office/drawing/2014/main" id="{738658B6-EF65-AE4F-BC8A-8E49D1A84F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58888" y="1844675"/>
            <a:ext cx="1944687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26" name="Line 7">
            <a:extLst>
              <a:ext uri="{FF2B5EF4-FFF2-40B4-BE49-F238E27FC236}">
                <a16:creationId xmlns:a16="http://schemas.microsoft.com/office/drawing/2014/main" id="{88913713-88AA-034C-B0C2-E42E445A382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87450" y="2203450"/>
            <a:ext cx="1944688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727" name="Oval 8">
            <a:extLst>
              <a:ext uri="{FF2B5EF4-FFF2-40B4-BE49-F238E27FC236}">
                <a16:creationId xmlns:a16="http://schemas.microsoft.com/office/drawing/2014/main" id="{C652C7EE-F17F-5547-9C3F-E8CE29441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700213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2728" name="Oval 9">
            <a:extLst>
              <a:ext uri="{FF2B5EF4-FFF2-40B4-BE49-F238E27FC236}">
                <a16:creationId xmlns:a16="http://schemas.microsoft.com/office/drawing/2014/main" id="{33775A1C-99F2-6C41-A58C-B2F3AEEA3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132013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2729" name="Oval 10">
            <a:extLst>
              <a:ext uri="{FF2B5EF4-FFF2-40B4-BE49-F238E27FC236}">
                <a16:creationId xmlns:a16="http://schemas.microsoft.com/office/drawing/2014/main" id="{44D22710-5420-6249-9652-5FFCA9A25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636838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2730" name="Oval 11">
            <a:extLst>
              <a:ext uri="{FF2B5EF4-FFF2-40B4-BE49-F238E27FC236}">
                <a16:creationId xmlns:a16="http://schemas.microsoft.com/office/drawing/2014/main" id="{642FB4A7-74BD-434D-81D5-234194343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1700213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2731" name="Oval 12">
            <a:extLst>
              <a:ext uri="{FF2B5EF4-FFF2-40B4-BE49-F238E27FC236}">
                <a16:creationId xmlns:a16="http://schemas.microsoft.com/office/drawing/2014/main" id="{A457DB42-CF6A-3046-8562-8B6E4FB0D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9125" y="2132013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2732" name="Oval 13">
            <a:extLst>
              <a:ext uri="{FF2B5EF4-FFF2-40B4-BE49-F238E27FC236}">
                <a16:creationId xmlns:a16="http://schemas.microsoft.com/office/drawing/2014/main" id="{3FD05158-9EB8-C84C-8FD4-8FC373DDC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2563813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29EFC56-8FEC-A24A-BA99-7CD40718D418}"/>
              </a:ext>
            </a:extLst>
          </p:cNvPr>
          <p:cNvCxnSpPr/>
          <p:nvPr/>
        </p:nvCxnSpPr>
        <p:spPr>
          <a:xfrm>
            <a:off x="4211638" y="1358900"/>
            <a:ext cx="36512" cy="2200275"/>
          </a:xfrm>
          <a:prstGeom prst="line">
            <a:avLst/>
          </a:prstGeom>
          <a:ln>
            <a:solidFill>
              <a:srgbClr val="006600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ACD6461-4E39-5644-B287-B342DBD3CAED}"/>
                  </a:ext>
                </a:extLst>
              </p:cNvPr>
              <p:cNvSpPr/>
              <p:nvPr/>
            </p:nvSpPr>
            <p:spPr>
              <a:xfrm>
                <a:off x="2051050" y="1339850"/>
                <a:ext cx="49173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ACD6461-4E39-5644-B287-B342DBD3CA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050" y="1339850"/>
                <a:ext cx="491738" cy="523220"/>
              </a:xfrm>
              <a:prstGeom prst="rect">
                <a:avLst/>
              </a:prstGeom>
              <a:blipFill>
                <a:blip r:embed="rId2"/>
                <a:stretch>
                  <a:fillRect l="-5128" r="-2564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AF2B031-F0A6-E94F-A289-0F1F606C0E62}"/>
                  </a:ext>
                </a:extLst>
              </p:cNvPr>
              <p:cNvSpPr/>
              <p:nvPr/>
            </p:nvSpPr>
            <p:spPr>
              <a:xfrm>
                <a:off x="6154738" y="1268413"/>
                <a:ext cx="86107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AF2B031-F0A6-E94F-A289-0F1F606C0E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738" y="1268413"/>
                <a:ext cx="861070" cy="523220"/>
              </a:xfrm>
              <a:prstGeom prst="rect">
                <a:avLst/>
              </a:prstGeom>
              <a:blipFill>
                <a:blip r:embed="rId3"/>
                <a:stretch>
                  <a:fillRect l="-2941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00E96AD-8A38-4A41-99E3-C799557B89E2}"/>
                  </a:ext>
                </a:extLst>
              </p:cNvPr>
              <p:cNvSpPr/>
              <p:nvPr/>
            </p:nvSpPr>
            <p:spPr>
              <a:xfrm>
                <a:off x="684213" y="2852738"/>
                <a:ext cx="5152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300E96AD-8A38-4A41-99E3-C799557B89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13" y="2852738"/>
                <a:ext cx="515206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47BA67B-BB31-0444-8C0A-CCA7C3F760A4}"/>
                  </a:ext>
                </a:extLst>
              </p:cNvPr>
              <p:cNvSpPr/>
              <p:nvPr/>
            </p:nvSpPr>
            <p:spPr>
              <a:xfrm>
                <a:off x="2987675" y="2852738"/>
                <a:ext cx="52931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947BA67B-BB31-0444-8C0A-CCA7C3F760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675" y="2852738"/>
                <a:ext cx="52931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F71C2CCA-71EF-7648-9D7A-EFBEC386F30A}"/>
                  </a:ext>
                </a:extLst>
              </p:cNvPr>
              <p:cNvSpPr/>
              <p:nvPr/>
            </p:nvSpPr>
            <p:spPr>
              <a:xfrm>
                <a:off x="4786313" y="2995613"/>
                <a:ext cx="5152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F71C2CCA-71EF-7648-9D7A-EFBEC386F3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6313" y="2995613"/>
                <a:ext cx="51520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E9871EA-E670-4547-AE6E-AC994620083F}"/>
                  </a:ext>
                </a:extLst>
              </p:cNvPr>
              <p:cNvSpPr/>
              <p:nvPr/>
            </p:nvSpPr>
            <p:spPr>
              <a:xfrm>
                <a:off x="7091363" y="2924175"/>
                <a:ext cx="52931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E9871EA-E670-4547-AE6E-AC99462008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363" y="2924175"/>
                <a:ext cx="529312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4C1E4D60-93C6-EE41-95EB-33EF963ACCF3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1033463" y="684213"/>
            <a:ext cx="8229600" cy="1517650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Theorem 1-7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latin typeface="Times New Roman" panose="02020603050405020304" pitchFamily="18" charset="0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</a:rPr>
              <a:t>f </a:t>
            </a:r>
            <a:r>
              <a:rPr lang="zh-CN" altLang="en-US" b="1">
                <a:latin typeface="Times New Roman" panose="02020603050405020304" pitchFamily="18" charset="0"/>
              </a:rPr>
              <a:t>的逆映射存在的</a:t>
            </a:r>
            <a:r>
              <a:rPr lang="zh-CN" altLang="en-US" b="1">
                <a:latin typeface="华文新魏" panose="02010800040101010101" pitchFamily="2" charset="-122"/>
                <a:ea typeface="华文新魏" panose="02010800040101010101" pitchFamily="2" charset="-122"/>
              </a:rPr>
              <a:t>充要条件</a:t>
            </a:r>
            <a:r>
              <a:rPr lang="zh-CN" altLang="en-US" b="1">
                <a:latin typeface="Times New Roman" panose="02020603050405020304" pitchFamily="18" charset="0"/>
              </a:rPr>
              <a:t>是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zh-CN" altLang="en-US" b="1">
                <a:latin typeface="Times New Roman" panose="02020603050405020304" pitchFamily="18" charset="0"/>
              </a:rPr>
              <a:t>是</a:t>
            </a:r>
            <a:r>
              <a:rPr lang="zh-CN" altLang="en-US" b="1">
                <a:solidFill>
                  <a:srgbClr val="A4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双射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  <a:endParaRPr lang="en-US" altLang="zh-CN" b="1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73731" name="Oval 3">
            <a:extLst>
              <a:ext uri="{FF2B5EF4-FFF2-40B4-BE49-F238E27FC236}">
                <a16:creationId xmlns:a16="http://schemas.microsoft.com/office/drawing/2014/main" id="{8B39F887-1CEB-2D4C-9EBE-CBF1985E1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3141663"/>
            <a:ext cx="1152525" cy="1943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a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b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c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2800" i="1">
              <a:latin typeface="Times New Roman" panose="02020603050405020304" pitchFamily="18" charset="0"/>
            </a:endParaRPr>
          </a:p>
        </p:txBody>
      </p:sp>
      <p:sp>
        <p:nvSpPr>
          <p:cNvPr id="73732" name="Oval 4">
            <a:extLst>
              <a:ext uri="{FF2B5EF4-FFF2-40B4-BE49-F238E27FC236}">
                <a16:creationId xmlns:a16="http://schemas.microsoft.com/office/drawing/2014/main" id="{820E05FD-C00D-F642-A5F2-FCADFD4BE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3141663"/>
            <a:ext cx="1152525" cy="19431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73733" name="Line 5">
            <a:extLst>
              <a:ext uri="{FF2B5EF4-FFF2-40B4-BE49-F238E27FC236}">
                <a16:creationId xmlns:a16="http://schemas.microsoft.com/office/drawing/2014/main" id="{EBB5C33F-04BC-C34A-AAAB-CF9971B4C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8038" y="3500438"/>
            <a:ext cx="18716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4" name="Line 6">
            <a:extLst>
              <a:ext uri="{FF2B5EF4-FFF2-40B4-BE49-F238E27FC236}">
                <a16:creationId xmlns:a16="http://schemas.microsoft.com/office/drawing/2014/main" id="{EBF0242C-1D10-CE42-82F2-49AD0EB337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5013" y="3573463"/>
            <a:ext cx="1944687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5" name="Line 7">
            <a:extLst>
              <a:ext uri="{FF2B5EF4-FFF2-40B4-BE49-F238E27FC236}">
                <a16:creationId xmlns:a16="http://schemas.microsoft.com/office/drawing/2014/main" id="{A2F4A652-D186-2D4E-BA38-471DEA00CD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03575" y="3932238"/>
            <a:ext cx="1944688" cy="504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736" name="Oval 8">
            <a:extLst>
              <a:ext uri="{FF2B5EF4-FFF2-40B4-BE49-F238E27FC236}">
                <a16:creationId xmlns:a16="http://schemas.microsoft.com/office/drawing/2014/main" id="{05878E85-94CC-AF44-9486-1D91DD0C8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4290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3737" name="Oval 9">
            <a:extLst>
              <a:ext uri="{FF2B5EF4-FFF2-40B4-BE49-F238E27FC236}">
                <a16:creationId xmlns:a16="http://schemas.microsoft.com/office/drawing/2014/main" id="{8689129C-02F2-1646-B8E4-0B7F7B082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38608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3738" name="Oval 10">
            <a:extLst>
              <a:ext uri="{FF2B5EF4-FFF2-40B4-BE49-F238E27FC236}">
                <a16:creationId xmlns:a16="http://schemas.microsoft.com/office/drawing/2014/main" id="{800FC1E6-BA63-6143-92FE-A95A7ADB0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4365625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3739" name="Oval 11">
            <a:extLst>
              <a:ext uri="{FF2B5EF4-FFF2-40B4-BE49-F238E27FC236}">
                <a16:creationId xmlns:a16="http://schemas.microsoft.com/office/drawing/2014/main" id="{646FDB62-4A3E-8E4A-9115-D4BC67EB2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2713" y="3429000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3740" name="Oval 12">
            <a:extLst>
              <a:ext uri="{FF2B5EF4-FFF2-40B4-BE49-F238E27FC236}">
                <a16:creationId xmlns:a16="http://schemas.microsoft.com/office/drawing/2014/main" id="{AB06FD2D-9998-AE42-A847-D0F610700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5250" y="3860800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73741" name="Oval 13">
            <a:extLst>
              <a:ext uri="{FF2B5EF4-FFF2-40B4-BE49-F238E27FC236}">
                <a16:creationId xmlns:a16="http://schemas.microsoft.com/office/drawing/2014/main" id="{1DFF0407-7ECF-9E47-A424-B596A2BDD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4292600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742" name="Object 14">
                <a:extLst>
                  <a:ext uri="{FF2B5EF4-FFF2-40B4-BE49-F238E27FC236}">
                    <a16:creationId xmlns:a16="http://schemas.microsoft.com/office/drawing/2014/main" id="{AE86BD02-549A-4443-AB13-68C268569AA9}"/>
                  </a:ext>
                </a:extLst>
              </p:cNvPr>
              <p:cNvSpPr txBox="1"/>
              <p:nvPr/>
            </p:nvSpPr>
            <p:spPr bwMode="auto">
              <a:xfrm>
                <a:off x="4067175" y="3068638"/>
                <a:ext cx="327025" cy="4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3742" name="Object 14">
                <a:extLst>
                  <a:ext uri="{FF2B5EF4-FFF2-40B4-BE49-F238E27FC236}">
                    <a16:creationId xmlns:a16="http://schemas.microsoft.com/office/drawing/2014/main" id="{AE86BD02-549A-4443-AB13-68C268569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67175" y="3068638"/>
                <a:ext cx="327025" cy="431800"/>
              </a:xfrm>
              <a:prstGeom prst="rect">
                <a:avLst/>
              </a:prstGeom>
              <a:blipFill>
                <a:blip r:embed="rId3"/>
                <a:stretch>
                  <a:fillRect l="-14815" r="-22222" b="-281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745" name="灯片编号占位符 1">
            <a:extLst>
              <a:ext uri="{FF2B5EF4-FFF2-40B4-BE49-F238E27FC236}">
                <a16:creationId xmlns:a16="http://schemas.microsoft.com/office/drawing/2014/main" id="{313D5302-3F39-3742-8A50-E4EAD441D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6C3173-80A9-204C-B431-BE59A02A9517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68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72B2ABF-194C-5E46-AE60-43968F829018}"/>
                  </a:ext>
                </a:extLst>
              </p:cNvPr>
              <p:cNvSpPr/>
              <p:nvPr/>
            </p:nvSpPr>
            <p:spPr>
              <a:xfrm>
                <a:off x="2700338" y="4581525"/>
                <a:ext cx="3969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72B2ABF-194C-5E46-AE60-43968F8290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338" y="4581525"/>
                <a:ext cx="39690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246BA70-D09D-0142-87C9-157A9726F348}"/>
                  </a:ext>
                </a:extLst>
              </p:cNvPr>
              <p:cNvSpPr/>
              <p:nvPr/>
            </p:nvSpPr>
            <p:spPr>
              <a:xfrm>
                <a:off x="5003800" y="4581525"/>
                <a:ext cx="4056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246BA70-D09D-0142-87C9-157A9726F3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3800" y="4581525"/>
                <a:ext cx="40568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6237E0B6-8013-AC42-B197-1DC44CCED455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68313" y="704850"/>
            <a:ext cx="8229600" cy="2147888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4 </a:t>
            </a:r>
            <a:r>
              <a:rPr lang="zh-CN" altLang="en-US" b="1" dirty="0">
                <a:latin typeface="Times New Roman" panose="02020603050405020304" pitchFamily="18" charset="0"/>
              </a:rPr>
              <a:t>复合映射</a:t>
            </a:r>
            <a:r>
              <a:rPr lang="en-US" altLang="zh-CN" b="1" dirty="0">
                <a:latin typeface="Times New Roman" panose="02020603050405020304" pitchFamily="18" charset="0"/>
              </a:rPr>
              <a:t>(composition function)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Theorem1-8 </a:t>
            </a:r>
            <a:r>
              <a:rPr lang="zh-CN" altLang="en-US" b="1" dirty="0">
                <a:latin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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</a:rPr>
              <a:t>B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 </a:t>
            </a:r>
            <a:r>
              <a:rPr lang="en-US" altLang="zh-CN" b="1" i="1" dirty="0"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</a:rPr>
              <a:t>: </a:t>
            </a:r>
          </a:p>
          <a:p>
            <a:pPr eaLnBrk="1" hangingPunct="1">
              <a:buFontTx/>
              <a:buNone/>
            </a:pPr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则</a:t>
            </a:r>
            <a:r>
              <a:rPr lang="en-US" altLang="zh-CN" b="1" i="1" dirty="0">
                <a:latin typeface="Times New Roman" panose="02020603050405020304" pitchFamily="18" charset="0"/>
              </a:rPr>
              <a:t>h</a:t>
            </a:r>
            <a:r>
              <a:rPr lang="en-US" altLang="zh-CN" b="1" dirty="0">
                <a:latin typeface="Times New Roman" panose="02020603050405020304" pitchFamily="18" charset="0"/>
              </a:rPr>
              <a:t>: </a:t>
            </a:r>
            <a:r>
              <a:rPr lang="en-US" altLang="zh-CN" b="1" i="1" dirty="0">
                <a:latin typeface="Times New Roman" panose="02020603050405020304" pitchFamily="18" charset="0"/>
              </a:rPr>
              <a:t>A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 </a:t>
            </a:r>
            <a:r>
              <a:rPr lang="en-US" altLang="zh-CN" b="1" i="1" dirty="0">
                <a:latin typeface="Times New Roman" panose="02020603050405020304" pitchFamily="18" charset="0"/>
              </a:rPr>
              <a:t>C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为 </a:t>
            </a:r>
            <a:r>
              <a:rPr lang="en-US" altLang="zh-CN" b="1" i="1" dirty="0">
                <a:latin typeface="Times New Roman" panose="02020603050405020304" pitchFamily="18" charset="0"/>
              </a:rPr>
              <a:t>f </a:t>
            </a:r>
            <a:r>
              <a:rPr lang="zh-CN" altLang="en-US" b="1" dirty="0">
                <a:latin typeface="Times New Roman" panose="02020603050405020304" pitchFamily="18" charset="0"/>
              </a:rPr>
              <a:t>到 </a:t>
            </a:r>
            <a:r>
              <a:rPr lang="en-US" altLang="zh-CN" b="1" i="1" dirty="0">
                <a:latin typeface="Times New Roman" panose="02020603050405020304" pitchFamily="18" charset="0"/>
              </a:rPr>
              <a:t>g </a:t>
            </a:r>
            <a:r>
              <a:rPr lang="zh-CN" altLang="en-US" b="1" dirty="0">
                <a:latin typeface="Times New Roman" panose="02020603050405020304" pitchFamily="18" charset="0"/>
              </a:rPr>
              <a:t>的映射</a:t>
            </a:r>
            <a:r>
              <a:rPr lang="en-US" altLang="zh-CN" b="1" i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77828" name="Oval 4">
            <a:extLst>
              <a:ext uri="{FF2B5EF4-FFF2-40B4-BE49-F238E27FC236}">
                <a16:creationId xmlns:a16="http://schemas.microsoft.com/office/drawing/2014/main" id="{603A664F-AC7A-AD41-8E29-AC5C1CDFE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4005263"/>
            <a:ext cx="1079500" cy="23050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77829" name="Oval 5">
            <a:extLst>
              <a:ext uri="{FF2B5EF4-FFF2-40B4-BE49-F238E27FC236}">
                <a16:creationId xmlns:a16="http://schemas.microsoft.com/office/drawing/2014/main" id="{97B8A8D3-B378-6A4E-A88C-61800A087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005263"/>
            <a:ext cx="1079500" cy="23050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1">
                <a:latin typeface="Times New Roman" panose="02020603050405020304" pitchFamily="18" charset="0"/>
              </a:rPr>
              <a:t>y=f</a:t>
            </a:r>
            <a:r>
              <a:rPr lang="en-US" altLang="zh-CN" sz="1800">
                <a:latin typeface="Times New Roman" panose="02020603050405020304" pitchFamily="18" charset="0"/>
              </a:rPr>
              <a:t>(</a:t>
            </a:r>
            <a:r>
              <a:rPr lang="en-US" altLang="zh-CN" sz="1800" i="1">
                <a:latin typeface="Times New Roman" panose="02020603050405020304" pitchFamily="18" charset="0"/>
              </a:rPr>
              <a:t>x</a:t>
            </a:r>
            <a:r>
              <a:rPr lang="en-US" altLang="zh-CN" sz="1800">
                <a:latin typeface="Times New Roman" panose="02020603050405020304" pitchFamily="18" charset="0"/>
              </a:rPr>
              <a:t>)</a:t>
            </a:r>
            <a:endParaRPr lang="en-US" altLang="zh-CN" sz="1800">
              <a:latin typeface="Verdana" panose="020B060403050404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1800">
              <a:latin typeface="Verdana" panose="020B0604030504040204" pitchFamily="34" charset="0"/>
            </a:endParaRPr>
          </a:p>
        </p:txBody>
      </p:sp>
      <p:sp>
        <p:nvSpPr>
          <p:cNvPr id="77830" name="Oval 6">
            <a:extLst>
              <a:ext uri="{FF2B5EF4-FFF2-40B4-BE49-F238E27FC236}">
                <a16:creationId xmlns:a16="http://schemas.microsoft.com/office/drawing/2014/main" id="{74D98976-2D41-7340-B0E7-5474592E0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4005263"/>
            <a:ext cx="1079500" cy="23050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1">
                <a:latin typeface="Times New Roman" panose="02020603050405020304" pitchFamily="18" charset="0"/>
                <a:sym typeface="Symbol" pitchFamily="2" charset="2"/>
              </a:rPr>
              <a:t>z=g</a:t>
            </a:r>
            <a:r>
              <a:rPr lang="en-US" altLang="zh-CN" sz="18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sz="1800" i="1">
                <a:latin typeface="Times New Roman" panose="02020603050405020304" pitchFamily="18" charset="0"/>
                <a:sym typeface="Symbol" pitchFamily="2" charset="2"/>
              </a:rPr>
              <a:t>y</a:t>
            </a:r>
            <a:r>
              <a:rPr lang="en-US" altLang="zh-CN" sz="18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zh-CN" sz="1800" i="1">
                <a:latin typeface="Times New Roman" panose="02020603050405020304" pitchFamily="18" charset="0"/>
                <a:sym typeface="Symbol" pitchFamily="2" charset="2"/>
              </a:rPr>
              <a:t>=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1">
                <a:latin typeface="Times New Roman" panose="02020603050405020304" pitchFamily="18" charset="0"/>
                <a:sym typeface="Symbol" pitchFamily="2" charset="2"/>
              </a:rPr>
              <a:t>g</a:t>
            </a:r>
            <a:r>
              <a:rPr lang="en-US" altLang="zh-CN" sz="18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sz="1800" i="1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zh-CN" sz="18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sz="1800" i="1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zh-CN" sz="1800">
                <a:latin typeface="Times New Roman" panose="02020603050405020304" pitchFamily="18" charset="0"/>
                <a:sym typeface="Symbol" pitchFamily="2" charset="2"/>
              </a:rPr>
              <a:t>))</a:t>
            </a:r>
          </a:p>
        </p:txBody>
      </p:sp>
      <p:sp>
        <p:nvSpPr>
          <p:cNvPr id="77831" name="Freeform 7">
            <a:extLst>
              <a:ext uri="{FF2B5EF4-FFF2-40B4-BE49-F238E27FC236}">
                <a16:creationId xmlns:a16="http://schemas.microsoft.com/office/drawing/2014/main" id="{11B5D615-9911-034B-8C20-BD7EC058C3DF}"/>
              </a:ext>
            </a:extLst>
          </p:cNvPr>
          <p:cNvSpPr>
            <a:spLocks/>
          </p:cNvSpPr>
          <p:nvPr/>
        </p:nvSpPr>
        <p:spPr bwMode="auto">
          <a:xfrm>
            <a:off x="2916238" y="4652963"/>
            <a:ext cx="2160587" cy="384175"/>
          </a:xfrm>
          <a:custGeom>
            <a:avLst/>
            <a:gdLst>
              <a:gd name="T0" fmla="*/ 0 w 1361"/>
              <a:gd name="T1" fmla="*/ 2147483646 h 242"/>
              <a:gd name="T2" fmla="*/ 2147483646 w 1361"/>
              <a:gd name="T3" fmla="*/ 2147483646 h 242"/>
              <a:gd name="T4" fmla="*/ 2147483646 w 1361"/>
              <a:gd name="T5" fmla="*/ 2147483646 h 242"/>
              <a:gd name="T6" fmla="*/ 0 60000 65536"/>
              <a:gd name="T7" fmla="*/ 0 60000 65536"/>
              <a:gd name="T8" fmla="*/ 0 60000 65536"/>
              <a:gd name="T9" fmla="*/ 0 w 1361"/>
              <a:gd name="T10" fmla="*/ 0 h 242"/>
              <a:gd name="T11" fmla="*/ 1361 w 1361"/>
              <a:gd name="T12" fmla="*/ 242 h 2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1" h="242">
                <a:moveTo>
                  <a:pt x="0" y="242"/>
                </a:moveTo>
                <a:cubicBezTo>
                  <a:pt x="226" y="136"/>
                  <a:pt x="453" y="30"/>
                  <a:pt x="680" y="15"/>
                </a:cubicBezTo>
                <a:cubicBezTo>
                  <a:pt x="907" y="0"/>
                  <a:pt x="1134" y="75"/>
                  <a:pt x="1361" y="15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2" name="Freeform 8">
            <a:extLst>
              <a:ext uri="{FF2B5EF4-FFF2-40B4-BE49-F238E27FC236}">
                <a16:creationId xmlns:a16="http://schemas.microsoft.com/office/drawing/2014/main" id="{BF1ABE14-1E58-8940-B4AA-AE4D81974B22}"/>
              </a:ext>
            </a:extLst>
          </p:cNvPr>
          <p:cNvSpPr>
            <a:spLocks/>
          </p:cNvSpPr>
          <p:nvPr/>
        </p:nvSpPr>
        <p:spPr bwMode="auto">
          <a:xfrm>
            <a:off x="5148263" y="4365625"/>
            <a:ext cx="2160587" cy="588963"/>
          </a:xfrm>
          <a:custGeom>
            <a:avLst/>
            <a:gdLst>
              <a:gd name="T0" fmla="*/ 0 w 1361"/>
              <a:gd name="T1" fmla="*/ 2147483646 h 371"/>
              <a:gd name="T2" fmla="*/ 2147483646 w 1361"/>
              <a:gd name="T3" fmla="*/ 2147483646 h 371"/>
              <a:gd name="T4" fmla="*/ 2147483646 w 1361"/>
              <a:gd name="T5" fmla="*/ 2147483646 h 371"/>
              <a:gd name="T6" fmla="*/ 0 60000 65536"/>
              <a:gd name="T7" fmla="*/ 0 60000 65536"/>
              <a:gd name="T8" fmla="*/ 0 60000 65536"/>
              <a:gd name="T9" fmla="*/ 0 w 1361"/>
              <a:gd name="T10" fmla="*/ 0 h 371"/>
              <a:gd name="T11" fmla="*/ 1361 w 1361"/>
              <a:gd name="T12" fmla="*/ 371 h 3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1" h="371">
                <a:moveTo>
                  <a:pt x="0" y="325"/>
                </a:moveTo>
                <a:cubicBezTo>
                  <a:pt x="227" y="162"/>
                  <a:pt x="454" y="0"/>
                  <a:pt x="681" y="8"/>
                </a:cubicBezTo>
                <a:cubicBezTo>
                  <a:pt x="908" y="16"/>
                  <a:pt x="1134" y="193"/>
                  <a:pt x="1361" y="37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6" name="灯片编号占位符 1">
            <a:extLst>
              <a:ext uri="{FF2B5EF4-FFF2-40B4-BE49-F238E27FC236}">
                <a16:creationId xmlns:a16="http://schemas.microsoft.com/office/drawing/2014/main" id="{F2159173-4B22-854D-A016-EAF9BC8DD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6C811C-6206-3146-A328-24FB993C63BC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69</a:t>
            </a:fld>
            <a:endParaRPr lang="en-US" altLang="zh-CN" sz="1400"/>
          </a:p>
        </p:txBody>
      </p:sp>
      <p:sp>
        <p:nvSpPr>
          <p:cNvPr id="77837" name="Freeform 7">
            <a:extLst>
              <a:ext uri="{FF2B5EF4-FFF2-40B4-BE49-F238E27FC236}">
                <a16:creationId xmlns:a16="http://schemas.microsoft.com/office/drawing/2014/main" id="{B3BDB0F5-F2DE-C24A-9140-0FEB7E08A753}"/>
              </a:ext>
            </a:extLst>
          </p:cNvPr>
          <p:cNvSpPr>
            <a:spLocks/>
          </p:cNvSpPr>
          <p:nvPr/>
        </p:nvSpPr>
        <p:spPr bwMode="auto">
          <a:xfrm rot="268726">
            <a:off x="2967038" y="3789363"/>
            <a:ext cx="4370387" cy="1252537"/>
          </a:xfrm>
          <a:custGeom>
            <a:avLst/>
            <a:gdLst>
              <a:gd name="T0" fmla="*/ 0 w 1361"/>
              <a:gd name="T1" fmla="*/ 2147483646 h 242"/>
              <a:gd name="T2" fmla="*/ 2147483646 w 1361"/>
              <a:gd name="T3" fmla="*/ 2147483646 h 242"/>
              <a:gd name="T4" fmla="*/ 2147483646 w 1361"/>
              <a:gd name="T5" fmla="*/ 2147483646 h 242"/>
              <a:gd name="T6" fmla="*/ 0 60000 65536"/>
              <a:gd name="T7" fmla="*/ 0 60000 65536"/>
              <a:gd name="T8" fmla="*/ 0 60000 65536"/>
              <a:gd name="T9" fmla="*/ 0 w 1361"/>
              <a:gd name="T10" fmla="*/ 0 h 242"/>
              <a:gd name="T11" fmla="*/ 1361 w 1361"/>
              <a:gd name="T12" fmla="*/ 242 h 2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1" h="242">
                <a:moveTo>
                  <a:pt x="0" y="242"/>
                </a:moveTo>
                <a:cubicBezTo>
                  <a:pt x="226" y="136"/>
                  <a:pt x="453" y="30"/>
                  <a:pt x="680" y="15"/>
                </a:cubicBezTo>
                <a:cubicBezTo>
                  <a:pt x="907" y="0"/>
                  <a:pt x="1134" y="75"/>
                  <a:pt x="1361" y="15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8" name="文本框 1">
            <a:extLst>
              <a:ext uri="{FF2B5EF4-FFF2-40B4-BE49-F238E27FC236}">
                <a16:creationId xmlns:a16="http://schemas.microsoft.com/office/drawing/2014/main" id="{9C390349-726B-BB40-8F24-F490C0FED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5865813"/>
            <a:ext cx="5762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839" name="文本框 2">
            <a:extLst>
              <a:ext uri="{FF2B5EF4-FFF2-40B4-BE49-F238E27FC236}">
                <a16:creationId xmlns:a16="http://schemas.microsoft.com/office/drawing/2014/main" id="{7F4D58E4-3B78-4646-9D3A-179825A1A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0775" y="5805488"/>
            <a:ext cx="5762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840" name="文本框 3">
            <a:extLst>
              <a:ext uri="{FF2B5EF4-FFF2-40B4-BE49-F238E27FC236}">
                <a16:creationId xmlns:a16="http://schemas.microsoft.com/office/drawing/2014/main" id="{917ABF55-0468-3842-9993-0A9D0CDAD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1363" y="5768975"/>
            <a:ext cx="5762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DCBD65C-D731-7B47-80FE-26577588EEE6}"/>
                  </a:ext>
                </a:extLst>
              </p:cNvPr>
              <p:cNvSpPr/>
              <p:nvPr/>
            </p:nvSpPr>
            <p:spPr>
              <a:xfrm>
                <a:off x="2411413" y="1916113"/>
                <a:ext cx="39775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)).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DCBD65C-D731-7B47-80FE-26577588EE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413" y="1916113"/>
                <a:ext cx="3977564" cy="523220"/>
              </a:xfrm>
              <a:prstGeom prst="rect">
                <a:avLst/>
              </a:prstGeom>
              <a:blipFill>
                <a:blip r:embed="rId2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A780D24-10F7-0246-B9AF-104F0C9841E8}"/>
                  </a:ext>
                </a:extLst>
              </p:cNvPr>
              <p:cNvSpPr/>
              <p:nvPr/>
            </p:nvSpPr>
            <p:spPr>
              <a:xfrm>
                <a:off x="5867400" y="4076700"/>
                <a:ext cx="486928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A780D24-10F7-0246-B9AF-104F0C9841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4076700"/>
                <a:ext cx="486928" cy="492443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7EC2D98-B760-6941-A3AB-0F67701C6136}"/>
                  </a:ext>
                </a:extLst>
              </p:cNvPr>
              <p:cNvSpPr/>
              <p:nvPr/>
            </p:nvSpPr>
            <p:spPr>
              <a:xfrm>
                <a:off x="3563938" y="4376717"/>
                <a:ext cx="470129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D7EC2D98-B760-6941-A3AB-0F67701C61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3938" y="4376717"/>
                <a:ext cx="470129" cy="492443"/>
              </a:xfrm>
              <a:prstGeom prst="rect">
                <a:avLst/>
              </a:prstGeom>
              <a:blipFill>
                <a:blip r:embed="rId4"/>
                <a:stretch>
                  <a:fillRect l="-2632" b="-20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DE5693B-F222-3147-9F4D-8C58083D6DBE}"/>
                  </a:ext>
                </a:extLst>
              </p:cNvPr>
              <p:cNvSpPr/>
              <p:nvPr/>
            </p:nvSpPr>
            <p:spPr>
              <a:xfrm>
                <a:off x="4900613" y="3337828"/>
                <a:ext cx="48898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DDE5693B-F222-3147-9F4D-8C58083D6D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0613" y="3337828"/>
                <a:ext cx="48898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362703CF-E17E-CC41-8EB5-B61537AF4F42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806450" y="658813"/>
            <a:ext cx="8229600" cy="5865812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1-12</a:t>
            </a:r>
            <a:endParaRPr lang="en-US" altLang="zh-CN" b="1">
              <a:latin typeface="Times New Roman" panose="02020603050405020304" pitchFamily="18" charset="0"/>
            </a:endParaRPr>
          </a:p>
        </p:txBody>
      </p:sp>
      <p:sp>
        <p:nvSpPr>
          <p:cNvPr id="78851" name="Oval 3">
            <a:extLst>
              <a:ext uri="{FF2B5EF4-FFF2-40B4-BE49-F238E27FC236}">
                <a16:creationId xmlns:a16="http://schemas.microsoft.com/office/drawing/2014/main" id="{3056EEED-4CD2-F74D-A677-1D3620B32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1557338"/>
            <a:ext cx="1079500" cy="23050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b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78852" name="Oval 4">
            <a:extLst>
              <a:ext uri="{FF2B5EF4-FFF2-40B4-BE49-F238E27FC236}">
                <a16:creationId xmlns:a16="http://schemas.microsoft.com/office/drawing/2014/main" id="{793ECF15-3570-6E42-8941-96FD8CA48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1628775"/>
            <a:ext cx="1079500" cy="23050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3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zh-CN" sz="2800">
              <a:latin typeface="Verdana" panose="020B0604030504040204" pitchFamily="34" charset="0"/>
            </a:endParaRPr>
          </a:p>
        </p:txBody>
      </p:sp>
      <p:sp>
        <p:nvSpPr>
          <p:cNvPr id="78853" name="Oval 5">
            <a:extLst>
              <a:ext uri="{FF2B5EF4-FFF2-40B4-BE49-F238E27FC236}">
                <a16:creationId xmlns:a16="http://schemas.microsoft.com/office/drawing/2014/main" id="{77BB5B89-DFA0-FB4D-8F52-2F9ADE282F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1628775"/>
            <a:ext cx="1079500" cy="23050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Verdana" panose="020B0604030504040204" pitchFamily="34" charset="0"/>
                <a:sym typeface="Symbol" pitchFamily="2" charset="2"/>
              </a:rPr>
              <a:t>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Verdana" panose="020B0604030504040204" pitchFamily="34" charset="0"/>
                <a:sym typeface="Symbol" pitchFamily="2" charset="2"/>
              </a:rPr>
              <a:t>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Verdana" panose="020B0604030504040204" pitchFamily="34" charset="0"/>
                <a:sym typeface="Symbol" pitchFamily="2" charset="2"/>
              </a:rPr>
              <a:t>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Verdana" panose="020B0604030504040204" pitchFamily="34" charset="0"/>
                <a:sym typeface="Symbol" pitchFamily="2" charset="2"/>
              </a:rPr>
              <a:t>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854" name="Object 6">
                <a:extLst>
                  <a:ext uri="{FF2B5EF4-FFF2-40B4-BE49-F238E27FC236}">
                    <a16:creationId xmlns:a16="http://schemas.microsoft.com/office/drawing/2014/main" id="{F7AD72C4-2909-AD4A-A077-D243D5411E05}"/>
                  </a:ext>
                </a:extLst>
              </p:cNvPr>
              <p:cNvSpPr txBox="1"/>
              <p:nvPr/>
            </p:nvSpPr>
            <p:spPr bwMode="auto">
              <a:xfrm>
                <a:off x="3507581" y="1789907"/>
                <a:ext cx="542925" cy="7191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8854" name="Object 6">
                <a:extLst>
                  <a:ext uri="{FF2B5EF4-FFF2-40B4-BE49-F238E27FC236}">
                    <a16:creationId xmlns:a16="http://schemas.microsoft.com/office/drawing/2014/main" id="{F7AD72C4-2909-AD4A-A077-D243D5411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07581" y="1789907"/>
                <a:ext cx="542925" cy="719137"/>
              </a:xfrm>
              <a:prstGeom prst="rect">
                <a:avLst/>
              </a:prstGeom>
              <a:blipFill>
                <a:blip r:embed="rId2"/>
                <a:stretch>
                  <a:fillRect l="-89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855" name="Object 7">
                <a:extLst>
                  <a:ext uri="{FF2B5EF4-FFF2-40B4-BE49-F238E27FC236}">
                    <a16:creationId xmlns:a16="http://schemas.microsoft.com/office/drawing/2014/main" id="{4B8E6B2A-C8AB-F34A-925D-BE77F110099B}"/>
                  </a:ext>
                </a:extLst>
              </p:cNvPr>
              <p:cNvSpPr txBox="1"/>
              <p:nvPr/>
            </p:nvSpPr>
            <p:spPr bwMode="auto">
              <a:xfrm>
                <a:off x="5833450" y="1706562"/>
                <a:ext cx="554037" cy="647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8855" name="Object 7">
                <a:extLst>
                  <a:ext uri="{FF2B5EF4-FFF2-40B4-BE49-F238E27FC236}">
                    <a16:creationId xmlns:a16="http://schemas.microsoft.com/office/drawing/2014/main" id="{4B8E6B2A-C8AB-F34A-925D-BE77F11009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33450" y="1706562"/>
                <a:ext cx="554037" cy="647700"/>
              </a:xfrm>
              <a:prstGeom prst="rect">
                <a:avLst/>
              </a:prstGeom>
              <a:blipFill>
                <a:blip r:embed="rId3"/>
                <a:stretch>
                  <a:fillRect l="-32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856" name="Line 8">
            <a:extLst>
              <a:ext uri="{FF2B5EF4-FFF2-40B4-BE49-F238E27FC236}">
                <a16:creationId xmlns:a16="http://schemas.microsoft.com/office/drawing/2014/main" id="{25A0AA7D-D59B-684B-85F2-538F938920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3213" y="2349500"/>
            <a:ext cx="187325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857" name="Line 9">
            <a:extLst>
              <a:ext uri="{FF2B5EF4-FFF2-40B4-BE49-F238E27FC236}">
                <a16:creationId xmlns:a16="http://schemas.microsoft.com/office/drawing/2014/main" id="{ABBB88B0-7C55-1E41-ACB7-CB1E978C2D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2708275"/>
            <a:ext cx="1800225" cy="217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858" name="Line 10">
            <a:extLst>
              <a:ext uri="{FF2B5EF4-FFF2-40B4-BE49-F238E27FC236}">
                <a16:creationId xmlns:a16="http://schemas.microsoft.com/office/drawing/2014/main" id="{572724AC-8C08-3948-A944-81E26C1411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3213" y="2997200"/>
            <a:ext cx="1871662" cy="144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859" name="Line 11">
            <a:extLst>
              <a:ext uri="{FF2B5EF4-FFF2-40B4-BE49-F238E27FC236}">
                <a16:creationId xmlns:a16="http://schemas.microsoft.com/office/drawing/2014/main" id="{5A094659-99B2-8C43-B64D-61ACE3F64AC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9338" y="2133600"/>
            <a:ext cx="2232025" cy="519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860" name="Line 12">
            <a:extLst>
              <a:ext uri="{FF2B5EF4-FFF2-40B4-BE49-F238E27FC236}">
                <a16:creationId xmlns:a16="http://schemas.microsoft.com/office/drawing/2014/main" id="{D80D17C8-72C5-F447-AA00-5C50B8052A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32363" y="2276872"/>
            <a:ext cx="2160587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861" name="Line 13">
            <a:extLst>
              <a:ext uri="{FF2B5EF4-FFF2-40B4-BE49-F238E27FC236}">
                <a16:creationId xmlns:a16="http://schemas.microsoft.com/office/drawing/2014/main" id="{F55064FF-D1E7-5C42-879B-65C253E6EC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2997200"/>
            <a:ext cx="208915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862" name="灯片编号占位符 1">
            <a:extLst>
              <a:ext uri="{FF2B5EF4-FFF2-40B4-BE49-F238E27FC236}">
                <a16:creationId xmlns:a16="http://schemas.microsoft.com/office/drawing/2014/main" id="{668F8C88-C9D6-A64B-ADB6-BB7187C14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9A5FD5D-A8D2-B242-A553-BF19DC930A8F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70</a:t>
            </a:fld>
            <a:endParaRPr lang="en-US" altLang="zh-CN" sz="1400"/>
          </a:p>
        </p:txBody>
      </p:sp>
      <p:sp>
        <p:nvSpPr>
          <p:cNvPr id="78863" name="文本框 1">
            <a:extLst>
              <a:ext uri="{FF2B5EF4-FFF2-40B4-BE49-F238E27FC236}">
                <a16:creationId xmlns:a16="http://schemas.microsoft.com/office/drawing/2014/main" id="{09FDAF65-CB3D-7B48-8DA7-596C5D2E6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1588" y="3467100"/>
            <a:ext cx="5762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864" name="文本框 2">
            <a:extLst>
              <a:ext uri="{FF2B5EF4-FFF2-40B4-BE49-F238E27FC236}">
                <a16:creationId xmlns:a16="http://schemas.microsoft.com/office/drawing/2014/main" id="{DC21752B-204A-0A41-B326-8203C4E029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7088" y="3532188"/>
            <a:ext cx="5762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865" name="文本框 3">
            <a:extLst>
              <a:ext uri="{FF2B5EF4-FFF2-40B4-BE49-F238E27FC236}">
                <a16:creationId xmlns:a16="http://schemas.microsoft.com/office/drawing/2014/main" id="{08D5D3EB-12D0-DB42-A384-1AAD27518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9925" y="3635375"/>
            <a:ext cx="576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9874" name="Rectangle 2">
                <a:extLst>
                  <a:ext uri="{FF2B5EF4-FFF2-40B4-BE49-F238E27FC236}">
                    <a16:creationId xmlns:a16="http://schemas.microsoft.com/office/drawing/2014/main" id="{26C5ECA7-1A29-944A-BBCB-F45C63E32B93}"/>
                  </a:ext>
                </a:extLst>
              </p:cNvPr>
              <p:cNvSpPr>
                <a:spLocks noGrp="1" noChangeArrowheads="1"/>
              </p:cNvSpPr>
              <p:nvPr>
                <p:ph/>
              </p:nvPr>
            </p:nvSpPr>
            <p:spPr/>
            <p:txBody>
              <a:bodyPr/>
              <a:lstStyle/>
              <a:p>
                <a:pPr eaLnBrk="1" hangingPunct="1"/>
                <a:endParaRPr lang="en-US" altLang="zh-CN" b="1" dirty="0"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  <a:p>
                <a:pPr eaLnBrk="1" hangingPunct="1"/>
                <a:endParaRPr lang="en-US" altLang="zh-CN" b="1" dirty="0"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  <a:p>
                <a:pPr eaLnBrk="1" hangingPunct="1"/>
                <a:endParaRPr lang="en-US" altLang="zh-CN" b="1" dirty="0"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  <a:p>
                <a:pPr eaLnBrk="1" hangingPunct="1"/>
                <a:endParaRPr lang="en-US" altLang="zh-CN" b="1" dirty="0"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  <a:p>
                <a:pPr eaLnBrk="1" hangingPunct="1"/>
                <a:endParaRPr lang="en-US" altLang="zh-CN" b="1" dirty="0"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  <a:p>
                <a:pPr eaLnBrk="1" hangingPunct="1"/>
                <a:endParaRPr lang="en-US" altLang="zh-CN" b="1" dirty="0"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  <a:p>
                <a:pPr eaLnBrk="1" hangingPunct="1"/>
                <a:endParaRPr lang="en-US" altLang="zh-CN" b="1" dirty="0">
                  <a:latin typeface="Times New Roman" panose="02020603050405020304" pitchFamily="18" charset="0"/>
                  <a:ea typeface="华文新魏" panose="02010800040101010101" pitchFamily="2" charset="-122"/>
                </a:endParaRPr>
              </a:p>
              <a:p>
                <a:pPr eaLnBrk="1" hangingPunct="1"/>
                <a:r>
                  <a:rPr lang="en-US" altLang="zh-CN" b="1" dirty="0">
                    <a:latin typeface="Times New Roman" panose="02020603050405020304" pitchFamily="18" charset="0"/>
                    <a:ea typeface="华文新魏" panose="02010800040101010101" pitchFamily="2" charset="-122"/>
                  </a:rPr>
                  <a:t>Def 1-13 </a:t>
                </a:r>
                <a:r>
                  <a:rPr lang="zh-CN" altLang="en-US" b="1" dirty="0">
                    <a:latin typeface="Times New Roman" panose="02020603050405020304" pitchFamily="18" charset="0"/>
                  </a:rPr>
                  <a:t>设 </a:t>
                </a:r>
                <a:r>
                  <a:rPr lang="en-US" altLang="zh-CN" b="1" i="1" dirty="0">
                    <a:latin typeface="Times New Roman" panose="02020603050405020304" pitchFamily="18" charset="0"/>
                  </a:rPr>
                  <a:t>f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: </a:t>
                </a:r>
                <a:r>
                  <a:rPr lang="en-US" altLang="zh-CN" b="1" i="1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b="1" dirty="0">
                    <a:latin typeface="Times New Roman" panose="02020603050405020304" pitchFamily="18" charset="0"/>
                    <a:sym typeface="Symbol" pitchFamily="2" charset="2"/>
                  </a:rPr>
                  <a:t> </a:t>
                </a:r>
                <a:r>
                  <a:rPr lang="en-US" altLang="zh-CN" b="1" i="1" dirty="0">
                    <a:latin typeface="Times New Roman" panose="02020603050405020304" pitchFamily="18" charset="0"/>
                  </a:rPr>
                  <a:t>B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, </a:t>
                </a:r>
                <a:r>
                  <a:rPr lang="en-US" altLang="zh-CN" b="1" i="1" dirty="0">
                    <a:latin typeface="Times New Roman" panose="02020603050405020304" pitchFamily="18" charset="0"/>
                  </a:rPr>
                  <a:t>g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: </a:t>
                </a:r>
                <a:r>
                  <a:rPr lang="en-US" altLang="zh-CN" b="1" i="1" dirty="0">
                    <a:latin typeface="Times New Roman" panose="02020603050405020304" pitchFamily="18" charset="0"/>
                  </a:rPr>
                  <a:t>B</a:t>
                </a:r>
                <a:r>
                  <a:rPr lang="en-US" altLang="zh-CN" b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b="1" dirty="0">
                    <a:latin typeface="Times New Roman" panose="02020603050405020304" pitchFamily="18" charset="0"/>
                    <a:sym typeface="Symbol" pitchFamily="2" charset="2"/>
                  </a:rPr>
                  <a:t> </a:t>
                </a:r>
                <a:r>
                  <a:rPr lang="en-US" altLang="zh-CN" b="1" i="1" dirty="0">
                    <a:latin typeface="Times New Roman" panose="02020603050405020304" pitchFamily="18" charset="0"/>
                  </a:rPr>
                  <a:t>C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，对</a:t>
                </a:r>
                <a:endParaRPr lang="en-US" altLang="zh-CN" dirty="0"/>
              </a:p>
              <a:p>
                <a:pPr eaLnBrk="1" hangingPunct="1"/>
                <a:endParaRPr lang="en-US" altLang="zh-CN" dirty="0"/>
              </a:p>
              <a:p>
                <a:pPr eaLnBrk="1" hangingPunct="1"/>
                <a:r>
                  <a:rPr lang="zh-CN" altLang="en-US" dirty="0"/>
                  <a:t>称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zh-CN" altLang="en-US" dirty="0"/>
                  <a:t>为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/>
                  <a:t>的复合映射，记为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79874" name="Rectangle 2">
                <a:extLst>
                  <a:ext uri="{FF2B5EF4-FFF2-40B4-BE49-F238E27FC236}">
                    <a16:creationId xmlns:a16="http://schemas.microsoft.com/office/drawing/2014/main" id="{26C5ECA7-1A29-944A-BBCB-F45C63E32B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1704" b="-31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876" name="Oval 4">
            <a:extLst>
              <a:ext uri="{FF2B5EF4-FFF2-40B4-BE49-F238E27FC236}">
                <a16:creationId xmlns:a16="http://schemas.microsoft.com/office/drawing/2014/main" id="{8C5D300D-DBC7-5E45-B98E-8D8588F58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1341438"/>
            <a:ext cx="1079500" cy="23050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b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79877" name="Oval 5">
            <a:extLst>
              <a:ext uri="{FF2B5EF4-FFF2-40B4-BE49-F238E27FC236}">
                <a16:creationId xmlns:a16="http://schemas.microsoft.com/office/drawing/2014/main" id="{981BE904-CF5D-D948-93DE-B2FB46D67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1412875"/>
            <a:ext cx="1079500" cy="23050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Verdana" panose="020B0604030504040204" pitchFamily="34" charset="0"/>
                <a:sym typeface="Symbol" pitchFamily="2" charset="2"/>
              </a:rPr>
              <a:t>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Verdana" panose="020B0604030504040204" pitchFamily="34" charset="0"/>
                <a:sym typeface="Symbol" pitchFamily="2" charset="2"/>
              </a:rPr>
              <a:t>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Verdana" panose="020B0604030504040204" pitchFamily="34" charset="0"/>
                <a:sym typeface="Symbol" pitchFamily="2" charset="2"/>
              </a:rPr>
              <a:t>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Verdana" panose="020B0604030504040204" pitchFamily="34" charset="0"/>
                <a:sym typeface="Symbol" pitchFamily="2" charset="2"/>
              </a:rPr>
              <a:t>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878" name="Object 6">
                <a:extLst>
                  <a:ext uri="{FF2B5EF4-FFF2-40B4-BE49-F238E27FC236}">
                    <a16:creationId xmlns:a16="http://schemas.microsoft.com/office/drawing/2014/main" id="{33CAA361-11A1-2049-9565-C6B15E61154C}"/>
                  </a:ext>
                </a:extLst>
              </p:cNvPr>
              <p:cNvSpPr txBox="1"/>
              <p:nvPr/>
            </p:nvSpPr>
            <p:spPr bwMode="auto">
              <a:xfrm>
                <a:off x="2484438" y="3606800"/>
                <a:ext cx="506412" cy="542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9878" name="Object 6">
                <a:extLst>
                  <a:ext uri="{FF2B5EF4-FFF2-40B4-BE49-F238E27FC236}">
                    <a16:creationId xmlns:a16="http://schemas.microsoft.com/office/drawing/2014/main" id="{33CAA361-11A1-2049-9565-C6B15E6115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84438" y="3606800"/>
                <a:ext cx="506412" cy="5429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879" name="Object 7">
                <a:extLst>
                  <a:ext uri="{FF2B5EF4-FFF2-40B4-BE49-F238E27FC236}">
                    <a16:creationId xmlns:a16="http://schemas.microsoft.com/office/drawing/2014/main" id="{985E98EE-6774-B54C-B06C-23EE7AF1A051}"/>
                  </a:ext>
                </a:extLst>
              </p:cNvPr>
              <p:cNvSpPr txBox="1"/>
              <p:nvPr/>
            </p:nvSpPr>
            <p:spPr bwMode="auto">
              <a:xfrm>
                <a:off x="7014369" y="3663949"/>
                <a:ext cx="369888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9879" name="Object 7">
                <a:extLst>
                  <a:ext uri="{FF2B5EF4-FFF2-40B4-BE49-F238E27FC236}">
                    <a16:creationId xmlns:a16="http://schemas.microsoft.com/office/drawing/2014/main" id="{985E98EE-6774-B54C-B06C-23EE7AF1A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14369" y="3663949"/>
                <a:ext cx="369888" cy="4286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880" name="Line 8">
            <a:extLst>
              <a:ext uri="{FF2B5EF4-FFF2-40B4-BE49-F238E27FC236}">
                <a16:creationId xmlns:a16="http://schemas.microsoft.com/office/drawing/2014/main" id="{A94DC73A-E092-D649-86B1-F9E54DD886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40050" y="1992313"/>
            <a:ext cx="4152900" cy="139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81" name="Line 9">
            <a:extLst>
              <a:ext uri="{FF2B5EF4-FFF2-40B4-BE49-F238E27FC236}">
                <a16:creationId xmlns:a16="http://schemas.microsoft.com/office/drawing/2014/main" id="{0419047D-1D20-DC4E-9DA7-06D6F75256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6238" y="2565400"/>
            <a:ext cx="4176712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882" name="Line 10">
            <a:extLst>
              <a:ext uri="{FF2B5EF4-FFF2-40B4-BE49-F238E27FC236}">
                <a16:creationId xmlns:a16="http://schemas.microsoft.com/office/drawing/2014/main" id="{3ED3241A-6641-FE46-B3FA-8D556A7158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3213" y="2997200"/>
            <a:ext cx="4105275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9883" name="Object 11">
            <a:extLst>
              <a:ext uri="{FF2B5EF4-FFF2-40B4-BE49-F238E27FC236}">
                <a16:creationId xmlns:a16="http://schemas.microsoft.com/office/drawing/2014/main" id="{5B386994-66CE-FC41-89A4-91CD43CD6A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33925" y="1412875"/>
          <a:ext cx="41433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38100" imgH="38100" progId="Equation.3">
                  <p:embed/>
                </p:oleObj>
              </mc:Choice>
              <mc:Fallback>
                <p:oleObj name="公式" r:id="rId5" imgW="38100" imgH="38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3925" y="1412875"/>
                        <a:ext cx="414338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4" name="灯片编号占位符 1">
            <a:extLst>
              <a:ext uri="{FF2B5EF4-FFF2-40B4-BE49-F238E27FC236}">
                <a16:creationId xmlns:a16="http://schemas.microsoft.com/office/drawing/2014/main" id="{7C2C87AF-1A3A-5849-8BE9-1DC33C82E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440816-85DA-DB45-890F-81A42E0539FB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71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6BE0EF7-83B5-9A4C-8C0B-060FED5FECC2}"/>
                  </a:ext>
                </a:extLst>
              </p:cNvPr>
              <p:cNvSpPr/>
              <p:nvPr/>
            </p:nvSpPr>
            <p:spPr>
              <a:xfrm>
                <a:off x="3608242" y="5989350"/>
                <a:ext cx="1927515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3200" i="0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6BE0EF7-83B5-9A4C-8C0B-060FED5FEC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242" y="5989350"/>
                <a:ext cx="1927515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EE59DED-C363-50CD-C64E-B8254278E0F6}"/>
                  </a:ext>
                </a:extLst>
              </p:cNvPr>
              <p:cNvSpPr/>
              <p:nvPr/>
            </p:nvSpPr>
            <p:spPr>
              <a:xfrm>
                <a:off x="2411760" y="4993342"/>
                <a:ext cx="39775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)).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6EE59DED-C363-50CD-C64E-B8254278E0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760" y="4993342"/>
                <a:ext cx="3977564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FA2B7E68-4738-0246-B6DE-1496CCB152D7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876300"/>
            <a:ext cx="8229600" cy="5865813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Remarks</a:t>
            </a: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(</a:t>
            </a:r>
            <a:r>
              <a:rPr lang="en-US" altLang="zh-CN" b="1" dirty="0" err="1">
                <a:latin typeface="Times New Roman" panose="02020603050405020304" pitchFamily="18" charset="0"/>
                <a:ea typeface="华文新魏" panose="02010800040101010101" pitchFamily="2" charset="-122"/>
              </a:rPr>
              <a:t>i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) 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= sin 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, 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u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= 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x</a:t>
            </a:r>
            <a:r>
              <a:rPr lang="en-US" altLang="zh-CN" b="1" baseline="30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endParaRPr lang="en-US" altLang="zh-CN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(ii) </a:t>
            </a:r>
            <a:r>
              <a:rPr lang="zh-CN" altLang="en-US" b="1" dirty="0">
                <a:latin typeface="Times New Roman" panose="02020603050405020304" pitchFamily="18" charset="0"/>
              </a:rPr>
              <a:t>顺序问题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80901" name="Line 5">
            <a:extLst>
              <a:ext uri="{FF2B5EF4-FFF2-40B4-BE49-F238E27FC236}">
                <a16:creationId xmlns:a16="http://schemas.microsoft.com/office/drawing/2014/main" id="{C8638D44-6E12-2E4B-A483-F1302F89E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375" y="3789363"/>
            <a:ext cx="935038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902" name="灯片编号占位符 1">
            <a:extLst>
              <a:ext uri="{FF2B5EF4-FFF2-40B4-BE49-F238E27FC236}">
                <a16:creationId xmlns:a16="http://schemas.microsoft.com/office/drawing/2014/main" id="{BC61EA1A-B3DE-FB43-A66C-5D88568E1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6E731F-ACFA-DD47-9449-544E514E472B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72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0A9C0D9-689A-9D43-B573-05C003418325}"/>
                  </a:ext>
                </a:extLst>
              </p:cNvPr>
              <p:cNvSpPr/>
              <p:nvPr/>
            </p:nvSpPr>
            <p:spPr>
              <a:xfrm>
                <a:off x="4356100" y="1435100"/>
                <a:ext cx="2424446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00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3000" i="0">
                          <a:latin typeface="Cambria Math" panose="02040503050406030204" pitchFamily="18" charset="0"/>
                        </a:rPr>
                        <m:t>sin</m:t>
                      </m:r>
                      <m:sSup>
                        <m:sSupPr>
                          <m:ctrlPr>
                            <a:rPr lang="zh-CN" altLang="en-US" sz="3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30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20A9C0D9-689A-9D43-B573-05C0034183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100" y="1435100"/>
                <a:ext cx="2424446" cy="553998"/>
              </a:xfrm>
              <a:prstGeom prst="rect">
                <a:avLst/>
              </a:prstGeom>
              <a:blipFill>
                <a:blip r:embed="rId3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D2BBE55-3649-064F-B0AE-33F179D80165}"/>
                  </a:ext>
                </a:extLst>
              </p:cNvPr>
              <p:cNvSpPr/>
              <p:nvPr/>
            </p:nvSpPr>
            <p:spPr>
              <a:xfrm>
                <a:off x="3419475" y="3213100"/>
                <a:ext cx="3857916" cy="55399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endChr m:val=""/>
                          <m:ctrlPr>
                            <a:rPr lang="zh-CN" altLang="en-US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3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zh-CN" altLang="en-US" sz="30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zh-CN" altLang="en-US" sz="3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zh-CN" altLang="en-US" sz="30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3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30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)).</m:t>
                          </m:r>
                        </m:e>
                      </m:d>
                    </m:oMath>
                  </m:oMathPara>
                </a14:m>
                <a:endParaRPr lang="zh-CN" altLang="en-US" sz="30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D2BBE55-3649-064F-B0AE-33F179D801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475" y="3213100"/>
                <a:ext cx="3857916" cy="553998"/>
              </a:xfrm>
              <a:prstGeom prst="rect">
                <a:avLst/>
              </a:prstGeom>
              <a:blipFill>
                <a:blip r:embed="rId4"/>
                <a:stretch>
                  <a:fillRect l="-14098" t="-133333" b="-20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87CF1406-2A95-8740-91AB-A9770FF4BB40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506937" y="576262"/>
            <a:ext cx="8229600" cy="5865813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b="1" dirty="0">
                <a:ea typeface="华文新魏" panose="02010800040101010101" pitchFamily="2" charset="-122"/>
              </a:rPr>
              <a:t>例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1-13  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: R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R, 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) = 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x</a:t>
            </a:r>
            <a:r>
              <a:rPr lang="en-US" altLang="zh-CN" b="1" baseline="30000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,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: R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R, 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) = 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 + 2, 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求</a:t>
            </a:r>
            <a:r>
              <a:rPr lang="en-US" altLang="zh-CN" b="1" i="1" dirty="0" err="1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f</a:t>
            </a:r>
            <a:r>
              <a:rPr lang="en-US" altLang="zh-CN" b="1" dirty="0" err="1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Symbol" pitchFamily="2" charset="2"/>
              </a:rPr>
              <a:t>◦</a:t>
            </a:r>
            <a:r>
              <a:rPr lang="en-US" altLang="zh-CN" b="1" i="1" dirty="0" err="1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  <a:sym typeface="Symbol" pitchFamily="2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和</a:t>
            </a:r>
            <a:r>
              <a:rPr lang="en-US" altLang="zh-CN" b="1" i="1" dirty="0" err="1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g</a:t>
            </a:r>
            <a:r>
              <a:rPr lang="en-US" altLang="zh-CN" b="1" dirty="0" err="1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◦</a:t>
            </a:r>
            <a:r>
              <a:rPr lang="en-US" altLang="zh-CN" b="1" i="1" dirty="0" err="1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Solution 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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  R: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f</a:t>
            </a:r>
            <a:r>
              <a:rPr lang="en-US" altLang="zh-CN" b="1" dirty="0" err="1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◦</a:t>
            </a:r>
            <a:r>
              <a:rPr lang="en-US" altLang="zh-CN" b="1" i="1" dirty="0" err="1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)(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) = 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)) = 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x</a:t>
            </a:r>
            <a:r>
              <a:rPr lang="en-US" altLang="zh-CN" b="1" baseline="30000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) = 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x</a:t>
            </a:r>
            <a:r>
              <a:rPr lang="en-US" altLang="zh-CN" b="1" baseline="30000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+ 2.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g</a:t>
            </a:r>
            <a:r>
              <a:rPr lang="en-US" altLang="zh-CN" b="1" dirty="0" err="1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◦</a:t>
            </a:r>
            <a:r>
              <a:rPr lang="en-US" altLang="zh-CN" b="1" i="1" dirty="0" err="1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)(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) = 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)) = 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x+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) = (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x+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)</a:t>
            </a:r>
            <a:r>
              <a:rPr lang="en-US" altLang="zh-CN" b="1" baseline="30000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.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Remark  </a:t>
            </a:r>
            <a:r>
              <a:rPr lang="en-US" altLang="zh-CN" b="1" i="1" dirty="0" err="1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f</a:t>
            </a:r>
            <a:r>
              <a:rPr lang="en-US" altLang="zh-CN" b="1" dirty="0" err="1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◦</a:t>
            </a:r>
            <a:r>
              <a:rPr lang="en-US" altLang="zh-CN" b="1" i="1" dirty="0" err="1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g</a:t>
            </a:r>
            <a:r>
              <a:rPr lang="en-US" altLang="zh-CN" b="1" i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 </a:t>
            </a:r>
            <a:r>
              <a:rPr lang="en-US" altLang="zh-CN" b="1" i="1" dirty="0" err="1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g</a:t>
            </a:r>
            <a:r>
              <a:rPr lang="en-US" altLang="zh-CN" b="1" dirty="0" err="1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◦</a:t>
            </a:r>
            <a:r>
              <a:rPr lang="en-US" altLang="zh-CN" b="1" i="1" dirty="0" err="1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.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关于复合映射还有两个方面的问题需要讨论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:</a:t>
            </a:r>
          </a:p>
        </p:txBody>
      </p:sp>
      <p:sp>
        <p:nvSpPr>
          <p:cNvPr id="81923" name="灯片编号占位符 1">
            <a:extLst>
              <a:ext uri="{FF2B5EF4-FFF2-40B4-BE49-F238E27FC236}">
                <a16:creationId xmlns:a16="http://schemas.microsoft.com/office/drawing/2014/main" id="{DD63B794-2D9C-2F4F-A8BB-D397B8E9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4857FF-BF52-8C43-B99C-9A87AF946CB0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73</a:t>
            </a:fld>
            <a:endParaRPr lang="en-US" altLang="zh-CN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19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9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EC5FD377-2CB8-DB4B-AB00-3A59B9359887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442913"/>
            <a:ext cx="8229600" cy="5865812"/>
          </a:xfrm>
        </p:spPr>
        <p:txBody>
          <a:bodyPr/>
          <a:lstStyle/>
          <a:p>
            <a:pPr eaLnBrk="1" hangingPunct="1"/>
            <a:r>
              <a:rPr lang="en-US" altLang="zh-CN" sz="4400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(I)</a:t>
            </a:r>
            <a:r>
              <a:rPr lang="zh-CN" altLang="en-US" sz="4400" b="1" i="1" dirty="0">
                <a:solidFill>
                  <a:srgbClr val="0066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复合映射与逆映射的关系</a:t>
            </a:r>
          </a:p>
          <a:p>
            <a:pPr eaLnBrk="1" hangingPunct="1"/>
            <a:r>
              <a:rPr lang="en-US" altLang="zh-CN" sz="4400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I</a:t>
            </a:r>
            <a:r>
              <a:rPr lang="en-US" altLang="zh-CN" sz="4400" b="1" i="1" baseline="-25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A</a:t>
            </a:r>
            <a:r>
              <a:rPr lang="en-US" altLang="zh-CN" sz="44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: </a:t>
            </a:r>
            <a:r>
              <a:rPr lang="en-US" altLang="zh-CN" sz="4400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A</a:t>
            </a:r>
            <a:r>
              <a:rPr lang="en-US" altLang="zh-CN" sz="44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 </a:t>
            </a:r>
            <a:r>
              <a:rPr lang="en-US" altLang="zh-CN" sz="4400" b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 </a:t>
            </a:r>
            <a:r>
              <a:rPr lang="en-US" altLang="zh-CN" sz="4400" b="1" i="1" dirty="0">
                <a:latin typeface="Times New Roman" panose="02020603050405020304" pitchFamily="18" charset="0"/>
                <a:ea typeface="华文新魏" panose="02010800040101010101" pitchFamily="2" charset="-122"/>
                <a:sym typeface="Symbol" pitchFamily="2" charset="2"/>
              </a:rPr>
              <a:t>A</a:t>
            </a:r>
          </a:p>
          <a:p>
            <a:pPr eaLnBrk="1" hangingPunct="1"/>
            <a:endParaRPr lang="en-US" altLang="zh-CN" sz="4400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/>
            <a:endParaRPr lang="en-US" altLang="zh-CN" sz="4400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sz="4400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I</a:t>
            </a:r>
            <a:r>
              <a:rPr lang="en-US" altLang="zh-CN" sz="4400" b="1" i="1" baseline="-25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B</a:t>
            </a:r>
            <a:r>
              <a:rPr lang="en-US" altLang="zh-CN" sz="44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?</a:t>
            </a:r>
          </a:p>
        </p:txBody>
      </p:sp>
      <p:graphicFrame>
        <p:nvGraphicFramePr>
          <p:cNvPr id="82947" name="Object 3">
            <a:extLst>
              <a:ext uri="{FF2B5EF4-FFF2-40B4-BE49-F238E27FC236}">
                <a16:creationId xmlns:a16="http://schemas.microsoft.com/office/drawing/2014/main" id="{305302B6-A33A-C549-8F13-BBAF91859C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1989138"/>
          <a:ext cx="18002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icrosoft Equation 3.0" r:id="rId2" imgW="76200" imgH="38100" progId="Equation.3">
                  <p:embed/>
                </p:oleObj>
              </mc:Choice>
              <mc:Fallback>
                <p:oleObj name="Microsoft Equation 3.0" r:id="rId2" imgW="76200" imgH="38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1989138"/>
                        <a:ext cx="180022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8" name="Oval 4">
            <a:extLst>
              <a:ext uri="{FF2B5EF4-FFF2-40B4-BE49-F238E27FC236}">
                <a16:creationId xmlns:a16="http://schemas.microsoft.com/office/drawing/2014/main" id="{ABE18B9A-5655-E74E-A4B5-8305F355E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7182" y="2708920"/>
            <a:ext cx="1511300" cy="23764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82949" name="Oval 5">
            <a:extLst>
              <a:ext uri="{FF2B5EF4-FFF2-40B4-BE49-F238E27FC236}">
                <a16:creationId xmlns:a16="http://schemas.microsoft.com/office/drawing/2014/main" id="{9D009811-9C7E-3043-B905-BBB3B403B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1007" y="2708920"/>
            <a:ext cx="1511300" cy="23764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2951" name="Line 7">
            <a:extLst>
              <a:ext uri="{FF2B5EF4-FFF2-40B4-BE49-F238E27FC236}">
                <a16:creationId xmlns:a16="http://schemas.microsoft.com/office/drawing/2014/main" id="{8B35BCC2-4D22-4B4C-8E61-A17A6D02A0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9919" y="3932883"/>
            <a:ext cx="10080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952" name="Oval 8">
            <a:extLst>
              <a:ext uri="{FF2B5EF4-FFF2-40B4-BE49-F238E27FC236}">
                <a16:creationId xmlns:a16="http://schemas.microsoft.com/office/drawing/2014/main" id="{39AABDEA-223C-C046-BEEF-FF1D381B3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757" y="3501083"/>
            <a:ext cx="144462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2953" name="Oval 9">
            <a:extLst>
              <a:ext uri="{FF2B5EF4-FFF2-40B4-BE49-F238E27FC236}">
                <a16:creationId xmlns:a16="http://schemas.microsoft.com/office/drawing/2014/main" id="{94B0E453-6A68-9246-BADB-3426E7ACD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7269" y="3501083"/>
            <a:ext cx="144463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2954" name="Line 10">
            <a:extLst>
              <a:ext uri="{FF2B5EF4-FFF2-40B4-BE49-F238E27FC236}">
                <a16:creationId xmlns:a16="http://schemas.microsoft.com/office/drawing/2014/main" id="{4A3A5228-CD4A-A14A-8169-15D9C7BB61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5244" y="3574108"/>
            <a:ext cx="215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955" name="Object 11">
                <a:extLst>
                  <a:ext uri="{FF2B5EF4-FFF2-40B4-BE49-F238E27FC236}">
                    <a16:creationId xmlns:a16="http://schemas.microsoft.com/office/drawing/2014/main" id="{C544D42B-469F-5E49-98EB-83CFAF831083}"/>
                  </a:ext>
                </a:extLst>
              </p:cNvPr>
              <p:cNvSpPr txBox="1"/>
              <p:nvPr/>
            </p:nvSpPr>
            <p:spPr bwMode="auto">
              <a:xfrm>
                <a:off x="2757869" y="3377258"/>
                <a:ext cx="312738" cy="3413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82955" name="Object 11">
                <a:extLst>
                  <a:ext uri="{FF2B5EF4-FFF2-40B4-BE49-F238E27FC236}">
                    <a16:creationId xmlns:a16="http://schemas.microsoft.com/office/drawing/2014/main" id="{C544D42B-469F-5E49-98EB-83CFAF831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57869" y="3377258"/>
                <a:ext cx="312738" cy="341312"/>
              </a:xfrm>
              <a:prstGeom prst="rect">
                <a:avLst/>
              </a:prstGeom>
              <a:blipFill>
                <a:blip r:embed="rId4"/>
                <a:stretch>
                  <a:fillRect r="-9615" b="-25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956" name="Object 12">
                <a:extLst>
                  <a:ext uri="{FF2B5EF4-FFF2-40B4-BE49-F238E27FC236}">
                    <a16:creationId xmlns:a16="http://schemas.microsoft.com/office/drawing/2014/main" id="{B38CFB2B-D158-3046-B998-98DC14D7B4B1}"/>
                  </a:ext>
                </a:extLst>
              </p:cNvPr>
              <p:cNvSpPr txBox="1"/>
              <p:nvPr/>
            </p:nvSpPr>
            <p:spPr bwMode="auto">
              <a:xfrm>
                <a:off x="5793169" y="3358208"/>
                <a:ext cx="312738" cy="3413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82956" name="Object 12">
                <a:extLst>
                  <a:ext uri="{FF2B5EF4-FFF2-40B4-BE49-F238E27FC236}">
                    <a16:creationId xmlns:a16="http://schemas.microsoft.com/office/drawing/2014/main" id="{B38CFB2B-D158-3046-B998-98DC14D7B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93169" y="3358208"/>
                <a:ext cx="312738" cy="341312"/>
              </a:xfrm>
              <a:prstGeom prst="rect">
                <a:avLst/>
              </a:prstGeom>
              <a:blipFill>
                <a:blip r:embed="rId5"/>
                <a:stretch>
                  <a:fillRect r="-9615" b="-232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959" name="灯片编号占位符 1">
            <a:extLst>
              <a:ext uri="{FF2B5EF4-FFF2-40B4-BE49-F238E27FC236}">
                <a16:creationId xmlns:a16="http://schemas.microsoft.com/office/drawing/2014/main" id="{E18FDC42-5BCB-744A-A753-1C78C62F5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6BF3B3-9612-9D45-BF33-D8A52AD02317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74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6FB490C-4036-6F4B-89C9-2A5B4BEB73A8}"/>
                  </a:ext>
                </a:extLst>
              </p:cNvPr>
              <p:cNvSpPr/>
              <p:nvPr/>
            </p:nvSpPr>
            <p:spPr>
              <a:xfrm>
                <a:off x="4208844" y="4005908"/>
                <a:ext cx="600870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3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3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30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zh-CN" altLang="en-US" sz="30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6FB490C-4036-6F4B-89C9-2A5B4BEB73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8844" y="4005908"/>
                <a:ext cx="600870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1E49DAC-6643-024C-85A7-4DCCB55D4A14}"/>
                  </a:ext>
                </a:extLst>
              </p:cNvPr>
              <p:cNvSpPr/>
              <p:nvPr/>
            </p:nvSpPr>
            <p:spPr>
              <a:xfrm>
                <a:off x="2695957" y="4509145"/>
                <a:ext cx="5152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1E49DAC-6643-024C-85A7-4DCCB55D4A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5957" y="4509145"/>
                <a:ext cx="51520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F7E1694-C858-B349-9871-D884CC885681}"/>
                  </a:ext>
                </a:extLst>
              </p:cNvPr>
              <p:cNvSpPr/>
              <p:nvPr/>
            </p:nvSpPr>
            <p:spPr>
              <a:xfrm>
                <a:off x="5432807" y="4509145"/>
                <a:ext cx="5152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F7E1694-C858-B349-9871-D884CC8856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807" y="4509145"/>
                <a:ext cx="51520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B5458BB7-111A-1F5B-68D2-5982036A1017}"/>
              </a:ext>
            </a:extLst>
          </p:cNvPr>
          <p:cNvSpPr txBox="1"/>
          <p:nvPr/>
        </p:nvSpPr>
        <p:spPr>
          <a:xfrm>
            <a:off x="3585627" y="2011720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i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I</a:t>
            </a:r>
            <a:r>
              <a:rPr lang="en-US" altLang="zh-CN" sz="3200" b="1" i="1" baseline="-25000" dirty="0">
                <a:latin typeface="Times New Roman" panose="02020603050405020304" pitchFamily="18" charset="0"/>
                <a:ea typeface="华文新魏" panose="02010800040101010101" pitchFamily="2" charset="-122"/>
              </a:rPr>
              <a:t>A</a:t>
            </a:r>
            <a:r>
              <a:rPr lang="en-US" altLang="zh-CN" sz="3200" dirty="0"/>
              <a:t>(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3200" dirty="0"/>
              <a:t>) =</a:t>
            </a:r>
            <a:r>
              <a:rPr lang="en-US" altLang="zh-C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01BDA66B-B0DB-DA4D-A87D-D04D8332CCAB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204788"/>
            <a:ext cx="8229600" cy="2647950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Theorem 1-9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理解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</a:p>
          <a:p>
            <a:pPr eaLnBrk="1" hangingPunct="1"/>
            <a:endParaRPr lang="en-US" altLang="zh-CN" b="1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b="1" dirty="0"/>
          </a:p>
          <a:p>
            <a:pPr eaLnBrk="1" hangingPunct="1"/>
            <a:endParaRPr lang="en-US" altLang="zh-CN" dirty="0"/>
          </a:p>
        </p:txBody>
      </p:sp>
      <p:sp>
        <p:nvSpPr>
          <p:cNvPr id="83973" name="Oval 5">
            <a:extLst>
              <a:ext uri="{FF2B5EF4-FFF2-40B4-BE49-F238E27FC236}">
                <a16:creationId xmlns:a16="http://schemas.microsoft.com/office/drawing/2014/main" id="{D00FE9D9-8C2B-1941-B9AD-3ADFE977C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2060575"/>
            <a:ext cx="935038" cy="15128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1">
                <a:latin typeface="Times New Roman" panose="02020603050405020304" pitchFamily="18" charset="0"/>
              </a:rPr>
              <a:t>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1">
                <a:latin typeface="Times New Roman" panose="02020603050405020304" pitchFamily="18" charset="0"/>
              </a:rPr>
              <a:t>b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83974" name="Oval 6">
            <a:extLst>
              <a:ext uri="{FF2B5EF4-FFF2-40B4-BE49-F238E27FC236}">
                <a16:creationId xmlns:a16="http://schemas.microsoft.com/office/drawing/2014/main" id="{66B23D53-8C16-4346-8058-D0D177986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060575"/>
            <a:ext cx="935038" cy="15843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3975" name="Oval 7">
            <a:extLst>
              <a:ext uri="{FF2B5EF4-FFF2-40B4-BE49-F238E27FC236}">
                <a16:creationId xmlns:a16="http://schemas.microsoft.com/office/drawing/2014/main" id="{0C844D42-A239-2247-939B-097656BDF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2060575"/>
            <a:ext cx="935037" cy="15128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1">
                <a:latin typeface="Times New Roman" panose="02020603050405020304" pitchFamily="18" charset="0"/>
              </a:rPr>
              <a:t>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1">
                <a:latin typeface="Times New Roman" panose="02020603050405020304" pitchFamily="18" charset="0"/>
              </a:rPr>
              <a:t>b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83976" name="Line 8">
            <a:extLst>
              <a:ext uri="{FF2B5EF4-FFF2-40B4-BE49-F238E27FC236}">
                <a16:creationId xmlns:a16="http://schemas.microsoft.com/office/drawing/2014/main" id="{E153CA73-7B5C-B84D-998D-6C9F544FD4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2565400"/>
            <a:ext cx="13668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7" name="Line 9">
            <a:extLst>
              <a:ext uri="{FF2B5EF4-FFF2-40B4-BE49-F238E27FC236}">
                <a16:creationId xmlns:a16="http://schemas.microsoft.com/office/drawing/2014/main" id="{0ADD4A79-31E5-6942-AB8E-F9AEDCECD97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2852738"/>
            <a:ext cx="13668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8" name="Line 10">
            <a:extLst>
              <a:ext uri="{FF2B5EF4-FFF2-40B4-BE49-F238E27FC236}">
                <a16:creationId xmlns:a16="http://schemas.microsoft.com/office/drawing/2014/main" id="{CA1478C1-230F-EE4D-B5E8-8F284F925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3141663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79" name="Line 11">
            <a:extLst>
              <a:ext uri="{FF2B5EF4-FFF2-40B4-BE49-F238E27FC236}">
                <a16:creationId xmlns:a16="http://schemas.microsoft.com/office/drawing/2014/main" id="{D392A722-6F28-FE4D-83F8-A347B35E12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1275" y="2565400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80" name="Line 12">
            <a:extLst>
              <a:ext uri="{FF2B5EF4-FFF2-40B4-BE49-F238E27FC236}">
                <a16:creationId xmlns:a16="http://schemas.microsoft.com/office/drawing/2014/main" id="{2B00D085-4667-624D-99B6-CFAFAD150F8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1275" y="2852738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81" name="Line 13">
            <a:extLst>
              <a:ext uri="{FF2B5EF4-FFF2-40B4-BE49-F238E27FC236}">
                <a16:creationId xmlns:a16="http://schemas.microsoft.com/office/drawing/2014/main" id="{3EFD6CA9-505B-1849-A06A-BDFB57F0C2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4300" y="3141663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83" name="Oval 16">
            <a:extLst>
              <a:ext uri="{FF2B5EF4-FFF2-40B4-BE49-F238E27FC236}">
                <a16:creationId xmlns:a16="http://schemas.microsoft.com/office/drawing/2014/main" id="{B3DA73ED-EE6C-CB4A-A28E-D951C8EE5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4292600"/>
            <a:ext cx="935038" cy="15843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3984" name="Oval 17">
            <a:extLst>
              <a:ext uri="{FF2B5EF4-FFF2-40B4-BE49-F238E27FC236}">
                <a16:creationId xmlns:a16="http://schemas.microsoft.com/office/drawing/2014/main" id="{28993A27-962B-5744-88A5-4219520F0B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292600"/>
            <a:ext cx="935038" cy="15128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1">
                <a:latin typeface="Times New Roman" panose="02020603050405020304" pitchFamily="18" charset="0"/>
              </a:rPr>
              <a:t>a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1">
                <a:latin typeface="Times New Roman" panose="02020603050405020304" pitchFamily="18" charset="0"/>
              </a:rPr>
              <a:t>b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 i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83985" name="Oval 18">
            <a:extLst>
              <a:ext uri="{FF2B5EF4-FFF2-40B4-BE49-F238E27FC236}">
                <a16:creationId xmlns:a16="http://schemas.microsoft.com/office/drawing/2014/main" id="{611207B8-6C70-8B49-B5EB-B93D0CDE2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4221163"/>
            <a:ext cx="935037" cy="15843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83986" name="Line 19">
            <a:extLst>
              <a:ext uri="{FF2B5EF4-FFF2-40B4-BE49-F238E27FC236}">
                <a16:creationId xmlns:a16="http://schemas.microsoft.com/office/drawing/2014/main" id="{87E5789E-D70D-A442-9990-F962A2B95C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4797425"/>
            <a:ext cx="1439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87" name="Line 20">
            <a:extLst>
              <a:ext uri="{FF2B5EF4-FFF2-40B4-BE49-F238E27FC236}">
                <a16:creationId xmlns:a16="http://schemas.microsoft.com/office/drawing/2014/main" id="{510ADC2E-8987-FC4A-A87A-645BE1C2D0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5513" y="5084763"/>
            <a:ext cx="1512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88" name="Line 21">
            <a:extLst>
              <a:ext uri="{FF2B5EF4-FFF2-40B4-BE49-F238E27FC236}">
                <a16:creationId xmlns:a16="http://schemas.microsoft.com/office/drawing/2014/main" id="{6C1651D6-B972-4745-9F60-A46D1E84A073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8538" y="5300663"/>
            <a:ext cx="15128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89" name="Line 22">
            <a:extLst>
              <a:ext uri="{FF2B5EF4-FFF2-40B4-BE49-F238E27FC236}">
                <a16:creationId xmlns:a16="http://schemas.microsoft.com/office/drawing/2014/main" id="{9BF63540-2569-E546-85C2-4DAE70FAF2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0200" y="4795838"/>
            <a:ext cx="15128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90" name="Line 23">
            <a:extLst>
              <a:ext uri="{FF2B5EF4-FFF2-40B4-BE49-F238E27FC236}">
                <a16:creationId xmlns:a16="http://schemas.microsoft.com/office/drawing/2014/main" id="{73553611-CC26-6B4A-B7A0-CD42DFA257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40200" y="5084763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91" name="Line 24">
            <a:extLst>
              <a:ext uri="{FF2B5EF4-FFF2-40B4-BE49-F238E27FC236}">
                <a16:creationId xmlns:a16="http://schemas.microsoft.com/office/drawing/2014/main" id="{28A3D7AF-DCCF-144D-893D-786D20A7D2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0200" y="5300663"/>
            <a:ext cx="16557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999" name="灯片编号占位符 1">
            <a:extLst>
              <a:ext uri="{FF2B5EF4-FFF2-40B4-BE49-F238E27FC236}">
                <a16:creationId xmlns:a16="http://schemas.microsoft.com/office/drawing/2014/main" id="{CAE74D44-EE35-A740-9011-A6D807A9F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71AFF37-3FB4-9F4A-A9CB-101668C98D6E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75</a:t>
            </a:fld>
            <a:endParaRPr lang="en-US" altLang="zh-CN" sz="1400"/>
          </a:p>
        </p:txBody>
      </p:sp>
      <p:sp>
        <p:nvSpPr>
          <p:cNvPr id="84000" name="文本框 1">
            <a:extLst>
              <a:ext uri="{FF2B5EF4-FFF2-40B4-BE49-F238E27FC236}">
                <a16:creationId xmlns:a16="http://schemas.microsoft.com/office/drawing/2014/main" id="{9747C40D-A2C2-9047-8AC8-6CEA5D1D8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0188" y="2078038"/>
            <a:ext cx="527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2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001" name="文本框 2">
            <a:extLst>
              <a:ext uri="{FF2B5EF4-FFF2-40B4-BE49-F238E27FC236}">
                <a16:creationId xmlns:a16="http://schemas.microsoft.com/office/drawing/2014/main" id="{4DBF755C-5D2C-CA42-A137-59DDC81E1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1863" y="4262438"/>
            <a:ext cx="527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2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B4343734-8124-9C40-B334-9828B7EF4569}"/>
                  </a:ext>
                </a:extLst>
              </p:cNvPr>
              <p:cNvSpPr/>
              <p:nvPr/>
            </p:nvSpPr>
            <p:spPr>
              <a:xfrm>
                <a:off x="3348038" y="188640"/>
                <a:ext cx="296036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 dirty="0"/>
                  <a:t>双射函数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en-US" sz="2800" i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sz="2800" i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B4343734-8124-9C40-B334-9828B7EF45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038" y="188640"/>
                <a:ext cx="2960362" cy="523220"/>
              </a:xfrm>
              <a:prstGeom prst="rect">
                <a:avLst/>
              </a:prstGeom>
              <a:blipFill>
                <a:blip r:embed="rId2"/>
                <a:stretch>
                  <a:fillRect l="-4115" t="-16279" b="-27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94FAB9B-8CB4-5A47-899F-18FEF41B4922}"/>
                  </a:ext>
                </a:extLst>
              </p:cNvPr>
              <p:cNvSpPr/>
              <p:nvPr/>
            </p:nvSpPr>
            <p:spPr>
              <a:xfrm>
                <a:off x="3203575" y="836613"/>
                <a:ext cx="464543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∘</m:t>
                      </m:r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∘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194FAB9B-8CB4-5A47-899F-18FEF41B49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575" y="836613"/>
                <a:ext cx="4645439" cy="523220"/>
              </a:xfrm>
              <a:prstGeom prst="rect">
                <a:avLst/>
              </a:prstGeom>
              <a:blipFill>
                <a:blip r:embed="rId3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45508B4-25EB-1C46-AD2E-A0F6A3489EDD}"/>
                  </a:ext>
                </a:extLst>
              </p:cNvPr>
              <p:cNvSpPr/>
              <p:nvPr/>
            </p:nvSpPr>
            <p:spPr>
              <a:xfrm>
                <a:off x="1908175" y="1557338"/>
                <a:ext cx="492507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345508B4-25EB-1C46-AD2E-A0F6A3489E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8175" y="1557338"/>
                <a:ext cx="492507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AF31184A-212D-9642-BFAA-2B4110AEB7EE}"/>
                  </a:ext>
                </a:extLst>
              </p:cNvPr>
              <p:cNvSpPr/>
              <p:nvPr/>
            </p:nvSpPr>
            <p:spPr>
              <a:xfrm>
                <a:off x="3419475" y="1557338"/>
                <a:ext cx="504625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AF31184A-212D-9642-BFAA-2B4110AEB7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475" y="1557338"/>
                <a:ext cx="504625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2C509400-9187-9540-B7CE-37B771BF7313}"/>
                  </a:ext>
                </a:extLst>
              </p:cNvPr>
              <p:cNvSpPr/>
              <p:nvPr/>
            </p:nvSpPr>
            <p:spPr>
              <a:xfrm>
                <a:off x="3719131" y="5722327"/>
                <a:ext cx="492507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2C509400-9187-9540-B7CE-37B771BF73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131" y="5722327"/>
                <a:ext cx="492507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F0C7560E-B7FD-124E-B560-C05B372A2469}"/>
                  </a:ext>
                </a:extLst>
              </p:cNvPr>
              <p:cNvSpPr/>
              <p:nvPr/>
            </p:nvSpPr>
            <p:spPr>
              <a:xfrm>
                <a:off x="5406633" y="1549914"/>
                <a:ext cx="492507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F0C7560E-B7FD-124E-B560-C05B372A24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633" y="1549914"/>
                <a:ext cx="492507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C89211EE-E84D-4840-AE36-83D9C506D0A3}"/>
                  </a:ext>
                </a:extLst>
              </p:cNvPr>
              <p:cNvSpPr/>
              <p:nvPr/>
            </p:nvSpPr>
            <p:spPr>
              <a:xfrm>
                <a:off x="1809669" y="5744869"/>
                <a:ext cx="504625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C89211EE-E84D-4840-AE36-83D9C506D0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669" y="5744869"/>
                <a:ext cx="504625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639E5B6A-7EF5-2543-BA31-0885D2060967}"/>
                  </a:ext>
                </a:extLst>
              </p:cNvPr>
              <p:cNvSpPr/>
              <p:nvPr/>
            </p:nvSpPr>
            <p:spPr>
              <a:xfrm>
                <a:off x="5602560" y="5722327"/>
                <a:ext cx="504625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639E5B6A-7EF5-2543-BA31-0885D20609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560" y="5722327"/>
                <a:ext cx="504625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1285689-6E81-3C48-AF21-1DDF54E992E7}"/>
                  </a:ext>
                </a:extLst>
              </p:cNvPr>
              <p:cNvSpPr/>
              <p:nvPr/>
            </p:nvSpPr>
            <p:spPr>
              <a:xfrm>
                <a:off x="2592065" y="4206531"/>
                <a:ext cx="86107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1285689-6E81-3C48-AF21-1DDF54E992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065" y="4206531"/>
                <a:ext cx="861070" cy="523220"/>
              </a:xfrm>
              <a:prstGeom prst="rect">
                <a:avLst/>
              </a:prstGeom>
              <a:blipFill>
                <a:blip r:embed="rId9"/>
                <a:stretch>
                  <a:fillRect l="-2941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C104B3C2-BA51-9241-A354-45BA54A1E1C0}"/>
                  </a:ext>
                </a:extLst>
              </p:cNvPr>
              <p:cNvSpPr/>
              <p:nvPr/>
            </p:nvSpPr>
            <p:spPr>
              <a:xfrm>
                <a:off x="4286994" y="2060848"/>
                <a:ext cx="86107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C104B3C2-BA51-9241-A354-45BA54A1E1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994" y="2060848"/>
                <a:ext cx="861070" cy="523220"/>
              </a:xfrm>
              <a:prstGeom prst="rect">
                <a:avLst/>
              </a:prstGeom>
              <a:blipFill>
                <a:blip r:embed="rId10"/>
                <a:stretch>
                  <a:fillRect l="-2941" b="-2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0C224A90-51FC-3249-AFB4-644385F6E781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515938"/>
            <a:ext cx="7931150" cy="5865812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4400" dirty="0">
                <a:latin typeface="Times New Roman" panose="02020603050405020304" pitchFamily="18" charset="0"/>
                <a:ea typeface="华文新魏" panose="02010800040101010101" pitchFamily="2" charset="-122"/>
              </a:rPr>
              <a:t>(II)</a:t>
            </a:r>
            <a:r>
              <a:rPr lang="zh-CN" altLang="en-US" sz="4400" b="1" dirty="0">
                <a:solidFill>
                  <a:srgbClr val="0066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复合映射与单射</a:t>
            </a:r>
            <a:r>
              <a:rPr lang="zh-CN" altLang="en-US" sz="4400" b="1" dirty="0">
                <a:solidFill>
                  <a:srgbClr val="006600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sz="4400" b="1" dirty="0">
                <a:solidFill>
                  <a:srgbClr val="0066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满射和双射的关系</a:t>
            </a:r>
            <a:endParaRPr lang="zh-CN" altLang="en-US" b="1" dirty="0">
              <a:solidFill>
                <a:srgbClr val="0066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Theorem 1-10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(1)</a:t>
            </a:r>
            <a:r>
              <a:rPr lang="zh-CN" altLang="en-US" b="1" dirty="0">
                <a:latin typeface="Times New Roman" panose="02020603050405020304" pitchFamily="18" charset="0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是单射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b="1" dirty="0" err="1">
                <a:latin typeface="Times New Roman" panose="02020603050405020304" pitchFamily="18" charset="0"/>
              </a:rPr>
              <a:t>◦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是单射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(2)</a:t>
            </a:r>
            <a:r>
              <a:rPr lang="zh-CN" altLang="en-US" b="1" dirty="0">
                <a:latin typeface="Times New Roman" panose="02020603050405020304" pitchFamily="18" charset="0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是满射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b="1" dirty="0" err="1">
                <a:latin typeface="Times New Roman" panose="02020603050405020304" pitchFamily="18" charset="0"/>
              </a:rPr>
              <a:t>◦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是满射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  <a:endParaRPr lang="en-US" altLang="zh-CN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(3)</a:t>
            </a:r>
            <a:r>
              <a:rPr lang="zh-CN" altLang="en-US" b="1" dirty="0">
                <a:latin typeface="Times New Roman" panose="02020603050405020304" pitchFamily="18" charset="0"/>
              </a:rPr>
              <a:t>若</a:t>
            </a:r>
            <a:r>
              <a:rPr lang="en-US" altLang="zh-CN" b="1" i="1" dirty="0">
                <a:latin typeface="Times New Roman" panose="02020603050405020304" pitchFamily="18" charset="0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是双射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则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b="1" dirty="0" err="1">
                <a:latin typeface="Times New Roman" panose="02020603050405020304" pitchFamily="18" charset="0"/>
              </a:rPr>
              <a:t>◦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是双射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84996" name="灯片编号占位符 1">
            <a:extLst>
              <a:ext uri="{FF2B5EF4-FFF2-40B4-BE49-F238E27FC236}">
                <a16:creationId xmlns:a16="http://schemas.microsoft.com/office/drawing/2014/main" id="{04538D14-E88D-6F4E-87EB-4CF5970F3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C5346F-A1CE-F245-B53B-DF86324CE0AA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76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E58117F-5DA7-A841-A765-A2693C92941F}"/>
                  </a:ext>
                </a:extLst>
              </p:cNvPr>
              <p:cNvSpPr/>
              <p:nvPr/>
            </p:nvSpPr>
            <p:spPr>
              <a:xfrm>
                <a:off x="3419475" y="2362200"/>
                <a:ext cx="3398174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30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E58117F-5DA7-A841-A765-A2693C9294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475" y="2362200"/>
                <a:ext cx="3398174" cy="553998"/>
              </a:xfrm>
              <a:prstGeom prst="rect">
                <a:avLst/>
              </a:prstGeom>
              <a:blipFill>
                <a:blip r:embed="rId2"/>
                <a:stretch>
                  <a:fillRect l="-372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2536646C-AAE7-5845-98DE-9278F7BC141F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(1)</a:t>
            </a:r>
            <a:r>
              <a:rPr lang="zh-CN" altLang="en-US" b="1" dirty="0">
                <a:latin typeface="Times New Roman" panose="02020603050405020304" pitchFamily="18" charset="0"/>
              </a:rPr>
              <a:t>的直观理解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</a:p>
          <a:p>
            <a:pPr eaLnBrk="1" hangingPunct="1"/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86019" name="Oval 3">
            <a:extLst>
              <a:ext uri="{FF2B5EF4-FFF2-40B4-BE49-F238E27FC236}">
                <a16:creationId xmlns:a16="http://schemas.microsoft.com/office/drawing/2014/main" id="{D9378B6C-9C45-264A-AA4A-506C87C2C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1557338"/>
            <a:ext cx="1439863" cy="273685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6020" name="Oval 4">
            <a:extLst>
              <a:ext uri="{FF2B5EF4-FFF2-40B4-BE49-F238E27FC236}">
                <a16:creationId xmlns:a16="http://schemas.microsoft.com/office/drawing/2014/main" id="{6032CA0F-70A7-9542-B729-104E603E6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1268413"/>
            <a:ext cx="1439863" cy="30956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6021" name="Oval 5">
            <a:extLst>
              <a:ext uri="{FF2B5EF4-FFF2-40B4-BE49-F238E27FC236}">
                <a16:creationId xmlns:a16="http://schemas.microsoft.com/office/drawing/2014/main" id="{B9523A87-61FB-D343-975C-5962E14EC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1268413"/>
            <a:ext cx="1800225" cy="30956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6022" name="Line 6">
            <a:extLst>
              <a:ext uri="{FF2B5EF4-FFF2-40B4-BE49-F238E27FC236}">
                <a16:creationId xmlns:a16="http://schemas.microsoft.com/office/drawing/2014/main" id="{828601EC-EB36-0E43-AF16-D875762B96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5150" y="2276475"/>
            <a:ext cx="25923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23" name="Line 7">
            <a:extLst>
              <a:ext uri="{FF2B5EF4-FFF2-40B4-BE49-F238E27FC236}">
                <a16:creationId xmlns:a16="http://schemas.microsoft.com/office/drawing/2014/main" id="{DE97ABE6-1357-B345-83F5-9C034DB1887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5150" y="2924175"/>
            <a:ext cx="25923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24" name="Line 8">
            <a:extLst>
              <a:ext uri="{FF2B5EF4-FFF2-40B4-BE49-F238E27FC236}">
                <a16:creationId xmlns:a16="http://schemas.microsoft.com/office/drawing/2014/main" id="{67BBAFB2-E673-724E-AEEF-10BA809B5F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8175" y="3573463"/>
            <a:ext cx="2447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25" name="Oval 9">
            <a:extLst>
              <a:ext uri="{FF2B5EF4-FFF2-40B4-BE49-F238E27FC236}">
                <a16:creationId xmlns:a16="http://schemas.microsoft.com/office/drawing/2014/main" id="{AA0A3C51-C3DA-CC42-A4A3-2641E728D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2171700"/>
            <a:ext cx="144463" cy="1444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6026" name="Oval 10">
            <a:extLst>
              <a:ext uri="{FF2B5EF4-FFF2-40B4-BE49-F238E27FC236}">
                <a16:creationId xmlns:a16="http://schemas.microsoft.com/office/drawing/2014/main" id="{C4E8C670-2109-3749-BA0F-E1E10B602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2852738"/>
            <a:ext cx="144463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6027" name="Oval 11">
            <a:extLst>
              <a:ext uri="{FF2B5EF4-FFF2-40B4-BE49-F238E27FC236}">
                <a16:creationId xmlns:a16="http://schemas.microsoft.com/office/drawing/2014/main" id="{F191013E-687D-EA41-8A9A-E6A4BBEE1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3500438"/>
            <a:ext cx="144463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6028" name="Oval 12">
            <a:extLst>
              <a:ext uri="{FF2B5EF4-FFF2-40B4-BE49-F238E27FC236}">
                <a16:creationId xmlns:a16="http://schemas.microsoft.com/office/drawing/2014/main" id="{A8AFF4A9-0FB0-2641-8EA8-C2A92F4F4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2171700"/>
            <a:ext cx="144462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6029" name="Oval 13">
            <a:extLst>
              <a:ext uri="{FF2B5EF4-FFF2-40B4-BE49-F238E27FC236}">
                <a16:creationId xmlns:a16="http://schemas.microsoft.com/office/drawing/2014/main" id="{D0B48B04-D41F-C14A-A3E3-EF172C2BF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2781300"/>
            <a:ext cx="144462" cy="1444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6030" name="Oval 14">
            <a:extLst>
              <a:ext uri="{FF2B5EF4-FFF2-40B4-BE49-F238E27FC236}">
                <a16:creationId xmlns:a16="http://schemas.microsoft.com/office/drawing/2014/main" id="{9DDDE965-8A4E-C645-956E-2066EF03F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4688" y="3500438"/>
            <a:ext cx="144462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6031" name="Oval 15">
            <a:extLst>
              <a:ext uri="{FF2B5EF4-FFF2-40B4-BE49-F238E27FC236}">
                <a16:creationId xmlns:a16="http://schemas.microsoft.com/office/drawing/2014/main" id="{700C4895-C7B3-8145-8C37-F22BD644E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484313"/>
            <a:ext cx="144463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6032" name="Oval 16">
            <a:extLst>
              <a:ext uri="{FF2B5EF4-FFF2-40B4-BE49-F238E27FC236}">
                <a16:creationId xmlns:a16="http://schemas.microsoft.com/office/drawing/2014/main" id="{0B86EA27-F27E-604A-85E5-01294DEF3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1484313"/>
            <a:ext cx="144463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6033" name="Oval 17">
            <a:extLst>
              <a:ext uri="{FF2B5EF4-FFF2-40B4-BE49-F238E27FC236}">
                <a16:creationId xmlns:a16="http://schemas.microsoft.com/office/drawing/2014/main" id="{68E124AF-FD96-1E49-ADD3-4F7B5A9A7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7738" y="2133600"/>
            <a:ext cx="144462" cy="1444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6034" name="Oval 18">
            <a:extLst>
              <a:ext uri="{FF2B5EF4-FFF2-40B4-BE49-F238E27FC236}">
                <a16:creationId xmlns:a16="http://schemas.microsoft.com/office/drawing/2014/main" id="{4A2118EC-E34C-4A42-B890-766536637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852738"/>
            <a:ext cx="144463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6035" name="Oval 19">
            <a:extLst>
              <a:ext uri="{FF2B5EF4-FFF2-40B4-BE49-F238E27FC236}">
                <a16:creationId xmlns:a16="http://schemas.microsoft.com/office/drawing/2014/main" id="{B3A06384-8245-D945-B469-FB474E982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3500438"/>
            <a:ext cx="144463" cy="144462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6036" name="Oval 20">
            <a:extLst>
              <a:ext uri="{FF2B5EF4-FFF2-40B4-BE49-F238E27FC236}">
                <a16:creationId xmlns:a16="http://schemas.microsoft.com/office/drawing/2014/main" id="{DF00E395-0F7F-BE43-89B4-68E397B99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8850" y="4076700"/>
            <a:ext cx="144463" cy="1444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6037" name="Line 21">
            <a:extLst>
              <a:ext uri="{FF2B5EF4-FFF2-40B4-BE49-F238E27FC236}">
                <a16:creationId xmlns:a16="http://schemas.microsoft.com/office/drawing/2014/main" id="{2610EC37-6F54-0D47-B80A-3849829A55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463" y="2205038"/>
            <a:ext cx="24479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38" name="Line 22">
            <a:extLst>
              <a:ext uri="{FF2B5EF4-FFF2-40B4-BE49-F238E27FC236}">
                <a16:creationId xmlns:a16="http://schemas.microsoft.com/office/drawing/2014/main" id="{1A003014-63BA-C842-85EE-B773BE7E90F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1557338"/>
            <a:ext cx="25923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39" name="Line 23">
            <a:extLst>
              <a:ext uri="{FF2B5EF4-FFF2-40B4-BE49-F238E27FC236}">
                <a16:creationId xmlns:a16="http://schemas.microsoft.com/office/drawing/2014/main" id="{567DE614-51D9-524B-B403-B5A3E3E873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716463" y="2924175"/>
            <a:ext cx="23764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040" name="Line 24">
            <a:extLst>
              <a:ext uri="{FF2B5EF4-FFF2-40B4-BE49-F238E27FC236}">
                <a16:creationId xmlns:a16="http://schemas.microsoft.com/office/drawing/2014/main" id="{83AB76FE-B0F2-E341-A558-17E2691E51BB}"/>
              </a:ext>
            </a:extLst>
          </p:cNvPr>
          <p:cNvSpPr>
            <a:spLocks noChangeShapeType="1"/>
          </p:cNvSpPr>
          <p:nvPr/>
        </p:nvSpPr>
        <p:spPr bwMode="auto">
          <a:xfrm>
            <a:off x="4787900" y="3573463"/>
            <a:ext cx="2232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041" name="Object 25">
                <a:extLst>
                  <a:ext uri="{FF2B5EF4-FFF2-40B4-BE49-F238E27FC236}">
                    <a16:creationId xmlns:a16="http://schemas.microsoft.com/office/drawing/2014/main" id="{4B327D87-6D6C-0240-9465-35A648E6DE27}"/>
                  </a:ext>
                </a:extLst>
              </p:cNvPr>
              <p:cNvSpPr txBox="1"/>
              <p:nvPr/>
            </p:nvSpPr>
            <p:spPr bwMode="auto">
              <a:xfrm>
                <a:off x="1547813" y="4149725"/>
                <a:ext cx="671512" cy="720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6041" name="Object 25">
                <a:extLst>
                  <a:ext uri="{FF2B5EF4-FFF2-40B4-BE49-F238E27FC236}">
                    <a16:creationId xmlns:a16="http://schemas.microsoft.com/office/drawing/2014/main" id="{4B327D87-6D6C-0240-9465-35A648E6D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813" y="4149725"/>
                <a:ext cx="671512" cy="7207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042" name="Object 26">
                <a:extLst>
                  <a:ext uri="{FF2B5EF4-FFF2-40B4-BE49-F238E27FC236}">
                    <a16:creationId xmlns:a16="http://schemas.microsoft.com/office/drawing/2014/main" id="{BA1F8AE8-7061-C04C-9308-B9C46A1428B1}"/>
                  </a:ext>
                </a:extLst>
              </p:cNvPr>
              <p:cNvSpPr txBox="1"/>
              <p:nvPr/>
            </p:nvSpPr>
            <p:spPr bwMode="auto">
              <a:xfrm>
                <a:off x="4356100" y="4221163"/>
                <a:ext cx="671513" cy="720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6042" name="Object 26">
                <a:extLst>
                  <a:ext uri="{FF2B5EF4-FFF2-40B4-BE49-F238E27FC236}">
                    <a16:creationId xmlns:a16="http://schemas.microsoft.com/office/drawing/2014/main" id="{BA1F8AE8-7061-C04C-9308-B9C46A142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56100" y="4221163"/>
                <a:ext cx="671513" cy="7207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043" name="Object 27">
                <a:extLst>
                  <a:ext uri="{FF2B5EF4-FFF2-40B4-BE49-F238E27FC236}">
                    <a16:creationId xmlns:a16="http://schemas.microsoft.com/office/drawing/2014/main" id="{4EA5F11E-A228-0C48-94EB-BCF615AC0D99}"/>
                  </a:ext>
                </a:extLst>
              </p:cNvPr>
              <p:cNvSpPr txBox="1"/>
              <p:nvPr/>
            </p:nvSpPr>
            <p:spPr bwMode="auto">
              <a:xfrm>
                <a:off x="7164388" y="4149725"/>
                <a:ext cx="671512" cy="776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6043" name="Object 27">
                <a:extLst>
                  <a:ext uri="{FF2B5EF4-FFF2-40B4-BE49-F238E27FC236}">
                    <a16:creationId xmlns:a16="http://schemas.microsoft.com/office/drawing/2014/main" id="{4EA5F11E-A228-0C48-94EB-BCF615AC0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64388" y="4149725"/>
                <a:ext cx="671512" cy="7762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044" name="Object 28">
                <a:extLst>
                  <a:ext uri="{FF2B5EF4-FFF2-40B4-BE49-F238E27FC236}">
                    <a16:creationId xmlns:a16="http://schemas.microsoft.com/office/drawing/2014/main" id="{C331D99D-B2F3-AE43-AED7-A4A446880865}"/>
                  </a:ext>
                </a:extLst>
              </p:cNvPr>
              <p:cNvSpPr txBox="1"/>
              <p:nvPr/>
            </p:nvSpPr>
            <p:spPr bwMode="auto">
              <a:xfrm>
                <a:off x="2987675" y="1484313"/>
                <a:ext cx="485775" cy="641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6044" name="Object 28">
                <a:extLst>
                  <a:ext uri="{FF2B5EF4-FFF2-40B4-BE49-F238E27FC236}">
                    <a16:creationId xmlns:a16="http://schemas.microsoft.com/office/drawing/2014/main" id="{C331D99D-B2F3-AE43-AED7-A4A446880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7675" y="1484313"/>
                <a:ext cx="485775" cy="6413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045" name="Object 29">
                <a:extLst>
                  <a:ext uri="{FF2B5EF4-FFF2-40B4-BE49-F238E27FC236}">
                    <a16:creationId xmlns:a16="http://schemas.microsoft.com/office/drawing/2014/main" id="{30423C77-DA27-A445-9F9C-5BADB9C9B6F3}"/>
                  </a:ext>
                </a:extLst>
              </p:cNvPr>
              <p:cNvSpPr txBox="1"/>
              <p:nvPr/>
            </p:nvSpPr>
            <p:spPr bwMode="auto">
              <a:xfrm>
                <a:off x="5795963" y="908050"/>
                <a:ext cx="4445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6045" name="Object 29">
                <a:extLst>
                  <a:ext uri="{FF2B5EF4-FFF2-40B4-BE49-F238E27FC236}">
                    <a16:creationId xmlns:a16="http://schemas.microsoft.com/office/drawing/2014/main" id="{30423C77-DA27-A445-9F9C-5BADB9C9B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95963" y="908050"/>
                <a:ext cx="444500" cy="5207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046" name="灯片编号占位符 1">
            <a:extLst>
              <a:ext uri="{FF2B5EF4-FFF2-40B4-BE49-F238E27FC236}">
                <a16:creationId xmlns:a16="http://schemas.microsoft.com/office/drawing/2014/main" id="{B478E29A-8171-414F-B918-55EF83AF7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3005FC-D162-044C-A15F-56D16B65F718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77</a:t>
            </a:fld>
            <a:endParaRPr lang="en-US" altLang="zh-CN" sz="14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E5772012-0880-0A42-9AAE-888BD6015149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57200" y="658813"/>
            <a:ext cx="8229600" cy="5865812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</a:rPr>
              <a:t>(2)</a:t>
            </a:r>
            <a:r>
              <a:rPr lang="zh-CN" altLang="en-US" b="1" dirty="0">
                <a:latin typeface="Times New Roman" panose="02020603050405020304" pitchFamily="18" charset="0"/>
              </a:rPr>
              <a:t>的直观理解</a:t>
            </a:r>
            <a:r>
              <a:rPr lang="en-US" altLang="zh-CN" b="1" dirty="0">
                <a:latin typeface="Times New Roman" panose="02020603050405020304" pitchFamily="18" charset="0"/>
              </a:rPr>
              <a:t>:</a:t>
            </a:r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</p:txBody>
      </p:sp>
      <p:sp>
        <p:nvSpPr>
          <p:cNvPr id="87043" name="Oval 3">
            <a:extLst>
              <a:ext uri="{FF2B5EF4-FFF2-40B4-BE49-F238E27FC236}">
                <a16:creationId xmlns:a16="http://schemas.microsoft.com/office/drawing/2014/main" id="{15E2A8F3-FF03-F04A-BF47-493406A0F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1484313"/>
            <a:ext cx="1368425" cy="187166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7044" name="Oval 4">
            <a:extLst>
              <a:ext uri="{FF2B5EF4-FFF2-40B4-BE49-F238E27FC236}">
                <a16:creationId xmlns:a16="http://schemas.microsoft.com/office/drawing/2014/main" id="{EA555E6E-E333-C14E-9CAD-C9117061B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1484313"/>
            <a:ext cx="792162" cy="1943100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7045" name="Oval 5">
            <a:extLst>
              <a:ext uri="{FF2B5EF4-FFF2-40B4-BE49-F238E27FC236}">
                <a16:creationId xmlns:a16="http://schemas.microsoft.com/office/drawing/2014/main" id="{E35C7EEC-BF7D-F549-8F27-F9F96B2D7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1916113"/>
            <a:ext cx="1150938" cy="1081087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>
              <a:latin typeface="Verdana" panose="020B0604030504040204" pitchFamily="34" charset="0"/>
            </a:endParaRPr>
          </a:p>
        </p:txBody>
      </p:sp>
      <p:sp>
        <p:nvSpPr>
          <p:cNvPr id="87046" name="Oval 6">
            <a:extLst>
              <a:ext uri="{FF2B5EF4-FFF2-40B4-BE49-F238E27FC236}">
                <a16:creationId xmlns:a16="http://schemas.microsoft.com/office/drawing/2014/main" id="{629F5282-F04B-AC47-B021-C7770C806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2588" y="234950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7047" name="Oval 7">
            <a:extLst>
              <a:ext uri="{FF2B5EF4-FFF2-40B4-BE49-F238E27FC236}">
                <a16:creationId xmlns:a16="http://schemas.microsoft.com/office/drawing/2014/main" id="{56AAEB5C-8869-F446-802D-A5C2AA938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349500"/>
            <a:ext cx="142875" cy="142875"/>
          </a:xfrm>
          <a:prstGeom prst="ellipse">
            <a:avLst/>
          </a:prstGeom>
          <a:solidFill>
            <a:srgbClr val="00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7048" name="Oval 8">
            <a:extLst>
              <a:ext uri="{FF2B5EF4-FFF2-40B4-BE49-F238E27FC236}">
                <a16:creationId xmlns:a16="http://schemas.microsoft.com/office/drawing/2014/main" id="{01CBADC1-6C75-4F48-BF49-4C4E35D20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2349500"/>
            <a:ext cx="142875" cy="14287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87049" name="Line 9">
            <a:extLst>
              <a:ext uri="{FF2B5EF4-FFF2-40B4-BE49-F238E27FC236}">
                <a16:creationId xmlns:a16="http://schemas.microsoft.com/office/drawing/2014/main" id="{6C52660A-BCFD-5D42-BC7D-7A5EF7DAFC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2420938"/>
            <a:ext cx="1873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0" name="Line 10">
            <a:extLst>
              <a:ext uri="{FF2B5EF4-FFF2-40B4-BE49-F238E27FC236}">
                <a16:creationId xmlns:a16="http://schemas.microsoft.com/office/drawing/2014/main" id="{16883B06-CE94-F14A-B522-1CEDD307BAF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9338" y="2420938"/>
            <a:ext cx="1873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51" name="Freeform 11">
            <a:extLst>
              <a:ext uri="{FF2B5EF4-FFF2-40B4-BE49-F238E27FC236}">
                <a16:creationId xmlns:a16="http://schemas.microsoft.com/office/drawing/2014/main" id="{3A25E13E-3B59-9D44-8CEA-03C2B6603A68}"/>
              </a:ext>
            </a:extLst>
          </p:cNvPr>
          <p:cNvSpPr>
            <a:spLocks/>
          </p:cNvSpPr>
          <p:nvPr/>
        </p:nvSpPr>
        <p:spPr bwMode="auto">
          <a:xfrm>
            <a:off x="2627313" y="1196975"/>
            <a:ext cx="4105275" cy="1223963"/>
          </a:xfrm>
          <a:custGeom>
            <a:avLst/>
            <a:gdLst>
              <a:gd name="T0" fmla="*/ 0 w 2450"/>
              <a:gd name="T1" fmla="*/ 2147483646 h 280"/>
              <a:gd name="T2" fmla="*/ 2147483646 w 2450"/>
              <a:gd name="T3" fmla="*/ 2147483646 h 280"/>
              <a:gd name="T4" fmla="*/ 2147483646 w 2450"/>
              <a:gd name="T5" fmla="*/ 2147483646 h 280"/>
              <a:gd name="T6" fmla="*/ 0 60000 65536"/>
              <a:gd name="T7" fmla="*/ 0 60000 65536"/>
              <a:gd name="T8" fmla="*/ 0 60000 65536"/>
              <a:gd name="T9" fmla="*/ 0 w 2450"/>
              <a:gd name="T10" fmla="*/ 0 h 280"/>
              <a:gd name="T11" fmla="*/ 2450 w 2450"/>
              <a:gd name="T12" fmla="*/ 280 h 2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50" h="280">
                <a:moveTo>
                  <a:pt x="0" y="280"/>
                </a:moveTo>
                <a:cubicBezTo>
                  <a:pt x="386" y="148"/>
                  <a:pt x="772" y="16"/>
                  <a:pt x="1180" y="8"/>
                </a:cubicBezTo>
                <a:cubicBezTo>
                  <a:pt x="1588" y="0"/>
                  <a:pt x="2019" y="117"/>
                  <a:pt x="2450" y="23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7052" name="Object 12">
            <a:extLst>
              <a:ext uri="{FF2B5EF4-FFF2-40B4-BE49-F238E27FC236}">
                <a16:creationId xmlns:a16="http://schemas.microsoft.com/office/drawing/2014/main" id="{D0F7E4DD-729F-034F-A7CE-3F180FD99E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2205038"/>
          <a:ext cx="311150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100" imgH="38100" progId="Equation.3">
                  <p:embed/>
                </p:oleObj>
              </mc:Choice>
              <mc:Fallback>
                <p:oleObj name="Equation" r:id="rId2" imgW="38100" imgH="381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205038"/>
                        <a:ext cx="311150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3" name="Object 13">
            <a:extLst>
              <a:ext uri="{FF2B5EF4-FFF2-40B4-BE49-F238E27FC236}">
                <a16:creationId xmlns:a16="http://schemas.microsoft.com/office/drawing/2014/main" id="{39A9001B-94B2-444D-AEBA-A8D860B87F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3333750"/>
          <a:ext cx="131445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7000" imgH="38100" progId="Equation.3">
                  <p:embed/>
                </p:oleObj>
              </mc:Choice>
              <mc:Fallback>
                <p:oleObj name="Equation" r:id="rId4" imgW="127000" imgH="381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3333750"/>
                        <a:ext cx="131445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4" name="Object 14">
            <a:extLst>
              <a:ext uri="{FF2B5EF4-FFF2-40B4-BE49-F238E27FC236}">
                <a16:creationId xmlns:a16="http://schemas.microsoft.com/office/drawing/2014/main" id="{6604DBD7-BE71-8C4A-8A45-35FBB4AE3EB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4425" y="2900363"/>
          <a:ext cx="1257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14300" imgH="38100" progId="Equation.3">
                  <p:embed/>
                </p:oleObj>
              </mc:Choice>
              <mc:Fallback>
                <p:oleObj name="公式" r:id="rId6" imgW="114300" imgH="381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4425" y="2900363"/>
                        <a:ext cx="1257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55" name="Object 15">
            <a:extLst>
              <a:ext uri="{FF2B5EF4-FFF2-40B4-BE49-F238E27FC236}">
                <a16:creationId xmlns:a16="http://schemas.microsoft.com/office/drawing/2014/main" id="{F3CB2FDC-9A3F-0843-9F7F-0DEB420603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46858"/>
              </p:ext>
            </p:extLst>
          </p:nvPr>
        </p:nvGraphicFramePr>
        <p:xfrm>
          <a:off x="2627313" y="4098925"/>
          <a:ext cx="424815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04800" imgH="38100" progId="Equation.3">
                  <p:embed/>
                </p:oleObj>
              </mc:Choice>
              <mc:Fallback>
                <p:oleObj name="公式" r:id="rId8" imgW="304800" imgH="381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098925"/>
                        <a:ext cx="424815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6" name="灯片编号占位符 1">
            <a:extLst>
              <a:ext uri="{FF2B5EF4-FFF2-40B4-BE49-F238E27FC236}">
                <a16:creationId xmlns:a16="http://schemas.microsoft.com/office/drawing/2014/main" id="{86433223-32B4-994C-B790-E20D40B8C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6EE44F-04DB-CD4D-8163-A9C4532B97F0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78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8">
                <a:extLst>
                  <a:ext uri="{FF2B5EF4-FFF2-40B4-BE49-F238E27FC236}">
                    <a16:creationId xmlns:a16="http://schemas.microsoft.com/office/drawing/2014/main" id="{B427865B-0CBA-74E7-3EED-A740FF978216}"/>
                  </a:ext>
                </a:extLst>
              </p:cNvPr>
              <p:cNvSpPr txBox="1"/>
              <p:nvPr/>
            </p:nvSpPr>
            <p:spPr bwMode="auto">
              <a:xfrm>
                <a:off x="3364305" y="1939925"/>
                <a:ext cx="485775" cy="641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Object 28">
                <a:extLst>
                  <a:ext uri="{FF2B5EF4-FFF2-40B4-BE49-F238E27FC236}">
                    <a16:creationId xmlns:a16="http://schemas.microsoft.com/office/drawing/2014/main" id="{B427865B-0CBA-74E7-3EED-A740FF978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4305" y="1939925"/>
                <a:ext cx="485775" cy="6413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9">
                <a:extLst>
                  <a:ext uri="{FF2B5EF4-FFF2-40B4-BE49-F238E27FC236}">
                    <a16:creationId xmlns:a16="http://schemas.microsoft.com/office/drawing/2014/main" id="{426DF5CE-2453-C309-B8A1-A8E0B9CAF92C}"/>
                  </a:ext>
                </a:extLst>
              </p:cNvPr>
              <p:cNvSpPr txBox="1"/>
              <p:nvPr/>
            </p:nvSpPr>
            <p:spPr bwMode="auto">
              <a:xfrm>
                <a:off x="5567363" y="1916113"/>
                <a:ext cx="444500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Object 29">
                <a:extLst>
                  <a:ext uri="{FF2B5EF4-FFF2-40B4-BE49-F238E27FC236}">
                    <a16:creationId xmlns:a16="http://schemas.microsoft.com/office/drawing/2014/main" id="{426DF5CE-2453-C309-B8A1-A8E0B9CAF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67363" y="1916113"/>
                <a:ext cx="444500" cy="5207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2926BD1D-6555-7F44-95D3-2E1C07D5DCE9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20688" y="1124744"/>
            <a:ext cx="8229600" cy="5865813"/>
          </a:xfrm>
        </p:spPr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Proof  (</a:t>
            </a:r>
            <a:r>
              <a:rPr lang="en-US" altLang="zh-CN" b="1" dirty="0">
                <a:solidFill>
                  <a:srgbClr val="0066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)</a:t>
            </a:r>
            <a:endParaRPr lang="en-US" altLang="zh-CN" dirty="0"/>
          </a:p>
        </p:txBody>
      </p:sp>
      <p:sp>
        <p:nvSpPr>
          <p:cNvPr id="88067" name="灯片编号占位符 1">
            <a:extLst>
              <a:ext uri="{FF2B5EF4-FFF2-40B4-BE49-F238E27FC236}">
                <a16:creationId xmlns:a16="http://schemas.microsoft.com/office/drawing/2014/main" id="{8FB67A4A-35DF-D649-A02A-DD644C91D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3EF1A1-DC8D-A74C-A54B-8C5DDC72D589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79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F33D40E-6F77-9A98-2029-CE879ED5CFEE}"/>
                  </a:ext>
                </a:extLst>
              </p:cNvPr>
              <p:cNvSpPr/>
              <p:nvPr/>
            </p:nvSpPr>
            <p:spPr>
              <a:xfrm>
                <a:off x="971600" y="116632"/>
                <a:ext cx="3398174" cy="553998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30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F33D40E-6F77-9A98-2029-CE879ED5CF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16632"/>
                <a:ext cx="3398174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EDCB3040-F2CE-BD4C-1D95-595BD972E387}"/>
              </a:ext>
            </a:extLst>
          </p:cNvPr>
          <p:cNvSpPr txBox="1"/>
          <p:nvPr/>
        </p:nvSpPr>
        <p:spPr>
          <a:xfrm>
            <a:off x="971600" y="597430"/>
            <a:ext cx="5688632" cy="624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4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(2)</a:t>
            </a: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是满射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◦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是满射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322376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2926BD1D-6555-7F44-95D3-2E1C07D5DCE9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420688" y="1124744"/>
            <a:ext cx="8229600" cy="5865813"/>
          </a:xfrm>
        </p:spPr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Proof  (</a:t>
            </a:r>
            <a:r>
              <a:rPr lang="en-US" altLang="zh-CN" b="1" dirty="0">
                <a:solidFill>
                  <a:srgbClr val="0066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) (</a:t>
            </a:r>
            <a:r>
              <a:rPr lang="zh-CN" altLang="en-US" b="1" dirty="0">
                <a:latin typeface="Times New Roman" panose="02020603050405020304" pitchFamily="18" charset="0"/>
              </a:rPr>
              <a:t>留作练习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) </a:t>
            </a:r>
          </a:p>
          <a:p>
            <a:pPr eaLnBrk="1" hangingPunct="1">
              <a:lnSpc>
                <a:spcPct val="17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(</a:t>
            </a:r>
            <a:r>
              <a:rPr lang="en-US" altLang="zh-CN" b="1" dirty="0">
                <a:solidFill>
                  <a:srgbClr val="0066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) </a:t>
            </a:r>
            <a:r>
              <a:rPr lang="zh-CN" altLang="en-US" b="1" dirty="0">
                <a:latin typeface="Times New Roman" panose="02020603050405020304" pitchFamily="18" charset="0"/>
              </a:rPr>
              <a:t>任意</a:t>
            </a:r>
            <a:r>
              <a:rPr lang="en-US" altLang="zh-CN" b="1" i="1" dirty="0">
                <a:latin typeface="Times New Roman" panose="02020603050405020304" pitchFamily="18" charset="0"/>
              </a:rPr>
              <a:t>z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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 C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由于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是满射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存在</a:t>
            </a:r>
            <a:r>
              <a:rPr lang="en-US" altLang="zh-CN" b="1" i="1" dirty="0">
                <a:latin typeface="Times New Roman" panose="02020603050405020304" pitchFamily="18" charset="0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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 B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使得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z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 = 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). 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又由于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是满射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存在</a:t>
            </a:r>
            <a:r>
              <a:rPr lang="en-US" altLang="zh-CN" b="1" i="1" dirty="0">
                <a:latin typeface="Times New Roman" panose="02020603050405020304" pitchFamily="18" charset="0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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 A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使得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 = 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). 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于是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z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 = 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y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) = 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)) = 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b="1" dirty="0" err="1">
                <a:latin typeface="Times New Roman" panose="02020603050405020304" pitchFamily="18" charset="0"/>
              </a:rPr>
              <a:t>◦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)(</a:t>
            </a:r>
            <a:r>
              <a:rPr lang="en-US" altLang="zh-CN" b="1" i="1" dirty="0">
                <a:latin typeface="Times New Roman" panose="02020603050405020304" pitchFamily="18" charset="0"/>
                <a:sym typeface="Symbol" pitchFamily="2" charset="2"/>
              </a:rPr>
              <a:t>x</a:t>
            </a:r>
            <a:r>
              <a:rPr lang="en-US" altLang="zh-CN" b="1" dirty="0">
                <a:latin typeface="Times New Roman" panose="02020603050405020304" pitchFamily="18" charset="0"/>
                <a:sym typeface="Symbol" pitchFamily="2" charset="2"/>
              </a:rPr>
              <a:t>). </a:t>
            </a:r>
            <a:r>
              <a:rPr lang="zh-CN" altLang="en-US" b="1" dirty="0">
                <a:latin typeface="Times New Roman" panose="02020603050405020304" pitchFamily="18" charset="0"/>
                <a:sym typeface="Symbol" pitchFamily="2" charset="2"/>
              </a:rPr>
              <a:t>故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b="1" dirty="0" err="1">
                <a:latin typeface="Times New Roman" panose="02020603050405020304" pitchFamily="18" charset="0"/>
              </a:rPr>
              <a:t>◦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</a:rPr>
              <a:t>是满射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70000"/>
              </a:lnSpc>
            </a:pP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dirty="0">
                <a:solidFill>
                  <a:srgbClr val="0066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b="1" dirty="0">
                <a:latin typeface="Times New Roman" panose="02020603050405020304" pitchFamily="18" charset="0"/>
              </a:rPr>
              <a:t>) </a:t>
            </a:r>
            <a:r>
              <a:rPr lang="zh-CN" altLang="en-US" b="1" dirty="0">
                <a:latin typeface="Times New Roman" panose="02020603050405020304" pitchFamily="18" charset="0"/>
              </a:rPr>
              <a:t>由</a:t>
            </a:r>
            <a:r>
              <a:rPr lang="en-US" altLang="zh-CN" b="1" dirty="0">
                <a:latin typeface="Times New Roman" panose="02020603050405020304" pitchFamily="18" charset="0"/>
              </a:rPr>
              <a:t>(1)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</a:rPr>
              <a:t>(2)</a:t>
            </a:r>
            <a:r>
              <a:rPr lang="zh-CN" altLang="en-US" b="1" dirty="0">
                <a:latin typeface="Times New Roman" panose="02020603050405020304" pitchFamily="18" charset="0"/>
              </a:rPr>
              <a:t>即得</a:t>
            </a:r>
            <a:r>
              <a:rPr lang="en-US" altLang="zh-CN" b="1" dirty="0">
                <a:latin typeface="Times New Roman" panose="02020603050405020304" pitchFamily="18" charset="0"/>
              </a:rPr>
              <a:t>.</a:t>
            </a:r>
            <a:endParaRPr lang="en-US" altLang="zh-CN" b="1" dirty="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dirty="0"/>
          </a:p>
        </p:txBody>
      </p:sp>
      <p:sp>
        <p:nvSpPr>
          <p:cNvPr id="88067" name="灯片编号占位符 1">
            <a:extLst>
              <a:ext uri="{FF2B5EF4-FFF2-40B4-BE49-F238E27FC236}">
                <a16:creationId xmlns:a16="http://schemas.microsoft.com/office/drawing/2014/main" id="{8FB67A4A-35DF-D649-A02A-DD644C91D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3EF1A1-DC8D-A74C-A54B-8C5DDC72D589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80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F33D40E-6F77-9A98-2029-CE879ED5CFEE}"/>
                  </a:ext>
                </a:extLst>
              </p:cNvPr>
              <p:cNvSpPr/>
              <p:nvPr/>
            </p:nvSpPr>
            <p:spPr>
              <a:xfrm>
                <a:off x="971600" y="116632"/>
                <a:ext cx="3398174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30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F33D40E-6F77-9A98-2029-CE879ED5CF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00" y="116632"/>
                <a:ext cx="3398174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EDCB3040-F2CE-BD4C-1D95-595BD972E387}"/>
              </a:ext>
            </a:extLst>
          </p:cNvPr>
          <p:cNvSpPr txBox="1"/>
          <p:nvPr/>
        </p:nvSpPr>
        <p:spPr>
          <a:xfrm>
            <a:off x="971600" y="585422"/>
            <a:ext cx="5688632" cy="624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4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ea typeface="华文新魏" panose="02010800040101010101" pitchFamily="2" charset="-122"/>
              </a:rPr>
              <a:t>(2)</a:t>
            </a: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f</a:t>
            </a:r>
            <a:r>
              <a:rPr lang="zh-CN" altLang="en-US" sz="2800" b="1" dirty="0">
                <a:latin typeface="Times New Roman" panose="02020603050405020304" pitchFamily="18" charset="0"/>
              </a:rPr>
              <a:t>和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是满射</a:t>
            </a:r>
            <a:r>
              <a:rPr lang="en-US" altLang="zh-CN" sz="2800" b="1" dirty="0">
                <a:latin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</a:rPr>
              <a:t>则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800" b="1" dirty="0" err="1">
                <a:latin typeface="Times New Roman" panose="02020603050405020304" pitchFamily="18" charset="0"/>
              </a:rPr>
              <a:t>◦</a:t>
            </a:r>
            <a:r>
              <a:rPr lang="en-US" altLang="zh-CN" sz="2800" b="1" i="1" dirty="0" err="1">
                <a:latin typeface="Times New Roman" panose="02020603050405020304" pitchFamily="18" charset="0"/>
              </a:rPr>
              <a:t>g</a:t>
            </a:r>
            <a:r>
              <a:rPr lang="zh-CN" altLang="en-US" sz="2800" b="1" dirty="0">
                <a:latin typeface="Times New Roman" panose="02020603050405020304" pitchFamily="18" charset="0"/>
              </a:rPr>
              <a:t>是满射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DF42BFE3-0BDB-E646-BFEC-B68B4AE2D25A}"/>
              </a:ext>
            </a:extLst>
          </p:cNvPr>
          <p:cNvSpPr>
            <a:spLocks noGrp="1" noChangeArrowheads="1"/>
          </p:cNvSpPr>
          <p:nvPr>
            <p:ph/>
          </p:nvPr>
        </p:nvSpPr>
        <p:spPr>
          <a:xfrm>
            <a:off x="590550" y="587375"/>
            <a:ext cx="8229600" cy="5865813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b="1">
                <a:solidFill>
                  <a:srgbClr val="0066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注意</a:t>
            </a:r>
            <a:r>
              <a:rPr lang="zh-CN" altLang="en-US" b="1">
                <a:latin typeface="华文楷体" panose="02010600040101010101" pitchFamily="2" charset="-122"/>
                <a:ea typeface="华文楷体" panose="02010600040101010101" pitchFamily="2" charset="-122"/>
              </a:rPr>
              <a:t>    上述定理的逆命题不完全成立</a:t>
            </a:r>
            <a:r>
              <a:rPr lang="en-US" altLang="zh-CN" b="1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Theorem 1-11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(1)</a:t>
            </a:r>
            <a:r>
              <a:rPr lang="zh-CN" altLang="en-US" b="1">
                <a:latin typeface="Times New Roman" panose="02020603050405020304" pitchFamily="18" charset="0"/>
              </a:rPr>
              <a:t>若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</a:rPr>
              <a:t>是单射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则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zh-CN" altLang="en-US" b="1">
                <a:latin typeface="Times New Roman" panose="02020603050405020304" pitchFamily="18" charset="0"/>
              </a:rPr>
              <a:t>是单射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</a:rPr>
              <a:t>不一定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(2)</a:t>
            </a:r>
            <a:r>
              <a:rPr lang="zh-CN" altLang="en-US" b="1">
                <a:latin typeface="Times New Roman" panose="02020603050405020304" pitchFamily="18" charset="0"/>
              </a:rPr>
              <a:t>若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</a:rPr>
              <a:t>是满射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则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</a:rPr>
              <a:t>是满射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f </a:t>
            </a:r>
            <a:r>
              <a:rPr lang="zh-CN" altLang="en-US" b="1">
                <a:latin typeface="Times New Roman" panose="02020603050405020304" pitchFamily="18" charset="0"/>
              </a:rPr>
              <a:t>不一定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  <a:endParaRPr lang="en-US" altLang="zh-CN" b="1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(3)</a:t>
            </a:r>
            <a:r>
              <a:rPr lang="zh-CN" altLang="en-US" b="1">
                <a:latin typeface="Times New Roman" panose="02020603050405020304" pitchFamily="18" charset="0"/>
              </a:rPr>
              <a:t>若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</a:rPr>
              <a:t>是双射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zh-CN" altLang="en-US" b="1">
                <a:latin typeface="Times New Roman" panose="02020603050405020304" pitchFamily="18" charset="0"/>
              </a:rPr>
              <a:t>则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zh-CN" altLang="en-US" b="1">
                <a:latin typeface="Times New Roman" panose="02020603050405020304" pitchFamily="18" charset="0"/>
              </a:rPr>
              <a:t>是单射且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</a:rPr>
              <a:t>是满射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89092" name="灯片编号占位符 1">
            <a:extLst>
              <a:ext uri="{FF2B5EF4-FFF2-40B4-BE49-F238E27FC236}">
                <a16:creationId xmlns:a16="http://schemas.microsoft.com/office/drawing/2014/main" id="{A97C57FF-665F-6C40-B0E7-E3126E5D8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2C881B-3FC6-5642-BEBE-339C40A27810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81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5166579-635D-8B4C-BD0D-8D30157C2D43}"/>
                  </a:ext>
                </a:extLst>
              </p:cNvPr>
              <p:cNvSpPr/>
              <p:nvPr/>
            </p:nvSpPr>
            <p:spPr>
              <a:xfrm>
                <a:off x="3779838" y="1552575"/>
                <a:ext cx="3398174" cy="553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3000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300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30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5166579-635D-8B4C-BD0D-8D30157C2D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838" y="1552575"/>
                <a:ext cx="3398174" cy="553998"/>
              </a:xfrm>
              <a:prstGeom prst="rect">
                <a:avLst/>
              </a:prstGeom>
              <a:blipFill>
                <a:blip r:embed="rId2"/>
                <a:stretch>
                  <a:fillRect l="-373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58BD2F71-8669-534D-9F11-1FDDB0843340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Proof  (</a:t>
            </a:r>
            <a:r>
              <a:rPr lang="en-US" altLang="zh-CN" b="1">
                <a:solidFill>
                  <a:srgbClr val="0066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) </a:t>
            </a:r>
            <a:r>
              <a:rPr lang="zh-CN" altLang="en-US" b="1">
                <a:latin typeface="Times New Roman" panose="02020603050405020304" pitchFamily="18" charset="0"/>
              </a:rPr>
              <a:t>任意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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 A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若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) = 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),</a:t>
            </a:r>
            <a:r>
              <a:rPr lang="en-US" altLang="zh-CN">
                <a:latin typeface="Times New Roman" panose="02020603050405020304" pitchFamily="18" charset="0"/>
                <a:sym typeface="Symbol" pitchFamily="2" charset="2"/>
              </a:rPr>
              <a:t> </a:t>
            </a:r>
          </a:p>
          <a:p>
            <a:pPr eaLnBrk="1" hangingPunct="1">
              <a:lnSpc>
                <a:spcPct val="170000"/>
              </a:lnSpc>
            </a:pP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显然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)) =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)), </a:t>
            </a: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即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)(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) = (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)(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).  </a:t>
            </a: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由于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是单射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, </a:t>
            </a: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因此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1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 = </a:t>
            </a:r>
            <a:r>
              <a:rPr lang="en-US" altLang="zh-CN" b="1" i="1">
                <a:latin typeface="Times New Roman" panose="02020603050405020304" pitchFamily="18" charset="0"/>
              </a:rPr>
              <a:t>x</a:t>
            </a:r>
            <a:r>
              <a:rPr lang="en-US" altLang="zh-CN" b="1" baseline="-25000">
                <a:latin typeface="Times New Roman" panose="02020603050405020304" pitchFamily="18" charset="0"/>
              </a:rPr>
              <a:t>2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. </a:t>
            </a: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故</a:t>
            </a:r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是单射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r>
              <a:rPr lang="en-US" altLang="zh-CN" b="1" i="1">
                <a:latin typeface="Times New Roman" panose="02020603050405020304" pitchFamily="18" charset="0"/>
                <a:sym typeface="Symbol" pitchFamily="2" charset="2"/>
              </a:rPr>
              <a:t>g</a:t>
            </a: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不一定是单射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(see below)?</a:t>
            </a:r>
          </a:p>
          <a:p>
            <a:pPr eaLnBrk="1" hangingPunct="1">
              <a:lnSpc>
                <a:spcPct val="120000"/>
              </a:lnSpc>
            </a:pPr>
            <a:endParaRPr lang="en-US" altLang="zh-CN" b="1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/>
          </a:p>
          <a:p>
            <a:pPr eaLnBrk="1" hangingPunct="1"/>
            <a:endParaRPr lang="en-US" altLang="zh-CN"/>
          </a:p>
        </p:txBody>
      </p:sp>
      <p:sp>
        <p:nvSpPr>
          <p:cNvPr id="90115" name="灯片编号占位符 1">
            <a:extLst>
              <a:ext uri="{FF2B5EF4-FFF2-40B4-BE49-F238E27FC236}">
                <a16:creationId xmlns:a16="http://schemas.microsoft.com/office/drawing/2014/main" id="{72D22BDB-8CB1-FE4E-9699-CFF84A508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DD0F61-63A9-104D-9C7A-BBEC492E58C0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82</a:t>
            </a:fld>
            <a:endParaRPr lang="en-US" altLang="zh-CN" sz="14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E658BC17-8206-7D4F-BAA2-69FC86D78AD4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endParaRPr lang="en-US" altLang="zh-CN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(2) (</a:t>
            </a:r>
            <a:r>
              <a:rPr lang="zh-CN" altLang="en-US" b="1">
                <a:latin typeface="Times New Roman" panose="02020603050405020304" pitchFamily="18" charset="0"/>
              </a:rPr>
              <a:t>留作练习</a:t>
            </a:r>
            <a:r>
              <a:rPr lang="en-US" altLang="zh-CN" b="1">
                <a:latin typeface="Times New Roman" panose="02020603050405020304" pitchFamily="18" charset="0"/>
                <a:ea typeface="华文新魏" panose="02010800040101010101" pitchFamily="2" charset="-122"/>
              </a:rPr>
              <a:t>)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  <a:ea typeface="华文新魏" panose="02010800040101010101" pitchFamily="2" charset="-122"/>
            </a:endParaRPr>
          </a:p>
          <a:p>
            <a:pPr eaLnBrk="1" hangingPunct="1">
              <a:lnSpc>
                <a:spcPct val="170000"/>
              </a:lnSpc>
            </a:pPr>
            <a:r>
              <a:rPr lang="en-US" altLang="zh-CN" b="1">
                <a:latin typeface="Times New Roman" panose="02020603050405020304" pitchFamily="18" charset="0"/>
              </a:rPr>
              <a:t>(3) </a:t>
            </a:r>
            <a:r>
              <a:rPr lang="zh-CN" altLang="en-US" b="1">
                <a:latin typeface="Times New Roman" panose="02020603050405020304" pitchFamily="18" charset="0"/>
              </a:rPr>
              <a:t>由</a:t>
            </a:r>
            <a:r>
              <a:rPr lang="en-US" altLang="zh-CN" b="1">
                <a:latin typeface="Times New Roman" panose="02020603050405020304" pitchFamily="18" charset="0"/>
              </a:rPr>
              <a:t>(1)</a:t>
            </a:r>
            <a:r>
              <a:rPr lang="zh-CN" altLang="en-US" b="1">
                <a:latin typeface="Times New Roman" panose="02020603050405020304" pitchFamily="18" charset="0"/>
              </a:rPr>
              <a:t>和</a:t>
            </a:r>
            <a:r>
              <a:rPr lang="en-US" altLang="zh-CN" b="1">
                <a:latin typeface="Times New Roman" panose="02020603050405020304" pitchFamily="18" charset="0"/>
              </a:rPr>
              <a:t>(2)</a:t>
            </a:r>
            <a:r>
              <a:rPr lang="zh-CN" altLang="en-US" b="1">
                <a:latin typeface="Times New Roman" panose="02020603050405020304" pitchFamily="18" charset="0"/>
              </a:rPr>
              <a:t>即得</a:t>
            </a:r>
            <a:r>
              <a:rPr lang="en-US" altLang="zh-CN" b="1">
                <a:latin typeface="Times New Roman" panose="02020603050405020304" pitchFamily="18" charset="0"/>
              </a:rPr>
              <a:t>.</a:t>
            </a:r>
            <a:endParaRPr lang="en-US" altLang="zh-CN" b="1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endParaRPr lang="en-US" altLang="zh-CN" b="1"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91139" name="Oval 3">
            <a:extLst>
              <a:ext uri="{FF2B5EF4-FFF2-40B4-BE49-F238E27FC236}">
                <a16:creationId xmlns:a16="http://schemas.microsoft.com/office/drawing/2014/main" id="{DED29295-7E0F-434F-992E-13FBA041F4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836613"/>
            <a:ext cx="1368425" cy="19446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1140" name="Oval 4">
            <a:extLst>
              <a:ext uri="{FF2B5EF4-FFF2-40B4-BE49-F238E27FC236}">
                <a16:creationId xmlns:a16="http://schemas.microsoft.com/office/drawing/2014/main" id="{F28F027D-5267-D04C-ACFE-762B80C85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1196975"/>
            <a:ext cx="1584325" cy="1511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1141" name="Oval 5">
            <a:extLst>
              <a:ext uri="{FF2B5EF4-FFF2-40B4-BE49-F238E27FC236}">
                <a16:creationId xmlns:a16="http://schemas.microsoft.com/office/drawing/2014/main" id="{DAD19856-67FE-6B42-A6C9-E3C056333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981075"/>
            <a:ext cx="936625" cy="18002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1142" name="Line 6">
            <a:extLst>
              <a:ext uri="{FF2B5EF4-FFF2-40B4-BE49-F238E27FC236}">
                <a16:creationId xmlns:a16="http://schemas.microsoft.com/office/drawing/2014/main" id="{EAA53E8B-20BD-B344-B7EC-AAE5162E2357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1557338"/>
            <a:ext cx="215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43" name="Line 7">
            <a:extLst>
              <a:ext uri="{FF2B5EF4-FFF2-40B4-BE49-F238E27FC236}">
                <a16:creationId xmlns:a16="http://schemas.microsoft.com/office/drawing/2014/main" id="{DC035817-6CC6-9049-8701-844B27CB26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2133600"/>
            <a:ext cx="215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44" name="Line 8">
            <a:extLst>
              <a:ext uri="{FF2B5EF4-FFF2-40B4-BE49-F238E27FC236}">
                <a16:creationId xmlns:a16="http://schemas.microsoft.com/office/drawing/2014/main" id="{8DEE4CA9-5CBA-2446-96DB-53E097338EC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2363" y="1557338"/>
            <a:ext cx="20161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45" name="Line 9">
            <a:extLst>
              <a:ext uri="{FF2B5EF4-FFF2-40B4-BE49-F238E27FC236}">
                <a16:creationId xmlns:a16="http://schemas.microsoft.com/office/drawing/2014/main" id="{6A35B292-D046-4443-8B47-A73BBFB27148}"/>
              </a:ext>
            </a:extLst>
          </p:cNvPr>
          <p:cNvSpPr>
            <a:spLocks noChangeShapeType="1"/>
          </p:cNvSpPr>
          <p:nvPr/>
        </p:nvSpPr>
        <p:spPr bwMode="auto">
          <a:xfrm>
            <a:off x="4932363" y="2133600"/>
            <a:ext cx="20875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46" name="Line 10">
            <a:extLst>
              <a:ext uri="{FF2B5EF4-FFF2-40B4-BE49-F238E27FC236}">
                <a16:creationId xmlns:a16="http://schemas.microsoft.com/office/drawing/2014/main" id="{E36131C5-BF85-BB42-8525-3DBA6DF8BF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03800" y="2276475"/>
            <a:ext cx="2016125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47" name="Oval 11">
            <a:extLst>
              <a:ext uri="{FF2B5EF4-FFF2-40B4-BE49-F238E27FC236}">
                <a16:creationId xmlns:a16="http://schemas.microsoft.com/office/drawing/2014/main" id="{DF37DB74-1933-7E4F-BEF2-32FAFE2D1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2062163"/>
            <a:ext cx="71438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1148" name="Oval 12">
            <a:extLst>
              <a:ext uri="{FF2B5EF4-FFF2-40B4-BE49-F238E27FC236}">
                <a16:creationId xmlns:a16="http://schemas.microsoft.com/office/drawing/2014/main" id="{F396567C-B869-BB48-BBCE-A2743A848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1484313"/>
            <a:ext cx="71438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1149" name="Oval 13">
            <a:extLst>
              <a:ext uri="{FF2B5EF4-FFF2-40B4-BE49-F238E27FC236}">
                <a16:creationId xmlns:a16="http://schemas.microsoft.com/office/drawing/2014/main" id="{7A7AC2B2-6347-5E40-B8F1-002CB2BE5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1557338"/>
            <a:ext cx="71437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1150" name="Oval 14">
            <a:extLst>
              <a:ext uri="{FF2B5EF4-FFF2-40B4-BE49-F238E27FC236}">
                <a16:creationId xmlns:a16="http://schemas.microsoft.com/office/drawing/2014/main" id="{1BB35732-5363-3A45-AAEF-4A66BEB9C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2062163"/>
            <a:ext cx="71438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1151" name="Oval 15">
            <a:extLst>
              <a:ext uri="{FF2B5EF4-FFF2-40B4-BE49-F238E27FC236}">
                <a16:creationId xmlns:a16="http://schemas.microsoft.com/office/drawing/2014/main" id="{91CC78A0-7687-A441-BF99-386262A48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2565400"/>
            <a:ext cx="71437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1152" name="Oval 16">
            <a:extLst>
              <a:ext uri="{FF2B5EF4-FFF2-40B4-BE49-F238E27FC236}">
                <a16:creationId xmlns:a16="http://schemas.microsoft.com/office/drawing/2014/main" id="{49BB47EB-F92A-FC43-8D13-F4DC3F1170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1484313"/>
            <a:ext cx="71438" cy="71437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1153" name="Oval 17">
            <a:extLst>
              <a:ext uri="{FF2B5EF4-FFF2-40B4-BE49-F238E27FC236}">
                <a16:creationId xmlns:a16="http://schemas.microsoft.com/office/drawing/2014/main" id="{79029E50-3B64-2D41-9594-B87912B3F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2133600"/>
            <a:ext cx="71438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91154" name="Oval 18">
            <a:extLst>
              <a:ext uri="{FF2B5EF4-FFF2-40B4-BE49-F238E27FC236}">
                <a16:creationId xmlns:a16="http://schemas.microsoft.com/office/drawing/2014/main" id="{1174F3D5-C1A6-6F4A-BA6C-BED39FD4F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2950" y="2565400"/>
            <a:ext cx="71438" cy="71438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155" name="Object 19">
                <a:extLst>
                  <a:ext uri="{FF2B5EF4-FFF2-40B4-BE49-F238E27FC236}">
                    <a16:creationId xmlns:a16="http://schemas.microsoft.com/office/drawing/2014/main" id="{4ECD5D63-60DB-684A-A227-F6916A4F36DC}"/>
                  </a:ext>
                </a:extLst>
              </p:cNvPr>
              <p:cNvSpPr txBox="1"/>
              <p:nvPr/>
            </p:nvSpPr>
            <p:spPr bwMode="auto">
              <a:xfrm>
                <a:off x="1979613" y="1268760"/>
                <a:ext cx="311150" cy="3413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1155" name="Object 19">
                <a:extLst>
                  <a:ext uri="{FF2B5EF4-FFF2-40B4-BE49-F238E27FC236}">
                    <a16:creationId xmlns:a16="http://schemas.microsoft.com/office/drawing/2014/main" id="{4ECD5D63-60DB-684A-A227-F6916A4F36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9613" y="1268760"/>
                <a:ext cx="311150" cy="341313"/>
              </a:xfrm>
              <a:prstGeom prst="rect">
                <a:avLst/>
              </a:prstGeom>
              <a:blipFill>
                <a:blip r:embed="rId2"/>
                <a:stretch>
                  <a:fillRect r="-7843" b="-232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56" name="Object 20">
                <a:extLst>
                  <a:ext uri="{FF2B5EF4-FFF2-40B4-BE49-F238E27FC236}">
                    <a16:creationId xmlns:a16="http://schemas.microsoft.com/office/drawing/2014/main" id="{CBCA2B4C-A416-A149-ADB4-A1F815FEC6F8}"/>
                  </a:ext>
                </a:extLst>
              </p:cNvPr>
              <p:cNvSpPr txBox="1"/>
              <p:nvPr/>
            </p:nvSpPr>
            <p:spPr bwMode="auto">
              <a:xfrm>
                <a:off x="1979613" y="1870075"/>
                <a:ext cx="311150" cy="4349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1156" name="Object 20">
                <a:extLst>
                  <a:ext uri="{FF2B5EF4-FFF2-40B4-BE49-F238E27FC236}">
                    <a16:creationId xmlns:a16="http://schemas.microsoft.com/office/drawing/2014/main" id="{CBCA2B4C-A416-A149-ADB4-A1F815FEC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9613" y="1870075"/>
                <a:ext cx="311150" cy="434975"/>
              </a:xfrm>
              <a:prstGeom prst="rect">
                <a:avLst/>
              </a:prstGeom>
              <a:blipFill>
                <a:blip r:embed="rId3"/>
                <a:stretch>
                  <a:fillRect l="-5882" r="-17647" b="-42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57" name="Object 21">
                <a:extLst>
                  <a:ext uri="{FF2B5EF4-FFF2-40B4-BE49-F238E27FC236}">
                    <a16:creationId xmlns:a16="http://schemas.microsoft.com/office/drawing/2014/main" id="{1632829F-AE82-0544-99A5-EDF9C89BFAA9}"/>
                  </a:ext>
                </a:extLst>
              </p:cNvPr>
              <p:cNvSpPr txBox="1"/>
              <p:nvPr/>
            </p:nvSpPr>
            <p:spPr bwMode="auto">
              <a:xfrm>
                <a:off x="4716016" y="1268760"/>
                <a:ext cx="217488" cy="4032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1157" name="Object 21">
                <a:extLst>
                  <a:ext uri="{FF2B5EF4-FFF2-40B4-BE49-F238E27FC236}">
                    <a16:creationId xmlns:a16="http://schemas.microsoft.com/office/drawing/2014/main" id="{1632829F-AE82-0544-99A5-EDF9C89BF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16016" y="1268760"/>
                <a:ext cx="217488" cy="403225"/>
              </a:xfrm>
              <a:prstGeom prst="rect">
                <a:avLst/>
              </a:prstGeom>
              <a:blipFill>
                <a:blip r:embed="rId4"/>
                <a:stretch>
                  <a:fillRect l="-8571" r="-71429" b="-121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58" name="Object 22">
                <a:extLst>
                  <a:ext uri="{FF2B5EF4-FFF2-40B4-BE49-F238E27FC236}">
                    <a16:creationId xmlns:a16="http://schemas.microsoft.com/office/drawing/2014/main" id="{75173BED-FA6A-4041-8F0D-A574D0CDF3B0}"/>
                  </a:ext>
                </a:extLst>
              </p:cNvPr>
              <p:cNvSpPr txBox="1"/>
              <p:nvPr/>
            </p:nvSpPr>
            <p:spPr bwMode="auto">
              <a:xfrm>
                <a:off x="4764906" y="1844824"/>
                <a:ext cx="311150" cy="4032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1158" name="Object 22">
                <a:extLst>
                  <a:ext uri="{FF2B5EF4-FFF2-40B4-BE49-F238E27FC236}">
                    <a16:creationId xmlns:a16="http://schemas.microsoft.com/office/drawing/2014/main" id="{75173BED-FA6A-4041-8F0D-A574D0CDF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4906" y="1844824"/>
                <a:ext cx="311150" cy="403225"/>
              </a:xfrm>
              <a:prstGeom prst="rect">
                <a:avLst/>
              </a:prstGeom>
              <a:blipFill>
                <a:blip r:embed="rId5"/>
                <a:stretch>
                  <a:fillRect l="-1961" r="-9804" b="-30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59" name="Object 23">
                <a:extLst>
                  <a:ext uri="{FF2B5EF4-FFF2-40B4-BE49-F238E27FC236}">
                    <a16:creationId xmlns:a16="http://schemas.microsoft.com/office/drawing/2014/main" id="{16218D18-7B59-5046-B813-3E9BA351611B}"/>
                  </a:ext>
                </a:extLst>
              </p:cNvPr>
              <p:cNvSpPr txBox="1"/>
              <p:nvPr/>
            </p:nvSpPr>
            <p:spPr bwMode="auto">
              <a:xfrm>
                <a:off x="4580632" y="2349500"/>
                <a:ext cx="279400" cy="4349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1159" name="Object 23">
                <a:extLst>
                  <a:ext uri="{FF2B5EF4-FFF2-40B4-BE49-F238E27FC236}">
                    <a16:creationId xmlns:a16="http://schemas.microsoft.com/office/drawing/2014/main" id="{16218D18-7B59-5046-B813-3E9BA3516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80632" y="2349500"/>
                <a:ext cx="279400" cy="434975"/>
              </a:xfrm>
              <a:prstGeom prst="rect">
                <a:avLst/>
              </a:prstGeom>
              <a:blipFill>
                <a:blip r:embed="rId6"/>
                <a:stretch>
                  <a:fillRect l="-2174" r="-217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60" name="Object 24">
                <a:extLst>
                  <a:ext uri="{FF2B5EF4-FFF2-40B4-BE49-F238E27FC236}">
                    <a16:creationId xmlns:a16="http://schemas.microsoft.com/office/drawing/2014/main" id="{339D705C-F86E-3C47-BF17-09738A5E3CA6}"/>
                  </a:ext>
                </a:extLst>
              </p:cNvPr>
              <p:cNvSpPr txBox="1"/>
              <p:nvPr/>
            </p:nvSpPr>
            <p:spPr bwMode="auto">
              <a:xfrm>
                <a:off x="7020272" y="1268760"/>
                <a:ext cx="341313" cy="3413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1160" name="Object 24">
                <a:extLst>
                  <a:ext uri="{FF2B5EF4-FFF2-40B4-BE49-F238E27FC236}">
                    <a16:creationId xmlns:a16="http://schemas.microsoft.com/office/drawing/2014/main" id="{339D705C-F86E-3C47-BF17-09738A5E3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20272" y="1268760"/>
                <a:ext cx="341313" cy="341313"/>
              </a:xfrm>
              <a:prstGeom prst="rect">
                <a:avLst/>
              </a:prstGeom>
              <a:blipFill>
                <a:blip r:embed="rId7"/>
                <a:stretch>
                  <a:fillRect r="-1786" b="-232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61" name="Object 25">
                <a:extLst>
                  <a:ext uri="{FF2B5EF4-FFF2-40B4-BE49-F238E27FC236}">
                    <a16:creationId xmlns:a16="http://schemas.microsoft.com/office/drawing/2014/main" id="{C772631D-510A-034C-BF7F-BDF730860967}"/>
                  </a:ext>
                </a:extLst>
              </p:cNvPr>
              <p:cNvSpPr txBox="1"/>
              <p:nvPr/>
            </p:nvSpPr>
            <p:spPr bwMode="auto">
              <a:xfrm>
                <a:off x="7092950" y="1844675"/>
                <a:ext cx="373063" cy="496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1161" name="Object 25">
                <a:extLst>
                  <a:ext uri="{FF2B5EF4-FFF2-40B4-BE49-F238E27FC236}">
                    <a16:creationId xmlns:a16="http://schemas.microsoft.com/office/drawing/2014/main" id="{C772631D-510A-034C-BF7F-BDF730860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92950" y="1844675"/>
                <a:ext cx="373063" cy="496888"/>
              </a:xfrm>
              <a:prstGeom prst="rect">
                <a:avLst/>
              </a:prstGeom>
              <a:blipFill>
                <a:blip r:embed="rId8"/>
                <a:stretch>
                  <a:fillRect l="-14754" r="-11475" b="-123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62" name="Object 26">
                <a:extLst>
                  <a:ext uri="{FF2B5EF4-FFF2-40B4-BE49-F238E27FC236}">
                    <a16:creationId xmlns:a16="http://schemas.microsoft.com/office/drawing/2014/main" id="{32E88FCF-A742-784E-941A-ACB477D53D2D}"/>
                  </a:ext>
                </a:extLst>
              </p:cNvPr>
              <p:cNvSpPr txBox="1"/>
              <p:nvPr/>
            </p:nvSpPr>
            <p:spPr bwMode="auto">
              <a:xfrm>
                <a:off x="7092950" y="2349500"/>
                <a:ext cx="309563" cy="4032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1162" name="Object 26">
                <a:extLst>
                  <a:ext uri="{FF2B5EF4-FFF2-40B4-BE49-F238E27FC236}">
                    <a16:creationId xmlns:a16="http://schemas.microsoft.com/office/drawing/2014/main" id="{32E88FCF-A742-784E-941A-ACB477D53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92950" y="2349500"/>
                <a:ext cx="309563" cy="403225"/>
              </a:xfrm>
              <a:prstGeom prst="rect">
                <a:avLst/>
              </a:prstGeom>
              <a:blipFill>
                <a:blip r:embed="rId9"/>
                <a:stretch>
                  <a:fillRect l="-6000" r="-16000" b="-253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63" name="Object 27">
                <a:extLst>
                  <a:ext uri="{FF2B5EF4-FFF2-40B4-BE49-F238E27FC236}">
                    <a16:creationId xmlns:a16="http://schemas.microsoft.com/office/drawing/2014/main" id="{954EF1FC-3893-4D4C-9F83-BA6945799DE8}"/>
                  </a:ext>
                </a:extLst>
              </p:cNvPr>
              <p:cNvSpPr txBox="1"/>
              <p:nvPr/>
            </p:nvSpPr>
            <p:spPr bwMode="auto">
              <a:xfrm>
                <a:off x="5932085" y="1008280"/>
                <a:ext cx="635000" cy="749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1163" name="Object 27">
                <a:extLst>
                  <a:ext uri="{FF2B5EF4-FFF2-40B4-BE49-F238E27FC236}">
                    <a16:creationId xmlns:a16="http://schemas.microsoft.com/office/drawing/2014/main" id="{954EF1FC-3893-4D4C-9F83-BA6945799D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2085" y="1008280"/>
                <a:ext cx="635000" cy="7493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64" name="Object 28">
                <a:extLst>
                  <a:ext uri="{FF2B5EF4-FFF2-40B4-BE49-F238E27FC236}">
                    <a16:creationId xmlns:a16="http://schemas.microsoft.com/office/drawing/2014/main" id="{0C8FD684-56AC-D444-B98D-FD440AB20D3C}"/>
                  </a:ext>
                </a:extLst>
              </p:cNvPr>
              <p:cNvSpPr txBox="1"/>
              <p:nvPr/>
            </p:nvSpPr>
            <p:spPr bwMode="auto">
              <a:xfrm>
                <a:off x="3436242" y="989951"/>
                <a:ext cx="62865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1164" name="Object 28">
                <a:extLst>
                  <a:ext uri="{FF2B5EF4-FFF2-40B4-BE49-F238E27FC236}">
                    <a16:creationId xmlns:a16="http://schemas.microsoft.com/office/drawing/2014/main" id="{0C8FD684-56AC-D444-B98D-FD440AB20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36242" y="989951"/>
                <a:ext cx="628650" cy="838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65" name="Object 29">
                <a:extLst>
                  <a:ext uri="{FF2B5EF4-FFF2-40B4-BE49-F238E27FC236}">
                    <a16:creationId xmlns:a16="http://schemas.microsoft.com/office/drawing/2014/main" id="{58C49DB5-515B-804D-A249-20A0E3F8D21E}"/>
                  </a:ext>
                </a:extLst>
              </p:cNvPr>
              <p:cNvSpPr txBox="1"/>
              <p:nvPr/>
            </p:nvSpPr>
            <p:spPr bwMode="auto">
              <a:xfrm>
                <a:off x="2124075" y="2492375"/>
                <a:ext cx="730250" cy="7921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1165" name="Object 29">
                <a:extLst>
                  <a:ext uri="{FF2B5EF4-FFF2-40B4-BE49-F238E27FC236}">
                    <a16:creationId xmlns:a16="http://schemas.microsoft.com/office/drawing/2014/main" id="{58C49DB5-515B-804D-A249-20A0E3F8D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4075" y="2492375"/>
                <a:ext cx="730250" cy="79216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66" name="Object 30">
                <a:extLst>
                  <a:ext uri="{FF2B5EF4-FFF2-40B4-BE49-F238E27FC236}">
                    <a16:creationId xmlns:a16="http://schemas.microsoft.com/office/drawing/2014/main" id="{402CB02D-8C2E-B64D-9AFA-2406CF3C0CE1}"/>
                  </a:ext>
                </a:extLst>
              </p:cNvPr>
              <p:cNvSpPr txBox="1"/>
              <p:nvPr/>
            </p:nvSpPr>
            <p:spPr bwMode="auto">
              <a:xfrm>
                <a:off x="4572000" y="2565400"/>
                <a:ext cx="661988" cy="7191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1166" name="Object 30">
                <a:extLst>
                  <a:ext uri="{FF2B5EF4-FFF2-40B4-BE49-F238E27FC236}">
                    <a16:creationId xmlns:a16="http://schemas.microsoft.com/office/drawing/2014/main" id="{402CB02D-8C2E-B64D-9AFA-2406CF3C0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0" y="2565400"/>
                <a:ext cx="661988" cy="71913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167" name="Object 31">
                <a:extLst>
                  <a:ext uri="{FF2B5EF4-FFF2-40B4-BE49-F238E27FC236}">
                    <a16:creationId xmlns:a16="http://schemas.microsoft.com/office/drawing/2014/main" id="{F1AEB081-0909-C048-ACB9-EFEFE266E88C}"/>
                  </a:ext>
                </a:extLst>
              </p:cNvPr>
              <p:cNvSpPr txBox="1"/>
              <p:nvPr/>
            </p:nvSpPr>
            <p:spPr bwMode="auto">
              <a:xfrm>
                <a:off x="6804025" y="2636838"/>
                <a:ext cx="555625" cy="6492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1167" name="Object 31">
                <a:extLst>
                  <a:ext uri="{FF2B5EF4-FFF2-40B4-BE49-F238E27FC236}">
                    <a16:creationId xmlns:a16="http://schemas.microsoft.com/office/drawing/2014/main" id="{F1AEB081-0909-C048-ACB9-EFEFE266E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04025" y="2636838"/>
                <a:ext cx="555625" cy="64928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168" name="灯片编号占位符 1">
            <a:extLst>
              <a:ext uri="{FF2B5EF4-FFF2-40B4-BE49-F238E27FC236}">
                <a16:creationId xmlns:a16="http://schemas.microsoft.com/office/drawing/2014/main" id="{C63873A3-D449-2E44-B67C-BEB2647FA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C1658F1-6A2F-5E40-A4B8-F7840D6E623F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83</a:t>
            </a:fld>
            <a:endParaRPr lang="en-US" altLang="zh-CN" sz="1400"/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FD4DBB16-90DD-0B45-80F0-DCA3FE0EA885}"/>
              </a:ext>
            </a:extLst>
          </p:cNvPr>
          <p:cNvSpPr>
            <a:spLocks noGrp="1" noChangeArrowheads="1"/>
          </p:cNvSpPr>
          <p:nvPr>
            <p:ph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latin typeface="Times New Roman" panose="02020603050405020304" pitchFamily="18" charset="0"/>
              </a:rPr>
              <a:t>一般来说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g 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 </a:t>
            </a:r>
            <a:r>
              <a:rPr lang="en-US" altLang="zh-CN" b="1" i="1">
                <a:latin typeface="Times New Roman" panose="02020603050405020304" pitchFamily="18" charset="0"/>
              </a:rPr>
              <a:t>g</a:t>
            </a:r>
            <a:r>
              <a:rPr lang="en-US" altLang="zh-CN" b="1">
                <a:latin typeface="Times New Roman" panose="02020603050405020304" pitchFamily="18" charset="0"/>
              </a:rPr>
              <a:t>◦</a:t>
            </a:r>
            <a:r>
              <a:rPr lang="en-US" altLang="zh-CN" b="1" i="1">
                <a:latin typeface="Times New Roman" panose="02020603050405020304" pitchFamily="18" charset="0"/>
              </a:rPr>
              <a:t>f</a:t>
            </a:r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,  </a:t>
            </a:r>
            <a:r>
              <a:rPr lang="zh-CN" altLang="en-US" b="1">
                <a:latin typeface="Times New Roman" panose="02020603050405020304" pitchFamily="18" charset="0"/>
                <a:sym typeface="Symbol" pitchFamily="2" charset="2"/>
              </a:rPr>
              <a:t>但</a:t>
            </a:r>
          </a:p>
          <a:p>
            <a:pPr eaLnBrk="1" hangingPunct="1"/>
            <a:r>
              <a:rPr lang="en-US" altLang="zh-CN" b="1">
                <a:latin typeface="Times New Roman" panose="02020603050405020304" pitchFamily="18" charset="0"/>
                <a:sym typeface="Symbol" pitchFamily="2" charset="2"/>
              </a:rPr>
              <a:t>Theorem 1-12</a:t>
            </a:r>
          </a:p>
          <a:p>
            <a:pPr eaLnBrk="1" hangingPunct="1"/>
            <a:endParaRPr lang="en-US" altLang="zh-CN" b="1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endParaRPr lang="en-US" altLang="zh-CN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r>
              <a:rPr lang="en-US" altLang="zh-CN">
                <a:latin typeface="Times New Roman" panose="02020603050405020304" pitchFamily="18" charset="0"/>
                <a:sym typeface="Symbol" pitchFamily="2" charset="2"/>
              </a:rPr>
              <a:t>Hint </a:t>
            </a:r>
            <a:endParaRPr lang="en-US" altLang="en-US">
              <a:latin typeface="Times New Roman" panose="02020603050405020304" pitchFamily="18" charset="0"/>
              <a:sym typeface="Symbol" pitchFamily="2" charset="2"/>
            </a:endParaRPr>
          </a:p>
        </p:txBody>
      </p:sp>
      <p:sp>
        <p:nvSpPr>
          <p:cNvPr id="92166" name="灯片编号占位符 1">
            <a:extLst>
              <a:ext uri="{FF2B5EF4-FFF2-40B4-BE49-F238E27FC236}">
                <a16:creationId xmlns:a16="http://schemas.microsoft.com/office/drawing/2014/main" id="{82BB492E-941D-E949-9746-369408AC3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FC9760-6C5D-994A-A306-634A983E8997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84</a:t>
            </a:fld>
            <a:endParaRPr lang="en-US" altLang="zh-CN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BFA1E55-9BAB-F246-BFFE-3B0930BE45E5}"/>
                  </a:ext>
                </a:extLst>
              </p:cNvPr>
              <p:cNvSpPr/>
              <p:nvPr/>
            </p:nvSpPr>
            <p:spPr>
              <a:xfrm>
                <a:off x="1907704" y="1700808"/>
                <a:ext cx="6112571" cy="553998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endChr m:val=""/>
                          <m:ctrlPr>
                            <a:rPr lang="zh-CN" altLang="en-US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3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zh-CN" altLang="en-US" sz="30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)∘</m:t>
                          </m:r>
                          <m:r>
                            <a:rPr lang="zh-CN" altLang="en-US" sz="30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3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∘(</m:t>
                          </m:r>
                          <m:r>
                            <a:rPr lang="zh-CN" altLang="en-US" sz="30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zh-CN" altLang="en-US" sz="30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zh-CN" altLang="en-US" sz="30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zh-CN" altLang="en-US" sz="30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zh-CN" altLang="en-US" sz="30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3000" i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d>
                    </m:oMath>
                  </m:oMathPara>
                </a14:m>
                <a:endParaRPr lang="zh-CN" altLang="en-US" sz="30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EBFA1E55-9BAB-F246-BFFE-3B0930BE45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1700808"/>
                <a:ext cx="6112571" cy="553998"/>
              </a:xfrm>
              <a:prstGeom prst="rect">
                <a:avLst/>
              </a:prstGeom>
              <a:blipFill>
                <a:blip r:embed="rId2"/>
                <a:stretch>
                  <a:fillRect l="-8696" t="-133333" b="-20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165C1C1-5DAB-4C4F-99A4-FE8FDE5D87EF}"/>
                  </a:ext>
                </a:extLst>
              </p:cNvPr>
              <p:cNvSpPr/>
              <p:nvPr/>
            </p:nvSpPr>
            <p:spPr>
              <a:xfrm>
                <a:off x="457200" y="3433654"/>
                <a:ext cx="8785720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)∘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](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)=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[(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)]=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165C1C1-5DAB-4C4F-99A4-FE8FDE5D87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433654"/>
                <a:ext cx="8785720" cy="523220"/>
              </a:xfrm>
              <a:prstGeom prst="rect">
                <a:avLst/>
              </a:prstGeom>
              <a:blipFill>
                <a:blip r:embed="rId3"/>
                <a:stretch>
                  <a:fillRect b="-18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B5874E4-FAA8-104B-A11D-D3CDDA1A7D9D}"/>
                  </a:ext>
                </a:extLst>
              </p:cNvPr>
              <p:cNvSpPr/>
              <p:nvPr/>
            </p:nvSpPr>
            <p:spPr>
              <a:xfrm>
                <a:off x="944016" y="4518298"/>
                <a:ext cx="781208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∘(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)](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)=(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∘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)(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))=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B5874E4-FAA8-104B-A11D-D3CDDA1A7D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016" y="4518298"/>
                <a:ext cx="7812087" cy="523220"/>
              </a:xfrm>
              <a:prstGeom prst="rect">
                <a:avLst/>
              </a:prstGeom>
              <a:blipFill>
                <a:blip r:embed="rId4"/>
                <a:stretch>
                  <a:fillRect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AutoShape 2">
            <a:extLst>
              <a:ext uri="{FF2B5EF4-FFF2-40B4-BE49-F238E27FC236}">
                <a16:creationId xmlns:a16="http://schemas.microsoft.com/office/drawing/2014/main" id="{5291C134-5140-0545-B50A-D74AD34D743E}"/>
              </a:ext>
            </a:extLst>
          </p:cNvPr>
          <p:cNvSpPr>
            <a:spLocks noChangeArrowheads="1"/>
          </p:cNvSpPr>
          <p:nvPr/>
        </p:nvSpPr>
        <p:spPr bwMode="ltGray">
          <a:xfrm rot="5400000">
            <a:off x="-2251074" y="1573212"/>
            <a:ext cx="4824412" cy="4646613"/>
          </a:xfrm>
          <a:custGeom>
            <a:avLst/>
            <a:gdLst>
              <a:gd name="G0" fmla="+- 10594 0 0"/>
              <a:gd name="G1" fmla="+- -10553582 0 0"/>
              <a:gd name="G2" fmla="+- 0 0 -10553582"/>
              <a:gd name="T0" fmla="*/ 0 256 1"/>
              <a:gd name="T1" fmla="*/ 180 256 1"/>
              <a:gd name="G3" fmla="+- -10553582 T0 T1"/>
              <a:gd name="T2" fmla="*/ 0 256 1"/>
              <a:gd name="T3" fmla="*/ 90 256 1"/>
              <a:gd name="G4" fmla="+- -10553582 T2 T3"/>
              <a:gd name="G5" fmla="*/ G4 2 1"/>
              <a:gd name="T4" fmla="*/ 90 256 1"/>
              <a:gd name="T5" fmla="*/ 0 256 1"/>
              <a:gd name="G6" fmla="+- -10553582 T4 T5"/>
              <a:gd name="G7" fmla="*/ G6 2 1"/>
              <a:gd name="G8" fmla="abs -10553582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10594"/>
              <a:gd name="G18" fmla="*/ 10594 1 2"/>
              <a:gd name="G19" fmla="+- G18 5400 0"/>
              <a:gd name="G20" fmla="cos G19 -10553582"/>
              <a:gd name="G21" fmla="sin G19 -10553582"/>
              <a:gd name="G22" fmla="+- G20 10800 0"/>
              <a:gd name="G23" fmla="+- G21 10800 0"/>
              <a:gd name="G24" fmla="+- 10800 0 G20"/>
              <a:gd name="G25" fmla="+- 10594 10800 0"/>
              <a:gd name="G26" fmla="?: G9 G17 G25"/>
              <a:gd name="G27" fmla="?: G9 0 21600"/>
              <a:gd name="G28" fmla="cos 10800 -10553582"/>
              <a:gd name="G29" fmla="sin 10800 -10553582"/>
              <a:gd name="G30" fmla="sin 10594 -10553582"/>
              <a:gd name="G31" fmla="+- G28 10800 0"/>
              <a:gd name="G32" fmla="+- G29 10800 0"/>
              <a:gd name="G33" fmla="+- G30 10800 0"/>
              <a:gd name="G34" fmla="?: G4 0 G31"/>
              <a:gd name="G35" fmla="?: -10553582 G34 0"/>
              <a:gd name="G36" fmla="?: G6 G35 G31"/>
              <a:gd name="G37" fmla="+- 21600 0 G36"/>
              <a:gd name="G38" fmla="?: G4 0 G33"/>
              <a:gd name="G39" fmla="?: -10553582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683 w 21600"/>
              <a:gd name="T15" fmla="*/ 7323 h 21600"/>
              <a:gd name="T16" fmla="*/ 10800 w 21600"/>
              <a:gd name="T17" fmla="*/ 206 h 21600"/>
              <a:gd name="T18" fmla="*/ 20917 w 21600"/>
              <a:gd name="T19" fmla="*/ 7323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781" y="7357"/>
                </a:moveTo>
                <a:cubicBezTo>
                  <a:pt x="2251" y="3078"/>
                  <a:pt x="6276" y="205"/>
                  <a:pt x="10800" y="206"/>
                </a:cubicBezTo>
                <a:cubicBezTo>
                  <a:pt x="15323" y="206"/>
                  <a:pt x="19348" y="3078"/>
                  <a:pt x="20818" y="7357"/>
                </a:cubicBezTo>
                <a:lnTo>
                  <a:pt x="21013" y="7290"/>
                </a:lnTo>
                <a:cubicBezTo>
                  <a:pt x="19514" y="2928"/>
                  <a:pt x="15411" y="-1"/>
                  <a:pt x="10799" y="0"/>
                </a:cubicBezTo>
                <a:cubicBezTo>
                  <a:pt x="6188" y="0"/>
                  <a:pt x="2085" y="2928"/>
                  <a:pt x="586" y="7290"/>
                </a:cubicBez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chemeClr val="accent2">
                  <a:gamma/>
                  <a:tint val="0"/>
                  <a:invGamma/>
                </a:schemeClr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CB9F6614-647A-BA41-89BE-1A6C27A374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3825" y="400050"/>
            <a:ext cx="7715250" cy="1157288"/>
          </a:xfrm>
        </p:spPr>
        <p:txBody>
          <a:bodyPr/>
          <a:lstStyle/>
          <a:p>
            <a:pPr algn="l" eaLnBrk="1" hangingPunct="1"/>
            <a:r>
              <a:rPr lang="zh-CN" altLang="en-US" sz="4000" b="1"/>
              <a:t>小结与第一周作业</a:t>
            </a:r>
          </a:p>
        </p:txBody>
      </p:sp>
      <p:grpSp>
        <p:nvGrpSpPr>
          <p:cNvPr id="94212" name="Group 4">
            <a:extLst>
              <a:ext uri="{FF2B5EF4-FFF2-40B4-BE49-F238E27FC236}">
                <a16:creationId xmlns:a16="http://schemas.microsoft.com/office/drawing/2014/main" id="{4E192045-CB6A-1D48-B48A-4E3AD914D1F4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1773238"/>
            <a:ext cx="5181600" cy="508000"/>
            <a:chOff x="1419" y="1480"/>
            <a:chExt cx="3575" cy="363"/>
          </a:xfrm>
        </p:grpSpPr>
        <p:grpSp>
          <p:nvGrpSpPr>
            <p:cNvPr id="94242" name="Group 5">
              <a:extLst>
                <a:ext uri="{FF2B5EF4-FFF2-40B4-BE49-F238E27FC236}">
                  <a16:creationId xmlns:a16="http://schemas.microsoft.com/office/drawing/2014/main" id="{FEB910AA-7D43-E04D-A178-BF1D370CCD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05158" name="Oval 6">
                <a:extLst>
                  <a:ext uri="{FF2B5EF4-FFF2-40B4-BE49-F238E27FC236}">
                    <a16:creationId xmlns:a16="http://schemas.microsoft.com/office/drawing/2014/main" id="{88415044-C049-3341-8F33-7EFB4F3AC4C5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305159" name="AutoShape 7">
                <a:extLst>
                  <a:ext uri="{FF2B5EF4-FFF2-40B4-BE49-F238E27FC236}">
                    <a16:creationId xmlns:a16="http://schemas.microsoft.com/office/drawing/2014/main" id="{BCA39714-D021-8A43-92D0-9B24D357D9D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/>
                  <a:t>逆映射的定义</a:t>
                </a:r>
              </a:p>
            </p:txBody>
          </p:sp>
        </p:grpSp>
        <p:sp>
          <p:nvSpPr>
            <p:cNvPr id="305160" name="Oval 8">
              <a:extLst>
                <a:ext uri="{FF2B5EF4-FFF2-40B4-BE49-F238E27FC236}">
                  <a16:creationId xmlns:a16="http://schemas.microsoft.com/office/drawing/2014/main" id="{86D528E4-371A-634F-A58D-1C528EEDF92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94244" name="Oval 9">
              <a:extLst>
                <a:ext uri="{FF2B5EF4-FFF2-40B4-BE49-F238E27FC236}">
                  <a16:creationId xmlns:a16="http://schemas.microsoft.com/office/drawing/2014/main" id="{114D7A4B-8F9F-EA4C-BF9D-9ADAC53929D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94213" name="Group 10">
            <a:extLst>
              <a:ext uri="{FF2B5EF4-FFF2-40B4-BE49-F238E27FC236}">
                <a16:creationId xmlns:a16="http://schemas.microsoft.com/office/drawing/2014/main" id="{5B003145-4C86-BE4B-AE7B-7985156EC811}"/>
              </a:ext>
            </a:extLst>
          </p:cNvPr>
          <p:cNvGrpSpPr>
            <a:grpSpLocks/>
          </p:cNvGrpSpPr>
          <p:nvPr/>
        </p:nvGrpSpPr>
        <p:grpSpPr bwMode="auto">
          <a:xfrm>
            <a:off x="1979613" y="2636838"/>
            <a:ext cx="5181600" cy="508000"/>
            <a:chOff x="1419" y="1480"/>
            <a:chExt cx="3575" cy="363"/>
          </a:xfrm>
        </p:grpSpPr>
        <p:grpSp>
          <p:nvGrpSpPr>
            <p:cNvPr id="94237" name="Group 11">
              <a:extLst>
                <a:ext uri="{FF2B5EF4-FFF2-40B4-BE49-F238E27FC236}">
                  <a16:creationId xmlns:a16="http://schemas.microsoft.com/office/drawing/2014/main" id="{F2A8E1D6-8FF2-DE44-ADE4-1DB5EA8921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05164" name="Oval 12">
                <a:extLst>
                  <a:ext uri="{FF2B5EF4-FFF2-40B4-BE49-F238E27FC236}">
                    <a16:creationId xmlns:a16="http://schemas.microsoft.com/office/drawing/2014/main" id="{62A9079E-FDB9-FC47-97B9-9A07EF773091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305165" name="AutoShape 13">
                <a:extLst>
                  <a:ext uri="{FF2B5EF4-FFF2-40B4-BE49-F238E27FC236}">
                    <a16:creationId xmlns:a16="http://schemas.microsoft.com/office/drawing/2014/main" id="{A063CD9C-60CC-814E-AF69-91EE6440D8E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r>
                  <a:rPr lang="zh-CN" altLang="en-US" sz="3200" b="1" dirty="0">
                    <a:latin typeface="Arial" charset="0"/>
                  </a:rPr>
                  <a:t>逆映射存在的条件</a:t>
                </a:r>
              </a:p>
            </p:txBody>
          </p:sp>
        </p:grpSp>
        <p:sp>
          <p:nvSpPr>
            <p:cNvPr id="305166" name="Oval 14">
              <a:extLst>
                <a:ext uri="{FF2B5EF4-FFF2-40B4-BE49-F238E27FC236}">
                  <a16:creationId xmlns:a16="http://schemas.microsoft.com/office/drawing/2014/main" id="{7DF321DC-B71A-B443-BA94-DC7BD7C6D97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94239" name="Oval 15">
              <a:extLst>
                <a:ext uri="{FF2B5EF4-FFF2-40B4-BE49-F238E27FC236}">
                  <a16:creationId xmlns:a16="http://schemas.microsoft.com/office/drawing/2014/main" id="{593B9910-7FDC-4D4F-9D90-5AD288F7589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94214" name="Group 16">
            <a:extLst>
              <a:ext uri="{FF2B5EF4-FFF2-40B4-BE49-F238E27FC236}">
                <a16:creationId xmlns:a16="http://schemas.microsoft.com/office/drawing/2014/main" id="{835BA01E-63EE-FF47-A02D-CB861C86E8FE}"/>
              </a:ext>
            </a:extLst>
          </p:cNvPr>
          <p:cNvGrpSpPr>
            <a:grpSpLocks/>
          </p:cNvGrpSpPr>
          <p:nvPr/>
        </p:nvGrpSpPr>
        <p:grpSpPr bwMode="auto">
          <a:xfrm>
            <a:off x="2251075" y="3573463"/>
            <a:ext cx="5181600" cy="508000"/>
            <a:chOff x="1419" y="1480"/>
            <a:chExt cx="3575" cy="363"/>
          </a:xfrm>
        </p:grpSpPr>
        <p:grpSp>
          <p:nvGrpSpPr>
            <p:cNvPr id="94232" name="Group 17">
              <a:extLst>
                <a:ext uri="{FF2B5EF4-FFF2-40B4-BE49-F238E27FC236}">
                  <a16:creationId xmlns:a16="http://schemas.microsoft.com/office/drawing/2014/main" id="{611F9310-DD32-0842-BAB2-D8DF59CBC6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05170" name="Oval 18">
                <a:extLst>
                  <a:ext uri="{FF2B5EF4-FFF2-40B4-BE49-F238E27FC236}">
                    <a16:creationId xmlns:a16="http://schemas.microsoft.com/office/drawing/2014/main" id="{49C1928B-04D1-CC48-9DBC-5B9CB8019AD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305171" name="AutoShape 19">
                <a:extLst>
                  <a:ext uri="{FF2B5EF4-FFF2-40B4-BE49-F238E27FC236}">
                    <a16:creationId xmlns:a16="http://schemas.microsoft.com/office/drawing/2014/main" id="{FFBF1C52-C8DE-1F49-A64B-D698BC031F86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b="1"/>
                  <a:t>复合映射的定义</a:t>
                </a:r>
              </a:p>
            </p:txBody>
          </p:sp>
        </p:grpSp>
        <p:sp>
          <p:nvSpPr>
            <p:cNvPr id="305172" name="Oval 20">
              <a:extLst>
                <a:ext uri="{FF2B5EF4-FFF2-40B4-BE49-F238E27FC236}">
                  <a16:creationId xmlns:a16="http://schemas.microsoft.com/office/drawing/2014/main" id="{D7F059E9-6922-E04C-A5CB-C3ACC5CDD5D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94234" name="Oval 21">
              <a:extLst>
                <a:ext uri="{FF2B5EF4-FFF2-40B4-BE49-F238E27FC236}">
                  <a16:creationId xmlns:a16="http://schemas.microsoft.com/office/drawing/2014/main" id="{6A666308-B6EC-7546-9DAF-499BB80293D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grpSp>
        <p:nvGrpSpPr>
          <p:cNvPr id="94215" name="Group 22">
            <a:extLst>
              <a:ext uri="{FF2B5EF4-FFF2-40B4-BE49-F238E27FC236}">
                <a16:creationId xmlns:a16="http://schemas.microsoft.com/office/drawing/2014/main" id="{91070A07-23B0-6F45-A132-147A4F619E5E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4581525"/>
            <a:ext cx="5181600" cy="508000"/>
            <a:chOff x="1419" y="1480"/>
            <a:chExt cx="3575" cy="363"/>
          </a:xfrm>
        </p:grpSpPr>
        <p:grpSp>
          <p:nvGrpSpPr>
            <p:cNvPr id="94227" name="Group 23">
              <a:extLst>
                <a:ext uri="{FF2B5EF4-FFF2-40B4-BE49-F238E27FC236}">
                  <a16:creationId xmlns:a16="http://schemas.microsoft.com/office/drawing/2014/main" id="{8769FE9F-834D-D54A-BC43-FE0C4C7CBD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9" y="1480"/>
              <a:ext cx="3575" cy="363"/>
              <a:chOff x="1419" y="1480"/>
              <a:chExt cx="3575" cy="363"/>
            </a:xfrm>
          </p:grpSpPr>
          <p:sp>
            <p:nvSpPr>
              <p:cNvPr id="305176" name="Oval 24">
                <a:extLst>
                  <a:ext uri="{FF2B5EF4-FFF2-40B4-BE49-F238E27FC236}">
                    <a16:creationId xmlns:a16="http://schemas.microsoft.com/office/drawing/2014/main" id="{52139038-5740-AF42-AA15-7DA3107C2587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419" y="1491"/>
                <a:ext cx="344" cy="344"/>
              </a:xfrm>
              <a:prstGeom prst="ellipse">
                <a:avLst/>
              </a:prstGeom>
              <a:gradFill rotWithShape="1">
                <a:gsLst>
                  <a:gs pos="0">
                    <a:schemeClr val="accent2">
                      <a:gamma/>
                      <a:shade val="46275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  <p:sp>
            <p:nvSpPr>
              <p:cNvPr id="305177" name="AutoShape 25">
                <a:extLst>
                  <a:ext uri="{FF2B5EF4-FFF2-40B4-BE49-F238E27FC236}">
                    <a16:creationId xmlns:a16="http://schemas.microsoft.com/office/drawing/2014/main" id="{B328758B-6BCF-4045-980C-CB8AD495BBA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683" y="1480"/>
                <a:ext cx="3311" cy="36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tint val="0"/>
                      <a:invGamma/>
                    </a:schemeClr>
                  </a:gs>
                </a:gsLst>
                <a:lin ang="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400" b="1"/>
                  <a:t>复合映射与单射、满射和双射的关系</a:t>
                </a:r>
                <a:endParaRPr lang="zh-CN" altLang="zh-CN" sz="2400" b="1"/>
              </a:p>
            </p:txBody>
          </p:sp>
        </p:grpSp>
        <p:sp>
          <p:nvSpPr>
            <p:cNvPr id="305178" name="Oval 26">
              <a:extLst>
                <a:ext uri="{FF2B5EF4-FFF2-40B4-BE49-F238E27FC236}">
                  <a16:creationId xmlns:a16="http://schemas.microsoft.com/office/drawing/2014/main" id="{4E1F504E-7759-CB43-A9A2-10CD9CC85C4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0" y="1541"/>
              <a:ext cx="239" cy="238"/>
            </a:xfrm>
            <a:prstGeom prst="ellipse">
              <a:avLst/>
            </a:prstGeom>
            <a:gradFill rotWithShape="1">
              <a:gsLst>
                <a:gs pos="0">
                  <a:schemeClr val="folHlink"/>
                </a:gs>
                <a:gs pos="100000">
                  <a:srgbClr val="749B00"/>
                </a:gs>
              </a:gsLst>
              <a:lin ang="5400000" scaled="1"/>
            </a:gradFill>
            <a:ln>
              <a:noFill/>
            </a:ln>
            <a:effectLst>
              <a:outerShdw blurRad="63500" dist="38099" dir="2700000" algn="ctr" rotWithShape="0">
                <a:schemeClr val="tx1">
                  <a:alpha val="50000"/>
                </a:schemeClr>
              </a:outerShdw>
            </a:effec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>
                <a:latin typeface="Arial" charset="0"/>
              </a:endParaRPr>
            </a:p>
          </p:txBody>
        </p:sp>
        <p:sp>
          <p:nvSpPr>
            <p:cNvPr id="94229" name="Oval 27">
              <a:extLst>
                <a:ext uri="{FF2B5EF4-FFF2-40B4-BE49-F238E27FC236}">
                  <a16:creationId xmlns:a16="http://schemas.microsoft.com/office/drawing/2014/main" id="{3C7A0AE2-1DB5-874E-8002-6BDDE97EA38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474" y="1532"/>
              <a:ext cx="173" cy="1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E9940B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/>
            </a:p>
          </p:txBody>
        </p:sp>
      </p:grpSp>
      <p:sp>
        <p:nvSpPr>
          <p:cNvPr id="94216" name="AutoShape 28">
            <a:extLst>
              <a:ext uri="{FF2B5EF4-FFF2-40B4-BE49-F238E27FC236}">
                <a16:creationId xmlns:a16="http://schemas.microsoft.com/office/drawing/2014/main" id="{B8B48818-21CB-1C47-A94A-6B3605F978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2660650" y="5300663"/>
            <a:ext cx="4665663" cy="315912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>
            <a:prstShdw prst="shdw17" dist="12700">
              <a:schemeClr val="bg2">
                <a:alpha val="74997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latinLnBrk="1" hangingPunct="1">
              <a:spcBef>
                <a:spcPct val="0"/>
              </a:spcBef>
              <a:buFontTx/>
              <a:buNone/>
            </a:pPr>
            <a:endParaRPr kumimoji="1" lang="zh-CN" altLang="zh-CN" sz="2400" b="1">
              <a:solidFill>
                <a:schemeClr val="tx2"/>
              </a:solidFill>
              <a:ea typeface="Gulim" panose="020B0600000101010101" pitchFamily="34" charset="-127"/>
            </a:endParaRPr>
          </a:p>
        </p:txBody>
      </p:sp>
      <p:grpSp>
        <p:nvGrpSpPr>
          <p:cNvPr id="94217" name="Group 30">
            <a:extLst>
              <a:ext uri="{FF2B5EF4-FFF2-40B4-BE49-F238E27FC236}">
                <a16:creationId xmlns:a16="http://schemas.microsoft.com/office/drawing/2014/main" id="{79DF7982-A39C-2047-9025-C0DCD6A3483C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5321304"/>
            <a:ext cx="6565371" cy="665163"/>
            <a:chOff x="1152" y="2845"/>
            <a:chExt cx="4158" cy="419"/>
          </a:xfrm>
        </p:grpSpPr>
        <p:grpSp>
          <p:nvGrpSpPr>
            <p:cNvPr id="94220" name="Group 31">
              <a:extLst>
                <a:ext uri="{FF2B5EF4-FFF2-40B4-BE49-F238E27FC236}">
                  <a16:creationId xmlns:a16="http://schemas.microsoft.com/office/drawing/2014/main" id="{8ECB6BA6-E2A9-534A-9A4A-6657FF9CD2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845"/>
              <a:ext cx="480" cy="419"/>
              <a:chOff x="3174" y="2656"/>
              <a:chExt cx="1549" cy="1351"/>
            </a:xfrm>
          </p:grpSpPr>
          <p:sp>
            <p:nvSpPr>
              <p:cNvPr id="94224" name="AutoShape 32">
                <a:extLst>
                  <a:ext uri="{FF2B5EF4-FFF2-40B4-BE49-F238E27FC236}">
                    <a16:creationId xmlns:a16="http://schemas.microsoft.com/office/drawing/2014/main" id="{3A7E7B11-7CD1-CF49-8937-23039C7FF49F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87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94225" name="AutoShape 33">
                <a:extLst>
                  <a:ext uri="{FF2B5EF4-FFF2-40B4-BE49-F238E27FC236}">
                    <a16:creationId xmlns:a16="http://schemas.microsoft.com/office/drawing/2014/main" id="{D174E397-46EB-6846-BF55-750D5377C182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174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500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0">
                    <a:srgbClr val="E6E6E6"/>
                  </a:gs>
                  <a:gs pos="66000">
                    <a:srgbClr val="7D8496"/>
                  </a:gs>
                  <a:gs pos="73500">
                    <a:srgbClr val="E6E6E6"/>
                  </a:gs>
                  <a:gs pos="92500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/>
              </a:p>
            </p:txBody>
          </p:sp>
          <p:sp>
            <p:nvSpPr>
              <p:cNvPr id="305186" name="AutoShape 34">
                <a:extLst>
                  <a:ext uri="{FF2B5EF4-FFF2-40B4-BE49-F238E27FC236}">
                    <a16:creationId xmlns:a16="http://schemas.microsoft.com/office/drawing/2014/main" id="{FD6F602C-81E0-FC48-8010-746095DE5A88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3265" y="2737"/>
                <a:ext cx="1346" cy="1167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94221" name="Line 35">
              <a:extLst>
                <a:ext uri="{FF2B5EF4-FFF2-40B4-BE49-F238E27FC236}">
                  <a16:creationId xmlns:a16="http://schemas.microsoft.com/office/drawing/2014/main" id="{C0EA1331-134D-054D-A9B1-6FE27F723C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29"/>
              <a:ext cx="3024" cy="0"/>
            </a:xfrm>
            <a:prstGeom prst="line">
              <a:avLst/>
            </a:prstGeom>
            <a:noFill/>
            <a:ln w="25400">
              <a:solidFill>
                <a:srgbClr val="C0C0C0"/>
              </a:solidFill>
              <a:prstDash val="sysDot"/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22" name="Text Box 36">
              <a:extLst>
                <a:ext uri="{FF2B5EF4-FFF2-40B4-BE49-F238E27FC236}">
                  <a16:creationId xmlns:a16="http://schemas.microsoft.com/office/drawing/2014/main" id="{C673E86E-362A-FD47-B517-AFFB232C5E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3" y="2867"/>
              <a:ext cx="1887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  习题</a:t>
              </a:r>
              <a:r>
                <a:rPr lang="en-US" altLang="zh-CN" b="1" dirty="0">
                  <a:latin typeface="Times New Roman" panose="02020603050405020304" pitchFamily="18" charset="0"/>
                </a:rPr>
                <a:t>1.2   2,</a:t>
              </a:r>
              <a:r>
                <a:rPr lang="zh-CN" altLang="en-US" b="1" dirty="0">
                  <a:latin typeface="Times New Roman" panose="02020603050405020304" pitchFamily="18" charset="0"/>
                </a:rPr>
                <a:t> </a:t>
              </a:r>
              <a:r>
                <a:rPr lang="en-US" altLang="zh-CN" b="1" dirty="0">
                  <a:latin typeface="Times New Roman" panose="02020603050405020304" pitchFamily="18" charset="0"/>
                </a:rPr>
                <a:t> 12</a:t>
              </a:r>
            </a:p>
          </p:txBody>
        </p:sp>
        <p:sp>
          <p:nvSpPr>
            <p:cNvPr id="94223" name="Text Box 37">
              <a:extLst>
                <a:ext uri="{FF2B5EF4-FFF2-40B4-BE49-F238E27FC236}">
                  <a16:creationId xmlns:a16="http://schemas.microsoft.com/office/drawing/2014/main" id="{496365BE-16A8-3D44-9947-CBB72B3EE0B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169" y="2928"/>
              <a:ext cx="44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作业</a:t>
              </a:r>
            </a:p>
          </p:txBody>
        </p:sp>
      </p:grpSp>
      <p:sp>
        <p:nvSpPr>
          <p:cNvPr id="94218" name="灯片编号占位符 1">
            <a:extLst>
              <a:ext uri="{FF2B5EF4-FFF2-40B4-BE49-F238E27FC236}">
                <a16:creationId xmlns:a16="http://schemas.microsoft.com/office/drawing/2014/main" id="{42177E23-8891-274D-B498-58658248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DB2D4B-8D83-0040-BBEA-6637A5827668}" type="slidenum">
              <a:rPr lang="en-US" altLang="zh-CN" sz="1400"/>
              <a:pPr>
                <a:spcBef>
                  <a:spcPct val="0"/>
                </a:spcBef>
                <a:buFontTx/>
                <a:buNone/>
              </a:pPr>
              <a:t>85</a:t>
            </a:fld>
            <a:endParaRPr lang="en-US" altLang="zh-CN" sz="1400"/>
          </a:p>
        </p:txBody>
      </p:sp>
      <p:sp>
        <p:nvSpPr>
          <p:cNvPr id="94219" name="Text Box 36">
            <a:extLst>
              <a:ext uri="{FF2B5EF4-FFF2-40B4-BE49-F238E27FC236}">
                <a16:creationId xmlns:a16="http://schemas.microsoft.com/office/drawing/2014/main" id="{11BD0330-EBB7-9E4D-ABD2-E2A946A33B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8837" y="5339663"/>
            <a:ext cx="265008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/>
              <a:t>习题</a:t>
            </a:r>
            <a:r>
              <a:rPr lang="en-US" altLang="zh-CN" b="1" dirty="0">
                <a:latin typeface="Times New Roman" panose="02020603050405020304" pitchFamily="18" charset="0"/>
              </a:rPr>
              <a:t>1.1    6,</a:t>
            </a:r>
            <a:r>
              <a:rPr lang="zh-CN" altLang="en-US" b="1" dirty="0">
                <a:latin typeface="Times New Roman" panose="02020603050405020304" pitchFamily="18" charset="0"/>
              </a:rPr>
              <a:t>  </a:t>
            </a:r>
            <a:r>
              <a:rPr lang="en-US" altLang="zh-CN" b="1" dirty="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0D909B-FD4F-7C3D-F58B-6B1AB1CCAB97}"/>
              </a:ext>
            </a:extLst>
          </p:cNvPr>
          <p:cNvSpPr txBox="1"/>
          <p:nvPr/>
        </p:nvSpPr>
        <p:spPr>
          <a:xfrm>
            <a:off x="291064" y="5416427"/>
            <a:ext cx="1798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C00000"/>
                </a:solidFill>
              </a:rPr>
              <a:t>第一周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A16A00-014A-6DAB-F4FB-4A0B5AD47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32656"/>
            <a:ext cx="7715250" cy="1157288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作业基本格式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08D306-6702-5090-962A-4605D325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AFF525-D0EA-1541-84E3-0116F342FD1F}" type="slidenum">
              <a:rPr lang="en-US" altLang="zh-CN" smtClean="0"/>
              <a:pPr/>
              <a:t>86</a:t>
            </a:fld>
            <a:endParaRPr lang="en-US" altLang="zh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F441F18-D36A-24EA-F405-758B09EBC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16" y="2243454"/>
            <a:ext cx="8712968" cy="237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229691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第1章集合映射运算 - 1.1-1.4 (只读)" id="{D51FD7D3-7FA4-734C-81A2-6F8071FEB0C3}" vid="{09BD3EEE-42AE-204E-9134-E2D70CCE3C7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默认设计模板</Template>
  <TotalTime>3371</TotalTime>
  <Words>4248</Words>
  <Application>Microsoft Office PowerPoint</Application>
  <PresentationFormat>全屏显示(4:3)</PresentationFormat>
  <Paragraphs>823</Paragraphs>
  <Slides>86</Slides>
  <Notes>12</Notes>
  <HiddenSlides>6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86</vt:i4>
      </vt:variant>
    </vt:vector>
  </HeadingPairs>
  <TitlesOfParts>
    <vt:vector size="103" baseType="lpstr">
      <vt:lpstr>-apple-system</vt:lpstr>
      <vt:lpstr>Gulim</vt:lpstr>
      <vt:lpstr>等线</vt:lpstr>
      <vt:lpstr>华文楷体</vt:lpstr>
      <vt:lpstr>华文新魏</vt:lpstr>
      <vt:lpstr>楷体</vt:lpstr>
      <vt:lpstr>宋体</vt:lpstr>
      <vt:lpstr>微软雅黑 Light</vt:lpstr>
      <vt:lpstr>Arial</vt:lpstr>
      <vt:lpstr>Cambria Math</vt:lpstr>
      <vt:lpstr>Times New Roman</vt:lpstr>
      <vt:lpstr>Verdana</vt:lpstr>
      <vt:lpstr>Wingdings</vt:lpstr>
      <vt:lpstr>默认设计模板</vt:lpstr>
      <vt:lpstr>公式</vt:lpstr>
      <vt:lpstr>Equation</vt:lpstr>
      <vt:lpstr>Microsoft Equation 3.0</vt:lpstr>
      <vt:lpstr>离散数学 Discrete Mathematics</vt:lpstr>
      <vt:lpstr>http://cis.swu.edu.cn/info/1014/4464.htm</vt:lpstr>
      <vt:lpstr>本讲内容</vt:lpstr>
      <vt:lpstr>1、什么是离散数学</vt:lpstr>
      <vt:lpstr>PowerPoint 演示文稿</vt:lpstr>
      <vt:lpstr>PowerPoint 演示文稿</vt:lpstr>
      <vt:lpstr>2、计算机专业为何要学离散数学</vt:lpstr>
      <vt:lpstr>PowerPoint 演示文稿</vt:lpstr>
      <vt:lpstr>PowerPoint 演示文稿</vt:lpstr>
      <vt:lpstr>3、离散数学的基本内容</vt:lpstr>
      <vt:lpstr>PowerPoint 演示文稿</vt:lpstr>
      <vt:lpstr>PowerPoint 演示文稿</vt:lpstr>
      <vt:lpstr>PowerPoint 演示文稿</vt:lpstr>
      <vt:lpstr>PowerPoint 演示文稿</vt:lpstr>
      <vt:lpstr>4、学习离散数学的方法</vt:lpstr>
      <vt:lpstr>PowerPoint 演示文稿</vt:lpstr>
      <vt:lpstr>5、离散数学的学习资源</vt:lpstr>
      <vt:lpstr>PowerPoint 演示文稿</vt:lpstr>
      <vt:lpstr>PowerPoint 演示文稿</vt:lpstr>
      <vt:lpstr>PowerPoint 演示文稿</vt:lpstr>
      <vt:lpstr>PowerPoint 演示文稿</vt:lpstr>
      <vt:lpstr>第1章  集合、映射与运算</vt:lpstr>
      <vt:lpstr>本讲内容</vt:lpstr>
      <vt:lpstr>1.1 集合的有关概念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  结</vt:lpstr>
      <vt:lpstr>第1章  集合、映射与运算</vt:lpstr>
      <vt:lpstr>本讲内容</vt:lpstr>
      <vt:lpstr>1.2 映射的有关概念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小结与第一周作业</vt:lpstr>
      <vt:lpstr>作业基本格式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离散数学 Discrete Mathematics</dc:title>
  <dc:creator>Microsoft Office 用户</dc:creator>
  <cp:lastModifiedBy>Xia Zeng</cp:lastModifiedBy>
  <cp:revision>52</cp:revision>
  <cp:lastPrinted>2023-09-13T04:51:50Z</cp:lastPrinted>
  <dcterms:created xsi:type="dcterms:W3CDTF">2023-09-13T04:06:39Z</dcterms:created>
  <dcterms:modified xsi:type="dcterms:W3CDTF">2025-02-25T14:22:03Z</dcterms:modified>
</cp:coreProperties>
</file>