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54"/>
  </p:notesMasterIdLst>
  <p:sldIdLst>
    <p:sldId id="271" r:id="rId2"/>
    <p:sldId id="384" r:id="rId3"/>
    <p:sldId id="385" r:id="rId4"/>
    <p:sldId id="386" r:id="rId5"/>
    <p:sldId id="387" r:id="rId6"/>
    <p:sldId id="388" r:id="rId7"/>
    <p:sldId id="389" r:id="rId8"/>
    <p:sldId id="390" r:id="rId9"/>
    <p:sldId id="391" r:id="rId10"/>
    <p:sldId id="392" r:id="rId11"/>
    <p:sldId id="393" r:id="rId12"/>
    <p:sldId id="394" r:id="rId13"/>
    <p:sldId id="541" r:id="rId14"/>
    <p:sldId id="395" r:id="rId15"/>
    <p:sldId id="396" r:id="rId16"/>
    <p:sldId id="397" r:id="rId17"/>
    <p:sldId id="398" r:id="rId18"/>
    <p:sldId id="399" r:id="rId19"/>
    <p:sldId id="400" r:id="rId20"/>
    <p:sldId id="401" r:id="rId21"/>
    <p:sldId id="402" r:id="rId22"/>
    <p:sldId id="403" r:id="rId23"/>
    <p:sldId id="540" r:id="rId24"/>
    <p:sldId id="404" r:id="rId25"/>
    <p:sldId id="405" r:id="rId26"/>
    <p:sldId id="406" r:id="rId27"/>
    <p:sldId id="407" r:id="rId28"/>
    <p:sldId id="408" r:id="rId29"/>
    <p:sldId id="410" r:id="rId30"/>
    <p:sldId id="411" r:id="rId31"/>
    <p:sldId id="412" r:id="rId32"/>
    <p:sldId id="413" r:id="rId33"/>
    <p:sldId id="414" r:id="rId34"/>
    <p:sldId id="415" r:id="rId35"/>
    <p:sldId id="416" r:id="rId36"/>
    <p:sldId id="417" r:id="rId37"/>
    <p:sldId id="418" r:id="rId38"/>
    <p:sldId id="419" r:id="rId39"/>
    <p:sldId id="420" r:id="rId40"/>
    <p:sldId id="421" r:id="rId41"/>
    <p:sldId id="422" r:id="rId42"/>
    <p:sldId id="423" r:id="rId43"/>
    <p:sldId id="424" r:id="rId44"/>
    <p:sldId id="425" r:id="rId45"/>
    <p:sldId id="542" r:id="rId46"/>
    <p:sldId id="543" r:id="rId47"/>
    <p:sldId id="544" r:id="rId48"/>
    <p:sldId id="545" r:id="rId49"/>
    <p:sldId id="546" r:id="rId50"/>
    <p:sldId id="547" r:id="rId51"/>
    <p:sldId id="548" r:id="rId52"/>
    <p:sldId id="549" r:id="rId5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Char char="•"/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Char char="•"/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Char char="•"/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Char char="•"/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Char char="•"/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B2B2B2"/>
    <a:srgbClr val="DEFF00"/>
    <a:srgbClr val="002E2D"/>
    <a:srgbClr val="002E00"/>
    <a:srgbClr val="002221"/>
    <a:srgbClr val="808080"/>
    <a:srgbClr val="009999"/>
    <a:srgbClr val="006699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87" autoAdjust="0"/>
    <p:restoredTop sz="94648"/>
  </p:normalViewPr>
  <p:slideViewPr>
    <p:cSldViewPr>
      <p:cViewPr varScale="1">
        <p:scale>
          <a:sx n="84" d="100"/>
          <a:sy n="84" d="100"/>
        </p:scale>
        <p:origin x="142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7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6D26B8A9-601C-41A1-BD3C-DB045B189F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02552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003" descr="dxm1"/>
          <p:cNvPicPr>
            <a:picLocks noChangeAspect="1" noChangeArrowheads="1"/>
          </p:cNvPicPr>
          <p:nvPr userDrawn="1"/>
        </p:nvPicPr>
        <p:blipFill>
          <a:blip r:embed="rId2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71900"/>
            <a:ext cx="91440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1844675"/>
            <a:ext cx="7921625" cy="1038225"/>
          </a:xfrm>
        </p:spPr>
        <p:txBody>
          <a:bodyPr/>
          <a:lstStyle>
            <a:lvl1pPr algn="ctr">
              <a:defRPr sz="6000">
                <a:solidFill>
                  <a:srgbClr val="006666"/>
                </a:solidFill>
                <a:ea typeface="隶书" pitchFamily="49" charset="-122"/>
              </a:defRPr>
            </a:lvl1pPr>
          </a:lstStyle>
          <a:p>
            <a:r>
              <a:rPr lang="zh-CN" altLang="en-US"/>
              <a:t>章节内容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39850" y="1052513"/>
            <a:ext cx="6400800" cy="782637"/>
          </a:xfrm>
          <a:noFill/>
          <a:ln w="9525" cmpd="sng"/>
        </p:spPr>
        <p:txBody>
          <a:bodyPr/>
          <a:lstStyle>
            <a:lvl1pPr marL="0" indent="0" algn="ctr">
              <a:defRPr sz="4000">
                <a:solidFill>
                  <a:srgbClr val="003366"/>
                </a:solidFill>
              </a:defRPr>
            </a:lvl1pPr>
          </a:lstStyle>
          <a:p>
            <a:r>
              <a:rPr lang="zh-CN" altLang="en-US"/>
              <a:t>课程名称</a:t>
            </a:r>
          </a:p>
        </p:txBody>
      </p:sp>
    </p:spTree>
    <p:extLst>
      <p:ext uri="{BB962C8B-B14F-4D97-AF65-F5344CB8AC3E}">
        <p14:creationId xmlns:p14="http://schemas.microsoft.com/office/powerpoint/2010/main" val="3313537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ED86158A-B174-4243-A4CB-A7ABAEE3A875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88573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94929D52-B0C4-4F75-A81B-7EABFB173467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34935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836613"/>
            <a:ext cx="4495800" cy="5521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21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A38289E6-9449-4509-9D1A-BC870D6283D0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06673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77A8AFE8-8003-49C8-9A43-143B5C49B883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224219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34FC23D1-E316-4149-9A5F-E4CC434F7FAE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117586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90A161D3-ED44-4D34-BC41-CE11D2EE7BC1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024340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2019063E-8C02-4B20-A1B8-CA62091CF2E2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59957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8AE16B31-C377-4FA9-A451-F6CAAA46CDBE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305374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05403CE7-CCF4-4F73-ACA5-CC8F1C7E4901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0562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17475"/>
            <a:ext cx="2286000" cy="62404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17475"/>
            <a:ext cx="6705600" cy="62404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47FA4687-32C4-4510-ACB9-4314B4586EE6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4275264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17475"/>
            <a:ext cx="9144000" cy="62404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fld id="{FB70471C-2D72-4B11-8C8B-C0CF02707F33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495660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336699"/>
            </a:gs>
            <a:gs pos="50000">
              <a:schemeClr val="bg1"/>
            </a:gs>
            <a:gs pos="100000">
              <a:srgbClr val="33669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5" descr="MCj02868450000[1]"/>
          <p:cNvPicPr>
            <a:picLocks noChangeAspect="1" noChangeArrowheads="1"/>
          </p:cNvPicPr>
          <p:nvPr userDrawn="1"/>
        </p:nvPicPr>
        <p:blipFill>
          <a:blip r:embed="rId14" cstate="print">
            <a:lum bright="40000" contrast="-5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580063" y="2995613"/>
            <a:ext cx="3379787" cy="336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836613"/>
            <a:ext cx="9144000" cy="5521325"/>
          </a:xfrm>
          <a:prstGeom prst="rect">
            <a:avLst/>
          </a:prstGeom>
          <a:gradFill rotWithShape="1">
            <a:gsLst>
              <a:gs pos="0">
                <a:schemeClr val="bg1">
                  <a:alpha val="39000"/>
                </a:schemeClr>
              </a:gs>
              <a:gs pos="100000">
                <a:srgbClr val="336699">
                  <a:alpha val="82001"/>
                </a:srgbClr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57150" cmpd="thinThick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117475"/>
            <a:ext cx="87852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67625" y="6473825"/>
            <a:ext cx="10080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600" i="1">
                <a:solidFill>
                  <a:srgbClr val="B2B2B2"/>
                </a:solidFill>
                <a:latin typeface="+mn-ea"/>
              </a:defRPr>
            </a:lvl1pPr>
          </a:lstStyle>
          <a:p>
            <a:pPr>
              <a:defRPr/>
            </a:pPr>
            <a:r>
              <a:rPr lang="zh-CN" altLang="en-US"/>
              <a:t>第</a:t>
            </a:r>
            <a:fld id="{4814427F-095E-4574-98B8-C26D7EA63D96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  <p:pic>
        <p:nvPicPr>
          <p:cNvPr id="2" name="Picture 117" descr="西南大学"/>
          <p:cNvPicPr>
            <a:picLocks noChangeAspect="1" noChangeArrowheads="1"/>
          </p:cNvPicPr>
          <p:nvPr userDrawn="1"/>
        </p:nvPicPr>
        <p:blipFill>
          <a:blip r:embed="rId1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1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6496050"/>
            <a:ext cx="1295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C6E6E8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C6E6E8"/>
          </a:solidFill>
          <a:latin typeface="Arial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C6E6E8"/>
          </a:solidFill>
          <a:latin typeface="Arial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C6E6E8"/>
          </a:solidFill>
          <a:latin typeface="Arial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C6E6E8"/>
          </a:solidFill>
          <a:latin typeface="Arial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C6E6E8"/>
          </a:solidFill>
          <a:latin typeface="Arial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C6E6E8"/>
          </a:solidFill>
          <a:latin typeface="Arial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C6E6E8"/>
          </a:solidFill>
          <a:latin typeface="Arial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C6E6E8"/>
          </a:solidFill>
          <a:latin typeface="Arial" charset="0"/>
          <a:ea typeface="楷体_GB2312" pitchFamily="49" charset="-122"/>
        </a:defRPr>
      </a:lvl9pPr>
    </p:titleStyle>
    <p:bodyStyle>
      <a:lvl1pPr marL="152400" indent="444500" algn="l" rtl="0" eaLnBrk="0" fontAlgn="base" hangingPunct="0">
        <a:spcBef>
          <a:spcPct val="20000"/>
        </a:spcBef>
        <a:spcAft>
          <a:spcPct val="0"/>
        </a:spcAft>
        <a:buChar char="•"/>
        <a:defRPr sz="3600" b="1">
          <a:solidFill>
            <a:srgbClr val="002E2D"/>
          </a:solidFill>
          <a:latin typeface="+mn-lt"/>
          <a:ea typeface="+mn-ea"/>
          <a:cs typeface="+mn-cs"/>
        </a:defRPr>
      </a:lvl1pPr>
      <a:lvl2pPr marL="776288" indent="3238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l"/>
        <a:defRPr sz="3200" b="1">
          <a:solidFill>
            <a:srgbClr val="002E2D"/>
          </a:solidFill>
          <a:latin typeface="+mn-lt"/>
          <a:ea typeface="+mn-ea"/>
        </a:defRPr>
      </a:lvl2pPr>
      <a:lvl3pPr marL="1279525" indent="250825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n"/>
        <a:defRPr sz="3000" b="1">
          <a:solidFill>
            <a:srgbClr val="002E2D"/>
          </a:solidFill>
          <a:latin typeface="+mn-lt"/>
          <a:ea typeface="+mn-ea"/>
        </a:defRPr>
      </a:lvl3pPr>
      <a:lvl4pPr marL="1711325" indent="25558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u"/>
        <a:defRPr sz="2800" b="1">
          <a:solidFill>
            <a:srgbClr val="002E2D"/>
          </a:solidFill>
          <a:latin typeface="+mn-lt"/>
          <a:ea typeface="+mn-ea"/>
        </a:defRPr>
      </a:lvl4pPr>
      <a:lvl5pPr marL="2146300" indent="2921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p"/>
        <a:defRPr sz="2800" b="1">
          <a:solidFill>
            <a:srgbClr val="002E2D"/>
          </a:solidFill>
          <a:latin typeface="+mn-lt"/>
          <a:ea typeface="+mn-ea"/>
        </a:defRPr>
      </a:lvl5pPr>
      <a:lvl6pPr marL="2603500" indent="292100" algn="l" rtl="0" fontAlgn="base">
        <a:spcBef>
          <a:spcPct val="20000"/>
        </a:spcBef>
        <a:spcAft>
          <a:spcPct val="0"/>
        </a:spcAft>
        <a:buFont typeface="Wingdings" pitchFamily="2" charset="2"/>
        <a:buChar char="p"/>
        <a:defRPr sz="2800" b="1">
          <a:solidFill>
            <a:srgbClr val="002E2D"/>
          </a:solidFill>
          <a:latin typeface="+mn-lt"/>
          <a:ea typeface="+mn-ea"/>
        </a:defRPr>
      </a:lvl6pPr>
      <a:lvl7pPr marL="3060700" indent="292100" algn="l" rtl="0" fontAlgn="base">
        <a:spcBef>
          <a:spcPct val="20000"/>
        </a:spcBef>
        <a:spcAft>
          <a:spcPct val="0"/>
        </a:spcAft>
        <a:buFont typeface="Wingdings" pitchFamily="2" charset="2"/>
        <a:buChar char="p"/>
        <a:defRPr sz="2800" b="1">
          <a:solidFill>
            <a:srgbClr val="002E2D"/>
          </a:solidFill>
          <a:latin typeface="+mn-lt"/>
          <a:ea typeface="+mn-ea"/>
        </a:defRPr>
      </a:lvl7pPr>
      <a:lvl8pPr marL="3517900" indent="292100" algn="l" rtl="0" fontAlgn="base">
        <a:spcBef>
          <a:spcPct val="20000"/>
        </a:spcBef>
        <a:spcAft>
          <a:spcPct val="0"/>
        </a:spcAft>
        <a:buFont typeface="Wingdings" pitchFamily="2" charset="2"/>
        <a:buChar char="p"/>
        <a:defRPr sz="2800" b="1">
          <a:solidFill>
            <a:srgbClr val="002E2D"/>
          </a:solidFill>
          <a:latin typeface="+mn-lt"/>
          <a:ea typeface="+mn-ea"/>
        </a:defRPr>
      </a:lvl8pPr>
      <a:lvl9pPr marL="3975100" indent="292100" algn="l" rtl="0" fontAlgn="base">
        <a:spcBef>
          <a:spcPct val="20000"/>
        </a:spcBef>
        <a:spcAft>
          <a:spcPct val="0"/>
        </a:spcAft>
        <a:buFont typeface="Wingdings" pitchFamily="2" charset="2"/>
        <a:buChar char="p"/>
        <a:defRPr sz="2800" b="1">
          <a:solidFill>
            <a:srgbClr val="002E2D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8.emf"/><Relationship Id="rId7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12.emf"/><Relationship Id="rId7" Type="http://schemas.openxmlformats.org/officeDocument/2006/relationships/image" Target="../media/image1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5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6.emf"/><Relationship Id="rId7" Type="http://schemas.openxmlformats.org/officeDocument/2006/relationships/image" Target="../media/image1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9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20.emf"/><Relationship Id="rId7" Type="http://schemas.openxmlformats.org/officeDocument/2006/relationships/image" Target="../media/image2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3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24.emf"/><Relationship Id="rId7" Type="http://schemas.openxmlformats.org/officeDocument/2006/relationships/image" Target="../media/image26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8.emf"/><Relationship Id="rId5" Type="http://schemas.openxmlformats.org/officeDocument/2006/relationships/image" Target="../media/image25.e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7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emf"/><Relationship Id="rId4" Type="http://schemas.openxmlformats.org/officeDocument/2006/relationships/oleObject" Target="../embeddings/oleObject24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38.emf"/><Relationship Id="rId18" Type="http://schemas.openxmlformats.org/officeDocument/2006/relationships/oleObject" Target="../embeddings/oleObject34.bin"/><Relationship Id="rId3" Type="http://schemas.openxmlformats.org/officeDocument/2006/relationships/image" Target="../media/image33.emf"/><Relationship Id="rId21" Type="http://schemas.openxmlformats.org/officeDocument/2006/relationships/image" Target="../media/image42.emf"/><Relationship Id="rId7" Type="http://schemas.openxmlformats.org/officeDocument/2006/relationships/image" Target="../media/image35.emf"/><Relationship Id="rId12" Type="http://schemas.openxmlformats.org/officeDocument/2006/relationships/oleObject" Target="../embeddings/oleObject31.bin"/><Relationship Id="rId17" Type="http://schemas.openxmlformats.org/officeDocument/2006/relationships/image" Target="../media/image40.emf"/><Relationship Id="rId2" Type="http://schemas.openxmlformats.org/officeDocument/2006/relationships/oleObject" Target="../embeddings/oleObject26.bin"/><Relationship Id="rId16" Type="http://schemas.openxmlformats.org/officeDocument/2006/relationships/oleObject" Target="../embeddings/oleObject33.bin"/><Relationship Id="rId20" Type="http://schemas.openxmlformats.org/officeDocument/2006/relationships/oleObject" Target="../embeddings/oleObject3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7.emf"/><Relationship Id="rId5" Type="http://schemas.openxmlformats.org/officeDocument/2006/relationships/image" Target="../media/image34.emf"/><Relationship Id="rId15" Type="http://schemas.openxmlformats.org/officeDocument/2006/relationships/image" Target="../media/image39.emf"/><Relationship Id="rId10" Type="http://schemas.openxmlformats.org/officeDocument/2006/relationships/oleObject" Target="../embeddings/oleObject30.bin"/><Relationship Id="rId19" Type="http://schemas.openxmlformats.org/officeDocument/2006/relationships/image" Target="../media/image41.e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6.emf"/><Relationship Id="rId14" Type="http://schemas.openxmlformats.org/officeDocument/2006/relationships/oleObject" Target="../embeddings/oleObject32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9.emf"/><Relationship Id="rId18" Type="http://schemas.openxmlformats.org/officeDocument/2006/relationships/oleObject" Target="../embeddings/oleObject45.bin"/><Relationship Id="rId3" Type="http://schemas.openxmlformats.org/officeDocument/2006/relationships/image" Target="../media/image44.emf"/><Relationship Id="rId7" Type="http://schemas.openxmlformats.org/officeDocument/2006/relationships/image" Target="../media/image46.e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51.emf"/><Relationship Id="rId2" Type="http://schemas.openxmlformats.org/officeDocument/2006/relationships/oleObject" Target="../embeddings/oleObject37.bin"/><Relationship Id="rId16" Type="http://schemas.openxmlformats.org/officeDocument/2006/relationships/oleObject" Target="../embeddings/oleObject44.bin"/><Relationship Id="rId20" Type="http://schemas.openxmlformats.org/officeDocument/2006/relationships/image" Target="../media/image53.e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8.emf"/><Relationship Id="rId5" Type="http://schemas.openxmlformats.org/officeDocument/2006/relationships/image" Target="../media/image45.emf"/><Relationship Id="rId15" Type="http://schemas.openxmlformats.org/officeDocument/2006/relationships/image" Target="../media/image50.e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52.e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7.emf"/><Relationship Id="rId14" Type="http://schemas.openxmlformats.org/officeDocument/2006/relationships/oleObject" Target="../embeddings/oleObject43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image" Target="../media/image54.emf"/><Relationship Id="rId7" Type="http://schemas.openxmlformats.org/officeDocument/2006/relationships/image" Target="../media/image56.e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55.emf"/><Relationship Id="rId4" Type="http://schemas.openxmlformats.org/officeDocument/2006/relationships/oleObject" Target="../embeddings/oleObject47.bin"/><Relationship Id="rId9" Type="http://schemas.openxmlformats.org/officeDocument/2006/relationships/image" Target="../media/image57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63.emf"/><Relationship Id="rId3" Type="http://schemas.openxmlformats.org/officeDocument/2006/relationships/image" Target="../media/image58.emf"/><Relationship Id="rId7" Type="http://schemas.openxmlformats.org/officeDocument/2006/relationships/image" Target="../media/image60.emf"/><Relationship Id="rId12" Type="http://schemas.openxmlformats.org/officeDocument/2006/relationships/oleObject" Target="../embeddings/oleObject53.bin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62.emf"/><Relationship Id="rId5" Type="http://schemas.openxmlformats.org/officeDocument/2006/relationships/image" Target="../media/image59.emf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50.bin"/><Relationship Id="rId9" Type="http://schemas.openxmlformats.org/officeDocument/2006/relationships/image" Target="../media/image61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image" Target="../media/image69.emf"/><Relationship Id="rId3" Type="http://schemas.openxmlformats.org/officeDocument/2006/relationships/image" Target="../media/image64.emf"/><Relationship Id="rId7" Type="http://schemas.openxmlformats.org/officeDocument/2006/relationships/image" Target="../media/image66.emf"/><Relationship Id="rId12" Type="http://schemas.openxmlformats.org/officeDocument/2006/relationships/oleObject" Target="../embeddings/oleObject59.bin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68.wmf"/><Relationship Id="rId5" Type="http://schemas.openxmlformats.org/officeDocument/2006/relationships/image" Target="../media/image65.emf"/><Relationship Id="rId15" Type="http://schemas.openxmlformats.org/officeDocument/2006/relationships/image" Target="../media/image70.wmf"/><Relationship Id="rId10" Type="http://schemas.openxmlformats.org/officeDocument/2006/relationships/oleObject" Target="../embeddings/oleObject58.bin"/><Relationship Id="rId4" Type="http://schemas.openxmlformats.org/officeDocument/2006/relationships/oleObject" Target="../embeddings/oleObject55.bin"/><Relationship Id="rId9" Type="http://schemas.openxmlformats.org/officeDocument/2006/relationships/image" Target="../media/image67.wmf"/><Relationship Id="rId14" Type="http://schemas.openxmlformats.org/officeDocument/2006/relationships/oleObject" Target="../embeddings/oleObject60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3.tiff"/><Relationship Id="rId5" Type="http://schemas.openxmlformats.org/officeDocument/2006/relationships/image" Target="../media/image72.wmf"/><Relationship Id="rId4" Type="http://schemas.openxmlformats.org/officeDocument/2006/relationships/oleObject" Target="../embeddings/oleObject62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emf"/><Relationship Id="rId13" Type="http://schemas.openxmlformats.org/officeDocument/2006/relationships/image" Target="../media/image80.png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79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5.emf"/><Relationship Id="rId11" Type="http://schemas.openxmlformats.org/officeDocument/2006/relationships/image" Target="../media/image78.png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77.emf"/><Relationship Id="rId4" Type="http://schemas.openxmlformats.org/officeDocument/2006/relationships/image" Target="../media/image74.emf"/><Relationship Id="rId9" Type="http://schemas.openxmlformats.org/officeDocument/2006/relationships/oleObject" Target="../embeddings/oleObject66.bin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0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3" Type="http://schemas.openxmlformats.org/officeDocument/2006/relationships/image" Target="../media/image79.emf"/><Relationship Id="rId7" Type="http://schemas.openxmlformats.org/officeDocument/2006/relationships/image" Target="../media/image81.e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0.bin"/><Relationship Id="rId5" Type="http://schemas.openxmlformats.org/officeDocument/2006/relationships/image" Target="../media/image80.emf"/><Relationship Id="rId10" Type="http://schemas.openxmlformats.org/officeDocument/2006/relationships/image" Target="../media/image85.png"/><Relationship Id="rId4" Type="http://schemas.openxmlformats.org/officeDocument/2006/relationships/oleObject" Target="../embeddings/oleObject69.bin"/><Relationship Id="rId9" Type="http://schemas.openxmlformats.org/officeDocument/2006/relationships/image" Target="../media/image82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259632" y="1854275"/>
            <a:ext cx="6400800" cy="782637"/>
          </a:xfrm>
          <a:noFill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>
                        <a:alpha val="39000"/>
                      </a:schemeClr>
                    </a:gs>
                    <a:gs pos="100000">
                      <a:srgbClr val="336699">
                        <a:alpha val="82001"/>
                      </a:srgbClr>
                    </a:gs>
                  </a:gsLst>
                  <a:lin ang="2700000" scaled="1"/>
                </a:gradFill>
              </a14:hiddenFill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4400" dirty="0">
                <a:latin typeface="Times New Roman" pitchFamily="18" charset="0"/>
              </a:rPr>
              <a:t>第</a:t>
            </a:r>
            <a:r>
              <a:rPr lang="en-US" altLang="zh-CN" sz="4400" dirty="0">
                <a:latin typeface="Times New Roman" pitchFamily="18" charset="0"/>
              </a:rPr>
              <a:t>2</a:t>
            </a:r>
            <a:r>
              <a:rPr lang="zh-CN" altLang="en-US" sz="4400" dirty="0">
                <a:latin typeface="Times New Roman" pitchFamily="18" charset="0"/>
              </a:rPr>
              <a:t>章 关系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7174F8-0B55-CF49-9848-98A40540FDE8}"/>
              </a:ext>
            </a:extLst>
          </p:cNvPr>
          <p:cNvSpPr txBox="1"/>
          <p:nvPr/>
        </p:nvSpPr>
        <p:spPr>
          <a:xfrm>
            <a:off x="2339752" y="3645024"/>
            <a:ext cx="4680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xzeng0712@swu.edu.cn</a:t>
            </a:r>
            <a:endParaRPr kumimoji="1"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latin typeface="Times New Roman" pitchFamily="18" charset="0"/>
              </a:rPr>
              <a:t>2.3</a:t>
            </a:r>
            <a:r>
              <a:rPr lang="en-US" altLang="zh-CN" sz="3200"/>
              <a:t> </a:t>
            </a:r>
            <a:r>
              <a:rPr lang="zh-CN" altLang="en-US" sz="3200"/>
              <a:t>关系的性质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ubTitle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>
                        <a:alpha val="39000"/>
                      </a:schemeClr>
                    </a:gs>
                    <a:gs pos="100000">
                      <a:srgbClr val="336699">
                        <a:alpha val="82001"/>
                      </a:srgbClr>
                    </a:gs>
                  </a:gsLst>
                  <a:lin ang="2700000" scaled="1"/>
                </a:gradFill>
              </a14:hiddenFill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>
                <a:latin typeface="Times New Roman" pitchFamily="18" charset="0"/>
              </a:rPr>
              <a:t>第</a:t>
            </a:r>
            <a:r>
              <a:rPr lang="en-US" altLang="zh-CN">
                <a:latin typeface="Times New Roman" pitchFamily="18" charset="0"/>
              </a:rPr>
              <a:t>2</a:t>
            </a:r>
            <a:r>
              <a:rPr lang="zh-CN" altLang="en-US">
                <a:latin typeface="Times New Roman" pitchFamily="18" charset="0"/>
              </a:rPr>
              <a:t>章 关系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688328B1-41E2-4867-91CE-C9123A4B3D36}" type="slidenum">
              <a:rPr lang="zh-CN" altLang="en-US"/>
              <a:pPr>
                <a:defRPr/>
              </a:pPr>
              <a:t>2</a:t>
            </a:fld>
            <a:r>
              <a:rPr lang="zh-CN" altLang="en-US"/>
              <a:t>页</a:t>
            </a: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itchFamily="18" charset="0"/>
              </a:rPr>
              <a:t>2.3</a:t>
            </a:r>
            <a:r>
              <a:rPr lang="en-US" altLang="zh-CN"/>
              <a:t> </a:t>
            </a:r>
            <a:r>
              <a:rPr lang="zh-CN" altLang="en-US"/>
              <a:t>关系的性质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zh-CN"/>
          </a:p>
          <a:p>
            <a:pPr eaLnBrk="1" hangingPunct="1">
              <a:buFontTx/>
              <a:buNone/>
            </a:pPr>
            <a:endParaRPr lang="en-US" altLang="zh-CN"/>
          </a:p>
        </p:txBody>
      </p:sp>
      <p:grpSp>
        <p:nvGrpSpPr>
          <p:cNvPr id="55301" name="Group 4"/>
          <p:cNvGrpSpPr>
            <a:grpSpLocks/>
          </p:cNvGrpSpPr>
          <p:nvPr/>
        </p:nvGrpSpPr>
        <p:grpSpPr bwMode="auto">
          <a:xfrm>
            <a:off x="1042988" y="1125538"/>
            <a:ext cx="5545137" cy="712787"/>
            <a:chOff x="1152" y="1101"/>
            <a:chExt cx="3408" cy="449"/>
          </a:xfrm>
        </p:grpSpPr>
        <p:grpSp>
          <p:nvGrpSpPr>
            <p:cNvPr id="55335" name="Group 5"/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55339" name="AutoShape 6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40" name="AutoShape 7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088" name="AutoShape 8"/>
              <p:cNvSpPr>
                <a:spLocks noChangeArrowheads="1"/>
              </p:cNvSpPr>
              <p:nvPr/>
            </p:nvSpPr>
            <p:spPr bwMode="gray">
              <a:xfrm>
                <a:off x="1201" y="2737"/>
                <a:ext cx="1348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5336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37" name="Text Box 10"/>
            <p:cNvSpPr txBox="1">
              <a:spLocks noChangeArrowheads="1"/>
            </p:cNvSpPr>
            <p:nvPr/>
          </p:nvSpPr>
          <p:spPr bwMode="auto">
            <a:xfrm>
              <a:off x="2112" y="1101"/>
              <a:ext cx="86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自反性</a:t>
              </a:r>
            </a:p>
          </p:txBody>
        </p:sp>
        <p:sp>
          <p:nvSpPr>
            <p:cNvPr id="55338" name="Text Box 11"/>
            <p:cNvSpPr txBox="1">
              <a:spLocks noChangeArrowheads="1"/>
            </p:cNvSpPr>
            <p:nvPr/>
          </p:nvSpPr>
          <p:spPr bwMode="gray">
            <a:xfrm>
              <a:off x="1269" y="1132"/>
              <a:ext cx="23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55302" name="Group 12"/>
          <p:cNvGrpSpPr>
            <a:grpSpLocks/>
          </p:cNvGrpSpPr>
          <p:nvPr/>
        </p:nvGrpSpPr>
        <p:grpSpPr bwMode="auto">
          <a:xfrm>
            <a:off x="1042988" y="2133600"/>
            <a:ext cx="5545137" cy="760413"/>
            <a:chOff x="1152" y="1677"/>
            <a:chExt cx="3408" cy="449"/>
          </a:xfrm>
        </p:grpSpPr>
        <p:grpSp>
          <p:nvGrpSpPr>
            <p:cNvPr id="55328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55332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33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096" name="AutoShape 16"/>
              <p:cNvSpPr>
                <a:spLocks noChangeArrowheads="1"/>
              </p:cNvSpPr>
              <p:nvPr/>
            </p:nvSpPr>
            <p:spPr bwMode="gray">
              <a:xfrm>
                <a:off x="3265" y="2735"/>
                <a:ext cx="1348" cy="1170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5329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30" name="Text Box 18"/>
            <p:cNvSpPr txBox="1">
              <a:spLocks noChangeArrowheads="1"/>
            </p:cNvSpPr>
            <p:nvPr/>
          </p:nvSpPr>
          <p:spPr bwMode="auto">
            <a:xfrm>
              <a:off x="2112" y="1677"/>
              <a:ext cx="1140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反自反性</a:t>
              </a:r>
            </a:p>
          </p:txBody>
        </p:sp>
        <p:sp>
          <p:nvSpPr>
            <p:cNvPr id="55331" name="Text Box 19"/>
            <p:cNvSpPr txBox="1">
              <a:spLocks noChangeArrowheads="1"/>
            </p:cNvSpPr>
            <p:nvPr/>
          </p:nvSpPr>
          <p:spPr bwMode="gray">
            <a:xfrm>
              <a:off x="1269" y="1708"/>
              <a:ext cx="238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</p:grpSp>
      <p:grpSp>
        <p:nvGrpSpPr>
          <p:cNvPr id="55303" name="Group 20"/>
          <p:cNvGrpSpPr>
            <a:grpSpLocks/>
          </p:cNvGrpSpPr>
          <p:nvPr/>
        </p:nvGrpSpPr>
        <p:grpSpPr bwMode="auto">
          <a:xfrm>
            <a:off x="1042988" y="3068638"/>
            <a:ext cx="5545137" cy="712787"/>
            <a:chOff x="1152" y="2239"/>
            <a:chExt cx="3408" cy="449"/>
          </a:xfrm>
        </p:grpSpPr>
        <p:grpSp>
          <p:nvGrpSpPr>
            <p:cNvPr id="55321" name="Group 21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55325" name="AutoShape 22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6" name="AutoShape 23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104" name="AutoShape 24"/>
              <p:cNvSpPr>
                <a:spLocks noChangeArrowheads="1"/>
              </p:cNvSpPr>
              <p:nvPr/>
            </p:nvSpPr>
            <p:spPr bwMode="gray">
              <a:xfrm>
                <a:off x="1201" y="2737"/>
                <a:ext cx="1348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5322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23" name="Text Box 26"/>
            <p:cNvSpPr txBox="1">
              <a:spLocks noChangeArrowheads="1"/>
            </p:cNvSpPr>
            <p:nvPr/>
          </p:nvSpPr>
          <p:spPr bwMode="auto">
            <a:xfrm>
              <a:off x="2112" y="2239"/>
              <a:ext cx="8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对称性</a:t>
              </a:r>
            </a:p>
          </p:txBody>
        </p:sp>
        <p:sp>
          <p:nvSpPr>
            <p:cNvPr id="55324" name="Text Box 27"/>
            <p:cNvSpPr txBox="1">
              <a:spLocks noChangeArrowheads="1"/>
            </p:cNvSpPr>
            <p:nvPr/>
          </p:nvSpPr>
          <p:spPr bwMode="gray">
            <a:xfrm>
              <a:off x="1284" y="2332"/>
              <a:ext cx="2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</p:grpSp>
      <p:grpSp>
        <p:nvGrpSpPr>
          <p:cNvPr id="55304" name="Group 28"/>
          <p:cNvGrpSpPr>
            <a:grpSpLocks/>
          </p:cNvGrpSpPr>
          <p:nvPr/>
        </p:nvGrpSpPr>
        <p:grpSpPr bwMode="auto">
          <a:xfrm>
            <a:off x="1042988" y="4076700"/>
            <a:ext cx="5545137" cy="720725"/>
            <a:chOff x="1152" y="2815"/>
            <a:chExt cx="3408" cy="449"/>
          </a:xfrm>
        </p:grpSpPr>
        <p:grpSp>
          <p:nvGrpSpPr>
            <p:cNvPr id="55314" name="Group 29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55318" name="AutoShape 30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19" name="AutoShape 31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112" name="AutoShape 32"/>
              <p:cNvSpPr>
                <a:spLocks noChangeArrowheads="1"/>
              </p:cNvSpPr>
              <p:nvPr/>
            </p:nvSpPr>
            <p:spPr bwMode="gray">
              <a:xfrm>
                <a:off x="3265" y="2735"/>
                <a:ext cx="1348" cy="1170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5315" name="Line 33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6" name="Text Box 34"/>
            <p:cNvSpPr txBox="1">
              <a:spLocks noChangeArrowheads="1"/>
            </p:cNvSpPr>
            <p:nvPr/>
          </p:nvSpPr>
          <p:spPr bwMode="auto">
            <a:xfrm>
              <a:off x="2112" y="2815"/>
              <a:ext cx="1140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反对称性</a:t>
              </a:r>
            </a:p>
          </p:txBody>
        </p:sp>
        <p:sp>
          <p:nvSpPr>
            <p:cNvPr id="55317" name="Text Box 35"/>
            <p:cNvSpPr txBox="1">
              <a:spLocks noChangeArrowheads="1"/>
            </p:cNvSpPr>
            <p:nvPr/>
          </p:nvSpPr>
          <p:spPr bwMode="gray">
            <a:xfrm>
              <a:off x="1284" y="2908"/>
              <a:ext cx="20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</a:p>
          </p:txBody>
        </p:sp>
      </p:grpSp>
      <p:grpSp>
        <p:nvGrpSpPr>
          <p:cNvPr id="55305" name="Group 36"/>
          <p:cNvGrpSpPr>
            <a:grpSpLocks/>
          </p:cNvGrpSpPr>
          <p:nvPr/>
        </p:nvGrpSpPr>
        <p:grpSpPr bwMode="auto">
          <a:xfrm>
            <a:off x="1116013" y="5013325"/>
            <a:ext cx="5543550" cy="712788"/>
            <a:chOff x="1152" y="2239"/>
            <a:chExt cx="3408" cy="449"/>
          </a:xfrm>
        </p:grpSpPr>
        <p:grpSp>
          <p:nvGrpSpPr>
            <p:cNvPr id="55307" name="Group 37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55311" name="AutoShape 3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12" name="AutoShape 3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120" name="AutoShape 40"/>
              <p:cNvSpPr>
                <a:spLocks noChangeArrowheads="1"/>
              </p:cNvSpPr>
              <p:nvPr/>
            </p:nvSpPr>
            <p:spPr bwMode="gray">
              <a:xfrm>
                <a:off x="1201" y="2737"/>
                <a:ext cx="1348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5308" name="Line 41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09" name="Text Box 42"/>
            <p:cNvSpPr txBox="1">
              <a:spLocks noChangeArrowheads="1"/>
            </p:cNvSpPr>
            <p:nvPr/>
          </p:nvSpPr>
          <p:spPr bwMode="auto">
            <a:xfrm>
              <a:off x="2112" y="2239"/>
              <a:ext cx="86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传递性</a:t>
              </a:r>
            </a:p>
          </p:txBody>
        </p:sp>
        <p:sp>
          <p:nvSpPr>
            <p:cNvPr id="55310" name="Text Box 43"/>
            <p:cNvSpPr txBox="1">
              <a:spLocks noChangeArrowheads="1"/>
            </p:cNvSpPr>
            <p:nvPr/>
          </p:nvSpPr>
          <p:spPr bwMode="gray">
            <a:xfrm>
              <a:off x="1284" y="2332"/>
              <a:ext cx="2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</a:t>
              </a:r>
            </a:p>
          </p:txBody>
        </p:sp>
      </p:grpSp>
      <p:sp>
        <p:nvSpPr>
          <p:cNvPr id="55306" name="圆角矩形 1"/>
          <p:cNvSpPr>
            <a:spLocks noChangeArrowheads="1"/>
          </p:cNvSpPr>
          <p:nvPr/>
        </p:nvSpPr>
        <p:spPr bwMode="auto">
          <a:xfrm>
            <a:off x="900113" y="981075"/>
            <a:ext cx="5400675" cy="2002488"/>
          </a:xfrm>
          <a:prstGeom prst="roundRect">
            <a:avLst>
              <a:gd name="adj" fmla="val 16667"/>
            </a:avLst>
          </a:prstGeom>
          <a:noFill/>
          <a:ln w="57150" cmpd="thinThick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9B56A029-C40D-46ED-BD0F-7DA10658E795}" type="slidenum">
              <a:rPr lang="zh-CN" altLang="en-US"/>
              <a:pPr>
                <a:defRPr/>
              </a:pPr>
              <a:t>3</a:t>
            </a:fld>
            <a:r>
              <a:rPr lang="zh-CN" altLang="en-US"/>
              <a:t>页</a:t>
            </a:r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0">
                <a:latin typeface="Times New Roman" pitchFamily="18" charset="0"/>
              </a:rPr>
              <a:t>2.3 </a:t>
            </a:r>
            <a:r>
              <a:rPr lang="zh-CN" altLang="en-US" b="0">
                <a:latin typeface="Times New Roman" pitchFamily="18" charset="0"/>
              </a:rPr>
              <a:t>关系的性质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假定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是集合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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常见的关系的性质有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2.3.1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自反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(reflexive)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性</a:t>
            </a:r>
          </a:p>
          <a:p>
            <a:pPr eaLnBrk="1" hangingPunct="1">
              <a:buFontTx/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2-9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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若对于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任意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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均有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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上的自反关系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或称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是自反的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或称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具有自反性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786717DC-5A89-4A56-8164-A840F706BD02}" type="slidenum">
              <a:rPr lang="zh-CN" altLang="en-US"/>
              <a:pPr>
                <a:defRPr/>
              </a:pPr>
              <a:t>4</a:t>
            </a:fld>
            <a:r>
              <a:rPr lang="zh-CN" altLang="en-US"/>
              <a:t>页</a:t>
            </a:r>
          </a:p>
        </p:txBody>
      </p:sp>
      <p:sp>
        <p:nvSpPr>
          <p:cNvPr id="57347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itchFamily="18" charset="0"/>
                <a:ea typeface="华文新魏" pitchFamily="2" charset="-122"/>
              </a:rPr>
              <a:t>例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2-23 </a:t>
            </a: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 = {</a:t>
            </a: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, </a:t>
            </a: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, </a:t>
            </a: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c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, </a:t>
            </a: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d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},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sz="3200" i="1" dirty="0">
                <a:latin typeface="Times New Roman" pitchFamily="18" charset="0"/>
              </a:rPr>
              <a:t>R</a:t>
            </a:r>
            <a:r>
              <a:rPr lang="en-US" altLang="zh-CN" sz="3200" dirty="0">
                <a:latin typeface="Times New Roman" pitchFamily="18" charset="0"/>
              </a:rPr>
              <a:t> = {(</a:t>
            </a:r>
            <a:r>
              <a:rPr lang="en-US" altLang="zh-CN" sz="3200" i="1" dirty="0">
                <a:latin typeface="Times New Roman" pitchFamily="18" charset="0"/>
              </a:rPr>
              <a:t>a</a:t>
            </a:r>
            <a:r>
              <a:rPr lang="en-US" altLang="zh-CN" sz="3200" dirty="0">
                <a:latin typeface="Times New Roman" pitchFamily="18" charset="0"/>
              </a:rPr>
              <a:t>, </a:t>
            </a:r>
            <a:r>
              <a:rPr lang="en-US" altLang="zh-CN" sz="3200" i="1" dirty="0">
                <a:latin typeface="Times New Roman" pitchFamily="18" charset="0"/>
              </a:rPr>
              <a:t>a</a:t>
            </a:r>
            <a:r>
              <a:rPr lang="en-US" altLang="zh-CN" sz="3200" dirty="0">
                <a:latin typeface="Times New Roman" pitchFamily="18" charset="0"/>
              </a:rPr>
              <a:t>), (</a:t>
            </a:r>
            <a:r>
              <a:rPr lang="en-US" altLang="zh-CN" sz="3200" i="1" dirty="0">
                <a:latin typeface="Times New Roman" pitchFamily="18" charset="0"/>
              </a:rPr>
              <a:t>a</a:t>
            </a:r>
            <a:r>
              <a:rPr lang="en-US" altLang="zh-CN" sz="3200" dirty="0">
                <a:latin typeface="Times New Roman" pitchFamily="18" charset="0"/>
              </a:rPr>
              <a:t>, </a:t>
            </a:r>
            <a:r>
              <a:rPr lang="en-US" altLang="zh-CN" sz="3200" i="1" dirty="0">
                <a:latin typeface="Times New Roman" pitchFamily="18" charset="0"/>
              </a:rPr>
              <a:t>b</a:t>
            </a:r>
            <a:r>
              <a:rPr lang="en-US" altLang="zh-CN" sz="3200" dirty="0">
                <a:latin typeface="Times New Roman" pitchFamily="18" charset="0"/>
              </a:rPr>
              <a:t>), (</a:t>
            </a:r>
            <a:r>
              <a:rPr lang="en-US" altLang="zh-CN" sz="3200" i="1" dirty="0">
                <a:latin typeface="Times New Roman" pitchFamily="18" charset="0"/>
              </a:rPr>
              <a:t>b</a:t>
            </a:r>
            <a:r>
              <a:rPr lang="en-US" altLang="zh-CN" sz="3200" dirty="0">
                <a:latin typeface="Times New Roman" pitchFamily="18" charset="0"/>
              </a:rPr>
              <a:t>, </a:t>
            </a:r>
            <a:r>
              <a:rPr lang="en-US" altLang="zh-CN" sz="3200" i="1" dirty="0">
                <a:latin typeface="Times New Roman" pitchFamily="18" charset="0"/>
              </a:rPr>
              <a:t>b</a:t>
            </a:r>
            <a:r>
              <a:rPr lang="en-US" altLang="zh-CN" sz="3200" dirty="0">
                <a:latin typeface="Times New Roman" pitchFamily="18" charset="0"/>
              </a:rPr>
              <a:t>), (</a:t>
            </a:r>
            <a:r>
              <a:rPr lang="en-US" altLang="zh-CN" sz="3200" i="1" dirty="0">
                <a:latin typeface="Times New Roman" pitchFamily="18" charset="0"/>
              </a:rPr>
              <a:t>c</a:t>
            </a:r>
            <a:r>
              <a:rPr lang="en-US" altLang="zh-CN" sz="3200" dirty="0">
                <a:latin typeface="Times New Roman" pitchFamily="18" charset="0"/>
              </a:rPr>
              <a:t>, </a:t>
            </a:r>
            <a:r>
              <a:rPr lang="en-US" altLang="zh-CN" sz="3200" i="1" dirty="0">
                <a:latin typeface="Times New Roman" pitchFamily="18" charset="0"/>
              </a:rPr>
              <a:t>c</a:t>
            </a:r>
            <a:r>
              <a:rPr lang="en-US" altLang="zh-CN" sz="3200" dirty="0">
                <a:latin typeface="Times New Roman" pitchFamily="18" charset="0"/>
              </a:rPr>
              <a:t>), (</a:t>
            </a:r>
            <a:r>
              <a:rPr lang="en-US" altLang="zh-CN" sz="3200" i="1" dirty="0">
                <a:latin typeface="Times New Roman" pitchFamily="18" charset="0"/>
              </a:rPr>
              <a:t>c</a:t>
            </a:r>
            <a:r>
              <a:rPr lang="en-US" altLang="zh-CN" sz="3200" dirty="0">
                <a:latin typeface="Times New Roman" pitchFamily="18" charset="0"/>
              </a:rPr>
              <a:t>, </a:t>
            </a:r>
            <a:r>
              <a:rPr lang="en-US" altLang="zh-CN" sz="3200" i="1" dirty="0">
                <a:latin typeface="Times New Roman" pitchFamily="18" charset="0"/>
              </a:rPr>
              <a:t>a</a:t>
            </a:r>
            <a:r>
              <a:rPr lang="en-US" altLang="zh-CN" sz="3200" dirty="0">
                <a:latin typeface="Times New Roman" pitchFamily="18" charset="0"/>
              </a:rPr>
              <a:t>), (</a:t>
            </a:r>
            <a:r>
              <a:rPr lang="en-US" altLang="zh-CN" sz="3200" i="1" dirty="0">
                <a:latin typeface="Times New Roman" pitchFamily="18" charset="0"/>
              </a:rPr>
              <a:t>d</a:t>
            </a:r>
            <a:r>
              <a:rPr lang="en-US" altLang="zh-CN" sz="3200" dirty="0">
                <a:latin typeface="Times New Roman" pitchFamily="18" charset="0"/>
              </a:rPr>
              <a:t>, </a:t>
            </a:r>
            <a:r>
              <a:rPr lang="en-US" altLang="zh-CN" sz="3200" i="1" dirty="0">
                <a:latin typeface="Times New Roman" pitchFamily="18" charset="0"/>
              </a:rPr>
              <a:t>d</a:t>
            </a:r>
            <a:r>
              <a:rPr lang="en-US" altLang="zh-CN" sz="3200" dirty="0">
                <a:latin typeface="Times New Roman" pitchFamily="18" charset="0"/>
              </a:rPr>
              <a:t>)}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自反</a:t>
            </a:r>
            <a:r>
              <a:rPr lang="en-US" altLang="zh-CN" sz="3200" dirty="0">
                <a:latin typeface="Times New Roman" pitchFamily="18" charset="0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57348" name="Oval 3"/>
          <p:cNvSpPr>
            <a:spLocks noChangeArrowheads="1"/>
          </p:cNvSpPr>
          <p:nvPr/>
        </p:nvSpPr>
        <p:spPr bwMode="auto">
          <a:xfrm flipH="1">
            <a:off x="4572000" y="24209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49" name="Oval 4"/>
          <p:cNvSpPr>
            <a:spLocks noChangeArrowheads="1"/>
          </p:cNvSpPr>
          <p:nvPr/>
        </p:nvSpPr>
        <p:spPr bwMode="auto">
          <a:xfrm flipH="1">
            <a:off x="2843213" y="24209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0" name="Oval 5"/>
          <p:cNvSpPr>
            <a:spLocks noChangeArrowheads="1"/>
          </p:cNvSpPr>
          <p:nvPr/>
        </p:nvSpPr>
        <p:spPr bwMode="auto">
          <a:xfrm flipH="1">
            <a:off x="4572000" y="40052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1" name="Oval 6"/>
          <p:cNvSpPr>
            <a:spLocks noChangeArrowheads="1"/>
          </p:cNvSpPr>
          <p:nvPr/>
        </p:nvSpPr>
        <p:spPr bwMode="auto">
          <a:xfrm flipH="1">
            <a:off x="2843213" y="393382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7352" name="Object 7"/>
          <p:cNvGraphicFramePr>
            <a:graphicFrameLocks noChangeAspect="1"/>
          </p:cNvGraphicFramePr>
          <p:nvPr/>
        </p:nvGraphicFramePr>
        <p:xfrm>
          <a:off x="4932363" y="2205038"/>
          <a:ext cx="31432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9" imgH="57240" progId="Equation.3">
                  <p:embed/>
                </p:oleObj>
              </mc:Choice>
              <mc:Fallback>
                <p:oleObj name="Equation" r:id="rId2" imgW="38089" imgH="57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205038"/>
                        <a:ext cx="31432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3" name="Object 8"/>
          <p:cNvGraphicFramePr>
            <a:graphicFrameLocks noChangeAspect="1"/>
          </p:cNvGraphicFramePr>
          <p:nvPr/>
        </p:nvGraphicFramePr>
        <p:xfrm>
          <a:off x="2484438" y="2205038"/>
          <a:ext cx="3143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089" imgH="95310" progId="Equation.3">
                  <p:embed/>
                </p:oleObj>
              </mc:Choice>
              <mc:Fallback>
                <p:oleObj name="公式" r:id="rId4" imgW="38089" imgH="9531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205038"/>
                        <a:ext cx="3143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4" name="Object 9"/>
          <p:cNvGraphicFramePr>
            <a:graphicFrameLocks noChangeAspect="1"/>
          </p:cNvGraphicFramePr>
          <p:nvPr/>
        </p:nvGraphicFramePr>
        <p:xfrm>
          <a:off x="4716463" y="3860800"/>
          <a:ext cx="3460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7268" imgH="95310" progId="Equation.3">
                  <p:embed/>
                </p:oleObj>
              </mc:Choice>
              <mc:Fallback>
                <p:oleObj name="公式" r:id="rId6" imgW="57268" imgH="9531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860800"/>
                        <a:ext cx="34607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5" name="Object 10"/>
          <p:cNvGraphicFramePr>
            <a:graphicFrameLocks noChangeAspect="1"/>
          </p:cNvGraphicFramePr>
          <p:nvPr/>
        </p:nvGraphicFramePr>
        <p:xfrm>
          <a:off x="2339975" y="3933825"/>
          <a:ext cx="28257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8634" imgH="57240" progId="Equation.3">
                  <p:embed/>
                </p:oleObj>
              </mc:Choice>
              <mc:Fallback>
                <p:oleObj name="公式" r:id="rId8" imgW="28634" imgH="572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933825"/>
                        <a:ext cx="28257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6" name="Line 11"/>
          <p:cNvSpPr>
            <a:spLocks noChangeShapeType="1"/>
          </p:cNvSpPr>
          <p:nvPr/>
        </p:nvSpPr>
        <p:spPr bwMode="auto">
          <a:xfrm flipH="1">
            <a:off x="3059113" y="2492375"/>
            <a:ext cx="1511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57" name="Line 12"/>
          <p:cNvSpPr>
            <a:spLocks noChangeShapeType="1"/>
          </p:cNvSpPr>
          <p:nvPr/>
        </p:nvSpPr>
        <p:spPr bwMode="auto">
          <a:xfrm flipV="1">
            <a:off x="2987675" y="2565400"/>
            <a:ext cx="1584325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58" name="Freeform 13"/>
          <p:cNvSpPr>
            <a:spLocks/>
          </p:cNvSpPr>
          <p:nvPr/>
        </p:nvSpPr>
        <p:spPr bwMode="auto">
          <a:xfrm>
            <a:off x="4643438" y="1844675"/>
            <a:ext cx="815975" cy="1103313"/>
          </a:xfrm>
          <a:custGeom>
            <a:avLst/>
            <a:gdLst>
              <a:gd name="T0" fmla="*/ 0 w 514"/>
              <a:gd name="T1" fmla="*/ 2147483647 h 695"/>
              <a:gd name="T2" fmla="*/ 2147483647 w 514"/>
              <a:gd name="T3" fmla="*/ 0 h 695"/>
              <a:gd name="T4" fmla="*/ 2147483647 w 514"/>
              <a:gd name="T5" fmla="*/ 2147483647 h 695"/>
              <a:gd name="T6" fmla="*/ 2147483647 w 514"/>
              <a:gd name="T7" fmla="*/ 2147483647 h 695"/>
              <a:gd name="T8" fmla="*/ 2147483647 w 514"/>
              <a:gd name="T9" fmla="*/ 2147483647 h 6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4"/>
              <a:gd name="T16" fmla="*/ 0 h 695"/>
              <a:gd name="T17" fmla="*/ 514 w 514"/>
              <a:gd name="T18" fmla="*/ 695 h 69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4" h="695">
                <a:moveTo>
                  <a:pt x="0" y="363"/>
                </a:moveTo>
                <a:cubicBezTo>
                  <a:pt x="72" y="181"/>
                  <a:pt x="144" y="0"/>
                  <a:pt x="227" y="0"/>
                </a:cubicBezTo>
                <a:cubicBezTo>
                  <a:pt x="310" y="0"/>
                  <a:pt x="484" y="250"/>
                  <a:pt x="499" y="363"/>
                </a:cubicBezTo>
                <a:cubicBezTo>
                  <a:pt x="514" y="476"/>
                  <a:pt x="393" y="665"/>
                  <a:pt x="318" y="680"/>
                </a:cubicBezTo>
                <a:cubicBezTo>
                  <a:pt x="243" y="695"/>
                  <a:pt x="144" y="574"/>
                  <a:pt x="46" y="45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59" name="Freeform 14"/>
          <p:cNvSpPr>
            <a:spLocks/>
          </p:cNvSpPr>
          <p:nvPr/>
        </p:nvSpPr>
        <p:spPr bwMode="auto">
          <a:xfrm>
            <a:off x="2124075" y="1844675"/>
            <a:ext cx="790575" cy="995363"/>
          </a:xfrm>
          <a:custGeom>
            <a:avLst/>
            <a:gdLst>
              <a:gd name="T0" fmla="*/ 2147483647 w 498"/>
              <a:gd name="T1" fmla="*/ 2147483647 h 627"/>
              <a:gd name="T2" fmla="*/ 2147483647 w 498"/>
              <a:gd name="T3" fmla="*/ 2147483647 h 627"/>
              <a:gd name="T4" fmla="*/ 2147483647 w 498"/>
              <a:gd name="T5" fmla="*/ 2147483647 h 627"/>
              <a:gd name="T6" fmla="*/ 2147483647 w 498"/>
              <a:gd name="T7" fmla="*/ 2147483647 h 627"/>
              <a:gd name="T8" fmla="*/ 2147483647 w 498"/>
              <a:gd name="T9" fmla="*/ 2147483647 h 627"/>
              <a:gd name="T10" fmla="*/ 2147483647 w 498"/>
              <a:gd name="T11" fmla="*/ 2147483647 h 6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8"/>
              <a:gd name="T19" fmla="*/ 0 h 627"/>
              <a:gd name="T20" fmla="*/ 498 w 498"/>
              <a:gd name="T21" fmla="*/ 627 h 6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8" h="627">
                <a:moveTo>
                  <a:pt x="498" y="348"/>
                </a:moveTo>
                <a:cubicBezTo>
                  <a:pt x="445" y="204"/>
                  <a:pt x="392" y="60"/>
                  <a:pt x="317" y="30"/>
                </a:cubicBezTo>
                <a:cubicBezTo>
                  <a:pt x="242" y="0"/>
                  <a:pt x="90" y="91"/>
                  <a:pt x="45" y="167"/>
                </a:cubicBezTo>
                <a:cubicBezTo>
                  <a:pt x="0" y="243"/>
                  <a:pt x="0" y="409"/>
                  <a:pt x="45" y="484"/>
                </a:cubicBezTo>
                <a:cubicBezTo>
                  <a:pt x="90" y="559"/>
                  <a:pt x="249" y="627"/>
                  <a:pt x="317" y="620"/>
                </a:cubicBezTo>
                <a:cubicBezTo>
                  <a:pt x="385" y="613"/>
                  <a:pt x="419" y="526"/>
                  <a:pt x="453" y="43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60" name="Freeform 15"/>
          <p:cNvSpPr>
            <a:spLocks/>
          </p:cNvSpPr>
          <p:nvPr/>
        </p:nvSpPr>
        <p:spPr bwMode="auto">
          <a:xfrm>
            <a:off x="4643438" y="3357563"/>
            <a:ext cx="946150" cy="1271587"/>
          </a:xfrm>
          <a:custGeom>
            <a:avLst/>
            <a:gdLst>
              <a:gd name="T0" fmla="*/ 0 w 596"/>
              <a:gd name="T1" fmla="*/ 2147483647 h 801"/>
              <a:gd name="T2" fmla="*/ 2147483647 w 596"/>
              <a:gd name="T3" fmla="*/ 2147483647 h 801"/>
              <a:gd name="T4" fmla="*/ 2147483647 w 596"/>
              <a:gd name="T5" fmla="*/ 2147483647 h 801"/>
              <a:gd name="T6" fmla="*/ 2147483647 w 596"/>
              <a:gd name="T7" fmla="*/ 2147483647 h 801"/>
              <a:gd name="T8" fmla="*/ 2147483647 w 596"/>
              <a:gd name="T9" fmla="*/ 2147483647 h 801"/>
              <a:gd name="T10" fmla="*/ 0 w 596"/>
              <a:gd name="T11" fmla="*/ 2147483647 h 80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96"/>
              <a:gd name="T19" fmla="*/ 0 h 801"/>
              <a:gd name="T20" fmla="*/ 596 w 596"/>
              <a:gd name="T21" fmla="*/ 801 h 80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96" h="801">
                <a:moveTo>
                  <a:pt x="0" y="393"/>
                </a:moveTo>
                <a:cubicBezTo>
                  <a:pt x="109" y="196"/>
                  <a:pt x="219" y="0"/>
                  <a:pt x="317" y="30"/>
                </a:cubicBezTo>
                <a:cubicBezTo>
                  <a:pt x="415" y="60"/>
                  <a:pt x="596" y="453"/>
                  <a:pt x="589" y="574"/>
                </a:cubicBezTo>
                <a:cubicBezTo>
                  <a:pt x="582" y="695"/>
                  <a:pt x="363" y="726"/>
                  <a:pt x="272" y="756"/>
                </a:cubicBezTo>
                <a:cubicBezTo>
                  <a:pt x="181" y="786"/>
                  <a:pt x="90" y="801"/>
                  <a:pt x="45" y="756"/>
                </a:cubicBezTo>
                <a:cubicBezTo>
                  <a:pt x="0" y="711"/>
                  <a:pt x="0" y="597"/>
                  <a:pt x="0" y="4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61" name="Freeform 16"/>
          <p:cNvSpPr>
            <a:spLocks/>
          </p:cNvSpPr>
          <p:nvPr/>
        </p:nvSpPr>
        <p:spPr bwMode="auto">
          <a:xfrm>
            <a:off x="2051050" y="3140968"/>
            <a:ext cx="911225" cy="1403350"/>
          </a:xfrm>
          <a:custGeom>
            <a:avLst/>
            <a:gdLst>
              <a:gd name="T0" fmla="*/ 2147483647 w 574"/>
              <a:gd name="T1" fmla="*/ 2147483647 h 884"/>
              <a:gd name="T2" fmla="*/ 2147483647 w 574"/>
              <a:gd name="T3" fmla="*/ 2147483647 h 884"/>
              <a:gd name="T4" fmla="*/ 2147483647 w 574"/>
              <a:gd name="T5" fmla="*/ 2147483647 h 884"/>
              <a:gd name="T6" fmla="*/ 2147483647 w 574"/>
              <a:gd name="T7" fmla="*/ 2147483647 h 884"/>
              <a:gd name="T8" fmla="*/ 2147483647 w 574"/>
              <a:gd name="T9" fmla="*/ 2147483647 h 884"/>
              <a:gd name="T10" fmla="*/ 2147483647 w 574"/>
              <a:gd name="T11" fmla="*/ 2147483647 h 884"/>
              <a:gd name="T12" fmla="*/ 2147483647 w 574"/>
              <a:gd name="T13" fmla="*/ 2147483647 h 8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74"/>
              <a:gd name="T22" fmla="*/ 0 h 884"/>
              <a:gd name="T23" fmla="*/ 574 w 574"/>
              <a:gd name="T24" fmla="*/ 884 h 8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74" h="884">
                <a:moveTo>
                  <a:pt x="574" y="491"/>
                </a:moveTo>
                <a:cubicBezTo>
                  <a:pt x="566" y="347"/>
                  <a:pt x="558" y="203"/>
                  <a:pt x="483" y="128"/>
                </a:cubicBezTo>
                <a:cubicBezTo>
                  <a:pt x="408" y="53"/>
                  <a:pt x="196" y="0"/>
                  <a:pt x="121" y="38"/>
                </a:cubicBezTo>
                <a:cubicBezTo>
                  <a:pt x="46" y="76"/>
                  <a:pt x="38" y="234"/>
                  <a:pt x="30" y="355"/>
                </a:cubicBezTo>
                <a:cubicBezTo>
                  <a:pt x="22" y="476"/>
                  <a:pt x="0" y="680"/>
                  <a:pt x="75" y="763"/>
                </a:cubicBezTo>
                <a:cubicBezTo>
                  <a:pt x="150" y="846"/>
                  <a:pt x="400" y="884"/>
                  <a:pt x="483" y="854"/>
                </a:cubicBezTo>
                <a:cubicBezTo>
                  <a:pt x="566" y="824"/>
                  <a:pt x="570" y="703"/>
                  <a:pt x="574" y="5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65F84A92-FE1C-4A36-81AF-ECE1984E8B3F}" type="slidenum">
              <a:rPr lang="zh-CN" altLang="en-US"/>
              <a:pPr>
                <a:defRPr/>
              </a:pPr>
              <a:t>5</a:t>
            </a:fld>
            <a:r>
              <a:rPr lang="zh-CN" altLang="en-US"/>
              <a:t>页</a:t>
            </a:r>
          </a:p>
        </p:txBody>
      </p:sp>
      <p:sp>
        <p:nvSpPr>
          <p:cNvPr id="58371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上的整除关系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是自反的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上的包含关系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是自反的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上的小于等于关系是自反的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上的小于关系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&lt;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不是自反的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1222CEAD-2072-4FE5-81D6-21EB2C1413AF}" type="slidenum">
              <a:rPr lang="zh-CN" altLang="en-US"/>
              <a:pPr>
                <a:defRPr/>
              </a:pPr>
              <a:t>6</a:t>
            </a:fld>
            <a:r>
              <a:rPr lang="zh-CN" altLang="en-US"/>
              <a:t>页</a:t>
            </a:r>
          </a:p>
        </p:txBody>
      </p:sp>
      <p:sp>
        <p:nvSpPr>
          <p:cNvPr id="59395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  <a:sym typeface="Symbol" pitchFamily="18" charset="2"/>
              </a:rPr>
              <a:t>Theorem  </a:t>
            </a:r>
            <a:r>
              <a:rPr lang="en-US" altLang="zh-CN" i="1" dirty="0">
                <a:latin typeface="Times New Roman" pitchFamily="18" charset="0"/>
              </a:rPr>
              <a:t>R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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 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: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itchFamily="18" charset="0"/>
                <a:sym typeface="Symbol" pitchFamily="18" charset="2"/>
              </a:rPr>
              <a:t>自反 </a:t>
            </a:r>
            <a:r>
              <a:rPr lang="en-US" altLang="zh-CN" i="1" dirty="0">
                <a:solidFill>
                  <a:srgbClr val="C00000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CN" i="1" baseline="-25000" dirty="0">
                <a:solidFill>
                  <a:srgbClr val="C00000"/>
                </a:solidFill>
                <a:latin typeface="Times New Roman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 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R</a:t>
            </a:r>
            <a:r>
              <a:rPr lang="en-US" altLang="zh-CN" dirty="0">
                <a:latin typeface="Times New Roman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显然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空集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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上的关系只有空关系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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</a:t>
            </a:r>
            <a:r>
              <a:rPr lang="zh-CN" altLang="en-US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空关系</a:t>
            </a:r>
            <a:r>
              <a:rPr lang="zh-CN" altLang="en-US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</a:t>
            </a:r>
            <a:r>
              <a:rPr lang="zh-CN" altLang="en-US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是空集</a:t>
            </a:r>
            <a:r>
              <a:rPr lang="zh-CN" altLang="en-US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</a:t>
            </a:r>
            <a:r>
              <a:rPr lang="zh-CN" altLang="en-US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上的自反关系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如何根据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关系图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及关系矩阵去判断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是否自反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190C4E77-B10A-4192-8E07-1D494B4C3734}" type="slidenum">
              <a:rPr lang="zh-CN" altLang="en-US"/>
              <a:pPr>
                <a:defRPr/>
              </a:pPr>
              <a:t>7</a:t>
            </a:fld>
            <a:r>
              <a:rPr lang="zh-CN" altLang="en-US"/>
              <a:t>页</a:t>
            </a:r>
          </a:p>
        </p:txBody>
      </p:sp>
      <p:sp>
        <p:nvSpPr>
          <p:cNvPr id="60419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2.3.2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反自反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irreflexive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性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2-10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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若对于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任意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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均有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x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 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上的反自反关系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或称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是反自反的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或称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具有反自反性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AE9F186D-0215-4322-8D30-10161BFF4375}" type="slidenum">
              <a:rPr lang="zh-CN" altLang="en-US"/>
              <a:pPr>
                <a:defRPr/>
              </a:pPr>
              <a:t>8</a:t>
            </a:fld>
            <a:r>
              <a:rPr lang="zh-CN" altLang="en-US"/>
              <a:t>页</a:t>
            </a:r>
          </a:p>
        </p:txBody>
      </p:sp>
      <p:sp>
        <p:nvSpPr>
          <p:cNvPr id="61443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latin typeface="Times New Roman" pitchFamily="18" charset="0"/>
                <a:ea typeface="华文新魏" pitchFamily="2" charset="-122"/>
              </a:rPr>
              <a:t>例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2-24 </a:t>
            </a: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 = {</a:t>
            </a: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, </a:t>
            </a: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, </a:t>
            </a: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c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, </a:t>
            </a: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d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}, </a:t>
            </a:r>
          </a:p>
          <a:p>
            <a:pPr eaLnBrk="1" hangingPunct="1">
              <a:buFontTx/>
              <a:buNone/>
            </a:pPr>
            <a:r>
              <a:rPr lang="en-US" altLang="zh-CN" i="1" dirty="0">
                <a:latin typeface="Times New Roman" pitchFamily="18" charset="0"/>
              </a:rPr>
              <a:t>R</a:t>
            </a:r>
            <a:r>
              <a:rPr lang="en-US" altLang="zh-CN" dirty="0">
                <a:latin typeface="Times New Roman" pitchFamily="18" charset="0"/>
              </a:rPr>
              <a:t> = {(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), (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), (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), (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d</a:t>
            </a:r>
            <a:r>
              <a:rPr lang="en-US" altLang="zh-CN" dirty="0">
                <a:latin typeface="Times New Roman" pitchFamily="18" charset="0"/>
              </a:rPr>
              <a:t>), (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)}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反自反</a:t>
            </a:r>
            <a:r>
              <a:rPr lang="en-US" altLang="zh-CN" dirty="0">
                <a:latin typeface="Times New Roman" pitchFamily="18" charset="0"/>
              </a:rPr>
              <a:t>?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p:sp>
        <p:nvSpPr>
          <p:cNvPr id="61444" name="Oval 3"/>
          <p:cNvSpPr>
            <a:spLocks noChangeArrowheads="1"/>
          </p:cNvSpPr>
          <p:nvPr/>
        </p:nvSpPr>
        <p:spPr bwMode="auto">
          <a:xfrm flipH="1">
            <a:off x="5148263" y="27082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5" name="Oval 4"/>
          <p:cNvSpPr>
            <a:spLocks noChangeArrowheads="1"/>
          </p:cNvSpPr>
          <p:nvPr/>
        </p:nvSpPr>
        <p:spPr bwMode="auto">
          <a:xfrm flipH="1">
            <a:off x="3348038" y="27082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6" name="Oval 5"/>
          <p:cNvSpPr>
            <a:spLocks noChangeArrowheads="1"/>
          </p:cNvSpPr>
          <p:nvPr/>
        </p:nvSpPr>
        <p:spPr bwMode="auto">
          <a:xfrm flipH="1">
            <a:off x="3419475" y="40767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7" name="Oval 6"/>
          <p:cNvSpPr>
            <a:spLocks noChangeArrowheads="1"/>
          </p:cNvSpPr>
          <p:nvPr/>
        </p:nvSpPr>
        <p:spPr bwMode="auto">
          <a:xfrm flipH="1">
            <a:off x="5148263" y="40767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1448" name="Object 7"/>
          <p:cNvGraphicFramePr>
            <a:graphicFrameLocks noChangeAspect="1"/>
          </p:cNvGraphicFramePr>
          <p:nvPr/>
        </p:nvGraphicFramePr>
        <p:xfrm>
          <a:off x="5364163" y="2565400"/>
          <a:ext cx="31432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9" imgH="57240" progId="Equation.3">
                  <p:embed/>
                </p:oleObj>
              </mc:Choice>
              <mc:Fallback>
                <p:oleObj name="Equation" r:id="rId2" imgW="38089" imgH="57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2565400"/>
                        <a:ext cx="31432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9" name="Object 8"/>
          <p:cNvGraphicFramePr>
            <a:graphicFrameLocks noChangeAspect="1"/>
          </p:cNvGraphicFramePr>
          <p:nvPr/>
        </p:nvGraphicFramePr>
        <p:xfrm>
          <a:off x="2916238" y="2565400"/>
          <a:ext cx="31432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089" imgH="95310" progId="Equation.3">
                  <p:embed/>
                </p:oleObj>
              </mc:Choice>
              <mc:Fallback>
                <p:oleObj name="公式" r:id="rId4" imgW="38089" imgH="9531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565400"/>
                        <a:ext cx="31432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0" name="Object 9"/>
          <p:cNvGraphicFramePr>
            <a:graphicFrameLocks noChangeAspect="1"/>
          </p:cNvGraphicFramePr>
          <p:nvPr/>
        </p:nvGraphicFramePr>
        <p:xfrm>
          <a:off x="3059113" y="4005263"/>
          <a:ext cx="284162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8634" imgH="57240" progId="Equation.3">
                  <p:embed/>
                </p:oleObj>
              </mc:Choice>
              <mc:Fallback>
                <p:oleObj name="公式" r:id="rId6" imgW="28634" imgH="572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4005263"/>
                        <a:ext cx="284162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1" name="Object 10"/>
          <p:cNvGraphicFramePr>
            <a:graphicFrameLocks noChangeAspect="1"/>
          </p:cNvGraphicFramePr>
          <p:nvPr/>
        </p:nvGraphicFramePr>
        <p:xfrm>
          <a:off x="5364163" y="4005263"/>
          <a:ext cx="3460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7268" imgH="95310" progId="Equation.3">
                  <p:embed/>
                </p:oleObj>
              </mc:Choice>
              <mc:Fallback>
                <p:oleObj name="公式" r:id="rId8" imgW="57268" imgH="9531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4005263"/>
                        <a:ext cx="3460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2" name="Line 11"/>
          <p:cNvSpPr>
            <a:spLocks noChangeShapeType="1"/>
          </p:cNvSpPr>
          <p:nvPr/>
        </p:nvSpPr>
        <p:spPr bwMode="auto">
          <a:xfrm flipV="1">
            <a:off x="3635375" y="2924175"/>
            <a:ext cx="144145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3" name="Line 12"/>
          <p:cNvSpPr>
            <a:spLocks noChangeShapeType="1"/>
          </p:cNvSpPr>
          <p:nvPr/>
        </p:nvSpPr>
        <p:spPr bwMode="auto">
          <a:xfrm>
            <a:off x="3635375" y="4221163"/>
            <a:ext cx="1441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4" name="Line 13"/>
          <p:cNvSpPr>
            <a:spLocks noChangeShapeType="1"/>
          </p:cNvSpPr>
          <p:nvPr/>
        </p:nvSpPr>
        <p:spPr bwMode="auto">
          <a:xfrm>
            <a:off x="3419475" y="2924175"/>
            <a:ext cx="0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5" name="Freeform 14"/>
          <p:cNvSpPr>
            <a:spLocks/>
          </p:cNvSpPr>
          <p:nvPr/>
        </p:nvSpPr>
        <p:spPr bwMode="auto">
          <a:xfrm>
            <a:off x="3419475" y="2349500"/>
            <a:ext cx="1728788" cy="358775"/>
          </a:xfrm>
          <a:custGeom>
            <a:avLst/>
            <a:gdLst>
              <a:gd name="T0" fmla="*/ 0 w 771"/>
              <a:gd name="T1" fmla="*/ 2147483647 h 233"/>
              <a:gd name="T2" fmla="*/ 2147483647 w 771"/>
              <a:gd name="T3" fmla="*/ 2147483647 h 233"/>
              <a:gd name="T4" fmla="*/ 2147483647 w 771"/>
              <a:gd name="T5" fmla="*/ 2147483647 h 233"/>
              <a:gd name="T6" fmla="*/ 0 60000 65536"/>
              <a:gd name="T7" fmla="*/ 0 60000 65536"/>
              <a:gd name="T8" fmla="*/ 0 60000 65536"/>
              <a:gd name="T9" fmla="*/ 0 w 771"/>
              <a:gd name="T10" fmla="*/ 0 h 233"/>
              <a:gd name="T11" fmla="*/ 771 w 771"/>
              <a:gd name="T12" fmla="*/ 233 h 2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71" h="233">
                <a:moveTo>
                  <a:pt x="0" y="233"/>
                </a:moveTo>
                <a:cubicBezTo>
                  <a:pt x="117" y="123"/>
                  <a:pt x="235" y="14"/>
                  <a:pt x="363" y="7"/>
                </a:cubicBezTo>
                <a:cubicBezTo>
                  <a:pt x="491" y="0"/>
                  <a:pt x="631" y="94"/>
                  <a:pt x="771" y="1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6" name="Freeform 15"/>
          <p:cNvSpPr>
            <a:spLocks/>
          </p:cNvSpPr>
          <p:nvPr/>
        </p:nvSpPr>
        <p:spPr bwMode="auto">
          <a:xfrm>
            <a:off x="3563938" y="2781300"/>
            <a:ext cx="1439862" cy="74613"/>
          </a:xfrm>
          <a:custGeom>
            <a:avLst/>
            <a:gdLst>
              <a:gd name="T0" fmla="*/ 2147483647 w 680"/>
              <a:gd name="T1" fmla="*/ 0 h 1"/>
              <a:gd name="T2" fmla="*/ 0 w 680"/>
              <a:gd name="T3" fmla="*/ 0 h 1"/>
              <a:gd name="T4" fmla="*/ 0 60000 65536"/>
              <a:gd name="T5" fmla="*/ 0 60000 65536"/>
              <a:gd name="T6" fmla="*/ 0 w 680"/>
              <a:gd name="T7" fmla="*/ 0 h 1"/>
              <a:gd name="T8" fmla="*/ 680 w 680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80" h="1">
                <a:moveTo>
                  <a:pt x="680" y="0"/>
                </a:moveTo>
                <a:cubicBezTo>
                  <a:pt x="680" y="0"/>
                  <a:pt x="340" y="0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5FB8EBC3-F1C7-4BF6-8723-ED2966155FB6}" type="slidenum">
              <a:rPr lang="zh-CN" altLang="en-US"/>
              <a:pPr>
                <a:defRPr/>
              </a:pPr>
              <a:t>9</a:t>
            </a:fld>
            <a:r>
              <a:rPr lang="zh-CN" altLang="en-US"/>
              <a:t>页</a:t>
            </a:r>
          </a:p>
        </p:txBody>
      </p:sp>
      <p:sp>
        <p:nvSpPr>
          <p:cNvPr id="62467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上的整除关系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不是反自反的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上的包含关系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不是反自反的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上的小于等于关系不是反自反的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上的小于关系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&lt;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是反自反的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49911997-4203-4ACC-BEB5-82FA64D144C3}" type="slidenum">
              <a:rPr lang="zh-CN" altLang="en-US"/>
              <a:pPr>
                <a:defRPr/>
              </a:pPr>
              <a:t>10</a:t>
            </a:fld>
            <a:r>
              <a:rPr lang="zh-CN" altLang="en-US"/>
              <a:t>页</a:t>
            </a:r>
          </a:p>
        </p:txBody>
      </p:sp>
      <p:sp>
        <p:nvSpPr>
          <p:cNvPr id="63491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Theorem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反自反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i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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= 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显然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空关系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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是空集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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上的反自反关系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如何根据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关系图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及关系矩阵去判断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是否反自反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C9E1870D-90FB-40E4-999A-7B74827B8BD4}" type="slidenum">
              <a:rPr lang="zh-CN" altLang="en-US"/>
              <a:pPr>
                <a:defRPr/>
              </a:pPr>
              <a:t>11</a:t>
            </a:fld>
            <a:r>
              <a:rPr lang="zh-CN" altLang="en-US"/>
              <a:t>页</a:t>
            </a:r>
          </a:p>
        </p:txBody>
      </p:sp>
      <p:sp>
        <p:nvSpPr>
          <p:cNvPr id="64515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思考</a:t>
            </a:r>
            <a:r>
              <a:rPr lang="zh-CN" altLang="en-US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上的自反关系与反自反关系的区别与联系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既自反又反自反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Hint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空集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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上的空关系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自反但不是反自反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(3)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不是自反的但是反自反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(4)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既不是自反的又不是反自反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392EA639-29A2-4E7F-B993-F438C5897281}" type="slidenum">
              <a:rPr lang="zh-CN" altLang="en-US"/>
              <a:pPr>
                <a:defRPr/>
              </a:pPr>
              <a:t>12</a:t>
            </a:fld>
            <a:r>
              <a:rPr lang="zh-CN" altLang="en-US"/>
              <a:t>页</a:t>
            </a: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itchFamily="18" charset="0"/>
              </a:rPr>
              <a:t>2.3</a:t>
            </a:r>
            <a:r>
              <a:rPr lang="en-US" altLang="zh-CN"/>
              <a:t> </a:t>
            </a:r>
            <a:r>
              <a:rPr lang="zh-CN" altLang="en-US"/>
              <a:t>关系的性质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zh-CN"/>
          </a:p>
          <a:p>
            <a:pPr eaLnBrk="1" hangingPunct="1">
              <a:buFontTx/>
              <a:buNone/>
            </a:pPr>
            <a:endParaRPr lang="en-US" altLang="zh-CN"/>
          </a:p>
        </p:txBody>
      </p:sp>
      <p:grpSp>
        <p:nvGrpSpPr>
          <p:cNvPr id="69637" name="Group 4"/>
          <p:cNvGrpSpPr>
            <a:grpSpLocks/>
          </p:cNvGrpSpPr>
          <p:nvPr/>
        </p:nvGrpSpPr>
        <p:grpSpPr bwMode="auto">
          <a:xfrm>
            <a:off x="1042988" y="1125538"/>
            <a:ext cx="5545137" cy="712787"/>
            <a:chOff x="1152" y="1101"/>
            <a:chExt cx="3408" cy="449"/>
          </a:xfrm>
        </p:grpSpPr>
        <p:grpSp>
          <p:nvGrpSpPr>
            <p:cNvPr id="69671" name="Group 5"/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69675" name="AutoShape 6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676" name="AutoShape 7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088" name="AutoShape 8"/>
              <p:cNvSpPr>
                <a:spLocks noChangeArrowheads="1"/>
              </p:cNvSpPr>
              <p:nvPr/>
            </p:nvSpPr>
            <p:spPr bwMode="gray">
              <a:xfrm>
                <a:off x="1201" y="2737"/>
                <a:ext cx="1348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6967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73" name="Text Box 10"/>
            <p:cNvSpPr txBox="1">
              <a:spLocks noChangeArrowheads="1"/>
            </p:cNvSpPr>
            <p:nvPr/>
          </p:nvSpPr>
          <p:spPr bwMode="auto">
            <a:xfrm>
              <a:off x="2112" y="1101"/>
              <a:ext cx="86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000000"/>
                  </a:solidFill>
                </a:rPr>
                <a:t>自反性</a:t>
              </a:r>
            </a:p>
          </p:txBody>
        </p:sp>
        <p:sp>
          <p:nvSpPr>
            <p:cNvPr id="69674" name="Text Box 11"/>
            <p:cNvSpPr txBox="1">
              <a:spLocks noChangeArrowheads="1"/>
            </p:cNvSpPr>
            <p:nvPr/>
          </p:nvSpPr>
          <p:spPr bwMode="gray">
            <a:xfrm>
              <a:off x="1269" y="1132"/>
              <a:ext cx="23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69638" name="Group 12"/>
          <p:cNvGrpSpPr>
            <a:grpSpLocks/>
          </p:cNvGrpSpPr>
          <p:nvPr/>
        </p:nvGrpSpPr>
        <p:grpSpPr bwMode="auto">
          <a:xfrm>
            <a:off x="1042988" y="2133600"/>
            <a:ext cx="5545137" cy="760413"/>
            <a:chOff x="1152" y="1677"/>
            <a:chExt cx="3408" cy="449"/>
          </a:xfrm>
        </p:grpSpPr>
        <p:grpSp>
          <p:nvGrpSpPr>
            <p:cNvPr id="69664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69668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669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096" name="AutoShape 16"/>
              <p:cNvSpPr>
                <a:spLocks noChangeArrowheads="1"/>
              </p:cNvSpPr>
              <p:nvPr/>
            </p:nvSpPr>
            <p:spPr bwMode="gray">
              <a:xfrm>
                <a:off x="3265" y="2735"/>
                <a:ext cx="1348" cy="1170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69665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66" name="Text Box 18"/>
            <p:cNvSpPr txBox="1">
              <a:spLocks noChangeArrowheads="1"/>
            </p:cNvSpPr>
            <p:nvPr/>
          </p:nvSpPr>
          <p:spPr bwMode="auto">
            <a:xfrm>
              <a:off x="2112" y="1677"/>
              <a:ext cx="1140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000000"/>
                  </a:solidFill>
                </a:rPr>
                <a:t>反自反性</a:t>
              </a:r>
            </a:p>
          </p:txBody>
        </p:sp>
        <p:sp>
          <p:nvSpPr>
            <p:cNvPr id="69667" name="Text Box 19"/>
            <p:cNvSpPr txBox="1">
              <a:spLocks noChangeArrowheads="1"/>
            </p:cNvSpPr>
            <p:nvPr/>
          </p:nvSpPr>
          <p:spPr bwMode="gray">
            <a:xfrm>
              <a:off x="1269" y="1708"/>
              <a:ext cx="238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</p:grpSp>
      <p:grpSp>
        <p:nvGrpSpPr>
          <p:cNvPr id="69639" name="Group 20"/>
          <p:cNvGrpSpPr>
            <a:grpSpLocks/>
          </p:cNvGrpSpPr>
          <p:nvPr/>
        </p:nvGrpSpPr>
        <p:grpSpPr bwMode="auto">
          <a:xfrm>
            <a:off x="1042988" y="3068638"/>
            <a:ext cx="5545137" cy="712787"/>
            <a:chOff x="1152" y="2239"/>
            <a:chExt cx="3408" cy="449"/>
          </a:xfrm>
        </p:grpSpPr>
        <p:grpSp>
          <p:nvGrpSpPr>
            <p:cNvPr id="69657" name="Group 21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69661" name="AutoShape 22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662" name="AutoShape 23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104" name="AutoShape 24"/>
              <p:cNvSpPr>
                <a:spLocks noChangeArrowheads="1"/>
              </p:cNvSpPr>
              <p:nvPr/>
            </p:nvSpPr>
            <p:spPr bwMode="gray">
              <a:xfrm>
                <a:off x="1201" y="2737"/>
                <a:ext cx="1348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69658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59" name="Text Box 26"/>
            <p:cNvSpPr txBox="1">
              <a:spLocks noChangeArrowheads="1"/>
            </p:cNvSpPr>
            <p:nvPr/>
          </p:nvSpPr>
          <p:spPr bwMode="auto">
            <a:xfrm>
              <a:off x="2112" y="2239"/>
              <a:ext cx="8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000000"/>
                  </a:solidFill>
                </a:rPr>
                <a:t>对称性</a:t>
              </a:r>
            </a:p>
          </p:txBody>
        </p:sp>
        <p:sp>
          <p:nvSpPr>
            <p:cNvPr id="69660" name="Text Box 27"/>
            <p:cNvSpPr txBox="1">
              <a:spLocks noChangeArrowheads="1"/>
            </p:cNvSpPr>
            <p:nvPr/>
          </p:nvSpPr>
          <p:spPr bwMode="gray">
            <a:xfrm>
              <a:off x="1284" y="2332"/>
              <a:ext cx="2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</p:grpSp>
      <p:grpSp>
        <p:nvGrpSpPr>
          <p:cNvPr id="69640" name="Group 28"/>
          <p:cNvGrpSpPr>
            <a:grpSpLocks/>
          </p:cNvGrpSpPr>
          <p:nvPr/>
        </p:nvGrpSpPr>
        <p:grpSpPr bwMode="auto">
          <a:xfrm>
            <a:off x="1042988" y="4076700"/>
            <a:ext cx="5545137" cy="720725"/>
            <a:chOff x="1152" y="2815"/>
            <a:chExt cx="3408" cy="449"/>
          </a:xfrm>
        </p:grpSpPr>
        <p:grpSp>
          <p:nvGrpSpPr>
            <p:cNvPr id="69650" name="Group 29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69654" name="AutoShape 30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655" name="AutoShape 31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112" name="AutoShape 32"/>
              <p:cNvSpPr>
                <a:spLocks noChangeArrowheads="1"/>
              </p:cNvSpPr>
              <p:nvPr/>
            </p:nvSpPr>
            <p:spPr bwMode="gray">
              <a:xfrm>
                <a:off x="3265" y="2735"/>
                <a:ext cx="1348" cy="1170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69651" name="Line 33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52" name="Text Box 34"/>
            <p:cNvSpPr txBox="1">
              <a:spLocks noChangeArrowheads="1"/>
            </p:cNvSpPr>
            <p:nvPr/>
          </p:nvSpPr>
          <p:spPr bwMode="auto">
            <a:xfrm>
              <a:off x="2112" y="2815"/>
              <a:ext cx="1140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000000"/>
                  </a:solidFill>
                </a:rPr>
                <a:t>反对称性</a:t>
              </a:r>
            </a:p>
          </p:txBody>
        </p:sp>
        <p:sp>
          <p:nvSpPr>
            <p:cNvPr id="69653" name="Text Box 35"/>
            <p:cNvSpPr txBox="1">
              <a:spLocks noChangeArrowheads="1"/>
            </p:cNvSpPr>
            <p:nvPr/>
          </p:nvSpPr>
          <p:spPr bwMode="gray">
            <a:xfrm>
              <a:off x="1284" y="2908"/>
              <a:ext cx="20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</a:p>
          </p:txBody>
        </p:sp>
      </p:grpSp>
      <p:grpSp>
        <p:nvGrpSpPr>
          <p:cNvPr id="69641" name="Group 36"/>
          <p:cNvGrpSpPr>
            <a:grpSpLocks/>
          </p:cNvGrpSpPr>
          <p:nvPr/>
        </p:nvGrpSpPr>
        <p:grpSpPr bwMode="auto">
          <a:xfrm>
            <a:off x="1116013" y="5013325"/>
            <a:ext cx="5543550" cy="712788"/>
            <a:chOff x="1152" y="2239"/>
            <a:chExt cx="3408" cy="449"/>
          </a:xfrm>
        </p:grpSpPr>
        <p:grpSp>
          <p:nvGrpSpPr>
            <p:cNvPr id="69643" name="Group 37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69647" name="AutoShape 3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648" name="AutoShape 3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120" name="AutoShape 40"/>
              <p:cNvSpPr>
                <a:spLocks noChangeArrowheads="1"/>
              </p:cNvSpPr>
              <p:nvPr/>
            </p:nvSpPr>
            <p:spPr bwMode="gray">
              <a:xfrm>
                <a:off x="1201" y="2737"/>
                <a:ext cx="1348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69644" name="Line 41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45" name="Text Box 42"/>
            <p:cNvSpPr txBox="1">
              <a:spLocks noChangeArrowheads="1"/>
            </p:cNvSpPr>
            <p:nvPr/>
          </p:nvSpPr>
          <p:spPr bwMode="auto">
            <a:xfrm>
              <a:off x="2112" y="2239"/>
              <a:ext cx="86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000000"/>
                  </a:solidFill>
                </a:rPr>
                <a:t>传递性</a:t>
              </a:r>
            </a:p>
          </p:txBody>
        </p:sp>
        <p:sp>
          <p:nvSpPr>
            <p:cNvPr id="69646" name="Text Box 43"/>
            <p:cNvSpPr txBox="1">
              <a:spLocks noChangeArrowheads="1"/>
            </p:cNvSpPr>
            <p:nvPr/>
          </p:nvSpPr>
          <p:spPr bwMode="gray">
            <a:xfrm>
              <a:off x="1284" y="2332"/>
              <a:ext cx="2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5</a:t>
              </a:r>
            </a:p>
          </p:txBody>
        </p:sp>
      </p:grpSp>
      <p:sp>
        <p:nvSpPr>
          <p:cNvPr id="69642" name="圆角矩形 1"/>
          <p:cNvSpPr>
            <a:spLocks noChangeArrowheads="1"/>
          </p:cNvSpPr>
          <p:nvPr/>
        </p:nvSpPr>
        <p:spPr bwMode="auto">
          <a:xfrm>
            <a:off x="839735" y="2832198"/>
            <a:ext cx="4968875" cy="2070100"/>
          </a:xfrm>
          <a:prstGeom prst="roundRect">
            <a:avLst>
              <a:gd name="adj" fmla="val 16667"/>
            </a:avLst>
          </a:prstGeom>
          <a:noFill/>
          <a:ln w="57150" cmpd="thinThick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444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A3219618-6FC1-4410-AACA-93B90AD2D32D}" type="slidenum">
              <a:rPr lang="zh-CN" altLang="en-US"/>
              <a:pPr>
                <a:defRPr/>
              </a:pPr>
              <a:t>13</a:t>
            </a:fld>
            <a:r>
              <a:rPr lang="zh-CN" altLang="en-US"/>
              <a:t>页</a:t>
            </a:r>
          </a:p>
        </p:txBody>
      </p:sp>
      <p:sp>
        <p:nvSpPr>
          <p:cNvPr id="65539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2.3.3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对称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(symmetric)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性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2-11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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对于任意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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若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y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 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 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则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x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 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上的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对称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或称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是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对称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或称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具有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对称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性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8ABA44AC-6590-4321-85E2-290EDCB06D6F}" type="slidenum">
              <a:rPr lang="zh-CN" altLang="en-US"/>
              <a:pPr>
                <a:defRPr/>
              </a:pPr>
              <a:t>14</a:t>
            </a:fld>
            <a:r>
              <a:rPr lang="zh-CN" altLang="en-US"/>
              <a:t>页</a:t>
            </a:r>
          </a:p>
        </p:txBody>
      </p:sp>
      <p:sp>
        <p:nvSpPr>
          <p:cNvPr id="66563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itchFamily="18" charset="0"/>
                <a:ea typeface="华文新魏" pitchFamily="2" charset="-122"/>
              </a:rPr>
              <a:t>例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2-26 </a:t>
            </a: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 = {</a:t>
            </a: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, </a:t>
            </a: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, </a:t>
            </a: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c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, </a:t>
            </a: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d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},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latin typeface="Times New Roman" pitchFamily="18" charset="0"/>
              </a:rPr>
              <a:t>    R</a:t>
            </a:r>
            <a:r>
              <a:rPr lang="en-US" altLang="zh-CN" dirty="0">
                <a:latin typeface="Times New Roman" pitchFamily="18" charset="0"/>
              </a:rPr>
              <a:t> = {(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), (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), (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), (</a:t>
            </a:r>
            <a:r>
              <a:rPr lang="en-US" altLang="zh-CN" i="1" dirty="0">
                <a:latin typeface="Times New Roman" pitchFamily="18" charset="0"/>
              </a:rPr>
              <a:t>d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), (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d</a:t>
            </a:r>
            <a:r>
              <a:rPr lang="en-US" altLang="zh-CN" dirty="0">
                <a:latin typeface="Times New Roman" pitchFamily="18" charset="0"/>
              </a:rPr>
              <a:t>)}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对称</a:t>
            </a:r>
            <a:r>
              <a:rPr lang="en-US" altLang="zh-CN" dirty="0">
                <a:latin typeface="Times New Roman" pitchFamily="18" charset="0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/>
          </a:p>
        </p:txBody>
      </p:sp>
      <p:sp>
        <p:nvSpPr>
          <p:cNvPr id="66564" name="Oval 3"/>
          <p:cNvSpPr>
            <a:spLocks noChangeArrowheads="1"/>
          </p:cNvSpPr>
          <p:nvPr/>
        </p:nvSpPr>
        <p:spPr bwMode="auto">
          <a:xfrm>
            <a:off x="2916238" y="22764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5" name="Oval 4"/>
          <p:cNvSpPr>
            <a:spLocks noChangeArrowheads="1"/>
          </p:cNvSpPr>
          <p:nvPr/>
        </p:nvSpPr>
        <p:spPr bwMode="auto">
          <a:xfrm>
            <a:off x="2916238" y="3644900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6" name="Oval 5"/>
          <p:cNvSpPr>
            <a:spLocks noChangeArrowheads="1"/>
          </p:cNvSpPr>
          <p:nvPr/>
        </p:nvSpPr>
        <p:spPr bwMode="auto">
          <a:xfrm>
            <a:off x="4427538" y="22764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7" name="Oval 6"/>
          <p:cNvSpPr>
            <a:spLocks noChangeArrowheads="1"/>
          </p:cNvSpPr>
          <p:nvPr/>
        </p:nvSpPr>
        <p:spPr bwMode="auto">
          <a:xfrm>
            <a:off x="4427538" y="3573463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8" name="Freeform 7"/>
          <p:cNvSpPr>
            <a:spLocks/>
          </p:cNvSpPr>
          <p:nvPr/>
        </p:nvSpPr>
        <p:spPr bwMode="auto">
          <a:xfrm>
            <a:off x="4067175" y="2349500"/>
            <a:ext cx="301625" cy="1223963"/>
          </a:xfrm>
          <a:custGeom>
            <a:avLst/>
            <a:gdLst>
              <a:gd name="T0" fmla="*/ 2147483647 w 190"/>
              <a:gd name="T1" fmla="*/ 0 h 771"/>
              <a:gd name="T2" fmla="*/ 2147483647 w 190"/>
              <a:gd name="T3" fmla="*/ 2147483647 h 771"/>
              <a:gd name="T4" fmla="*/ 2147483647 w 190"/>
              <a:gd name="T5" fmla="*/ 2147483647 h 771"/>
              <a:gd name="T6" fmla="*/ 0 60000 65536"/>
              <a:gd name="T7" fmla="*/ 0 60000 65536"/>
              <a:gd name="T8" fmla="*/ 0 60000 65536"/>
              <a:gd name="T9" fmla="*/ 0 w 190"/>
              <a:gd name="T10" fmla="*/ 0 h 771"/>
              <a:gd name="T11" fmla="*/ 190 w 190"/>
              <a:gd name="T12" fmla="*/ 771 h 7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" h="771">
                <a:moveTo>
                  <a:pt x="190" y="0"/>
                </a:moveTo>
                <a:cubicBezTo>
                  <a:pt x="103" y="140"/>
                  <a:pt x="16" y="280"/>
                  <a:pt x="8" y="408"/>
                </a:cubicBezTo>
                <a:cubicBezTo>
                  <a:pt x="0" y="536"/>
                  <a:pt x="72" y="653"/>
                  <a:pt x="144" y="77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69" name="Freeform 8"/>
          <p:cNvSpPr>
            <a:spLocks/>
          </p:cNvSpPr>
          <p:nvPr/>
        </p:nvSpPr>
        <p:spPr bwMode="auto">
          <a:xfrm>
            <a:off x="4572000" y="2420938"/>
            <a:ext cx="369888" cy="1152525"/>
          </a:xfrm>
          <a:custGeom>
            <a:avLst/>
            <a:gdLst>
              <a:gd name="T0" fmla="*/ 0 w 233"/>
              <a:gd name="T1" fmla="*/ 2147483647 h 726"/>
              <a:gd name="T2" fmla="*/ 2147483647 w 233"/>
              <a:gd name="T3" fmla="*/ 2147483647 h 726"/>
              <a:gd name="T4" fmla="*/ 2147483647 w 233"/>
              <a:gd name="T5" fmla="*/ 0 h 726"/>
              <a:gd name="T6" fmla="*/ 0 60000 65536"/>
              <a:gd name="T7" fmla="*/ 0 60000 65536"/>
              <a:gd name="T8" fmla="*/ 0 60000 65536"/>
              <a:gd name="T9" fmla="*/ 0 w 233"/>
              <a:gd name="T10" fmla="*/ 0 h 726"/>
              <a:gd name="T11" fmla="*/ 233 w 233"/>
              <a:gd name="T12" fmla="*/ 726 h 7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3" h="726">
                <a:moveTo>
                  <a:pt x="0" y="726"/>
                </a:moveTo>
                <a:cubicBezTo>
                  <a:pt x="109" y="559"/>
                  <a:pt x="219" y="393"/>
                  <a:pt x="226" y="272"/>
                </a:cubicBezTo>
                <a:cubicBezTo>
                  <a:pt x="233" y="151"/>
                  <a:pt x="139" y="75"/>
                  <a:pt x="45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70" name="Freeform 9"/>
          <p:cNvSpPr>
            <a:spLocks/>
          </p:cNvSpPr>
          <p:nvPr/>
        </p:nvSpPr>
        <p:spPr bwMode="auto">
          <a:xfrm>
            <a:off x="3059113" y="2420938"/>
            <a:ext cx="373062" cy="1296987"/>
          </a:xfrm>
          <a:custGeom>
            <a:avLst/>
            <a:gdLst>
              <a:gd name="T0" fmla="*/ 0 w 235"/>
              <a:gd name="T1" fmla="*/ 0 h 817"/>
              <a:gd name="T2" fmla="*/ 2147483647 w 235"/>
              <a:gd name="T3" fmla="*/ 2147483647 h 817"/>
              <a:gd name="T4" fmla="*/ 2147483647 w 235"/>
              <a:gd name="T5" fmla="*/ 2147483647 h 817"/>
              <a:gd name="T6" fmla="*/ 0 60000 65536"/>
              <a:gd name="T7" fmla="*/ 0 60000 65536"/>
              <a:gd name="T8" fmla="*/ 0 60000 65536"/>
              <a:gd name="T9" fmla="*/ 0 w 235"/>
              <a:gd name="T10" fmla="*/ 0 h 817"/>
              <a:gd name="T11" fmla="*/ 235 w 235"/>
              <a:gd name="T12" fmla="*/ 817 h 8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5" h="817">
                <a:moveTo>
                  <a:pt x="0" y="0"/>
                </a:moveTo>
                <a:cubicBezTo>
                  <a:pt x="109" y="113"/>
                  <a:pt x="219" y="227"/>
                  <a:pt x="227" y="363"/>
                </a:cubicBezTo>
                <a:cubicBezTo>
                  <a:pt x="235" y="499"/>
                  <a:pt x="140" y="658"/>
                  <a:pt x="46" y="81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71" name="Freeform 10"/>
          <p:cNvSpPr>
            <a:spLocks/>
          </p:cNvSpPr>
          <p:nvPr/>
        </p:nvSpPr>
        <p:spPr bwMode="auto">
          <a:xfrm>
            <a:off x="2555875" y="2420938"/>
            <a:ext cx="287338" cy="1223962"/>
          </a:xfrm>
          <a:custGeom>
            <a:avLst/>
            <a:gdLst>
              <a:gd name="T0" fmla="*/ 2147483647 w 181"/>
              <a:gd name="T1" fmla="*/ 2147483647 h 771"/>
              <a:gd name="T2" fmla="*/ 0 w 181"/>
              <a:gd name="T3" fmla="*/ 2147483647 h 771"/>
              <a:gd name="T4" fmla="*/ 2147483647 w 181"/>
              <a:gd name="T5" fmla="*/ 0 h 771"/>
              <a:gd name="T6" fmla="*/ 0 60000 65536"/>
              <a:gd name="T7" fmla="*/ 0 60000 65536"/>
              <a:gd name="T8" fmla="*/ 0 60000 65536"/>
              <a:gd name="T9" fmla="*/ 0 w 181"/>
              <a:gd name="T10" fmla="*/ 0 h 771"/>
              <a:gd name="T11" fmla="*/ 181 w 181"/>
              <a:gd name="T12" fmla="*/ 771 h 7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1" h="771">
                <a:moveTo>
                  <a:pt x="181" y="771"/>
                </a:moveTo>
                <a:cubicBezTo>
                  <a:pt x="90" y="676"/>
                  <a:pt x="0" y="581"/>
                  <a:pt x="0" y="453"/>
                </a:cubicBezTo>
                <a:cubicBezTo>
                  <a:pt x="0" y="325"/>
                  <a:pt x="90" y="162"/>
                  <a:pt x="181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72" name="Freeform 11"/>
          <p:cNvSpPr>
            <a:spLocks/>
          </p:cNvSpPr>
          <p:nvPr/>
        </p:nvSpPr>
        <p:spPr bwMode="auto">
          <a:xfrm>
            <a:off x="2627313" y="3860800"/>
            <a:ext cx="635000" cy="301625"/>
          </a:xfrm>
          <a:custGeom>
            <a:avLst/>
            <a:gdLst>
              <a:gd name="T0" fmla="*/ 2147483647 w 400"/>
              <a:gd name="T1" fmla="*/ 0 h 190"/>
              <a:gd name="T2" fmla="*/ 2147483647 w 400"/>
              <a:gd name="T3" fmla="*/ 2147483647 h 190"/>
              <a:gd name="T4" fmla="*/ 2147483647 w 400"/>
              <a:gd name="T5" fmla="*/ 2147483647 h 190"/>
              <a:gd name="T6" fmla="*/ 2147483647 w 400"/>
              <a:gd name="T7" fmla="*/ 2147483647 h 190"/>
              <a:gd name="T8" fmla="*/ 2147483647 w 400"/>
              <a:gd name="T9" fmla="*/ 0 h 1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0"/>
              <a:gd name="T16" fmla="*/ 0 h 190"/>
              <a:gd name="T17" fmla="*/ 400 w 400"/>
              <a:gd name="T18" fmla="*/ 190 h 1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0" h="190">
                <a:moveTo>
                  <a:pt x="121" y="0"/>
                </a:moveTo>
                <a:cubicBezTo>
                  <a:pt x="60" y="53"/>
                  <a:pt x="0" y="106"/>
                  <a:pt x="30" y="136"/>
                </a:cubicBezTo>
                <a:cubicBezTo>
                  <a:pt x="60" y="166"/>
                  <a:pt x="242" y="190"/>
                  <a:pt x="302" y="182"/>
                </a:cubicBezTo>
                <a:cubicBezTo>
                  <a:pt x="362" y="174"/>
                  <a:pt x="400" y="121"/>
                  <a:pt x="393" y="91"/>
                </a:cubicBezTo>
                <a:cubicBezTo>
                  <a:pt x="386" y="61"/>
                  <a:pt x="321" y="30"/>
                  <a:pt x="257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6573" name="Object 12"/>
          <p:cNvGraphicFramePr>
            <a:graphicFrameLocks noChangeAspect="1"/>
          </p:cNvGraphicFramePr>
          <p:nvPr/>
        </p:nvGraphicFramePr>
        <p:xfrm>
          <a:off x="2843213" y="1844675"/>
          <a:ext cx="31432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9" imgH="57240" progId="Equation.3">
                  <p:embed/>
                </p:oleObj>
              </mc:Choice>
              <mc:Fallback>
                <p:oleObj name="Equation" r:id="rId2" imgW="38089" imgH="572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1844675"/>
                        <a:ext cx="31432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4" name="Object 13"/>
          <p:cNvGraphicFramePr>
            <a:graphicFrameLocks noChangeAspect="1"/>
          </p:cNvGraphicFramePr>
          <p:nvPr/>
        </p:nvGraphicFramePr>
        <p:xfrm>
          <a:off x="2411413" y="3573463"/>
          <a:ext cx="3143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089" imgH="95310" progId="Equation.3">
                  <p:embed/>
                </p:oleObj>
              </mc:Choice>
              <mc:Fallback>
                <p:oleObj name="Equation" r:id="rId4" imgW="38089" imgH="9531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573463"/>
                        <a:ext cx="3143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5" name="Object 14"/>
          <p:cNvGraphicFramePr>
            <a:graphicFrameLocks noChangeAspect="1"/>
          </p:cNvGraphicFramePr>
          <p:nvPr/>
        </p:nvGraphicFramePr>
        <p:xfrm>
          <a:off x="4356100" y="1844675"/>
          <a:ext cx="28257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634" imgH="57240" progId="Equation.3">
                  <p:embed/>
                </p:oleObj>
              </mc:Choice>
              <mc:Fallback>
                <p:oleObj name="Equation" r:id="rId6" imgW="28634" imgH="572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844675"/>
                        <a:ext cx="28257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6" name="Object 15"/>
          <p:cNvGraphicFramePr>
            <a:graphicFrameLocks noChangeAspect="1"/>
          </p:cNvGraphicFramePr>
          <p:nvPr/>
        </p:nvGraphicFramePr>
        <p:xfrm>
          <a:off x="4356100" y="3789363"/>
          <a:ext cx="3460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7268" imgH="95310" progId="Equation.3">
                  <p:embed/>
                </p:oleObj>
              </mc:Choice>
              <mc:Fallback>
                <p:oleObj name="Equation" r:id="rId8" imgW="57268" imgH="9531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3789363"/>
                        <a:ext cx="3460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7C43F7E8-C1C1-424B-97E8-7CC629396867}" type="slidenum">
              <a:rPr lang="zh-CN" altLang="en-US"/>
              <a:pPr>
                <a:defRPr/>
              </a:pPr>
              <a:t>15</a:t>
            </a:fld>
            <a:r>
              <a:rPr lang="zh-CN" altLang="en-US"/>
              <a:t>页</a:t>
            </a:r>
          </a:p>
        </p:txBody>
      </p:sp>
      <p:sp>
        <p:nvSpPr>
          <p:cNvPr id="67587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上的整除关系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不是对称的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上的包含关系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一般来说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不是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对称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上的小于等于关系不是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对称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上的小于关系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&lt;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不是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对称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三角形之间的相似关系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~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是对称的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Z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上的模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同余关系</a:t>
            </a:r>
            <a:r>
              <a:rPr lang="en-US" altLang="zh-CN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是对称的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49C5C8D5-EA73-4DDA-BB70-851184A2C3F6}" type="slidenum">
              <a:rPr lang="zh-CN" altLang="en-US"/>
              <a:pPr>
                <a:defRPr/>
              </a:pPr>
              <a:t>16</a:t>
            </a:fld>
            <a:r>
              <a:rPr lang="zh-CN" altLang="en-US"/>
              <a:t>页</a:t>
            </a:r>
          </a:p>
        </p:txBody>
      </p:sp>
      <p:sp>
        <p:nvSpPr>
          <p:cNvPr id="68611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Theorem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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对称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如何根据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关系图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及关系矩阵去判断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是否对称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443A7B5F-2311-407B-AC32-F8C9491D7CE3}" type="slidenum">
              <a:rPr lang="zh-CN" altLang="en-US"/>
              <a:pPr>
                <a:defRPr/>
              </a:pPr>
              <a:t>17</a:t>
            </a:fld>
            <a:r>
              <a:rPr lang="zh-CN" altLang="en-US"/>
              <a:t>页</a:t>
            </a:r>
          </a:p>
        </p:txBody>
      </p:sp>
      <p:sp>
        <p:nvSpPr>
          <p:cNvPr id="70659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2.3.4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反对称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antisymmetric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性</a:t>
            </a:r>
          </a:p>
          <a:p>
            <a:pPr eaLnBrk="1" hangingPunct="1">
              <a:buFontTx/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2-12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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对于任意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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若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y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 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且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x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 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一定有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=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上的</a:t>
            </a:r>
            <a:r>
              <a:rPr lang="zh-CN" altLang="en-US" dirty="0">
                <a:solidFill>
                  <a:srgbClr val="C0000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</a:rPr>
              <a:t>反对称</a:t>
            </a:r>
            <a:r>
              <a:rPr lang="zh-CN" altLang="en-US" dirty="0">
                <a:solidFill>
                  <a:srgbClr val="C00000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Times New Roman" panose="02020603050405020304" pitchFamily="18" charset="0"/>
                <a:sym typeface="Symbol" pitchFamily="18" charset="2"/>
              </a:rPr>
              <a:t>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或称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是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反对称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或称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具有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反对称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性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等价说法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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对于任意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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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那么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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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不能同时成立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上的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反对称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B983CF8E-2C60-46A6-A754-558949495273}" type="slidenum">
              <a:rPr lang="zh-CN" altLang="en-US"/>
              <a:pPr>
                <a:defRPr/>
              </a:pPr>
              <a:t>18</a:t>
            </a:fld>
            <a:r>
              <a:rPr lang="zh-CN" altLang="en-US"/>
              <a:t>页</a:t>
            </a:r>
          </a:p>
        </p:txBody>
      </p:sp>
      <p:sp>
        <p:nvSpPr>
          <p:cNvPr id="71683" name="Rectangle 2"/>
          <p:cNvSpPr>
            <a:spLocks noGrp="1" noChangeArrowheads="1"/>
          </p:cNvSpPr>
          <p:nvPr>
            <p:ph/>
          </p:nvPr>
        </p:nvSpPr>
        <p:spPr>
          <a:xfrm>
            <a:off x="0" y="44451"/>
            <a:ext cx="9144000" cy="61928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3500" dirty="0">
                <a:latin typeface="Times New Roman" pitchFamily="18" charset="0"/>
                <a:ea typeface="华文新魏" pitchFamily="2" charset="-122"/>
              </a:rPr>
              <a:t>例</a:t>
            </a:r>
            <a:r>
              <a:rPr lang="en-US" altLang="zh-CN" sz="3500" dirty="0">
                <a:latin typeface="Times New Roman" pitchFamily="18" charset="0"/>
                <a:ea typeface="华文新魏" pitchFamily="2" charset="-122"/>
              </a:rPr>
              <a:t>2-27 </a:t>
            </a:r>
            <a:r>
              <a:rPr lang="en-US" altLang="zh-CN" sz="3500" i="1" dirty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sz="3500" dirty="0">
                <a:latin typeface="Times New Roman" pitchFamily="18" charset="0"/>
                <a:ea typeface="华文新魏" pitchFamily="2" charset="-122"/>
              </a:rPr>
              <a:t> = {</a:t>
            </a:r>
            <a:r>
              <a:rPr lang="en-US" altLang="zh-CN" sz="3500" i="1" dirty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sz="3500" dirty="0">
                <a:latin typeface="Times New Roman" pitchFamily="18" charset="0"/>
                <a:ea typeface="华文新魏" pitchFamily="2" charset="-122"/>
              </a:rPr>
              <a:t>, </a:t>
            </a:r>
            <a:r>
              <a:rPr lang="en-US" altLang="zh-CN" sz="3500" i="1" dirty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en-US" altLang="zh-CN" sz="3500" dirty="0">
                <a:latin typeface="Times New Roman" pitchFamily="18" charset="0"/>
                <a:ea typeface="华文新魏" pitchFamily="2" charset="-122"/>
              </a:rPr>
              <a:t>, </a:t>
            </a:r>
            <a:r>
              <a:rPr lang="en-US" altLang="zh-CN" sz="3500" i="1" dirty="0">
                <a:latin typeface="Times New Roman" pitchFamily="18" charset="0"/>
                <a:ea typeface="华文新魏" pitchFamily="2" charset="-122"/>
              </a:rPr>
              <a:t>c</a:t>
            </a:r>
            <a:r>
              <a:rPr lang="en-US" altLang="zh-CN" sz="3500" dirty="0">
                <a:latin typeface="Times New Roman" pitchFamily="18" charset="0"/>
                <a:ea typeface="华文新魏" pitchFamily="2" charset="-122"/>
              </a:rPr>
              <a:t>, </a:t>
            </a:r>
            <a:r>
              <a:rPr lang="en-US" altLang="zh-CN" sz="3500" i="1" dirty="0">
                <a:latin typeface="Times New Roman" pitchFamily="18" charset="0"/>
                <a:ea typeface="华文新魏" pitchFamily="2" charset="-122"/>
              </a:rPr>
              <a:t>d</a:t>
            </a:r>
            <a:r>
              <a:rPr lang="en-US" altLang="zh-CN" sz="3500" dirty="0">
                <a:latin typeface="Times New Roman" pitchFamily="18" charset="0"/>
                <a:ea typeface="华文新魏" pitchFamily="2" charset="-122"/>
              </a:rPr>
              <a:t>}, </a:t>
            </a:r>
          </a:p>
          <a:p>
            <a:pPr eaLnBrk="1" hangingPunct="1">
              <a:buFontTx/>
              <a:buNone/>
            </a:pPr>
            <a:r>
              <a:rPr lang="en-US" altLang="zh-CN" sz="3500" i="1" dirty="0">
                <a:latin typeface="Times New Roman" pitchFamily="18" charset="0"/>
              </a:rPr>
              <a:t>R</a:t>
            </a:r>
            <a:r>
              <a:rPr lang="en-US" altLang="zh-CN" sz="3500" dirty="0">
                <a:latin typeface="Times New Roman" pitchFamily="18" charset="0"/>
              </a:rPr>
              <a:t> = {(</a:t>
            </a:r>
            <a:r>
              <a:rPr lang="en-US" altLang="zh-CN" sz="3500" i="1" dirty="0">
                <a:latin typeface="Times New Roman" pitchFamily="18" charset="0"/>
              </a:rPr>
              <a:t>a</a:t>
            </a:r>
            <a:r>
              <a:rPr lang="en-US" altLang="zh-CN" sz="3500" dirty="0">
                <a:latin typeface="Times New Roman" pitchFamily="18" charset="0"/>
              </a:rPr>
              <a:t>, </a:t>
            </a:r>
            <a:r>
              <a:rPr lang="en-US" altLang="zh-CN" sz="3500" i="1" dirty="0">
                <a:latin typeface="Times New Roman" pitchFamily="18" charset="0"/>
              </a:rPr>
              <a:t>a</a:t>
            </a:r>
            <a:r>
              <a:rPr lang="en-US" altLang="zh-CN" sz="3500" dirty="0">
                <a:latin typeface="Times New Roman" pitchFamily="18" charset="0"/>
              </a:rPr>
              <a:t>), (</a:t>
            </a:r>
            <a:r>
              <a:rPr lang="en-US" altLang="zh-CN" sz="3500" i="1" dirty="0">
                <a:latin typeface="Times New Roman" pitchFamily="18" charset="0"/>
              </a:rPr>
              <a:t>a</a:t>
            </a:r>
            <a:r>
              <a:rPr lang="en-US" altLang="zh-CN" sz="3500" dirty="0">
                <a:latin typeface="Times New Roman" pitchFamily="18" charset="0"/>
              </a:rPr>
              <a:t>, </a:t>
            </a:r>
            <a:r>
              <a:rPr lang="en-US" altLang="zh-CN" sz="3500" i="1" dirty="0">
                <a:latin typeface="Times New Roman" pitchFamily="18" charset="0"/>
              </a:rPr>
              <a:t>b</a:t>
            </a:r>
            <a:r>
              <a:rPr lang="en-US" altLang="zh-CN" sz="3500" dirty="0">
                <a:latin typeface="Times New Roman" pitchFamily="18" charset="0"/>
              </a:rPr>
              <a:t>), (</a:t>
            </a:r>
            <a:r>
              <a:rPr lang="en-US" altLang="zh-CN" sz="3500" i="1" dirty="0">
                <a:latin typeface="Times New Roman" pitchFamily="18" charset="0"/>
              </a:rPr>
              <a:t>b</a:t>
            </a:r>
            <a:r>
              <a:rPr lang="en-US" altLang="zh-CN" sz="3500" dirty="0">
                <a:latin typeface="Times New Roman" pitchFamily="18" charset="0"/>
              </a:rPr>
              <a:t>, </a:t>
            </a:r>
            <a:r>
              <a:rPr lang="en-US" altLang="zh-CN" sz="3500" i="1" dirty="0">
                <a:latin typeface="Times New Roman" pitchFamily="18" charset="0"/>
              </a:rPr>
              <a:t>b</a:t>
            </a:r>
            <a:r>
              <a:rPr lang="en-US" altLang="zh-CN" sz="3500" dirty="0">
                <a:latin typeface="Times New Roman" pitchFamily="18" charset="0"/>
              </a:rPr>
              <a:t>), (</a:t>
            </a:r>
            <a:r>
              <a:rPr lang="en-US" altLang="zh-CN" sz="3500" i="1" dirty="0">
                <a:latin typeface="Times New Roman" pitchFamily="18" charset="0"/>
              </a:rPr>
              <a:t>b</a:t>
            </a:r>
            <a:r>
              <a:rPr lang="en-US" altLang="zh-CN" sz="3500" dirty="0">
                <a:latin typeface="Times New Roman" pitchFamily="18" charset="0"/>
              </a:rPr>
              <a:t>, </a:t>
            </a:r>
            <a:r>
              <a:rPr lang="en-US" altLang="zh-CN" sz="3500" i="1" dirty="0">
                <a:latin typeface="Times New Roman" pitchFamily="18" charset="0"/>
              </a:rPr>
              <a:t>c</a:t>
            </a:r>
            <a:r>
              <a:rPr lang="en-US" altLang="zh-CN" sz="3500" dirty="0">
                <a:latin typeface="Times New Roman" pitchFamily="18" charset="0"/>
              </a:rPr>
              <a:t>), (</a:t>
            </a:r>
            <a:r>
              <a:rPr lang="en-US" altLang="zh-CN" sz="3500" i="1" dirty="0">
                <a:latin typeface="Times New Roman" pitchFamily="18" charset="0"/>
              </a:rPr>
              <a:t>d</a:t>
            </a:r>
            <a:r>
              <a:rPr lang="en-US" altLang="zh-CN" sz="3500" dirty="0">
                <a:latin typeface="Times New Roman" pitchFamily="18" charset="0"/>
              </a:rPr>
              <a:t>, </a:t>
            </a:r>
            <a:r>
              <a:rPr lang="en-US" altLang="zh-CN" sz="3500" i="1" dirty="0">
                <a:latin typeface="Times New Roman" pitchFamily="18" charset="0"/>
              </a:rPr>
              <a:t>c</a:t>
            </a:r>
            <a:r>
              <a:rPr lang="en-US" altLang="zh-CN" sz="3500" dirty="0">
                <a:latin typeface="Times New Roman" pitchFamily="18" charset="0"/>
              </a:rPr>
              <a:t>)}</a:t>
            </a:r>
            <a:r>
              <a:rPr lang="zh-CN" altLang="en-US" sz="3500" dirty="0">
                <a:latin typeface="楷体" panose="02010609060101010101" pitchFamily="49" charset="-122"/>
                <a:ea typeface="楷体" panose="02010609060101010101" pitchFamily="49" charset="-122"/>
              </a:rPr>
              <a:t>反对称</a:t>
            </a:r>
            <a:r>
              <a:rPr lang="en-US" altLang="zh-CN" sz="3500" dirty="0">
                <a:latin typeface="Times New Roman" pitchFamily="18" charset="0"/>
              </a:rPr>
              <a:t>?</a:t>
            </a:r>
          </a:p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p:sp>
        <p:nvSpPr>
          <p:cNvPr id="71684" name="Oval 3"/>
          <p:cNvSpPr>
            <a:spLocks noChangeArrowheads="1"/>
          </p:cNvSpPr>
          <p:nvPr/>
        </p:nvSpPr>
        <p:spPr bwMode="auto">
          <a:xfrm>
            <a:off x="3059113" y="2205038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5" name="Oval 4"/>
          <p:cNvSpPr>
            <a:spLocks noChangeArrowheads="1"/>
          </p:cNvSpPr>
          <p:nvPr/>
        </p:nvSpPr>
        <p:spPr bwMode="auto">
          <a:xfrm>
            <a:off x="4716463" y="2205038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6" name="Oval 5"/>
          <p:cNvSpPr>
            <a:spLocks noChangeArrowheads="1"/>
          </p:cNvSpPr>
          <p:nvPr/>
        </p:nvSpPr>
        <p:spPr bwMode="auto">
          <a:xfrm>
            <a:off x="3059113" y="3716338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7" name="Oval 6"/>
          <p:cNvSpPr>
            <a:spLocks noChangeArrowheads="1"/>
          </p:cNvSpPr>
          <p:nvPr/>
        </p:nvSpPr>
        <p:spPr bwMode="auto">
          <a:xfrm>
            <a:off x="4716463" y="3716338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1688" name="Object 7"/>
          <p:cNvGraphicFramePr>
            <a:graphicFrameLocks noChangeAspect="1"/>
          </p:cNvGraphicFramePr>
          <p:nvPr/>
        </p:nvGraphicFramePr>
        <p:xfrm>
          <a:off x="2555875" y="2133600"/>
          <a:ext cx="31432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9" imgH="57240" progId="Equation.3">
                  <p:embed/>
                </p:oleObj>
              </mc:Choice>
              <mc:Fallback>
                <p:oleObj name="Equation" r:id="rId2" imgW="38089" imgH="57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133600"/>
                        <a:ext cx="31432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9" name="Object 8"/>
          <p:cNvGraphicFramePr>
            <a:graphicFrameLocks noChangeAspect="1"/>
          </p:cNvGraphicFramePr>
          <p:nvPr/>
        </p:nvGraphicFramePr>
        <p:xfrm>
          <a:off x="5076825" y="2014538"/>
          <a:ext cx="3143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089" imgH="95310" progId="Equation.3">
                  <p:embed/>
                </p:oleObj>
              </mc:Choice>
              <mc:Fallback>
                <p:oleObj name="公式" r:id="rId4" imgW="38089" imgH="9531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2014538"/>
                        <a:ext cx="3143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0" name="Object 9"/>
          <p:cNvGraphicFramePr>
            <a:graphicFrameLocks noChangeAspect="1"/>
          </p:cNvGraphicFramePr>
          <p:nvPr/>
        </p:nvGraphicFramePr>
        <p:xfrm>
          <a:off x="2643188" y="3619500"/>
          <a:ext cx="282575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8634" imgH="57240" progId="Equation.3">
                  <p:embed/>
                </p:oleObj>
              </mc:Choice>
              <mc:Fallback>
                <p:oleObj name="公式" r:id="rId6" imgW="28634" imgH="572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3619500"/>
                        <a:ext cx="282575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1" name="Object 10"/>
          <p:cNvGraphicFramePr>
            <a:graphicFrameLocks noChangeAspect="1"/>
          </p:cNvGraphicFramePr>
          <p:nvPr/>
        </p:nvGraphicFramePr>
        <p:xfrm>
          <a:off x="4987925" y="3573463"/>
          <a:ext cx="3460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7268" imgH="95310" progId="Equation.3">
                  <p:embed/>
                </p:oleObj>
              </mc:Choice>
              <mc:Fallback>
                <p:oleObj name="公式" r:id="rId8" imgW="57268" imgH="9531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7925" y="3573463"/>
                        <a:ext cx="3460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2" name="Line 11"/>
          <p:cNvSpPr>
            <a:spLocks noChangeShapeType="1"/>
          </p:cNvSpPr>
          <p:nvPr/>
        </p:nvSpPr>
        <p:spPr bwMode="auto">
          <a:xfrm>
            <a:off x="3203575" y="2276475"/>
            <a:ext cx="14398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3" name="Line 12"/>
          <p:cNvSpPr>
            <a:spLocks noChangeShapeType="1"/>
          </p:cNvSpPr>
          <p:nvPr/>
        </p:nvSpPr>
        <p:spPr bwMode="auto">
          <a:xfrm flipH="1">
            <a:off x="3203575" y="2420938"/>
            <a:ext cx="1439863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4" name="Line 13"/>
          <p:cNvSpPr>
            <a:spLocks noChangeShapeType="1"/>
          </p:cNvSpPr>
          <p:nvPr/>
        </p:nvSpPr>
        <p:spPr bwMode="auto">
          <a:xfrm flipH="1">
            <a:off x="3348038" y="3789363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5" name="Freeform 14"/>
          <p:cNvSpPr>
            <a:spLocks/>
          </p:cNvSpPr>
          <p:nvPr/>
        </p:nvSpPr>
        <p:spPr bwMode="auto">
          <a:xfrm>
            <a:off x="2111375" y="1663700"/>
            <a:ext cx="1020763" cy="1212850"/>
          </a:xfrm>
          <a:custGeom>
            <a:avLst/>
            <a:gdLst>
              <a:gd name="T0" fmla="*/ 2147483647 w 643"/>
              <a:gd name="T1" fmla="*/ 2147483647 h 764"/>
              <a:gd name="T2" fmla="*/ 2147483647 w 643"/>
              <a:gd name="T3" fmla="*/ 2147483647 h 764"/>
              <a:gd name="T4" fmla="*/ 2147483647 w 643"/>
              <a:gd name="T5" fmla="*/ 2147483647 h 764"/>
              <a:gd name="T6" fmla="*/ 2147483647 w 643"/>
              <a:gd name="T7" fmla="*/ 2147483647 h 764"/>
              <a:gd name="T8" fmla="*/ 2147483647 w 643"/>
              <a:gd name="T9" fmla="*/ 2147483647 h 764"/>
              <a:gd name="T10" fmla="*/ 2147483647 w 643"/>
              <a:gd name="T11" fmla="*/ 2147483647 h 76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43"/>
              <a:gd name="T19" fmla="*/ 0 h 764"/>
              <a:gd name="T20" fmla="*/ 643 w 643"/>
              <a:gd name="T21" fmla="*/ 764 h 76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43" h="764">
                <a:moveTo>
                  <a:pt x="643" y="341"/>
                </a:moveTo>
                <a:cubicBezTo>
                  <a:pt x="578" y="193"/>
                  <a:pt x="514" y="46"/>
                  <a:pt x="416" y="23"/>
                </a:cubicBezTo>
                <a:cubicBezTo>
                  <a:pt x="318" y="0"/>
                  <a:pt x="106" y="114"/>
                  <a:pt x="53" y="205"/>
                </a:cubicBezTo>
                <a:cubicBezTo>
                  <a:pt x="0" y="296"/>
                  <a:pt x="39" y="477"/>
                  <a:pt x="99" y="568"/>
                </a:cubicBezTo>
                <a:cubicBezTo>
                  <a:pt x="159" y="659"/>
                  <a:pt x="333" y="764"/>
                  <a:pt x="416" y="749"/>
                </a:cubicBezTo>
                <a:cubicBezTo>
                  <a:pt x="499" y="734"/>
                  <a:pt x="548" y="605"/>
                  <a:pt x="597" y="477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6" name="Freeform 15"/>
          <p:cNvSpPr>
            <a:spLocks/>
          </p:cNvSpPr>
          <p:nvPr/>
        </p:nvSpPr>
        <p:spPr bwMode="auto">
          <a:xfrm>
            <a:off x="4787900" y="1473200"/>
            <a:ext cx="1127125" cy="1200150"/>
          </a:xfrm>
          <a:custGeom>
            <a:avLst/>
            <a:gdLst>
              <a:gd name="T0" fmla="*/ 0 w 710"/>
              <a:gd name="T1" fmla="*/ 2147483647 h 756"/>
              <a:gd name="T2" fmla="*/ 2147483647 w 710"/>
              <a:gd name="T3" fmla="*/ 2147483647 h 756"/>
              <a:gd name="T4" fmla="*/ 2147483647 w 710"/>
              <a:gd name="T5" fmla="*/ 2147483647 h 756"/>
              <a:gd name="T6" fmla="*/ 2147483647 w 710"/>
              <a:gd name="T7" fmla="*/ 2147483647 h 756"/>
              <a:gd name="T8" fmla="*/ 2147483647 w 710"/>
              <a:gd name="T9" fmla="*/ 2147483647 h 7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10"/>
              <a:gd name="T16" fmla="*/ 0 h 756"/>
              <a:gd name="T17" fmla="*/ 710 w 710"/>
              <a:gd name="T18" fmla="*/ 756 h 7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10" h="756">
                <a:moveTo>
                  <a:pt x="0" y="461"/>
                </a:moveTo>
                <a:cubicBezTo>
                  <a:pt x="11" y="237"/>
                  <a:pt x="23" y="14"/>
                  <a:pt x="136" y="7"/>
                </a:cubicBezTo>
                <a:cubicBezTo>
                  <a:pt x="249" y="0"/>
                  <a:pt x="650" y="295"/>
                  <a:pt x="680" y="416"/>
                </a:cubicBezTo>
                <a:cubicBezTo>
                  <a:pt x="710" y="537"/>
                  <a:pt x="424" y="710"/>
                  <a:pt x="318" y="733"/>
                </a:cubicBezTo>
                <a:cubicBezTo>
                  <a:pt x="212" y="756"/>
                  <a:pt x="128" y="654"/>
                  <a:pt x="45" y="552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F0675440-44FE-40F9-922D-5F6AC0B8DA75}" type="slidenum">
              <a:rPr lang="zh-CN" altLang="en-US"/>
              <a:pPr>
                <a:defRPr/>
              </a:pPr>
              <a:t>19</a:t>
            </a:fld>
            <a:r>
              <a:rPr lang="zh-CN" altLang="en-US"/>
              <a:t>页</a:t>
            </a:r>
          </a:p>
        </p:txBody>
      </p:sp>
      <p:sp>
        <p:nvSpPr>
          <p:cNvPr id="72707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上的整除关系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不是反对称的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lvl="1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2|-2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-2|2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上的包含关系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是反对称的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上的小于等于关系是反对称的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上的小于关系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&lt;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是反对称的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?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8CBADAEE-C751-49ED-9D7A-97394D1AB6B0}" type="slidenum">
              <a:rPr lang="zh-CN" altLang="en-US"/>
              <a:pPr>
                <a:defRPr/>
              </a:pPr>
              <a:t>20</a:t>
            </a:fld>
            <a:r>
              <a:rPr lang="zh-CN" altLang="en-US"/>
              <a:t>页</a:t>
            </a:r>
          </a:p>
        </p:txBody>
      </p:sp>
      <p:sp>
        <p:nvSpPr>
          <p:cNvPr id="73731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Theorem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反对称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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i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如何根据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的关系图及关系矩阵去判断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是否反对称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19220628-734B-4703-9923-486C9B82A303}" type="slidenum">
              <a:rPr lang="zh-CN" altLang="en-US"/>
              <a:pPr>
                <a:defRPr/>
              </a:pPr>
              <a:t>21</a:t>
            </a:fld>
            <a:r>
              <a:rPr lang="zh-CN" altLang="en-US"/>
              <a:t>页</a:t>
            </a:r>
          </a:p>
        </p:txBody>
      </p:sp>
      <p:sp>
        <p:nvSpPr>
          <p:cNvPr id="74755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思考</a:t>
            </a:r>
            <a:r>
              <a:rPr lang="zh-CN" altLang="en-US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的对称关系与反对称关系的区别与联系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既对称又反对称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对称但不是反对称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(3)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不是对称的但是反对称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(4)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既不是对称的又不是反对称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392EA639-29A2-4E7F-B993-F438C5897281}" type="slidenum">
              <a:rPr lang="zh-CN" altLang="en-US"/>
              <a:pPr>
                <a:defRPr/>
              </a:pPr>
              <a:t>22</a:t>
            </a:fld>
            <a:r>
              <a:rPr lang="zh-CN" altLang="en-US"/>
              <a:t>页</a:t>
            </a: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itchFamily="18" charset="0"/>
              </a:rPr>
              <a:t>2.3</a:t>
            </a:r>
            <a:r>
              <a:rPr lang="en-US" altLang="zh-CN"/>
              <a:t> </a:t>
            </a:r>
            <a:r>
              <a:rPr lang="zh-CN" altLang="en-US"/>
              <a:t>关系的性质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zh-CN"/>
          </a:p>
          <a:p>
            <a:pPr eaLnBrk="1" hangingPunct="1">
              <a:buFontTx/>
              <a:buNone/>
            </a:pPr>
            <a:endParaRPr lang="en-US" altLang="zh-CN"/>
          </a:p>
        </p:txBody>
      </p:sp>
      <p:grpSp>
        <p:nvGrpSpPr>
          <p:cNvPr id="69637" name="Group 4"/>
          <p:cNvGrpSpPr>
            <a:grpSpLocks/>
          </p:cNvGrpSpPr>
          <p:nvPr/>
        </p:nvGrpSpPr>
        <p:grpSpPr bwMode="auto">
          <a:xfrm>
            <a:off x="1042988" y="1125538"/>
            <a:ext cx="5545137" cy="712787"/>
            <a:chOff x="1152" y="1101"/>
            <a:chExt cx="3408" cy="449"/>
          </a:xfrm>
        </p:grpSpPr>
        <p:grpSp>
          <p:nvGrpSpPr>
            <p:cNvPr id="69671" name="Group 5"/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69675" name="AutoShape 6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676" name="AutoShape 7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088" name="AutoShape 8"/>
              <p:cNvSpPr>
                <a:spLocks noChangeArrowheads="1"/>
              </p:cNvSpPr>
              <p:nvPr/>
            </p:nvSpPr>
            <p:spPr bwMode="gray">
              <a:xfrm>
                <a:off x="1201" y="2737"/>
                <a:ext cx="1348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6967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73" name="Text Box 10"/>
            <p:cNvSpPr txBox="1">
              <a:spLocks noChangeArrowheads="1"/>
            </p:cNvSpPr>
            <p:nvPr/>
          </p:nvSpPr>
          <p:spPr bwMode="auto">
            <a:xfrm>
              <a:off x="2112" y="1101"/>
              <a:ext cx="86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000000"/>
                  </a:solidFill>
                </a:rPr>
                <a:t>自反性</a:t>
              </a:r>
            </a:p>
          </p:txBody>
        </p:sp>
        <p:sp>
          <p:nvSpPr>
            <p:cNvPr id="69674" name="Text Box 11"/>
            <p:cNvSpPr txBox="1">
              <a:spLocks noChangeArrowheads="1"/>
            </p:cNvSpPr>
            <p:nvPr/>
          </p:nvSpPr>
          <p:spPr bwMode="gray">
            <a:xfrm>
              <a:off x="1269" y="1132"/>
              <a:ext cx="23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69638" name="Group 12"/>
          <p:cNvGrpSpPr>
            <a:grpSpLocks/>
          </p:cNvGrpSpPr>
          <p:nvPr/>
        </p:nvGrpSpPr>
        <p:grpSpPr bwMode="auto">
          <a:xfrm>
            <a:off x="1042988" y="2133600"/>
            <a:ext cx="5545137" cy="760413"/>
            <a:chOff x="1152" y="1677"/>
            <a:chExt cx="3408" cy="449"/>
          </a:xfrm>
        </p:grpSpPr>
        <p:grpSp>
          <p:nvGrpSpPr>
            <p:cNvPr id="69664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69668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669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096" name="AutoShape 16"/>
              <p:cNvSpPr>
                <a:spLocks noChangeArrowheads="1"/>
              </p:cNvSpPr>
              <p:nvPr/>
            </p:nvSpPr>
            <p:spPr bwMode="gray">
              <a:xfrm>
                <a:off x="3265" y="2735"/>
                <a:ext cx="1348" cy="1170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69665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66" name="Text Box 18"/>
            <p:cNvSpPr txBox="1">
              <a:spLocks noChangeArrowheads="1"/>
            </p:cNvSpPr>
            <p:nvPr/>
          </p:nvSpPr>
          <p:spPr bwMode="auto">
            <a:xfrm>
              <a:off x="2112" y="1677"/>
              <a:ext cx="1140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000000"/>
                  </a:solidFill>
                </a:rPr>
                <a:t>反自反性</a:t>
              </a:r>
            </a:p>
          </p:txBody>
        </p:sp>
        <p:sp>
          <p:nvSpPr>
            <p:cNvPr id="69667" name="Text Box 19"/>
            <p:cNvSpPr txBox="1">
              <a:spLocks noChangeArrowheads="1"/>
            </p:cNvSpPr>
            <p:nvPr/>
          </p:nvSpPr>
          <p:spPr bwMode="gray">
            <a:xfrm>
              <a:off x="1269" y="1708"/>
              <a:ext cx="238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</p:grpSp>
      <p:grpSp>
        <p:nvGrpSpPr>
          <p:cNvPr id="69639" name="Group 20"/>
          <p:cNvGrpSpPr>
            <a:grpSpLocks/>
          </p:cNvGrpSpPr>
          <p:nvPr/>
        </p:nvGrpSpPr>
        <p:grpSpPr bwMode="auto">
          <a:xfrm>
            <a:off x="1042988" y="3068638"/>
            <a:ext cx="5545137" cy="712787"/>
            <a:chOff x="1152" y="2239"/>
            <a:chExt cx="3408" cy="449"/>
          </a:xfrm>
        </p:grpSpPr>
        <p:grpSp>
          <p:nvGrpSpPr>
            <p:cNvPr id="69657" name="Group 21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69661" name="AutoShape 22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662" name="AutoShape 23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104" name="AutoShape 24"/>
              <p:cNvSpPr>
                <a:spLocks noChangeArrowheads="1"/>
              </p:cNvSpPr>
              <p:nvPr/>
            </p:nvSpPr>
            <p:spPr bwMode="gray">
              <a:xfrm>
                <a:off x="1201" y="2737"/>
                <a:ext cx="1348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69658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59" name="Text Box 26"/>
            <p:cNvSpPr txBox="1">
              <a:spLocks noChangeArrowheads="1"/>
            </p:cNvSpPr>
            <p:nvPr/>
          </p:nvSpPr>
          <p:spPr bwMode="auto">
            <a:xfrm>
              <a:off x="2112" y="2239"/>
              <a:ext cx="8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000000"/>
                  </a:solidFill>
                </a:rPr>
                <a:t>对称性</a:t>
              </a:r>
            </a:p>
          </p:txBody>
        </p:sp>
        <p:sp>
          <p:nvSpPr>
            <p:cNvPr id="69660" name="Text Box 27"/>
            <p:cNvSpPr txBox="1">
              <a:spLocks noChangeArrowheads="1"/>
            </p:cNvSpPr>
            <p:nvPr/>
          </p:nvSpPr>
          <p:spPr bwMode="gray">
            <a:xfrm>
              <a:off x="1284" y="2332"/>
              <a:ext cx="2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</p:grpSp>
      <p:grpSp>
        <p:nvGrpSpPr>
          <p:cNvPr id="69640" name="Group 28"/>
          <p:cNvGrpSpPr>
            <a:grpSpLocks/>
          </p:cNvGrpSpPr>
          <p:nvPr/>
        </p:nvGrpSpPr>
        <p:grpSpPr bwMode="auto">
          <a:xfrm>
            <a:off x="1042988" y="4076700"/>
            <a:ext cx="5545137" cy="720725"/>
            <a:chOff x="1152" y="2815"/>
            <a:chExt cx="3408" cy="449"/>
          </a:xfrm>
        </p:grpSpPr>
        <p:grpSp>
          <p:nvGrpSpPr>
            <p:cNvPr id="69650" name="Group 29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69654" name="AutoShape 30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655" name="AutoShape 31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112" name="AutoShape 32"/>
              <p:cNvSpPr>
                <a:spLocks noChangeArrowheads="1"/>
              </p:cNvSpPr>
              <p:nvPr/>
            </p:nvSpPr>
            <p:spPr bwMode="gray">
              <a:xfrm>
                <a:off x="3265" y="2735"/>
                <a:ext cx="1348" cy="1170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69651" name="Line 33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52" name="Text Box 34"/>
            <p:cNvSpPr txBox="1">
              <a:spLocks noChangeArrowheads="1"/>
            </p:cNvSpPr>
            <p:nvPr/>
          </p:nvSpPr>
          <p:spPr bwMode="auto">
            <a:xfrm>
              <a:off x="2112" y="2815"/>
              <a:ext cx="1140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000000"/>
                  </a:solidFill>
                </a:rPr>
                <a:t>反对称性</a:t>
              </a:r>
            </a:p>
          </p:txBody>
        </p:sp>
        <p:sp>
          <p:nvSpPr>
            <p:cNvPr id="69653" name="Text Box 35"/>
            <p:cNvSpPr txBox="1">
              <a:spLocks noChangeArrowheads="1"/>
            </p:cNvSpPr>
            <p:nvPr/>
          </p:nvSpPr>
          <p:spPr bwMode="gray">
            <a:xfrm>
              <a:off x="1284" y="2908"/>
              <a:ext cx="20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</a:p>
          </p:txBody>
        </p:sp>
      </p:grpSp>
      <p:grpSp>
        <p:nvGrpSpPr>
          <p:cNvPr id="69641" name="Group 36"/>
          <p:cNvGrpSpPr>
            <a:grpSpLocks/>
          </p:cNvGrpSpPr>
          <p:nvPr/>
        </p:nvGrpSpPr>
        <p:grpSpPr bwMode="auto">
          <a:xfrm>
            <a:off x="1116013" y="5013325"/>
            <a:ext cx="5543550" cy="712788"/>
            <a:chOff x="1152" y="2239"/>
            <a:chExt cx="3408" cy="449"/>
          </a:xfrm>
        </p:grpSpPr>
        <p:grpSp>
          <p:nvGrpSpPr>
            <p:cNvPr id="69643" name="Group 37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69647" name="AutoShape 3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648" name="AutoShape 3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120" name="AutoShape 40"/>
              <p:cNvSpPr>
                <a:spLocks noChangeArrowheads="1"/>
              </p:cNvSpPr>
              <p:nvPr/>
            </p:nvSpPr>
            <p:spPr bwMode="gray">
              <a:xfrm>
                <a:off x="1201" y="2737"/>
                <a:ext cx="1348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69644" name="Line 41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45" name="Text Box 42"/>
            <p:cNvSpPr txBox="1">
              <a:spLocks noChangeArrowheads="1"/>
            </p:cNvSpPr>
            <p:nvPr/>
          </p:nvSpPr>
          <p:spPr bwMode="auto">
            <a:xfrm>
              <a:off x="2112" y="2239"/>
              <a:ext cx="86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000000"/>
                  </a:solidFill>
                </a:rPr>
                <a:t>传递性</a:t>
              </a:r>
            </a:p>
          </p:txBody>
        </p:sp>
        <p:sp>
          <p:nvSpPr>
            <p:cNvPr id="69646" name="Text Box 43"/>
            <p:cNvSpPr txBox="1">
              <a:spLocks noChangeArrowheads="1"/>
            </p:cNvSpPr>
            <p:nvPr/>
          </p:nvSpPr>
          <p:spPr bwMode="gray">
            <a:xfrm>
              <a:off x="1284" y="2332"/>
              <a:ext cx="2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5</a:t>
              </a:r>
            </a:p>
          </p:txBody>
        </p:sp>
      </p:grpSp>
      <p:sp>
        <p:nvSpPr>
          <p:cNvPr id="69642" name="圆角矩形 1"/>
          <p:cNvSpPr>
            <a:spLocks noChangeArrowheads="1"/>
          </p:cNvSpPr>
          <p:nvPr/>
        </p:nvSpPr>
        <p:spPr bwMode="auto">
          <a:xfrm>
            <a:off x="1016000" y="4941168"/>
            <a:ext cx="4968875" cy="989732"/>
          </a:xfrm>
          <a:prstGeom prst="roundRect">
            <a:avLst>
              <a:gd name="adj" fmla="val 16667"/>
            </a:avLst>
          </a:prstGeom>
          <a:noFill/>
          <a:ln w="57150" cmpd="thinThick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681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13BF1114-75BD-459D-85CE-346E4CB1E3FC}" type="slidenum">
              <a:rPr lang="zh-CN" altLang="en-US"/>
              <a:pPr>
                <a:defRPr/>
              </a:pPr>
              <a:t>23</a:t>
            </a:fld>
            <a:r>
              <a:rPr lang="zh-CN" altLang="en-US"/>
              <a:t>页</a:t>
            </a:r>
          </a:p>
        </p:txBody>
      </p:sp>
      <p:sp>
        <p:nvSpPr>
          <p:cNvPr id="75779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2.3.5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传递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(transitive)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性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2-13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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对于任意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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若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y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 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且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z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 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均有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z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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上的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传递关系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或称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是传递的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或称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具有传递性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0C596063-7A05-40FE-B1F8-60AA5415CD66}" type="slidenum">
              <a:rPr lang="zh-CN" altLang="en-US"/>
              <a:pPr>
                <a:defRPr/>
              </a:pPr>
              <a:t>24</a:t>
            </a:fld>
            <a:r>
              <a:rPr lang="zh-CN" altLang="en-US"/>
              <a:t>页</a:t>
            </a:r>
          </a:p>
        </p:txBody>
      </p:sp>
      <p:sp>
        <p:nvSpPr>
          <p:cNvPr id="76803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latin typeface="Times New Roman" pitchFamily="18" charset="0"/>
                <a:ea typeface="华文新魏" pitchFamily="2" charset="-122"/>
              </a:rPr>
              <a:t>例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2-29 </a:t>
            </a: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 = {</a:t>
            </a: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, </a:t>
            </a: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, </a:t>
            </a: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c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, </a:t>
            </a:r>
            <a:r>
              <a:rPr lang="en-US" altLang="zh-CN" i="1" dirty="0">
                <a:latin typeface="Times New Roman" pitchFamily="18" charset="0"/>
                <a:ea typeface="华文新魏" pitchFamily="2" charset="-122"/>
              </a:rPr>
              <a:t>d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}, </a:t>
            </a:r>
          </a:p>
          <a:p>
            <a:pPr eaLnBrk="1" hangingPunct="1">
              <a:buFontTx/>
              <a:buNone/>
            </a:pPr>
            <a:r>
              <a:rPr lang="en-US" altLang="zh-CN" sz="3200" i="1" dirty="0">
                <a:latin typeface="Times New Roman" pitchFamily="18" charset="0"/>
              </a:rPr>
              <a:t>R</a:t>
            </a:r>
            <a:r>
              <a:rPr lang="en-US" altLang="zh-CN" sz="3200" dirty="0">
                <a:latin typeface="Times New Roman" pitchFamily="18" charset="0"/>
              </a:rPr>
              <a:t> ={(</a:t>
            </a:r>
            <a:r>
              <a:rPr lang="en-US" altLang="zh-CN" sz="3200" i="1" dirty="0">
                <a:latin typeface="Times New Roman" pitchFamily="18" charset="0"/>
              </a:rPr>
              <a:t>a</a:t>
            </a:r>
            <a:r>
              <a:rPr lang="en-US" altLang="zh-CN" sz="3200" dirty="0">
                <a:latin typeface="Times New Roman" pitchFamily="18" charset="0"/>
              </a:rPr>
              <a:t>, </a:t>
            </a:r>
            <a:r>
              <a:rPr lang="en-US" altLang="zh-CN" sz="3200" i="1" dirty="0">
                <a:latin typeface="Times New Roman" pitchFamily="18" charset="0"/>
              </a:rPr>
              <a:t>a</a:t>
            </a:r>
            <a:r>
              <a:rPr lang="en-US" altLang="zh-CN" sz="3200" dirty="0">
                <a:latin typeface="Times New Roman" pitchFamily="18" charset="0"/>
              </a:rPr>
              <a:t>), (</a:t>
            </a:r>
            <a:r>
              <a:rPr lang="en-US" altLang="zh-CN" sz="3200" i="1" dirty="0">
                <a:latin typeface="Times New Roman" pitchFamily="18" charset="0"/>
              </a:rPr>
              <a:t>a</a:t>
            </a:r>
            <a:r>
              <a:rPr lang="en-US" altLang="zh-CN" sz="3200" dirty="0">
                <a:latin typeface="Times New Roman" pitchFamily="18" charset="0"/>
              </a:rPr>
              <a:t>, </a:t>
            </a:r>
            <a:r>
              <a:rPr lang="en-US" altLang="zh-CN" sz="3200" i="1" dirty="0">
                <a:latin typeface="Times New Roman" pitchFamily="18" charset="0"/>
              </a:rPr>
              <a:t>b</a:t>
            </a:r>
            <a:r>
              <a:rPr lang="en-US" altLang="zh-CN" sz="3200" dirty="0">
                <a:latin typeface="Times New Roman" pitchFamily="18" charset="0"/>
              </a:rPr>
              <a:t>), (</a:t>
            </a:r>
            <a:r>
              <a:rPr lang="en-US" altLang="zh-CN" sz="3200" i="1" dirty="0">
                <a:latin typeface="Times New Roman" pitchFamily="18" charset="0"/>
              </a:rPr>
              <a:t>b</a:t>
            </a:r>
            <a:r>
              <a:rPr lang="en-US" altLang="zh-CN" sz="3200" dirty="0">
                <a:latin typeface="Times New Roman" pitchFamily="18" charset="0"/>
              </a:rPr>
              <a:t>, </a:t>
            </a:r>
            <a:r>
              <a:rPr lang="en-US" altLang="zh-CN" sz="3200" i="1" dirty="0">
                <a:latin typeface="Times New Roman" pitchFamily="18" charset="0"/>
              </a:rPr>
              <a:t>b</a:t>
            </a:r>
            <a:r>
              <a:rPr lang="en-US" altLang="zh-CN" sz="3200" dirty="0">
                <a:latin typeface="Times New Roman" pitchFamily="18" charset="0"/>
              </a:rPr>
              <a:t>), (</a:t>
            </a:r>
            <a:r>
              <a:rPr lang="en-US" altLang="zh-CN" sz="3200" i="1" dirty="0">
                <a:latin typeface="Times New Roman" pitchFamily="18" charset="0"/>
              </a:rPr>
              <a:t>b</a:t>
            </a:r>
            <a:r>
              <a:rPr lang="en-US" altLang="zh-CN" sz="3200" dirty="0">
                <a:latin typeface="Times New Roman" pitchFamily="18" charset="0"/>
              </a:rPr>
              <a:t>, </a:t>
            </a:r>
            <a:r>
              <a:rPr lang="en-US" altLang="zh-CN" sz="3200" i="1" dirty="0">
                <a:latin typeface="Times New Roman" pitchFamily="18" charset="0"/>
              </a:rPr>
              <a:t>c</a:t>
            </a:r>
            <a:r>
              <a:rPr lang="en-US" altLang="zh-CN" sz="3200" dirty="0">
                <a:latin typeface="Times New Roman" pitchFamily="18" charset="0"/>
              </a:rPr>
              <a:t>), (</a:t>
            </a:r>
            <a:r>
              <a:rPr lang="en-US" altLang="zh-CN" sz="3200" i="1" dirty="0">
                <a:latin typeface="Times New Roman" pitchFamily="18" charset="0"/>
              </a:rPr>
              <a:t>a</a:t>
            </a:r>
            <a:r>
              <a:rPr lang="en-US" altLang="zh-CN" sz="3200" dirty="0">
                <a:latin typeface="Times New Roman" pitchFamily="18" charset="0"/>
              </a:rPr>
              <a:t>, </a:t>
            </a:r>
            <a:r>
              <a:rPr lang="en-US" altLang="zh-CN" sz="3200" i="1" dirty="0">
                <a:latin typeface="Times New Roman" pitchFamily="18" charset="0"/>
              </a:rPr>
              <a:t>c</a:t>
            </a:r>
            <a:r>
              <a:rPr lang="en-US" altLang="zh-CN" sz="3200" dirty="0">
                <a:latin typeface="Times New Roman" pitchFamily="18" charset="0"/>
              </a:rPr>
              <a:t>), (</a:t>
            </a:r>
            <a:r>
              <a:rPr lang="en-US" altLang="zh-CN" sz="3200" i="1" dirty="0">
                <a:latin typeface="Times New Roman" pitchFamily="18" charset="0"/>
              </a:rPr>
              <a:t>c</a:t>
            </a:r>
            <a:r>
              <a:rPr lang="en-US" altLang="zh-CN" sz="3200" dirty="0">
                <a:latin typeface="Times New Roman" pitchFamily="18" charset="0"/>
              </a:rPr>
              <a:t>, </a:t>
            </a:r>
            <a:r>
              <a:rPr lang="en-US" altLang="zh-CN" sz="3200" i="1" dirty="0">
                <a:latin typeface="Times New Roman" pitchFamily="18" charset="0"/>
              </a:rPr>
              <a:t>a</a:t>
            </a:r>
            <a:r>
              <a:rPr lang="en-US" altLang="zh-CN" sz="3200" dirty="0">
                <a:latin typeface="Times New Roman" pitchFamily="18" charset="0"/>
              </a:rPr>
              <a:t>)}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传递</a:t>
            </a:r>
            <a:r>
              <a:rPr lang="en-US" altLang="zh-CN" sz="3200" dirty="0">
                <a:latin typeface="Times New Roman" pitchFamily="18" charset="0"/>
              </a:rPr>
              <a:t>?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Hint (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)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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.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76804" name="Oval 3"/>
          <p:cNvSpPr>
            <a:spLocks noChangeArrowheads="1"/>
          </p:cNvSpPr>
          <p:nvPr/>
        </p:nvSpPr>
        <p:spPr bwMode="auto">
          <a:xfrm>
            <a:off x="3744664" y="2565400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5" name="Oval 4"/>
          <p:cNvSpPr>
            <a:spLocks noChangeArrowheads="1"/>
          </p:cNvSpPr>
          <p:nvPr/>
        </p:nvSpPr>
        <p:spPr bwMode="auto">
          <a:xfrm>
            <a:off x="5364163" y="24923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6" name="Oval 5"/>
          <p:cNvSpPr>
            <a:spLocks noChangeArrowheads="1"/>
          </p:cNvSpPr>
          <p:nvPr/>
        </p:nvSpPr>
        <p:spPr bwMode="auto">
          <a:xfrm>
            <a:off x="3851275" y="3860800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7" name="Oval 6"/>
          <p:cNvSpPr>
            <a:spLocks noChangeArrowheads="1"/>
          </p:cNvSpPr>
          <p:nvPr/>
        </p:nvSpPr>
        <p:spPr bwMode="auto">
          <a:xfrm>
            <a:off x="5508625" y="3860800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6808" name="Object 7"/>
          <p:cNvGraphicFramePr>
            <a:graphicFrameLocks noChangeAspect="1"/>
          </p:cNvGraphicFramePr>
          <p:nvPr/>
        </p:nvGraphicFramePr>
        <p:xfrm>
          <a:off x="2987675" y="2420938"/>
          <a:ext cx="31432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9" imgH="57240" progId="Equation.3">
                  <p:embed/>
                </p:oleObj>
              </mc:Choice>
              <mc:Fallback>
                <p:oleObj name="Equation" r:id="rId2" imgW="38089" imgH="57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420938"/>
                        <a:ext cx="31432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9" name="Object 8"/>
          <p:cNvGraphicFramePr>
            <a:graphicFrameLocks noChangeAspect="1"/>
          </p:cNvGraphicFramePr>
          <p:nvPr/>
        </p:nvGraphicFramePr>
        <p:xfrm>
          <a:off x="5580063" y="2492375"/>
          <a:ext cx="31432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089" imgH="95310" progId="Equation.3">
                  <p:embed/>
                </p:oleObj>
              </mc:Choice>
              <mc:Fallback>
                <p:oleObj name="公式" r:id="rId4" imgW="38089" imgH="9531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2492375"/>
                        <a:ext cx="31432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0" name="Object 9"/>
          <p:cNvGraphicFramePr>
            <a:graphicFrameLocks noChangeAspect="1"/>
          </p:cNvGraphicFramePr>
          <p:nvPr/>
        </p:nvGraphicFramePr>
        <p:xfrm>
          <a:off x="3635375" y="4149725"/>
          <a:ext cx="284163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8634" imgH="57240" progId="Equation.3">
                  <p:embed/>
                </p:oleObj>
              </mc:Choice>
              <mc:Fallback>
                <p:oleObj name="公式" r:id="rId6" imgW="28634" imgH="572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4149725"/>
                        <a:ext cx="284163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1" name="Object 10"/>
          <p:cNvGraphicFramePr>
            <a:graphicFrameLocks noChangeAspect="1"/>
          </p:cNvGraphicFramePr>
          <p:nvPr/>
        </p:nvGraphicFramePr>
        <p:xfrm>
          <a:off x="5508625" y="4076700"/>
          <a:ext cx="3460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7268" imgH="95310" progId="Equation.3">
                  <p:embed/>
                </p:oleObj>
              </mc:Choice>
              <mc:Fallback>
                <p:oleObj name="公式" r:id="rId8" imgW="57268" imgH="9531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4076700"/>
                        <a:ext cx="34607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2" name="Freeform 11"/>
          <p:cNvSpPr>
            <a:spLocks/>
          </p:cNvSpPr>
          <p:nvPr/>
        </p:nvSpPr>
        <p:spPr bwMode="auto">
          <a:xfrm>
            <a:off x="3924300" y="2636838"/>
            <a:ext cx="287338" cy="1223962"/>
          </a:xfrm>
          <a:custGeom>
            <a:avLst/>
            <a:gdLst>
              <a:gd name="T0" fmla="*/ 0 w 181"/>
              <a:gd name="T1" fmla="*/ 0 h 771"/>
              <a:gd name="T2" fmla="*/ 2147483647 w 181"/>
              <a:gd name="T3" fmla="*/ 2147483647 h 771"/>
              <a:gd name="T4" fmla="*/ 0 w 181"/>
              <a:gd name="T5" fmla="*/ 2147483647 h 771"/>
              <a:gd name="T6" fmla="*/ 0 60000 65536"/>
              <a:gd name="T7" fmla="*/ 0 60000 65536"/>
              <a:gd name="T8" fmla="*/ 0 60000 65536"/>
              <a:gd name="T9" fmla="*/ 0 w 181"/>
              <a:gd name="T10" fmla="*/ 0 h 771"/>
              <a:gd name="T11" fmla="*/ 181 w 181"/>
              <a:gd name="T12" fmla="*/ 771 h 7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1" h="771">
                <a:moveTo>
                  <a:pt x="0" y="0"/>
                </a:moveTo>
                <a:cubicBezTo>
                  <a:pt x="90" y="117"/>
                  <a:pt x="181" y="235"/>
                  <a:pt x="181" y="363"/>
                </a:cubicBezTo>
                <a:cubicBezTo>
                  <a:pt x="181" y="491"/>
                  <a:pt x="90" y="631"/>
                  <a:pt x="0" y="77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13" name="Freeform 12"/>
          <p:cNvSpPr>
            <a:spLocks/>
          </p:cNvSpPr>
          <p:nvPr/>
        </p:nvSpPr>
        <p:spPr bwMode="auto">
          <a:xfrm rot="21306561">
            <a:off x="3544730" y="2690097"/>
            <a:ext cx="215900" cy="1152525"/>
          </a:xfrm>
          <a:custGeom>
            <a:avLst/>
            <a:gdLst>
              <a:gd name="T0" fmla="*/ 2147483647 w 136"/>
              <a:gd name="T1" fmla="*/ 2147483647 h 726"/>
              <a:gd name="T2" fmla="*/ 0 w 136"/>
              <a:gd name="T3" fmla="*/ 2147483647 h 726"/>
              <a:gd name="T4" fmla="*/ 2147483647 w 136"/>
              <a:gd name="T5" fmla="*/ 0 h 726"/>
              <a:gd name="T6" fmla="*/ 0 60000 65536"/>
              <a:gd name="T7" fmla="*/ 0 60000 65536"/>
              <a:gd name="T8" fmla="*/ 0 60000 65536"/>
              <a:gd name="T9" fmla="*/ 0 w 136"/>
              <a:gd name="T10" fmla="*/ 0 h 726"/>
              <a:gd name="T11" fmla="*/ 136 w 136"/>
              <a:gd name="T12" fmla="*/ 726 h 7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" h="726">
                <a:moveTo>
                  <a:pt x="136" y="726"/>
                </a:moveTo>
                <a:cubicBezTo>
                  <a:pt x="68" y="582"/>
                  <a:pt x="0" y="439"/>
                  <a:pt x="0" y="318"/>
                </a:cubicBezTo>
                <a:cubicBezTo>
                  <a:pt x="0" y="197"/>
                  <a:pt x="68" y="98"/>
                  <a:pt x="13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14" name="Freeform 13"/>
          <p:cNvSpPr>
            <a:spLocks/>
          </p:cNvSpPr>
          <p:nvPr/>
        </p:nvSpPr>
        <p:spPr bwMode="auto">
          <a:xfrm>
            <a:off x="3456310" y="1916113"/>
            <a:ext cx="755650" cy="708025"/>
          </a:xfrm>
          <a:custGeom>
            <a:avLst/>
            <a:gdLst>
              <a:gd name="T0" fmla="*/ 2147483647 w 476"/>
              <a:gd name="T1" fmla="*/ 2147483647 h 446"/>
              <a:gd name="T2" fmla="*/ 2147483647 w 476"/>
              <a:gd name="T3" fmla="*/ 2147483647 h 446"/>
              <a:gd name="T4" fmla="*/ 2147483647 w 476"/>
              <a:gd name="T5" fmla="*/ 2147483647 h 446"/>
              <a:gd name="T6" fmla="*/ 2147483647 w 476"/>
              <a:gd name="T7" fmla="*/ 2147483647 h 446"/>
              <a:gd name="T8" fmla="*/ 2147483647 w 476"/>
              <a:gd name="T9" fmla="*/ 2147483647 h 446"/>
              <a:gd name="T10" fmla="*/ 2147483647 w 476"/>
              <a:gd name="T11" fmla="*/ 2147483647 h 446"/>
              <a:gd name="T12" fmla="*/ 2147483647 w 476"/>
              <a:gd name="T13" fmla="*/ 2147483647 h 44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6"/>
              <a:gd name="T22" fmla="*/ 0 h 446"/>
              <a:gd name="T23" fmla="*/ 476 w 476"/>
              <a:gd name="T24" fmla="*/ 446 h 44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6" h="446">
                <a:moveTo>
                  <a:pt x="280" y="446"/>
                </a:moveTo>
                <a:cubicBezTo>
                  <a:pt x="363" y="389"/>
                  <a:pt x="446" y="333"/>
                  <a:pt x="461" y="265"/>
                </a:cubicBezTo>
                <a:cubicBezTo>
                  <a:pt x="476" y="197"/>
                  <a:pt x="430" y="76"/>
                  <a:pt x="370" y="38"/>
                </a:cubicBezTo>
                <a:cubicBezTo>
                  <a:pt x="310" y="0"/>
                  <a:pt x="158" y="23"/>
                  <a:pt x="98" y="38"/>
                </a:cubicBezTo>
                <a:cubicBezTo>
                  <a:pt x="38" y="53"/>
                  <a:pt x="14" y="84"/>
                  <a:pt x="7" y="129"/>
                </a:cubicBezTo>
                <a:cubicBezTo>
                  <a:pt x="0" y="174"/>
                  <a:pt x="23" y="265"/>
                  <a:pt x="53" y="310"/>
                </a:cubicBezTo>
                <a:cubicBezTo>
                  <a:pt x="83" y="355"/>
                  <a:pt x="136" y="378"/>
                  <a:pt x="189" y="40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15" name="Freeform 14"/>
          <p:cNvSpPr>
            <a:spLocks/>
          </p:cNvSpPr>
          <p:nvPr/>
        </p:nvSpPr>
        <p:spPr bwMode="auto">
          <a:xfrm>
            <a:off x="4932363" y="1916113"/>
            <a:ext cx="814387" cy="647700"/>
          </a:xfrm>
          <a:custGeom>
            <a:avLst/>
            <a:gdLst>
              <a:gd name="T0" fmla="*/ 2147483647 w 513"/>
              <a:gd name="T1" fmla="*/ 2147483647 h 408"/>
              <a:gd name="T2" fmla="*/ 2147483647 w 513"/>
              <a:gd name="T3" fmla="*/ 2147483647 h 408"/>
              <a:gd name="T4" fmla="*/ 2147483647 w 513"/>
              <a:gd name="T5" fmla="*/ 2147483647 h 408"/>
              <a:gd name="T6" fmla="*/ 2147483647 w 513"/>
              <a:gd name="T7" fmla="*/ 0 h 408"/>
              <a:gd name="T8" fmla="*/ 2147483647 w 513"/>
              <a:gd name="T9" fmla="*/ 2147483647 h 408"/>
              <a:gd name="T10" fmla="*/ 2147483647 w 513"/>
              <a:gd name="T11" fmla="*/ 2147483647 h 408"/>
              <a:gd name="T12" fmla="*/ 2147483647 w 513"/>
              <a:gd name="T13" fmla="*/ 2147483647 h 4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13"/>
              <a:gd name="T22" fmla="*/ 0 h 408"/>
              <a:gd name="T23" fmla="*/ 513 w 513"/>
              <a:gd name="T24" fmla="*/ 408 h 40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13" h="408">
                <a:moveTo>
                  <a:pt x="256" y="408"/>
                </a:moveTo>
                <a:cubicBezTo>
                  <a:pt x="158" y="366"/>
                  <a:pt x="60" y="325"/>
                  <a:pt x="30" y="272"/>
                </a:cubicBezTo>
                <a:cubicBezTo>
                  <a:pt x="0" y="219"/>
                  <a:pt x="30" y="135"/>
                  <a:pt x="75" y="90"/>
                </a:cubicBezTo>
                <a:cubicBezTo>
                  <a:pt x="120" y="45"/>
                  <a:pt x="234" y="0"/>
                  <a:pt x="302" y="0"/>
                </a:cubicBezTo>
                <a:cubicBezTo>
                  <a:pt x="370" y="0"/>
                  <a:pt x="453" y="37"/>
                  <a:pt x="483" y="90"/>
                </a:cubicBezTo>
                <a:cubicBezTo>
                  <a:pt x="513" y="143"/>
                  <a:pt x="498" y="271"/>
                  <a:pt x="483" y="317"/>
                </a:cubicBezTo>
                <a:cubicBezTo>
                  <a:pt x="468" y="363"/>
                  <a:pt x="430" y="363"/>
                  <a:pt x="393" y="36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16" name="Line 15"/>
          <p:cNvSpPr>
            <a:spLocks noChangeShapeType="1"/>
          </p:cNvSpPr>
          <p:nvPr/>
        </p:nvSpPr>
        <p:spPr bwMode="auto">
          <a:xfrm>
            <a:off x="3995738" y="2636838"/>
            <a:ext cx="1223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17" name="Freeform 16"/>
          <p:cNvSpPr>
            <a:spLocks/>
          </p:cNvSpPr>
          <p:nvPr/>
        </p:nvSpPr>
        <p:spPr bwMode="auto">
          <a:xfrm>
            <a:off x="4140200" y="2708275"/>
            <a:ext cx="1152525" cy="1079500"/>
          </a:xfrm>
          <a:custGeom>
            <a:avLst/>
            <a:gdLst>
              <a:gd name="T0" fmla="*/ 2147483647 w 726"/>
              <a:gd name="T1" fmla="*/ 0 h 680"/>
              <a:gd name="T2" fmla="*/ 0 w 726"/>
              <a:gd name="T3" fmla="*/ 2147483647 h 680"/>
              <a:gd name="T4" fmla="*/ 0 60000 65536"/>
              <a:gd name="T5" fmla="*/ 0 60000 65536"/>
              <a:gd name="T6" fmla="*/ 0 w 726"/>
              <a:gd name="T7" fmla="*/ 0 h 680"/>
              <a:gd name="T8" fmla="*/ 726 w 726"/>
              <a:gd name="T9" fmla="*/ 680 h 6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26" h="680">
                <a:moveTo>
                  <a:pt x="726" y="0"/>
                </a:moveTo>
                <a:cubicBezTo>
                  <a:pt x="726" y="0"/>
                  <a:pt x="363" y="340"/>
                  <a:pt x="0" y="6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B359497B-6EED-419C-871F-2E5E100967C5}" type="slidenum">
              <a:rPr lang="zh-CN" altLang="en-US"/>
              <a:pPr>
                <a:defRPr/>
              </a:pPr>
              <a:t>25</a:t>
            </a:fld>
            <a:r>
              <a:rPr lang="zh-CN" altLang="en-US"/>
              <a:t>页</a:t>
            </a:r>
          </a:p>
        </p:txBody>
      </p:sp>
      <p:sp>
        <p:nvSpPr>
          <p:cNvPr id="77827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上的整除关系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传递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40000"/>
              </a:lnSpc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上的包含关系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是传递的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?</a:t>
            </a:r>
          </a:p>
          <a:p>
            <a:pPr eaLnBrk="1" hangingPunct="1">
              <a:lnSpc>
                <a:spcPct val="14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上的小于等于关系是传递的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?</a:t>
            </a:r>
          </a:p>
          <a:p>
            <a:pPr eaLnBrk="1" hangingPunct="1">
              <a:lnSpc>
                <a:spcPct val="14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上的小于关系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&lt;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是传递的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?</a:t>
            </a:r>
          </a:p>
          <a:p>
            <a:pPr eaLnBrk="1" hangingPunct="1">
              <a:lnSpc>
                <a:spcPct val="140000"/>
              </a:lnSpc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4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父子关系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?</a:t>
            </a:r>
            <a:r>
              <a:rPr lang="zh-Hans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 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003FCB28-36F1-4389-9C5B-AA3C4B996DCB}" type="slidenum">
              <a:rPr lang="zh-CN" altLang="en-US"/>
              <a:pPr>
                <a:defRPr/>
              </a:pPr>
              <a:t>26</a:t>
            </a:fld>
            <a:r>
              <a:rPr lang="zh-CN" altLang="en-US"/>
              <a:t>页</a:t>
            </a:r>
          </a:p>
        </p:txBody>
      </p:sp>
      <p:sp>
        <p:nvSpPr>
          <p:cNvPr id="78851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Theorem 2-13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传递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◦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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Proof (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z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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◦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则存在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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使得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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z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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传递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z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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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对于任意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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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且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z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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则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z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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◦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z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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3EEE5B7A-D311-4413-87FA-0E52B96D3742}" type="slidenum">
              <a:rPr lang="zh-CN" altLang="en-US"/>
              <a:pPr>
                <a:defRPr/>
              </a:pPr>
              <a:t>27</a:t>
            </a:fld>
            <a:r>
              <a:rPr lang="zh-CN" altLang="en-US"/>
              <a:t>页</a:t>
            </a:r>
          </a:p>
        </p:txBody>
      </p:sp>
      <p:sp>
        <p:nvSpPr>
          <p:cNvPr id="79875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2-31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R</a:t>
            </a:r>
            <a:r>
              <a:rPr lang="en-US" altLang="zh-CN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{(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)}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传递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{(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)}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也传递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如何根据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的关系图及关系矩阵去判断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是否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传递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79876" name="Oval 3"/>
          <p:cNvSpPr>
            <a:spLocks noChangeArrowheads="1"/>
          </p:cNvSpPr>
          <p:nvPr/>
        </p:nvSpPr>
        <p:spPr bwMode="auto">
          <a:xfrm>
            <a:off x="3203575" y="35734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7" name="Oval 4"/>
          <p:cNvSpPr>
            <a:spLocks noChangeArrowheads="1"/>
          </p:cNvSpPr>
          <p:nvPr/>
        </p:nvSpPr>
        <p:spPr bwMode="auto">
          <a:xfrm>
            <a:off x="3851275" y="522922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8" name="Oval 5"/>
          <p:cNvSpPr>
            <a:spLocks noChangeArrowheads="1"/>
          </p:cNvSpPr>
          <p:nvPr/>
        </p:nvSpPr>
        <p:spPr bwMode="auto">
          <a:xfrm>
            <a:off x="5651500" y="458152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9" name="Line 6"/>
          <p:cNvSpPr>
            <a:spLocks noChangeShapeType="1"/>
          </p:cNvSpPr>
          <p:nvPr/>
        </p:nvSpPr>
        <p:spPr bwMode="auto">
          <a:xfrm>
            <a:off x="3348038" y="3716338"/>
            <a:ext cx="503237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80" name="Line 7"/>
          <p:cNvSpPr>
            <a:spLocks noChangeShapeType="1"/>
          </p:cNvSpPr>
          <p:nvPr/>
        </p:nvSpPr>
        <p:spPr bwMode="auto">
          <a:xfrm flipV="1">
            <a:off x="3995738" y="4797425"/>
            <a:ext cx="1728787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81" name="Line 8"/>
          <p:cNvSpPr>
            <a:spLocks noChangeShapeType="1"/>
          </p:cNvSpPr>
          <p:nvPr/>
        </p:nvSpPr>
        <p:spPr bwMode="auto">
          <a:xfrm>
            <a:off x="3348038" y="3716338"/>
            <a:ext cx="2160587" cy="863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9882" name="Object 9"/>
          <p:cNvGraphicFramePr>
            <a:graphicFrameLocks noChangeAspect="1"/>
          </p:cNvGraphicFramePr>
          <p:nvPr/>
        </p:nvGraphicFramePr>
        <p:xfrm>
          <a:off x="3635375" y="3357563"/>
          <a:ext cx="331788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9" imgH="57240" progId="Equation.3">
                  <p:embed/>
                </p:oleObj>
              </mc:Choice>
              <mc:Fallback>
                <p:oleObj name="Equation" r:id="rId2" imgW="38089" imgH="572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3357563"/>
                        <a:ext cx="331788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3" name="Object 10"/>
          <p:cNvGraphicFramePr>
            <a:graphicFrameLocks noChangeAspect="1"/>
          </p:cNvGraphicFramePr>
          <p:nvPr/>
        </p:nvGraphicFramePr>
        <p:xfrm>
          <a:off x="3348038" y="5229225"/>
          <a:ext cx="3714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268" imgH="76140" progId="Equation.3">
                  <p:embed/>
                </p:oleObj>
              </mc:Choice>
              <mc:Fallback>
                <p:oleObj name="Equation" r:id="rId4" imgW="57268" imgH="761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5229225"/>
                        <a:ext cx="3714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4" name="Object 11"/>
          <p:cNvGraphicFramePr>
            <a:graphicFrameLocks noChangeAspect="1"/>
          </p:cNvGraphicFramePr>
          <p:nvPr/>
        </p:nvGraphicFramePr>
        <p:xfrm>
          <a:off x="5867400" y="4437063"/>
          <a:ext cx="36036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089" imgH="38070" progId="Equation.3">
                  <p:embed/>
                </p:oleObj>
              </mc:Choice>
              <mc:Fallback>
                <p:oleObj name="Equation" r:id="rId6" imgW="38089" imgH="3807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437063"/>
                        <a:ext cx="360363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5" name="Object 12"/>
          <p:cNvGraphicFramePr>
            <a:graphicFrameLocks noChangeAspect="1"/>
          </p:cNvGraphicFramePr>
          <p:nvPr/>
        </p:nvGraphicFramePr>
        <p:xfrm>
          <a:off x="1979613" y="1700213"/>
          <a:ext cx="188753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76143" imgH="133380" progId="Equation.3">
                  <p:embed/>
                </p:oleObj>
              </mc:Choice>
              <mc:Fallback>
                <p:oleObj name="公式" r:id="rId8" imgW="676143" imgH="1333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700213"/>
                        <a:ext cx="188753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6" name="Object 13"/>
          <p:cNvGraphicFramePr>
            <a:graphicFrameLocks noChangeAspect="1"/>
          </p:cNvGraphicFramePr>
          <p:nvPr/>
        </p:nvGraphicFramePr>
        <p:xfrm>
          <a:off x="4932363" y="1773238"/>
          <a:ext cx="2011362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23956" imgH="133380" progId="Equation.3">
                  <p:embed/>
                </p:oleObj>
              </mc:Choice>
              <mc:Fallback>
                <p:oleObj name="公式" r:id="rId10" imgW="723956" imgH="1333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773238"/>
                        <a:ext cx="2011362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92CE3AA2-CA86-4644-A408-797DAC4343CF}" type="slidenum">
              <a:rPr lang="zh-CN" altLang="en-US"/>
              <a:pPr>
                <a:defRPr/>
              </a:pPr>
              <a:t>28</a:t>
            </a:fld>
            <a:r>
              <a:rPr lang="zh-CN" altLang="en-US"/>
              <a:t>页</a:t>
            </a:r>
          </a:p>
        </p:txBody>
      </p:sp>
      <p:sp>
        <p:nvSpPr>
          <p:cNvPr id="81923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根据所给定的关系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判断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具有哪些性质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2-32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{0, 1, 2, 3, 4, 5},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{(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)|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+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= 5}?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Solution (1)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自反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反自反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(3)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对称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(4)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反对称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(5)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传递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6149492A-E6BD-4B15-A572-721310E9F721}" type="slidenum">
              <a:rPr lang="zh-CN" altLang="en-US"/>
              <a:pPr>
                <a:defRPr/>
              </a:pPr>
              <a:t>29</a:t>
            </a:fld>
            <a:r>
              <a:rPr lang="zh-CN" altLang="en-US"/>
              <a:t>页</a:t>
            </a:r>
          </a:p>
        </p:txBody>
      </p:sp>
      <p:sp>
        <p:nvSpPr>
          <p:cNvPr id="82947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考察关系的性质与关系运算之间的关系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楷体_GB2312" pitchFamily="49" charset="-122"/>
            </a:endParaRPr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p:graphicFrame>
        <p:nvGraphicFramePr>
          <p:cNvPr id="20070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88569"/>
              </p:ext>
            </p:extLst>
          </p:nvPr>
        </p:nvGraphicFramePr>
        <p:xfrm>
          <a:off x="468313" y="1268413"/>
          <a:ext cx="7920037" cy="3832224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6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97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200" b="1" i="0" u="none" strike="noStrike" cap="none" normalizeH="0" baseline="0" dirty="0">
                        <a:ln>
                          <a:noFill/>
                        </a:ln>
                        <a:solidFill>
                          <a:srgbClr val="002E2D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自反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反自反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对称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反对称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传递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1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R</a:t>
                      </a: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sym typeface="Symbol" pitchFamily="18" charset="2"/>
                        </a:rPr>
                        <a:t></a:t>
                      </a:r>
                      <a:r>
                        <a:rPr kumimoji="0" lang="en-US" altLang="zh-CN" sz="3200" b="1" i="1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sym typeface="Symbol" pitchFamily="18" charset="2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</a:t>
                      </a:r>
                      <a:endParaRPr kumimoji="0" lang="en-US" altLang="zh-CN" sz="3200" b="1" i="0" u="none" strike="noStrike" cap="none" normalizeH="0" baseline="0">
                        <a:ln>
                          <a:noFill/>
                        </a:ln>
                        <a:solidFill>
                          <a:srgbClr val="002E2D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7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1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R</a:t>
                      </a: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sym typeface="Symbol" pitchFamily="18" charset="2"/>
                        </a:rPr>
                        <a:t></a:t>
                      </a:r>
                      <a:r>
                        <a:rPr kumimoji="0" lang="en-US" altLang="zh-CN" sz="3200" b="1" i="1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sym typeface="Symbol" pitchFamily="18" charset="2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7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1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R</a:t>
                      </a: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sym typeface="Symbol" pitchFamily="18" charset="2"/>
                        </a:rPr>
                        <a:t>-</a:t>
                      </a:r>
                      <a:r>
                        <a:rPr kumimoji="0" lang="en-US" altLang="zh-CN" sz="3200" b="1" i="1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sym typeface="Symbol" pitchFamily="18" charset="2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1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R</a:t>
                      </a:r>
                      <a:r>
                        <a:rPr kumimoji="0" lang="en-US" altLang="zh-CN" sz="32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-1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7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1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R</a:t>
                      </a: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  <a:sym typeface="Symbol" pitchFamily="18" charset="2"/>
                        </a:rPr>
                        <a:t>◦</a:t>
                      </a:r>
                      <a:r>
                        <a:rPr kumimoji="0" lang="en-US" altLang="zh-CN" sz="3200" b="1" i="1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sym typeface="Symbol" pitchFamily="18" charset="2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DF2A90A4-7002-45C8-A102-D1B2A245A419}" type="slidenum">
              <a:rPr lang="zh-CN" altLang="en-US"/>
              <a:pPr>
                <a:defRPr/>
              </a:pPr>
              <a:t>30</a:t>
            </a:fld>
            <a:r>
              <a:rPr lang="zh-CN" altLang="en-US"/>
              <a:t>页</a:t>
            </a:r>
          </a:p>
        </p:txBody>
      </p:sp>
      <p:sp>
        <p:nvSpPr>
          <p:cNvPr id="83971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2-35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上的对称关系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举例说明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◦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不一定对称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◦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对称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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◦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◦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R.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Solution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(1)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 = {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}: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latin typeface="Times New Roman" pitchFamily="18" charset="0"/>
              </a:rPr>
              <a:t>R</a:t>
            </a:r>
            <a:r>
              <a:rPr lang="en-US" altLang="zh-CN" dirty="0">
                <a:latin typeface="Times New Roman" pitchFamily="18" charset="0"/>
              </a:rPr>
              <a:t> = {(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), (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)}, </a:t>
            </a:r>
            <a:r>
              <a:rPr lang="en-US" altLang="zh-CN" i="1" dirty="0">
                <a:latin typeface="Times New Roman" pitchFamily="18" charset="0"/>
              </a:rPr>
              <a:t>S</a:t>
            </a:r>
            <a:r>
              <a:rPr lang="en-US" altLang="zh-CN" dirty="0">
                <a:latin typeface="Times New Roman" pitchFamily="18" charset="0"/>
              </a:rPr>
              <a:t> = {(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), (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)},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latin typeface="Times New Roman" pitchFamily="18" charset="0"/>
              </a:rPr>
              <a:t>R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◦ 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= {(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)}.</a:t>
            </a:r>
            <a:endParaRPr lang="en-US" altLang="zh-CN" dirty="0"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(2)</a:t>
            </a:r>
            <a:r>
              <a:rPr lang="zh-CN" altLang="en-US" dirty="0">
                <a:latin typeface="Times New Roman" pitchFamily="18" charset="0"/>
              </a:rPr>
              <a:t>利用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  <a:ea typeface="华文新魏" pitchFamily="2" charset="-122"/>
            </a:endParaRPr>
          </a:p>
        </p:txBody>
      </p:sp>
      <p:graphicFrame>
        <p:nvGraphicFramePr>
          <p:cNvPr id="83972" name="Object 3"/>
          <p:cNvGraphicFramePr>
            <a:graphicFrameLocks noChangeAspect="1"/>
          </p:cNvGraphicFramePr>
          <p:nvPr/>
        </p:nvGraphicFramePr>
        <p:xfrm>
          <a:off x="2124075" y="5661025"/>
          <a:ext cx="320516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09655" imgH="142830" progId="Equation.3">
                  <p:embed/>
                </p:oleObj>
              </mc:Choice>
              <mc:Fallback>
                <p:oleObj name="公式" r:id="rId2" imgW="1209655" imgH="1428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5661025"/>
                        <a:ext cx="3205163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6FE7B19D-140C-401F-A9EA-0E021995FF3F}" type="slidenum">
              <a:rPr lang="zh-CN" altLang="en-US"/>
              <a:pPr>
                <a:defRPr/>
              </a:pPr>
              <a:t>31</a:t>
            </a:fld>
            <a:r>
              <a:rPr lang="zh-CN" altLang="en-US"/>
              <a:t>页</a:t>
            </a:r>
          </a:p>
        </p:txBody>
      </p:sp>
      <p:sp>
        <p:nvSpPr>
          <p:cNvPr id="202754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8499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0"/>
              <a:t>小结与作业</a:t>
            </a:r>
          </a:p>
        </p:txBody>
      </p:sp>
      <p:grpSp>
        <p:nvGrpSpPr>
          <p:cNvPr id="84997" name="Group 4"/>
          <p:cNvGrpSpPr>
            <a:grpSpLocks/>
          </p:cNvGrpSpPr>
          <p:nvPr/>
        </p:nvGrpSpPr>
        <p:grpSpPr bwMode="auto">
          <a:xfrm>
            <a:off x="900113" y="1268413"/>
            <a:ext cx="5181600" cy="508000"/>
            <a:chOff x="1419" y="1480"/>
            <a:chExt cx="3575" cy="363"/>
          </a:xfrm>
        </p:grpSpPr>
        <p:grpSp>
          <p:nvGrpSpPr>
            <p:cNvPr id="85032" name="Group 5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02758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2759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chemeClr val="tx1"/>
                    </a:solidFill>
                    <a:latin typeface="Times New Roman" pitchFamily="18" charset="0"/>
                  </a:rPr>
                  <a:t>自反性</a:t>
                </a:r>
              </a:p>
            </p:txBody>
          </p:sp>
        </p:grpSp>
        <p:sp>
          <p:nvSpPr>
            <p:cNvPr id="202760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5034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4998" name="Group 10"/>
          <p:cNvGrpSpPr>
            <a:grpSpLocks/>
          </p:cNvGrpSpPr>
          <p:nvPr/>
        </p:nvGrpSpPr>
        <p:grpSpPr bwMode="auto">
          <a:xfrm>
            <a:off x="1547813" y="1989138"/>
            <a:ext cx="5181600" cy="508000"/>
            <a:chOff x="1419" y="1480"/>
            <a:chExt cx="3575" cy="363"/>
          </a:xfrm>
        </p:grpSpPr>
        <p:grpSp>
          <p:nvGrpSpPr>
            <p:cNvPr id="85027" name="Group 11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02764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2765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chemeClr val="tx1"/>
                    </a:solidFill>
                  </a:rPr>
                  <a:t>反自反性</a:t>
                </a:r>
              </a:p>
            </p:txBody>
          </p:sp>
        </p:grpSp>
        <p:sp>
          <p:nvSpPr>
            <p:cNvPr id="202766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5029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4999" name="Group 16"/>
          <p:cNvGrpSpPr>
            <a:grpSpLocks/>
          </p:cNvGrpSpPr>
          <p:nvPr/>
        </p:nvGrpSpPr>
        <p:grpSpPr bwMode="auto">
          <a:xfrm>
            <a:off x="2051050" y="3500438"/>
            <a:ext cx="5181600" cy="508000"/>
            <a:chOff x="1419" y="1480"/>
            <a:chExt cx="3575" cy="363"/>
          </a:xfrm>
        </p:grpSpPr>
        <p:grpSp>
          <p:nvGrpSpPr>
            <p:cNvPr id="85022" name="Group 17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02770" name="Oval 18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2771" name="AutoShape 19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chemeClr val="tx1"/>
                    </a:solidFill>
                  </a:rPr>
                  <a:t>反对称性</a:t>
                </a:r>
              </a:p>
            </p:txBody>
          </p:sp>
        </p:grpSp>
        <p:sp>
          <p:nvSpPr>
            <p:cNvPr id="202772" name="Oval 20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5024" name="Oval 21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5000" name="Group 22"/>
          <p:cNvGrpSpPr>
            <a:grpSpLocks/>
          </p:cNvGrpSpPr>
          <p:nvPr/>
        </p:nvGrpSpPr>
        <p:grpSpPr bwMode="auto">
          <a:xfrm>
            <a:off x="1835150" y="4292600"/>
            <a:ext cx="5181600" cy="508000"/>
            <a:chOff x="1419" y="1480"/>
            <a:chExt cx="3575" cy="363"/>
          </a:xfrm>
        </p:grpSpPr>
        <p:grpSp>
          <p:nvGrpSpPr>
            <p:cNvPr id="85017" name="Group 23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02776" name="Oval 24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2777" name="AutoShape 25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chemeClr val="tx1"/>
                    </a:solidFill>
                  </a:rPr>
                  <a:t>传递性</a:t>
                </a:r>
              </a:p>
            </p:txBody>
          </p:sp>
        </p:grpSp>
        <p:sp>
          <p:nvSpPr>
            <p:cNvPr id="202778" name="Oval 26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5019" name="Oval 27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5001" name="AutoShape 28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</a:pPr>
            <a:endParaRPr kumimoji="1" lang="zh-CN" altLang="zh-CN" sz="2400">
              <a:solidFill>
                <a:schemeClr val="tx2"/>
              </a:solidFill>
              <a:ea typeface="Gulim" pitchFamily="34" charset="-127"/>
            </a:endParaRPr>
          </a:p>
        </p:txBody>
      </p:sp>
      <p:grpSp>
        <p:nvGrpSpPr>
          <p:cNvPr id="85003" name="Group 30"/>
          <p:cNvGrpSpPr>
            <a:grpSpLocks/>
          </p:cNvGrpSpPr>
          <p:nvPr/>
        </p:nvGrpSpPr>
        <p:grpSpPr bwMode="auto">
          <a:xfrm>
            <a:off x="1147235" y="5593956"/>
            <a:ext cx="5378450" cy="665163"/>
            <a:chOff x="1152" y="2845"/>
            <a:chExt cx="3408" cy="419"/>
          </a:xfrm>
        </p:grpSpPr>
        <p:grpSp>
          <p:nvGrpSpPr>
            <p:cNvPr id="85010" name="Group 31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85014" name="AutoShape 32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015" name="AutoShape 33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2786" name="AutoShape 34"/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47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85011" name="Line 35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12" name="Text Box 36"/>
            <p:cNvSpPr txBox="1">
              <a:spLocks noChangeArrowheads="1"/>
            </p:cNvSpPr>
            <p:nvPr/>
          </p:nvSpPr>
          <p:spPr bwMode="auto">
            <a:xfrm>
              <a:off x="2111" y="2886"/>
              <a:ext cx="199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0" dirty="0">
                  <a:solidFill>
                    <a:schemeClr val="bg1">
                      <a:lumMod val="65000"/>
                    </a:schemeClr>
                  </a:solidFill>
                </a:rPr>
                <a:t>习题</a:t>
              </a:r>
              <a:r>
                <a:rPr lang="en-US" altLang="zh-CN" sz="2800" b="0" dirty="0">
                  <a:solidFill>
                    <a:schemeClr val="bg1">
                      <a:lumMod val="6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2.3  </a:t>
              </a:r>
              <a:r>
                <a:rPr lang="zh-Hans" altLang="en-US" sz="2800" b="0" dirty="0">
                  <a:solidFill>
                    <a:schemeClr val="bg1">
                      <a:lumMod val="65000"/>
                    </a:schemeClr>
                  </a:solidFill>
                  <a:latin typeface="Times New Roman" pitchFamily="18" charset="0"/>
                  <a:ea typeface="宋体" pitchFamily="2" charset="-122"/>
                </a:rPr>
                <a:t>     </a:t>
              </a:r>
              <a:r>
                <a:rPr lang="en-US" altLang="zh-CN" sz="2800" b="0" dirty="0">
                  <a:solidFill>
                    <a:schemeClr val="bg1">
                      <a:lumMod val="65000"/>
                    </a:schemeClr>
                  </a:solidFill>
                  <a:latin typeface="Times New Roman" pitchFamily="18" charset="0"/>
                </a:rPr>
                <a:t>10, </a:t>
              </a:r>
              <a:r>
                <a:rPr lang="zh-Hans" altLang="en-US" sz="2800" b="0" dirty="0">
                  <a:solidFill>
                    <a:schemeClr val="bg1">
                      <a:lumMod val="65000"/>
                    </a:schemeClr>
                  </a:solidFill>
                  <a:latin typeface="Times New Roman" pitchFamily="18" charset="0"/>
                </a:rPr>
                <a:t>   </a:t>
              </a:r>
              <a:r>
                <a:rPr lang="en-US" altLang="zh-CN" sz="2800" b="0" dirty="0">
                  <a:solidFill>
                    <a:schemeClr val="bg1">
                      <a:lumMod val="65000"/>
                    </a:schemeClr>
                  </a:solidFill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85013" name="Text Box 37"/>
            <p:cNvSpPr txBox="1">
              <a:spLocks noChangeArrowheads="1"/>
            </p:cNvSpPr>
            <p:nvPr/>
          </p:nvSpPr>
          <p:spPr bwMode="gray">
            <a:xfrm>
              <a:off x="1169" y="292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作业</a:t>
              </a:r>
            </a:p>
          </p:txBody>
        </p:sp>
      </p:grpSp>
      <p:grpSp>
        <p:nvGrpSpPr>
          <p:cNvPr id="85004" name="Group 38"/>
          <p:cNvGrpSpPr>
            <a:grpSpLocks/>
          </p:cNvGrpSpPr>
          <p:nvPr/>
        </p:nvGrpSpPr>
        <p:grpSpPr bwMode="auto">
          <a:xfrm>
            <a:off x="1908175" y="2708275"/>
            <a:ext cx="5181600" cy="508000"/>
            <a:chOff x="1419" y="1480"/>
            <a:chExt cx="3575" cy="363"/>
          </a:xfrm>
        </p:grpSpPr>
        <p:grpSp>
          <p:nvGrpSpPr>
            <p:cNvPr id="85005" name="Group 39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02792" name="Oval 40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2793" name="AutoShape 41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chemeClr val="tx1"/>
                    </a:solidFill>
                  </a:rPr>
                  <a:t>对称性</a:t>
                </a:r>
              </a:p>
            </p:txBody>
          </p:sp>
        </p:grpSp>
        <p:sp>
          <p:nvSpPr>
            <p:cNvPr id="202794" name="Oval 42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5007" name="Oval 43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latin typeface="Times New Roman" pitchFamily="18" charset="0"/>
              </a:rPr>
              <a:t>2.4</a:t>
            </a:r>
            <a:r>
              <a:rPr lang="en-US" altLang="zh-CN" sz="3600"/>
              <a:t> </a:t>
            </a:r>
            <a:r>
              <a:rPr lang="zh-CN" altLang="en-US" sz="3600"/>
              <a:t>关系的闭包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subTitle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>
                        <a:alpha val="39000"/>
                      </a:schemeClr>
                    </a:gs>
                    <a:gs pos="100000">
                      <a:srgbClr val="336699">
                        <a:alpha val="82001"/>
                      </a:srgbClr>
                    </a:gs>
                  </a:gsLst>
                  <a:lin ang="2700000" scaled="1"/>
                </a:gradFill>
              </a14:hiddenFill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>
                <a:latin typeface="Times New Roman" pitchFamily="18" charset="0"/>
              </a:rPr>
              <a:t>第</a:t>
            </a:r>
            <a:r>
              <a:rPr lang="en-US" altLang="zh-CN">
                <a:latin typeface="Times New Roman" pitchFamily="18" charset="0"/>
              </a:rPr>
              <a:t>2</a:t>
            </a:r>
            <a:r>
              <a:rPr lang="zh-CN" altLang="en-US">
                <a:latin typeface="Times New Roman" pitchFamily="18" charset="0"/>
              </a:rPr>
              <a:t>章 关系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D34EFCC5-62B0-412D-AEA2-2CAE59A1DFB0}" type="slidenum">
              <a:rPr lang="zh-CN" altLang="en-US"/>
              <a:pPr>
                <a:defRPr/>
              </a:pPr>
              <a:t>33</a:t>
            </a:fld>
            <a:r>
              <a:rPr lang="zh-CN" altLang="en-US"/>
              <a:t>页</a:t>
            </a:r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itchFamily="18" charset="0"/>
              </a:rPr>
              <a:t>2.4</a:t>
            </a:r>
            <a:r>
              <a:rPr lang="en-US" altLang="zh-CN"/>
              <a:t> </a:t>
            </a:r>
            <a:r>
              <a:rPr lang="zh-CN" altLang="en-US"/>
              <a:t>关系的闭包</a:t>
            </a: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p:grpSp>
        <p:nvGrpSpPr>
          <p:cNvPr id="87045" name="Group 4"/>
          <p:cNvGrpSpPr>
            <a:grpSpLocks/>
          </p:cNvGrpSpPr>
          <p:nvPr/>
        </p:nvGrpSpPr>
        <p:grpSpPr bwMode="auto">
          <a:xfrm>
            <a:off x="1042988" y="1392238"/>
            <a:ext cx="5410200" cy="685800"/>
            <a:chOff x="1152" y="1118"/>
            <a:chExt cx="3408" cy="432"/>
          </a:xfrm>
        </p:grpSpPr>
        <p:grpSp>
          <p:nvGrpSpPr>
            <p:cNvPr id="87063" name="Group 5"/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87067" name="AutoShape 6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068" name="AutoShape 7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08" name="AutoShape 8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87064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065" name="Text Box 10"/>
            <p:cNvSpPr txBox="1">
              <a:spLocks noChangeArrowheads="1"/>
            </p:cNvSpPr>
            <p:nvPr/>
          </p:nvSpPr>
          <p:spPr bwMode="auto">
            <a:xfrm>
              <a:off x="2112" y="1118"/>
              <a:ext cx="158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自反闭包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itchFamily="18" charset="0"/>
                </a:rPr>
                <a:t>r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itchFamily="18" charset="0"/>
                </a:rPr>
                <a:t>R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87066" name="Text Box 11"/>
            <p:cNvSpPr txBox="1">
              <a:spLocks noChangeArrowheads="1"/>
            </p:cNvSpPr>
            <p:nvPr/>
          </p:nvSpPr>
          <p:spPr bwMode="gray">
            <a:xfrm>
              <a:off x="1266" y="11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87046" name="Group 12"/>
          <p:cNvGrpSpPr>
            <a:grpSpLocks/>
          </p:cNvGrpSpPr>
          <p:nvPr/>
        </p:nvGrpSpPr>
        <p:grpSpPr bwMode="auto">
          <a:xfrm>
            <a:off x="1042988" y="2924175"/>
            <a:ext cx="5410200" cy="685800"/>
            <a:chOff x="1152" y="1694"/>
            <a:chExt cx="3408" cy="432"/>
          </a:xfrm>
        </p:grpSpPr>
        <p:grpSp>
          <p:nvGrpSpPr>
            <p:cNvPr id="87056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87060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061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16" name="AutoShape 16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87057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058" name="Text Box 18"/>
            <p:cNvSpPr txBox="1">
              <a:spLocks noChangeArrowheads="1"/>
            </p:cNvSpPr>
            <p:nvPr/>
          </p:nvSpPr>
          <p:spPr bwMode="auto">
            <a:xfrm>
              <a:off x="2112" y="1694"/>
              <a:ext cx="158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对称闭包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itchFamily="18" charset="0"/>
                </a:rPr>
                <a:t>s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itchFamily="18" charset="0"/>
                </a:rPr>
                <a:t>R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87059" name="Text Box 19"/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</p:grpSp>
      <p:grpSp>
        <p:nvGrpSpPr>
          <p:cNvPr id="87047" name="Group 20"/>
          <p:cNvGrpSpPr>
            <a:grpSpLocks/>
          </p:cNvGrpSpPr>
          <p:nvPr/>
        </p:nvGrpSpPr>
        <p:grpSpPr bwMode="auto">
          <a:xfrm>
            <a:off x="971550" y="4392613"/>
            <a:ext cx="5410200" cy="685800"/>
            <a:chOff x="1152" y="2256"/>
            <a:chExt cx="3408" cy="432"/>
          </a:xfrm>
        </p:grpSpPr>
        <p:grpSp>
          <p:nvGrpSpPr>
            <p:cNvPr id="87049" name="Group 21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87053" name="AutoShape 22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054" name="AutoShape 23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824" name="AutoShape 24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87050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051" name="Text Box 26"/>
            <p:cNvSpPr txBox="1">
              <a:spLocks noChangeArrowheads="1"/>
            </p:cNvSpPr>
            <p:nvPr/>
          </p:nvSpPr>
          <p:spPr bwMode="auto">
            <a:xfrm>
              <a:off x="2112" y="2256"/>
              <a:ext cx="155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传递闭包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itchFamily="18" charset="0"/>
                </a:rPr>
                <a:t>t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itchFamily="18" charset="0"/>
                </a:rPr>
                <a:t>R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87052" name="Text Box 27"/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</p:grpSp>
      <p:sp>
        <p:nvSpPr>
          <p:cNvPr id="87048" name="圆角矩形 1"/>
          <p:cNvSpPr>
            <a:spLocks noChangeArrowheads="1"/>
          </p:cNvSpPr>
          <p:nvPr/>
        </p:nvSpPr>
        <p:spPr bwMode="auto">
          <a:xfrm>
            <a:off x="827088" y="1125538"/>
            <a:ext cx="5554662" cy="4248150"/>
          </a:xfrm>
          <a:prstGeom prst="roundRect">
            <a:avLst>
              <a:gd name="adj" fmla="val 16667"/>
            </a:avLst>
          </a:prstGeom>
          <a:noFill/>
          <a:ln w="57150" cmpd="thinThick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5CC1587E-633C-4AB2-83B9-1B6FBD9993F3}" type="slidenum">
              <a:rPr lang="zh-CN" altLang="en-US"/>
              <a:pPr>
                <a:defRPr/>
              </a:pPr>
              <a:t>34</a:t>
            </a:fld>
            <a:r>
              <a:rPr lang="zh-CN" altLang="en-US"/>
              <a:t>页</a:t>
            </a:r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0">
                <a:latin typeface="Times New Roman" pitchFamily="18" charset="0"/>
              </a:rPr>
              <a:t>2.4 </a:t>
            </a:r>
            <a:r>
              <a:rPr lang="zh-CN" altLang="en-US" b="0">
                <a:latin typeface="Times New Roman" pitchFamily="18" charset="0"/>
              </a:rPr>
              <a:t>关系的闭包</a:t>
            </a:r>
            <a:r>
              <a:rPr lang="zh-CN" altLang="en-US"/>
              <a:t> </a:t>
            </a:r>
          </a:p>
        </p:txBody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通过关系的一些运算可以得到新的关系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上的关系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希望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具有某些有用的性质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如自反性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不具有自反性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通过在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中添加一些有序对使其变成自反关系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这样也可以得到一些新的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2.4.1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自反闭包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)(reflexive closure)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C0359F89-3D4B-49E4-938D-92B01298D8FD}" type="slidenum">
              <a:rPr lang="zh-CN" altLang="en-US"/>
              <a:pPr>
                <a:defRPr/>
              </a:pPr>
              <a:t>35</a:t>
            </a:fld>
            <a:r>
              <a:rPr lang="zh-CN" altLang="en-US"/>
              <a:t>页</a:t>
            </a:r>
          </a:p>
        </p:txBody>
      </p:sp>
      <p:sp>
        <p:nvSpPr>
          <p:cNvPr id="89091" name="Rectangle 2"/>
          <p:cNvSpPr>
            <a:spLocks noGrp="1" noChangeArrowheads="1"/>
          </p:cNvSpPr>
          <p:nvPr>
            <p:ph/>
          </p:nvPr>
        </p:nvSpPr>
        <p:spPr>
          <a:xfrm>
            <a:off x="0" y="44624"/>
            <a:ext cx="9144000" cy="6240462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2-36 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{</a:t>
            </a: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}, </a:t>
            </a: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{(</a:t>
            </a: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 (</a:t>
            </a: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 (</a:t>
            </a: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(</a:t>
            </a: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(</a:t>
            </a: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)}, 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求出所有</a:t>
            </a:r>
            <a:r>
              <a:rPr lang="zh-CN" altLang="en-US" sz="3200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包含</a:t>
            </a:r>
            <a:r>
              <a:rPr lang="en-US" altLang="zh-CN" sz="3200" i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3200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自反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关系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Solution </a:t>
            </a:r>
            <a:r>
              <a:rPr lang="en-US" altLang="zh-CN" i="1" dirty="0">
                <a:latin typeface="Times New Roman" pitchFamily="18" charset="0"/>
              </a:rPr>
              <a:t>R</a:t>
            </a:r>
            <a:r>
              <a:rPr lang="en-US" altLang="zh-CN" baseline="-25000" dirty="0">
                <a:latin typeface="Times New Roman" pitchFamily="18" charset="0"/>
              </a:rPr>
              <a:t>1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R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 {(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), (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c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c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)};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CN" i="1" dirty="0">
                <a:latin typeface="Times New Roman" pitchFamily="18" charset="0"/>
              </a:rPr>
              <a:t>R</a:t>
            </a:r>
            <a:r>
              <a:rPr lang="en-US" altLang="zh-CN" baseline="-25000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R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 {(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), (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c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c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), (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)};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CN" i="1" dirty="0">
                <a:latin typeface="Times New Roman" pitchFamily="18" charset="0"/>
              </a:rPr>
              <a:t>R</a:t>
            </a:r>
            <a:r>
              <a:rPr lang="en-US" altLang="zh-CN" baseline="-25000" dirty="0">
                <a:latin typeface="Times New Roman" pitchFamily="18" charset="0"/>
              </a:rPr>
              <a:t>3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R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 {(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), (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c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c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), (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c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)};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CN" i="1" dirty="0">
                <a:latin typeface="Times New Roman" pitchFamily="18" charset="0"/>
              </a:rPr>
              <a:t>R</a:t>
            </a:r>
            <a:r>
              <a:rPr lang="en-US" altLang="zh-CN" baseline="-25000" dirty="0"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R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 {(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), (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c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c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), (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), (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c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)}.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en-US" altLang="zh-CN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显然                           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称为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的自反闭包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</a:p>
        </p:txBody>
      </p:sp>
      <p:graphicFrame>
        <p:nvGraphicFramePr>
          <p:cNvPr id="89092" name="Object 3"/>
          <p:cNvGraphicFramePr>
            <a:graphicFrameLocks noChangeAspect="1"/>
          </p:cNvGraphicFramePr>
          <p:nvPr/>
        </p:nvGraphicFramePr>
        <p:xfrm>
          <a:off x="1763713" y="5805488"/>
          <a:ext cx="29876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24023" imgH="142830" progId="Equation.3">
                  <p:embed/>
                </p:oleObj>
              </mc:Choice>
              <mc:Fallback>
                <p:oleObj name="公式" r:id="rId2" imgW="1124023" imgH="1428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805488"/>
                        <a:ext cx="298767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86092"/>
              </p:ext>
            </p:extLst>
          </p:nvPr>
        </p:nvGraphicFramePr>
        <p:xfrm>
          <a:off x="1435488" y="4292600"/>
          <a:ext cx="6520888" cy="1224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71599" imgH="342900" progId="Equation.3">
                  <p:embed/>
                </p:oleObj>
              </mc:Choice>
              <mc:Fallback>
                <p:oleObj name="Equation" r:id="rId4" imgW="2171599" imgH="342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488" y="4292600"/>
                        <a:ext cx="6520888" cy="12246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4585F551-E463-4C7D-AF35-E5A4CB612526}" type="slidenum">
              <a:rPr lang="zh-CN" altLang="en-US"/>
              <a:pPr>
                <a:defRPr/>
              </a:pPr>
              <a:t>36</a:t>
            </a:fld>
            <a:r>
              <a:rPr lang="zh-CN" altLang="en-US"/>
              <a:t>页</a:t>
            </a:r>
          </a:p>
        </p:txBody>
      </p:sp>
      <p:sp>
        <p:nvSpPr>
          <p:cNvPr id="90115" name="Rectangle 2"/>
          <p:cNvSpPr>
            <a:spLocks noGrp="1" noChangeArrowheads="1"/>
          </p:cNvSpPr>
          <p:nvPr>
            <p:ph/>
          </p:nvPr>
        </p:nvSpPr>
        <p:spPr>
          <a:xfrm>
            <a:off x="-36513" y="115888"/>
            <a:ext cx="9144001" cy="624046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2-14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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称最小的包含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的自反关系为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的自反闭包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记为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满足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个条件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包含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；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自反性；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(3)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最小性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Theorem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自反闭包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的关系图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?</a:t>
            </a:r>
          </a:p>
        </p:txBody>
      </p:sp>
      <p:graphicFrame>
        <p:nvGraphicFramePr>
          <p:cNvPr id="90116" name="Object 3"/>
          <p:cNvGraphicFramePr>
            <a:graphicFrameLocks noChangeAspect="1"/>
          </p:cNvGraphicFramePr>
          <p:nvPr/>
        </p:nvGraphicFramePr>
        <p:xfrm>
          <a:off x="2627313" y="4508500"/>
          <a:ext cx="235743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66857" imgH="133380" progId="Equation.3">
                  <p:embed/>
                </p:oleObj>
              </mc:Choice>
              <mc:Fallback>
                <p:oleObj name="公式" r:id="rId2" imgW="866857" imgH="1333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508500"/>
                        <a:ext cx="235743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053FF8E9-E49F-48EA-A8FC-FB8CA87C9CAA}" type="slidenum">
              <a:rPr lang="zh-CN" altLang="en-US"/>
              <a:pPr>
                <a:defRPr/>
              </a:pPr>
              <a:t>37</a:t>
            </a:fld>
            <a:r>
              <a:rPr lang="zh-CN" altLang="en-US"/>
              <a:t>页</a:t>
            </a:r>
          </a:p>
        </p:txBody>
      </p:sp>
      <p:sp>
        <p:nvSpPr>
          <p:cNvPr id="91139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latin typeface="Times New Roman" pitchFamily="18" charset="0"/>
                <a:ea typeface="华文新魏" pitchFamily="2" charset="-122"/>
              </a:rPr>
              <a:t>例</a:t>
            </a:r>
            <a:r>
              <a:rPr lang="en-US" altLang="zh-CN" dirty="0">
                <a:latin typeface="Times New Roman" pitchFamily="18" charset="0"/>
              </a:rPr>
              <a:t>3-27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 = {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d</a:t>
            </a:r>
            <a:r>
              <a:rPr lang="en-US" altLang="zh-CN" dirty="0">
                <a:latin typeface="Times New Roman" pitchFamily="18" charset="0"/>
              </a:rPr>
              <a:t>}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91140" name="Oval 3"/>
          <p:cNvSpPr>
            <a:spLocks noChangeArrowheads="1"/>
          </p:cNvSpPr>
          <p:nvPr/>
        </p:nvSpPr>
        <p:spPr bwMode="auto">
          <a:xfrm>
            <a:off x="1663700" y="1657350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1141" name="Object 4"/>
          <p:cNvGraphicFramePr>
            <a:graphicFrameLocks noChangeAspect="1"/>
          </p:cNvGraphicFramePr>
          <p:nvPr/>
        </p:nvGraphicFramePr>
        <p:xfrm>
          <a:off x="2843213" y="1268413"/>
          <a:ext cx="31432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089" imgH="57240" progId="Equation.3">
                  <p:embed/>
                </p:oleObj>
              </mc:Choice>
              <mc:Fallback>
                <p:oleObj name="公式" r:id="rId2" imgW="38089" imgH="57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1268413"/>
                        <a:ext cx="31432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2" name="Object 5"/>
          <p:cNvGraphicFramePr>
            <a:graphicFrameLocks noChangeAspect="1"/>
          </p:cNvGraphicFramePr>
          <p:nvPr/>
        </p:nvGraphicFramePr>
        <p:xfrm>
          <a:off x="1403350" y="1196975"/>
          <a:ext cx="3143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089" imgH="95310" progId="Equation.3">
                  <p:embed/>
                </p:oleObj>
              </mc:Choice>
              <mc:Fallback>
                <p:oleObj name="公式" r:id="rId4" imgW="38089" imgH="953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196975"/>
                        <a:ext cx="3143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3" name="Object 6"/>
          <p:cNvGraphicFramePr>
            <a:graphicFrameLocks noChangeAspect="1"/>
          </p:cNvGraphicFramePr>
          <p:nvPr/>
        </p:nvGraphicFramePr>
        <p:xfrm>
          <a:off x="1476375" y="3429000"/>
          <a:ext cx="28257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8634" imgH="57240" progId="Equation.3">
                  <p:embed/>
                </p:oleObj>
              </mc:Choice>
              <mc:Fallback>
                <p:oleObj name="公式" r:id="rId6" imgW="28634" imgH="57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429000"/>
                        <a:ext cx="28257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4" name="Object 7"/>
          <p:cNvGraphicFramePr>
            <a:graphicFrameLocks noChangeAspect="1"/>
          </p:cNvGraphicFramePr>
          <p:nvPr/>
        </p:nvGraphicFramePr>
        <p:xfrm>
          <a:off x="2843213" y="3284538"/>
          <a:ext cx="3444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7268" imgH="95310" progId="Equation.3">
                  <p:embed/>
                </p:oleObj>
              </mc:Choice>
              <mc:Fallback>
                <p:oleObj name="公式" r:id="rId8" imgW="57268" imgH="9531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284538"/>
                        <a:ext cx="3444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5" name="Line 8"/>
          <p:cNvSpPr>
            <a:spLocks noChangeShapeType="1"/>
          </p:cNvSpPr>
          <p:nvPr/>
        </p:nvSpPr>
        <p:spPr bwMode="auto">
          <a:xfrm flipH="1">
            <a:off x="1835150" y="1751013"/>
            <a:ext cx="1081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46" name="Line 9"/>
          <p:cNvSpPr>
            <a:spLocks noChangeShapeType="1"/>
          </p:cNvSpPr>
          <p:nvPr/>
        </p:nvSpPr>
        <p:spPr bwMode="auto">
          <a:xfrm flipV="1">
            <a:off x="1835150" y="1844675"/>
            <a:ext cx="1081088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47" name="Freeform 10"/>
          <p:cNvSpPr>
            <a:spLocks/>
          </p:cNvSpPr>
          <p:nvPr/>
        </p:nvSpPr>
        <p:spPr bwMode="auto">
          <a:xfrm>
            <a:off x="1271588" y="3117850"/>
            <a:ext cx="779462" cy="827088"/>
          </a:xfrm>
          <a:custGeom>
            <a:avLst/>
            <a:gdLst>
              <a:gd name="T0" fmla="*/ 2147483647 w 491"/>
              <a:gd name="T1" fmla="*/ 2147483647 h 521"/>
              <a:gd name="T2" fmla="*/ 2147483647 w 491"/>
              <a:gd name="T3" fmla="*/ 2147483647 h 521"/>
              <a:gd name="T4" fmla="*/ 2147483647 w 491"/>
              <a:gd name="T5" fmla="*/ 2147483647 h 521"/>
              <a:gd name="T6" fmla="*/ 2147483647 w 491"/>
              <a:gd name="T7" fmla="*/ 2147483647 h 521"/>
              <a:gd name="T8" fmla="*/ 2147483647 w 491"/>
              <a:gd name="T9" fmla="*/ 2147483647 h 5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91"/>
              <a:gd name="T16" fmla="*/ 0 h 521"/>
              <a:gd name="T17" fmla="*/ 491 w 491"/>
              <a:gd name="T18" fmla="*/ 521 h 5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91" h="521">
                <a:moveTo>
                  <a:pt x="310" y="105"/>
                </a:moveTo>
                <a:cubicBezTo>
                  <a:pt x="193" y="52"/>
                  <a:pt x="76" y="0"/>
                  <a:pt x="38" y="60"/>
                </a:cubicBezTo>
                <a:cubicBezTo>
                  <a:pt x="0" y="120"/>
                  <a:pt x="15" y="415"/>
                  <a:pt x="83" y="468"/>
                </a:cubicBezTo>
                <a:cubicBezTo>
                  <a:pt x="151" y="521"/>
                  <a:pt x="401" y="430"/>
                  <a:pt x="446" y="377"/>
                </a:cubicBezTo>
                <a:cubicBezTo>
                  <a:pt x="491" y="324"/>
                  <a:pt x="423" y="237"/>
                  <a:pt x="355" y="15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48" name="Freeform 11"/>
          <p:cNvSpPr>
            <a:spLocks/>
          </p:cNvSpPr>
          <p:nvPr/>
        </p:nvSpPr>
        <p:spPr bwMode="auto">
          <a:xfrm>
            <a:off x="2700338" y="3068638"/>
            <a:ext cx="804862" cy="889000"/>
          </a:xfrm>
          <a:custGeom>
            <a:avLst/>
            <a:gdLst>
              <a:gd name="T0" fmla="*/ 2147483647 w 507"/>
              <a:gd name="T1" fmla="*/ 2147483647 h 560"/>
              <a:gd name="T2" fmla="*/ 2147483647 w 507"/>
              <a:gd name="T3" fmla="*/ 2147483647 h 560"/>
              <a:gd name="T4" fmla="*/ 2147483647 w 507"/>
              <a:gd name="T5" fmla="*/ 2147483647 h 560"/>
              <a:gd name="T6" fmla="*/ 2147483647 w 507"/>
              <a:gd name="T7" fmla="*/ 2147483647 h 560"/>
              <a:gd name="T8" fmla="*/ 2147483647 w 507"/>
              <a:gd name="T9" fmla="*/ 2147483647 h 560"/>
              <a:gd name="T10" fmla="*/ 0 w 507"/>
              <a:gd name="T11" fmla="*/ 2147483647 h 560"/>
              <a:gd name="T12" fmla="*/ 2147483647 w 507"/>
              <a:gd name="T13" fmla="*/ 2147483647 h 5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07"/>
              <a:gd name="T22" fmla="*/ 0 h 560"/>
              <a:gd name="T23" fmla="*/ 507 w 507"/>
              <a:gd name="T24" fmla="*/ 560 h 5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07" h="560">
                <a:moveTo>
                  <a:pt x="136" y="159"/>
                </a:moveTo>
                <a:cubicBezTo>
                  <a:pt x="173" y="79"/>
                  <a:pt x="211" y="0"/>
                  <a:pt x="272" y="23"/>
                </a:cubicBezTo>
                <a:cubicBezTo>
                  <a:pt x="333" y="46"/>
                  <a:pt x="507" y="212"/>
                  <a:pt x="499" y="295"/>
                </a:cubicBezTo>
                <a:cubicBezTo>
                  <a:pt x="491" y="378"/>
                  <a:pt x="294" y="484"/>
                  <a:pt x="226" y="522"/>
                </a:cubicBezTo>
                <a:cubicBezTo>
                  <a:pt x="158" y="560"/>
                  <a:pt x="127" y="552"/>
                  <a:pt x="90" y="522"/>
                </a:cubicBezTo>
                <a:cubicBezTo>
                  <a:pt x="53" y="492"/>
                  <a:pt x="0" y="393"/>
                  <a:pt x="0" y="340"/>
                </a:cubicBezTo>
                <a:cubicBezTo>
                  <a:pt x="0" y="287"/>
                  <a:pt x="45" y="245"/>
                  <a:pt x="90" y="20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1149" name="Object 12"/>
          <p:cNvGraphicFramePr>
            <a:graphicFrameLocks noChangeAspect="1"/>
          </p:cNvGraphicFramePr>
          <p:nvPr/>
        </p:nvGraphicFramePr>
        <p:xfrm>
          <a:off x="2030413" y="4246563"/>
          <a:ext cx="531812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3446" imgH="133380" progId="Equation.3">
                  <p:embed/>
                </p:oleObj>
              </mc:Choice>
              <mc:Fallback>
                <p:oleObj name="公式" r:id="rId10" imgW="133446" imgH="1333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0413" y="4246563"/>
                        <a:ext cx="531812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0" name="Object 13"/>
          <p:cNvGraphicFramePr>
            <a:graphicFrameLocks noChangeAspect="1"/>
          </p:cNvGraphicFramePr>
          <p:nvPr/>
        </p:nvGraphicFramePr>
        <p:xfrm>
          <a:off x="6732588" y="1268413"/>
          <a:ext cx="31432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8089" imgH="57240" progId="Equation.3">
                  <p:embed/>
                </p:oleObj>
              </mc:Choice>
              <mc:Fallback>
                <p:oleObj name="公式" r:id="rId12" imgW="38089" imgH="572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1268413"/>
                        <a:ext cx="31432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1" name="Line 14"/>
          <p:cNvSpPr>
            <a:spLocks noChangeShapeType="1"/>
          </p:cNvSpPr>
          <p:nvPr/>
        </p:nvSpPr>
        <p:spPr bwMode="auto">
          <a:xfrm flipH="1">
            <a:off x="5768975" y="1728788"/>
            <a:ext cx="1081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1152" name="Object 15"/>
          <p:cNvGraphicFramePr>
            <a:graphicFrameLocks noChangeAspect="1"/>
          </p:cNvGraphicFramePr>
          <p:nvPr/>
        </p:nvGraphicFramePr>
        <p:xfrm>
          <a:off x="5435600" y="1196975"/>
          <a:ext cx="3143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8089" imgH="95310" progId="Equation.3">
                  <p:embed/>
                </p:oleObj>
              </mc:Choice>
              <mc:Fallback>
                <p:oleObj name="公式" r:id="rId14" imgW="38089" imgH="9531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1196975"/>
                        <a:ext cx="3143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3" name="Line 16"/>
          <p:cNvSpPr>
            <a:spLocks noChangeShapeType="1"/>
          </p:cNvSpPr>
          <p:nvPr/>
        </p:nvSpPr>
        <p:spPr bwMode="auto">
          <a:xfrm flipV="1">
            <a:off x="5795963" y="1773238"/>
            <a:ext cx="1081087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54" name="Freeform 17"/>
          <p:cNvSpPr>
            <a:spLocks/>
          </p:cNvSpPr>
          <p:nvPr/>
        </p:nvSpPr>
        <p:spPr bwMode="auto">
          <a:xfrm>
            <a:off x="5219700" y="2997200"/>
            <a:ext cx="779463" cy="827088"/>
          </a:xfrm>
          <a:custGeom>
            <a:avLst/>
            <a:gdLst>
              <a:gd name="T0" fmla="*/ 2147483647 w 491"/>
              <a:gd name="T1" fmla="*/ 2147483647 h 521"/>
              <a:gd name="T2" fmla="*/ 2147483647 w 491"/>
              <a:gd name="T3" fmla="*/ 2147483647 h 521"/>
              <a:gd name="T4" fmla="*/ 2147483647 w 491"/>
              <a:gd name="T5" fmla="*/ 2147483647 h 521"/>
              <a:gd name="T6" fmla="*/ 2147483647 w 491"/>
              <a:gd name="T7" fmla="*/ 2147483647 h 521"/>
              <a:gd name="T8" fmla="*/ 2147483647 w 491"/>
              <a:gd name="T9" fmla="*/ 2147483647 h 5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91"/>
              <a:gd name="T16" fmla="*/ 0 h 521"/>
              <a:gd name="T17" fmla="*/ 491 w 491"/>
              <a:gd name="T18" fmla="*/ 521 h 5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91" h="521">
                <a:moveTo>
                  <a:pt x="310" y="105"/>
                </a:moveTo>
                <a:cubicBezTo>
                  <a:pt x="193" y="52"/>
                  <a:pt x="76" y="0"/>
                  <a:pt x="38" y="60"/>
                </a:cubicBezTo>
                <a:cubicBezTo>
                  <a:pt x="0" y="120"/>
                  <a:pt x="15" y="415"/>
                  <a:pt x="83" y="468"/>
                </a:cubicBezTo>
                <a:cubicBezTo>
                  <a:pt x="151" y="521"/>
                  <a:pt x="401" y="430"/>
                  <a:pt x="446" y="377"/>
                </a:cubicBezTo>
                <a:cubicBezTo>
                  <a:pt x="491" y="324"/>
                  <a:pt x="423" y="237"/>
                  <a:pt x="355" y="15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1155" name="Object 18"/>
          <p:cNvGraphicFramePr>
            <a:graphicFrameLocks noChangeAspect="1"/>
          </p:cNvGraphicFramePr>
          <p:nvPr/>
        </p:nvGraphicFramePr>
        <p:xfrm>
          <a:off x="5435600" y="3284538"/>
          <a:ext cx="28257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8634" imgH="57240" progId="Equation.3">
                  <p:embed/>
                </p:oleObj>
              </mc:Choice>
              <mc:Fallback>
                <p:oleObj name="公式" r:id="rId16" imgW="28634" imgH="572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3284538"/>
                        <a:ext cx="28257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6" name="Freeform 19"/>
          <p:cNvSpPr>
            <a:spLocks/>
          </p:cNvSpPr>
          <p:nvPr/>
        </p:nvSpPr>
        <p:spPr bwMode="auto">
          <a:xfrm>
            <a:off x="6732588" y="2967038"/>
            <a:ext cx="804862" cy="889000"/>
          </a:xfrm>
          <a:custGeom>
            <a:avLst/>
            <a:gdLst>
              <a:gd name="T0" fmla="*/ 2147483647 w 507"/>
              <a:gd name="T1" fmla="*/ 2147483647 h 560"/>
              <a:gd name="T2" fmla="*/ 2147483647 w 507"/>
              <a:gd name="T3" fmla="*/ 2147483647 h 560"/>
              <a:gd name="T4" fmla="*/ 2147483647 w 507"/>
              <a:gd name="T5" fmla="*/ 2147483647 h 560"/>
              <a:gd name="T6" fmla="*/ 2147483647 w 507"/>
              <a:gd name="T7" fmla="*/ 2147483647 h 560"/>
              <a:gd name="T8" fmla="*/ 2147483647 w 507"/>
              <a:gd name="T9" fmla="*/ 2147483647 h 560"/>
              <a:gd name="T10" fmla="*/ 0 w 507"/>
              <a:gd name="T11" fmla="*/ 2147483647 h 560"/>
              <a:gd name="T12" fmla="*/ 2147483647 w 507"/>
              <a:gd name="T13" fmla="*/ 2147483647 h 5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07"/>
              <a:gd name="T22" fmla="*/ 0 h 560"/>
              <a:gd name="T23" fmla="*/ 507 w 507"/>
              <a:gd name="T24" fmla="*/ 560 h 5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07" h="560">
                <a:moveTo>
                  <a:pt x="136" y="159"/>
                </a:moveTo>
                <a:cubicBezTo>
                  <a:pt x="173" y="79"/>
                  <a:pt x="211" y="0"/>
                  <a:pt x="272" y="23"/>
                </a:cubicBezTo>
                <a:cubicBezTo>
                  <a:pt x="333" y="46"/>
                  <a:pt x="507" y="212"/>
                  <a:pt x="499" y="295"/>
                </a:cubicBezTo>
                <a:cubicBezTo>
                  <a:pt x="491" y="378"/>
                  <a:pt x="294" y="484"/>
                  <a:pt x="226" y="522"/>
                </a:cubicBezTo>
                <a:cubicBezTo>
                  <a:pt x="158" y="560"/>
                  <a:pt x="127" y="552"/>
                  <a:pt x="90" y="522"/>
                </a:cubicBezTo>
                <a:cubicBezTo>
                  <a:pt x="53" y="492"/>
                  <a:pt x="0" y="393"/>
                  <a:pt x="0" y="340"/>
                </a:cubicBezTo>
                <a:cubicBezTo>
                  <a:pt x="0" y="287"/>
                  <a:pt x="45" y="245"/>
                  <a:pt x="90" y="20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1157" name="Object 20"/>
          <p:cNvGraphicFramePr>
            <a:graphicFrameLocks noChangeAspect="1"/>
          </p:cNvGraphicFramePr>
          <p:nvPr/>
        </p:nvGraphicFramePr>
        <p:xfrm>
          <a:off x="6804025" y="3213100"/>
          <a:ext cx="3444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57268" imgH="95310" progId="Equation.3">
                  <p:embed/>
                </p:oleObj>
              </mc:Choice>
              <mc:Fallback>
                <p:oleObj name="公式" r:id="rId18" imgW="57268" imgH="9531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3213100"/>
                        <a:ext cx="3444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8" name="Object 21"/>
          <p:cNvGraphicFramePr>
            <a:graphicFrameLocks noChangeAspect="1"/>
          </p:cNvGraphicFramePr>
          <p:nvPr/>
        </p:nvGraphicFramePr>
        <p:xfrm>
          <a:off x="5872163" y="4191000"/>
          <a:ext cx="8128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47712" imgH="152280" progId="Equation.3">
                  <p:embed/>
                </p:oleObj>
              </mc:Choice>
              <mc:Fallback>
                <p:oleObj name="公式" r:id="rId20" imgW="247712" imgH="1522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2163" y="4191000"/>
                        <a:ext cx="8128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9" name="Freeform 22"/>
          <p:cNvSpPr>
            <a:spLocks/>
          </p:cNvSpPr>
          <p:nvPr/>
        </p:nvSpPr>
        <p:spPr bwMode="auto">
          <a:xfrm>
            <a:off x="5002213" y="982663"/>
            <a:ext cx="922337" cy="790575"/>
          </a:xfrm>
          <a:custGeom>
            <a:avLst/>
            <a:gdLst>
              <a:gd name="T0" fmla="*/ 2147483647 w 581"/>
              <a:gd name="T1" fmla="*/ 2147483647 h 498"/>
              <a:gd name="T2" fmla="*/ 2147483647 w 581"/>
              <a:gd name="T3" fmla="*/ 2147483647 h 498"/>
              <a:gd name="T4" fmla="*/ 2147483647 w 581"/>
              <a:gd name="T5" fmla="*/ 2147483647 h 498"/>
              <a:gd name="T6" fmla="*/ 2147483647 w 581"/>
              <a:gd name="T7" fmla="*/ 2147483647 h 498"/>
              <a:gd name="T8" fmla="*/ 2147483647 w 581"/>
              <a:gd name="T9" fmla="*/ 2147483647 h 49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81"/>
              <a:gd name="T16" fmla="*/ 0 h 498"/>
              <a:gd name="T17" fmla="*/ 581 w 581"/>
              <a:gd name="T18" fmla="*/ 498 h 49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81" h="498">
                <a:moveTo>
                  <a:pt x="446" y="453"/>
                </a:moveTo>
                <a:cubicBezTo>
                  <a:pt x="513" y="328"/>
                  <a:pt x="581" y="203"/>
                  <a:pt x="536" y="135"/>
                </a:cubicBezTo>
                <a:cubicBezTo>
                  <a:pt x="491" y="67"/>
                  <a:pt x="257" y="0"/>
                  <a:pt x="174" y="45"/>
                </a:cubicBezTo>
                <a:cubicBezTo>
                  <a:pt x="91" y="90"/>
                  <a:pt x="0" y="332"/>
                  <a:pt x="38" y="407"/>
                </a:cubicBezTo>
                <a:cubicBezTo>
                  <a:pt x="76" y="482"/>
                  <a:pt x="238" y="490"/>
                  <a:pt x="400" y="498"/>
                </a:cubicBez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60" name="Freeform 23"/>
          <p:cNvSpPr>
            <a:spLocks/>
          </p:cNvSpPr>
          <p:nvPr/>
        </p:nvSpPr>
        <p:spPr bwMode="auto">
          <a:xfrm>
            <a:off x="6575425" y="992188"/>
            <a:ext cx="1081088" cy="1092200"/>
          </a:xfrm>
          <a:custGeom>
            <a:avLst/>
            <a:gdLst>
              <a:gd name="T0" fmla="*/ 2147483647 w 681"/>
              <a:gd name="T1" fmla="*/ 2147483647 h 688"/>
              <a:gd name="T2" fmla="*/ 2147483647 w 681"/>
              <a:gd name="T3" fmla="*/ 2147483647 h 688"/>
              <a:gd name="T4" fmla="*/ 2147483647 w 681"/>
              <a:gd name="T5" fmla="*/ 2147483647 h 688"/>
              <a:gd name="T6" fmla="*/ 2147483647 w 681"/>
              <a:gd name="T7" fmla="*/ 2147483647 h 688"/>
              <a:gd name="T8" fmla="*/ 2147483647 w 681"/>
              <a:gd name="T9" fmla="*/ 2147483647 h 688"/>
              <a:gd name="T10" fmla="*/ 2147483647 w 681"/>
              <a:gd name="T11" fmla="*/ 2147483647 h 688"/>
              <a:gd name="T12" fmla="*/ 2147483647 w 681"/>
              <a:gd name="T13" fmla="*/ 2147483647 h 6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81"/>
              <a:gd name="T22" fmla="*/ 0 h 688"/>
              <a:gd name="T23" fmla="*/ 681 w 681"/>
              <a:gd name="T24" fmla="*/ 688 h 6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81" h="688">
                <a:moveTo>
                  <a:pt x="190" y="492"/>
                </a:moveTo>
                <a:cubicBezTo>
                  <a:pt x="103" y="439"/>
                  <a:pt x="16" y="386"/>
                  <a:pt x="8" y="310"/>
                </a:cubicBezTo>
                <a:cubicBezTo>
                  <a:pt x="0" y="234"/>
                  <a:pt x="53" y="76"/>
                  <a:pt x="144" y="38"/>
                </a:cubicBezTo>
                <a:cubicBezTo>
                  <a:pt x="235" y="0"/>
                  <a:pt x="469" y="16"/>
                  <a:pt x="552" y="84"/>
                </a:cubicBezTo>
                <a:cubicBezTo>
                  <a:pt x="635" y="152"/>
                  <a:pt x="681" y="348"/>
                  <a:pt x="643" y="446"/>
                </a:cubicBezTo>
                <a:cubicBezTo>
                  <a:pt x="605" y="544"/>
                  <a:pt x="394" y="658"/>
                  <a:pt x="326" y="673"/>
                </a:cubicBezTo>
                <a:cubicBezTo>
                  <a:pt x="258" y="688"/>
                  <a:pt x="246" y="612"/>
                  <a:pt x="235" y="537"/>
                </a:cubicBez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61" name="Oval 24"/>
          <p:cNvSpPr>
            <a:spLocks noChangeArrowheads="1"/>
          </p:cNvSpPr>
          <p:nvPr/>
        </p:nvSpPr>
        <p:spPr bwMode="auto">
          <a:xfrm>
            <a:off x="2916238" y="16287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62" name="Oval 25"/>
          <p:cNvSpPr>
            <a:spLocks noChangeArrowheads="1"/>
          </p:cNvSpPr>
          <p:nvPr/>
        </p:nvSpPr>
        <p:spPr bwMode="auto">
          <a:xfrm>
            <a:off x="1706563" y="3170238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63" name="Oval 26"/>
          <p:cNvSpPr>
            <a:spLocks noChangeArrowheads="1"/>
          </p:cNvSpPr>
          <p:nvPr/>
        </p:nvSpPr>
        <p:spPr bwMode="auto">
          <a:xfrm>
            <a:off x="2843213" y="3213100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64" name="Oval 27"/>
          <p:cNvSpPr>
            <a:spLocks noChangeArrowheads="1"/>
          </p:cNvSpPr>
          <p:nvPr/>
        </p:nvSpPr>
        <p:spPr bwMode="auto">
          <a:xfrm>
            <a:off x="5580063" y="16287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65" name="Oval 28"/>
          <p:cNvSpPr>
            <a:spLocks noChangeArrowheads="1"/>
          </p:cNvSpPr>
          <p:nvPr/>
        </p:nvSpPr>
        <p:spPr bwMode="auto">
          <a:xfrm>
            <a:off x="6804025" y="16287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66" name="Oval 29"/>
          <p:cNvSpPr>
            <a:spLocks noChangeArrowheads="1"/>
          </p:cNvSpPr>
          <p:nvPr/>
        </p:nvSpPr>
        <p:spPr bwMode="auto">
          <a:xfrm>
            <a:off x="5724525" y="3141663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67" name="Oval 30"/>
          <p:cNvSpPr>
            <a:spLocks noChangeArrowheads="1"/>
          </p:cNvSpPr>
          <p:nvPr/>
        </p:nvSpPr>
        <p:spPr bwMode="auto">
          <a:xfrm>
            <a:off x="6804025" y="3141663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B588F0A0-3490-4B65-AD47-CF488A9AA3DE}" type="slidenum">
              <a:rPr lang="zh-CN" altLang="en-US"/>
              <a:pPr>
                <a:defRPr/>
              </a:pPr>
              <a:t>38</a:t>
            </a:fld>
            <a:r>
              <a:rPr lang="zh-CN" altLang="en-US"/>
              <a:t>页</a:t>
            </a:r>
          </a:p>
        </p:txBody>
      </p:sp>
      <p:sp>
        <p:nvSpPr>
          <p:cNvPr id="92163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2.4.2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对称闭包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)(symmetric closure)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2-15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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称最小的包含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的对称关系为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的对称闭包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记为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满足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个条件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包含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；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对称性；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(3)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最小性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  <a:sym typeface="Symbol" pitchFamily="18" charset="2"/>
              </a:rPr>
              <a:t>Theorem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itchFamily="18" charset="0"/>
                <a:sym typeface="Symbol" pitchFamily="18" charset="2"/>
              </a:rPr>
              <a:t>对称闭包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s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zh-CN" altLang="en-US" dirty="0">
                <a:latin typeface="Times New Roman" pitchFamily="18" charset="0"/>
                <a:sym typeface="Symbol" pitchFamily="18" charset="2"/>
              </a:rPr>
              <a:t>的关系图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?</a:t>
            </a:r>
          </a:p>
        </p:txBody>
      </p:sp>
      <p:graphicFrame>
        <p:nvGraphicFramePr>
          <p:cNvPr id="92164" name="Object 3"/>
          <p:cNvGraphicFramePr>
            <a:graphicFrameLocks noChangeAspect="1"/>
          </p:cNvGraphicFramePr>
          <p:nvPr/>
        </p:nvGraphicFramePr>
        <p:xfrm>
          <a:off x="2627313" y="5300663"/>
          <a:ext cx="2484437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14400" imgH="142830" progId="Equation.3">
                  <p:embed/>
                </p:oleObj>
              </mc:Choice>
              <mc:Fallback>
                <p:oleObj name="公式" r:id="rId2" imgW="914400" imgH="1428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300663"/>
                        <a:ext cx="2484437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DD7252D8-622D-40E0-8BD6-72B3C41C5DC9}" type="slidenum">
              <a:rPr lang="zh-CN" altLang="en-US"/>
              <a:pPr>
                <a:defRPr/>
              </a:pPr>
              <a:t>39</a:t>
            </a:fld>
            <a:r>
              <a:rPr lang="zh-CN" altLang="en-US"/>
              <a:t>页</a:t>
            </a:r>
          </a:p>
        </p:txBody>
      </p:sp>
      <p:sp>
        <p:nvSpPr>
          <p:cNvPr id="93187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latin typeface="Times New Roman" pitchFamily="18" charset="0"/>
                <a:ea typeface="华文新魏" pitchFamily="2" charset="-122"/>
              </a:rPr>
              <a:t>例</a:t>
            </a:r>
            <a:r>
              <a:rPr lang="en-US" altLang="zh-CN" dirty="0">
                <a:latin typeface="Times New Roman" pitchFamily="18" charset="0"/>
              </a:rPr>
              <a:t>3-39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 = {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d</a:t>
            </a:r>
            <a:r>
              <a:rPr lang="en-US" altLang="zh-CN" dirty="0">
                <a:latin typeface="Times New Roman" pitchFamily="18" charset="0"/>
              </a:rPr>
              <a:t>}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93188" name="Oval 3"/>
          <p:cNvSpPr>
            <a:spLocks noChangeArrowheads="1"/>
          </p:cNvSpPr>
          <p:nvPr/>
        </p:nvSpPr>
        <p:spPr bwMode="auto">
          <a:xfrm>
            <a:off x="2916238" y="1700213"/>
            <a:ext cx="71437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89" name="Oval 4"/>
          <p:cNvSpPr>
            <a:spLocks noChangeArrowheads="1"/>
          </p:cNvSpPr>
          <p:nvPr/>
        </p:nvSpPr>
        <p:spPr bwMode="auto">
          <a:xfrm>
            <a:off x="1763713" y="1700213"/>
            <a:ext cx="71437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0" name="Oval 5"/>
          <p:cNvSpPr>
            <a:spLocks noChangeArrowheads="1"/>
          </p:cNvSpPr>
          <p:nvPr/>
        </p:nvSpPr>
        <p:spPr bwMode="auto">
          <a:xfrm>
            <a:off x="2916238" y="3141663"/>
            <a:ext cx="71437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1" name="Oval 6"/>
          <p:cNvSpPr>
            <a:spLocks noChangeArrowheads="1"/>
          </p:cNvSpPr>
          <p:nvPr/>
        </p:nvSpPr>
        <p:spPr bwMode="auto">
          <a:xfrm>
            <a:off x="1763713" y="3213100"/>
            <a:ext cx="71437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3192" name="Object 7"/>
          <p:cNvGraphicFramePr>
            <a:graphicFrameLocks noChangeAspect="1"/>
          </p:cNvGraphicFramePr>
          <p:nvPr/>
        </p:nvGraphicFramePr>
        <p:xfrm>
          <a:off x="2843213" y="1268413"/>
          <a:ext cx="31432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089" imgH="57240" progId="Equation.3">
                  <p:embed/>
                </p:oleObj>
              </mc:Choice>
              <mc:Fallback>
                <p:oleObj name="公式" r:id="rId2" imgW="38089" imgH="57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1268413"/>
                        <a:ext cx="31432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3" name="Object 8"/>
          <p:cNvGraphicFramePr>
            <a:graphicFrameLocks noChangeAspect="1"/>
          </p:cNvGraphicFramePr>
          <p:nvPr/>
        </p:nvGraphicFramePr>
        <p:xfrm>
          <a:off x="1403350" y="1196975"/>
          <a:ext cx="3143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089" imgH="95310" progId="Equation.3">
                  <p:embed/>
                </p:oleObj>
              </mc:Choice>
              <mc:Fallback>
                <p:oleObj name="公式" r:id="rId4" imgW="38089" imgH="9531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196975"/>
                        <a:ext cx="3143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4" name="Object 10"/>
          <p:cNvGraphicFramePr>
            <a:graphicFrameLocks noChangeAspect="1"/>
          </p:cNvGraphicFramePr>
          <p:nvPr/>
        </p:nvGraphicFramePr>
        <p:xfrm>
          <a:off x="2843213" y="3284538"/>
          <a:ext cx="3444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7268" imgH="95310" progId="Equation.3">
                  <p:embed/>
                </p:oleObj>
              </mc:Choice>
              <mc:Fallback>
                <p:oleObj name="公式" r:id="rId6" imgW="57268" imgH="9531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284538"/>
                        <a:ext cx="3444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5" name="Line 11"/>
          <p:cNvSpPr>
            <a:spLocks noChangeShapeType="1"/>
          </p:cNvSpPr>
          <p:nvPr/>
        </p:nvSpPr>
        <p:spPr bwMode="auto">
          <a:xfrm flipH="1">
            <a:off x="1835150" y="1751013"/>
            <a:ext cx="1081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196" name="Line 12"/>
          <p:cNvSpPr>
            <a:spLocks noChangeShapeType="1"/>
          </p:cNvSpPr>
          <p:nvPr/>
        </p:nvSpPr>
        <p:spPr bwMode="auto">
          <a:xfrm flipV="1">
            <a:off x="1835150" y="1844675"/>
            <a:ext cx="1081088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197" name="Freeform 13"/>
          <p:cNvSpPr>
            <a:spLocks/>
          </p:cNvSpPr>
          <p:nvPr/>
        </p:nvSpPr>
        <p:spPr bwMode="auto">
          <a:xfrm>
            <a:off x="1271588" y="3117850"/>
            <a:ext cx="779462" cy="827088"/>
          </a:xfrm>
          <a:custGeom>
            <a:avLst/>
            <a:gdLst>
              <a:gd name="T0" fmla="*/ 2147483647 w 491"/>
              <a:gd name="T1" fmla="*/ 2147483647 h 521"/>
              <a:gd name="T2" fmla="*/ 2147483647 w 491"/>
              <a:gd name="T3" fmla="*/ 2147483647 h 521"/>
              <a:gd name="T4" fmla="*/ 2147483647 w 491"/>
              <a:gd name="T5" fmla="*/ 2147483647 h 521"/>
              <a:gd name="T6" fmla="*/ 2147483647 w 491"/>
              <a:gd name="T7" fmla="*/ 2147483647 h 521"/>
              <a:gd name="T8" fmla="*/ 2147483647 w 491"/>
              <a:gd name="T9" fmla="*/ 2147483647 h 5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91"/>
              <a:gd name="T16" fmla="*/ 0 h 521"/>
              <a:gd name="T17" fmla="*/ 491 w 491"/>
              <a:gd name="T18" fmla="*/ 521 h 5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91" h="521">
                <a:moveTo>
                  <a:pt x="310" y="105"/>
                </a:moveTo>
                <a:cubicBezTo>
                  <a:pt x="193" y="52"/>
                  <a:pt x="76" y="0"/>
                  <a:pt x="38" y="60"/>
                </a:cubicBezTo>
                <a:cubicBezTo>
                  <a:pt x="0" y="120"/>
                  <a:pt x="15" y="415"/>
                  <a:pt x="83" y="468"/>
                </a:cubicBezTo>
                <a:cubicBezTo>
                  <a:pt x="151" y="521"/>
                  <a:pt x="401" y="430"/>
                  <a:pt x="446" y="377"/>
                </a:cubicBezTo>
                <a:cubicBezTo>
                  <a:pt x="491" y="324"/>
                  <a:pt x="423" y="237"/>
                  <a:pt x="355" y="15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198" name="Freeform 14"/>
          <p:cNvSpPr>
            <a:spLocks/>
          </p:cNvSpPr>
          <p:nvPr/>
        </p:nvSpPr>
        <p:spPr bwMode="auto">
          <a:xfrm>
            <a:off x="2700338" y="2960688"/>
            <a:ext cx="804862" cy="889000"/>
          </a:xfrm>
          <a:custGeom>
            <a:avLst/>
            <a:gdLst>
              <a:gd name="T0" fmla="*/ 2147483647 w 507"/>
              <a:gd name="T1" fmla="*/ 2147483647 h 560"/>
              <a:gd name="T2" fmla="*/ 2147483647 w 507"/>
              <a:gd name="T3" fmla="*/ 2147483647 h 560"/>
              <a:gd name="T4" fmla="*/ 2147483647 w 507"/>
              <a:gd name="T5" fmla="*/ 2147483647 h 560"/>
              <a:gd name="T6" fmla="*/ 2147483647 w 507"/>
              <a:gd name="T7" fmla="*/ 2147483647 h 560"/>
              <a:gd name="T8" fmla="*/ 2147483647 w 507"/>
              <a:gd name="T9" fmla="*/ 2147483647 h 560"/>
              <a:gd name="T10" fmla="*/ 0 w 507"/>
              <a:gd name="T11" fmla="*/ 2147483647 h 560"/>
              <a:gd name="T12" fmla="*/ 2147483647 w 507"/>
              <a:gd name="T13" fmla="*/ 2147483647 h 5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07"/>
              <a:gd name="T22" fmla="*/ 0 h 560"/>
              <a:gd name="T23" fmla="*/ 507 w 507"/>
              <a:gd name="T24" fmla="*/ 560 h 5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07" h="560">
                <a:moveTo>
                  <a:pt x="136" y="159"/>
                </a:moveTo>
                <a:cubicBezTo>
                  <a:pt x="173" y="79"/>
                  <a:pt x="211" y="0"/>
                  <a:pt x="272" y="23"/>
                </a:cubicBezTo>
                <a:cubicBezTo>
                  <a:pt x="333" y="46"/>
                  <a:pt x="507" y="212"/>
                  <a:pt x="499" y="295"/>
                </a:cubicBezTo>
                <a:cubicBezTo>
                  <a:pt x="491" y="378"/>
                  <a:pt x="294" y="484"/>
                  <a:pt x="226" y="522"/>
                </a:cubicBezTo>
                <a:cubicBezTo>
                  <a:pt x="158" y="560"/>
                  <a:pt x="127" y="552"/>
                  <a:pt x="90" y="522"/>
                </a:cubicBezTo>
                <a:cubicBezTo>
                  <a:pt x="53" y="492"/>
                  <a:pt x="0" y="393"/>
                  <a:pt x="0" y="340"/>
                </a:cubicBezTo>
                <a:cubicBezTo>
                  <a:pt x="0" y="287"/>
                  <a:pt x="45" y="245"/>
                  <a:pt x="90" y="20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3199" name="Object 15"/>
          <p:cNvGraphicFramePr>
            <a:graphicFrameLocks noChangeAspect="1"/>
          </p:cNvGraphicFramePr>
          <p:nvPr/>
        </p:nvGraphicFramePr>
        <p:xfrm>
          <a:off x="2030413" y="4246563"/>
          <a:ext cx="531812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3446" imgH="133380" progId="Equation.3">
                  <p:embed/>
                </p:oleObj>
              </mc:Choice>
              <mc:Fallback>
                <p:oleObj name="公式" r:id="rId8" imgW="133446" imgH="1333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0413" y="4246563"/>
                        <a:ext cx="531812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00" name="Oval 16"/>
          <p:cNvSpPr>
            <a:spLocks noChangeArrowheads="1"/>
          </p:cNvSpPr>
          <p:nvPr/>
        </p:nvSpPr>
        <p:spPr bwMode="auto">
          <a:xfrm>
            <a:off x="6877050" y="1700213"/>
            <a:ext cx="71438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3201" name="Object 17"/>
          <p:cNvGraphicFramePr>
            <a:graphicFrameLocks noChangeAspect="1"/>
          </p:cNvGraphicFramePr>
          <p:nvPr/>
        </p:nvGraphicFramePr>
        <p:xfrm>
          <a:off x="6948488" y="1268413"/>
          <a:ext cx="31432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8089" imgH="57240" progId="Equation.3">
                  <p:embed/>
                </p:oleObj>
              </mc:Choice>
              <mc:Fallback>
                <p:oleObj name="公式" r:id="rId10" imgW="38089" imgH="572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1268413"/>
                        <a:ext cx="31432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02" name="Line 18"/>
          <p:cNvSpPr>
            <a:spLocks noChangeShapeType="1"/>
          </p:cNvSpPr>
          <p:nvPr/>
        </p:nvSpPr>
        <p:spPr bwMode="auto">
          <a:xfrm flipH="1">
            <a:off x="5768975" y="1728788"/>
            <a:ext cx="1081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203" name="Oval 19"/>
          <p:cNvSpPr>
            <a:spLocks noChangeArrowheads="1"/>
          </p:cNvSpPr>
          <p:nvPr/>
        </p:nvSpPr>
        <p:spPr bwMode="auto">
          <a:xfrm>
            <a:off x="5680075" y="1695450"/>
            <a:ext cx="71438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3204" name="Object 20"/>
          <p:cNvGraphicFramePr>
            <a:graphicFrameLocks noChangeAspect="1"/>
          </p:cNvGraphicFramePr>
          <p:nvPr/>
        </p:nvGraphicFramePr>
        <p:xfrm>
          <a:off x="5435600" y="1196975"/>
          <a:ext cx="3143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8089" imgH="95310" progId="Equation.3">
                  <p:embed/>
                </p:oleObj>
              </mc:Choice>
              <mc:Fallback>
                <p:oleObj name="公式" r:id="rId12" imgW="38089" imgH="9531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1196975"/>
                        <a:ext cx="3143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05" name="Line 21"/>
          <p:cNvSpPr>
            <a:spLocks noChangeShapeType="1"/>
          </p:cNvSpPr>
          <p:nvPr/>
        </p:nvSpPr>
        <p:spPr bwMode="auto">
          <a:xfrm flipV="1">
            <a:off x="5795963" y="1773238"/>
            <a:ext cx="1081087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206" name="Oval 22"/>
          <p:cNvSpPr>
            <a:spLocks noChangeArrowheads="1"/>
          </p:cNvSpPr>
          <p:nvPr/>
        </p:nvSpPr>
        <p:spPr bwMode="auto">
          <a:xfrm>
            <a:off x="5724525" y="3141663"/>
            <a:ext cx="71438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07" name="Freeform 23"/>
          <p:cNvSpPr>
            <a:spLocks/>
          </p:cNvSpPr>
          <p:nvPr/>
        </p:nvSpPr>
        <p:spPr bwMode="auto">
          <a:xfrm>
            <a:off x="5219700" y="2997200"/>
            <a:ext cx="779463" cy="827088"/>
          </a:xfrm>
          <a:custGeom>
            <a:avLst/>
            <a:gdLst>
              <a:gd name="T0" fmla="*/ 2147483647 w 491"/>
              <a:gd name="T1" fmla="*/ 2147483647 h 521"/>
              <a:gd name="T2" fmla="*/ 2147483647 w 491"/>
              <a:gd name="T3" fmla="*/ 2147483647 h 521"/>
              <a:gd name="T4" fmla="*/ 2147483647 w 491"/>
              <a:gd name="T5" fmla="*/ 2147483647 h 521"/>
              <a:gd name="T6" fmla="*/ 2147483647 w 491"/>
              <a:gd name="T7" fmla="*/ 2147483647 h 521"/>
              <a:gd name="T8" fmla="*/ 2147483647 w 491"/>
              <a:gd name="T9" fmla="*/ 2147483647 h 5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91"/>
              <a:gd name="T16" fmla="*/ 0 h 521"/>
              <a:gd name="T17" fmla="*/ 491 w 491"/>
              <a:gd name="T18" fmla="*/ 521 h 5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91" h="521">
                <a:moveTo>
                  <a:pt x="310" y="105"/>
                </a:moveTo>
                <a:cubicBezTo>
                  <a:pt x="193" y="52"/>
                  <a:pt x="76" y="0"/>
                  <a:pt x="38" y="60"/>
                </a:cubicBezTo>
                <a:cubicBezTo>
                  <a:pt x="0" y="120"/>
                  <a:pt x="15" y="415"/>
                  <a:pt x="83" y="468"/>
                </a:cubicBezTo>
                <a:cubicBezTo>
                  <a:pt x="151" y="521"/>
                  <a:pt x="401" y="430"/>
                  <a:pt x="446" y="377"/>
                </a:cubicBezTo>
                <a:cubicBezTo>
                  <a:pt x="491" y="324"/>
                  <a:pt x="423" y="237"/>
                  <a:pt x="355" y="15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3208" name="Object 24"/>
          <p:cNvGraphicFramePr>
            <a:graphicFrameLocks noChangeAspect="1"/>
          </p:cNvGraphicFramePr>
          <p:nvPr/>
        </p:nvGraphicFramePr>
        <p:xfrm>
          <a:off x="5435600" y="3284538"/>
          <a:ext cx="28257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8634" imgH="57240" progId="Equation.3">
                  <p:embed/>
                </p:oleObj>
              </mc:Choice>
              <mc:Fallback>
                <p:oleObj name="公式" r:id="rId14" imgW="28634" imgH="5724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3284538"/>
                        <a:ext cx="28257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09" name="Freeform 25"/>
          <p:cNvSpPr>
            <a:spLocks/>
          </p:cNvSpPr>
          <p:nvPr/>
        </p:nvSpPr>
        <p:spPr bwMode="auto">
          <a:xfrm>
            <a:off x="6588125" y="2924175"/>
            <a:ext cx="804863" cy="889000"/>
          </a:xfrm>
          <a:custGeom>
            <a:avLst/>
            <a:gdLst>
              <a:gd name="T0" fmla="*/ 2147483647 w 507"/>
              <a:gd name="T1" fmla="*/ 2147483647 h 560"/>
              <a:gd name="T2" fmla="*/ 2147483647 w 507"/>
              <a:gd name="T3" fmla="*/ 2147483647 h 560"/>
              <a:gd name="T4" fmla="*/ 2147483647 w 507"/>
              <a:gd name="T5" fmla="*/ 2147483647 h 560"/>
              <a:gd name="T6" fmla="*/ 2147483647 w 507"/>
              <a:gd name="T7" fmla="*/ 2147483647 h 560"/>
              <a:gd name="T8" fmla="*/ 2147483647 w 507"/>
              <a:gd name="T9" fmla="*/ 2147483647 h 560"/>
              <a:gd name="T10" fmla="*/ 0 w 507"/>
              <a:gd name="T11" fmla="*/ 2147483647 h 560"/>
              <a:gd name="T12" fmla="*/ 2147483647 w 507"/>
              <a:gd name="T13" fmla="*/ 2147483647 h 5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07"/>
              <a:gd name="T22" fmla="*/ 0 h 560"/>
              <a:gd name="T23" fmla="*/ 507 w 507"/>
              <a:gd name="T24" fmla="*/ 560 h 5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07" h="560">
                <a:moveTo>
                  <a:pt x="136" y="159"/>
                </a:moveTo>
                <a:cubicBezTo>
                  <a:pt x="173" y="79"/>
                  <a:pt x="211" y="0"/>
                  <a:pt x="272" y="23"/>
                </a:cubicBezTo>
                <a:cubicBezTo>
                  <a:pt x="333" y="46"/>
                  <a:pt x="507" y="212"/>
                  <a:pt x="499" y="295"/>
                </a:cubicBezTo>
                <a:cubicBezTo>
                  <a:pt x="491" y="378"/>
                  <a:pt x="294" y="484"/>
                  <a:pt x="226" y="522"/>
                </a:cubicBezTo>
                <a:cubicBezTo>
                  <a:pt x="158" y="560"/>
                  <a:pt x="127" y="552"/>
                  <a:pt x="90" y="522"/>
                </a:cubicBezTo>
                <a:cubicBezTo>
                  <a:pt x="53" y="492"/>
                  <a:pt x="0" y="393"/>
                  <a:pt x="0" y="340"/>
                </a:cubicBezTo>
                <a:cubicBezTo>
                  <a:pt x="0" y="287"/>
                  <a:pt x="45" y="245"/>
                  <a:pt x="90" y="20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3210" name="Object 26"/>
          <p:cNvGraphicFramePr>
            <a:graphicFrameLocks noChangeAspect="1"/>
          </p:cNvGraphicFramePr>
          <p:nvPr/>
        </p:nvGraphicFramePr>
        <p:xfrm>
          <a:off x="6804025" y="3213100"/>
          <a:ext cx="3444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7268" imgH="95310" progId="Equation.3">
                  <p:embed/>
                </p:oleObj>
              </mc:Choice>
              <mc:Fallback>
                <p:oleObj name="公式" r:id="rId16" imgW="57268" imgH="9531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3213100"/>
                        <a:ext cx="3444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11" name="Oval 27"/>
          <p:cNvSpPr>
            <a:spLocks noChangeArrowheads="1"/>
          </p:cNvSpPr>
          <p:nvPr/>
        </p:nvSpPr>
        <p:spPr bwMode="auto">
          <a:xfrm>
            <a:off x="6804025" y="3213100"/>
            <a:ext cx="71438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3212" name="Object 28"/>
          <p:cNvGraphicFramePr>
            <a:graphicFrameLocks noChangeAspect="1"/>
          </p:cNvGraphicFramePr>
          <p:nvPr/>
        </p:nvGraphicFramePr>
        <p:xfrm>
          <a:off x="5872163" y="4191000"/>
          <a:ext cx="8128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47712" imgH="152280" progId="Equation.3">
                  <p:embed/>
                </p:oleObj>
              </mc:Choice>
              <mc:Fallback>
                <p:oleObj name="公式" r:id="rId18" imgW="247712" imgH="15228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2163" y="4191000"/>
                        <a:ext cx="8128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13" name="Freeform 29"/>
          <p:cNvSpPr>
            <a:spLocks/>
          </p:cNvSpPr>
          <p:nvPr/>
        </p:nvSpPr>
        <p:spPr bwMode="auto">
          <a:xfrm>
            <a:off x="5724525" y="1257300"/>
            <a:ext cx="1152525" cy="442913"/>
          </a:xfrm>
          <a:custGeom>
            <a:avLst/>
            <a:gdLst>
              <a:gd name="T0" fmla="*/ 0 w 726"/>
              <a:gd name="T1" fmla="*/ 2147483647 h 279"/>
              <a:gd name="T2" fmla="*/ 2147483647 w 726"/>
              <a:gd name="T3" fmla="*/ 2147483647 h 279"/>
              <a:gd name="T4" fmla="*/ 2147483647 w 726"/>
              <a:gd name="T5" fmla="*/ 2147483647 h 279"/>
              <a:gd name="T6" fmla="*/ 0 60000 65536"/>
              <a:gd name="T7" fmla="*/ 0 60000 65536"/>
              <a:gd name="T8" fmla="*/ 0 60000 65536"/>
              <a:gd name="T9" fmla="*/ 0 w 726"/>
              <a:gd name="T10" fmla="*/ 0 h 279"/>
              <a:gd name="T11" fmla="*/ 726 w 726"/>
              <a:gd name="T12" fmla="*/ 279 h 27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6" h="279">
                <a:moveTo>
                  <a:pt x="0" y="279"/>
                </a:moveTo>
                <a:cubicBezTo>
                  <a:pt x="98" y="146"/>
                  <a:pt x="196" y="14"/>
                  <a:pt x="317" y="7"/>
                </a:cubicBezTo>
                <a:cubicBezTo>
                  <a:pt x="438" y="0"/>
                  <a:pt x="582" y="117"/>
                  <a:pt x="726" y="234"/>
                </a:cubicBez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214" name="Freeform 30"/>
          <p:cNvSpPr>
            <a:spLocks/>
          </p:cNvSpPr>
          <p:nvPr/>
        </p:nvSpPr>
        <p:spPr bwMode="auto">
          <a:xfrm>
            <a:off x="5867400" y="1773238"/>
            <a:ext cx="1260475" cy="1439862"/>
          </a:xfrm>
          <a:custGeom>
            <a:avLst/>
            <a:gdLst>
              <a:gd name="T0" fmla="*/ 2147483647 w 794"/>
              <a:gd name="T1" fmla="*/ 0 h 907"/>
              <a:gd name="T2" fmla="*/ 2147483647 w 794"/>
              <a:gd name="T3" fmla="*/ 2147483647 h 907"/>
              <a:gd name="T4" fmla="*/ 0 w 794"/>
              <a:gd name="T5" fmla="*/ 2147483647 h 907"/>
              <a:gd name="T6" fmla="*/ 0 60000 65536"/>
              <a:gd name="T7" fmla="*/ 0 60000 65536"/>
              <a:gd name="T8" fmla="*/ 0 60000 65536"/>
              <a:gd name="T9" fmla="*/ 0 w 794"/>
              <a:gd name="T10" fmla="*/ 0 h 907"/>
              <a:gd name="T11" fmla="*/ 794 w 794"/>
              <a:gd name="T12" fmla="*/ 907 h 9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94" h="907">
                <a:moveTo>
                  <a:pt x="681" y="0"/>
                </a:moveTo>
                <a:cubicBezTo>
                  <a:pt x="737" y="196"/>
                  <a:pt x="794" y="393"/>
                  <a:pt x="681" y="544"/>
                </a:cubicBezTo>
                <a:cubicBezTo>
                  <a:pt x="568" y="695"/>
                  <a:pt x="284" y="801"/>
                  <a:pt x="0" y="907"/>
                </a:cubicBez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3215" name="对象 1"/>
          <p:cNvGraphicFramePr>
            <a:graphicFrameLocks noChangeAspect="1"/>
          </p:cNvGraphicFramePr>
          <p:nvPr/>
        </p:nvGraphicFramePr>
        <p:xfrm>
          <a:off x="1457325" y="3411538"/>
          <a:ext cx="28257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9179" imgH="47520" progId="Equation.3">
                  <p:embed/>
                </p:oleObj>
              </mc:Choice>
              <mc:Fallback>
                <p:oleObj name="公式" r:id="rId14" imgW="19179" imgH="47520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325" y="3411538"/>
                        <a:ext cx="28257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86452625-2D68-4DA9-80AF-9E1C54FD46AD}" type="slidenum">
              <a:rPr lang="zh-CN" altLang="en-US"/>
              <a:pPr>
                <a:defRPr/>
              </a:pPr>
              <a:t>40</a:t>
            </a:fld>
            <a:r>
              <a:rPr lang="zh-CN" altLang="en-US"/>
              <a:t>页</a:t>
            </a:r>
          </a:p>
        </p:txBody>
      </p:sp>
      <p:sp>
        <p:nvSpPr>
          <p:cNvPr id="94211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2.4.3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传递闭包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(transitive closure)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2-16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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称最小的包含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的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传递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关系为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的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传递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闭包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记为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满足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个条件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(1)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包含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；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(2)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传递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性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；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(3)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最小性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D35F5841-2FC6-4F87-924D-EFF48C6770A2}" type="slidenum">
              <a:rPr lang="zh-CN" altLang="en-US"/>
              <a:pPr>
                <a:defRPr/>
              </a:pPr>
              <a:t>41</a:t>
            </a:fld>
            <a:r>
              <a:rPr lang="zh-CN" altLang="en-US"/>
              <a:t>页</a:t>
            </a:r>
          </a:p>
        </p:txBody>
      </p:sp>
      <p:sp>
        <p:nvSpPr>
          <p:cNvPr id="95235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2-40   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},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{(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)},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).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Solution 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dirty="0">
                <a:latin typeface="Times New Roman" pitchFamily="18" charset="0"/>
              </a:rPr>
              <a:t>(</a:t>
            </a:r>
            <a:r>
              <a:rPr lang="en-US" altLang="zh-CN" i="1" dirty="0">
                <a:latin typeface="Times New Roman" pitchFamily="18" charset="0"/>
              </a:rPr>
              <a:t>R</a:t>
            </a:r>
            <a:r>
              <a:rPr lang="en-US" altLang="zh-CN" dirty="0">
                <a:latin typeface="Times New Roman" pitchFamily="18" charset="0"/>
              </a:rPr>
              <a:t>) = {(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), (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), (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),</a:t>
            </a:r>
            <a:r>
              <a:rPr lang="zh-Hans" altLang="en-US" dirty="0">
                <a:latin typeface="Times New Roman" pitchFamily="18" charset="0"/>
              </a:rPr>
              <a:t>          </a:t>
            </a:r>
            <a:r>
              <a:rPr lang="en-US" altLang="zh-CN" dirty="0">
                <a:latin typeface="Times New Roman" pitchFamily="18" charset="0"/>
              </a:rPr>
              <a:t>,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Hans" altLang="en-US" dirty="0">
                <a:latin typeface="Times New Roman" pitchFamily="18" charset="0"/>
              </a:rPr>
              <a:t>                                   </a:t>
            </a:r>
            <a:r>
              <a:rPr lang="en-US" altLang="zh-CN" dirty="0">
                <a:latin typeface="Times New Roman" pitchFamily="18" charset="0"/>
              </a:rPr>
              <a:t>}.</a:t>
            </a:r>
          </a:p>
        </p:txBody>
      </p:sp>
      <p:sp>
        <p:nvSpPr>
          <p:cNvPr id="95236" name="Line 3"/>
          <p:cNvSpPr>
            <a:spLocks noChangeShapeType="1"/>
          </p:cNvSpPr>
          <p:nvPr/>
        </p:nvSpPr>
        <p:spPr bwMode="auto">
          <a:xfrm>
            <a:off x="2051720" y="3938812"/>
            <a:ext cx="2376487" cy="0"/>
          </a:xfrm>
          <a:prstGeom prst="line">
            <a:avLst/>
          </a:prstGeom>
          <a:noFill/>
          <a:ln w="57150" cmpd="thinThick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237" name="Line 4"/>
          <p:cNvSpPr>
            <a:spLocks noChangeShapeType="1"/>
          </p:cNvSpPr>
          <p:nvPr/>
        </p:nvSpPr>
        <p:spPr bwMode="auto">
          <a:xfrm>
            <a:off x="5868144" y="3140968"/>
            <a:ext cx="719138" cy="0"/>
          </a:xfrm>
          <a:prstGeom prst="line">
            <a:avLst/>
          </a:prstGeom>
          <a:noFill/>
          <a:ln w="57150" cmpd="thinThick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F886A2-F11D-C84E-8D56-F6CE2CC1933C}"/>
              </a:ext>
            </a:extLst>
          </p:cNvPr>
          <p:cNvSpPr txBox="1"/>
          <p:nvPr/>
        </p:nvSpPr>
        <p:spPr>
          <a:xfrm>
            <a:off x="5652120" y="2492896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600" kern="0" dirty="0">
                <a:solidFill>
                  <a:schemeClr val="accent2"/>
                </a:solidFill>
                <a:latin typeface="Times New Roman" pitchFamily="18" charset="0"/>
                <a:ea typeface="楷体_GB2312"/>
              </a:rPr>
              <a:t>(</a:t>
            </a:r>
            <a:r>
              <a:rPr lang="en-US" altLang="zh-CN" sz="3600" i="1" kern="0" dirty="0">
                <a:solidFill>
                  <a:schemeClr val="accent2"/>
                </a:solidFill>
                <a:latin typeface="Times New Roman" pitchFamily="18" charset="0"/>
                <a:ea typeface="楷体_GB2312"/>
              </a:rPr>
              <a:t>a</a:t>
            </a:r>
            <a:r>
              <a:rPr lang="en-US" altLang="zh-CN" sz="3600" kern="0" dirty="0">
                <a:solidFill>
                  <a:schemeClr val="accent2"/>
                </a:solidFill>
                <a:latin typeface="Times New Roman" pitchFamily="18" charset="0"/>
                <a:ea typeface="楷体_GB2312"/>
              </a:rPr>
              <a:t>, </a:t>
            </a:r>
            <a:r>
              <a:rPr lang="en-US" altLang="zh-CN" sz="3600" i="1" kern="0" dirty="0">
                <a:solidFill>
                  <a:schemeClr val="accent2"/>
                </a:solidFill>
                <a:latin typeface="Times New Roman" pitchFamily="18" charset="0"/>
                <a:ea typeface="楷体_GB2312"/>
              </a:rPr>
              <a:t>c</a:t>
            </a:r>
            <a:r>
              <a:rPr lang="en-US" altLang="zh-CN" sz="3600" kern="0" dirty="0">
                <a:solidFill>
                  <a:schemeClr val="accent2"/>
                </a:solidFill>
                <a:latin typeface="Times New Roman" pitchFamily="18" charset="0"/>
                <a:ea typeface="楷体_GB2312"/>
              </a:rPr>
              <a:t>)</a:t>
            </a:r>
            <a:endParaRPr kumimoji="1" lang="zh-CN" altLang="en-US" dirty="0">
              <a:solidFill>
                <a:schemeClr val="accent2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880F22-A763-6743-B72E-2B7572E720A7}"/>
              </a:ext>
            </a:extLst>
          </p:cNvPr>
          <p:cNvSpPr txBox="1"/>
          <p:nvPr/>
        </p:nvSpPr>
        <p:spPr>
          <a:xfrm>
            <a:off x="1979712" y="3286725"/>
            <a:ext cx="201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600" dirty="0">
                <a:solidFill>
                  <a:srgbClr val="7030A0"/>
                </a:solidFill>
                <a:latin typeface="Times New Roman" pitchFamily="18" charset="0"/>
              </a:rPr>
              <a:t>(</a:t>
            </a:r>
            <a:r>
              <a:rPr lang="en-US" altLang="zh-CN" sz="3600" i="1" dirty="0">
                <a:solidFill>
                  <a:srgbClr val="7030A0"/>
                </a:solidFill>
                <a:latin typeface="Times New Roman" pitchFamily="18" charset="0"/>
              </a:rPr>
              <a:t>a</a:t>
            </a:r>
            <a:r>
              <a:rPr lang="en-US" altLang="zh-CN" sz="3600" dirty="0">
                <a:solidFill>
                  <a:srgbClr val="7030A0"/>
                </a:solidFill>
                <a:latin typeface="Times New Roman" pitchFamily="18" charset="0"/>
              </a:rPr>
              <a:t>, </a:t>
            </a:r>
            <a:r>
              <a:rPr lang="en-US" altLang="zh-CN" sz="3600" i="1" dirty="0">
                <a:solidFill>
                  <a:srgbClr val="7030A0"/>
                </a:solidFill>
                <a:latin typeface="Times New Roman" pitchFamily="18" charset="0"/>
              </a:rPr>
              <a:t>a</a:t>
            </a:r>
            <a:r>
              <a:rPr lang="en-US" altLang="zh-CN" sz="3600" dirty="0">
                <a:solidFill>
                  <a:srgbClr val="7030A0"/>
                </a:solidFill>
                <a:latin typeface="Times New Roman" pitchFamily="18" charset="0"/>
              </a:rPr>
              <a:t>)</a:t>
            </a:r>
            <a:r>
              <a:rPr lang="en-US" altLang="zh-CN" sz="3600" dirty="0">
                <a:solidFill>
                  <a:schemeClr val="tx1"/>
                </a:solidFill>
                <a:latin typeface="Times New Roman" pitchFamily="18" charset="0"/>
              </a:rPr>
              <a:t>,</a:t>
            </a:r>
            <a:endParaRPr kumimoji="1" lang="zh-CN" altLang="en-US" sz="3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D92941-344E-1645-9427-17873B778D5B}"/>
              </a:ext>
            </a:extLst>
          </p:cNvPr>
          <p:cNvSpPr txBox="1"/>
          <p:nvPr/>
        </p:nvSpPr>
        <p:spPr>
          <a:xfrm>
            <a:off x="3203848" y="3286725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600" dirty="0">
                <a:solidFill>
                  <a:srgbClr val="7030A0"/>
                </a:solidFill>
                <a:latin typeface="Times New Roman" pitchFamily="18" charset="0"/>
              </a:rPr>
              <a:t>(</a:t>
            </a:r>
            <a:r>
              <a:rPr lang="en-US" altLang="zh-CN" sz="3600" i="1" dirty="0">
                <a:solidFill>
                  <a:srgbClr val="7030A0"/>
                </a:solidFill>
                <a:latin typeface="Times New Roman" pitchFamily="18" charset="0"/>
              </a:rPr>
              <a:t>b</a:t>
            </a:r>
            <a:r>
              <a:rPr lang="en-US" altLang="zh-CN" sz="3600" dirty="0">
                <a:solidFill>
                  <a:srgbClr val="7030A0"/>
                </a:solidFill>
                <a:latin typeface="Times New Roman" pitchFamily="18" charset="0"/>
              </a:rPr>
              <a:t>, </a:t>
            </a:r>
            <a:r>
              <a:rPr lang="en-US" altLang="zh-CN" sz="3600" i="1" dirty="0">
                <a:solidFill>
                  <a:srgbClr val="7030A0"/>
                </a:solidFill>
                <a:latin typeface="Times New Roman" pitchFamily="18" charset="0"/>
              </a:rPr>
              <a:t>b</a:t>
            </a:r>
            <a:r>
              <a:rPr lang="en-US" altLang="zh-CN" sz="3600" dirty="0">
                <a:solidFill>
                  <a:srgbClr val="7030A0"/>
                </a:solidFill>
                <a:latin typeface="Times New Roman" pitchFamily="18" charset="0"/>
              </a:rPr>
              <a:t>)</a:t>
            </a:r>
            <a:endParaRPr kumimoji="1" lang="zh-CN" altLang="en-US" sz="36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9202CFCE-394C-4A51-8A96-A7B4F883BAE2}" type="slidenum">
              <a:rPr lang="zh-CN" altLang="en-US"/>
              <a:pPr>
                <a:defRPr/>
              </a:pPr>
              <a:t>42</a:t>
            </a:fld>
            <a:r>
              <a:rPr lang="zh-CN" altLang="en-US"/>
              <a:t>页</a:t>
            </a:r>
          </a:p>
        </p:txBody>
      </p:sp>
      <p:sp>
        <p:nvSpPr>
          <p:cNvPr id="96259" name="Rectangle 2"/>
          <p:cNvSpPr>
            <a:spLocks noGrp="1" noChangeArrowheads="1"/>
          </p:cNvSpPr>
          <p:nvPr>
            <p:ph/>
          </p:nvPr>
        </p:nvSpPr>
        <p:spPr>
          <a:xfrm>
            <a:off x="11113" y="92868"/>
            <a:ext cx="9144000" cy="624046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从关系图看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只要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在里面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一定要加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).</a:t>
            </a:r>
            <a:endParaRPr lang="en-US" altLang="zh-CN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96260" name="Oval 3"/>
          <p:cNvSpPr>
            <a:spLocks noChangeArrowheads="1"/>
          </p:cNvSpPr>
          <p:nvPr/>
        </p:nvSpPr>
        <p:spPr bwMode="auto">
          <a:xfrm>
            <a:off x="3132138" y="30686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61" name="Oval 4"/>
          <p:cNvSpPr>
            <a:spLocks noChangeArrowheads="1"/>
          </p:cNvSpPr>
          <p:nvPr/>
        </p:nvSpPr>
        <p:spPr bwMode="auto">
          <a:xfrm>
            <a:off x="4643438" y="40767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62" name="Oval 5"/>
          <p:cNvSpPr>
            <a:spLocks noChangeArrowheads="1"/>
          </p:cNvSpPr>
          <p:nvPr/>
        </p:nvSpPr>
        <p:spPr bwMode="auto">
          <a:xfrm>
            <a:off x="5148263" y="21336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626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190468"/>
              </p:ext>
            </p:extLst>
          </p:nvPr>
        </p:nvGraphicFramePr>
        <p:xfrm>
          <a:off x="3177555" y="2658815"/>
          <a:ext cx="314325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9" imgH="57240" progId="Equation.3">
                  <p:embed/>
                </p:oleObj>
              </mc:Choice>
              <mc:Fallback>
                <p:oleObj name="Equation" r:id="rId2" imgW="38089" imgH="57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7555" y="2658815"/>
                        <a:ext cx="314325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771631"/>
              </p:ext>
            </p:extLst>
          </p:nvPr>
        </p:nvGraphicFramePr>
        <p:xfrm>
          <a:off x="4644008" y="4149725"/>
          <a:ext cx="314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089" imgH="95310" progId="Equation.3">
                  <p:embed/>
                </p:oleObj>
              </mc:Choice>
              <mc:Fallback>
                <p:oleObj name="Equation" r:id="rId4" imgW="38089" imgH="9531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4149725"/>
                        <a:ext cx="31432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3732442"/>
              </p:ext>
            </p:extLst>
          </p:nvPr>
        </p:nvGraphicFramePr>
        <p:xfrm>
          <a:off x="5076825" y="1722711"/>
          <a:ext cx="282575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634" imgH="57240" progId="Equation.3">
                  <p:embed/>
                </p:oleObj>
              </mc:Choice>
              <mc:Fallback>
                <p:oleObj name="Equation" r:id="rId6" imgW="28634" imgH="572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1722711"/>
                        <a:ext cx="282575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6" name="Freeform 9"/>
          <p:cNvSpPr>
            <a:spLocks/>
          </p:cNvSpPr>
          <p:nvPr/>
        </p:nvSpPr>
        <p:spPr bwMode="auto">
          <a:xfrm>
            <a:off x="3203575" y="3284538"/>
            <a:ext cx="1379538" cy="936625"/>
          </a:xfrm>
          <a:custGeom>
            <a:avLst/>
            <a:gdLst>
              <a:gd name="T0" fmla="*/ 2147483647 w 869"/>
              <a:gd name="T1" fmla="*/ 0 h 590"/>
              <a:gd name="T2" fmla="*/ 2147483647 w 869"/>
              <a:gd name="T3" fmla="*/ 2147483647 h 590"/>
              <a:gd name="T4" fmla="*/ 2147483647 w 869"/>
              <a:gd name="T5" fmla="*/ 2147483647 h 590"/>
              <a:gd name="T6" fmla="*/ 0 60000 65536"/>
              <a:gd name="T7" fmla="*/ 0 60000 65536"/>
              <a:gd name="T8" fmla="*/ 0 60000 65536"/>
              <a:gd name="T9" fmla="*/ 0 w 869"/>
              <a:gd name="T10" fmla="*/ 0 h 590"/>
              <a:gd name="T11" fmla="*/ 869 w 869"/>
              <a:gd name="T12" fmla="*/ 590 h 5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9" h="590">
                <a:moveTo>
                  <a:pt x="7" y="0"/>
                </a:moveTo>
                <a:cubicBezTo>
                  <a:pt x="3" y="204"/>
                  <a:pt x="0" y="408"/>
                  <a:pt x="144" y="499"/>
                </a:cubicBezTo>
                <a:cubicBezTo>
                  <a:pt x="288" y="590"/>
                  <a:pt x="578" y="567"/>
                  <a:pt x="869" y="54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7" name="Freeform 10"/>
          <p:cNvSpPr>
            <a:spLocks/>
          </p:cNvSpPr>
          <p:nvPr/>
        </p:nvSpPr>
        <p:spPr bwMode="auto">
          <a:xfrm>
            <a:off x="3348038" y="2924175"/>
            <a:ext cx="1296987" cy="1081088"/>
          </a:xfrm>
          <a:custGeom>
            <a:avLst/>
            <a:gdLst>
              <a:gd name="T0" fmla="*/ 2147483647 w 817"/>
              <a:gd name="T1" fmla="*/ 2147483647 h 681"/>
              <a:gd name="T2" fmla="*/ 2147483647 w 817"/>
              <a:gd name="T3" fmla="*/ 2147483647 h 681"/>
              <a:gd name="T4" fmla="*/ 0 w 817"/>
              <a:gd name="T5" fmla="*/ 2147483647 h 681"/>
              <a:gd name="T6" fmla="*/ 0 60000 65536"/>
              <a:gd name="T7" fmla="*/ 0 60000 65536"/>
              <a:gd name="T8" fmla="*/ 0 60000 65536"/>
              <a:gd name="T9" fmla="*/ 0 w 817"/>
              <a:gd name="T10" fmla="*/ 0 h 681"/>
              <a:gd name="T11" fmla="*/ 817 w 817"/>
              <a:gd name="T12" fmla="*/ 681 h 6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7" h="681">
                <a:moveTo>
                  <a:pt x="817" y="681"/>
                </a:moveTo>
                <a:cubicBezTo>
                  <a:pt x="771" y="431"/>
                  <a:pt x="726" y="182"/>
                  <a:pt x="590" y="91"/>
                </a:cubicBezTo>
                <a:cubicBezTo>
                  <a:pt x="454" y="0"/>
                  <a:pt x="227" y="68"/>
                  <a:pt x="0" y="13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8" name="Line 11"/>
          <p:cNvSpPr>
            <a:spLocks noChangeShapeType="1"/>
          </p:cNvSpPr>
          <p:nvPr/>
        </p:nvSpPr>
        <p:spPr bwMode="auto">
          <a:xfrm flipV="1">
            <a:off x="4787900" y="2349500"/>
            <a:ext cx="43180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9" name="Line 12"/>
          <p:cNvSpPr>
            <a:spLocks noChangeShapeType="1"/>
          </p:cNvSpPr>
          <p:nvPr/>
        </p:nvSpPr>
        <p:spPr bwMode="auto">
          <a:xfrm flipV="1">
            <a:off x="3276600" y="2276475"/>
            <a:ext cx="1800225" cy="7921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70" name="Freeform 13"/>
          <p:cNvSpPr>
            <a:spLocks/>
          </p:cNvSpPr>
          <p:nvPr/>
        </p:nvSpPr>
        <p:spPr bwMode="auto">
          <a:xfrm>
            <a:off x="2627313" y="2565400"/>
            <a:ext cx="622300" cy="817563"/>
          </a:xfrm>
          <a:custGeom>
            <a:avLst/>
            <a:gdLst>
              <a:gd name="T0" fmla="*/ 2147483647 w 392"/>
              <a:gd name="T1" fmla="*/ 2147483647 h 515"/>
              <a:gd name="T2" fmla="*/ 2147483647 w 392"/>
              <a:gd name="T3" fmla="*/ 2147483647 h 515"/>
              <a:gd name="T4" fmla="*/ 2147483647 w 392"/>
              <a:gd name="T5" fmla="*/ 2147483647 h 515"/>
              <a:gd name="T6" fmla="*/ 2147483647 w 392"/>
              <a:gd name="T7" fmla="*/ 2147483647 h 515"/>
              <a:gd name="T8" fmla="*/ 2147483647 w 392"/>
              <a:gd name="T9" fmla="*/ 2147483647 h 5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92"/>
              <a:gd name="T16" fmla="*/ 0 h 515"/>
              <a:gd name="T17" fmla="*/ 392 w 392"/>
              <a:gd name="T18" fmla="*/ 515 h 5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92" h="515">
                <a:moveTo>
                  <a:pt x="392" y="326"/>
                </a:moveTo>
                <a:cubicBezTo>
                  <a:pt x="377" y="163"/>
                  <a:pt x="362" y="0"/>
                  <a:pt x="302" y="8"/>
                </a:cubicBezTo>
                <a:cubicBezTo>
                  <a:pt x="242" y="16"/>
                  <a:pt x="60" y="288"/>
                  <a:pt x="30" y="371"/>
                </a:cubicBezTo>
                <a:cubicBezTo>
                  <a:pt x="0" y="454"/>
                  <a:pt x="75" y="499"/>
                  <a:pt x="120" y="507"/>
                </a:cubicBezTo>
                <a:cubicBezTo>
                  <a:pt x="165" y="515"/>
                  <a:pt x="233" y="466"/>
                  <a:pt x="302" y="417"/>
                </a:cubicBez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71" name="Freeform 14"/>
          <p:cNvSpPr>
            <a:spLocks/>
          </p:cNvSpPr>
          <p:nvPr/>
        </p:nvSpPr>
        <p:spPr bwMode="auto">
          <a:xfrm>
            <a:off x="4500563" y="4005263"/>
            <a:ext cx="742950" cy="863600"/>
          </a:xfrm>
          <a:custGeom>
            <a:avLst/>
            <a:gdLst>
              <a:gd name="T0" fmla="*/ 2147483647 w 468"/>
              <a:gd name="T1" fmla="*/ 2147483647 h 544"/>
              <a:gd name="T2" fmla="*/ 2147483647 w 468"/>
              <a:gd name="T3" fmla="*/ 2147483647 h 544"/>
              <a:gd name="T4" fmla="*/ 2147483647 w 468"/>
              <a:gd name="T5" fmla="*/ 2147483647 h 544"/>
              <a:gd name="T6" fmla="*/ 2147483647 w 468"/>
              <a:gd name="T7" fmla="*/ 2147483647 h 544"/>
              <a:gd name="T8" fmla="*/ 2147483647 w 468"/>
              <a:gd name="T9" fmla="*/ 2147483647 h 5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8"/>
              <a:gd name="T16" fmla="*/ 0 h 544"/>
              <a:gd name="T17" fmla="*/ 468 w 468"/>
              <a:gd name="T18" fmla="*/ 544 h 5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8" h="544">
                <a:moveTo>
                  <a:pt x="60" y="212"/>
                </a:moveTo>
                <a:cubicBezTo>
                  <a:pt x="30" y="363"/>
                  <a:pt x="0" y="514"/>
                  <a:pt x="60" y="529"/>
                </a:cubicBezTo>
                <a:cubicBezTo>
                  <a:pt x="120" y="544"/>
                  <a:pt x="378" y="386"/>
                  <a:pt x="423" y="303"/>
                </a:cubicBezTo>
                <a:cubicBezTo>
                  <a:pt x="468" y="220"/>
                  <a:pt x="378" y="60"/>
                  <a:pt x="332" y="30"/>
                </a:cubicBezTo>
                <a:cubicBezTo>
                  <a:pt x="286" y="0"/>
                  <a:pt x="218" y="60"/>
                  <a:pt x="150" y="121"/>
                </a:cubicBez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627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89836"/>
              </p:ext>
            </p:extLst>
          </p:nvPr>
        </p:nvGraphicFramePr>
        <p:xfrm>
          <a:off x="3714751" y="5589588"/>
          <a:ext cx="7858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532" imgH="152280" progId="Equation.3">
                  <p:embed/>
                </p:oleObj>
              </mc:Choice>
              <mc:Fallback>
                <p:oleObj name="Equation" r:id="rId8" imgW="228532" imgH="1522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1" y="5589588"/>
                        <a:ext cx="78581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FBBA4FCB-45B1-0EC7-C991-C663512DEB5F}"/>
              </a:ext>
            </a:extLst>
          </p:cNvPr>
          <p:cNvSpPr txBox="1"/>
          <p:nvPr/>
        </p:nvSpPr>
        <p:spPr>
          <a:xfrm>
            <a:off x="5972884" y="4221163"/>
            <a:ext cx="3180576" cy="137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kern="0" dirty="0">
                <a:solidFill>
                  <a:srgbClr val="C00000"/>
                </a:solidFill>
                <a:latin typeface="Times New Roman" pitchFamily="18" charset="0"/>
                <a:ea typeface="楷体_GB2312"/>
              </a:rPr>
              <a:t>(</a:t>
            </a:r>
            <a:r>
              <a:rPr lang="en-US" altLang="zh-CN" sz="3200" i="1" kern="0" dirty="0">
                <a:solidFill>
                  <a:srgbClr val="C00000"/>
                </a:solidFill>
                <a:latin typeface="Times New Roman" pitchFamily="18" charset="0"/>
                <a:ea typeface="楷体_GB2312"/>
              </a:rPr>
              <a:t>a</a:t>
            </a:r>
            <a:r>
              <a:rPr lang="en-US" altLang="zh-CN" sz="3200" kern="0" dirty="0">
                <a:solidFill>
                  <a:srgbClr val="C00000"/>
                </a:solidFill>
                <a:latin typeface="Times New Roman" pitchFamily="18" charset="0"/>
                <a:ea typeface="楷体_GB2312"/>
              </a:rPr>
              <a:t>, </a:t>
            </a:r>
            <a:r>
              <a:rPr lang="en-US" altLang="zh-CN" sz="3200" i="1" kern="0" dirty="0">
                <a:solidFill>
                  <a:srgbClr val="C00000"/>
                </a:solidFill>
                <a:latin typeface="Times New Roman" pitchFamily="18" charset="0"/>
                <a:ea typeface="楷体_GB2312"/>
              </a:rPr>
              <a:t>c</a:t>
            </a:r>
            <a:r>
              <a:rPr lang="en-US" altLang="zh-CN" sz="3200" kern="0" dirty="0">
                <a:solidFill>
                  <a:srgbClr val="C00000"/>
                </a:solidFill>
                <a:latin typeface="Times New Roman" pitchFamily="18" charset="0"/>
                <a:ea typeface="楷体_GB2312"/>
              </a:rPr>
              <a:t>)</a:t>
            </a:r>
            <a:r>
              <a:rPr lang="zh-CN" altLang="en-US" dirty="0">
                <a:solidFill>
                  <a:srgbClr val="C00000"/>
                </a:solidFill>
                <a:latin typeface="Times New Roman" pitchFamily="18" charset="0"/>
              </a:rPr>
              <a:t>∈</a:t>
            </a:r>
            <a:r>
              <a:rPr lang="en-US" altLang="zh-CN" i="1" dirty="0">
                <a:solidFill>
                  <a:srgbClr val="C00000"/>
                </a:solidFill>
                <a:latin typeface="Times New Roman" pitchFamily="18" charset="0"/>
              </a:rPr>
              <a:t>R</a:t>
            </a:r>
            <a:r>
              <a:rPr lang="en-US" altLang="zh-CN" sz="2800" dirty="0">
                <a:solidFill>
                  <a:srgbClr val="C00000"/>
                </a:solidFill>
                <a:latin typeface="Times New Roman" pitchFamily="18" charset="0"/>
              </a:rPr>
              <a:t>◦</a:t>
            </a:r>
            <a:r>
              <a:rPr lang="en-US" altLang="zh-CN" i="1" dirty="0">
                <a:solidFill>
                  <a:srgbClr val="C00000"/>
                </a:solidFill>
                <a:latin typeface="Times New Roman" pitchFamily="18" charset="0"/>
              </a:rPr>
              <a:t>R= R</a:t>
            </a:r>
            <a:r>
              <a:rPr lang="en-US" altLang="zh-CN" i="1" baseline="30000" dirty="0">
                <a:solidFill>
                  <a:srgbClr val="C00000"/>
                </a:solidFill>
                <a:latin typeface="Times New Roman" pitchFamily="18" charset="0"/>
              </a:rPr>
              <a:t>2</a:t>
            </a:r>
          </a:p>
          <a:p>
            <a:pPr>
              <a:buNone/>
            </a:pPr>
            <a:endParaRPr kumimoji="1" lang="en-US" altLang="zh-CN" i="1" baseline="30000" dirty="0">
              <a:solidFill>
                <a:srgbClr val="C00000"/>
              </a:solidFill>
              <a:latin typeface="Times New Roman" pitchFamily="18" charset="0"/>
            </a:endParaRPr>
          </a:p>
          <a:p>
            <a:pPr>
              <a:buNone/>
            </a:pPr>
            <a:r>
              <a:rPr kumimoji="1" lang="en-US" altLang="zh-CN" i="1" baseline="30000" dirty="0">
                <a:solidFill>
                  <a:srgbClr val="C00000"/>
                </a:solidFill>
                <a:latin typeface="Times New Roman" pitchFamily="18" charset="0"/>
              </a:rPr>
              <a:t>……</a:t>
            </a:r>
            <a:endParaRPr kumimoji="1" lang="zh-CN" altLang="en-US" baseline="30000" dirty="0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29EAA3-6226-B707-EFA6-994A48C76819}"/>
              </a:ext>
            </a:extLst>
          </p:cNvPr>
          <p:cNvSpPr txBox="1"/>
          <p:nvPr/>
        </p:nvSpPr>
        <p:spPr>
          <a:xfrm>
            <a:off x="5940152" y="3272334"/>
            <a:ext cx="3322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dirty="0">
                <a:solidFill>
                  <a:schemeClr val="accent2"/>
                </a:solidFill>
                <a:latin typeface="Times New Roman" pitchFamily="18" charset="0"/>
              </a:rPr>
              <a:t>(</a:t>
            </a:r>
            <a:r>
              <a:rPr lang="en-US" altLang="zh-CN" i="1" dirty="0">
                <a:solidFill>
                  <a:schemeClr val="accent2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schemeClr val="accent2"/>
                </a:solidFill>
                <a:latin typeface="Times New Roman" pitchFamily="18" charset="0"/>
              </a:rPr>
              <a:t>, </a:t>
            </a:r>
            <a:r>
              <a:rPr lang="en-US" altLang="zh-CN" i="1" dirty="0">
                <a:solidFill>
                  <a:schemeClr val="accent2"/>
                </a:solidFill>
                <a:latin typeface="Times New Roman" pitchFamily="18" charset="0"/>
              </a:rPr>
              <a:t>b</a:t>
            </a:r>
            <a:r>
              <a:rPr lang="en-US" altLang="zh-CN" dirty="0">
                <a:solidFill>
                  <a:schemeClr val="accent2"/>
                </a:solidFill>
                <a:latin typeface="Times New Roman" pitchFamily="18" charset="0"/>
              </a:rPr>
              <a:t>)</a:t>
            </a:r>
            <a:r>
              <a:rPr lang="zh-CN" altLang="en-US" dirty="0">
                <a:solidFill>
                  <a:schemeClr val="accent2"/>
                </a:solidFill>
                <a:latin typeface="Times New Roman" pitchFamily="18" charset="0"/>
              </a:rPr>
              <a:t>∈</a:t>
            </a:r>
            <a:r>
              <a:rPr lang="en-US" altLang="zh-CN" i="1" dirty="0">
                <a:solidFill>
                  <a:schemeClr val="accent2"/>
                </a:solidFill>
                <a:latin typeface="Times New Roman" pitchFamily="18" charset="0"/>
              </a:rPr>
              <a:t>R</a:t>
            </a:r>
            <a:r>
              <a:rPr lang="en-US" altLang="zh-CN" dirty="0">
                <a:solidFill>
                  <a:schemeClr val="accent2"/>
                </a:solidFill>
                <a:latin typeface="Times New Roman" pitchFamily="18" charset="0"/>
              </a:rPr>
              <a:t>, (</a:t>
            </a:r>
            <a:r>
              <a:rPr lang="en-US" altLang="zh-CN" i="1" dirty="0">
                <a:solidFill>
                  <a:schemeClr val="accent2"/>
                </a:solidFill>
                <a:latin typeface="Times New Roman" pitchFamily="18" charset="0"/>
              </a:rPr>
              <a:t>b</a:t>
            </a:r>
            <a:r>
              <a:rPr lang="en-US" altLang="zh-CN" dirty="0">
                <a:solidFill>
                  <a:schemeClr val="accent2"/>
                </a:solidFill>
                <a:latin typeface="Times New Roman" pitchFamily="18" charset="0"/>
              </a:rPr>
              <a:t>, </a:t>
            </a:r>
            <a:r>
              <a:rPr lang="en-US" altLang="zh-CN" i="1" dirty="0">
                <a:solidFill>
                  <a:schemeClr val="accent2"/>
                </a:solidFill>
                <a:latin typeface="Times New Roman" pitchFamily="18" charset="0"/>
              </a:rPr>
              <a:t>c</a:t>
            </a:r>
            <a:r>
              <a:rPr lang="en-US" altLang="zh-CN" dirty="0">
                <a:solidFill>
                  <a:schemeClr val="accent2"/>
                </a:solidFill>
                <a:latin typeface="Times New Roman" pitchFamily="18" charset="0"/>
              </a:rPr>
              <a:t>)</a:t>
            </a:r>
            <a:r>
              <a:rPr lang="zh-CN" altLang="en-US" dirty="0">
                <a:solidFill>
                  <a:schemeClr val="accent2"/>
                </a:solidFill>
                <a:latin typeface="Times New Roman" pitchFamily="18" charset="0"/>
              </a:rPr>
              <a:t>∈</a:t>
            </a:r>
            <a:r>
              <a:rPr lang="en-US" altLang="zh-CN" i="1" dirty="0">
                <a:solidFill>
                  <a:schemeClr val="accent2"/>
                </a:solidFill>
                <a:latin typeface="Times New Roman" pitchFamily="18" charset="0"/>
              </a:rPr>
              <a:t>R</a:t>
            </a:r>
            <a:endParaRPr kumimoji="1"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6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6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9" grpId="0" animBg="1"/>
      <p:bldP spid="96270" grpId="0" animBg="1"/>
      <p:bldP spid="96271" grpId="0" animBg="1"/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61569F43-4AF8-4CB3-929A-D48C63C46E53}" type="slidenum">
              <a:rPr lang="zh-CN" altLang="en-US"/>
              <a:pPr>
                <a:defRPr/>
              </a:pPr>
              <a:t>43</a:t>
            </a:fld>
            <a:r>
              <a:rPr lang="zh-CN" altLang="en-US"/>
              <a:t>页</a:t>
            </a:r>
          </a:p>
        </p:txBody>
      </p:sp>
      <p:sp>
        <p:nvSpPr>
          <p:cNvPr id="97283" name="Rectangle 2"/>
          <p:cNvSpPr>
            <a:spLocks noGrp="1" noChangeArrowheads="1"/>
          </p:cNvSpPr>
          <p:nvPr>
            <p:ph/>
          </p:nvPr>
        </p:nvSpPr>
        <p:spPr>
          <a:xfrm>
            <a:off x="0" y="117475"/>
            <a:ext cx="9144000" cy="6240463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补例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:</a:t>
            </a:r>
            <a:r>
              <a:rPr lang="en-US" altLang="zh-CN" i="1" dirty="0">
                <a:latin typeface="Times New Roman" pitchFamily="18" charset="0"/>
              </a:rPr>
              <a:t> A </a:t>
            </a:r>
            <a:r>
              <a:rPr lang="en-US" altLang="zh-CN" dirty="0">
                <a:latin typeface="Times New Roman" pitchFamily="18" charset="0"/>
              </a:rPr>
              <a:t>= {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d</a:t>
            </a:r>
            <a:r>
              <a:rPr lang="en-US" altLang="zh-CN" dirty="0">
                <a:latin typeface="Times New Roman" pitchFamily="18" charset="0"/>
              </a:rPr>
              <a:t>}</a:t>
            </a:r>
          </a:p>
          <a:p>
            <a:pPr eaLnBrk="1" hangingPunct="1">
              <a:buFontTx/>
              <a:buNone/>
            </a:pPr>
            <a:r>
              <a:rPr lang="en-US" altLang="zh-CN" i="1" dirty="0">
                <a:latin typeface="Times New Roman" pitchFamily="18" charset="0"/>
              </a:rPr>
              <a:t>R </a:t>
            </a:r>
            <a:r>
              <a:rPr lang="en-US" altLang="zh-CN" dirty="0">
                <a:latin typeface="Times New Roman" pitchFamily="18" charset="0"/>
              </a:rPr>
              <a:t>= {(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), (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), (</a:t>
            </a:r>
            <a:r>
              <a:rPr lang="en-US" altLang="zh-CN" i="1" dirty="0">
                <a:latin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</a:rPr>
              <a:t>d</a:t>
            </a:r>
            <a:r>
              <a:rPr lang="en-US" altLang="zh-CN" dirty="0">
                <a:latin typeface="Times New Roman" pitchFamily="18" charset="0"/>
              </a:rPr>
              <a:t>)}</a:t>
            </a:r>
          </a:p>
          <a:p>
            <a:pPr eaLnBrk="1" hangingPunct="1">
              <a:buFontTx/>
              <a:buNone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dirty="0">
                <a:latin typeface="Times New Roman" pitchFamily="18" charset="0"/>
              </a:rPr>
              <a:t>(</a:t>
            </a:r>
            <a:r>
              <a:rPr lang="en-US" altLang="zh-CN" i="1" dirty="0">
                <a:latin typeface="Times New Roman" pitchFamily="18" charset="0"/>
              </a:rPr>
              <a:t>R</a:t>
            </a:r>
            <a:r>
              <a:rPr lang="en-US" altLang="zh-CN" dirty="0">
                <a:latin typeface="Times New Roman" pitchFamily="18" charset="0"/>
              </a:rPr>
              <a:t>)={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                               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</a:rPr>
              <a:t>                   </a:t>
            </a:r>
            <a:r>
              <a:rPr lang="zh-Hans" altLang="en-US" dirty="0">
                <a:solidFill>
                  <a:srgbClr val="C00000"/>
                </a:solidFill>
                <a:latin typeface="Times New Roman" pitchFamily="18" charset="0"/>
              </a:rPr>
              <a:t>          </a:t>
            </a:r>
            <a:r>
              <a:rPr lang="en-US" altLang="zh-CN" dirty="0">
                <a:latin typeface="Times New Roman" pitchFamily="18" charset="0"/>
              </a:rPr>
              <a:t>}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97284" name="Oval 3"/>
          <p:cNvSpPr>
            <a:spLocks noChangeArrowheads="1"/>
          </p:cNvSpPr>
          <p:nvPr/>
        </p:nvSpPr>
        <p:spPr bwMode="auto">
          <a:xfrm>
            <a:off x="1259161" y="287641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85" name="Oval 4"/>
          <p:cNvSpPr>
            <a:spLocks noChangeArrowheads="1"/>
          </p:cNvSpPr>
          <p:nvPr/>
        </p:nvSpPr>
        <p:spPr bwMode="auto">
          <a:xfrm>
            <a:off x="1908448" y="402894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86" name="Oval 5"/>
          <p:cNvSpPr>
            <a:spLocks noChangeArrowheads="1"/>
          </p:cNvSpPr>
          <p:nvPr/>
        </p:nvSpPr>
        <p:spPr bwMode="auto">
          <a:xfrm>
            <a:off x="3348311" y="438771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87" name="Oval 6"/>
          <p:cNvSpPr>
            <a:spLocks noChangeArrowheads="1"/>
          </p:cNvSpPr>
          <p:nvPr/>
        </p:nvSpPr>
        <p:spPr bwMode="auto">
          <a:xfrm>
            <a:off x="4427811" y="3595554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728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711186"/>
              </p:ext>
            </p:extLst>
          </p:nvPr>
        </p:nvGraphicFramePr>
        <p:xfrm>
          <a:off x="1116286" y="2514799"/>
          <a:ext cx="314325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9" imgH="57240" progId="Equation.3">
                  <p:embed/>
                </p:oleObj>
              </mc:Choice>
              <mc:Fallback>
                <p:oleObj name="Equation" r:id="rId2" imgW="38089" imgH="57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286" y="2514799"/>
                        <a:ext cx="314325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439560"/>
              </p:ext>
            </p:extLst>
          </p:nvPr>
        </p:nvGraphicFramePr>
        <p:xfrm>
          <a:off x="1548086" y="4270241"/>
          <a:ext cx="314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089" imgH="95310" progId="Equation.3">
                  <p:embed/>
                </p:oleObj>
              </mc:Choice>
              <mc:Fallback>
                <p:oleObj name="公式" r:id="rId4" imgW="38089" imgH="9531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8086" y="4270241"/>
                        <a:ext cx="31432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067970"/>
              </p:ext>
            </p:extLst>
          </p:nvPr>
        </p:nvGraphicFramePr>
        <p:xfrm>
          <a:off x="3219723" y="4748079"/>
          <a:ext cx="282575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8634" imgH="57240" progId="Equation.3">
                  <p:embed/>
                </p:oleObj>
              </mc:Choice>
              <mc:Fallback>
                <p:oleObj name="公式" r:id="rId6" imgW="28634" imgH="572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723" y="4748079"/>
                        <a:ext cx="282575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923591"/>
              </p:ext>
            </p:extLst>
          </p:nvPr>
        </p:nvGraphicFramePr>
        <p:xfrm>
          <a:off x="4499992" y="3214812"/>
          <a:ext cx="346075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7268" imgH="95310" progId="Equation.3">
                  <p:embed/>
                </p:oleObj>
              </mc:Choice>
              <mc:Fallback>
                <p:oleObj name="公式" r:id="rId8" imgW="57268" imgH="9531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3214812"/>
                        <a:ext cx="346075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92" name="Line 11"/>
          <p:cNvSpPr>
            <a:spLocks noChangeShapeType="1"/>
          </p:cNvSpPr>
          <p:nvPr/>
        </p:nvSpPr>
        <p:spPr bwMode="auto">
          <a:xfrm>
            <a:off x="1360762" y="3022411"/>
            <a:ext cx="576262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293" name="Line 12"/>
          <p:cNvSpPr>
            <a:spLocks noChangeShapeType="1"/>
          </p:cNvSpPr>
          <p:nvPr/>
        </p:nvSpPr>
        <p:spPr bwMode="auto">
          <a:xfrm>
            <a:off x="2051323" y="4171816"/>
            <a:ext cx="1223963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294" name="Line 13"/>
          <p:cNvSpPr>
            <a:spLocks noChangeShapeType="1"/>
          </p:cNvSpPr>
          <p:nvPr/>
        </p:nvSpPr>
        <p:spPr bwMode="auto">
          <a:xfrm flipV="1">
            <a:off x="3419748" y="3740016"/>
            <a:ext cx="1008063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295" name="Line 14"/>
          <p:cNvSpPr>
            <a:spLocks noChangeShapeType="1"/>
          </p:cNvSpPr>
          <p:nvPr/>
        </p:nvSpPr>
        <p:spPr bwMode="auto">
          <a:xfrm>
            <a:off x="1403623" y="2947854"/>
            <a:ext cx="1944688" cy="13684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296" name="Line 15"/>
          <p:cNvSpPr>
            <a:spLocks noChangeShapeType="1"/>
          </p:cNvSpPr>
          <p:nvPr/>
        </p:nvSpPr>
        <p:spPr bwMode="auto">
          <a:xfrm flipV="1">
            <a:off x="2051323" y="3668579"/>
            <a:ext cx="2232025" cy="3603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297" name="Line 16"/>
          <p:cNvSpPr>
            <a:spLocks noChangeShapeType="1"/>
          </p:cNvSpPr>
          <p:nvPr/>
        </p:nvSpPr>
        <p:spPr bwMode="auto">
          <a:xfrm>
            <a:off x="1403648" y="2947853"/>
            <a:ext cx="2952750" cy="676275"/>
          </a:xfrm>
          <a:prstGeom prst="line">
            <a:avLst/>
          </a:prstGeom>
          <a:noFill/>
          <a:ln w="9525">
            <a:solidFill>
              <a:srgbClr val="7030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729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492984"/>
              </p:ext>
            </p:extLst>
          </p:nvPr>
        </p:nvGraphicFramePr>
        <p:xfrm>
          <a:off x="2411686" y="5037004"/>
          <a:ext cx="7858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532" imgH="152280" progId="Equation.3">
                  <p:embed/>
                </p:oleObj>
              </mc:Choice>
              <mc:Fallback>
                <p:oleObj name="Equation" r:id="rId10" imgW="228532" imgH="1522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686" y="5037004"/>
                        <a:ext cx="78581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9" name="Object 18"/>
          <p:cNvGraphicFramePr>
            <a:graphicFrameLocks noChangeAspect="1"/>
          </p:cNvGraphicFramePr>
          <p:nvPr/>
        </p:nvGraphicFramePr>
        <p:xfrm>
          <a:off x="7596188" y="2133600"/>
          <a:ext cx="28257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8634" imgH="95310" progId="Equation.3">
                  <p:embed/>
                </p:oleObj>
              </mc:Choice>
              <mc:Fallback>
                <p:oleObj name="公式" r:id="rId12" imgW="28634" imgH="9531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2133600"/>
                        <a:ext cx="28257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CE638064-CA02-2941-97F2-AEDC6F3E22D4}"/>
              </a:ext>
            </a:extLst>
          </p:cNvPr>
          <p:cNvSpPr txBox="1"/>
          <p:nvPr/>
        </p:nvSpPr>
        <p:spPr>
          <a:xfrm>
            <a:off x="7711232" y="1412776"/>
            <a:ext cx="1397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600" dirty="0">
                <a:solidFill>
                  <a:srgbClr val="7030A0"/>
                </a:solidFill>
                <a:latin typeface="Times New Roman" pitchFamily="18" charset="0"/>
              </a:rPr>
              <a:t>(</a:t>
            </a:r>
            <a:r>
              <a:rPr lang="en-US" altLang="zh-CN" sz="3600" i="1" dirty="0">
                <a:solidFill>
                  <a:srgbClr val="7030A0"/>
                </a:solidFill>
                <a:latin typeface="Times New Roman" pitchFamily="18" charset="0"/>
              </a:rPr>
              <a:t>a</a:t>
            </a:r>
            <a:r>
              <a:rPr lang="en-US" altLang="zh-CN" sz="3600" dirty="0">
                <a:solidFill>
                  <a:srgbClr val="7030A0"/>
                </a:solidFill>
                <a:latin typeface="Times New Roman" pitchFamily="18" charset="0"/>
              </a:rPr>
              <a:t>, </a:t>
            </a:r>
            <a:r>
              <a:rPr lang="en-US" altLang="zh-CN" sz="3600" i="1" dirty="0">
                <a:solidFill>
                  <a:srgbClr val="7030A0"/>
                </a:solidFill>
                <a:latin typeface="Times New Roman" pitchFamily="18" charset="0"/>
              </a:rPr>
              <a:t>d</a:t>
            </a:r>
            <a:r>
              <a:rPr lang="en-US" altLang="zh-CN" sz="3600" dirty="0">
                <a:solidFill>
                  <a:srgbClr val="7030A0"/>
                </a:solidFill>
                <a:latin typeface="Times New Roman" pitchFamily="18" charset="0"/>
              </a:rPr>
              <a:t>)</a:t>
            </a:r>
            <a:endParaRPr kumimoji="1" lang="zh-CN" altLang="en-US" sz="3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1C4996-9DD0-6BCC-57C8-A91C71CA0E2C}"/>
              </a:ext>
            </a:extLst>
          </p:cNvPr>
          <p:cNvSpPr txBox="1"/>
          <p:nvPr/>
        </p:nvSpPr>
        <p:spPr>
          <a:xfrm>
            <a:off x="5120492" y="4101172"/>
            <a:ext cx="3843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dirty="0">
                <a:solidFill>
                  <a:srgbClr val="C00000"/>
                </a:solidFill>
                <a:latin typeface="Times New Roman" pitchFamily="18" charset="0"/>
              </a:rPr>
              <a:t>(</a:t>
            </a:r>
            <a:r>
              <a:rPr lang="en-US" altLang="zh-CN" sz="2800" i="1" dirty="0">
                <a:solidFill>
                  <a:srgbClr val="C00000"/>
                </a:solidFill>
                <a:latin typeface="Times New Roman" pitchFamily="18" charset="0"/>
              </a:rPr>
              <a:t>a</a:t>
            </a:r>
            <a:r>
              <a:rPr lang="en-US" altLang="zh-CN" sz="2800" dirty="0">
                <a:solidFill>
                  <a:srgbClr val="C00000"/>
                </a:solidFill>
                <a:latin typeface="Times New Roman" pitchFamily="18" charset="0"/>
              </a:rPr>
              <a:t>, </a:t>
            </a:r>
            <a:r>
              <a:rPr lang="en-US" altLang="zh-CN" sz="2800" i="1" dirty="0">
                <a:solidFill>
                  <a:srgbClr val="C00000"/>
                </a:solidFill>
                <a:latin typeface="Times New Roman" pitchFamily="18" charset="0"/>
              </a:rPr>
              <a:t>c</a:t>
            </a:r>
            <a:r>
              <a:rPr lang="en-US" altLang="zh-CN" sz="2800" dirty="0">
                <a:solidFill>
                  <a:srgbClr val="C00000"/>
                </a:solidFill>
                <a:latin typeface="Times New Roman" pitchFamily="18" charset="0"/>
              </a:rPr>
              <a:t>), (</a:t>
            </a:r>
            <a:r>
              <a:rPr lang="en-US" altLang="zh-CN" sz="2800" i="1" dirty="0">
                <a:solidFill>
                  <a:srgbClr val="C00000"/>
                </a:solidFill>
                <a:latin typeface="Times New Roman" pitchFamily="18" charset="0"/>
              </a:rPr>
              <a:t>b</a:t>
            </a:r>
            <a:r>
              <a:rPr lang="en-US" altLang="zh-CN" sz="2800" dirty="0">
                <a:solidFill>
                  <a:srgbClr val="C00000"/>
                </a:solidFill>
                <a:latin typeface="Times New Roman" pitchFamily="18" charset="0"/>
              </a:rPr>
              <a:t>, </a:t>
            </a:r>
            <a:r>
              <a:rPr lang="en-US" altLang="zh-CN" sz="2800" i="1" dirty="0">
                <a:solidFill>
                  <a:srgbClr val="C00000"/>
                </a:solidFill>
                <a:latin typeface="Times New Roman" pitchFamily="18" charset="0"/>
              </a:rPr>
              <a:t>d</a:t>
            </a:r>
            <a:r>
              <a:rPr lang="en-US" altLang="zh-CN" sz="2800" dirty="0">
                <a:solidFill>
                  <a:srgbClr val="C00000"/>
                </a:solidFill>
                <a:latin typeface="Times New Roman" pitchFamily="18" charset="0"/>
              </a:rPr>
              <a:t>)</a:t>
            </a:r>
            <a:r>
              <a:rPr lang="zh-CN" altLang="en-US" sz="2800" dirty="0">
                <a:solidFill>
                  <a:srgbClr val="C00000"/>
                </a:solidFill>
                <a:latin typeface="Times New Roman" pitchFamily="18" charset="0"/>
              </a:rPr>
              <a:t> ∈</a:t>
            </a:r>
            <a:r>
              <a:rPr lang="en-US" altLang="zh-CN" sz="2800" i="1" dirty="0">
                <a:solidFill>
                  <a:srgbClr val="C00000"/>
                </a:solidFill>
                <a:latin typeface="Times New Roman" pitchFamily="18" charset="0"/>
              </a:rPr>
              <a:t>R</a:t>
            </a:r>
            <a:r>
              <a:rPr lang="en-US" altLang="zh-CN" sz="2800" dirty="0">
                <a:solidFill>
                  <a:srgbClr val="C00000"/>
                </a:solidFill>
                <a:latin typeface="Times New Roman" pitchFamily="18" charset="0"/>
              </a:rPr>
              <a:t>◦</a:t>
            </a:r>
            <a:r>
              <a:rPr lang="en-US" altLang="zh-CN" sz="2800" i="1" dirty="0">
                <a:solidFill>
                  <a:srgbClr val="C00000"/>
                </a:solidFill>
                <a:latin typeface="Times New Roman" pitchFamily="18" charset="0"/>
              </a:rPr>
              <a:t>R = R</a:t>
            </a:r>
            <a:r>
              <a:rPr lang="en-US" altLang="zh-CN" sz="2800" i="1" baseline="30000" dirty="0">
                <a:solidFill>
                  <a:srgbClr val="C00000"/>
                </a:solidFill>
                <a:latin typeface="Times New Roman" pitchFamily="18" charset="0"/>
              </a:rPr>
              <a:t>2</a:t>
            </a:r>
            <a:endParaRPr lang="zh-CN" altLang="en-US" sz="2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ABEE61-C2E1-845E-E9F2-3B68CA672F49}"/>
              </a:ext>
            </a:extLst>
          </p:cNvPr>
          <p:cNvSpPr txBox="1"/>
          <p:nvPr/>
        </p:nvSpPr>
        <p:spPr>
          <a:xfrm>
            <a:off x="5120492" y="4725251"/>
            <a:ext cx="3843996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dirty="0">
                <a:solidFill>
                  <a:srgbClr val="7030A0"/>
                </a:solidFill>
                <a:latin typeface="Times New Roman" pitchFamily="18" charset="0"/>
              </a:rPr>
              <a:t>(</a:t>
            </a:r>
            <a:r>
              <a:rPr lang="en-US" altLang="zh-CN" sz="2800" i="1" dirty="0">
                <a:solidFill>
                  <a:srgbClr val="7030A0"/>
                </a:solidFill>
                <a:latin typeface="Times New Roman" pitchFamily="18" charset="0"/>
              </a:rPr>
              <a:t>a</a:t>
            </a:r>
            <a:r>
              <a:rPr lang="en-US" altLang="zh-CN" sz="2800" dirty="0">
                <a:solidFill>
                  <a:srgbClr val="7030A0"/>
                </a:solidFill>
                <a:latin typeface="Times New Roman" pitchFamily="18" charset="0"/>
              </a:rPr>
              <a:t>, </a:t>
            </a:r>
            <a:r>
              <a:rPr lang="en-US" altLang="zh-CN" sz="2800" i="1" dirty="0">
                <a:solidFill>
                  <a:srgbClr val="7030A0"/>
                </a:solidFill>
                <a:latin typeface="Times New Roman" pitchFamily="18" charset="0"/>
              </a:rPr>
              <a:t>d</a:t>
            </a:r>
            <a:r>
              <a:rPr lang="en-US" altLang="zh-CN" sz="2800" dirty="0">
                <a:solidFill>
                  <a:srgbClr val="7030A0"/>
                </a:solidFill>
                <a:latin typeface="Times New Roman" pitchFamily="18" charset="0"/>
              </a:rPr>
              <a:t>)</a:t>
            </a:r>
            <a:r>
              <a:rPr lang="zh-CN" altLang="en-US" sz="2800" dirty="0">
                <a:solidFill>
                  <a:srgbClr val="7030A0"/>
                </a:solidFill>
                <a:latin typeface="Times New Roman" pitchFamily="18" charset="0"/>
              </a:rPr>
              <a:t>∈</a:t>
            </a:r>
            <a:r>
              <a:rPr lang="en-US" altLang="zh-CN" sz="2800" i="1" dirty="0">
                <a:solidFill>
                  <a:srgbClr val="7030A0"/>
                </a:solidFill>
                <a:latin typeface="Times New Roman" pitchFamily="18" charset="0"/>
              </a:rPr>
              <a:t>R</a:t>
            </a:r>
            <a:r>
              <a:rPr lang="en-US" altLang="zh-CN" sz="2800" dirty="0">
                <a:solidFill>
                  <a:srgbClr val="7030A0"/>
                </a:solidFill>
                <a:latin typeface="Times New Roman" pitchFamily="18" charset="0"/>
              </a:rPr>
              <a:t>◦</a:t>
            </a:r>
            <a:r>
              <a:rPr lang="en-US" altLang="zh-CN" sz="2800" i="1" dirty="0">
                <a:solidFill>
                  <a:srgbClr val="7030A0"/>
                </a:solidFill>
                <a:latin typeface="Times New Roman" pitchFamily="18" charset="0"/>
              </a:rPr>
              <a:t>R</a:t>
            </a:r>
            <a:r>
              <a:rPr lang="en-US" altLang="zh-CN" sz="2800" dirty="0">
                <a:solidFill>
                  <a:srgbClr val="7030A0"/>
                </a:solidFill>
                <a:latin typeface="Times New Roman" pitchFamily="18" charset="0"/>
              </a:rPr>
              <a:t>◦</a:t>
            </a:r>
            <a:r>
              <a:rPr lang="en-US" altLang="zh-CN" sz="2800" i="1" dirty="0">
                <a:solidFill>
                  <a:srgbClr val="7030A0"/>
                </a:solidFill>
                <a:latin typeface="Times New Roman" pitchFamily="18" charset="0"/>
              </a:rPr>
              <a:t>R = R</a:t>
            </a:r>
            <a:r>
              <a:rPr lang="en-US" altLang="zh-CN" sz="2800" i="1" baseline="30000" dirty="0">
                <a:solidFill>
                  <a:srgbClr val="7030A0"/>
                </a:solidFill>
                <a:latin typeface="Times New Roman" pitchFamily="18" charset="0"/>
              </a:rPr>
              <a:t>3</a:t>
            </a:r>
          </a:p>
          <a:p>
            <a:pPr>
              <a:buNone/>
            </a:pPr>
            <a:endParaRPr lang="en-US" altLang="zh-CN" sz="2800" i="1" baseline="30000" dirty="0">
              <a:solidFill>
                <a:srgbClr val="7030A0"/>
              </a:solidFill>
              <a:latin typeface="Times New Roman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9258CC-3A0B-AB43-B71B-3DD5F0496C2A}"/>
              </a:ext>
            </a:extLst>
          </p:cNvPr>
          <p:cNvSpPr txBox="1"/>
          <p:nvPr/>
        </p:nvSpPr>
        <p:spPr>
          <a:xfrm>
            <a:off x="5378466" y="1412776"/>
            <a:ext cx="2577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600" dirty="0">
                <a:solidFill>
                  <a:srgbClr val="C00000"/>
                </a:solidFill>
                <a:latin typeface="Times New Roman" pitchFamily="18" charset="0"/>
              </a:rPr>
              <a:t>(</a:t>
            </a:r>
            <a:r>
              <a:rPr lang="en-US" altLang="zh-CN" sz="3600" i="1" dirty="0">
                <a:solidFill>
                  <a:srgbClr val="C00000"/>
                </a:solidFill>
                <a:latin typeface="Times New Roman" pitchFamily="18" charset="0"/>
              </a:rPr>
              <a:t>a</a:t>
            </a:r>
            <a:r>
              <a:rPr lang="en-US" altLang="zh-CN" sz="3600" dirty="0">
                <a:solidFill>
                  <a:srgbClr val="C00000"/>
                </a:solidFill>
                <a:latin typeface="Times New Roman" pitchFamily="18" charset="0"/>
              </a:rPr>
              <a:t>, </a:t>
            </a:r>
            <a:r>
              <a:rPr lang="en-US" altLang="zh-CN" sz="3600" i="1" dirty="0">
                <a:solidFill>
                  <a:srgbClr val="C00000"/>
                </a:solidFill>
                <a:latin typeface="Times New Roman" pitchFamily="18" charset="0"/>
              </a:rPr>
              <a:t>c</a:t>
            </a:r>
            <a:r>
              <a:rPr lang="en-US" altLang="zh-CN" sz="3600" dirty="0">
                <a:solidFill>
                  <a:srgbClr val="C00000"/>
                </a:solidFill>
                <a:latin typeface="Times New Roman" pitchFamily="18" charset="0"/>
              </a:rPr>
              <a:t>), (</a:t>
            </a:r>
            <a:r>
              <a:rPr lang="en-US" altLang="zh-CN" sz="3600" i="1" dirty="0">
                <a:solidFill>
                  <a:srgbClr val="C00000"/>
                </a:solidFill>
                <a:latin typeface="Times New Roman" pitchFamily="18" charset="0"/>
              </a:rPr>
              <a:t>b</a:t>
            </a:r>
            <a:r>
              <a:rPr lang="en-US" altLang="zh-CN" sz="3600" dirty="0">
                <a:solidFill>
                  <a:srgbClr val="C00000"/>
                </a:solidFill>
                <a:latin typeface="Times New Roman" pitchFamily="18" charset="0"/>
              </a:rPr>
              <a:t>, </a:t>
            </a:r>
            <a:r>
              <a:rPr lang="en-US" altLang="zh-CN" sz="3600" i="1" dirty="0">
                <a:solidFill>
                  <a:srgbClr val="C00000"/>
                </a:solidFill>
                <a:latin typeface="Times New Roman" pitchFamily="18" charset="0"/>
              </a:rPr>
              <a:t>d</a:t>
            </a:r>
            <a:r>
              <a:rPr lang="en-US" altLang="zh-CN" sz="3600" dirty="0">
                <a:solidFill>
                  <a:srgbClr val="C00000"/>
                </a:solidFill>
                <a:latin typeface="Times New Roman" pitchFamily="18" charset="0"/>
              </a:rPr>
              <a:t>),</a:t>
            </a:r>
            <a:endParaRPr lang="en-US" altLang="zh-CN" sz="3600" dirty="0">
              <a:solidFill>
                <a:srgbClr val="7030A0"/>
              </a:solidFill>
              <a:latin typeface="Times New Roman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40C958-C90C-830E-E5E1-552756EED3FC}"/>
              </a:ext>
            </a:extLst>
          </p:cNvPr>
          <p:cNvSpPr txBox="1"/>
          <p:nvPr/>
        </p:nvSpPr>
        <p:spPr>
          <a:xfrm>
            <a:off x="5120492" y="3467621"/>
            <a:ext cx="3843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</a:rPr>
              <a:t>, </a:t>
            </a:r>
            <a:r>
              <a:rPr lang="en-US" altLang="zh-CN" sz="2800" i="1" dirty="0">
                <a:solidFill>
                  <a:schemeClr val="tx1"/>
                </a:solidFill>
                <a:latin typeface="Times New Roman" pitchFamily="18" charset="0"/>
              </a:rPr>
              <a:t>b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</a:rPr>
              <a:t>), (</a:t>
            </a:r>
            <a:r>
              <a:rPr lang="en-US" altLang="zh-CN" sz="2800" i="1" dirty="0">
                <a:solidFill>
                  <a:schemeClr val="tx1"/>
                </a:solidFill>
                <a:latin typeface="Times New Roman" pitchFamily="18" charset="0"/>
              </a:rPr>
              <a:t>b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</a:rPr>
              <a:t>, </a:t>
            </a:r>
            <a:r>
              <a:rPr lang="en-US" altLang="zh-CN" sz="2800" i="1" dirty="0">
                <a:solidFill>
                  <a:schemeClr val="tx1"/>
                </a:solidFill>
                <a:latin typeface="Times New Roman" pitchFamily="18" charset="0"/>
              </a:rPr>
              <a:t>c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</a:rPr>
              <a:t>), (</a:t>
            </a:r>
            <a:r>
              <a:rPr lang="en-US" altLang="zh-CN" sz="2800" i="1" dirty="0">
                <a:solidFill>
                  <a:schemeClr val="tx1"/>
                </a:solidFill>
                <a:latin typeface="Times New Roman" pitchFamily="18" charset="0"/>
              </a:rPr>
              <a:t>c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</a:rPr>
              <a:t>, </a:t>
            </a:r>
            <a:r>
              <a:rPr lang="en-US" altLang="zh-CN" sz="2800" i="1" dirty="0">
                <a:solidFill>
                  <a:schemeClr val="tx1"/>
                </a:solidFill>
                <a:latin typeface="Times New Roman" pitchFamily="18" charset="0"/>
              </a:rPr>
              <a:t>d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</a:rPr>
              <a:t>)</a:t>
            </a:r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</a:rPr>
              <a:t>∈</a:t>
            </a:r>
            <a:r>
              <a:rPr lang="en-US" altLang="zh-CN" sz="2800" i="1" dirty="0">
                <a:solidFill>
                  <a:schemeClr val="tx1"/>
                </a:solidFill>
                <a:latin typeface="Times New Roman" pitchFamily="18" charset="0"/>
              </a:rPr>
              <a:t>R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C8625B-0E93-F6F3-3718-1B40F047F3D7}"/>
              </a:ext>
            </a:extLst>
          </p:cNvPr>
          <p:cNvSpPr txBox="1"/>
          <p:nvPr/>
        </p:nvSpPr>
        <p:spPr>
          <a:xfrm>
            <a:off x="1843537" y="1422667"/>
            <a:ext cx="3843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600" dirty="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lang="en-US" altLang="zh-CN" sz="3600" i="1" dirty="0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lang="en-US" altLang="zh-CN" sz="3600" dirty="0">
                <a:solidFill>
                  <a:schemeClr val="tx1"/>
                </a:solidFill>
                <a:latin typeface="Times New Roman" pitchFamily="18" charset="0"/>
              </a:rPr>
              <a:t>, </a:t>
            </a:r>
            <a:r>
              <a:rPr lang="en-US" altLang="zh-CN" sz="3600" i="1" dirty="0">
                <a:solidFill>
                  <a:schemeClr val="tx1"/>
                </a:solidFill>
                <a:latin typeface="Times New Roman" pitchFamily="18" charset="0"/>
              </a:rPr>
              <a:t>b</a:t>
            </a:r>
            <a:r>
              <a:rPr lang="en-US" altLang="zh-CN" sz="3600" dirty="0">
                <a:solidFill>
                  <a:schemeClr val="tx1"/>
                </a:solidFill>
                <a:latin typeface="Times New Roman" pitchFamily="18" charset="0"/>
              </a:rPr>
              <a:t>), (</a:t>
            </a:r>
            <a:r>
              <a:rPr lang="en-US" altLang="zh-CN" sz="3600" i="1" dirty="0">
                <a:solidFill>
                  <a:schemeClr val="tx1"/>
                </a:solidFill>
                <a:latin typeface="Times New Roman" pitchFamily="18" charset="0"/>
              </a:rPr>
              <a:t>b</a:t>
            </a:r>
            <a:r>
              <a:rPr lang="en-US" altLang="zh-CN" sz="3600" dirty="0">
                <a:solidFill>
                  <a:schemeClr val="tx1"/>
                </a:solidFill>
                <a:latin typeface="Times New Roman" pitchFamily="18" charset="0"/>
              </a:rPr>
              <a:t>, </a:t>
            </a:r>
            <a:r>
              <a:rPr lang="en-US" altLang="zh-CN" sz="3600" i="1" dirty="0">
                <a:solidFill>
                  <a:schemeClr val="tx1"/>
                </a:solidFill>
                <a:latin typeface="Times New Roman" pitchFamily="18" charset="0"/>
              </a:rPr>
              <a:t>c</a:t>
            </a:r>
            <a:r>
              <a:rPr lang="en-US" altLang="zh-CN" sz="3600" dirty="0">
                <a:solidFill>
                  <a:schemeClr val="tx1"/>
                </a:solidFill>
                <a:latin typeface="Times New Roman" pitchFamily="18" charset="0"/>
              </a:rPr>
              <a:t>), (</a:t>
            </a:r>
            <a:r>
              <a:rPr lang="en-US" altLang="zh-CN" sz="3600" i="1" dirty="0">
                <a:solidFill>
                  <a:schemeClr val="tx1"/>
                </a:solidFill>
                <a:latin typeface="Times New Roman" pitchFamily="18" charset="0"/>
              </a:rPr>
              <a:t>c</a:t>
            </a:r>
            <a:r>
              <a:rPr lang="en-US" altLang="zh-CN" sz="3600" dirty="0">
                <a:solidFill>
                  <a:schemeClr val="tx1"/>
                </a:solidFill>
                <a:latin typeface="Times New Roman" pitchFamily="18" charset="0"/>
              </a:rPr>
              <a:t>, </a:t>
            </a:r>
            <a:r>
              <a:rPr lang="en-US" altLang="zh-CN" sz="3600" i="1" dirty="0">
                <a:solidFill>
                  <a:schemeClr val="tx1"/>
                </a:solidFill>
                <a:latin typeface="Times New Roman" pitchFamily="18" charset="0"/>
              </a:rPr>
              <a:t>d</a:t>
            </a:r>
            <a:r>
              <a:rPr lang="en-US" altLang="zh-CN" sz="3600" dirty="0">
                <a:solidFill>
                  <a:schemeClr val="tx1"/>
                </a:solidFill>
                <a:latin typeface="Times New Roman" pitchFamily="18" charset="0"/>
              </a:rPr>
              <a:t>),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95" grpId="0" animBg="1"/>
      <p:bldP spid="97296" grpId="0" animBg="1"/>
      <p:bldP spid="97297" grpId="0" animBg="1"/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E4E28600-133D-4217-B7B5-C3F2E4B83BC4}" type="slidenum">
              <a:rPr lang="zh-CN" altLang="en-US"/>
              <a:pPr>
                <a:defRPr/>
              </a:pPr>
              <a:t>44</a:t>
            </a:fld>
            <a:r>
              <a:rPr lang="zh-CN" altLang="en-US"/>
              <a:t>页</a:t>
            </a:r>
          </a:p>
        </p:txBody>
      </p:sp>
      <p:sp>
        <p:nvSpPr>
          <p:cNvPr id="98307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  <a:sym typeface="Symbol" pitchFamily="18" charset="2"/>
              </a:rPr>
              <a:t>Theorem2-16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sz="1000" dirty="0"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Proof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(1)                                      </a:t>
            </a:r>
            <a:r>
              <a:rPr lang="zh-CN" altLang="en-US" sz="2800" dirty="0">
                <a:latin typeface="Times New Roman" pitchFamily="18" charset="0"/>
              </a:rPr>
              <a:t>传递</a:t>
            </a:r>
            <a:r>
              <a:rPr lang="en-US" altLang="zh-CN" sz="2800" dirty="0">
                <a:latin typeface="Times New Roman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(2)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>
              <a:latin typeface="Times New Roman" pitchFamily="18" charset="0"/>
            </a:endParaRPr>
          </a:p>
        </p:txBody>
      </p:sp>
      <p:graphicFrame>
        <p:nvGraphicFramePr>
          <p:cNvPr id="9830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808816"/>
              </p:ext>
            </p:extLst>
          </p:nvPr>
        </p:nvGraphicFramePr>
        <p:xfrm>
          <a:off x="3503315" y="210665"/>
          <a:ext cx="4237037" cy="58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38188" imgH="142830" progId="Equation.3">
                  <p:embed/>
                </p:oleObj>
              </mc:Choice>
              <mc:Fallback>
                <p:oleObj name="公式" r:id="rId2" imgW="1438188" imgH="142830" progId="Equation.3">
                  <p:embed/>
                  <p:pic>
                    <p:nvPicPr>
                      <p:cNvPr id="9830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315" y="210665"/>
                        <a:ext cx="4237037" cy="58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9" name="Object 4"/>
          <p:cNvGraphicFramePr>
            <a:graphicFrameLocks noChangeAspect="1"/>
          </p:cNvGraphicFramePr>
          <p:nvPr/>
        </p:nvGraphicFramePr>
        <p:xfrm>
          <a:off x="1187450" y="1969021"/>
          <a:ext cx="41497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90543" imgH="133380" progId="Equation.DSMT4">
                  <p:embed/>
                </p:oleObj>
              </mc:Choice>
              <mc:Fallback>
                <p:oleObj name="Equation" r:id="rId4" imgW="1590543" imgH="133380" progId="Equation.DSMT4">
                  <p:embed/>
                  <p:pic>
                    <p:nvPicPr>
                      <p:cNvPr id="9830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969021"/>
                        <a:ext cx="414972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9535535"/>
              </p:ext>
            </p:extLst>
          </p:nvPr>
        </p:nvGraphicFramePr>
        <p:xfrm>
          <a:off x="1331640" y="5661248"/>
          <a:ext cx="458946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1532" imgH="142830" progId="Equation.3">
                  <p:embed/>
                </p:oleObj>
              </mc:Choice>
              <mc:Fallback>
                <p:oleObj name="Equation" r:id="rId6" imgW="1771532" imgH="142830" progId="Equation.3">
                  <p:embed/>
                  <p:pic>
                    <p:nvPicPr>
                      <p:cNvPr id="983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5661248"/>
                        <a:ext cx="4589463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1862577"/>
              </p:ext>
            </p:extLst>
          </p:nvPr>
        </p:nvGraphicFramePr>
        <p:xfrm>
          <a:off x="1876425" y="2641600"/>
          <a:ext cx="21050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34680" imgH="228600" progId="Equation.DSMT4">
                  <p:embed/>
                </p:oleObj>
              </mc:Choice>
              <mc:Fallback>
                <p:oleObj name="Equation" r:id="rId8" imgW="634680" imgH="228600" progId="Equation.DSMT4">
                  <p:embed/>
                  <p:pic>
                    <p:nvPicPr>
                      <p:cNvPr id="983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425" y="2641600"/>
                        <a:ext cx="2105025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BEFE9F59-6DA5-4740-663F-77B111CCDF15}"/>
              </a:ext>
            </a:extLst>
          </p:cNvPr>
          <p:cNvSpPr txBox="1"/>
          <p:nvPr/>
        </p:nvSpPr>
        <p:spPr>
          <a:xfrm>
            <a:off x="2062405" y="1217201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令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B30ED08-0B04-48C7-752A-604D4D3294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57080" y="1217201"/>
          <a:ext cx="3629839" cy="523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09400" imgH="203040" progId="Equation.DSMT4">
                  <p:embed/>
                </p:oleObj>
              </mc:Choice>
              <mc:Fallback>
                <p:oleObj name="Equation" r:id="rId10" imgW="1409400" imgH="2030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0B30ED08-0B04-48C7-752A-604D4D3294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757080" y="1217201"/>
                        <a:ext cx="3629839" cy="523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1935987-4D2E-7061-9CA9-B46B364C99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613802"/>
              </p:ext>
            </p:extLst>
          </p:nvPr>
        </p:nvGraphicFramePr>
        <p:xfrm>
          <a:off x="1331640" y="3555466"/>
          <a:ext cx="578485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785272" imgH="493938" progId="Equation.DSMT4">
                  <p:embed/>
                </p:oleObj>
              </mc:Choice>
              <mc:Fallback>
                <p:oleObj name="Equation" r:id="rId12" imgW="5785272" imgH="49393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31640" y="3555466"/>
                        <a:ext cx="5784850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84BF448-A1BA-4A68-1707-63AB41D18A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459972"/>
              </p:ext>
            </p:extLst>
          </p:nvPr>
        </p:nvGraphicFramePr>
        <p:xfrm>
          <a:off x="1341924" y="4313743"/>
          <a:ext cx="3960440" cy="502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03240" imgH="228600" progId="Equation.DSMT4">
                  <p:embed/>
                </p:oleObj>
              </mc:Choice>
              <mc:Fallback>
                <p:oleObj name="Equation" r:id="rId14" imgW="1803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341924" y="4313743"/>
                        <a:ext cx="3960440" cy="5020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F0CA577-8FA0-0BE3-3FFF-1B22F349F4A0}"/>
              </a:ext>
            </a:extLst>
          </p:cNvPr>
          <p:cNvSpPr txBox="1"/>
          <p:nvPr/>
        </p:nvSpPr>
        <p:spPr>
          <a:xfrm>
            <a:off x="2915816" y="4941168"/>
            <a:ext cx="5184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Times New Roman" panose="02020603050405020304" pitchFamily="18" charset="0"/>
              </a:rPr>
              <a:t>则   </a:t>
            </a:r>
            <a:r>
              <a:rPr lang="en-US" altLang="zh-CN" sz="2800" b="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2800" b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800" b="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  </a:t>
            </a:r>
            <a:r>
              <a:rPr lang="en-US" altLang="zh-CN" sz="2800" b="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1,2,3,...</a:t>
            </a:r>
            <a:endParaRPr lang="zh-CN" altLang="en-US" sz="28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CED564C3-827E-4709-8F0B-CE517E20B16C}" type="slidenum">
              <a:rPr lang="zh-CN" altLang="en-US"/>
              <a:pPr>
                <a:defRPr/>
              </a:pPr>
              <a:t>45</a:t>
            </a:fld>
            <a:r>
              <a:rPr lang="zh-CN" altLang="en-US"/>
              <a:t>页</a:t>
            </a:r>
          </a:p>
        </p:txBody>
      </p:sp>
      <p:sp>
        <p:nvSpPr>
          <p:cNvPr id="99331" name="Rectangle 2"/>
          <p:cNvSpPr>
            <a:spLocks noGrp="1" noChangeArrowheads="1"/>
          </p:cNvSpPr>
          <p:nvPr>
            <p:ph/>
          </p:nvPr>
        </p:nvSpPr>
        <p:spPr>
          <a:xfrm>
            <a:off x="0" y="0"/>
            <a:ext cx="9144000" cy="6240463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solidFill>
                  <a:schemeClr val="accent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dirty="0" err="1">
                <a:solidFill>
                  <a:schemeClr val="accent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Dirichlet</a:t>
            </a:r>
            <a:r>
              <a:rPr lang="zh-CN" altLang="en-US" dirty="0">
                <a:solidFill>
                  <a:schemeClr val="accent6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鸽笼原理可以证明</a:t>
            </a:r>
            <a:r>
              <a:rPr lang="zh-CN" altLang="en-US" dirty="0">
                <a:solidFill>
                  <a:schemeClr val="accent6"/>
                </a:solidFill>
                <a:latin typeface="Times New Roman" pitchFamily="18" charset="0"/>
              </a:rPr>
              <a:t>：</a:t>
            </a:r>
            <a:endParaRPr lang="en-US" altLang="zh-CN" dirty="0">
              <a:solidFill>
                <a:schemeClr val="accent6"/>
              </a:solidFill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Theorem2-17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 =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 1,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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则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Hint 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zh-CN" sz="4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求传递闭包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Warshall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(1962)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有效算法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 </a:t>
            </a:r>
            <a:r>
              <a:rPr lang="zh-CN" altLang="en-US" dirty="0">
                <a:solidFill>
                  <a:schemeClr val="accent6"/>
                </a:solidFill>
                <a:latin typeface="Times New Roman" pitchFamily="18" charset="0"/>
                <a:ea typeface="华文新魏" pitchFamily="2" charset="-122"/>
              </a:rPr>
              <a:t>数据库中用</a:t>
            </a:r>
            <a:r>
              <a:rPr lang="en-US" altLang="zh-CN" dirty="0">
                <a:solidFill>
                  <a:schemeClr val="accent6"/>
                </a:solidFill>
                <a:latin typeface="Times New Roman" pitchFamily="18" charset="0"/>
              </a:rPr>
              <a:t>.</a:t>
            </a:r>
          </a:p>
        </p:txBody>
      </p:sp>
      <p:graphicFrame>
        <p:nvGraphicFramePr>
          <p:cNvPr id="9933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2176181"/>
              </p:ext>
            </p:extLst>
          </p:nvPr>
        </p:nvGraphicFramePr>
        <p:xfrm>
          <a:off x="2843808" y="1556792"/>
          <a:ext cx="4288533" cy="626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76277" imgH="142830" progId="Equation.3">
                  <p:embed/>
                </p:oleObj>
              </mc:Choice>
              <mc:Fallback>
                <p:oleObj name="公式" r:id="rId2" imgW="1476277" imgH="142830" progId="Equation.3">
                  <p:embed/>
                  <p:pic>
                    <p:nvPicPr>
                      <p:cNvPr id="9933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1556792"/>
                        <a:ext cx="4288533" cy="626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3" name="Object 4"/>
          <p:cNvGraphicFramePr>
            <a:graphicFrameLocks noChangeAspect="1"/>
          </p:cNvGraphicFramePr>
          <p:nvPr/>
        </p:nvGraphicFramePr>
        <p:xfrm>
          <a:off x="1835696" y="2348879"/>
          <a:ext cx="5976664" cy="578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97080" imgH="228600" progId="Equation.DSMT4">
                  <p:embed/>
                </p:oleObj>
              </mc:Choice>
              <mc:Fallback>
                <p:oleObj name="Equation" r:id="rId4" imgW="2197080" imgH="228600" progId="Equation.DSMT4">
                  <p:embed/>
                  <p:pic>
                    <p:nvPicPr>
                      <p:cNvPr id="9933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2348879"/>
                        <a:ext cx="5976664" cy="5789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内容占位符 7">
            <a:extLst>
              <a:ext uri="{FF2B5EF4-FFF2-40B4-BE49-F238E27FC236}">
                <a16:creationId xmlns:a16="http://schemas.microsoft.com/office/drawing/2014/main" id="{F780D07A-B2E1-5DF1-9DC8-94F72DBCDD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3688" y="3007821"/>
            <a:ext cx="6048672" cy="220495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9BABF9A6-6252-445A-9EBB-6C7DEF96D168}" type="slidenum">
              <a:rPr lang="zh-CN" altLang="en-US"/>
              <a:pPr>
                <a:defRPr/>
              </a:pPr>
              <a:t>46</a:t>
            </a:fld>
            <a:r>
              <a:rPr lang="zh-CN" altLang="en-US"/>
              <a:t>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355" name="Rectangle 2"/>
              <p:cNvSpPr>
                <a:spLocks noGrp="1" noChangeArrowheads="1"/>
              </p:cNvSpPr>
              <p:nvPr>
                <p:ph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120000"/>
                  </a:lnSpc>
                  <a:buFontTx/>
                  <a:buNone/>
                </a:pPr>
                <a:r>
                  <a:rPr lang="en-US" altLang="zh-CN" b="0" dirty="0">
                    <a:latin typeface="Times New Roman" pitchFamily="18" charset="0"/>
                  </a:rPr>
                  <a:t>(a)</a:t>
                </a:r>
                <a:r>
                  <a:rPr lang="zh-CN" altLang="en-US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关系的闭包运算与其他运算之间的联系</a:t>
                </a:r>
              </a:p>
              <a:p>
                <a:pPr eaLnBrk="1" hangingPunct="1">
                  <a:lnSpc>
                    <a:spcPct val="120000"/>
                  </a:lnSpc>
                  <a:buNone/>
                </a:pPr>
                <a:r>
                  <a:rPr lang="en-US" altLang="zh-CN" dirty="0">
                    <a:latin typeface="Times New Roman" pitchFamily="18" charset="0"/>
                  </a:rPr>
                  <a:t>Theorem 2-18(P57) </a:t>
                </a:r>
                <a:r>
                  <a:rPr lang="en-US" altLang="zh-CN" b="0" i="1" dirty="0">
                    <a:latin typeface="Times New Roman" pitchFamily="18" charset="0"/>
                  </a:rPr>
                  <a:t>R</a:t>
                </a:r>
                <a:r>
                  <a:rPr lang="en-US" altLang="zh-CN" b="0" baseline="-25000" dirty="0">
                    <a:latin typeface="Times New Roman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b="0" dirty="0">
                    <a:latin typeface="Times New Roman" pitchFamily="18" charset="0"/>
                  </a:rPr>
                  <a:t>, </a:t>
                </a:r>
                <a:r>
                  <a:rPr lang="en-US" altLang="zh-CN" b="0" i="1" dirty="0">
                    <a:latin typeface="Times New Roman" pitchFamily="18" charset="0"/>
                  </a:rPr>
                  <a:t>R</a:t>
                </a:r>
                <a:r>
                  <a:rPr lang="en-US" altLang="zh-CN" b="0" baseline="-25000" dirty="0">
                    <a:latin typeface="Times New Roman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zh-CN" b="0" dirty="0">
                  <a:latin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buFontTx/>
                  <a:buNone/>
                </a:pPr>
                <a:r>
                  <a:rPr lang="en-US" altLang="zh-CN" dirty="0">
                    <a:latin typeface="Times New Roman" pitchFamily="18" charset="0"/>
                  </a:rPr>
                  <a:t>(1)</a:t>
                </a:r>
              </a:p>
              <a:p>
                <a:pPr eaLnBrk="1" hangingPunct="1">
                  <a:lnSpc>
                    <a:spcPct val="120000"/>
                  </a:lnSpc>
                  <a:buFontTx/>
                  <a:buNone/>
                </a:pPr>
                <a:r>
                  <a:rPr lang="en-US" altLang="zh-CN" dirty="0">
                    <a:latin typeface="Times New Roman" pitchFamily="18" charset="0"/>
                  </a:rPr>
                  <a:t>(2)</a:t>
                </a:r>
              </a:p>
              <a:p>
                <a:pPr eaLnBrk="1" hangingPunct="1">
                  <a:lnSpc>
                    <a:spcPct val="120000"/>
                  </a:lnSpc>
                  <a:buFontTx/>
                  <a:buNone/>
                </a:pPr>
                <a:r>
                  <a:rPr lang="en-US" altLang="zh-CN" dirty="0">
                    <a:latin typeface="Times New Roman" pitchFamily="18" charset="0"/>
                  </a:rPr>
                  <a:t>(3)</a:t>
                </a:r>
              </a:p>
              <a:p>
                <a:pPr eaLnBrk="1" hangingPunct="1">
                  <a:lnSpc>
                    <a:spcPct val="120000"/>
                  </a:lnSpc>
                  <a:buNone/>
                </a:pPr>
                <a:endParaRPr lang="en-US" altLang="zh-CN" sz="2800" kern="100" dirty="0">
                  <a:effectLst/>
                  <a:latin typeface="Times New Roman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buFontTx/>
                  <a:buNone/>
                </a:pPr>
                <a:endParaRPr lang="en-US" altLang="zh-CN" sz="1800" kern="100" dirty="0">
                  <a:latin typeface="Times New Roman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buFontTx/>
                  <a:buNone/>
                </a:pPr>
                <a:endParaRPr lang="en-US" altLang="zh-CN" sz="1800" kern="100" dirty="0">
                  <a:latin typeface="Times New Roman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buFontTx/>
                  <a:buNone/>
                </a:pPr>
                <a:endParaRPr lang="en-US" altLang="zh-CN" sz="1800" kern="100" dirty="0">
                  <a:latin typeface="Times New Roman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buFontTx/>
                  <a:buNone/>
                </a:pPr>
                <a:r>
                  <a:rPr lang="en-US" altLang="zh-CN" dirty="0">
                    <a:latin typeface="Times New Roman" pitchFamily="18" charset="0"/>
                  </a:rPr>
                  <a:t>Remark </a:t>
                </a:r>
              </a:p>
            </p:txBody>
          </p:sp>
        </mc:Choice>
        <mc:Fallback xmlns="">
          <p:sp>
            <p:nvSpPr>
              <p:cNvPr id="100355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t="-1074" r="-1600" b="-42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0356" name="Object 3"/>
          <p:cNvGraphicFramePr>
            <a:graphicFrameLocks noChangeAspect="1"/>
          </p:cNvGraphicFramePr>
          <p:nvPr/>
        </p:nvGraphicFramePr>
        <p:xfrm>
          <a:off x="1331913" y="1772816"/>
          <a:ext cx="41497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90543" imgH="133380" progId="Equation.3">
                  <p:embed/>
                </p:oleObj>
              </mc:Choice>
              <mc:Fallback>
                <p:oleObj name="Equation" r:id="rId3" imgW="1590543" imgH="133380" progId="Equation.3">
                  <p:embed/>
                  <p:pic>
                    <p:nvPicPr>
                      <p:cNvPr id="10035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772816"/>
                        <a:ext cx="414972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7" name="Object 4"/>
          <p:cNvGraphicFramePr>
            <a:graphicFrameLocks noChangeAspect="1"/>
          </p:cNvGraphicFramePr>
          <p:nvPr/>
        </p:nvGraphicFramePr>
        <p:xfrm>
          <a:off x="1403350" y="2564979"/>
          <a:ext cx="41179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81088" imgH="133380" progId="Equation.3">
                  <p:embed/>
                </p:oleObj>
              </mc:Choice>
              <mc:Fallback>
                <p:oleObj name="Equation" r:id="rId5" imgW="1581088" imgH="133380" progId="Equation.3">
                  <p:embed/>
                  <p:pic>
                    <p:nvPicPr>
                      <p:cNvPr id="10035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564979"/>
                        <a:ext cx="41179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8" name="Object 5"/>
          <p:cNvGraphicFramePr>
            <a:graphicFrameLocks noChangeAspect="1"/>
          </p:cNvGraphicFramePr>
          <p:nvPr/>
        </p:nvGraphicFramePr>
        <p:xfrm>
          <a:off x="1476375" y="3357141"/>
          <a:ext cx="40544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52454" imgH="133380" progId="Equation.3">
                  <p:embed/>
                </p:oleObj>
              </mc:Choice>
              <mc:Fallback>
                <p:oleObj name="Equation" r:id="rId7" imgW="1552454" imgH="133380" progId="Equation.3">
                  <p:embed/>
                  <p:pic>
                    <p:nvPicPr>
                      <p:cNvPr id="10035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357141"/>
                        <a:ext cx="40544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9" name="Object 6"/>
          <p:cNvGraphicFramePr>
            <a:graphicFrameLocks noChangeAspect="1"/>
          </p:cNvGraphicFramePr>
          <p:nvPr/>
        </p:nvGraphicFramePr>
        <p:xfrm>
          <a:off x="2694734" y="5857453"/>
          <a:ext cx="399256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24090" imgH="133380" progId="Equation.3">
                  <p:embed/>
                </p:oleObj>
              </mc:Choice>
              <mc:Fallback>
                <p:oleObj name="Equation" r:id="rId9" imgW="1524090" imgH="133380" progId="Equation.3">
                  <p:embed/>
                  <p:pic>
                    <p:nvPicPr>
                      <p:cNvPr id="10035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4734" y="5857453"/>
                        <a:ext cx="3992563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246D341-D494-FFB2-BF96-B818B8F37423}"/>
                  </a:ext>
                </a:extLst>
              </p:cNvPr>
              <p:cNvSpPr txBox="1"/>
              <p:nvPr/>
            </p:nvSpPr>
            <p:spPr>
              <a:xfrm>
                <a:off x="1543289" y="3954328"/>
                <a:ext cx="5472608" cy="526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1" hangingPunct="1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sz="24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nary>
                      <m:naryPr>
                        <m:chr m:val="⋃"/>
                        <m:ctrlPr>
                          <a:rPr lang="zh-CN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sSubSup>
                          <m:sSubSupPr>
                            <m:ctrlPr>
                              <a:rPr lang="zh-CN" altLang="zh-CN" sz="2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bSup>
                      </m:e>
                    </m:nary>
                    <m:r>
                      <a:rPr lang="en-US" altLang="zh-CN" sz="240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i="1" kern="10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zh-CN" altLang="zh-CN" sz="24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∪</m:t>
                    </m:r>
                    <m:sSubSup>
                      <m:sSubSupPr>
                        <m:ctrlPr>
                          <a:rPr lang="zh-CN" altLang="zh-CN" sz="2400" i="1" kern="100" smtClean="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zh-CN" altLang="zh-CN" sz="24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∪</m:t>
                    </m:r>
                    <m:sSubSup>
                      <m:sSubSupPr>
                        <m:ctrlPr>
                          <a:rPr lang="zh-CN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bSup>
                    <m:r>
                      <a:rPr lang="zh-CN" altLang="zh-CN" sz="240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∪</m:t>
                    </m:r>
                    <m:r>
                      <a:rPr lang="en-US" altLang="zh-CN" sz="240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...</m:t>
                    </m:r>
                  </m:oMath>
                </a14:m>
                <a:r>
                  <a:rPr lang="zh-CN" altLang="zh-CN" sz="2400" kern="1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endParaRPr lang="en-US" altLang="zh-CN" sz="2400" kern="1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246D341-D494-FFB2-BF96-B818B8F37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289" y="3954328"/>
                <a:ext cx="5472608" cy="526298"/>
              </a:xfrm>
              <a:prstGeom prst="rect">
                <a:avLst/>
              </a:prstGeom>
              <a:blipFill>
                <a:blip r:embed="rId11"/>
                <a:stretch>
                  <a:fillRect t="-2326" b="-209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3F7DCCB-6B35-40D3-C608-5C93A1ED9491}"/>
                  </a:ext>
                </a:extLst>
              </p:cNvPr>
              <p:cNvSpPr txBox="1"/>
              <p:nvPr/>
            </p:nvSpPr>
            <p:spPr>
              <a:xfrm>
                <a:off x="1484387" y="4525959"/>
                <a:ext cx="5976664" cy="526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1" hangingPunct="1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sz="2400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nary>
                      <m:naryPr>
                        <m:chr m:val="⋃"/>
                        <m:ctrlPr>
                          <a:rPr lang="zh-CN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sSubSup>
                          <m:sSubSupPr>
                            <m:ctrlPr>
                              <a:rPr lang="zh-CN" altLang="zh-CN" sz="24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bSup>
                      </m:e>
                    </m:nary>
                    <m:r>
                      <a:rPr lang="en-US" altLang="zh-CN" sz="2400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i="1" kern="10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zh-CN" altLang="zh-CN" sz="2400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∪</m:t>
                    </m:r>
                    <m:sSubSup>
                      <m:sSubSupPr>
                        <m:ctrlPr>
                          <a:rPr lang="zh-CN" altLang="zh-CN" sz="2400" i="1" kern="10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 kern="1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zh-CN" altLang="zh-CN" sz="2400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∪</m:t>
                    </m:r>
                    <m:sSubSup>
                      <m:sSubSupPr>
                        <m:ctrlPr>
                          <a:rPr lang="zh-CN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bSup>
                    <m:r>
                      <a:rPr lang="zh-CN" altLang="zh-CN" sz="2400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∪</m:t>
                    </m:r>
                    <m:r>
                      <a:rPr lang="en-US" altLang="zh-CN" sz="2400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...</m:t>
                    </m:r>
                  </m:oMath>
                </a14:m>
                <a:r>
                  <a:rPr lang="zh-CN" altLang="zh-CN" sz="2400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endParaRPr lang="zh-CN" altLang="zh-CN" sz="2400" kern="1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3F7DCCB-6B35-40D3-C608-5C93A1ED9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387" y="4525959"/>
                <a:ext cx="5976664" cy="526683"/>
              </a:xfrm>
              <a:prstGeom prst="rect">
                <a:avLst/>
              </a:prstGeom>
              <a:blipFill>
                <a:blip r:embed="rId12"/>
                <a:stretch>
                  <a:fillRect t="-2299" b="-195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722D02A-BBD9-C959-CE96-83CD33371FB9}"/>
                  </a:ext>
                </a:extLst>
              </p:cNvPr>
              <p:cNvSpPr txBox="1"/>
              <p:nvPr/>
            </p:nvSpPr>
            <p:spPr>
              <a:xfrm>
                <a:off x="-144524" y="4744195"/>
                <a:ext cx="9433048" cy="17028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2200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200" b="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200" b="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zh-CN" sz="2200" b="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sSub>
                        <m:sSubPr>
                          <m:ctrlPr>
                            <a:rPr lang="zh-CN" altLang="zh-CN" sz="2200" b="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200" b="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b="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chr m:val="⋃"/>
                          <m:ctrlPr>
                            <a:rPr lang="zh-CN" altLang="zh-CN" sz="2200" b="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b="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200" b="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b="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200" b="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zh-CN" sz="2200" b="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∪</m:t>
                          </m:r>
                          <m:sSub>
                            <m:sSubPr>
                              <m:ctrlPr>
                                <a:rPr lang="zh-CN" altLang="zh-CN" sz="2200" b="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zh-CN" sz="2200" b="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200" b="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US" altLang="zh-CN" sz="2200" b="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200" b="0" i="1" kern="1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200" b="0" i="1" kern="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kern="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200" b="0" i="1" kern="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zh-CN" sz="2200" b="0" i="1" kern="1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sSub>
                        <m:sSubPr>
                          <m:ctrlPr>
                            <a:rPr lang="zh-CN" altLang="zh-CN" sz="2200" b="0" i="1" kern="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kern="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200" b="0" i="1" kern="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b="0" i="1" kern="1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zh-CN" altLang="zh-CN" sz="2200" b="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r>
                        <a:rPr lang="en-US" altLang="zh-CN" sz="2200" b="0" i="1" kern="10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200" b="0" i="1" kern="1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kern="1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200" b="0" i="1" kern="1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zh-CN" sz="2200" b="0" i="1" kern="1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sSub>
                        <m:sSubPr>
                          <m:ctrlPr>
                            <a:rPr lang="zh-CN" altLang="zh-CN" sz="2200" b="0" i="1" kern="1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kern="1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200" b="0" i="1" kern="1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zh-CN" altLang="zh-CN" sz="2200" b="0" i="1" kern="1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kern="1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200" b="0" i="1" kern="1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zh-CN" sz="2200" b="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r>
                        <a:rPr lang="en-US" altLang="zh-CN" sz="2200" b="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200" b="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200" b="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zh-CN" sz="2200" b="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sSub>
                        <m:sSubPr>
                          <m:ctrlPr>
                            <a:rPr lang="zh-CN" altLang="zh-CN" sz="2200" b="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200" b="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zh-CN" altLang="zh-CN" sz="2200" b="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200" b="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zh-CN" sz="2200" b="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r>
                        <a:rPr lang="en-US" altLang="zh-CN" sz="2200" b="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...</m:t>
                      </m:r>
                    </m:oMath>
                  </m:oMathPara>
                </a14:m>
                <a:endParaRPr lang="en-US" altLang="zh-CN" sz="2200" b="0" dirty="0">
                  <a:solidFill>
                    <a:schemeClr val="tx1"/>
                  </a:solidFill>
                  <a:latin typeface="Times New Roman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buNone/>
                </a:pPr>
                <a:endParaRPr lang="zh-CN" altLang="zh-CN" sz="2600" kern="1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722D02A-BBD9-C959-CE96-83CD33371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4524" y="4744195"/>
                <a:ext cx="9433048" cy="170283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E694AF88-0147-489C-A304-FD3B61CC2A5C}" type="slidenum">
              <a:rPr lang="zh-CN" altLang="en-US"/>
              <a:pPr>
                <a:defRPr/>
              </a:pPr>
              <a:t>47</a:t>
            </a:fld>
            <a:r>
              <a:rPr lang="zh-CN" altLang="en-US"/>
              <a:t>页</a:t>
            </a:r>
          </a:p>
        </p:txBody>
      </p:sp>
      <p:sp>
        <p:nvSpPr>
          <p:cNvPr id="101379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b="0" dirty="0">
                <a:latin typeface="Times New Roman" pitchFamily="18" charset="0"/>
              </a:rPr>
              <a:t>(b)</a:t>
            </a:r>
            <a:r>
              <a:rPr lang="zh-CN" altLang="en-US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闭包运算与关系的性质的联系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 2-19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自反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及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自反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对称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及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对称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(3)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传递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t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传递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不一定传递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Remark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自反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对称、传递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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、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).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C065039-B6A5-835C-A2C9-A313887F20B4}"/>
                  </a:ext>
                </a:extLst>
              </p:cNvPr>
              <p:cNvSpPr txBox="1"/>
              <p:nvPr/>
            </p:nvSpPr>
            <p:spPr>
              <a:xfrm>
                <a:off x="1074212" y="4005064"/>
                <a:ext cx="7596375" cy="1138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indent="266700" algn="just"/>
                <a14:m>
                  <m:oMath xmlns:m="http://schemas.openxmlformats.org/officeDocument/2006/math">
                    <m:r>
                      <a:rPr lang="en-US" altLang="zh-CN" sz="2000" i="1" kern="10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𝑟</m:t>
                    </m:r>
                    <m:d>
                      <m:dPr>
                        <m:ctrlPr>
                          <a:rPr lang="en-US" altLang="zh-CN" sz="2000" i="1" kern="10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d>
                    <m:r>
                      <a:rPr lang="en-US" altLang="zh-CN" sz="2000" i="1" kern="10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∘</m:t>
                    </m:r>
                    <m:r>
                      <a:rPr lang="en-US" altLang="zh-CN" sz="2000" i="1" kern="10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𝑟</m:t>
                    </m:r>
                    <m:d>
                      <m:dPr>
                        <m:ctrlPr>
                          <a:rPr lang="en-US" altLang="zh-CN" sz="2000" i="1" kern="10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d>
                    <m:r>
                      <a:rPr lang="en-US" altLang="zh-CN" sz="2000" i="1" kern="10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 kern="10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  <m:r>
                          <a:rPr lang="zh-CN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∪</m:t>
                        </m:r>
                        <m:sSub>
                          <m:sSubPr>
                            <m:ctrlPr>
                              <a:rPr lang="zh-CN" altLang="zh-CN" sz="2000" i="1" kern="1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kern="1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000" i="1" kern="1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zh-CN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MS Gothic" panose="020B0609070205080204" pitchFamily="49" charset="-128"/>
                        <a:cs typeface="MS Gothic" panose="020B0609070205080204" pitchFamily="49" charset="-128"/>
                      </a:rPr>
                      <m:t>∘</m:t>
                    </m:r>
                    <m:d>
                      <m:dPr>
                        <m:ctrlPr>
                          <a:rPr lang="en-US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  <m:r>
                          <a:rPr lang="zh-CN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∪</m:t>
                        </m:r>
                        <m:sSub>
                          <m:sSubPr>
                            <m:ctrlPr>
                              <a:rPr lang="zh-CN" altLang="zh-CN" sz="2000" i="1" kern="1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kern="1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000" i="1" kern="1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1" i="1" kern="10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  <m:r>
                          <a:rPr lang="zh-CN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MS Gothic" panose="020B0609070205080204" pitchFamily="49" charset="-128"/>
                            <a:cs typeface="MS Gothic" panose="020B0609070205080204" pitchFamily="49" charset="-128"/>
                          </a:rPr>
                          <m:t>∘</m:t>
                        </m:r>
                        <m:d>
                          <m:dPr>
                            <m:ctrlPr>
                              <a:rPr lang="en-US" altLang="zh-CN" sz="2000" i="1" kern="1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 kern="1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𝑅</m:t>
                            </m:r>
                            <m:r>
                              <a:rPr lang="zh-CN" altLang="zh-CN" sz="2000" i="1" kern="1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rPr>
                              <m:t>∪</m:t>
                            </m:r>
                            <m:sSub>
                              <m:sSubPr>
                                <m:ctrlPr>
                                  <a:rPr lang="zh-CN" altLang="zh-CN" sz="2000" i="1" kern="10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kern="10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zh-CN" sz="2000" i="1" kern="10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zh-CN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∪</m:t>
                    </m:r>
                    <m:r>
                      <a:rPr lang="en-US" altLang="zh-CN" sz="2000" b="1" i="1" kern="10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[</m:t>
                    </m:r>
                    <m:sSub>
                      <m:sSubPr>
                        <m:ctrlPr>
                          <a:rPr lang="zh-CN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zh-CN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MS Gothic" panose="020B0609070205080204" pitchFamily="49" charset="-128"/>
                        <a:cs typeface="MS Gothic" panose="020B0609070205080204" pitchFamily="49" charset="-128"/>
                      </a:rPr>
                      <m:t>∘</m:t>
                    </m:r>
                    <m:d>
                      <m:dPr>
                        <m:ctrlPr>
                          <a:rPr lang="en-US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  <m:r>
                          <a:rPr lang="zh-CN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∪</m:t>
                        </m:r>
                        <m:sSub>
                          <m:sSubPr>
                            <m:ctrlPr>
                              <a:rPr lang="zh-CN" altLang="zh-CN" sz="2000" i="1" kern="1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kern="1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000" i="1" kern="1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US" altLang="zh-CN" sz="2000" b="1" i="1" kern="10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endParaRPr lang="zh-CN" altLang="zh-CN" sz="2000" kern="100" dirty="0">
                  <a:solidFill>
                    <a:schemeClr val="accent6">
                      <a:lumMod val="75000"/>
                    </a:schemeClr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/>
                <a14:m>
                  <m:oMath xmlns:m="http://schemas.openxmlformats.org/officeDocument/2006/math"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1" i="1" kern="10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  <m:r>
                          <a:rPr lang="zh-CN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MS Gothic" panose="020B0609070205080204" pitchFamily="49" charset="-128"/>
                            <a:cs typeface="MS Gothic" panose="020B0609070205080204" pitchFamily="49" charset="-128"/>
                          </a:rPr>
                          <m:t>∘</m:t>
                        </m:r>
                        <m:r>
                          <a:rPr lang="en-US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d>
                    <m:r>
                      <a:rPr lang="zh-CN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∪</m:t>
                    </m:r>
                    <m:d>
                      <m:dPr>
                        <m:ctrlPr>
                          <a:rPr lang="en-US" altLang="zh-CN" sz="2000" b="1" i="1" kern="10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  <m:r>
                          <a:rPr lang="zh-CN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MS Gothic" panose="020B0609070205080204" pitchFamily="49" charset="-128"/>
                            <a:cs typeface="MS Gothic" panose="020B0609070205080204" pitchFamily="49" charset="-128"/>
                          </a:rPr>
                          <m:t>∘</m:t>
                        </m:r>
                        <m:sSub>
                          <m:sSubPr>
                            <m:ctrlPr>
                              <a:rPr lang="zh-CN" altLang="zh-CN" sz="2000" i="1" kern="1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kern="1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000" i="1" kern="1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zh-CN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∪</m:t>
                    </m:r>
                    <m:r>
                      <a:rPr lang="en-US" altLang="zh-CN" sz="2000" b="1" i="1" kern="10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[</m:t>
                    </m:r>
                    <m:sSub>
                      <m:sSubPr>
                        <m:ctrlPr>
                          <a:rPr lang="zh-CN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zh-CN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MS Gothic" panose="020B0609070205080204" pitchFamily="49" charset="-128"/>
                        <a:cs typeface="MS Gothic" panose="020B0609070205080204" pitchFamily="49" charset="-128"/>
                      </a:rPr>
                      <m:t>∘</m:t>
                    </m:r>
                    <m:d>
                      <m:dPr>
                        <m:ctrlPr>
                          <a:rPr lang="en-US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  <m:r>
                          <a:rPr lang="zh-CN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∪</m:t>
                        </m:r>
                        <m:sSub>
                          <m:sSubPr>
                            <m:ctrlPr>
                              <a:rPr lang="zh-CN" altLang="zh-CN" sz="2000" i="1" kern="1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kern="1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000" i="1" kern="1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US" altLang="zh-CN" sz="2000" b="1" i="1" kern="10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]</m:t>
                    </m:r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1" i="1" kern="10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  <m:r>
                      <a:rPr lang="zh-CN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MS Gothic" panose="020B0609070205080204" pitchFamily="49" charset="-128"/>
                        <a:cs typeface="MS Gothic" panose="020B0609070205080204" pitchFamily="49" charset="-128"/>
                      </a:rPr>
                      <m:t>∘</m:t>
                    </m:r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sz="2000" b="1" i="1" kern="10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zh-CN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∪</m:t>
                    </m:r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  <m:r>
                      <a:rPr lang="zh-CN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∪</m:t>
                    </m:r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  <m:r>
                      <a:rPr lang="zh-CN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∪</m:t>
                    </m:r>
                    <m:sSub>
                      <m:sSubPr>
                        <m:ctrlPr>
                          <a:rPr lang="zh-CN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2000" kern="100" dirty="0">
                  <a:solidFill>
                    <a:schemeClr val="accent6">
                      <a:lumMod val="75000"/>
                    </a:schemeClr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⊆</m:t>
                    </m:r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∪(</m:t>
                    </m:r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∪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∪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 i="1" kern="1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sz="2000" i="1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en-US" sz="2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C065039-B6A5-835C-A2C9-A313887F2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212" y="4005064"/>
                <a:ext cx="7596375" cy="1138773"/>
              </a:xfrm>
              <a:prstGeom prst="rect">
                <a:avLst/>
              </a:prstGeom>
              <a:blipFill>
                <a:blip r:embed="rId2"/>
                <a:stretch>
                  <a:fillRect l="-803" t="-2139" b="-8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897BECB9-8990-45B1-90BB-597D0286C257}" type="slidenum">
              <a:rPr lang="zh-CN" altLang="en-US"/>
              <a:pPr>
                <a:defRPr/>
              </a:pPr>
              <a:t>48</a:t>
            </a:fld>
            <a:r>
              <a:rPr lang="zh-CN" altLang="en-US"/>
              <a:t>页</a:t>
            </a:r>
          </a:p>
        </p:txBody>
      </p:sp>
      <p:sp>
        <p:nvSpPr>
          <p:cNvPr id="102403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下表列举关系的性质与闭包运算的联系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</a:p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p:graphicFrame>
        <p:nvGraphicFramePr>
          <p:cNvPr id="220163" name="Group 3"/>
          <p:cNvGraphicFramePr>
            <a:graphicFrameLocks noGrp="1"/>
          </p:cNvGraphicFramePr>
          <p:nvPr/>
        </p:nvGraphicFramePr>
        <p:xfrm>
          <a:off x="611188" y="1412875"/>
          <a:ext cx="7705725" cy="4356100"/>
        </p:xfrm>
        <a:graphic>
          <a:graphicData uri="http://schemas.openxmlformats.org/drawingml/2006/table">
            <a:tbl>
              <a:tblPr/>
              <a:tblGrid>
                <a:gridCol w="1284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3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74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160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200" b="1" i="0" u="none" strike="noStrike" cap="none" normalizeH="0" baseline="0" dirty="0">
                        <a:ln>
                          <a:noFill/>
                        </a:ln>
                        <a:solidFill>
                          <a:srgbClr val="002E2D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自反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反自反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对称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反对称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传递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1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1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r</a:t>
                      </a: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en-US" altLang="zh-CN" sz="3200" b="1" i="1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R</a:t>
                      </a: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rgbClr val="002E2D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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rgbClr val="002E2D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rgbClr val="002E2D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rgbClr val="002E2D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43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1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s</a:t>
                      </a: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en-US" altLang="zh-CN" sz="3200" b="1" i="1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R</a:t>
                      </a: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3200" b="1" i="0" u="none" strike="noStrike" cap="none" normalizeH="0" baseline="0">
                        <a:ln>
                          <a:noFill/>
                        </a:ln>
                        <a:solidFill>
                          <a:srgbClr val="002E2D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rgbClr val="002E2D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rgbClr val="002E2D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rgbClr val="002E2D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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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43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1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t</a:t>
                      </a: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en-US" altLang="zh-CN" sz="3200" b="1" i="1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R</a:t>
                      </a: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3200" b="1" i="0" u="none" strike="noStrike" cap="none" normalizeH="0" baseline="0">
                        <a:ln>
                          <a:noFill/>
                        </a:ln>
                        <a:solidFill>
                          <a:srgbClr val="002E2D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rgbClr val="002E2D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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rgbClr val="002E2D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2E2D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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rgbClr val="002E2D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45481338-4BC5-480A-A539-F3D824387E6C}" type="slidenum">
              <a:rPr lang="zh-CN" altLang="en-US"/>
              <a:pPr>
                <a:defRPr/>
              </a:pPr>
              <a:t>49</a:t>
            </a:fld>
            <a:r>
              <a:rPr lang="zh-CN" altLang="en-US"/>
              <a:t>页</a:t>
            </a:r>
          </a:p>
        </p:txBody>
      </p:sp>
      <p:sp>
        <p:nvSpPr>
          <p:cNvPr id="103427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b="0" dirty="0">
                <a:latin typeface="Times New Roman" pitchFamily="18" charset="0"/>
              </a:rPr>
              <a:t>(c)</a:t>
            </a:r>
            <a:r>
              <a:rPr lang="zh-CN" altLang="en-US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多重闭包运算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由于关系的闭包运算在计算机其他专业课中很有用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下面再对多重闭包问题进行简单讨论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对于多重闭包运算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规定从右至左依次进行运算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</a:p>
          <a:p>
            <a:pPr eaLnBrk="1" hangingPunct="1">
              <a:buFontTx/>
              <a:buNone/>
            </a:pPr>
            <a:endParaRPr lang="zh-CN" altLang="en-US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p:graphicFrame>
        <p:nvGraphicFramePr>
          <p:cNvPr id="103428" name="Object 3"/>
          <p:cNvGraphicFramePr>
            <a:graphicFrameLocks noChangeAspect="1"/>
          </p:cNvGraphicFramePr>
          <p:nvPr/>
        </p:nvGraphicFramePr>
        <p:xfrm>
          <a:off x="2195513" y="3860800"/>
          <a:ext cx="40322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24023" imgH="114210" progId="Equation.3">
                  <p:embed/>
                </p:oleObj>
              </mc:Choice>
              <mc:Fallback>
                <p:oleObj name="Equation" r:id="rId2" imgW="1124023" imgH="114210" progId="Equation.3">
                  <p:embed/>
                  <p:pic>
                    <p:nvPicPr>
                      <p:cNvPr id="10342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3860800"/>
                        <a:ext cx="403225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90D684C1-D6E1-4997-B8A8-F24E1438CB94}" type="slidenum">
              <a:rPr lang="zh-CN" altLang="en-US"/>
              <a:pPr>
                <a:defRPr/>
              </a:pPr>
              <a:t>50</a:t>
            </a:fld>
            <a:r>
              <a:rPr lang="zh-CN" altLang="en-US"/>
              <a:t>页</a:t>
            </a:r>
          </a:p>
        </p:txBody>
      </p:sp>
      <p:sp>
        <p:nvSpPr>
          <p:cNvPr id="104451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Theorem 2-20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(1)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(2)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(3)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latin typeface="Times New Roman" pitchFamily="18" charset="0"/>
              </a:rPr>
              <a:t>Remark </a:t>
            </a:r>
          </a:p>
          <a:p>
            <a:pPr eaLnBrk="1" hangingPunct="1">
              <a:buFontTx/>
              <a:buNone/>
            </a:pPr>
            <a:endParaRPr lang="en-US" altLang="zh-CN" dirty="0">
              <a:latin typeface="Times New Roman" pitchFamily="18" charset="0"/>
            </a:endParaRPr>
          </a:p>
        </p:txBody>
      </p:sp>
      <p:graphicFrame>
        <p:nvGraphicFramePr>
          <p:cNvPr id="104452" name="Object 3"/>
          <p:cNvGraphicFramePr>
            <a:graphicFrameLocks noChangeAspect="1"/>
          </p:cNvGraphicFramePr>
          <p:nvPr/>
        </p:nvGraphicFramePr>
        <p:xfrm>
          <a:off x="1619672" y="919063"/>
          <a:ext cx="22320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9043" imgH="114210" progId="Equation.3">
                  <p:embed/>
                </p:oleObj>
              </mc:Choice>
              <mc:Fallback>
                <p:oleObj name="Equation" r:id="rId2" imgW="819043" imgH="114210" progId="Equation.3">
                  <p:embed/>
                  <p:pic>
                    <p:nvPicPr>
                      <p:cNvPr id="10445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919063"/>
                        <a:ext cx="223202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3" name="Object 4"/>
          <p:cNvGraphicFramePr>
            <a:graphicFrameLocks noChangeAspect="1"/>
          </p:cNvGraphicFramePr>
          <p:nvPr/>
        </p:nvGraphicFramePr>
        <p:xfrm>
          <a:off x="1666875" y="1557338"/>
          <a:ext cx="213677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80954" imgH="114210" progId="Equation.3">
                  <p:embed/>
                </p:oleObj>
              </mc:Choice>
              <mc:Fallback>
                <p:oleObj name="Equation" r:id="rId4" imgW="780954" imgH="114210" progId="Equation.3">
                  <p:embed/>
                  <p:pic>
                    <p:nvPicPr>
                      <p:cNvPr id="10445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75" y="1557338"/>
                        <a:ext cx="2136775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4" name="Object 5"/>
          <p:cNvGraphicFramePr>
            <a:graphicFrameLocks noChangeAspect="1"/>
          </p:cNvGraphicFramePr>
          <p:nvPr/>
        </p:nvGraphicFramePr>
        <p:xfrm>
          <a:off x="1692275" y="2133600"/>
          <a:ext cx="220027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00134" imgH="114210" progId="Equation.3">
                  <p:embed/>
                </p:oleObj>
              </mc:Choice>
              <mc:Fallback>
                <p:oleObj name="Equation" r:id="rId6" imgW="800134" imgH="114210" progId="Equation.3">
                  <p:embed/>
                  <p:pic>
                    <p:nvPicPr>
                      <p:cNvPr id="10445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133600"/>
                        <a:ext cx="220027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5" name="Object 6"/>
          <p:cNvGraphicFramePr>
            <a:graphicFrameLocks noChangeAspect="1"/>
          </p:cNvGraphicFramePr>
          <p:nvPr/>
        </p:nvGraphicFramePr>
        <p:xfrm>
          <a:off x="2699792" y="5517232"/>
          <a:ext cx="213836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80954" imgH="114210" progId="Equation.3">
                  <p:embed/>
                </p:oleObj>
              </mc:Choice>
              <mc:Fallback>
                <p:oleObj name="Equation" r:id="rId8" imgW="780954" imgH="114210" progId="Equation.3">
                  <p:embed/>
                  <p:pic>
                    <p:nvPicPr>
                      <p:cNvPr id="10445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5517232"/>
                        <a:ext cx="2138363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81812C1-7446-93F4-6655-E6DEB5E8E86A}"/>
                  </a:ext>
                </a:extLst>
              </p:cNvPr>
              <p:cNvSpPr txBox="1"/>
              <p:nvPr/>
            </p:nvSpPr>
            <p:spPr>
              <a:xfrm>
                <a:off x="1619672" y="2869321"/>
                <a:ext cx="6408712" cy="2894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kern="10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𝑠𝑡</m:t>
                      </m:r>
                      <m:r>
                        <a:rPr lang="en-US" altLang="zh-CN" sz="2000" i="1" kern="10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000" i="1" kern="10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US" altLang="zh-CN" sz="2000" i="1" kern="10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000" i="1" kern="10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zh-CN" sz="2000" i="1" kern="10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000" i="1" kern="10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zh-CN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sSup>
                        <m:sSupPr>
                          <m:ctrlPr>
                            <a:rPr lang="zh-CN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...)=(</m:t>
                      </m:r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zh-CN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sSup>
                        <m:sSupPr>
                          <m:ctrlPr>
                            <a:rPr lang="zh-CN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...)</m:t>
                      </m:r>
                      <m:r>
                        <a:rPr lang="zh-CN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zh-CN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sSup>
                        <m:sSupPr>
                          <m:ctrlPr>
                            <a:rPr lang="zh-CN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...</m:t>
                      </m:r>
                      <m:sSup>
                        <m:sSupPr>
                          <m:ctrlPr>
                            <a:rPr lang="zh-CN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=(</m:t>
                      </m:r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∪</m:t>
                      </m:r>
                      <m:sSup>
                        <m:sSupPr>
                          <m:ctrlPr>
                            <a:rPr lang="zh-CN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∪...)∪(</m:t>
                      </m:r>
                      <m:sSup>
                        <m:sSupPr>
                          <m:ctrlPr>
                            <a:rPr lang="zh-CN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∪(</m:t>
                      </m:r>
                      <m:sSup>
                        <m:sSupPr>
                          <m:ctrlPr>
                            <a:rPr lang="zh-CN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zh-CN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∪...)=(</m:t>
                      </m:r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∪</m:t>
                      </m:r>
                      <m:sSup>
                        <m:sSupPr>
                          <m:ctrlPr>
                            <a:rPr lang="zh-CN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∪...)∪(</m:t>
                      </m:r>
                      <m:sSup>
                        <m:sSupPr>
                          <m:ctrlPr>
                            <a:rPr lang="zh-CN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∪(</m:t>
                      </m:r>
                      <m:sSup>
                        <m:sSupPr>
                          <m:ctrlPr>
                            <a:rPr lang="zh-CN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zh-CN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∪...)=(</m:t>
                      </m:r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zh-CN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sSup>
                        <m:sSupPr>
                          <m:ctrlPr>
                            <a:rPr lang="zh-CN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zh-CN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r>
                        <a:rPr lang="en-US" altLang="zh-CN" sz="2000" i="1" kern="10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000" i="1" kern="100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000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zh-CN" sz="2000" i="1" kern="10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r>
                        <a:rPr lang="en-US" altLang="zh-CN" sz="2000" i="1" kern="10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000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000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zh-CN" altLang="zh-CN" sz="2000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000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i="1" kern="10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zh-CN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r>
                        <a:rPr lang="en-US" altLang="zh-CN" sz="2000" i="1" kern="10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…</m:t>
                      </m:r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⊆</m:t>
                      </m:r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zh-CN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sSup>
                        <m:sSupPr>
                          <m:ctrlPr>
                            <a:rPr lang="zh-CN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000" i="1" kern="10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zh-CN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r>
                        <a:rPr lang="en-US" altLang="zh-CN" sz="2000" i="1" kern="10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000" i="1" kern="10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zh-CN" altLang="zh-CN" sz="2000" i="1" kern="10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sSup>
                        <m:sSupPr>
                          <m:ctrlPr>
                            <a:rPr lang="zh-CN" altLang="zh-CN" sz="2000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000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zh-CN" altLang="zh-CN" sz="2000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000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zh-CN" sz="2000" i="1" kern="1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∪</m:t>
                      </m:r>
                      <m:r>
                        <a:rPr lang="en-US" altLang="zh-CN" sz="2000" i="1" kern="10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…</m:t>
                      </m:r>
                    </m:oMath>
                  </m:oMathPara>
                </a14:m>
                <a:endParaRPr lang="en-US" altLang="zh-CN" sz="2000" i="1" kern="100" dirty="0">
                  <a:solidFill>
                    <a:schemeClr val="accent2">
                      <a:lumMod val="75000"/>
                    </a:schemeClr>
                  </a:solidFill>
                  <a:effectLst/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14:m>
                  <m:oMath xmlns:m="http://schemas.openxmlformats.org/officeDocument/2006/math">
                    <m:r>
                      <a:rPr lang="en-US" altLang="zh-CN" sz="2000" i="1" kern="10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	</m:t>
                    </m:r>
                    <m:r>
                      <a:rPr lang="en-US" altLang="zh-CN" sz="2000" b="1" i="1" kern="10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   </m:t>
                    </m:r>
                    <m:r>
                      <a:rPr lang="en-US" altLang="zh-CN" sz="2000" i="1" kern="10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i="1" kern="10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𝑡𝑠</m:t>
                    </m:r>
                    <m:d>
                      <m:dPr>
                        <m:ctrlPr>
                          <a:rPr lang="en-US" altLang="zh-CN" sz="2000" i="1" kern="1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altLang="zh-CN" sz="2000" kern="100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sz="2000" kern="100" dirty="0">
                  <a:solidFill>
                    <a:schemeClr val="accent2">
                      <a:lumMod val="75000"/>
                    </a:schemeClr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81812C1-7446-93F4-6655-E6DEB5E8E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2869321"/>
                <a:ext cx="6408712" cy="289476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5B3AA350-A743-4F58-9213-1743EDDD7CD3}" type="slidenum">
              <a:rPr lang="zh-CN" altLang="en-US"/>
              <a:pPr>
                <a:defRPr/>
              </a:pPr>
              <a:t>51</a:t>
            </a:fld>
            <a:r>
              <a:rPr lang="zh-CN" altLang="en-US"/>
              <a:t>页</a:t>
            </a:r>
          </a:p>
        </p:txBody>
      </p:sp>
      <p:sp>
        <p:nvSpPr>
          <p:cNvPr id="223234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0547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0"/>
              <a:t>小结与作业</a:t>
            </a:r>
          </a:p>
        </p:txBody>
      </p:sp>
      <p:grpSp>
        <p:nvGrpSpPr>
          <p:cNvPr id="105477" name="Group 4"/>
          <p:cNvGrpSpPr>
            <a:grpSpLocks/>
          </p:cNvGrpSpPr>
          <p:nvPr/>
        </p:nvGrpSpPr>
        <p:grpSpPr bwMode="auto">
          <a:xfrm>
            <a:off x="1042988" y="1268413"/>
            <a:ext cx="5181600" cy="508000"/>
            <a:chOff x="1419" y="1480"/>
            <a:chExt cx="3575" cy="363"/>
          </a:xfrm>
        </p:grpSpPr>
        <p:grpSp>
          <p:nvGrpSpPr>
            <p:cNvPr id="105500" name="Group 5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23238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23239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chemeClr val="tx1"/>
                    </a:solidFill>
                    <a:latin typeface="Times New Roman" pitchFamily="18" charset="0"/>
                  </a:rPr>
                  <a:t>自反闭包</a:t>
                </a:r>
                <a:r>
                  <a:rPr lang="en-US" altLang="zh-CN" i="1">
                    <a:solidFill>
                      <a:schemeClr val="tx1"/>
                    </a:solidFill>
                    <a:latin typeface="Times New Roman" pitchFamily="18" charset="0"/>
                  </a:rPr>
                  <a:t>r</a:t>
                </a:r>
                <a:r>
                  <a:rPr lang="en-US" altLang="zh-CN">
                    <a:solidFill>
                      <a:schemeClr val="tx1"/>
                    </a:solidFill>
                    <a:latin typeface="Times New Roman" pitchFamily="18" charset="0"/>
                  </a:rPr>
                  <a:t>(</a:t>
                </a:r>
                <a:r>
                  <a:rPr lang="en-US" altLang="zh-CN" i="1">
                    <a:solidFill>
                      <a:schemeClr val="tx1"/>
                    </a:solidFill>
                    <a:latin typeface="Times New Roman" pitchFamily="18" charset="0"/>
                  </a:rPr>
                  <a:t>R</a:t>
                </a:r>
                <a:r>
                  <a:rPr lang="en-US" altLang="zh-CN">
                    <a:solidFill>
                      <a:schemeClr val="tx1"/>
                    </a:solidFill>
                    <a:latin typeface="Times New Roman" pitchFamily="18" charset="0"/>
                  </a:rPr>
                  <a:t>)</a:t>
                </a:r>
              </a:p>
            </p:txBody>
          </p:sp>
        </p:grpSp>
        <p:sp>
          <p:nvSpPr>
            <p:cNvPr id="223240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5502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5478" name="Group 10"/>
          <p:cNvGrpSpPr>
            <a:grpSpLocks/>
          </p:cNvGrpSpPr>
          <p:nvPr/>
        </p:nvGrpSpPr>
        <p:grpSpPr bwMode="auto">
          <a:xfrm>
            <a:off x="1908175" y="2492375"/>
            <a:ext cx="5181600" cy="508000"/>
            <a:chOff x="1419" y="1480"/>
            <a:chExt cx="3575" cy="363"/>
          </a:xfrm>
        </p:grpSpPr>
        <p:grpSp>
          <p:nvGrpSpPr>
            <p:cNvPr id="105495" name="Group 11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23244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23245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chemeClr val="tx1"/>
                    </a:solidFill>
                    <a:latin typeface="Times New Roman" pitchFamily="18" charset="0"/>
                  </a:rPr>
                  <a:t>对称闭包</a:t>
                </a:r>
                <a:r>
                  <a:rPr lang="en-US" altLang="zh-CN" i="1">
                    <a:solidFill>
                      <a:schemeClr val="tx1"/>
                    </a:solidFill>
                    <a:latin typeface="Times New Roman" pitchFamily="18" charset="0"/>
                  </a:rPr>
                  <a:t>s</a:t>
                </a:r>
                <a:r>
                  <a:rPr lang="en-US" altLang="zh-CN">
                    <a:solidFill>
                      <a:schemeClr val="tx1"/>
                    </a:solidFill>
                    <a:latin typeface="Times New Roman" pitchFamily="18" charset="0"/>
                  </a:rPr>
                  <a:t>(</a:t>
                </a:r>
                <a:r>
                  <a:rPr lang="en-US" altLang="zh-CN" i="1">
                    <a:solidFill>
                      <a:schemeClr val="tx1"/>
                    </a:solidFill>
                    <a:latin typeface="Times New Roman" pitchFamily="18" charset="0"/>
                  </a:rPr>
                  <a:t>R</a:t>
                </a:r>
                <a:r>
                  <a:rPr lang="en-US" altLang="zh-CN">
                    <a:solidFill>
                      <a:schemeClr val="tx1"/>
                    </a:solidFill>
                    <a:latin typeface="Times New Roman" pitchFamily="18" charset="0"/>
                  </a:rPr>
                  <a:t>)</a:t>
                </a:r>
              </a:p>
            </p:txBody>
          </p:sp>
        </p:grpSp>
        <p:sp>
          <p:nvSpPr>
            <p:cNvPr id="223246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5497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5479" name="Group 16"/>
          <p:cNvGrpSpPr>
            <a:grpSpLocks/>
          </p:cNvGrpSpPr>
          <p:nvPr/>
        </p:nvGrpSpPr>
        <p:grpSpPr bwMode="auto">
          <a:xfrm>
            <a:off x="1979613" y="3860800"/>
            <a:ext cx="5181600" cy="508000"/>
            <a:chOff x="1419" y="1480"/>
            <a:chExt cx="3575" cy="363"/>
          </a:xfrm>
        </p:grpSpPr>
        <p:grpSp>
          <p:nvGrpSpPr>
            <p:cNvPr id="105490" name="Group 17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23250" name="Oval 18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23251" name="AutoShape 19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chemeClr val="tx1"/>
                    </a:solidFill>
                    <a:latin typeface="Times New Roman" pitchFamily="18" charset="0"/>
                  </a:rPr>
                  <a:t>传递闭包</a:t>
                </a:r>
                <a:r>
                  <a:rPr lang="en-US" altLang="zh-CN" i="1">
                    <a:solidFill>
                      <a:schemeClr val="tx1"/>
                    </a:solidFill>
                    <a:latin typeface="Times New Roman" pitchFamily="18" charset="0"/>
                  </a:rPr>
                  <a:t>t</a:t>
                </a:r>
                <a:r>
                  <a:rPr lang="en-US" altLang="zh-CN">
                    <a:solidFill>
                      <a:schemeClr val="tx1"/>
                    </a:solidFill>
                    <a:latin typeface="Times New Roman" pitchFamily="18" charset="0"/>
                  </a:rPr>
                  <a:t>(</a:t>
                </a:r>
                <a:r>
                  <a:rPr lang="en-US" altLang="zh-CN" i="1">
                    <a:solidFill>
                      <a:schemeClr val="tx1"/>
                    </a:solidFill>
                    <a:latin typeface="Times New Roman" pitchFamily="18" charset="0"/>
                  </a:rPr>
                  <a:t>R</a:t>
                </a:r>
                <a:r>
                  <a:rPr lang="en-US" altLang="zh-CN">
                    <a:solidFill>
                      <a:schemeClr val="tx1"/>
                    </a:solidFill>
                    <a:latin typeface="Times New Roman" pitchFamily="18" charset="0"/>
                  </a:rPr>
                  <a:t>)</a:t>
                </a:r>
              </a:p>
            </p:txBody>
          </p:sp>
        </p:grpSp>
        <p:sp>
          <p:nvSpPr>
            <p:cNvPr id="223252" name="Oval 20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5492" name="Oval 21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5480" name="AutoShape 22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</a:pPr>
            <a:endParaRPr kumimoji="1" lang="zh-CN" altLang="zh-CN" sz="2400">
              <a:solidFill>
                <a:schemeClr val="tx2"/>
              </a:solidFill>
              <a:ea typeface="Gulim" pitchFamily="34" charset="-127"/>
            </a:endParaRPr>
          </a:p>
        </p:txBody>
      </p:sp>
      <p:grpSp>
        <p:nvGrpSpPr>
          <p:cNvPr id="105482" name="Group 24"/>
          <p:cNvGrpSpPr>
            <a:grpSpLocks/>
          </p:cNvGrpSpPr>
          <p:nvPr/>
        </p:nvGrpSpPr>
        <p:grpSpPr bwMode="auto">
          <a:xfrm>
            <a:off x="288802" y="5105404"/>
            <a:ext cx="6207249" cy="665163"/>
            <a:chOff x="628" y="2845"/>
            <a:chExt cx="3932" cy="419"/>
          </a:xfrm>
        </p:grpSpPr>
        <p:grpSp>
          <p:nvGrpSpPr>
            <p:cNvPr id="105483" name="Group 25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105487" name="AutoShape 26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488" name="AutoShape 27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3260" name="AutoShape 28"/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47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05484" name="Line 29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86" name="Text Box 31"/>
            <p:cNvSpPr txBox="1">
              <a:spLocks noChangeArrowheads="1"/>
            </p:cNvSpPr>
            <p:nvPr/>
          </p:nvSpPr>
          <p:spPr bwMode="gray">
            <a:xfrm>
              <a:off x="628" y="2928"/>
              <a:ext cx="97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rgbClr val="C00000"/>
                  </a:solidFill>
                  <a:latin typeface="Times New Roman" pitchFamily="18" charset="0"/>
                  <a:ea typeface="宋体" pitchFamily="2" charset="-122"/>
                </a:rPr>
                <a:t>第四周 作业</a:t>
              </a:r>
            </a:p>
          </p:txBody>
        </p:sp>
      </p:grpSp>
      <p:sp>
        <p:nvSpPr>
          <p:cNvPr id="3" name="Text Box 36">
            <a:extLst>
              <a:ext uri="{FF2B5EF4-FFF2-40B4-BE49-F238E27FC236}">
                <a16:creationId xmlns:a16="http://schemas.microsoft.com/office/drawing/2014/main" id="{13658978-3379-AF1F-4483-B716E9C46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0505" y="5229225"/>
            <a:ext cx="636424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chemeClr val="tx1"/>
                </a:solidFill>
                <a:ea typeface="宋体" pitchFamily="2" charset="-122"/>
              </a:rPr>
              <a:t>习题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2.3  </a:t>
            </a:r>
            <a:r>
              <a:rPr lang="zh-Hans" altLang="en-US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</a:rPr>
              <a:t>10, </a:t>
            </a:r>
            <a:r>
              <a:rPr lang="zh-Hans" altLang="en-US" dirty="0">
                <a:solidFill>
                  <a:schemeClr val="tx1"/>
                </a:solidFill>
                <a:latin typeface="Times New Roman" pitchFamily="18" charset="0"/>
              </a:rPr>
              <a:t>   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</a:rPr>
              <a:t>12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/>
                </a:solidFill>
                <a:ea typeface="宋体" pitchFamily="2" charset="-122"/>
              </a:rPr>
              <a:t>阅读并掌握闭包的基本概念完成：</a:t>
            </a:r>
            <a:endParaRPr lang="en-US" altLang="zh-CN" dirty="0">
              <a:solidFill>
                <a:schemeClr val="tx1"/>
              </a:solidFill>
              <a:ea typeface="宋体" pitchFamily="2" charset="-122"/>
            </a:endParaRPr>
          </a:p>
          <a:p>
            <a:pPr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/>
                </a:solidFill>
                <a:ea typeface="宋体" pitchFamily="2" charset="-122"/>
              </a:rPr>
              <a:t>习题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2.4  </a:t>
            </a:r>
            <a:r>
              <a:rPr lang="zh-Hans" altLang="en-US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2     </a:t>
            </a:r>
          </a:p>
        </p:txBody>
      </p:sp>
      <p:sp>
        <p:nvSpPr>
          <p:cNvPr id="2" name="Text Box 36">
            <a:extLst>
              <a:ext uri="{FF2B5EF4-FFF2-40B4-BE49-F238E27FC236}">
                <a16:creationId xmlns:a16="http://schemas.microsoft.com/office/drawing/2014/main" id="{5E3F7DE5-85A1-8CFF-3E06-9109C502D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425" y="4644450"/>
            <a:ext cx="40637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chemeClr val="tx1"/>
                </a:solidFill>
                <a:ea typeface="宋体" pitchFamily="2" charset="-122"/>
              </a:rPr>
              <a:t>习题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2.2        3,      11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accent1">
                <a:alpha val="17000"/>
              </a:schemeClr>
            </a:gs>
            <a:gs pos="100000">
              <a:srgbClr val="0000CC"/>
            </a:gs>
          </a:gsLst>
          <a:lin ang="2700000" scaled="1"/>
        </a:gradFill>
        <a:ln w="57150" cap="flat" cmpd="thinThick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rgbClr val="FFFF99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accent1">
                <a:alpha val="17000"/>
              </a:schemeClr>
            </a:gs>
            <a:gs pos="100000">
              <a:srgbClr val="0000CC"/>
            </a:gs>
          </a:gsLst>
          <a:lin ang="2700000" scaled="1"/>
        </a:gradFill>
        <a:ln w="57150" cap="flat" cmpd="thinThick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rgbClr val="FFFF99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8287</TotalTime>
  <Words>3095</Words>
  <Application>Microsoft Office PowerPoint</Application>
  <PresentationFormat>全屏显示(4:3)</PresentationFormat>
  <Paragraphs>383</Paragraphs>
  <Slides>52</Slides>
  <Notes>0</Notes>
  <HiddenSlides>3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52</vt:i4>
      </vt:variant>
    </vt:vector>
  </HeadingPairs>
  <TitlesOfParts>
    <vt:vector size="67" baseType="lpstr">
      <vt:lpstr>Gulim</vt:lpstr>
      <vt:lpstr>华文宋体</vt:lpstr>
      <vt:lpstr>华文新魏</vt:lpstr>
      <vt:lpstr>华文新魏</vt:lpstr>
      <vt:lpstr>楷体</vt:lpstr>
      <vt:lpstr>楷体_GB2312</vt:lpstr>
      <vt:lpstr>隶书</vt:lpstr>
      <vt:lpstr>宋体</vt:lpstr>
      <vt:lpstr>Arial</vt:lpstr>
      <vt:lpstr>Cambria Math</vt:lpstr>
      <vt:lpstr>Times New Roman</vt:lpstr>
      <vt:lpstr>Wingdings</vt:lpstr>
      <vt:lpstr>默认设计模板</vt:lpstr>
      <vt:lpstr>Equation</vt:lpstr>
      <vt:lpstr>公式</vt:lpstr>
      <vt:lpstr>PowerPoint 演示文稿</vt:lpstr>
      <vt:lpstr>2.3 关系的性质</vt:lpstr>
      <vt:lpstr>2.3 关系的性质</vt:lpstr>
      <vt:lpstr>2.3 关系的性质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2.3 关系的性质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2.3 关系的性质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小结与作业</vt:lpstr>
      <vt:lpstr>2.4 关系的闭包</vt:lpstr>
      <vt:lpstr>2.4 关系的闭包</vt:lpstr>
      <vt:lpstr>2.4 关系的闭包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小结与作业</vt:lpstr>
    </vt:vector>
  </TitlesOfParts>
  <Company>fdf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关系的概念</dc:title>
  <dc:creator>邓辉文</dc:creator>
  <cp:lastModifiedBy>Xia Zeng</cp:lastModifiedBy>
  <cp:revision>302</cp:revision>
  <dcterms:created xsi:type="dcterms:W3CDTF">2007-10-03T12:58:11Z</dcterms:created>
  <dcterms:modified xsi:type="dcterms:W3CDTF">2025-03-19T09:01:40Z</dcterms:modified>
</cp:coreProperties>
</file>