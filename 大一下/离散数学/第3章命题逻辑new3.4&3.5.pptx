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9"/>
  </p:notesMasterIdLst>
  <p:sldIdLst>
    <p:sldId id="258" r:id="rId2"/>
    <p:sldId id="323" r:id="rId3"/>
    <p:sldId id="324" r:id="rId4"/>
    <p:sldId id="325" r:id="rId5"/>
    <p:sldId id="326" r:id="rId6"/>
    <p:sldId id="327" r:id="rId7"/>
    <p:sldId id="328" r:id="rId8"/>
    <p:sldId id="329" r:id="rId9"/>
    <p:sldId id="330" r:id="rId10"/>
    <p:sldId id="452" r:id="rId11"/>
    <p:sldId id="332" r:id="rId12"/>
    <p:sldId id="454" r:id="rId13"/>
    <p:sldId id="333" r:id="rId14"/>
    <p:sldId id="334" r:id="rId15"/>
    <p:sldId id="335" r:id="rId16"/>
    <p:sldId id="336" r:id="rId17"/>
    <p:sldId id="337" r:id="rId18"/>
    <p:sldId id="338" r:id="rId19"/>
    <p:sldId id="339" r:id="rId20"/>
    <p:sldId id="340" r:id="rId21"/>
    <p:sldId id="341" r:id="rId22"/>
    <p:sldId id="342" r:id="rId23"/>
    <p:sldId id="343" r:id="rId24"/>
    <p:sldId id="344" r:id="rId25"/>
    <p:sldId id="345" r:id="rId26"/>
    <p:sldId id="346" r:id="rId27"/>
    <p:sldId id="347" r:id="rId28"/>
    <p:sldId id="348" r:id="rId29"/>
    <p:sldId id="349" r:id="rId30"/>
    <p:sldId id="350" r:id="rId31"/>
    <p:sldId id="351" r:id="rId32"/>
    <p:sldId id="352" r:id="rId33"/>
    <p:sldId id="353" r:id="rId34"/>
    <p:sldId id="354" r:id="rId35"/>
    <p:sldId id="356" r:id="rId36"/>
    <p:sldId id="357" r:id="rId37"/>
    <p:sldId id="358" r:id="rId38"/>
    <p:sldId id="359" r:id="rId39"/>
    <p:sldId id="466" r:id="rId40"/>
    <p:sldId id="462" r:id="rId41"/>
    <p:sldId id="361" r:id="rId42"/>
    <p:sldId id="463" r:id="rId43"/>
    <p:sldId id="363" r:id="rId44"/>
    <p:sldId id="364" r:id="rId45"/>
    <p:sldId id="365" r:id="rId46"/>
    <p:sldId id="366" r:id="rId47"/>
    <p:sldId id="367" r:id="rId48"/>
    <p:sldId id="368" r:id="rId49"/>
    <p:sldId id="369" r:id="rId50"/>
    <p:sldId id="464" r:id="rId51"/>
    <p:sldId id="371" r:id="rId52"/>
    <p:sldId id="372" r:id="rId53"/>
    <p:sldId id="373" r:id="rId54"/>
    <p:sldId id="374" r:id="rId55"/>
    <p:sldId id="375" r:id="rId56"/>
    <p:sldId id="376" r:id="rId57"/>
    <p:sldId id="378" r:id="rId58"/>
  </p:sldIdLst>
  <p:sldSz cx="9144000" cy="6858000" type="screen4x3"/>
  <p:notesSz cx="6858000" cy="9144000"/>
  <p:defaultTextStyle>
    <a:defPPr>
      <a:defRPr lang="zh-CN"/>
    </a:defPPr>
    <a:lvl1pPr algn="l" rtl="0" fontAlgn="base">
      <a:spcBef>
        <a:spcPct val="0"/>
      </a:spcBef>
      <a:spcAft>
        <a:spcPct val="0"/>
      </a:spcAft>
      <a:defRPr kern="1200">
        <a:solidFill>
          <a:schemeClr val="tx1"/>
        </a:solidFill>
        <a:latin typeface="Arial" charset="0"/>
        <a:ea typeface="宋体" pitchFamily="2" charset="-122"/>
        <a:cs typeface="+mn-cs"/>
      </a:defRPr>
    </a:lvl1pPr>
    <a:lvl2pPr marL="457200" algn="l" rtl="0" fontAlgn="base">
      <a:spcBef>
        <a:spcPct val="0"/>
      </a:spcBef>
      <a:spcAft>
        <a:spcPct val="0"/>
      </a:spcAft>
      <a:defRPr kern="1200">
        <a:solidFill>
          <a:schemeClr val="tx1"/>
        </a:solidFill>
        <a:latin typeface="Arial" charset="0"/>
        <a:ea typeface="宋体" pitchFamily="2" charset="-122"/>
        <a:cs typeface="+mn-cs"/>
      </a:defRPr>
    </a:lvl2pPr>
    <a:lvl3pPr marL="914400" algn="l" rtl="0" fontAlgn="base">
      <a:spcBef>
        <a:spcPct val="0"/>
      </a:spcBef>
      <a:spcAft>
        <a:spcPct val="0"/>
      </a:spcAft>
      <a:defRPr kern="1200">
        <a:solidFill>
          <a:schemeClr val="tx1"/>
        </a:solidFill>
        <a:latin typeface="Arial" charset="0"/>
        <a:ea typeface="宋体" pitchFamily="2" charset="-122"/>
        <a:cs typeface="+mn-cs"/>
      </a:defRPr>
    </a:lvl3pPr>
    <a:lvl4pPr marL="1371600" algn="l" rtl="0" fontAlgn="base">
      <a:spcBef>
        <a:spcPct val="0"/>
      </a:spcBef>
      <a:spcAft>
        <a:spcPct val="0"/>
      </a:spcAft>
      <a:defRPr kern="1200">
        <a:solidFill>
          <a:schemeClr val="tx1"/>
        </a:solidFill>
        <a:latin typeface="Arial" charset="0"/>
        <a:ea typeface="宋体" pitchFamily="2" charset="-122"/>
        <a:cs typeface="+mn-cs"/>
      </a:defRPr>
    </a:lvl4pPr>
    <a:lvl5pPr marL="1828800" algn="l" rtl="0" fontAlgn="base">
      <a:spcBef>
        <a:spcPct val="0"/>
      </a:spcBef>
      <a:spcAft>
        <a:spcPct val="0"/>
      </a:spcAft>
      <a:defRPr kern="1200">
        <a:solidFill>
          <a:schemeClr val="tx1"/>
        </a:solidFill>
        <a:latin typeface="Arial" charset="0"/>
        <a:ea typeface="宋体" pitchFamily="2" charset="-122"/>
        <a:cs typeface="+mn-cs"/>
      </a:defRPr>
    </a:lvl5pPr>
    <a:lvl6pPr marL="2286000" algn="l" defTabSz="914400" rtl="0" eaLnBrk="1" latinLnBrk="0" hangingPunct="1">
      <a:defRPr kern="1200">
        <a:solidFill>
          <a:schemeClr val="tx1"/>
        </a:solidFill>
        <a:latin typeface="Arial" charset="0"/>
        <a:ea typeface="宋体" pitchFamily="2" charset="-122"/>
        <a:cs typeface="+mn-cs"/>
      </a:defRPr>
    </a:lvl6pPr>
    <a:lvl7pPr marL="2743200" algn="l" defTabSz="914400" rtl="0" eaLnBrk="1" latinLnBrk="0" hangingPunct="1">
      <a:defRPr kern="1200">
        <a:solidFill>
          <a:schemeClr val="tx1"/>
        </a:solidFill>
        <a:latin typeface="Arial" charset="0"/>
        <a:ea typeface="宋体" pitchFamily="2" charset="-122"/>
        <a:cs typeface="+mn-cs"/>
      </a:defRPr>
    </a:lvl7pPr>
    <a:lvl8pPr marL="3200400" algn="l" defTabSz="914400" rtl="0" eaLnBrk="1" latinLnBrk="0" hangingPunct="1">
      <a:defRPr kern="1200">
        <a:solidFill>
          <a:schemeClr val="tx1"/>
        </a:solidFill>
        <a:latin typeface="Arial" charset="0"/>
        <a:ea typeface="宋体" pitchFamily="2" charset="-122"/>
        <a:cs typeface="+mn-cs"/>
      </a:defRPr>
    </a:lvl8pPr>
    <a:lvl9pPr marL="3657600" algn="l" defTabSz="914400" rtl="0" eaLnBrk="1" latinLnBrk="0" hangingPunct="1">
      <a:defRPr kern="1200">
        <a:solidFill>
          <a:schemeClr val="tx1"/>
        </a:solidFill>
        <a:latin typeface="Arial" charset="0"/>
        <a:ea typeface="宋体"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829A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0045" autoAdjust="0"/>
    <p:restoredTop sz="94590"/>
  </p:normalViewPr>
  <p:slideViewPr>
    <p:cSldViewPr>
      <p:cViewPr varScale="1">
        <p:scale>
          <a:sx n="84" d="100"/>
          <a:sy n="84" d="100"/>
        </p:scale>
        <p:origin x="1368" y="68"/>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61" Type="http://schemas.openxmlformats.org/officeDocument/2006/relationships/viewProps" Target="view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C924F2-AC48-4752-AC41-9CBE9BAA49E6}" type="datetimeFigureOut">
              <a:rPr lang="zh-CN" altLang="en-US" smtClean="0"/>
              <a:t>2025/4/9</a:t>
            </a:fld>
            <a:endParaRPr lang="zh-CN" altLang="en-US"/>
          </a:p>
        </p:txBody>
      </p:sp>
      <p:sp>
        <p:nvSpPr>
          <p:cNvPr id="4" name="幻灯片图像占位符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983BB2BF-BBAF-4CD7-8C48-B3C6EAEE70C3}" type="slidenum">
              <a:rPr lang="zh-CN" altLang="en-US" smtClean="0"/>
              <a:t>‹#›</a:t>
            </a:fld>
            <a:endParaRPr lang="zh-CN" altLang="en-US"/>
          </a:p>
        </p:txBody>
      </p:sp>
    </p:spTree>
    <p:extLst>
      <p:ext uri="{BB962C8B-B14F-4D97-AF65-F5344CB8AC3E}">
        <p14:creationId xmlns:p14="http://schemas.microsoft.com/office/powerpoint/2010/main" val="394952037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pic>
        <p:nvPicPr>
          <p:cNvPr id="4" name="Picture 8" descr="20051116191053522副本"/>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098" name="Rectangle 2"/>
          <p:cNvSpPr>
            <a:spLocks noGrp="1" noChangeArrowheads="1"/>
          </p:cNvSpPr>
          <p:nvPr>
            <p:ph type="ctrTitle"/>
          </p:nvPr>
        </p:nvSpPr>
        <p:spPr>
          <a:xfrm>
            <a:off x="685800" y="2130425"/>
            <a:ext cx="7772400" cy="1470025"/>
          </a:xfrm>
        </p:spPr>
        <p:txBody>
          <a:bodyPr/>
          <a:lstStyle>
            <a:lvl1pPr>
              <a:defRPr/>
            </a:lvl1pPr>
          </a:lstStyle>
          <a:p>
            <a:r>
              <a:rPr lang="zh-CN" altLang="en-US"/>
              <a:t>单击此处编辑母版标题样式</a:t>
            </a:r>
          </a:p>
        </p:txBody>
      </p:sp>
      <p:sp>
        <p:nvSpPr>
          <p:cNvPr id="4099" name="Rectangle 3"/>
          <p:cNvSpPr>
            <a:spLocks noGrp="1" noChangeArrowheads="1"/>
          </p:cNvSpPr>
          <p:nvPr>
            <p:ph type="subTitle" idx="1"/>
          </p:nvPr>
        </p:nvSpPr>
        <p:spPr>
          <a:xfrm>
            <a:off x="1371600" y="3886200"/>
            <a:ext cx="6400800" cy="1752600"/>
          </a:xfrm>
        </p:spPr>
        <p:txBody>
          <a:bodyPr/>
          <a:lstStyle>
            <a:lvl1pPr marL="0" indent="0" algn="ctr">
              <a:buFontTx/>
              <a:buNone/>
              <a:defRPr/>
            </a:lvl1pPr>
          </a:lstStyle>
          <a:p>
            <a:r>
              <a:rPr lang="zh-CN" altLang="en-US"/>
              <a:t>单击此处编辑母版副标题样式</a:t>
            </a:r>
          </a:p>
        </p:txBody>
      </p:sp>
      <p:sp>
        <p:nvSpPr>
          <p:cNvPr id="5" name="Rectangle 4"/>
          <p:cNvSpPr>
            <a:spLocks noGrp="1" noChangeArrowheads="1"/>
          </p:cNvSpPr>
          <p:nvPr>
            <p:ph type="dt" sz="half" idx="10"/>
          </p:nvPr>
        </p:nvSpPr>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p:txBody>
          <a:bodyPr/>
          <a:lstStyle>
            <a:lvl1pPr>
              <a:defRPr/>
            </a:lvl1pPr>
          </a:lstStyle>
          <a:p>
            <a:pPr>
              <a:defRPr/>
            </a:pPr>
            <a:fld id="{2DE54970-628D-4F74-972D-C7D5192CCFE9}" type="slidenum">
              <a:rPr lang="en-US" altLang="zh-CN"/>
              <a:pPr>
                <a:defRPr/>
              </a:pPr>
              <a:t>‹#›</a:t>
            </a:fld>
            <a:endParaRPr lang="en-US" altLang="zh-CN"/>
          </a:p>
        </p:txBody>
      </p:sp>
    </p:spTree>
    <p:extLst>
      <p:ext uri="{BB962C8B-B14F-4D97-AF65-F5344CB8AC3E}">
        <p14:creationId xmlns:p14="http://schemas.microsoft.com/office/powerpoint/2010/main" val="28037516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4021C13D-27B5-4451-A8EC-6C217761F0D0}" type="slidenum">
              <a:rPr lang="en-US" altLang="zh-CN"/>
              <a:pPr>
                <a:defRPr/>
              </a:pPr>
              <a:t>‹#›</a:t>
            </a:fld>
            <a:endParaRPr lang="en-US" altLang="zh-CN"/>
          </a:p>
        </p:txBody>
      </p:sp>
    </p:spTree>
    <p:extLst>
      <p:ext uri="{BB962C8B-B14F-4D97-AF65-F5344CB8AC3E}">
        <p14:creationId xmlns:p14="http://schemas.microsoft.com/office/powerpoint/2010/main" val="141283800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47BCED83-5618-4D48-8B0A-977BBD6B4F49}" type="slidenum">
              <a:rPr lang="en-US" altLang="zh-CN"/>
              <a:pPr>
                <a:defRPr/>
              </a:pPr>
              <a:t>‹#›</a:t>
            </a:fld>
            <a:endParaRPr lang="en-US" altLang="zh-CN"/>
          </a:p>
        </p:txBody>
      </p:sp>
    </p:spTree>
    <p:extLst>
      <p:ext uri="{BB962C8B-B14F-4D97-AF65-F5344CB8AC3E}">
        <p14:creationId xmlns:p14="http://schemas.microsoft.com/office/powerpoint/2010/main" val="384289275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a:ln/>
        </p:spPr>
        <p:txBody>
          <a:bodyPr/>
          <a:lstStyle>
            <a:lvl1pPr>
              <a:defRPr/>
            </a:lvl1pPr>
          </a:lstStyle>
          <a:p>
            <a:pPr>
              <a:defRPr/>
            </a:pPr>
            <a:fld id="{9B27D5B6-71CF-491D-8919-BE56010AB781}" type="slidenum">
              <a:rPr lang="en-US" altLang="zh-CN"/>
              <a:pPr>
                <a:defRPr/>
              </a:pPr>
              <a:t>‹#›</a:t>
            </a:fld>
            <a:endParaRPr lang="en-US" altLang="zh-CN"/>
          </a:p>
        </p:txBody>
      </p:sp>
    </p:spTree>
    <p:extLst>
      <p:ext uri="{BB962C8B-B14F-4D97-AF65-F5344CB8AC3E}">
        <p14:creationId xmlns:p14="http://schemas.microsoft.com/office/powerpoint/2010/main" val="149589523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8"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9" name="Rectangle 6"/>
          <p:cNvSpPr>
            <a:spLocks noGrp="1" noChangeArrowheads="1"/>
          </p:cNvSpPr>
          <p:nvPr>
            <p:ph type="sldNum" sz="quarter" idx="12"/>
          </p:nvPr>
        </p:nvSpPr>
        <p:spPr>
          <a:ln/>
        </p:spPr>
        <p:txBody>
          <a:bodyPr/>
          <a:lstStyle>
            <a:lvl1pPr>
              <a:defRPr/>
            </a:lvl1pPr>
          </a:lstStyle>
          <a:p>
            <a:pPr>
              <a:defRPr/>
            </a:pPr>
            <a:fld id="{6F8D8DEC-2CBA-4C44-A561-80AB6FD44973}" type="slidenum">
              <a:rPr lang="en-US" altLang="zh-CN"/>
              <a:pPr>
                <a:defRPr/>
              </a:pPr>
              <a:t>‹#›</a:t>
            </a:fld>
            <a:endParaRPr lang="en-US" altLang="zh-CN"/>
          </a:p>
        </p:txBody>
      </p:sp>
    </p:spTree>
    <p:extLst>
      <p:ext uri="{BB962C8B-B14F-4D97-AF65-F5344CB8AC3E}">
        <p14:creationId xmlns:p14="http://schemas.microsoft.com/office/powerpoint/2010/main" val="343472598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4"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5" name="Rectangle 6"/>
          <p:cNvSpPr>
            <a:spLocks noGrp="1" noChangeArrowheads="1"/>
          </p:cNvSpPr>
          <p:nvPr>
            <p:ph type="sldNum" sz="quarter" idx="12"/>
          </p:nvPr>
        </p:nvSpPr>
        <p:spPr>
          <a:ln/>
        </p:spPr>
        <p:txBody>
          <a:bodyPr/>
          <a:lstStyle>
            <a:lvl1pPr>
              <a:defRPr/>
            </a:lvl1pPr>
          </a:lstStyle>
          <a:p>
            <a:pPr>
              <a:defRPr/>
            </a:pPr>
            <a:fld id="{A1A71795-9142-451B-8DDF-2920A65E358B}" type="slidenum">
              <a:rPr lang="en-US" altLang="zh-CN"/>
              <a:pPr>
                <a:defRPr/>
              </a:pPr>
              <a:t>‹#›</a:t>
            </a:fld>
            <a:endParaRPr lang="en-US" altLang="zh-CN"/>
          </a:p>
        </p:txBody>
      </p:sp>
    </p:spTree>
    <p:extLst>
      <p:ext uri="{BB962C8B-B14F-4D97-AF65-F5344CB8AC3E}">
        <p14:creationId xmlns:p14="http://schemas.microsoft.com/office/powerpoint/2010/main" val="293640157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3"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4" name="Rectangle 6"/>
          <p:cNvSpPr>
            <a:spLocks noGrp="1" noChangeArrowheads="1"/>
          </p:cNvSpPr>
          <p:nvPr>
            <p:ph type="sldNum" sz="quarter" idx="12"/>
          </p:nvPr>
        </p:nvSpPr>
        <p:spPr>
          <a:ln/>
        </p:spPr>
        <p:txBody>
          <a:bodyPr/>
          <a:lstStyle>
            <a:lvl1pPr>
              <a:defRPr/>
            </a:lvl1pPr>
          </a:lstStyle>
          <a:p>
            <a:pPr>
              <a:defRPr/>
            </a:pPr>
            <a:fld id="{9719C63D-797D-4610-AF95-B76A09E95AC7}" type="slidenum">
              <a:rPr lang="en-US" altLang="zh-CN"/>
              <a:pPr>
                <a:defRPr/>
              </a:pPr>
              <a:t>‹#›</a:t>
            </a:fld>
            <a:endParaRPr lang="en-US" altLang="zh-CN"/>
          </a:p>
        </p:txBody>
      </p:sp>
    </p:spTree>
    <p:extLst>
      <p:ext uri="{BB962C8B-B14F-4D97-AF65-F5344CB8AC3E}">
        <p14:creationId xmlns:p14="http://schemas.microsoft.com/office/powerpoint/2010/main" val="411216273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a:ln/>
        </p:spPr>
        <p:txBody>
          <a:bodyPr/>
          <a:lstStyle>
            <a:lvl1pPr>
              <a:defRPr/>
            </a:lvl1pPr>
          </a:lstStyle>
          <a:p>
            <a:pPr>
              <a:defRPr/>
            </a:pPr>
            <a:fld id="{C03022F0-E47D-41FB-83D6-036120704DDD}" type="slidenum">
              <a:rPr lang="en-US" altLang="zh-CN"/>
              <a:pPr>
                <a:defRPr/>
              </a:pPr>
              <a:t>‹#›</a:t>
            </a:fld>
            <a:endParaRPr lang="en-US" altLang="zh-CN"/>
          </a:p>
        </p:txBody>
      </p:sp>
    </p:spTree>
    <p:extLst>
      <p:ext uri="{BB962C8B-B14F-4D97-AF65-F5344CB8AC3E}">
        <p14:creationId xmlns:p14="http://schemas.microsoft.com/office/powerpoint/2010/main" val="831621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a:ln/>
        </p:spPr>
        <p:txBody>
          <a:bodyPr/>
          <a:lstStyle>
            <a:lvl1pPr>
              <a:defRPr/>
            </a:lvl1pPr>
          </a:lstStyle>
          <a:p>
            <a:pPr>
              <a:defRPr/>
            </a:pPr>
            <a:fld id="{D2D64CC2-0784-499F-890A-34B5A7ABF69E}" type="slidenum">
              <a:rPr lang="en-US" altLang="zh-CN"/>
              <a:pPr>
                <a:defRPr/>
              </a:pPr>
              <a:t>‹#›</a:t>
            </a:fld>
            <a:endParaRPr lang="en-US" altLang="zh-CN"/>
          </a:p>
        </p:txBody>
      </p:sp>
    </p:spTree>
    <p:extLst>
      <p:ext uri="{BB962C8B-B14F-4D97-AF65-F5344CB8AC3E}">
        <p14:creationId xmlns:p14="http://schemas.microsoft.com/office/powerpoint/2010/main" val="327898022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EE7448F0-866D-41A6-BDFE-49678B3312D7}" type="slidenum">
              <a:rPr lang="en-US" altLang="zh-CN"/>
              <a:pPr>
                <a:defRPr/>
              </a:pPr>
              <a:t>‹#›</a:t>
            </a:fld>
            <a:endParaRPr lang="en-US" altLang="zh-CN"/>
          </a:p>
        </p:txBody>
      </p:sp>
    </p:spTree>
    <p:extLst>
      <p:ext uri="{BB962C8B-B14F-4D97-AF65-F5344CB8AC3E}">
        <p14:creationId xmlns:p14="http://schemas.microsoft.com/office/powerpoint/2010/main" val="26172712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7413E221-D035-4935-B750-B07720533F69}" type="slidenum">
              <a:rPr lang="en-US" altLang="zh-CN"/>
              <a:pPr>
                <a:defRPr/>
              </a:pPr>
              <a:t>‹#›</a:t>
            </a:fld>
            <a:endParaRPr lang="en-US" altLang="zh-CN"/>
          </a:p>
        </p:txBody>
      </p:sp>
    </p:spTree>
    <p:extLst>
      <p:ext uri="{BB962C8B-B14F-4D97-AF65-F5344CB8AC3E}">
        <p14:creationId xmlns:p14="http://schemas.microsoft.com/office/powerpoint/2010/main" val="245159847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457200" y="274638"/>
            <a:ext cx="8229600" cy="5851525"/>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3"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4"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5" name="Rectangle 6"/>
          <p:cNvSpPr>
            <a:spLocks noGrp="1" noChangeArrowheads="1"/>
          </p:cNvSpPr>
          <p:nvPr>
            <p:ph type="sldNum" sz="quarter" idx="12"/>
          </p:nvPr>
        </p:nvSpPr>
        <p:spPr>
          <a:ln/>
        </p:spPr>
        <p:txBody>
          <a:bodyPr/>
          <a:lstStyle>
            <a:lvl1pPr>
              <a:defRPr/>
            </a:lvl1pPr>
          </a:lstStyle>
          <a:p>
            <a:pPr>
              <a:defRPr/>
            </a:pPr>
            <a:fld id="{AD373BE2-A4BA-4C7F-BB7C-BB6FF8694D3F}" type="slidenum">
              <a:rPr lang="en-US" altLang="zh-CN"/>
              <a:pPr>
                <a:defRPr/>
              </a:pPr>
              <a:t>‹#›</a:t>
            </a:fld>
            <a:endParaRPr lang="en-US" altLang="zh-CN"/>
          </a:p>
        </p:txBody>
      </p:sp>
    </p:spTree>
    <p:extLst>
      <p:ext uri="{BB962C8B-B14F-4D97-AF65-F5344CB8AC3E}">
        <p14:creationId xmlns:p14="http://schemas.microsoft.com/office/powerpoint/2010/main" val="100503618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26" name="Picture 8" descr="20051116190912325"/>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7" name="Rectangle 2"/>
          <p:cNvSpPr>
            <a:spLocks noGrp="1" noChangeArrowheads="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1028" name="Rectangle 3"/>
          <p:cNvSpPr>
            <a:spLocks noGrp="1" noChangeArrowheads="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2" name="Rectangle 4"/>
          <p:cNvSpPr>
            <a:spLocks noGrp="1" noChangeArrowheads="1"/>
          </p:cNvSpPr>
          <p:nvPr>
            <p:ph type="dt" sz="half" idx="2"/>
          </p:nvPr>
        </p:nvSpPr>
        <p:spPr bwMode="auto">
          <a:xfrm>
            <a:off x="457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400"/>
            </a:lvl1pPr>
          </a:lstStyle>
          <a:p>
            <a:pPr>
              <a:defRPr/>
            </a:pPr>
            <a:endParaRPr lang="en-US" altLang="zh-CN"/>
          </a:p>
        </p:txBody>
      </p:sp>
      <p:sp>
        <p:nvSpPr>
          <p:cNvPr id="1029" name="Rectangle 5"/>
          <p:cNvSpPr>
            <a:spLocks noGrp="1" noChangeArrowheads="1"/>
          </p:cNvSpPr>
          <p:nvPr>
            <p:ph type="ftr" sz="quarter" idx="3"/>
          </p:nvPr>
        </p:nvSpPr>
        <p:spPr bwMode="auto">
          <a:xfrm>
            <a:off x="3124200" y="6245225"/>
            <a:ext cx="2895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400"/>
            </a:lvl1pPr>
          </a:lstStyle>
          <a:p>
            <a:pPr>
              <a:defRPr/>
            </a:pPr>
            <a:endParaRPr lang="en-US" altLang="zh-CN"/>
          </a:p>
        </p:txBody>
      </p:sp>
      <p:sp>
        <p:nvSpPr>
          <p:cNvPr id="1030" name="Rectangle 6"/>
          <p:cNvSpPr>
            <a:spLocks noGrp="1" noChangeArrowheads="1"/>
          </p:cNvSpPr>
          <p:nvPr>
            <p:ph type="sldNum" sz="quarter" idx="4"/>
          </p:nvPr>
        </p:nvSpPr>
        <p:spPr bwMode="auto">
          <a:xfrm>
            <a:off x="6553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400"/>
            </a:lvl1pPr>
          </a:lstStyle>
          <a:p>
            <a:pPr>
              <a:defRPr/>
            </a:pPr>
            <a:fld id="{751DA17F-0216-4ED9-BE9B-C52848558129}" type="slidenum">
              <a:rPr lang="en-US" altLang="zh-CN"/>
              <a:pPr>
                <a:defRPr/>
              </a:pPr>
              <a:t>‹#›</a:t>
            </a:fld>
            <a:endParaRPr lang="en-US" altLang="zh-CN"/>
          </a:p>
        </p:txBody>
      </p:sp>
    </p:spTree>
  </p:cSld>
  <p:clrMap bg1="lt1" tx1="dk1" bg2="lt2" tx2="dk2" accent1="accent1" accent2="accent2" accent3="accent3" accent4="accent4" accent5="accent5" accent6="accent6" hlink="hlink" folHlink="folHlink"/>
  <p:sldLayoutIdLst>
    <p:sldLayoutId id="2147483777" r:id="rId1"/>
    <p:sldLayoutId id="2147483766" r:id="rId2"/>
    <p:sldLayoutId id="2147483767" r:id="rId3"/>
    <p:sldLayoutId id="2147483768" r:id="rId4"/>
    <p:sldLayoutId id="2147483769" r:id="rId5"/>
    <p:sldLayoutId id="2147483770" r:id="rId6"/>
    <p:sldLayoutId id="2147483771" r:id="rId7"/>
    <p:sldLayoutId id="2147483772" r:id="rId8"/>
    <p:sldLayoutId id="2147483773" r:id="rId9"/>
    <p:sldLayoutId id="2147483774" r:id="rId10"/>
    <p:sldLayoutId id="2147483775" r:id="rId11"/>
    <p:sldLayoutId id="2147483776" r:id="rId12"/>
  </p:sldLayoutIdLst>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charset="0"/>
          <a:ea typeface="宋体" pitchFamily="2" charset="-122"/>
        </a:defRPr>
      </a:lvl2pPr>
      <a:lvl3pPr algn="ctr" rtl="0" eaLnBrk="0" fontAlgn="base" hangingPunct="0">
        <a:spcBef>
          <a:spcPct val="0"/>
        </a:spcBef>
        <a:spcAft>
          <a:spcPct val="0"/>
        </a:spcAft>
        <a:defRPr sz="4400">
          <a:solidFill>
            <a:schemeClr val="tx2"/>
          </a:solidFill>
          <a:latin typeface="Arial" charset="0"/>
          <a:ea typeface="宋体" pitchFamily="2" charset="-122"/>
        </a:defRPr>
      </a:lvl3pPr>
      <a:lvl4pPr algn="ctr" rtl="0" eaLnBrk="0" fontAlgn="base" hangingPunct="0">
        <a:spcBef>
          <a:spcPct val="0"/>
        </a:spcBef>
        <a:spcAft>
          <a:spcPct val="0"/>
        </a:spcAft>
        <a:defRPr sz="4400">
          <a:solidFill>
            <a:schemeClr val="tx2"/>
          </a:solidFill>
          <a:latin typeface="Arial" charset="0"/>
          <a:ea typeface="宋体" pitchFamily="2" charset="-122"/>
        </a:defRPr>
      </a:lvl4pPr>
      <a:lvl5pPr algn="ctr" rtl="0" eaLnBrk="0" fontAlgn="base" hangingPunct="0">
        <a:spcBef>
          <a:spcPct val="0"/>
        </a:spcBef>
        <a:spcAft>
          <a:spcPct val="0"/>
        </a:spcAft>
        <a:defRPr sz="4400">
          <a:solidFill>
            <a:schemeClr val="tx2"/>
          </a:solidFill>
          <a:latin typeface="Arial" charset="0"/>
          <a:ea typeface="宋体" pitchFamily="2" charset="-122"/>
        </a:defRPr>
      </a:lvl5pPr>
      <a:lvl6pPr marL="457200" algn="ctr" rtl="0" fontAlgn="base">
        <a:spcBef>
          <a:spcPct val="0"/>
        </a:spcBef>
        <a:spcAft>
          <a:spcPct val="0"/>
        </a:spcAft>
        <a:defRPr sz="4400">
          <a:solidFill>
            <a:schemeClr val="tx2"/>
          </a:solidFill>
          <a:latin typeface="Arial" charset="0"/>
          <a:ea typeface="宋体" pitchFamily="2" charset="-122"/>
        </a:defRPr>
      </a:lvl6pPr>
      <a:lvl7pPr marL="914400" algn="ctr" rtl="0" fontAlgn="base">
        <a:spcBef>
          <a:spcPct val="0"/>
        </a:spcBef>
        <a:spcAft>
          <a:spcPct val="0"/>
        </a:spcAft>
        <a:defRPr sz="4400">
          <a:solidFill>
            <a:schemeClr val="tx2"/>
          </a:solidFill>
          <a:latin typeface="Arial" charset="0"/>
          <a:ea typeface="宋体" pitchFamily="2" charset="-122"/>
        </a:defRPr>
      </a:lvl7pPr>
      <a:lvl8pPr marL="1371600" algn="ctr" rtl="0" fontAlgn="base">
        <a:spcBef>
          <a:spcPct val="0"/>
        </a:spcBef>
        <a:spcAft>
          <a:spcPct val="0"/>
        </a:spcAft>
        <a:defRPr sz="4400">
          <a:solidFill>
            <a:schemeClr val="tx2"/>
          </a:solidFill>
          <a:latin typeface="Arial" charset="0"/>
          <a:ea typeface="宋体" pitchFamily="2" charset="-122"/>
        </a:defRPr>
      </a:lvl8pPr>
      <a:lvl9pPr marL="1828800" algn="ctr" rtl="0" fontAlgn="base">
        <a:spcBef>
          <a:spcPct val="0"/>
        </a:spcBef>
        <a:spcAft>
          <a:spcPct val="0"/>
        </a:spcAft>
        <a:defRPr sz="4400">
          <a:solidFill>
            <a:schemeClr val="tx2"/>
          </a:solidFill>
          <a:latin typeface="Arial" charset="0"/>
          <a:ea typeface="宋体" pitchFamily="2" charset="-122"/>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8" Type="http://schemas.openxmlformats.org/officeDocument/2006/relationships/oleObject" Target="../embeddings/oleObject4.bin"/><Relationship Id="rId3" Type="http://schemas.openxmlformats.org/officeDocument/2006/relationships/image" Target="../media/image3.emf"/><Relationship Id="rId7" Type="http://schemas.openxmlformats.org/officeDocument/2006/relationships/image" Target="../media/image5.emf"/><Relationship Id="rId2" Type="http://schemas.openxmlformats.org/officeDocument/2006/relationships/oleObject" Target="../embeddings/oleObject1.bin"/><Relationship Id="rId1" Type="http://schemas.openxmlformats.org/officeDocument/2006/relationships/slideLayout" Target="../slideLayouts/slideLayout12.xml"/><Relationship Id="rId6" Type="http://schemas.openxmlformats.org/officeDocument/2006/relationships/oleObject" Target="../embeddings/oleObject3.bin"/><Relationship Id="rId5" Type="http://schemas.openxmlformats.org/officeDocument/2006/relationships/image" Target="../media/image4.emf"/><Relationship Id="rId4" Type="http://schemas.openxmlformats.org/officeDocument/2006/relationships/oleObject" Target="../embeddings/oleObject2.bin"/><Relationship Id="rId9" Type="http://schemas.openxmlformats.org/officeDocument/2006/relationships/image" Target="../media/image6.emf"/></Relationships>
</file>

<file path=ppt/slides/_rels/slide8.xml.rels><?xml version="1.0" encoding="UTF-8" standalone="yes"?>
<Relationships xmlns="http://schemas.openxmlformats.org/package/2006/relationships"><Relationship Id="rId3" Type="http://schemas.openxmlformats.org/officeDocument/2006/relationships/image" Target="../media/image7.emf"/><Relationship Id="rId7" Type="http://schemas.openxmlformats.org/officeDocument/2006/relationships/image" Target="../media/image9.emf"/><Relationship Id="rId2" Type="http://schemas.openxmlformats.org/officeDocument/2006/relationships/oleObject" Target="../embeddings/oleObject5.bin"/><Relationship Id="rId1" Type="http://schemas.openxmlformats.org/officeDocument/2006/relationships/slideLayout" Target="../slideLayouts/slideLayout12.xml"/><Relationship Id="rId6" Type="http://schemas.openxmlformats.org/officeDocument/2006/relationships/oleObject" Target="../embeddings/oleObject7.bin"/><Relationship Id="rId5" Type="http://schemas.openxmlformats.org/officeDocument/2006/relationships/image" Target="../media/image8.emf"/><Relationship Id="rId4" Type="http://schemas.openxmlformats.org/officeDocument/2006/relationships/oleObject" Target="../embeddings/oleObject6.bin"/></Relationships>
</file>

<file path=ppt/slides/_rels/slide9.xml.rels><?xml version="1.0" encoding="UTF-8" standalone="yes"?>
<Relationships xmlns="http://schemas.openxmlformats.org/package/2006/relationships"><Relationship Id="rId8" Type="http://schemas.openxmlformats.org/officeDocument/2006/relationships/oleObject" Target="../embeddings/oleObject11.bin"/><Relationship Id="rId13" Type="http://schemas.openxmlformats.org/officeDocument/2006/relationships/image" Target="../media/image15.emf"/><Relationship Id="rId3" Type="http://schemas.openxmlformats.org/officeDocument/2006/relationships/image" Target="../media/image10.emf"/><Relationship Id="rId7" Type="http://schemas.openxmlformats.org/officeDocument/2006/relationships/image" Target="../media/image12.emf"/><Relationship Id="rId12" Type="http://schemas.openxmlformats.org/officeDocument/2006/relationships/oleObject" Target="../embeddings/oleObject13.bin"/><Relationship Id="rId2" Type="http://schemas.openxmlformats.org/officeDocument/2006/relationships/oleObject" Target="../embeddings/oleObject8.bin"/><Relationship Id="rId1" Type="http://schemas.openxmlformats.org/officeDocument/2006/relationships/slideLayout" Target="../slideLayouts/slideLayout12.xml"/><Relationship Id="rId6" Type="http://schemas.openxmlformats.org/officeDocument/2006/relationships/oleObject" Target="../embeddings/oleObject10.bin"/><Relationship Id="rId11" Type="http://schemas.openxmlformats.org/officeDocument/2006/relationships/image" Target="../media/image14.emf"/><Relationship Id="rId5" Type="http://schemas.openxmlformats.org/officeDocument/2006/relationships/image" Target="../media/image11.emf"/><Relationship Id="rId10" Type="http://schemas.openxmlformats.org/officeDocument/2006/relationships/oleObject" Target="../embeddings/oleObject12.bin"/><Relationship Id="rId4" Type="http://schemas.openxmlformats.org/officeDocument/2006/relationships/oleObject" Target="../embeddings/oleObject9.bin"/><Relationship Id="rId9" Type="http://schemas.openxmlformats.org/officeDocument/2006/relationships/image" Target="../media/image13.emf"/></Relationships>
</file>

<file path=ppt/slides/_rels/slide10.xml.rels><?xml version="1.0" encoding="UTF-8" standalone="yes"?>
<Relationships xmlns="http://schemas.openxmlformats.org/package/2006/relationships"><Relationship Id="rId8" Type="http://schemas.openxmlformats.org/officeDocument/2006/relationships/oleObject" Target="../embeddings/oleObject17.bin"/><Relationship Id="rId13" Type="http://schemas.openxmlformats.org/officeDocument/2006/relationships/image" Target="../media/image21.emf"/><Relationship Id="rId3" Type="http://schemas.openxmlformats.org/officeDocument/2006/relationships/image" Target="../media/image16.emf"/><Relationship Id="rId7" Type="http://schemas.openxmlformats.org/officeDocument/2006/relationships/image" Target="../media/image18.emf"/><Relationship Id="rId12" Type="http://schemas.openxmlformats.org/officeDocument/2006/relationships/oleObject" Target="../embeddings/oleObject19.bin"/><Relationship Id="rId2" Type="http://schemas.openxmlformats.org/officeDocument/2006/relationships/oleObject" Target="../embeddings/oleObject14.bin"/><Relationship Id="rId1" Type="http://schemas.openxmlformats.org/officeDocument/2006/relationships/slideLayout" Target="../slideLayouts/slideLayout12.xml"/><Relationship Id="rId6" Type="http://schemas.openxmlformats.org/officeDocument/2006/relationships/oleObject" Target="../embeddings/oleObject16.bin"/><Relationship Id="rId11" Type="http://schemas.openxmlformats.org/officeDocument/2006/relationships/image" Target="../media/image20.emf"/><Relationship Id="rId5" Type="http://schemas.openxmlformats.org/officeDocument/2006/relationships/image" Target="../media/image17.emf"/><Relationship Id="rId10" Type="http://schemas.openxmlformats.org/officeDocument/2006/relationships/oleObject" Target="../embeddings/oleObject18.bin"/><Relationship Id="rId4" Type="http://schemas.openxmlformats.org/officeDocument/2006/relationships/oleObject" Target="../embeddings/oleObject15.bin"/><Relationship Id="rId9" Type="http://schemas.openxmlformats.org/officeDocument/2006/relationships/image" Target="../media/image19.emf"/></Relationships>
</file>

<file path=ppt/slides/_rels/slide11.xml.rels><?xml version="1.0" encoding="UTF-8" standalone="yes"?>
<Relationships xmlns="http://schemas.openxmlformats.org/package/2006/relationships"><Relationship Id="rId8" Type="http://schemas.openxmlformats.org/officeDocument/2006/relationships/oleObject" Target="../embeddings/oleObject23.bin"/><Relationship Id="rId13" Type="http://schemas.openxmlformats.org/officeDocument/2006/relationships/image" Target="../media/image27.wmf"/><Relationship Id="rId3" Type="http://schemas.openxmlformats.org/officeDocument/2006/relationships/image" Target="../media/image22.wmf"/><Relationship Id="rId7" Type="http://schemas.openxmlformats.org/officeDocument/2006/relationships/image" Target="../media/image24.emf"/><Relationship Id="rId12" Type="http://schemas.openxmlformats.org/officeDocument/2006/relationships/oleObject" Target="../embeddings/oleObject25.bin"/><Relationship Id="rId2" Type="http://schemas.openxmlformats.org/officeDocument/2006/relationships/oleObject" Target="../embeddings/oleObject20.bin"/><Relationship Id="rId1" Type="http://schemas.openxmlformats.org/officeDocument/2006/relationships/slideLayout" Target="../slideLayouts/slideLayout12.xml"/><Relationship Id="rId6" Type="http://schemas.openxmlformats.org/officeDocument/2006/relationships/oleObject" Target="../embeddings/oleObject22.bin"/><Relationship Id="rId11" Type="http://schemas.openxmlformats.org/officeDocument/2006/relationships/image" Target="../media/image26.wmf"/><Relationship Id="rId5" Type="http://schemas.openxmlformats.org/officeDocument/2006/relationships/image" Target="../media/image23.emf"/><Relationship Id="rId10" Type="http://schemas.openxmlformats.org/officeDocument/2006/relationships/oleObject" Target="../embeddings/oleObject24.bin"/><Relationship Id="rId4" Type="http://schemas.openxmlformats.org/officeDocument/2006/relationships/oleObject" Target="../embeddings/oleObject21.bin"/><Relationship Id="rId9" Type="http://schemas.openxmlformats.org/officeDocument/2006/relationships/image" Target="../media/image25.emf"/></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8" Type="http://schemas.openxmlformats.org/officeDocument/2006/relationships/oleObject" Target="../embeddings/oleObject29.bin"/><Relationship Id="rId13" Type="http://schemas.openxmlformats.org/officeDocument/2006/relationships/image" Target="../media/image33.emf"/><Relationship Id="rId3" Type="http://schemas.openxmlformats.org/officeDocument/2006/relationships/image" Target="../media/image28.emf"/><Relationship Id="rId7" Type="http://schemas.openxmlformats.org/officeDocument/2006/relationships/image" Target="../media/image30.emf"/><Relationship Id="rId12" Type="http://schemas.openxmlformats.org/officeDocument/2006/relationships/oleObject" Target="../embeddings/oleObject31.bin"/><Relationship Id="rId2" Type="http://schemas.openxmlformats.org/officeDocument/2006/relationships/oleObject" Target="../embeddings/oleObject26.bin"/><Relationship Id="rId1" Type="http://schemas.openxmlformats.org/officeDocument/2006/relationships/slideLayout" Target="../slideLayouts/slideLayout12.xml"/><Relationship Id="rId6" Type="http://schemas.openxmlformats.org/officeDocument/2006/relationships/oleObject" Target="../embeddings/oleObject28.bin"/><Relationship Id="rId11" Type="http://schemas.openxmlformats.org/officeDocument/2006/relationships/image" Target="../media/image32.emf"/><Relationship Id="rId5" Type="http://schemas.openxmlformats.org/officeDocument/2006/relationships/image" Target="../media/image29.emf"/><Relationship Id="rId10" Type="http://schemas.openxmlformats.org/officeDocument/2006/relationships/oleObject" Target="../embeddings/oleObject30.bin"/><Relationship Id="rId4" Type="http://schemas.openxmlformats.org/officeDocument/2006/relationships/oleObject" Target="../embeddings/oleObject27.bin"/><Relationship Id="rId9" Type="http://schemas.openxmlformats.org/officeDocument/2006/relationships/image" Target="../media/image31.emf"/></Relationships>
</file>

<file path=ppt/slides/_rels/slide16.xml.rels><?xml version="1.0" encoding="UTF-8" standalone="yes"?>
<Relationships xmlns="http://schemas.openxmlformats.org/package/2006/relationships"><Relationship Id="rId8" Type="http://schemas.openxmlformats.org/officeDocument/2006/relationships/oleObject" Target="../embeddings/oleObject35.bin"/><Relationship Id="rId3" Type="http://schemas.openxmlformats.org/officeDocument/2006/relationships/image" Target="../media/image34.emf"/><Relationship Id="rId7" Type="http://schemas.openxmlformats.org/officeDocument/2006/relationships/image" Target="../media/image36.emf"/><Relationship Id="rId2" Type="http://schemas.openxmlformats.org/officeDocument/2006/relationships/oleObject" Target="../embeddings/oleObject32.bin"/><Relationship Id="rId1" Type="http://schemas.openxmlformats.org/officeDocument/2006/relationships/slideLayout" Target="../slideLayouts/slideLayout12.xml"/><Relationship Id="rId6" Type="http://schemas.openxmlformats.org/officeDocument/2006/relationships/oleObject" Target="../embeddings/oleObject34.bin"/><Relationship Id="rId11" Type="http://schemas.openxmlformats.org/officeDocument/2006/relationships/image" Target="../media/image38.emf"/><Relationship Id="rId5" Type="http://schemas.openxmlformats.org/officeDocument/2006/relationships/image" Target="../media/image35.emf"/><Relationship Id="rId10" Type="http://schemas.openxmlformats.org/officeDocument/2006/relationships/oleObject" Target="../embeddings/oleObject36.bin"/><Relationship Id="rId4" Type="http://schemas.openxmlformats.org/officeDocument/2006/relationships/oleObject" Target="../embeddings/oleObject33.bin"/><Relationship Id="rId9" Type="http://schemas.openxmlformats.org/officeDocument/2006/relationships/image" Target="../media/image37.emf"/></Relationships>
</file>

<file path=ppt/slides/_rels/slide17.xml.rels><?xml version="1.0" encoding="UTF-8" standalone="yes"?>
<Relationships xmlns="http://schemas.openxmlformats.org/package/2006/relationships"><Relationship Id="rId3" Type="http://schemas.openxmlformats.org/officeDocument/2006/relationships/image" Target="../media/image39.emf"/><Relationship Id="rId2" Type="http://schemas.openxmlformats.org/officeDocument/2006/relationships/oleObject" Target="../embeddings/oleObject37.bin"/><Relationship Id="rId1" Type="http://schemas.openxmlformats.org/officeDocument/2006/relationships/slideLayout" Target="../slideLayouts/slideLayout12.xml"/><Relationship Id="rId5" Type="http://schemas.openxmlformats.org/officeDocument/2006/relationships/image" Target="../media/image40.wmf"/><Relationship Id="rId4" Type="http://schemas.openxmlformats.org/officeDocument/2006/relationships/oleObject" Target="../embeddings/oleObject38.bin"/></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3" Type="http://schemas.openxmlformats.org/officeDocument/2006/relationships/image" Target="../media/image41.emf"/><Relationship Id="rId7" Type="http://schemas.openxmlformats.org/officeDocument/2006/relationships/image" Target="../media/image43.emf"/><Relationship Id="rId2" Type="http://schemas.openxmlformats.org/officeDocument/2006/relationships/oleObject" Target="../embeddings/oleObject39.bin"/><Relationship Id="rId1" Type="http://schemas.openxmlformats.org/officeDocument/2006/relationships/slideLayout" Target="../slideLayouts/slideLayout12.xml"/><Relationship Id="rId6" Type="http://schemas.openxmlformats.org/officeDocument/2006/relationships/oleObject" Target="../embeddings/oleObject41.bin"/><Relationship Id="rId5" Type="http://schemas.openxmlformats.org/officeDocument/2006/relationships/image" Target="../media/image42.emf"/><Relationship Id="rId4" Type="http://schemas.openxmlformats.org/officeDocument/2006/relationships/oleObject" Target="../embeddings/oleObject40.bin"/></Relationships>
</file>

<file path=ppt/slides/_rels/slide20.xml.rels><?xml version="1.0" encoding="UTF-8" standalone="yes"?>
<Relationships xmlns="http://schemas.openxmlformats.org/package/2006/relationships"><Relationship Id="rId3" Type="http://schemas.openxmlformats.org/officeDocument/2006/relationships/image" Target="../media/image44.emf"/><Relationship Id="rId2" Type="http://schemas.openxmlformats.org/officeDocument/2006/relationships/oleObject" Target="../embeddings/oleObject42.bin"/><Relationship Id="rId1" Type="http://schemas.openxmlformats.org/officeDocument/2006/relationships/slideLayout" Target="../slideLayouts/slideLayout12.xml"/><Relationship Id="rId5" Type="http://schemas.openxmlformats.org/officeDocument/2006/relationships/image" Target="../media/image45.emf"/><Relationship Id="rId4" Type="http://schemas.openxmlformats.org/officeDocument/2006/relationships/oleObject" Target="../embeddings/oleObject43.bin"/></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8" Type="http://schemas.openxmlformats.org/officeDocument/2006/relationships/oleObject" Target="../embeddings/oleObject47.bin"/><Relationship Id="rId3" Type="http://schemas.openxmlformats.org/officeDocument/2006/relationships/image" Target="../media/image46.emf"/><Relationship Id="rId7" Type="http://schemas.openxmlformats.org/officeDocument/2006/relationships/image" Target="../media/image48.emf"/><Relationship Id="rId2" Type="http://schemas.openxmlformats.org/officeDocument/2006/relationships/oleObject" Target="../embeddings/oleObject44.bin"/><Relationship Id="rId1" Type="http://schemas.openxmlformats.org/officeDocument/2006/relationships/slideLayout" Target="../slideLayouts/slideLayout12.xml"/><Relationship Id="rId6" Type="http://schemas.openxmlformats.org/officeDocument/2006/relationships/oleObject" Target="../embeddings/oleObject46.bin"/><Relationship Id="rId5" Type="http://schemas.openxmlformats.org/officeDocument/2006/relationships/image" Target="../media/image47.emf"/><Relationship Id="rId4" Type="http://schemas.openxmlformats.org/officeDocument/2006/relationships/oleObject" Target="../embeddings/oleObject45.bin"/><Relationship Id="rId9" Type="http://schemas.openxmlformats.org/officeDocument/2006/relationships/image" Target="../media/image49.emf"/></Relationships>
</file>

<file path=ppt/slides/_rels/slide29.xml.rels><?xml version="1.0" encoding="UTF-8" standalone="yes"?>
<Relationships xmlns="http://schemas.openxmlformats.org/package/2006/relationships"><Relationship Id="rId8" Type="http://schemas.openxmlformats.org/officeDocument/2006/relationships/oleObject" Target="../embeddings/oleObject51.bin"/><Relationship Id="rId3" Type="http://schemas.openxmlformats.org/officeDocument/2006/relationships/image" Target="../media/image50.emf"/><Relationship Id="rId7" Type="http://schemas.openxmlformats.org/officeDocument/2006/relationships/image" Target="../media/image52.emf"/><Relationship Id="rId2" Type="http://schemas.openxmlformats.org/officeDocument/2006/relationships/oleObject" Target="../embeddings/oleObject48.bin"/><Relationship Id="rId1" Type="http://schemas.openxmlformats.org/officeDocument/2006/relationships/slideLayout" Target="../slideLayouts/slideLayout12.xml"/><Relationship Id="rId6" Type="http://schemas.openxmlformats.org/officeDocument/2006/relationships/oleObject" Target="../embeddings/oleObject50.bin"/><Relationship Id="rId11" Type="http://schemas.openxmlformats.org/officeDocument/2006/relationships/image" Target="../media/image54.emf"/><Relationship Id="rId5" Type="http://schemas.openxmlformats.org/officeDocument/2006/relationships/image" Target="../media/image51.emf"/><Relationship Id="rId10" Type="http://schemas.openxmlformats.org/officeDocument/2006/relationships/oleObject" Target="../embeddings/oleObject52.bin"/><Relationship Id="rId4" Type="http://schemas.openxmlformats.org/officeDocument/2006/relationships/oleObject" Target="../embeddings/oleObject49.bin"/><Relationship Id="rId9" Type="http://schemas.openxmlformats.org/officeDocument/2006/relationships/image" Target="../media/image53.emf"/></Relationships>
</file>

<file path=ppt/slides/_rels/slide30.xml.rels><?xml version="1.0" encoding="UTF-8" standalone="yes"?>
<Relationships xmlns="http://schemas.openxmlformats.org/package/2006/relationships"><Relationship Id="rId8" Type="http://schemas.openxmlformats.org/officeDocument/2006/relationships/oleObject" Target="../embeddings/oleObject56.bin"/><Relationship Id="rId3" Type="http://schemas.openxmlformats.org/officeDocument/2006/relationships/image" Target="../media/image55.emf"/><Relationship Id="rId7" Type="http://schemas.openxmlformats.org/officeDocument/2006/relationships/image" Target="../media/image57.emf"/><Relationship Id="rId2" Type="http://schemas.openxmlformats.org/officeDocument/2006/relationships/oleObject" Target="../embeddings/oleObject53.bin"/><Relationship Id="rId1" Type="http://schemas.openxmlformats.org/officeDocument/2006/relationships/slideLayout" Target="../slideLayouts/slideLayout12.xml"/><Relationship Id="rId6" Type="http://schemas.openxmlformats.org/officeDocument/2006/relationships/oleObject" Target="../embeddings/oleObject55.bin"/><Relationship Id="rId11" Type="http://schemas.openxmlformats.org/officeDocument/2006/relationships/image" Target="../media/image59.emf"/><Relationship Id="rId5" Type="http://schemas.openxmlformats.org/officeDocument/2006/relationships/image" Target="../media/image56.emf"/><Relationship Id="rId10" Type="http://schemas.openxmlformats.org/officeDocument/2006/relationships/oleObject" Target="../embeddings/oleObject57.bin"/><Relationship Id="rId4" Type="http://schemas.openxmlformats.org/officeDocument/2006/relationships/oleObject" Target="../embeddings/oleObject54.bin"/><Relationship Id="rId9" Type="http://schemas.openxmlformats.org/officeDocument/2006/relationships/image" Target="../media/image58.emf"/></Relationships>
</file>

<file path=ppt/slides/_rels/slide31.xml.rels><?xml version="1.0" encoding="UTF-8" standalone="yes"?>
<Relationships xmlns="http://schemas.openxmlformats.org/package/2006/relationships"><Relationship Id="rId3" Type="http://schemas.openxmlformats.org/officeDocument/2006/relationships/image" Target="../media/image60.emf"/><Relationship Id="rId7" Type="http://schemas.openxmlformats.org/officeDocument/2006/relationships/image" Target="../media/image62.emf"/><Relationship Id="rId2" Type="http://schemas.openxmlformats.org/officeDocument/2006/relationships/oleObject" Target="../embeddings/oleObject58.bin"/><Relationship Id="rId1" Type="http://schemas.openxmlformats.org/officeDocument/2006/relationships/slideLayout" Target="../slideLayouts/slideLayout12.xml"/><Relationship Id="rId6" Type="http://schemas.openxmlformats.org/officeDocument/2006/relationships/oleObject" Target="../embeddings/oleObject60.bin"/><Relationship Id="rId5" Type="http://schemas.openxmlformats.org/officeDocument/2006/relationships/image" Target="../media/image61.emf"/><Relationship Id="rId4" Type="http://schemas.openxmlformats.org/officeDocument/2006/relationships/oleObject" Target="../embeddings/oleObject59.bin"/></Relationships>
</file>

<file path=ppt/slides/_rels/slide32.xml.rels><?xml version="1.0" encoding="UTF-8" standalone="yes"?>
<Relationships xmlns="http://schemas.openxmlformats.org/package/2006/relationships"><Relationship Id="rId3" Type="http://schemas.openxmlformats.org/officeDocument/2006/relationships/image" Target="../media/image63.emf"/><Relationship Id="rId2" Type="http://schemas.openxmlformats.org/officeDocument/2006/relationships/oleObject" Target="../embeddings/oleObject61.bin"/><Relationship Id="rId1" Type="http://schemas.openxmlformats.org/officeDocument/2006/relationships/slideLayout" Target="../slideLayouts/slideLayout1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4.xml.rels><?xml version="1.0" encoding="UTF-8" standalone="yes"?>
<Relationships xmlns="http://schemas.openxmlformats.org/package/2006/relationships"><Relationship Id="rId3" Type="http://schemas.openxmlformats.org/officeDocument/2006/relationships/image" Target="../media/image64.emf"/><Relationship Id="rId7" Type="http://schemas.openxmlformats.org/officeDocument/2006/relationships/image" Target="../media/image66.emf"/><Relationship Id="rId2" Type="http://schemas.openxmlformats.org/officeDocument/2006/relationships/oleObject" Target="../embeddings/oleObject62.bin"/><Relationship Id="rId1" Type="http://schemas.openxmlformats.org/officeDocument/2006/relationships/slideLayout" Target="../slideLayouts/slideLayout12.xml"/><Relationship Id="rId6" Type="http://schemas.openxmlformats.org/officeDocument/2006/relationships/oleObject" Target="../embeddings/oleObject64.bin"/><Relationship Id="rId5" Type="http://schemas.openxmlformats.org/officeDocument/2006/relationships/image" Target="../media/image65.emf"/><Relationship Id="rId4" Type="http://schemas.openxmlformats.org/officeDocument/2006/relationships/oleObject" Target="../embeddings/oleObject63.bin"/></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6.xml.rels><?xml version="1.0" encoding="UTF-8" standalone="yes"?>
<Relationships xmlns="http://schemas.openxmlformats.org/package/2006/relationships"><Relationship Id="rId3" Type="http://schemas.openxmlformats.org/officeDocument/2006/relationships/image" Target="../media/image67.emf"/><Relationship Id="rId2" Type="http://schemas.openxmlformats.org/officeDocument/2006/relationships/oleObject" Target="../embeddings/oleObject65.bin"/><Relationship Id="rId1" Type="http://schemas.openxmlformats.org/officeDocument/2006/relationships/slideLayout" Target="../slideLayouts/slideLayout12.xml"/></Relationships>
</file>

<file path=ppt/slides/_rels/slide37.xml.rels><?xml version="1.0" encoding="UTF-8" standalone="yes"?>
<Relationships xmlns="http://schemas.openxmlformats.org/package/2006/relationships"><Relationship Id="rId8" Type="http://schemas.openxmlformats.org/officeDocument/2006/relationships/oleObject" Target="../embeddings/oleObject69.bin"/><Relationship Id="rId3" Type="http://schemas.openxmlformats.org/officeDocument/2006/relationships/image" Target="../media/image68.emf"/><Relationship Id="rId7" Type="http://schemas.openxmlformats.org/officeDocument/2006/relationships/image" Target="../media/image70.emf"/><Relationship Id="rId2" Type="http://schemas.openxmlformats.org/officeDocument/2006/relationships/oleObject" Target="../embeddings/oleObject66.bin"/><Relationship Id="rId1" Type="http://schemas.openxmlformats.org/officeDocument/2006/relationships/slideLayout" Target="../slideLayouts/slideLayout12.xml"/><Relationship Id="rId6" Type="http://schemas.openxmlformats.org/officeDocument/2006/relationships/oleObject" Target="../embeddings/oleObject68.bin"/><Relationship Id="rId5" Type="http://schemas.openxmlformats.org/officeDocument/2006/relationships/image" Target="../media/image69.emf"/><Relationship Id="rId4" Type="http://schemas.openxmlformats.org/officeDocument/2006/relationships/oleObject" Target="../embeddings/oleObject67.bin"/><Relationship Id="rId9" Type="http://schemas.openxmlformats.org/officeDocument/2006/relationships/image" Target="../media/image71.emf"/></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9.xml.rels><?xml version="1.0" encoding="UTF-8" standalone="yes"?>
<Relationships xmlns="http://schemas.openxmlformats.org/package/2006/relationships"><Relationship Id="rId8" Type="http://schemas.openxmlformats.org/officeDocument/2006/relationships/oleObject" Target="../embeddings/oleObject69.bin"/><Relationship Id="rId3" Type="http://schemas.openxmlformats.org/officeDocument/2006/relationships/image" Target="../media/image68.emf"/><Relationship Id="rId7" Type="http://schemas.openxmlformats.org/officeDocument/2006/relationships/image" Target="../media/image70.emf"/><Relationship Id="rId2" Type="http://schemas.openxmlformats.org/officeDocument/2006/relationships/oleObject" Target="../embeddings/oleObject66.bin"/><Relationship Id="rId1" Type="http://schemas.openxmlformats.org/officeDocument/2006/relationships/slideLayout" Target="../slideLayouts/slideLayout12.xml"/><Relationship Id="rId6" Type="http://schemas.openxmlformats.org/officeDocument/2006/relationships/oleObject" Target="../embeddings/oleObject68.bin"/><Relationship Id="rId5" Type="http://schemas.openxmlformats.org/officeDocument/2006/relationships/image" Target="../media/image69.emf"/><Relationship Id="rId4" Type="http://schemas.openxmlformats.org/officeDocument/2006/relationships/oleObject" Target="../embeddings/oleObject67.bin"/><Relationship Id="rId9" Type="http://schemas.openxmlformats.org/officeDocument/2006/relationships/image" Target="../media/image71.emf"/></Relationships>
</file>

<file path=ppt/slides/_rels/slide40.xml.rels><?xml version="1.0" encoding="UTF-8" standalone="yes"?>
<Relationships xmlns="http://schemas.openxmlformats.org/package/2006/relationships"><Relationship Id="rId2" Type="http://schemas.openxmlformats.org/officeDocument/2006/relationships/image" Target="../media/image116.png"/><Relationship Id="rId1" Type="http://schemas.openxmlformats.org/officeDocument/2006/relationships/slideLayout" Target="../slideLayouts/slideLayout1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2.xml.rels><?xml version="1.0" encoding="UTF-8" standalone="yes"?>
<Relationships xmlns="http://schemas.openxmlformats.org/package/2006/relationships"><Relationship Id="rId2" Type="http://schemas.openxmlformats.org/officeDocument/2006/relationships/image" Target="../media/image400.png"/><Relationship Id="rId1" Type="http://schemas.openxmlformats.org/officeDocument/2006/relationships/slideLayout" Target="../slideLayouts/slideLayout1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4.xml.rels><?xml version="1.0" encoding="UTF-8" standalone="yes"?>
<Relationships xmlns="http://schemas.openxmlformats.org/package/2006/relationships"><Relationship Id="rId3" Type="http://schemas.openxmlformats.org/officeDocument/2006/relationships/image" Target="../media/image72.emf"/><Relationship Id="rId7" Type="http://schemas.openxmlformats.org/officeDocument/2006/relationships/image" Target="../media/image74.emf"/><Relationship Id="rId2" Type="http://schemas.openxmlformats.org/officeDocument/2006/relationships/oleObject" Target="../embeddings/oleObject70.bin"/><Relationship Id="rId1" Type="http://schemas.openxmlformats.org/officeDocument/2006/relationships/slideLayout" Target="../slideLayouts/slideLayout12.xml"/><Relationship Id="rId6" Type="http://schemas.openxmlformats.org/officeDocument/2006/relationships/oleObject" Target="../embeddings/oleObject72.bin"/><Relationship Id="rId5" Type="http://schemas.openxmlformats.org/officeDocument/2006/relationships/image" Target="../media/image73.emf"/><Relationship Id="rId4" Type="http://schemas.openxmlformats.org/officeDocument/2006/relationships/oleObject" Target="../embeddings/oleObject71.bin"/></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6.xml.rels><?xml version="1.0" encoding="UTF-8" standalone="yes"?>
<Relationships xmlns="http://schemas.openxmlformats.org/package/2006/relationships"><Relationship Id="rId8" Type="http://schemas.openxmlformats.org/officeDocument/2006/relationships/oleObject" Target="../embeddings/oleObject76.bin"/><Relationship Id="rId3" Type="http://schemas.openxmlformats.org/officeDocument/2006/relationships/image" Target="../media/image75.emf"/><Relationship Id="rId7" Type="http://schemas.openxmlformats.org/officeDocument/2006/relationships/image" Target="../media/image77.emf"/><Relationship Id="rId2" Type="http://schemas.openxmlformats.org/officeDocument/2006/relationships/oleObject" Target="../embeddings/oleObject73.bin"/><Relationship Id="rId1" Type="http://schemas.openxmlformats.org/officeDocument/2006/relationships/slideLayout" Target="../slideLayouts/slideLayout12.xml"/><Relationship Id="rId6" Type="http://schemas.openxmlformats.org/officeDocument/2006/relationships/oleObject" Target="../embeddings/oleObject75.bin"/><Relationship Id="rId5" Type="http://schemas.openxmlformats.org/officeDocument/2006/relationships/image" Target="../media/image76.emf"/><Relationship Id="rId4" Type="http://schemas.openxmlformats.org/officeDocument/2006/relationships/oleObject" Target="../embeddings/oleObject74.bin"/><Relationship Id="rId9" Type="http://schemas.openxmlformats.org/officeDocument/2006/relationships/image" Target="../media/image78.emf"/></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8.xml.rels><?xml version="1.0" encoding="UTF-8" standalone="yes"?>
<Relationships xmlns="http://schemas.openxmlformats.org/package/2006/relationships"><Relationship Id="rId2" Type="http://schemas.openxmlformats.org/officeDocument/2006/relationships/image" Target="../media/image126.png"/><Relationship Id="rId1" Type="http://schemas.openxmlformats.org/officeDocument/2006/relationships/slideLayout" Target="../slideLayouts/slideLayout1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2.xml.rels><?xml version="1.0" encoding="UTF-8" standalone="yes"?>
<Relationships xmlns="http://schemas.openxmlformats.org/package/2006/relationships"><Relationship Id="rId3" Type="http://schemas.openxmlformats.org/officeDocument/2006/relationships/image" Target="../media/image79.emf"/><Relationship Id="rId2" Type="http://schemas.openxmlformats.org/officeDocument/2006/relationships/oleObject" Target="../embeddings/oleObject77.bin"/><Relationship Id="rId1" Type="http://schemas.openxmlformats.org/officeDocument/2006/relationships/slideLayout" Target="../slideLayouts/slideLayout12.xml"/></Relationships>
</file>

<file path=ppt/slides/_rels/slide53.xml.rels><?xml version="1.0" encoding="UTF-8" standalone="yes"?>
<Relationships xmlns="http://schemas.openxmlformats.org/package/2006/relationships"><Relationship Id="rId3" Type="http://schemas.openxmlformats.org/officeDocument/2006/relationships/image" Target="../media/image80.emf"/><Relationship Id="rId2" Type="http://schemas.openxmlformats.org/officeDocument/2006/relationships/oleObject" Target="../embeddings/oleObject78.bin"/><Relationship Id="rId1" Type="http://schemas.openxmlformats.org/officeDocument/2006/relationships/slideLayout" Target="../slideLayouts/slideLayout12.xml"/><Relationship Id="rId5" Type="http://schemas.openxmlformats.org/officeDocument/2006/relationships/image" Target="../media/image81.emf"/><Relationship Id="rId4" Type="http://schemas.openxmlformats.org/officeDocument/2006/relationships/oleObject" Target="../embeddings/oleObject79.bin"/></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5.xml.rels><?xml version="1.0" encoding="UTF-8" standalone="yes"?>
<Relationships xmlns="http://schemas.openxmlformats.org/package/2006/relationships"><Relationship Id="rId3" Type="http://schemas.openxmlformats.org/officeDocument/2006/relationships/image" Target="../media/image82.emf"/><Relationship Id="rId2" Type="http://schemas.openxmlformats.org/officeDocument/2006/relationships/oleObject" Target="../embeddings/oleObject80.bin"/><Relationship Id="rId1" Type="http://schemas.openxmlformats.org/officeDocument/2006/relationships/slideLayout" Target="../slideLayouts/slideLayout12.xml"/><Relationship Id="rId5" Type="http://schemas.openxmlformats.org/officeDocument/2006/relationships/image" Target="../media/image83.emf"/><Relationship Id="rId4" Type="http://schemas.openxmlformats.org/officeDocument/2006/relationships/oleObject" Target="../embeddings/oleObject81.bin"/></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4"/>
          <p:cNvSpPr>
            <a:spLocks noGrp="1" noChangeArrowheads="1"/>
          </p:cNvSpPr>
          <p:nvPr>
            <p:ph type="ctrTitle"/>
          </p:nvPr>
        </p:nvSpPr>
        <p:spPr/>
        <p:txBody>
          <a:bodyPr/>
          <a:lstStyle/>
          <a:p>
            <a:pPr eaLnBrk="1" hangingPunct="1"/>
            <a:r>
              <a:rPr lang="zh-CN" altLang="en-US" b="1">
                <a:latin typeface="Times New Roman" pitchFamily="18" charset="0"/>
              </a:rPr>
              <a:t>第</a:t>
            </a:r>
            <a:r>
              <a:rPr lang="en-US" altLang="zh-CN" b="1">
                <a:latin typeface="Times New Roman" pitchFamily="18" charset="0"/>
              </a:rPr>
              <a:t>3</a:t>
            </a:r>
            <a:r>
              <a:rPr lang="zh-CN" altLang="en-US" b="1">
                <a:latin typeface="Times New Roman" pitchFamily="18" charset="0"/>
              </a:rPr>
              <a:t>章  命题逻辑</a:t>
            </a:r>
          </a:p>
        </p:txBody>
      </p:sp>
      <p:sp>
        <p:nvSpPr>
          <p:cNvPr id="3075" name="Rectangle 5"/>
          <p:cNvSpPr>
            <a:spLocks noGrp="1" noChangeArrowheads="1"/>
          </p:cNvSpPr>
          <p:nvPr>
            <p:ph type="subTitle" idx="1"/>
          </p:nvPr>
        </p:nvSpPr>
        <p:spPr/>
        <p:txBody>
          <a:bodyPr/>
          <a:lstStyle/>
          <a:p>
            <a:pPr eaLnBrk="1" hangingPunct="1">
              <a:lnSpc>
                <a:spcPct val="120000"/>
              </a:lnSpc>
            </a:pPr>
            <a:r>
              <a:rPr lang="en-US" altLang="zh-CN">
                <a:solidFill>
                  <a:srgbClr val="FF0000"/>
                </a:solidFill>
                <a:latin typeface="Times New Roman" pitchFamily="18" charset="0"/>
              </a:rPr>
              <a:t>Socrates </a:t>
            </a:r>
            <a:r>
              <a:rPr lang="en-US" altLang="zh-CN">
                <a:solidFill>
                  <a:srgbClr val="FF0000"/>
                </a:solidFill>
                <a:latin typeface="Times New Roman" pitchFamily="18" charset="0"/>
                <a:sym typeface="Symbol" pitchFamily="18" charset="2"/>
              </a:rPr>
              <a:t> Plato  Aristotele</a:t>
            </a:r>
            <a:endParaRPr lang="en-US" altLang="en-US">
              <a:latin typeface="Times New Roman" pitchFamily="18" charset="0"/>
              <a:sym typeface="Symbol" pitchFamily="18" charset="2"/>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2"/>
          <p:cNvSpPr>
            <a:spLocks noGrp="1" noChangeArrowheads="1"/>
          </p:cNvSpPr>
          <p:nvPr>
            <p:ph type="ctrTitle"/>
          </p:nvPr>
        </p:nvSpPr>
        <p:spPr/>
        <p:txBody>
          <a:bodyPr/>
          <a:lstStyle/>
          <a:p>
            <a:pPr eaLnBrk="1" hangingPunct="1"/>
            <a:r>
              <a:rPr lang="zh-CN" altLang="en-US" b="1">
                <a:latin typeface="Times New Roman" pitchFamily="18" charset="0"/>
              </a:rPr>
              <a:t>第</a:t>
            </a:r>
            <a:r>
              <a:rPr lang="en-US" altLang="zh-CN" b="1">
                <a:latin typeface="Times New Roman" pitchFamily="18" charset="0"/>
              </a:rPr>
              <a:t>3</a:t>
            </a:r>
            <a:r>
              <a:rPr lang="zh-CN" altLang="en-US" b="1">
                <a:latin typeface="Times New Roman" pitchFamily="18" charset="0"/>
              </a:rPr>
              <a:t>章  命题逻辑</a:t>
            </a:r>
          </a:p>
        </p:txBody>
      </p:sp>
      <p:sp>
        <p:nvSpPr>
          <p:cNvPr id="67587" name="Rectangle 3"/>
          <p:cNvSpPr>
            <a:spLocks noGrp="1" noChangeArrowheads="1"/>
          </p:cNvSpPr>
          <p:nvPr>
            <p:ph type="subTitle" idx="1"/>
          </p:nvPr>
        </p:nvSpPr>
        <p:spPr/>
        <p:txBody>
          <a:bodyPr/>
          <a:lstStyle/>
          <a:p>
            <a:pPr eaLnBrk="1" hangingPunct="1"/>
            <a:r>
              <a:rPr lang="en-US" altLang="zh-CN" b="1">
                <a:latin typeface="Times New Roman" pitchFamily="18" charset="0"/>
              </a:rPr>
              <a:t>3.4 </a:t>
            </a:r>
            <a:r>
              <a:rPr lang="zh-CN" altLang="en-US" b="1">
                <a:latin typeface="Times New Roman" pitchFamily="18" charset="0"/>
              </a:rPr>
              <a:t>逻辑等值的命题公式</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2"/>
          <p:cNvSpPr>
            <a:spLocks noGrp="1" noChangeArrowheads="1"/>
          </p:cNvSpPr>
          <p:nvPr>
            <p:ph type="title"/>
          </p:nvPr>
        </p:nvSpPr>
        <p:spPr/>
        <p:txBody>
          <a:bodyPr/>
          <a:lstStyle/>
          <a:p>
            <a:pPr algn="l" eaLnBrk="1" hangingPunct="1"/>
            <a:r>
              <a:rPr lang="en-US" altLang="zh-CN" b="1">
                <a:latin typeface="Times New Roman" pitchFamily="18" charset="0"/>
              </a:rPr>
              <a:t>3.4 </a:t>
            </a:r>
            <a:r>
              <a:rPr lang="zh-CN" altLang="en-US" b="1">
                <a:latin typeface="Times New Roman" pitchFamily="18" charset="0"/>
              </a:rPr>
              <a:t>逻辑等值的命题公式</a:t>
            </a:r>
          </a:p>
        </p:txBody>
      </p:sp>
      <p:sp>
        <p:nvSpPr>
          <p:cNvPr id="68611" name="Rectangle 3"/>
          <p:cNvSpPr>
            <a:spLocks noGrp="1" noChangeArrowheads="1"/>
          </p:cNvSpPr>
          <p:nvPr>
            <p:ph type="body" idx="1"/>
          </p:nvPr>
        </p:nvSpPr>
        <p:spPr/>
        <p:txBody>
          <a:bodyPr/>
          <a:lstStyle/>
          <a:p>
            <a:pPr eaLnBrk="1" hangingPunct="1"/>
            <a:endParaRPr lang="en-US" altLang="zh-CN"/>
          </a:p>
          <a:p>
            <a:pPr eaLnBrk="1" hangingPunct="1"/>
            <a:endParaRPr lang="en-US" altLang="zh-CN"/>
          </a:p>
        </p:txBody>
      </p:sp>
      <p:grpSp>
        <p:nvGrpSpPr>
          <p:cNvPr id="68612" name="Group 4"/>
          <p:cNvGrpSpPr>
            <a:grpSpLocks/>
          </p:cNvGrpSpPr>
          <p:nvPr/>
        </p:nvGrpSpPr>
        <p:grpSpPr bwMode="auto">
          <a:xfrm>
            <a:off x="1042988" y="1365250"/>
            <a:ext cx="5905500" cy="712788"/>
            <a:chOff x="1152" y="1101"/>
            <a:chExt cx="3408" cy="449"/>
          </a:xfrm>
        </p:grpSpPr>
        <p:grpSp>
          <p:nvGrpSpPr>
            <p:cNvPr id="68638" name="Group 5"/>
            <p:cNvGrpSpPr>
              <a:grpSpLocks/>
            </p:cNvGrpSpPr>
            <p:nvPr/>
          </p:nvGrpSpPr>
          <p:grpSpPr bwMode="auto">
            <a:xfrm>
              <a:off x="1152" y="1131"/>
              <a:ext cx="480" cy="419"/>
              <a:chOff x="1110" y="2656"/>
              <a:chExt cx="1549" cy="1351"/>
            </a:xfrm>
          </p:grpSpPr>
          <p:sp>
            <p:nvSpPr>
              <p:cNvPr id="68642" name="AutoShape 6"/>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a:p>
            </p:txBody>
          </p:sp>
          <p:sp>
            <p:nvSpPr>
              <p:cNvPr id="68643" name="AutoShape 7"/>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500">
                    <a:srgbClr val="7D8496"/>
                  </a:gs>
                  <a:gs pos="26500">
                    <a:srgbClr val="E6E6E6"/>
                  </a:gs>
                  <a:gs pos="34000">
                    <a:srgbClr val="7D8496"/>
                  </a:gs>
                  <a:gs pos="46500">
                    <a:srgbClr val="E6E6E6"/>
                  </a:gs>
                  <a:gs pos="50000">
                    <a:srgbClr val="FFFFFF"/>
                  </a:gs>
                  <a:gs pos="53500">
                    <a:srgbClr val="E6E6E6"/>
                  </a:gs>
                  <a:gs pos="66000">
                    <a:srgbClr val="7D8496"/>
                  </a:gs>
                  <a:gs pos="73500">
                    <a:srgbClr val="E6E6E6"/>
                  </a:gs>
                  <a:gs pos="92500">
                    <a:srgbClr val="7D8496"/>
                  </a:gs>
                  <a:gs pos="100000">
                    <a:srgbClr val="E6E6E6"/>
                  </a:gs>
                </a:gsLst>
                <a:lin ang="2700000" scaled="1"/>
              </a:gradFill>
              <a:ln w="9525">
                <a:solidFill>
                  <a:srgbClr val="C0C0C0"/>
                </a:solidFill>
                <a:miter lim="800000"/>
                <a:headEnd/>
                <a:tailEnd/>
              </a:ln>
            </p:spPr>
            <p:txBody>
              <a:bodyPr wrap="none" anchor="ctr"/>
              <a:lstStyle/>
              <a:p>
                <a:endParaRPr lang="zh-CN" altLang="en-US"/>
              </a:p>
            </p:txBody>
          </p:sp>
          <p:sp>
            <p:nvSpPr>
              <p:cNvPr id="77832" name="AutoShape 8"/>
              <p:cNvSpPr>
                <a:spLocks noChangeArrowheads="1"/>
              </p:cNvSpPr>
              <p:nvPr/>
            </p:nvSpPr>
            <p:spPr bwMode="gray">
              <a:xfrm>
                <a:off x="1199" y="2737"/>
                <a:ext cx="1351" cy="1167"/>
              </a:xfrm>
              <a:prstGeom prst="hexagon">
                <a:avLst>
                  <a:gd name="adj" fmla="val 28896"/>
                  <a:gd name="vf" fmla="val 115470"/>
                </a:avLst>
              </a:prstGeom>
              <a:gradFill rotWithShape="1">
                <a:gsLst>
                  <a:gs pos="0">
                    <a:schemeClr val="accent2">
                      <a:gamma/>
                      <a:shade val="46275"/>
                      <a:invGamma/>
                    </a:schemeClr>
                  </a:gs>
                  <a:gs pos="100000">
                    <a:schemeClr val="accent2"/>
                  </a:gs>
                </a:gsLst>
                <a:lin ang="2700000" scaled="1"/>
              </a:gradFill>
              <a:ln w="9525">
                <a:solidFill>
                  <a:schemeClr val="tx1"/>
                </a:solidFill>
                <a:miter lim="800000"/>
                <a:headEnd/>
                <a:tailEnd/>
              </a:ln>
              <a:effectLst/>
            </p:spPr>
            <p:txBody>
              <a:bodyPr wrap="none" anchor="ctr"/>
              <a:lstStyle/>
              <a:p>
                <a:pPr>
                  <a:defRPr/>
                </a:pPr>
                <a:endParaRPr lang="zh-CN" altLang="en-US"/>
              </a:p>
            </p:txBody>
          </p:sp>
        </p:grpSp>
        <p:sp>
          <p:nvSpPr>
            <p:cNvPr id="68639" name="Line 9"/>
            <p:cNvSpPr>
              <a:spLocks noChangeShapeType="1"/>
            </p:cNvSpPr>
            <p:nvPr/>
          </p:nvSpPr>
          <p:spPr bwMode="auto">
            <a:xfrm>
              <a:off x="1536" y="1515"/>
              <a:ext cx="3024" cy="0"/>
            </a:xfrm>
            <a:prstGeom prst="line">
              <a:avLst/>
            </a:prstGeom>
            <a:noFill/>
            <a:ln w="25400">
              <a:solidFill>
                <a:srgbClr val="C0C0C0"/>
              </a:solidFill>
              <a:prstDash val="sysDot"/>
              <a:round/>
              <a:headEnd/>
              <a:tailEnd type="oval"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8640" name="Text Box 10"/>
            <p:cNvSpPr txBox="1">
              <a:spLocks noChangeArrowheads="1"/>
            </p:cNvSpPr>
            <p:nvPr/>
          </p:nvSpPr>
          <p:spPr bwMode="auto">
            <a:xfrm>
              <a:off x="2067" y="1101"/>
              <a:ext cx="1915"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r>
                <a:rPr lang="zh-CN" altLang="en-US" sz="3200" b="1" dirty="0"/>
                <a:t>逻辑等值的定义</a:t>
              </a:r>
            </a:p>
          </p:txBody>
        </p:sp>
        <p:sp>
          <p:nvSpPr>
            <p:cNvPr id="68641" name="Text Box 11"/>
            <p:cNvSpPr txBox="1">
              <a:spLocks noChangeArrowheads="1"/>
            </p:cNvSpPr>
            <p:nvPr/>
          </p:nvSpPr>
          <p:spPr bwMode="gray">
            <a:xfrm>
              <a:off x="1276" y="1132"/>
              <a:ext cx="223"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a:r>
                <a:rPr lang="en-US" altLang="zh-CN" sz="3200" b="1">
                  <a:solidFill>
                    <a:schemeClr val="bg1"/>
                  </a:solidFill>
                  <a:latin typeface="Times New Roman" pitchFamily="18" charset="0"/>
                </a:rPr>
                <a:t>1</a:t>
              </a:r>
            </a:p>
          </p:txBody>
        </p:sp>
      </p:grpSp>
      <p:grpSp>
        <p:nvGrpSpPr>
          <p:cNvPr id="68613" name="Group 12"/>
          <p:cNvGrpSpPr>
            <a:grpSpLocks/>
          </p:cNvGrpSpPr>
          <p:nvPr/>
        </p:nvGrpSpPr>
        <p:grpSpPr bwMode="auto">
          <a:xfrm>
            <a:off x="1042988" y="2444750"/>
            <a:ext cx="5689600" cy="712788"/>
            <a:chOff x="1152" y="1677"/>
            <a:chExt cx="3408" cy="449"/>
          </a:xfrm>
        </p:grpSpPr>
        <p:grpSp>
          <p:nvGrpSpPr>
            <p:cNvPr id="68631" name="Group 13"/>
            <p:cNvGrpSpPr>
              <a:grpSpLocks/>
            </p:cNvGrpSpPr>
            <p:nvPr/>
          </p:nvGrpSpPr>
          <p:grpSpPr bwMode="auto">
            <a:xfrm>
              <a:off x="1152" y="1707"/>
              <a:ext cx="480" cy="419"/>
              <a:chOff x="3174" y="2656"/>
              <a:chExt cx="1549" cy="1351"/>
            </a:xfrm>
          </p:grpSpPr>
          <p:sp>
            <p:nvSpPr>
              <p:cNvPr id="68635" name="AutoShape 14"/>
              <p:cNvSpPr>
                <a:spLocks noChangeArrowheads="1"/>
              </p:cNvSpPr>
              <p:nvPr/>
            </p:nvSpPr>
            <p:spPr bwMode="gray">
              <a:xfrm>
                <a:off x="3187" y="2679"/>
                <a:ext cx="1536" cy="1328"/>
              </a:xfrm>
              <a:prstGeom prst="hexagon">
                <a:avLst>
                  <a:gd name="adj" fmla="val 28916"/>
                  <a:gd name="vf" fmla="val 115470"/>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a:p>
            </p:txBody>
          </p:sp>
          <p:sp>
            <p:nvSpPr>
              <p:cNvPr id="68636" name="AutoShape 15"/>
              <p:cNvSpPr>
                <a:spLocks noChangeArrowheads="1"/>
              </p:cNvSpPr>
              <p:nvPr/>
            </p:nvSpPr>
            <p:spPr bwMode="gray">
              <a:xfrm>
                <a:off x="3174" y="2656"/>
                <a:ext cx="1536" cy="1328"/>
              </a:xfrm>
              <a:prstGeom prst="hexagon">
                <a:avLst>
                  <a:gd name="adj" fmla="val 28916"/>
                  <a:gd name="vf" fmla="val 115470"/>
                </a:avLst>
              </a:prstGeom>
              <a:gradFill rotWithShape="1">
                <a:gsLst>
                  <a:gs pos="0">
                    <a:srgbClr val="E6E6E6"/>
                  </a:gs>
                  <a:gs pos="7500">
                    <a:srgbClr val="7D8496"/>
                  </a:gs>
                  <a:gs pos="26500">
                    <a:srgbClr val="E6E6E6"/>
                  </a:gs>
                  <a:gs pos="34000">
                    <a:srgbClr val="7D8496"/>
                  </a:gs>
                  <a:gs pos="46500">
                    <a:srgbClr val="E6E6E6"/>
                  </a:gs>
                  <a:gs pos="50000">
                    <a:srgbClr val="FFFFFF"/>
                  </a:gs>
                  <a:gs pos="53500">
                    <a:srgbClr val="E6E6E6"/>
                  </a:gs>
                  <a:gs pos="66000">
                    <a:srgbClr val="7D8496"/>
                  </a:gs>
                  <a:gs pos="73500">
                    <a:srgbClr val="E6E6E6"/>
                  </a:gs>
                  <a:gs pos="92500">
                    <a:srgbClr val="7D8496"/>
                  </a:gs>
                  <a:gs pos="100000">
                    <a:srgbClr val="E6E6E6"/>
                  </a:gs>
                </a:gsLst>
                <a:lin ang="2700000" scaled="1"/>
              </a:gradFill>
              <a:ln w="9525">
                <a:solidFill>
                  <a:srgbClr val="C0C0C0"/>
                </a:solidFill>
                <a:miter lim="800000"/>
                <a:headEnd/>
                <a:tailEnd/>
              </a:ln>
            </p:spPr>
            <p:txBody>
              <a:bodyPr wrap="none" anchor="ctr"/>
              <a:lstStyle/>
              <a:p>
                <a:endParaRPr lang="zh-CN" altLang="en-US"/>
              </a:p>
            </p:txBody>
          </p:sp>
          <p:sp>
            <p:nvSpPr>
              <p:cNvPr id="77840" name="AutoShape 16"/>
              <p:cNvSpPr>
                <a:spLocks noChangeArrowheads="1"/>
              </p:cNvSpPr>
              <p:nvPr/>
            </p:nvSpPr>
            <p:spPr bwMode="gray">
              <a:xfrm>
                <a:off x="3263" y="2737"/>
                <a:ext cx="1350" cy="1167"/>
              </a:xfrm>
              <a:prstGeom prst="hexagon">
                <a:avLst>
                  <a:gd name="adj" fmla="val 28896"/>
                  <a:gd name="vf" fmla="val 115470"/>
                </a:avLst>
              </a:prstGeom>
              <a:gradFill rotWithShape="1">
                <a:gsLst>
                  <a:gs pos="0">
                    <a:schemeClr val="accent1">
                      <a:gamma/>
                      <a:shade val="46275"/>
                      <a:invGamma/>
                    </a:schemeClr>
                  </a:gs>
                  <a:gs pos="100000">
                    <a:schemeClr val="accent1"/>
                  </a:gs>
                </a:gsLst>
                <a:lin ang="2700000" scaled="1"/>
              </a:gradFill>
              <a:ln w="9525">
                <a:solidFill>
                  <a:schemeClr val="tx1"/>
                </a:solidFill>
                <a:miter lim="800000"/>
                <a:headEnd/>
                <a:tailEnd/>
              </a:ln>
              <a:effectLst/>
            </p:spPr>
            <p:txBody>
              <a:bodyPr wrap="none" anchor="ctr"/>
              <a:lstStyle/>
              <a:p>
                <a:pPr>
                  <a:defRPr/>
                </a:pPr>
                <a:endParaRPr lang="zh-CN" altLang="en-US"/>
              </a:p>
            </p:txBody>
          </p:sp>
        </p:grpSp>
        <p:sp>
          <p:nvSpPr>
            <p:cNvPr id="68632" name="Line 17"/>
            <p:cNvSpPr>
              <a:spLocks noChangeShapeType="1"/>
            </p:cNvSpPr>
            <p:nvPr/>
          </p:nvSpPr>
          <p:spPr bwMode="auto">
            <a:xfrm>
              <a:off x="1536" y="2091"/>
              <a:ext cx="3024" cy="0"/>
            </a:xfrm>
            <a:prstGeom prst="line">
              <a:avLst/>
            </a:prstGeom>
            <a:noFill/>
            <a:ln w="25400">
              <a:solidFill>
                <a:srgbClr val="C0C0C0"/>
              </a:solidFill>
              <a:prstDash val="sysDot"/>
              <a:round/>
              <a:headEnd/>
              <a:tailEnd type="oval"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8633" name="Text Box 18"/>
            <p:cNvSpPr txBox="1">
              <a:spLocks noChangeArrowheads="1"/>
            </p:cNvSpPr>
            <p:nvPr/>
          </p:nvSpPr>
          <p:spPr bwMode="auto">
            <a:xfrm>
              <a:off x="2112" y="1677"/>
              <a:ext cx="1401"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r>
                <a:rPr lang="zh-CN" altLang="en-US" sz="3200" b="1"/>
                <a:t>基本等值式</a:t>
              </a:r>
            </a:p>
          </p:txBody>
        </p:sp>
        <p:sp>
          <p:nvSpPr>
            <p:cNvPr id="68634" name="Text Box 19"/>
            <p:cNvSpPr txBox="1">
              <a:spLocks noChangeArrowheads="1"/>
            </p:cNvSpPr>
            <p:nvPr/>
          </p:nvSpPr>
          <p:spPr bwMode="gray">
            <a:xfrm>
              <a:off x="1272" y="1708"/>
              <a:ext cx="232"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a:r>
                <a:rPr lang="en-US" altLang="zh-CN" sz="3200" b="1" dirty="0">
                  <a:solidFill>
                    <a:schemeClr val="bg1"/>
                  </a:solidFill>
                  <a:latin typeface="Times New Roman" pitchFamily="18" charset="0"/>
                </a:rPr>
                <a:t>2</a:t>
              </a:r>
            </a:p>
          </p:txBody>
        </p:sp>
      </p:grpSp>
      <p:grpSp>
        <p:nvGrpSpPr>
          <p:cNvPr id="68614" name="Group 20"/>
          <p:cNvGrpSpPr>
            <a:grpSpLocks/>
          </p:cNvGrpSpPr>
          <p:nvPr/>
        </p:nvGrpSpPr>
        <p:grpSpPr bwMode="auto">
          <a:xfrm>
            <a:off x="1042988" y="3549650"/>
            <a:ext cx="5410200" cy="688975"/>
            <a:chOff x="1152" y="2254"/>
            <a:chExt cx="3408" cy="434"/>
          </a:xfrm>
        </p:grpSpPr>
        <p:grpSp>
          <p:nvGrpSpPr>
            <p:cNvPr id="68624" name="Group 21"/>
            <p:cNvGrpSpPr>
              <a:grpSpLocks/>
            </p:cNvGrpSpPr>
            <p:nvPr/>
          </p:nvGrpSpPr>
          <p:grpSpPr bwMode="auto">
            <a:xfrm>
              <a:off x="1152" y="2269"/>
              <a:ext cx="480" cy="419"/>
              <a:chOff x="1110" y="2656"/>
              <a:chExt cx="1549" cy="1351"/>
            </a:xfrm>
          </p:grpSpPr>
          <p:sp>
            <p:nvSpPr>
              <p:cNvPr id="68628" name="AutoShape 22"/>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a:p>
            </p:txBody>
          </p:sp>
          <p:sp>
            <p:nvSpPr>
              <p:cNvPr id="68629" name="AutoShape 23"/>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500">
                    <a:srgbClr val="7D8496"/>
                  </a:gs>
                  <a:gs pos="26500">
                    <a:srgbClr val="E6E6E6"/>
                  </a:gs>
                  <a:gs pos="34000">
                    <a:srgbClr val="7D8496"/>
                  </a:gs>
                  <a:gs pos="46500">
                    <a:srgbClr val="E6E6E6"/>
                  </a:gs>
                  <a:gs pos="50000">
                    <a:srgbClr val="FFFFFF"/>
                  </a:gs>
                  <a:gs pos="53500">
                    <a:srgbClr val="E6E6E6"/>
                  </a:gs>
                  <a:gs pos="66000">
                    <a:srgbClr val="7D8496"/>
                  </a:gs>
                  <a:gs pos="73500">
                    <a:srgbClr val="E6E6E6"/>
                  </a:gs>
                  <a:gs pos="92500">
                    <a:srgbClr val="7D8496"/>
                  </a:gs>
                  <a:gs pos="100000">
                    <a:srgbClr val="E6E6E6"/>
                  </a:gs>
                </a:gsLst>
                <a:lin ang="2700000" scaled="1"/>
              </a:gradFill>
              <a:ln w="9525">
                <a:solidFill>
                  <a:srgbClr val="C0C0C0"/>
                </a:solidFill>
                <a:miter lim="800000"/>
                <a:headEnd/>
                <a:tailEnd/>
              </a:ln>
            </p:spPr>
            <p:txBody>
              <a:bodyPr wrap="none" anchor="ctr"/>
              <a:lstStyle/>
              <a:p>
                <a:endParaRPr lang="zh-CN" altLang="en-US"/>
              </a:p>
            </p:txBody>
          </p:sp>
          <p:sp>
            <p:nvSpPr>
              <p:cNvPr id="77848" name="AutoShape 24"/>
              <p:cNvSpPr>
                <a:spLocks noChangeArrowheads="1"/>
              </p:cNvSpPr>
              <p:nvPr/>
            </p:nvSpPr>
            <p:spPr bwMode="gray">
              <a:xfrm>
                <a:off x="1200" y="2737"/>
                <a:ext cx="1349" cy="1167"/>
              </a:xfrm>
              <a:prstGeom prst="hexagon">
                <a:avLst>
                  <a:gd name="adj" fmla="val 28896"/>
                  <a:gd name="vf" fmla="val 115470"/>
                </a:avLst>
              </a:prstGeom>
              <a:gradFill rotWithShape="1">
                <a:gsLst>
                  <a:gs pos="0">
                    <a:schemeClr val="accent2">
                      <a:gamma/>
                      <a:shade val="46275"/>
                      <a:invGamma/>
                    </a:schemeClr>
                  </a:gs>
                  <a:gs pos="100000">
                    <a:schemeClr val="accent2"/>
                  </a:gs>
                </a:gsLst>
                <a:lin ang="2700000" scaled="1"/>
              </a:gradFill>
              <a:ln w="9525">
                <a:solidFill>
                  <a:schemeClr val="tx1"/>
                </a:solidFill>
                <a:miter lim="800000"/>
                <a:headEnd/>
                <a:tailEnd/>
              </a:ln>
              <a:effectLst/>
            </p:spPr>
            <p:txBody>
              <a:bodyPr wrap="none" anchor="ctr"/>
              <a:lstStyle/>
              <a:p>
                <a:pPr>
                  <a:defRPr/>
                </a:pPr>
                <a:endParaRPr lang="zh-CN" altLang="en-US"/>
              </a:p>
            </p:txBody>
          </p:sp>
        </p:grpSp>
        <p:sp>
          <p:nvSpPr>
            <p:cNvPr id="68625" name="Line 25"/>
            <p:cNvSpPr>
              <a:spLocks noChangeShapeType="1"/>
            </p:cNvSpPr>
            <p:nvPr/>
          </p:nvSpPr>
          <p:spPr bwMode="auto">
            <a:xfrm>
              <a:off x="1536" y="2653"/>
              <a:ext cx="3024" cy="0"/>
            </a:xfrm>
            <a:prstGeom prst="line">
              <a:avLst/>
            </a:prstGeom>
            <a:noFill/>
            <a:ln w="25400">
              <a:solidFill>
                <a:srgbClr val="C0C0C0"/>
              </a:solidFill>
              <a:prstDash val="sysDot"/>
              <a:round/>
              <a:headEnd/>
              <a:tailEnd type="oval"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8626" name="Text Box 26"/>
            <p:cNvSpPr txBox="1">
              <a:spLocks noChangeArrowheads="1"/>
            </p:cNvSpPr>
            <p:nvPr/>
          </p:nvSpPr>
          <p:spPr bwMode="auto">
            <a:xfrm>
              <a:off x="2112" y="2254"/>
              <a:ext cx="1472"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r>
                <a:rPr lang="en-US" altLang="zh-CN" sz="3200" b="1"/>
                <a:t> </a:t>
              </a:r>
              <a:r>
                <a:rPr lang="zh-CN" altLang="en-US" sz="3200" b="1"/>
                <a:t>等值演算法</a:t>
              </a:r>
            </a:p>
          </p:txBody>
        </p:sp>
        <p:sp>
          <p:nvSpPr>
            <p:cNvPr id="68627" name="Text Box 27"/>
            <p:cNvSpPr txBox="1">
              <a:spLocks noChangeArrowheads="1"/>
            </p:cNvSpPr>
            <p:nvPr/>
          </p:nvSpPr>
          <p:spPr bwMode="gray">
            <a:xfrm>
              <a:off x="1281" y="2332"/>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a:r>
                <a:rPr lang="en-US" altLang="zh-CN" sz="2400" b="1" dirty="0">
                  <a:solidFill>
                    <a:schemeClr val="bg1"/>
                  </a:solidFill>
                  <a:latin typeface="Times New Roman" pitchFamily="18" charset="0"/>
                </a:rPr>
                <a:t>3</a:t>
              </a:r>
            </a:p>
          </p:txBody>
        </p:sp>
      </p:grpSp>
      <p:grpSp>
        <p:nvGrpSpPr>
          <p:cNvPr id="68615" name="Group 28"/>
          <p:cNvGrpSpPr>
            <a:grpSpLocks/>
          </p:cNvGrpSpPr>
          <p:nvPr/>
        </p:nvGrpSpPr>
        <p:grpSpPr bwMode="auto">
          <a:xfrm>
            <a:off x="1042988" y="4724400"/>
            <a:ext cx="5834062" cy="712788"/>
            <a:chOff x="1152" y="2815"/>
            <a:chExt cx="3408" cy="449"/>
          </a:xfrm>
        </p:grpSpPr>
        <p:grpSp>
          <p:nvGrpSpPr>
            <p:cNvPr id="68617" name="Group 29"/>
            <p:cNvGrpSpPr>
              <a:grpSpLocks/>
            </p:cNvGrpSpPr>
            <p:nvPr/>
          </p:nvGrpSpPr>
          <p:grpSpPr bwMode="auto">
            <a:xfrm>
              <a:off x="1152" y="2845"/>
              <a:ext cx="480" cy="419"/>
              <a:chOff x="3174" y="2656"/>
              <a:chExt cx="1549" cy="1351"/>
            </a:xfrm>
          </p:grpSpPr>
          <p:sp>
            <p:nvSpPr>
              <p:cNvPr id="68621" name="AutoShape 30"/>
              <p:cNvSpPr>
                <a:spLocks noChangeArrowheads="1"/>
              </p:cNvSpPr>
              <p:nvPr/>
            </p:nvSpPr>
            <p:spPr bwMode="gray">
              <a:xfrm>
                <a:off x="3187" y="2679"/>
                <a:ext cx="1536" cy="1328"/>
              </a:xfrm>
              <a:prstGeom prst="hexagon">
                <a:avLst>
                  <a:gd name="adj" fmla="val 28916"/>
                  <a:gd name="vf" fmla="val 115470"/>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a:p>
            </p:txBody>
          </p:sp>
          <p:sp>
            <p:nvSpPr>
              <p:cNvPr id="68622" name="AutoShape 31"/>
              <p:cNvSpPr>
                <a:spLocks noChangeArrowheads="1"/>
              </p:cNvSpPr>
              <p:nvPr/>
            </p:nvSpPr>
            <p:spPr bwMode="gray">
              <a:xfrm>
                <a:off x="3174" y="2656"/>
                <a:ext cx="1536" cy="1328"/>
              </a:xfrm>
              <a:prstGeom prst="hexagon">
                <a:avLst>
                  <a:gd name="adj" fmla="val 28916"/>
                  <a:gd name="vf" fmla="val 115470"/>
                </a:avLst>
              </a:prstGeom>
              <a:gradFill rotWithShape="1">
                <a:gsLst>
                  <a:gs pos="0">
                    <a:srgbClr val="E6E6E6"/>
                  </a:gs>
                  <a:gs pos="7500">
                    <a:srgbClr val="7D8496"/>
                  </a:gs>
                  <a:gs pos="26500">
                    <a:srgbClr val="E6E6E6"/>
                  </a:gs>
                  <a:gs pos="34000">
                    <a:srgbClr val="7D8496"/>
                  </a:gs>
                  <a:gs pos="46500">
                    <a:srgbClr val="E6E6E6"/>
                  </a:gs>
                  <a:gs pos="50000">
                    <a:srgbClr val="FFFFFF"/>
                  </a:gs>
                  <a:gs pos="53500">
                    <a:srgbClr val="E6E6E6"/>
                  </a:gs>
                  <a:gs pos="66000">
                    <a:srgbClr val="7D8496"/>
                  </a:gs>
                  <a:gs pos="73500">
                    <a:srgbClr val="E6E6E6"/>
                  </a:gs>
                  <a:gs pos="92500">
                    <a:srgbClr val="7D8496"/>
                  </a:gs>
                  <a:gs pos="100000">
                    <a:srgbClr val="E6E6E6"/>
                  </a:gs>
                </a:gsLst>
                <a:lin ang="2700000" scaled="1"/>
              </a:gradFill>
              <a:ln w="9525">
                <a:solidFill>
                  <a:srgbClr val="C0C0C0"/>
                </a:solidFill>
                <a:miter lim="800000"/>
                <a:headEnd/>
                <a:tailEnd/>
              </a:ln>
            </p:spPr>
            <p:txBody>
              <a:bodyPr wrap="none" anchor="ctr"/>
              <a:lstStyle/>
              <a:p>
                <a:endParaRPr lang="zh-CN" altLang="en-US"/>
              </a:p>
            </p:txBody>
          </p:sp>
          <p:sp>
            <p:nvSpPr>
              <p:cNvPr id="77856" name="AutoShape 32"/>
              <p:cNvSpPr>
                <a:spLocks noChangeArrowheads="1"/>
              </p:cNvSpPr>
              <p:nvPr/>
            </p:nvSpPr>
            <p:spPr bwMode="gray">
              <a:xfrm>
                <a:off x="3264" y="2737"/>
                <a:ext cx="1377" cy="1167"/>
              </a:xfrm>
              <a:prstGeom prst="hexagon">
                <a:avLst>
                  <a:gd name="adj" fmla="val 28896"/>
                  <a:gd name="vf" fmla="val 115470"/>
                </a:avLst>
              </a:prstGeom>
              <a:gradFill rotWithShape="1">
                <a:gsLst>
                  <a:gs pos="0">
                    <a:schemeClr val="accent1">
                      <a:gamma/>
                      <a:shade val="46275"/>
                      <a:invGamma/>
                    </a:schemeClr>
                  </a:gs>
                  <a:gs pos="100000">
                    <a:schemeClr val="accent1"/>
                  </a:gs>
                </a:gsLst>
                <a:lin ang="2700000" scaled="1"/>
              </a:gradFill>
              <a:ln w="9525">
                <a:solidFill>
                  <a:schemeClr val="tx1"/>
                </a:solidFill>
                <a:miter lim="800000"/>
                <a:headEnd/>
                <a:tailEnd/>
              </a:ln>
              <a:effectLst/>
            </p:spPr>
            <p:txBody>
              <a:bodyPr wrap="none" anchor="ctr"/>
              <a:lstStyle/>
              <a:p>
                <a:pPr>
                  <a:defRPr/>
                </a:pPr>
                <a:endParaRPr lang="zh-CN" altLang="en-US"/>
              </a:p>
            </p:txBody>
          </p:sp>
        </p:grpSp>
        <p:sp>
          <p:nvSpPr>
            <p:cNvPr id="68618" name="Line 33"/>
            <p:cNvSpPr>
              <a:spLocks noChangeShapeType="1"/>
            </p:cNvSpPr>
            <p:nvPr/>
          </p:nvSpPr>
          <p:spPr bwMode="auto">
            <a:xfrm>
              <a:off x="1536" y="3229"/>
              <a:ext cx="3024" cy="0"/>
            </a:xfrm>
            <a:prstGeom prst="line">
              <a:avLst/>
            </a:prstGeom>
            <a:noFill/>
            <a:ln w="25400">
              <a:solidFill>
                <a:srgbClr val="C0C0C0"/>
              </a:solidFill>
              <a:prstDash val="sysDot"/>
              <a:round/>
              <a:headEnd/>
              <a:tailEnd type="oval"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8619" name="Text Box 34"/>
            <p:cNvSpPr txBox="1">
              <a:spLocks noChangeArrowheads="1"/>
            </p:cNvSpPr>
            <p:nvPr/>
          </p:nvSpPr>
          <p:spPr bwMode="auto">
            <a:xfrm>
              <a:off x="2112" y="2815"/>
              <a:ext cx="1144"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r>
                <a:rPr lang="zh-CN" altLang="en-US" sz="3200" b="1"/>
                <a:t>对偶原理</a:t>
              </a:r>
            </a:p>
          </p:txBody>
        </p:sp>
        <p:sp>
          <p:nvSpPr>
            <p:cNvPr id="68620" name="Text Box 35"/>
            <p:cNvSpPr txBox="1">
              <a:spLocks noChangeArrowheads="1"/>
            </p:cNvSpPr>
            <p:nvPr/>
          </p:nvSpPr>
          <p:spPr bwMode="gray">
            <a:xfrm>
              <a:off x="1288" y="2908"/>
              <a:ext cx="197"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a:r>
                <a:rPr lang="en-US" altLang="zh-CN" sz="2400" b="1">
                  <a:solidFill>
                    <a:schemeClr val="bg1"/>
                  </a:solidFill>
                  <a:latin typeface="Times New Roman" pitchFamily="18" charset="0"/>
                </a:rPr>
                <a:t>4</a:t>
              </a:r>
            </a:p>
          </p:txBody>
        </p:sp>
      </p:grpSp>
      <p:sp>
        <p:nvSpPr>
          <p:cNvPr id="2" name="圆角矩形 1"/>
          <p:cNvSpPr/>
          <p:nvPr/>
        </p:nvSpPr>
        <p:spPr>
          <a:xfrm>
            <a:off x="900113" y="1268413"/>
            <a:ext cx="6264275" cy="2088579"/>
          </a:xfrm>
          <a:prstGeom prst="round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2"/>
          <p:cNvSpPr>
            <a:spLocks noGrp="1" noChangeArrowheads="1"/>
          </p:cNvSpPr>
          <p:nvPr>
            <p:ph type="title"/>
          </p:nvPr>
        </p:nvSpPr>
        <p:spPr/>
        <p:txBody>
          <a:bodyPr/>
          <a:lstStyle/>
          <a:p>
            <a:pPr eaLnBrk="1" hangingPunct="1"/>
            <a:r>
              <a:rPr lang="en-US" altLang="zh-CN" b="1">
                <a:latin typeface="Times New Roman" pitchFamily="18" charset="0"/>
              </a:rPr>
              <a:t>3.4  </a:t>
            </a:r>
            <a:r>
              <a:rPr lang="zh-CN" altLang="en-US" b="1">
                <a:latin typeface="Times New Roman" pitchFamily="18" charset="0"/>
              </a:rPr>
              <a:t>逻辑等值的命题公式</a:t>
            </a:r>
          </a:p>
        </p:txBody>
      </p:sp>
      <p:sp>
        <p:nvSpPr>
          <p:cNvPr id="69635" name="Rectangle 3"/>
          <p:cNvSpPr>
            <a:spLocks noGrp="1" noChangeArrowheads="1"/>
          </p:cNvSpPr>
          <p:nvPr>
            <p:ph type="body" idx="1"/>
          </p:nvPr>
        </p:nvSpPr>
        <p:spPr/>
        <p:txBody>
          <a:bodyPr/>
          <a:lstStyle/>
          <a:p>
            <a:pPr>
              <a:lnSpc>
                <a:spcPct val="120000"/>
              </a:lnSpc>
            </a:pPr>
            <a:r>
              <a:rPr lang="zh-CN" altLang="en-US" b="1" dirty="0">
                <a:latin typeface="Times New Roman" panose="02020603050405020304" pitchFamily="18" charset="0"/>
                <a:ea typeface="楷体" panose="02010609060101010101" pitchFamily="49" charset="-122"/>
                <a:cs typeface="Times New Roman" panose="02020603050405020304" pitchFamily="18" charset="0"/>
              </a:rPr>
              <a:t>逻辑等值指它们在逻辑上说的是同一回事</a:t>
            </a:r>
            <a:r>
              <a:rPr lang="zh-Hans" altLang="en-US" b="1" dirty="0">
                <a:latin typeface="Times New Roman" panose="02020603050405020304" pitchFamily="18" charset="0"/>
                <a:ea typeface="楷体" panose="02010609060101010101" pitchFamily="49" charset="-122"/>
                <a:cs typeface="Times New Roman" panose="02020603050405020304" pitchFamily="18" charset="0"/>
              </a:rPr>
              <a:t>例如</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a:t>
            </a:r>
            <a:r>
              <a:rPr lang="en-US" altLang="zh-CN" b="1" i="1" dirty="0">
                <a:latin typeface="Times New Roman" panose="02020603050405020304" pitchFamily="18" charset="0"/>
                <a:ea typeface="楷体" panose="02010609060101010101" pitchFamily="49" charset="-122"/>
                <a:cs typeface="Times New Roman" panose="02020603050405020304" pitchFamily="18" charset="0"/>
              </a:rPr>
              <a:t>A</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 </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如果我有时间</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 </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我就回家看望我的父母</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 </a:t>
            </a:r>
          </a:p>
          <a:p>
            <a:pPr marL="0" indent="0">
              <a:lnSpc>
                <a:spcPct val="120000"/>
              </a:lnSpc>
              <a:buNone/>
            </a:pPr>
            <a:r>
              <a:rPr lang="en-US" altLang="zh-CN" b="1" i="1" dirty="0">
                <a:latin typeface="Times New Roman" panose="02020603050405020304" pitchFamily="18" charset="0"/>
                <a:ea typeface="楷体" panose="02010609060101010101" pitchFamily="49" charset="-122"/>
                <a:cs typeface="Times New Roman" panose="02020603050405020304" pitchFamily="18" charset="0"/>
              </a:rPr>
              <a:t>    B</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 </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我没有时间或我回家看望我的父母</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 </a:t>
            </a:r>
          </a:p>
          <a:p>
            <a:pPr>
              <a:lnSpc>
                <a:spcPct val="120000"/>
              </a:lnSpc>
            </a:pPr>
            <a:r>
              <a:rPr lang="zh-CN" altLang="en-US" b="1" dirty="0">
                <a:latin typeface="Times New Roman" panose="02020603050405020304" pitchFamily="18" charset="0"/>
                <a:ea typeface="楷体" panose="02010609060101010101" pitchFamily="49" charset="-122"/>
                <a:cs typeface="Times New Roman" panose="02020603050405020304" pitchFamily="18" charset="0"/>
              </a:rPr>
              <a:t>若令</a:t>
            </a:r>
            <a:r>
              <a:rPr lang="en-US" altLang="zh-CN" b="1" i="1" dirty="0">
                <a:latin typeface="Times New Roman" panose="02020603050405020304" pitchFamily="18" charset="0"/>
                <a:ea typeface="楷体" panose="02010609060101010101" pitchFamily="49" charset="-122"/>
                <a:cs typeface="Times New Roman" panose="02020603050405020304" pitchFamily="18" charset="0"/>
              </a:rPr>
              <a:t>p</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我有时间</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 </a:t>
            </a:r>
            <a:r>
              <a:rPr lang="en-US" altLang="zh-CN" b="1" i="1" dirty="0">
                <a:latin typeface="Times New Roman" panose="02020603050405020304" pitchFamily="18" charset="0"/>
                <a:ea typeface="楷体" panose="02010609060101010101" pitchFamily="49" charset="-122"/>
                <a:cs typeface="Times New Roman" panose="02020603050405020304" pitchFamily="18" charset="0"/>
              </a:rPr>
              <a:t>q</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我回家看望我的父母</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 </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则</a:t>
            </a:r>
            <a:r>
              <a:rPr lang="en-US" altLang="zh-CN" b="1" i="1" dirty="0">
                <a:latin typeface="Times New Roman" panose="02020603050405020304" pitchFamily="18" charset="0"/>
                <a:ea typeface="楷体" panose="02010609060101010101" pitchFamily="49" charset="-122"/>
                <a:cs typeface="Times New Roman" panose="02020603050405020304" pitchFamily="18" charset="0"/>
              </a:rPr>
              <a:t>A</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 = </a:t>
            </a:r>
            <a:r>
              <a:rPr lang="en-US" altLang="zh-CN" b="1" i="1" dirty="0">
                <a:latin typeface="Times New Roman" panose="02020603050405020304" pitchFamily="18" charset="0"/>
                <a:ea typeface="楷体" panose="02010609060101010101" pitchFamily="49" charset="-122"/>
                <a:cs typeface="Times New Roman" panose="02020603050405020304" pitchFamily="18" charset="0"/>
              </a:rPr>
              <a:t>p</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 </a:t>
            </a:r>
            <a:r>
              <a:rPr lang="en-US" altLang="zh-CN" b="1" dirty="0">
                <a:latin typeface="Times New Roman" panose="02020603050405020304" pitchFamily="18" charset="0"/>
                <a:ea typeface="楷体" panose="02010609060101010101" pitchFamily="49" charset="-122"/>
                <a:cs typeface="Times New Roman" panose="02020603050405020304" pitchFamily="18" charset="0"/>
                <a:sym typeface="Symbol"/>
              </a:rPr>
              <a:t></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 </a:t>
            </a:r>
            <a:r>
              <a:rPr lang="en-US" altLang="zh-CN" b="1" i="1" dirty="0">
                <a:latin typeface="Times New Roman" panose="02020603050405020304" pitchFamily="18" charset="0"/>
                <a:ea typeface="楷体" panose="02010609060101010101" pitchFamily="49" charset="-122"/>
                <a:cs typeface="Times New Roman" panose="02020603050405020304" pitchFamily="18" charset="0"/>
              </a:rPr>
              <a:t>q</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 </a:t>
            </a:r>
            <a:r>
              <a:rPr lang="en-US" altLang="zh-CN" b="1" i="1" dirty="0">
                <a:latin typeface="Times New Roman" panose="02020603050405020304" pitchFamily="18" charset="0"/>
                <a:ea typeface="楷体" panose="02010609060101010101" pitchFamily="49" charset="-122"/>
                <a:cs typeface="Times New Roman" panose="02020603050405020304" pitchFamily="18" charset="0"/>
              </a:rPr>
              <a:t>B</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 = </a:t>
            </a:r>
            <a:r>
              <a:rPr lang="en-US" altLang="zh-CN" b="1" dirty="0">
                <a:latin typeface="Times New Roman" panose="02020603050405020304" pitchFamily="18" charset="0"/>
                <a:ea typeface="楷体" panose="02010609060101010101" pitchFamily="49" charset="-122"/>
                <a:cs typeface="Times New Roman" panose="02020603050405020304" pitchFamily="18" charset="0"/>
                <a:sym typeface="Symbol"/>
              </a:rPr>
              <a:t></a:t>
            </a:r>
            <a:r>
              <a:rPr lang="en-US" altLang="zh-CN" b="1" i="1" dirty="0">
                <a:latin typeface="Times New Roman" panose="02020603050405020304" pitchFamily="18" charset="0"/>
                <a:ea typeface="楷体" panose="02010609060101010101" pitchFamily="49" charset="-122"/>
                <a:cs typeface="Times New Roman" panose="02020603050405020304" pitchFamily="18" charset="0"/>
              </a:rPr>
              <a:t>p</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 </a:t>
            </a:r>
            <a:r>
              <a:rPr lang="en-US" altLang="zh-CN" b="1" dirty="0">
                <a:latin typeface="Times New Roman" panose="02020603050405020304" pitchFamily="18" charset="0"/>
                <a:ea typeface="楷体" panose="02010609060101010101" pitchFamily="49" charset="-122"/>
                <a:cs typeface="Times New Roman" panose="02020603050405020304" pitchFamily="18" charset="0"/>
                <a:sym typeface="Symbol"/>
              </a:rPr>
              <a:t> </a:t>
            </a:r>
            <a:r>
              <a:rPr lang="en-US" altLang="zh-CN" b="1" i="1" dirty="0">
                <a:latin typeface="Times New Roman" panose="02020603050405020304" pitchFamily="18" charset="0"/>
                <a:ea typeface="楷体" panose="02010609060101010101" pitchFamily="49" charset="-122"/>
                <a:cs typeface="Times New Roman" panose="02020603050405020304" pitchFamily="18" charset="0"/>
              </a:rPr>
              <a:t>q</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a:t>
            </a:r>
          </a:p>
          <a:p>
            <a:pPr eaLnBrk="1" hangingPunct="1"/>
            <a:endParaRPr lang="en-US" altLang="zh-CN" b="1" dirty="0">
              <a:latin typeface="Times New Roman" pitchFamily="18" charset="0"/>
            </a:endParaRPr>
          </a:p>
        </p:txBody>
      </p:sp>
    </p:spTree>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2"/>
          <p:cNvSpPr>
            <a:spLocks noGrp="1" noChangeArrowheads="1"/>
          </p:cNvSpPr>
          <p:nvPr>
            <p:ph/>
          </p:nvPr>
        </p:nvSpPr>
        <p:spPr/>
        <p:txBody>
          <a:bodyPr/>
          <a:lstStyle/>
          <a:p>
            <a:pPr eaLnBrk="1" hangingPunct="1">
              <a:lnSpc>
                <a:spcPct val="120000"/>
              </a:lnSpc>
            </a:pPr>
            <a:r>
              <a:rPr lang="en-US" altLang="zh-CN" b="1" dirty="0">
                <a:latin typeface="Times New Roman" pitchFamily="18" charset="0"/>
              </a:rPr>
              <a:t>3.4.1 </a:t>
            </a:r>
            <a:r>
              <a:rPr lang="zh-CN" altLang="en-US" b="1" dirty="0">
                <a:latin typeface="Times New Roman" pitchFamily="18" charset="0"/>
              </a:rPr>
              <a:t>逻辑等值的定义</a:t>
            </a:r>
          </a:p>
          <a:p>
            <a:pPr eaLnBrk="1" hangingPunct="1">
              <a:lnSpc>
                <a:spcPct val="120000"/>
              </a:lnSpc>
            </a:pPr>
            <a:r>
              <a:rPr lang="zh-CN" altLang="en-US" b="1" dirty="0">
                <a:latin typeface="Times New Roman" panose="02020603050405020304" pitchFamily="18" charset="0"/>
                <a:ea typeface="楷体" panose="02010609060101010101" pitchFamily="49" charset="-122"/>
                <a:cs typeface="Times New Roman" panose="02020603050405020304" pitchFamily="18" charset="0"/>
              </a:rPr>
              <a:t>从真值角度看</a:t>
            </a:r>
            <a:r>
              <a:rPr lang="en-US" altLang="zh-CN" b="1" i="1" dirty="0">
                <a:latin typeface="Times New Roman" panose="02020603050405020304" pitchFamily="18" charset="0"/>
                <a:ea typeface="楷体" panose="02010609060101010101" pitchFamily="49" charset="-122"/>
                <a:cs typeface="Times New Roman" panose="02020603050405020304" pitchFamily="18" charset="0"/>
              </a:rPr>
              <a:t>A</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和</a:t>
            </a:r>
            <a:r>
              <a:rPr lang="en-US" altLang="zh-CN" b="1" i="1" dirty="0">
                <a:latin typeface="Times New Roman" panose="02020603050405020304" pitchFamily="18" charset="0"/>
                <a:ea typeface="楷体" panose="02010609060101010101" pitchFamily="49" charset="-122"/>
                <a:cs typeface="Times New Roman" panose="02020603050405020304" pitchFamily="18" charset="0"/>
              </a:rPr>
              <a:t>B</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的真值是相同的</a:t>
            </a:r>
            <a:r>
              <a:rPr lang="en-US" altLang="zh-CN" b="1" dirty="0">
                <a:latin typeface="Times New Roman" panose="02020603050405020304" pitchFamily="18" charset="0"/>
              </a:rPr>
              <a:t>.</a:t>
            </a:r>
          </a:p>
          <a:p>
            <a:pPr eaLnBrk="1" hangingPunct="1">
              <a:lnSpc>
                <a:spcPct val="120000"/>
              </a:lnSpc>
            </a:pPr>
            <a:r>
              <a:rPr lang="en-US" altLang="zh-CN" b="1" dirty="0" err="1">
                <a:latin typeface="Times New Roman" pitchFamily="18" charset="0"/>
              </a:rPr>
              <a:t>Def</a:t>
            </a:r>
            <a:r>
              <a:rPr lang="en-US" altLang="zh-CN" b="1" dirty="0">
                <a:latin typeface="Times New Roman" pitchFamily="18" charset="0"/>
              </a:rPr>
              <a:t>   </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给定两个命题公式</a:t>
            </a:r>
            <a:r>
              <a:rPr lang="en-US" altLang="zh-CN" b="1" i="1" dirty="0">
                <a:latin typeface="Times New Roman" panose="02020603050405020304" pitchFamily="18" charset="0"/>
                <a:ea typeface="楷体" panose="02010609060101010101" pitchFamily="49" charset="-122"/>
                <a:cs typeface="Times New Roman" panose="02020603050405020304" pitchFamily="18" charset="0"/>
              </a:rPr>
              <a:t>A</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和</a:t>
            </a:r>
            <a:r>
              <a:rPr lang="en-US" altLang="zh-CN" b="1" i="1" dirty="0">
                <a:latin typeface="Times New Roman" panose="02020603050405020304" pitchFamily="18" charset="0"/>
                <a:ea typeface="楷体" panose="02010609060101010101" pitchFamily="49" charset="-122"/>
                <a:cs typeface="Times New Roman" panose="02020603050405020304" pitchFamily="18" charset="0"/>
              </a:rPr>
              <a:t>B</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 </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若在任何真值指派下</a:t>
            </a:r>
            <a:r>
              <a:rPr lang="en-US" altLang="zh-CN" b="1" i="1" dirty="0">
                <a:latin typeface="Times New Roman" panose="02020603050405020304" pitchFamily="18" charset="0"/>
                <a:ea typeface="楷体" panose="02010609060101010101" pitchFamily="49" charset="-122"/>
                <a:cs typeface="Times New Roman" panose="02020603050405020304" pitchFamily="18" charset="0"/>
              </a:rPr>
              <a:t>A</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和</a:t>
            </a:r>
            <a:r>
              <a:rPr lang="en-US" altLang="zh-CN" b="1" i="1" dirty="0">
                <a:latin typeface="Times New Roman" panose="02020603050405020304" pitchFamily="18" charset="0"/>
                <a:ea typeface="楷体" panose="02010609060101010101" pitchFamily="49" charset="-122"/>
                <a:cs typeface="Times New Roman" panose="02020603050405020304" pitchFamily="18" charset="0"/>
              </a:rPr>
              <a:t>B</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的真值都相同</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 </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则称命题公式</a:t>
            </a:r>
            <a:r>
              <a:rPr lang="en-US" altLang="zh-CN" b="1" i="1" dirty="0">
                <a:latin typeface="Times New Roman" panose="02020603050405020304" pitchFamily="18" charset="0"/>
                <a:ea typeface="楷体" panose="02010609060101010101" pitchFamily="49" charset="-122"/>
                <a:cs typeface="Times New Roman" panose="02020603050405020304" pitchFamily="18" charset="0"/>
              </a:rPr>
              <a:t>A</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和</a:t>
            </a:r>
            <a:r>
              <a:rPr lang="en-US" altLang="zh-CN" b="1" i="1" dirty="0">
                <a:latin typeface="Times New Roman" panose="02020603050405020304" pitchFamily="18" charset="0"/>
                <a:ea typeface="楷体" panose="02010609060101010101" pitchFamily="49" charset="-122"/>
                <a:cs typeface="Times New Roman" panose="02020603050405020304" pitchFamily="18" charset="0"/>
              </a:rPr>
              <a:t>B</a:t>
            </a:r>
            <a:r>
              <a:rPr lang="zh-CN" altLang="en-US" b="1" dirty="0">
                <a:solidFill>
                  <a:srgbClr val="C00000"/>
                </a:solidFill>
                <a:latin typeface="Times New Roman" panose="02020603050405020304" pitchFamily="18" charset="0"/>
                <a:ea typeface="楷体" panose="02010609060101010101" pitchFamily="49" charset="-122"/>
                <a:cs typeface="Times New Roman" panose="02020603050405020304" pitchFamily="18" charset="0"/>
              </a:rPr>
              <a:t>逻辑等价</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或</a:t>
            </a:r>
            <a:r>
              <a:rPr lang="zh-CN" altLang="en-US" b="1" dirty="0">
                <a:solidFill>
                  <a:srgbClr val="C00000"/>
                </a:solidFill>
                <a:latin typeface="Times New Roman" panose="02020603050405020304" pitchFamily="18" charset="0"/>
                <a:ea typeface="楷体" panose="02010609060101010101" pitchFamily="49" charset="-122"/>
                <a:cs typeface="Times New Roman" panose="02020603050405020304" pitchFamily="18" charset="0"/>
              </a:rPr>
              <a:t>逻辑等值</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(logically equal)</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或简称为</a:t>
            </a:r>
            <a:r>
              <a:rPr lang="zh-CN" altLang="en-US" b="1" dirty="0">
                <a:solidFill>
                  <a:srgbClr val="C00000"/>
                </a:solidFill>
                <a:latin typeface="Times New Roman" panose="02020603050405020304" pitchFamily="18" charset="0"/>
                <a:ea typeface="楷体" panose="02010609060101010101" pitchFamily="49" charset="-122"/>
                <a:cs typeface="Times New Roman" panose="02020603050405020304" pitchFamily="18" charset="0"/>
              </a:rPr>
              <a:t>等值</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或</a:t>
            </a:r>
            <a:r>
              <a:rPr lang="zh-CN" altLang="en-US" b="1" dirty="0">
                <a:solidFill>
                  <a:srgbClr val="C00000"/>
                </a:solidFill>
                <a:latin typeface="Times New Roman" panose="02020603050405020304" pitchFamily="18" charset="0"/>
                <a:ea typeface="楷体" panose="02010609060101010101" pitchFamily="49" charset="-122"/>
                <a:cs typeface="Times New Roman" panose="02020603050405020304" pitchFamily="18" charset="0"/>
              </a:rPr>
              <a:t>相等</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 </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记为 </a:t>
            </a:r>
            <a:r>
              <a:rPr lang="en-US" altLang="zh-CN" b="1" i="1" dirty="0">
                <a:solidFill>
                  <a:srgbClr val="1829A6"/>
                </a:solidFill>
                <a:latin typeface="Times New Roman" panose="02020603050405020304" pitchFamily="18" charset="0"/>
                <a:ea typeface="楷体" panose="02010609060101010101" pitchFamily="49" charset="-122"/>
                <a:cs typeface="Times New Roman" panose="02020603050405020304" pitchFamily="18" charset="0"/>
              </a:rPr>
              <a:t>A</a:t>
            </a:r>
            <a:r>
              <a:rPr lang="en-US" altLang="zh-CN" b="1" dirty="0">
                <a:solidFill>
                  <a:srgbClr val="1829A6"/>
                </a:solidFill>
                <a:latin typeface="Times New Roman" panose="02020603050405020304" pitchFamily="18" charset="0"/>
                <a:ea typeface="楷体" panose="02010609060101010101" pitchFamily="49" charset="-122"/>
                <a:cs typeface="Times New Roman" panose="02020603050405020304" pitchFamily="18" charset="0"/>
              </a:rPr>
              <a:t> = </a:t>
            </a:r>
            <a:r>
              <a:rPr lang="en-US" altLang="zh-CN" b="1" i="1" dirty="0">
                <a:solidFill>
                  <a:srgbClr val="1829A6"/>
                </a:solidFill>
                <a:latin typeface="Times New Roman" panose="02020603050405020304" pitchFamily="18" charset="0"/>
                <a:ea typeface="楷体" panose="02010609060101010101" pitchFamily="49" charset="-122"/>
                <a:cs typeface="Times New Roman" panose="02020603050405020304" pitchFamily="18" charset="0"/>
              </a:rPr>
              <a:t>B</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a:t>
            </a:r>
          </a:p>
          <a:p>
            <a:pPr eaLnBrk="1" hangingPunct="1">
              <a:lnSpc>
                <a:spcPct val="120000"/>
              </a:lnSpc>
            </a:pPr>
            <a:endParaRPr lang="en-US" altLang="zh-CN" b="1" dirty="0">
              <a:latin typeface="Times New Roman" panose="02020603050405020304" pitchFamily="18" charset="0"/>
              <a:ea typeface="楷体" panose="02010609060101010101" pitchFamily="49" charset="-122"/>
              <a:cs typeface="Times New Roman" panose="02020603050405020304" pitchFamily="18" charset="0"/>
            </a:endParaRPr>
          </a:p>
          <a:p>
            <a:pPr eaLnBrk="1" hangingPunct="1">
              <a:lnSpc>
                <a:spcPct val="120000"/>
              </a:lnSpc>
            </a:pPr>
            <a:r>
              <a:rPr lang="en-US" altLang="zh-CN" b="1" dirty="0">
                <a:latin typeface="Times New Roman" panose="02020603050405020304" pitchFamily="18" charset="0"/>
                <a:ea typeface="楷体" panose="02010609060101010101" pitchFamily="49" charset="-122"/>
                <a:cs typeface="Times New Roman" panose="02020603050405020304" pitchFamily="18" charset="0"/>
              </a:rPr>
              <a:t>Remark  “=”</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是命题公式之间的关系符号</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a:t>
            </a:r>
          </a:p>
          <a:p>
            <a:pPr eaLnBrk="1" hangingPunct="1">
              <a:lnSpc>
                <a:spcPct val="120000"/>
              </a:lnSpc>
            </a:pPr>
            <a:r>
              <a:rPr lang="en-US" altLang="zh-CN" b="1" i="1" dirty="0">
                <a:latin typeface="Times New Roman" panose="02020603050405020304" pitchFamily="18" charset="0"/>
                <a:ea typeface="楷体" panose="02010609060101010101" pitchFamily="49" charset="-122"/>
                <a:cs typeface="Times New Roman" panose="02020603050405020304" pitchFamily="18" charset="0"/>
              </a:rPr>
              <a:t>A</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 </a:t>
            </a:r>
            <a:r>
              <a:rPr lang="en-US" altLang="zh-CN" b="1" dirty="0">
                <a:latin typeface="Times New Roman" panose="02020603050405020304" pitchFamily="18" charset="0"/>
                <a:ea typeface="楷体" panose="02010609060101010101" pitchFamily="49" charset="-122"/>
                <a:cs typeface="Times New Roman" panose="02020603050405020304" pitchFamily="18" charset="0"/>
                <a:sym typeface="Symbol" pitchFamily="18" charset="2"/>
              </a:rPr>
              <a:t></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 </a:t>
            </a:r>
            <a:r>
              <a:rPr lang="en-US" altLang="zh-CN" b="1" i="1" dirty="0">
                <a:latin typeface="Times New Roman" panose="02020603050405020304" pitchFamily="18" charset="0"/>
                <a:ea typeface="楷体" panose="02010609060101010101" pitchFamily="49" charset="-122"/>
                <a:cs typeface="Times New Roman" panose="02020603050405020304" pitchFamily="18" charset="0"/>
              </a:rPr>
              <a:t>B</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a:t>
            </a:r>
          </a:p>
        </p:txBody>
      </p:sp>
    </p:spTree>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p:cNvSpPr>
            <a:spLocks noGrp="1" noChangeArrowheads="1"/>
          </p:cNvSpPr>
          <p:nvPr>
            <p:ph/>
          </p:nvPr>
        </p:nvSpPr>
        <p:spPr/>
        <p:txBody>
          <a:bodyPr/>
          <a:lstStyle/>
          <a:p>
            <a:pPr eaLnBrk="1" hangingPunct="1"/>
            <a:r>
              <a:rPr lang="en-US" altLang="zh-CN" b="1" dirty="0">
                <a:latin typeface="Times New Roman" panose="02020603050405020304" pitchFamily="18" charset="0"/>
                <a:ea typeface="楷体" panose="02010609060101010101" pitchFamily="49" charset="-122"/>
                <a:cs typeface="Times New Roman" panose="02020603050405020304" pitchFamily="18" charset="0"/>
              </a:rPr>
              <a:t>Theorem 3-2  </a:t>
            </a:r>
            <a:r>
              <a:rPr lang="en-US" altLang="zh-CN" b="1" i="1" dirty="0">
                <a:latin typeface="Times New Roman" panose="02020603050405020304" pitchFamily="18" charset="0"/>
                <a:ea typeface="楷体" panose="02010609060101010101" pitchFamily="49" charset="-122"/>
                <a:cs typeface="Times New Roman" panose="02020603050405020304" pitchFamily="18" charset="0"/>
              </a:rPr>
              <a:t>A</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 = </a:t>
            </a:r>
            <a:r>
              <a:rPr lang="en-US" altLang="zh-CN" b="1" i="1" dirty="0">
                <a:latin typeface="Times New Roman" panose="02020603050405020304" pitchFamily="18" charset="0"/>
                <a:ea typeface="楷体" panose="02010609060101010101" pitchFamily="49" charset="-122"/>
                <a:cs typeface="Times New Roman" panose="02020603050405020304" pitchFamily="18" charset="0"/>
              </a:rPr>
              <a:t>B</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的充要条件是</a:t>
            </a:r>
            <a:r>
              <a:rPr lang="en-US" altLang="zh-CN" b="1" i="1" dirty="0">
                <a:latin typeface="Times New Roman" panose="02020603050405020304" pitchFamily="18" charset="0"/>
                <a:ea typeface="楷体" panose="02010609060101010101" pitchFamily="49" charset="-122"/>
                <a:cs typeface="Times New Roman" panose="02020603050405020304" pitchFamily="18" charset="0"/>
              </a:rPr>
              <a:t>A</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 </a:t>
            </a:r>
            <a:r>
              <a:rPr lang="en-US" altLang="zh-CN" b="1" dirty="0">
                <a:latin typeface="Times New Roman" panose="02020603050405020304" pitchFamily="18" charset="0"/>
                <a:ea typeface="楷体" panose="02010609060101010101" pitchFamily="49" charset="-122"/>
                <a:cs typeface="Times New Roman" panose="02020603050405020304" pitchFamily="18" charset="0"/>
                <a:sym typeface="Symbol" pitchFamily="18" charset="2"/>
              </a:rPr>
              <a:t></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 </a:t>
            </a:r>
            <a:r>
              <a:rPr lang="en-US" altLang="zh-CN" b="1" i="1" dirty="0">
                <a:latin typeface="Times New Roman" panose="02020603050405020304" pitchFamily="18" charset="0"/>
                <a:ea typeface="楷体" panose="02010609060101010101" pitchFamily="49" charset="-122"/>
                <a:cs typeface="Times New Roman" panose="02020603050405020304" pitchFamily="18" charset="0"/>
              </a:rPr>
              <a:t>B</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永真</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a:t>
            </a:r>
          </a:p>
          <a:p>
            <a:pPr eaLnBrk="1" hangingPunct="1"/>
            <a:r>
              <a:rPr lang="en-US" altLang="zh-CN" b="1" dirty="0">
                <a:latin typeface="Times New Roman" panose="02020603050405020304" pitchFamily="18" charset="0"/>
                <a:ea typeface="楷体" panose="02010609060101010101" pitchFamily="49" charset="-122"/>
                <a:cs typeface="Times New Roman" panose="02020603050405020304" pitchFamily="18" charset="0"/>
              </a:rPr>
              <a:t>Proof  Clearly.</a:t>
            </a:r>
          </a:p>
          <a:p>
            <a:pPr eaLnBrk="1" hangingPunct="1"/>
            <a:endParaRPr lang="en-US" altLang="zh-CN" b="1" dirty="0">
              <a:latin typeface="Times New Roman" panose="02020603050405020304" pitchFamily="18" charset="0"/>
              <a:ea typeface="楷体" panose="02010609060101010101" pitchFamily="49" charset="-122"/>
              <a:cs typeface="Times New Roman" panose="02020603050405020304" pitchFamily="18" charset="0"/>
            </a:endParaRPr>
          </a:p>
          <a:p>
            <a:pPr eaLnBrk="1" hangingPunct="1"/>
            <a:r>
              <a:rPr lang="zh-CN" altLang="en-US" b="1" dirty="0">
                <a:latin typeface="Times New Roman" panose="02020603050405020304" pitchFamily="18" charset="0"/>
                <a:ea typeface="楷体" panose="02010609060101010101" pitchFamily="49" charset="-122"/>
                <a:cs typeface="Times New Roman" panose="02020603050405020304" pitchFamily="18" charset="0"/>
              </a:rPr>
              <a:t>下面的例子说明如何</a:t>
            </a:r>
            <a:r>
              <a:rPr lang="zh-CN" altLang="en-US" b="1" dirty="0">
                <a:solidFill>
                  <a:schemeClr val="hlink"/>
                </a:solidFill>
                <a:latin typeface="Times New Roman" panose="02020603050405020304" pitchFamily="18" charset="0"/>
                <a:ea typeface="楷体" panose="02010609060101010101" pitchFamily="49" charset="-122"/>
                <a:cs typeface="Times New Roman" panose="02020603050405020304" pitchFamily="18" charset="0"/>
              </a:rPr>
              <a:t>利用真值表</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第一种方法</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证明两个命题公式等值</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a:t>
            </a:r>
          </a:p>
          <a:p>
            <a:pPr eaLnBrk="1" hangingPunct="1"/>
            <a:endParaRPr lang="en-US" altLang="zh-CN" b="1"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p:cNvSpPr>
            <a:spLocks noGrp="1" noChangeArrowheads="1"/>
          </p:cNvSpPr>
          <p:nvPr>
            <p:ph/>
          </p:nvPr>
        </p:nvSpPr>
        <p:spPr/>
        <p:txBody>
          <a:bodyPr/>
          <a:lstStyle/>
          <a:p>
            <a:pPr eaLnBrk="1" hangingPunct="1">
              <a:lnSpc>
                <a:spcPct val="120000"/>
              </a:lnSpc>
            </a:pPr>
            <a:r>
              <a:rPr lang="zh-CN" altLang="en-US" b="1" dirty="0">
                <a:latin typeface="Times New Roman" pitchFamily="18" charset="0"/>
                <a:ea typeface="华文新魏" pitchFamily="2" charset="-122"/>
              </a:rPr>
              <a:t>例</a:t>
            </a:r>
            <a:r>
              <a:rPr lang="en-US" altLang="zh-CN" b="1" dirty="0">
                <a:latin typeface="Times New Roman" pitchFamily="18" charset="0"/>
                <a:ea typeface="华文新魏" pitchFamily="2" charset="-122"/>
              </a:rPr>
              <a:t>3-11</a:t>
            </a:r>
            <a:r>
              <a:rPr lang="en-US" altLang="zh-CN" b="1" dirty="0">
                <a:latin typeface="Times New Roman" pitchFamily="18" charset="0"/>
              </a:rPr>
              <a:t> </a:t>
            </a:r>
            <a:r>
              <a:rPr lang="zh-CN" altLang="en-US" b="1" dirty="0">
                <a:latin typeface="楷体" panose="02010609060101010101" pitchFamily="49" charset="-122"/>
                <a:ea typeface="楷体" panose="02010609060101010101" pitchFamily="49" charset="-122"/>
              </a:rPr>
              <a:t>证明</a:t>
            </a:r>
            <a:r>
              <a:rPr lang="en-US" altLang="zh-CN" b="1" dirty="0">
                <a:latin typeface="Times New Roman" pitchFamily="18" charset="0"/>
              </a:rPr>
              <a:t>:</a:t>
            </a:r>
          </a:p>
          <a:p>
            <a:pPr eaLnBrk="1" hangingPunct="1">
              <a:lnSpc>
                <a:spcPct val="120000"/>
              </a:lnSpc>
            </a:pPr>
            <a:endParaRPr lang="en-US" altLang="zh-CN" b="1" dirty="0">
              <a:latin typeface="Times New Roman" pitchFamily="18" charset="0"/>
            </a:endParaRPr>
          </a:p>
        </p:txBody>
      </p:sp>
      <p:graphicFrame>
        <p:nvGraphicFramePr>
          <p:cNvPr id="72707" name="Object 3"/>
          <p:cNvGraphicFramePr>
            <a:graphicFrameLocks noChangeAspect="1"/>
          </p:cNvGraphicFramePr>
          <p:nvPr/>
        </p:nvGraphicFramePr>
        <p:xfrm>
          <a:off x="3087688" y="404813"/>
          <a:ext cx="2667000" cy="423862"/>
        </p:xfrm>
        <a:graphic>
          <a:graphicData uri="http://schemas.openxmlformats.org/presentationml/2006/ole">
            <mc:AlternateContent xmlns:mc="http://schemas.openxmlformats.org/markup-compatibility/2006">
              <mc:Choice xmlns:v="urn:schemas-microsoft-com:vml" Requires="v">
                <p:oleObj name="公式" r:id="rId2" imgW="1038121" imgH="104760" progId="Equation.3">
                  <p:embed/>
                </p:oleObj>
              </mc:Choice>
              <mc:Fallback>
                <p:oleObj name="公式" r:id="rId2" imgW="1038121" imgH="104760" progId="Equation.3">
                  <p:embed/>
                  <p:pic>
                    <p:nvPicPr>
                      <p:cNvPr id="0" name="Object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87688" y="404813"/>
                        <a:ext cx="2667000" cy="4238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1924" name="Group 4"/>
          <p:cNvGraphicFramePr>
            <a:graphicFrameLocks noGrp="1"/>
          </p:cNvGraphicFramePr>
          <p:nvPr>
            <p:extLst>
              <p:ext uri="{D42A27DB-BD31-4B8C-83A1-F6EECF244321}">
                <p14:modId xmlns:p14="http://schemas.microsoft.com/office/powerpoint/2010/main" val="56154155"/>
              </p:ext>
            </p:extLst>
          </p:nvPr>
        </p:nvGraphicFramePr>
        <p:xfrm>
          <a:off x="827088" y="1341438"/>
          <a:ext cx="7273925" cy="3327402"/>
        </p:xfrm>
        <a:graphic>
          <a:graphicData uri="http://schemas.openxmlformats.org/drawingml/2006/table">
            <a:tbl>
              <a:tblPr/>
              <a:tblGrid>
                <a:gridCol w="1201737">
                  <a:extLst>
                    <a:ext uri="{9D8B030D-6E8A-4147-A177-3AD203B41FA5}">
                      <a16:colId xmlns:a16="http://schemas.microsoft.com/office/drawing/2014/main" val="20000"/>
                    </a:ext>
                  </a:extLst>
                </a:gridCol>
                <a:gridCol w="1057275">
                  <a:extLst>
                    <a:ext uri="{9D8B030D-6E8A-4147-A177-3AD203B41FA5}">
                      <a16:colId xmlns:a16="http://schemas.microsoft.com/office/drawing/2014/main" val="20001"/>
                    </a:ext>
                  </a:extLst>
                </a:gridCol>
                <a:gridCol w="1343025">
                  <a:extLst>
                    <a:ext uri="{9D8B030D-6E8A-4147-A177-3AD203B41FA5}">
                      <a16:colId xmlns:a16="http://schemas.microsoft.com/office/drawing/2014/main" val="20002"/>
                    </a:ext>
                  </a:extLst>
                </a:gridCol>
                <a:gridCol w="1185863">
                  <a:extLst>
                    <a:ext uri="{9D8B030D-6E8A-4147-A177-3AD203B41FA5}">
                      <a16:colId xmlns:a16="http://schemas.microsoft.com/office/drawing/2014/main" val="20003"/>
                    </a:ext>
                  </a:extLst>
                </a:gridCol>
                <a:gridCol w="2486025">
                  <a:extLst>
                    <a:ext uri="{9D8B030D-6E8A-4147-A177-3AD203B41FA5}">
                      <a16:colId xmlns:a16="http://schemas.microsoft.com/office/drawing/2014/main" val="20004"/>
                    </a:ext>
                  </a:extLst>
                </a:gridCol>
              </a:tblGrid>
              <a:tr h="665163">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1" i="0" u="none" strike="noStrike" cap="none" normalizeH="0" baseline="0">
                          <a:ln>
                            <a:noFill/>
                          </a:ln>
                          <a:solidFill>
                            <a:schemeClr val="tx1"/>
                          </a:solidFill>
                          <a:effectLst/>
                          <a:latin typeface="Times New Roman" pitchFamily="18" charset="0"/>
                          <a:ea typeface="宋体" pitchFamily="2" charset="-122"/>
                        </a:rPr>
                        <a:t> </a:t>
                      </a:r>
                      <a:r>
                        <a:rPr kumimoji="0" lang="en-US" altLang="zh-CN" sz="2800" b="1" i="1" u="none" strike="noStrike" cap="none" normalizeH="0" baseline="0">
                          <a:ln>
                            <a:noFill/>
                          </a:ln>
                          <a:solidFill>
                            <a:schemeClr val="tx1"/>
                          </a:solidFill>
                          <a:effectLst/>
                          <a:latin typeface="Times New Roman" pitchFamily="18" charset="0"/>
                          <a:ea typeface="宋体" pitchFamily="2" charset="-122"/>
                        </a:rPr>
                        <a:t>p</a:t>
                      </a:r>
                      <a:r>
                        <a:rPr kumimoji="0" lang="en-US" altLang="zh-CN" sz="2800" b="1" i="0" u="none" strike="noStrike" cap="none" normalizeH="0" baseline="0">
                          <a:ln>
                            <a:noFill/>
                          </a:ln>
                          <a:solidFill>
                            <a:schemeClr val="tx1"/>
                          </a:solidFill>
                          <a:effectLst/>
                          <a:latin typeface="Times New Roman" pitchFamily="18" charset="0"/>
                          <a:ea typeface="宋体" pitchFamily="2" charset="-122"/>
                        </a:rPr>
                        <a:t>  </a:t>
                      </a:r>
                      <a:r>
                        <a:rPr kumimoji="0" lang="en-US" altLang="zh-CN" sz="2800" b="1" i="1" u="none" strike="noStrike" cap="none" normalizeH="0" baseline="0">
                          <a:ln>
                            <a:noFill/>
                          </a:ln>
                          <a:solidFill>
                            <a:schemeClr val="tx1"/>
                          </a:solidFill>
                          <a:effectLst/>
                          <a:latin typeface="Times New Roman" pitchFamily="18" charset="0"/>
                          <a:ea typeface="宋体" pitchFamily="2" charset="-122"/>
                        </a:rPr>
                        <a:t>q</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1" i="0" u="none" strike="noStrike" cap="none" normalizeH="0" baseline="0">
                          <a:ln>
                            <a:noFill/>
                          </a:ln>
                          <a:solidFill>
                            <a:schemeClr val="tx1"/>
                          </a:solidFill>
                          <a:effectLst/>
                          <a:latin typeface="Times New Roman" pitchFamily="18" charset="0"/>
                          <a:ea typeface="宋体" pitchFamily="2" charset="-122"/>
                        </a:rPr>
                        <a:t> </a:t>
                      </a:r>
                      <a:r>
                        <a:rPr kumimoji="0" lang="en-US" altLang="zh-CN" sz="2800" b="1" i="1" u="none" strike="noStrike" cap="none" normalizeH="0" baseline="0">
                          <a:ln>
                            <a:noFill/>
                          </a:ln>
                          <a:solidFill>
                            <a:schemeClr val="tx1"/>
                          </a:solidFill>
                          <a:effectLst/>
                          <a:latin typeface="Times New Roman" pitchFamily="18" charset="0"/>
                          <a:ea typeface="宋体" pitchFamily="2" charset="-122"/>
                        </a:rPr>
                        <a:t>p</a:t>
                      </a:r>
                      <a:r>
                        <a:rPr kumimoji="0" lang="en-US" altLang="zh-CN" sz="2800" b="1" i="0" u="none" strike="noStrike" cap="none" normalizeH="0" baseline="0">
                          <a:ln>
                            <a:noFill/>
                          </a:ln>
                          <a:solidFill>
                            <a:schemeClr val="tx1"/>
                          </a:solidFill>
                          <a:effectLst/>
                          <a:latin typeface="Times New Roman" pitchFamily="18" charset="0"/>
                          <a:ea typeface="宋体" pitchFamily="2" charset="-122"/>
                          <a:sym typeface="Symbol" pitchFamily="18" charset="2"/>
                        </a:rPr>
                        <a:t></a:t>
                      </a:r>
                      <a:r>
                        <a:rPr kumimoji="0" lang="en-US" altLang="zh-CN" sz="2800" b="1" i="1" u="none" strike="noStrike" cap="none" normalizeH="0" baseline="0">
                          <a:ln>
                            <a:noFill/>
                          </a:ln>
                          <a:solidFill>
                            <a:schemeClr val="tx1"/>
                          </a:solidFill>
                          <a:effectLst/>
                          <a:latin typeface="Times New Roman" pitchFamily="18" charset="0"/>
                          <a:ea typeface="宋体" pitchFamily="2" charset="-122"/>
                          <a:sym typeface="Symbol" pitchFamily="18" charset="2"/>
                        </a:rPr>
                        <a:t>q</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1" i="0" u="none" strike="noStrike" cap="none" normalizeH="0" baseline="0">
                          <a:ln>
                            <a:noFill/>
                          </a:ln>
                          <a:solidFill>
                            <a:schemeClr val="tx1"/>
                          </a:solidFill>
                          <a:effectLst/>
                          <a:latin typeface="Times New Roman" pitchFamily="18" charset="0"/>
                          <a:ea typeface="宋体" pitchFamily="2" charset="-122"/>
                        </a:rPr>
                        <a:t> </a:t>
                      </a:r>
                      <a:endParaRPr kumimoji="0" lang="en-US" altLang="zh-CN" sz="2800" b="1" i="1" u="none" strike="noStrike" cap="none" normalizeH="0" baseline="0">
                        <a:ln>
                          <a:noFill/>
                        </a:ln>
                        <a:solidFill>
                          <a:schemeClr val="tx1"/>
                        </a:solidFill>
                        <a:effectLst/>
                        <a:latin typeface="Times New Roman" pitchFamily="18" charset="0"/>
                        <a:ea typeface="宋体" pitchFamily="2" charset="-122"/>
                        <a:sym typeface="Symbol" pitchFamily="18" charset="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1" i="0" u="none" strike="noStrike" cap="none" normalizeH="0" baseline="0" dirty="0">
                          <a:ln>
                            <a:noFill/>
                          </a:ln>
                          <a:solidFill>
                            <a:schemeClr val="tx1"/>
                          </a:solidFill>
                          <a:effectLst/>
                          <a:latin typeface="Times New Roman" pitchFamily="18" charset="0"/>
                          <a:ea typeface="宋体" pitchFamily="2" charset="-122"/>
                          <a:sym typeface="Symbol" pitchFamily="18" charset="2"/>
                        </a:rPr>
                        <a:t></a:t>
                      </a:r>
                      <a:r>
                        <a:rPr kumimoji="0" lang="en-US" altLang="zh-CN" sz="2800" b="1" i="1" u="none" strike="noStrike" cap="none" normalizeH="0" baseline="0" dirty="0">
                          <a:ln>
                            <a:noFill/>
                          </a:ln>
                          <a:solidFill>
                            <a:schemeClr val="tx1"/>
                          </a:solidFill>
                          <a:effectLst/>
                          <a:latin typeface="Times New Roman" pitchFamily="18" charset="0"/>
                          <a:ea typeface="宋体" pitchFamily="2" charset="-122"/>
                        </a:rPr>
                        <a:t>p</a:t>
                      </a:r>
                      <a:endParaRPr kumimoji="0" lang="en-US" altLang="zh-CN" sz="2800" b="1" i="1" u="none" strike="noStrike" cap="none" normalizeH="0" baseline="0" dirty="0">
                        <a:ln>
                          <a:noFill/>
                        </a:ln>
                        <a:solidFill>
                          <a:schemeClr val="tx1"/>
                        </a:solidFill>
                        <a:effectLst/>
                        <a:latin typeface="Times New Roman" pitchFamily="18" charset="0"/>
                        <a:ea typeface="宋体" pitchFamily="2" charset="-122"/>
                        <a:sym typeface="Symbol" pitchFamily="18" charset="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1" i="0" u="none" strike="noStrike" cap="none" normalizeH="0" baseline="0" dirty="0">
                          <a:ln>
                            <a:noFill/>
                          </a:ln>
                          <a:solidFill>
                            <a:schemeClr val="tx1"/>
                          </a:solidFill>
                          <a:effectLst/>
                          <a:latin typeface="Times New Roman" pitchFamily="18" charset="0"/>
                          <a:ea typeface="宋体" pitchFamily="2" charset="-122"/>
                          <a:sym typeface="Symbol" pitchFamily="18" charset="2"/>
                        </a:rPr>
                        <a:t></a:t>
                      </a:r>
                      <a:r>
                        <a:rPr kumimoji="0" lang="en-US" altLang="zh-CN" sz="2800" b="1" i="1" u="none" strike="noStrike" cap="none" normalizeH="0" baseline="0" dirty="0" err="1">
                          <a:ln>
                            <a:noFill/>
                          </a:ln>
                          <a:solidFill>
                            <a:schemeClr val="tx1"/>
                          </a:solidFill>
                          <a:effectLst/>
                          <a:latin typeface="Times New Roman" pitchFamily="18" charset="0"/>
                          <a:ea typeface="宋体" pitchFamily="2" charset="-122"/>
                        </a:rPr>
                        <a:t>p</a:t>
                      </a:r>
                      <a:r>
                        <a:rPr kumimoji="0" lang="en-US" altLang="zh-CN" sz="2800" b="1" i="0" u="none" strike="noStrike" cap="none" normalizeH="0" baseline="0" dirty="0" err="1">
                          <a:ln>
                            <a:noFill/>
                          </a:ln>
                          <a:solidFill>
                            <a:schemeClr val="tx1"/>
                          </a:solidFill>
                          <a:effectLst/>
                          <a:latin typeface="Times New Roman" pitchFamily="18" charset="0"/>
                          <a:ea typeface="宋体" pitchFamily="2" charset="-122"/>
                          <a:sym typeface="Symbol" pitchFamily="18" charset="2"/>
                        </a:rPr>
                        <a:t></a:t>
                      </a:r>
                      <a:r>
                        <a:rPr kumimoji="0" lang="en-US" altLang="zh-CN" sz="2800" b="1" i="1" u="none" strike="noStrike" cap="none" normalizeH="0" baseline="0" dirty="0" err="1">
                          <a:ln>
                            <a:noFill/>
                          </a:ln>
                          <a:solidFill>
                            <a:schemeClr val="tx1"/>
                          </a:solidFill>
                          <a:effectLst/>
                          <a:latin typeface="Times New Roman" pitchFamily="18" charset="0"/>
                          <a:ea typeface="宋体" pitchFamily="2" charset="-122"/>
                          <a:sym typeface="Symbol" pitchFamily="18" charset="2"/>
                        </a:rPr>
                        <a:t>q</a:t>
                      </a:r>
                      <a:endParaRPr kumimoji="0" lang="en-US" altLang="zh-CN" sz="2800" b="1" i="0" u="none" strike="noStrike" cap="none" normalizeH="0" baseline="0" dirty="0">
                        <a:ln>
                          <a:noFill/>
                        </a:ln>
                        <a:solidFill>
                          <a:schemeClr val="tx1"/>
                        </a:solidFill>
                        <a:effectLst/>
                        <a:latin typeface="Times New Roman" pitchFamily="18" charset="0"/>
                        <a:ea typeface="宋体" pitchFamily="2" charset="-122"/>
                        <a:sym typeface="Symbol" pitchFamily="18" charset="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665163">
                <a:tc>
                  <a:txBody>
                    <a:bodyPr/>
                    <a:lstStyle/>
                    <a:p>
                      <a:pPr marL="533400" marR="0" lvl="0" indent="-533400" algn="ctr" defTabSz="914400" rtl="0" eaLnBrk="1" fontAlgn="base" latinLnBrk="0" hangingPunct="1">
                        <a:lnSpc>
                          <a:spcPct val="100000"/>
                        </a:lnSpc>
                        <a:spcBef>
                          <a:spcPct val="20000"/>
                        </a:spcBef>
                        <a:spcAft>
                          <a:spcPct val="0"/>
                        </a:spcAft>
                        <a:buClrTx/>
                        <a:buSzTx/>
                        <a:buFontTx/>
                        <a:buNone/>
                        <a:tabLst/>
                      </a:pPr>
                      <a:r>
                        <a:rPr kumimoji="0" lang="en-US" altLang="zh-CN" sz="2800" b="1" i="0" u="none" strike="noStrike" cap="none" normalizeH="0" baseline="0">
                          <a:ln>
                            <a:noFill/>
                          </a:ln>
                          <a:solidFill>
                            <a:schemeClr val="tx1"/>
                          </a:solidFill>
                          <a:effectLst/>
                          <a:latin typeface="Times New Roman" pitchFamily="18" charset="0"/>
                          <a:ea typeface="宋体" pitchFamily="2" charset="-122"/>
                        </a:rPr>
                        <a:t>1  1</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1" i="0" u="none" strike="noStrike" cap="none" normalizeH="0" baseline="0">
                          <a:ln>
                            <a:noFill/>
                          </a:ln>
                          <a:solidFill>
                            <a:schemeClr val="tx1"/>
                          </a:solidFill>
                          <a:effectLst/>
                          <a:latin typeface="Times New Roman" pitchFamily="18" charset="0"/>
                          <a:ea typeface="宋体" pitchFamily="2"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zh-CN" altLang="zh-CN" sz="2800" b="1"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1" i="0" u="none" strike="noStrike" cap="none" normalizeH="0" baseline="0">
                          <a:ln>
                            <a:noFill/>
                          </a:ln>
                          <a:solidFill>
                            <a:schemeClr val="tx1"/>
                          </a:solidFill>
                          <a:effectLst/>
                          <a:latin typeface="Times New Roman" pitchFamily="18" charset="0"/>
                          <a:ea typeface="宋体" pitchFamily="2" charset="-122"/>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1" i="0" u="none" strike="noStrike" cap="none" normalizeH="0" baseline="0">
                          <a:ln>
                            <a:noFill/>
                          </a:ln>
                          <a:solidFill>
                            <a:schemeClr val="tx1"/>
                          </a:solidFill>
                          <a:effectLst/>
                          <a:latin typeface="Times New Roman" pitchFamily="18" charset="0"/>
                          <a:ea typeface="宋体" pitchFamily="2" charset="-122"/>
                        </a:rPr>
                        <a:t>1</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666750">
                <a:tc>
                  <a:txBody>
                    <a:bodyPr/>
                    <a:lstStyle/>
                    <a:p>
                      <a:pPr marL="533400" marR="0" lvl="0" indent="-533400" algn="ctr" defTabSz="914400" rtl="0" eaLnBrk="1" fontAlgn="base" latinLnBrk="0" hangingPunct="1">
                        <a:lnSpc>
                          <a:spcPct val="100000"/>
                        </a:lnSpc>
                        <a:spcBef>
                          <a:spcPct val="20000"/>
                        </a:spcBef>
                        <a:spcAft>
                          <a:spcPct val="0"/>
                        </a:spcAft>
                        <a:buClrTx/>
                        <a:buSzTx/>
                        <a:buFontTx/>
                        <a:buNone/>
                        <a:tabLst/>
                      </a:pPr>
                      <a:r>
                        <a:rPr kumimoji="0" lang="en-US" altLang="zh-CN" sz="2800" b="1" i="0" u="none" strike="noStrike" cap="none" normalizeH="0" baseline="0">
                          <a:ln>
                            <a:noFill/>
                          </a:ln>
                          <a:solidFill>
                            <a:schemeClr val="tx1"/>
                          </a:solidFill>
                          <a:effectLst/>
                          <a:latin typeface="Times New Roman" pitchFamily="18" charset="0"/>
                          <a:ea typeface="宋体" pitchFamily="2" charset="-122"/>
                        </a:rPr>
                        <a:t>1  0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1" i="0" u="none" strike="noStrike" cap="none" normalizeH="0" baseline="0">
                          <a:ln>
                            <a:noFill/>
                          </a:ln>
                          <a:solidFill>
                            <a:schemeClr val="tx1"/>
                          </a:solidFill>
                          <a:effectLst/>
                          <a:latin typeface="Times New Roman" pitchFamily="18" charset="0"/>
                          <a:ea typeface="宋体" pitchFamily="2" charset="-122"/>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zh-CN" altLang="zh-CN" sz="2800" b="1"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1" i="0" u="none" strike="noStrike" cap="none" normalizeH="0" baseline="0">
                          <a:ln>
                            <a:noFill/>
                          </a:ln>
                          <a:solidFill>
                            <a:schemeClr val="tx1"/>
                          </a:solidFill>
                          <a:effectLst/>
                          <a:latin typeface="Times New Roman" pitchFamily="18" charset="0"/>
                          <a:ea typeface="宋体" pitchFamily="2" charset="-122"/>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1" i="0" u="none" strike="noStrike" cap="none" normalizeH="0" baseline="0">
                          <a:ln>
                            <a:noFill/>
                          </a:ln>
                          <a:solidFill>
                            <a:schemeClr val="tx1"/>
                          </a:solidFill>
                          <a:effectLst/>
                          <a:latin typeface="Times New Roman" pitchFamily="18" charset="0"/>
                          <a:ea typeface="宋体" pitchFamily="2" charset="-122"/>
                        </a:rPr>
                        <a:t>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665163">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1" i="0" u="none" strike="noStrike" cap="none" normalizeH="0" baseline="0">
                          <a:ln>
                            <a:noFill/>
                          </a:ln>
                          <a:solidFill>
                            <a:schemeClr val="tx1"/>
                          </a:solidFill>
                          <a:effectLst/>
                          <a:latin typeface="Times New Roman" pitchFamily="18" charset="0"/>
                          <a:ea typeface="宋体" pitchFamily="2" charset="-122"/>
                        </a:rPr>
                        <a:t>0  1</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1" i="0" u="none" strike="noStrike" cap="none" normalizeH="0" baseline="0">
                          <a:ln>
                            <a:noFill/>
                          </a:ln>
                          <a:solidFill>
                            <a:schemeClr val="tx1"/>
                          </a:solidFill>
                          <a:effectLst/>
                          <a:latin typeface="Times New Roman" pitchFamily="18" charset="0"/>
                          <a:ea typeface="宋体" pitchFamily="2"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zh-CN" altLang="zh-CN" sz="2800" b="1"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1" i="0" u="none" strike="noStrike" cap="none" normalizeH="0" baseline="0">
                          <a:ln>
                            <a:noFill/>
                          </a:ln>
                          <a:solidFill>
                            <a:schemeClr val="tx1"/>
                          </a:solidFill>
                          <a:effectLst/>
                          <a:latin typeface="Times New Roman" pitchFamily="18" charset="0"/>
                          <a:ea typeface="宋体" pitchFamily="2"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1" i="0" u="none" strike="noStrike" cap="none" normalizeH="0" baseline="0">
                          <a:ln>
                            <a:noFill/>
                          </a:ln>
                          <a:solidFill>
                            <a:schemeClr val="tx1"/>
                          </a:solidFill>
                          <a:effectLst/>
                          <a:latin typeface="Times New Roman" pitchFamily="18" charset="0"/>
                          <a:ea typeface="宋体" pitchFamily="2" charset="-122"/>
                        </a:rPr>
                        <a:t>1</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665163">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1" i="0" u="none" strike="noStrike" cap="none" normalizeH="0" baseline="0">
                          <a:ln>
                            <a:noFill/>
                          </a:ln>
                          <a:solidFill>
                            <a:schemeClr val="tx1"/>
                          </a:solidFill>
                          <a:effectLst/>
                          <a:latin typeface="Times New Roman" pitchFamily="18" charset="0"/>
                          <a:ea typeface="宋体" pitchFamily="2" charset="-122"/>
                        </a:rPr>
                        <a:t>0  0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1" i="0" u="none" strike="noStrike" cap="none" normalizeH="0" baseline="0">
                          <a:ln>
                            <a:noFill/>
                          </a:ln>
                          <a:solidFill>
                            <a:schemeClr val="tx1"/>
                          </a:solidFill>
                          <a:effectLst/>
                          <a:latin typeface="Times New Roman" pitchFamily="18" charset="0"/>
                          <a:ea typeface="宋体" pitchFamily="2"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zh-CN" altLang="zh-CN" sz="2800" b="1"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1" i="0" u="none" strike="noStrike" cap="none" normalizeH="0" baseline="0">
                          <a:ln>
                            <a:noFill/>
                          </a:ln>
                          <a:solidFill>
                            <a:schemeClr val="tx1"/>
                          </a:solidFill>
                          <a:effectLst/>
                          <a:latin typeface="Times New Roman" pitchFamily="18" charset="0"/>
                          <a:ea typeface="宋体" pitchFamily="2"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1" i="0" u="none" strike="noStrike" cap="none" normalizeH="0" baseline="0" dirty="0">
                          <a:ln>
                            <a:noFill/>
                          </a:ln>
                          <a:solidFill>
                            <a:schemeClr val="tx1"/>
                          </a:solidFill>
                          <a:effectLst/>
                          <a:latin typeface="Times New Roman" pitchFamily="18" charset="0"/>
                          <a:ea typeface="宋体" pitchFamily="2" charset="-122"/>
                        </a:rPr>
                        <a:t>1</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sp>
        <p:nvSpPr>
          <p:cNvPr id="72746" name="Line 42"/>
          <p:cNvSpPr>
            <a:spLocks noChangeShapeType="1"/>
          </p:cNvSpPr>
          <p:nvPr/>
        </p:nvSpPr>
        <p:spPr bwMode="auto">
          <a:xfrm>
            <a:off x="2627784" y="828675"/>
            <a:ext cx="0" cy="503237"/>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2747" name="Line 43"/>
          <p:cNvSpPr>
            <a:spLocks noChangeShapeType="1"/>
          </p:cNvSpPr>
          <p:nvPr/>
        </p:nvSpPr>
        <p:spPr bwMode="auto">
          <a:xfrm flipH="1">
            <a:off x="7019923" y="836712"/>
            <a:ext cx="348" cy="488946"/>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aphicFrame>
        <p:nvGraphicFramePr>
          <p:cNvPr id="72748" name="Object 44"/>
          <p:cNvGraphicFramePr>
            <a:graphicFrameLocks noChangeAspect="1"/>
          </p:cNvGraphicFramePr>
          <p:nvPr>
            <p:extLst>
              <p:ext uri="{D42A27DB-BD31-4B8C-83A1-F6EECF244321}">
                <p14:modId xmlns:p14="http://schemas.microsoft.com/office/powerpoint/2010/main" val="73415100"/>
              </p:ext>
            </p:extLst>
          </p:nvPr>
        </p:nvGraphicFramePr>
        <p:xfrm>
          <a:off x="2915816" y="4724400"/>
          <a:ext cx="4029075" cy="514350"/>
        </p:xfrm>
        <a:graphic>
          <a:graphicData uri="http://schemas.openxmlformats.org/presentationml/2006/ole">
            <mc:AlternateContent xmlns:mc="http://schemas.openxmlformats.org/markup-compatibility/2006">
              <mc:Choice xmlns:v="urn:schemas-microsoft-com:vml" Requires="v">
                <p:oleObj name="公式" r:id="rId4" imgW="1609722" imgH="142830" progId="Equation.3">
                  <p:embed/>
                </p:oleObj>
              </mc:Choice>
              <mc:Fallback>
                <p:oleObj name="公式" r:id="rId4" imgW="1609722" imgH="142830" progId="Equation.3">
                  <p:embed/>
                  <p:pic>
                    <p:nvPicPr>
                      <p:cNvPr id="0" name="Object 4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915816" y="4724400"/>
                        <a:ext cx="4029075" cy="5143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2749" name="Object 45"/>
          <p:cNvGraphicFramePr>
            <a:graphicFrameLocks noChangeAspect="1"/>
          </p:cNvGraphicFramePr>
          <p:nvPr>
            <p:extLst>
              <p:ext uri="{D42A27DB-BD31-4B8C-83A1-F6EECF244321}">
                <p14:modId xmlns:p14="http://schemas.microsoft.com/office/powerpoint/2010/main" val="66284532"/>
              </p:ext>
            </p:extLst>
          </p:nvPr>
        </p:nvGraphicFramePr>
        <p:xfrm>
          <a:off x="2868960" y="5229225"/>
          <a:ext cx="4151312" cy="514350"/>
        </p:xfrm>
        <a:graphic>
          <a:graphicData uri="http://schemas.openxmlformats.org/presentationml/2006/ole">
            <mc:AlternateContent xmlns:mc="http://schemas.openxmlformats.org/markup-compatibility/2006">
              <mc:Choice xmlns:v="urn:schemas-microsoft-com:vml" Requires="v">
                <p:oleObj name="公式" r:id="rId6" imgW="1666990" imgH="142830" progId="Equation.3">
                  <p:embed/>
                </p:oleObj>
              </mc:Choice>
              <mc:Fallback>
                <p:oleObj name="公式" r:id="rId6" imgW="1666990" imgH="142830" progId="Equation.3">
                  <p:embed/>
                  <p:pic>
                    <p:nvPicPr>
                      <p:cNvPr id="0" name="Object 4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868960" y="5229225"/>
                        <a:ext cx="4151312" cy="5143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2750" name="Object 46"/>
          <p:cNvGraphicFramePr>
            <a:graphicFrameLocks noChangeAspect="1"/>
          </p:cNvGraphicFramePr>
          <p:nvPr>
            <p:extLst>
              <p:ext uri="{D42A27DB-BD31-4B8C-83A1-F6EECF244321}">
                <p14:modId xmlns:p14="http://schemas.microsoft.com/office/powerpoint/2010/main" val="2081557312"/>
              </p:ext>
            </p:extLst>
          </p:nvPr>
        </p:nvGraphicFramePr>
        <p:xfrm>
          <a:off x="3203848" y="5949280"/>
          <a:ext cx="2576512" cy="423862"/>
        </p:xfrm>
        <a:graphic>
          <a:graphicData uri="http://schemas.openxmlformats.org/presentationml/2006/ole">
            <mc:AlternateContent xmlns:mc="http://schemas.openxmlformats.org/markup-compatibility/2006">
              <mc:Choice xmlns:v="urn:schemas-microsoft-com:vml" Requires="v">
                <p:oleObj name="公式" r:id="rId8" imgW="1000032" imgH="104760" progId="Equation.3">
                  <p:embed/>
                </p:oleObj>
              </mc:Choice>
              <mc:Fallback>
                <p:oleObj name="公式" r:id="rId8" imgW="1000032" imgH="104760" progId="Equation.3">
                  <p:embed/>
                  <p:pic>
                    <p:nvPicPr>
                      <p:cNvPr id="0" name="Object 46"/>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203848" y="5949280"/>
                        <a:ext cx="2576512" cy="4238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2"/>
          <p:cNvSpPr>
            <a:spLocks noGrp="1" noChangeArrowheads="1"/>
          </p:cNvSpPr>
          <p:nvPr>
            <p:ph/>
          </p:nvPr>
        </p:nvSpPr>
        <p:spPr/>
        <p:txBody>
          <a:bodyPr/>
          <a:lstStyle/>
          <a:p>
            <a:pPr eaLnBrk="1" hangingPunct="1">
              <a:lnSpc>
                <a:spcPct val="120000"/>
              </a:lnSpc>
            </a:pPr>
            <a:r>
              <a:rPr lang="en-US" altLang="zh-CN" b="1" dirty="0">
                <a:latin typeface="Times New Roman" pitchFamily="18" charset="0"/>
              </a:rPr>
              <a:t>Theorem 3-3</a:t>
            </a:r>
          </a:p>
          <a:p>
            <a:pPr eaLnBrk="1" hangingPunct="1">
              <a:lnSpc>
                <a:spcPct val="120000"/>
              </a:lnSpc>
            </a:pPr>
            <a:endParaRPr lang="en-US" altLang="zh-CN" b="1" dirty="0">
              <a:latin typeface="Times New Roman" pitchFamily="18" charset="0"/>
            </a:endParaRPr>
          </a:p>
          <a:p>
            <a:pPr eaLnBrk="1" hangingPunct="1">
              <a:lnSpc>
                <a:spcPct val="120000"/>
              </a:lnSpc>
            </a:pPr>
            <a:endParaRPr lang="en-US" altLang="zh-CN" b="1" dirty="0">
              <a:latin typeface="Times New Roman" pitchFamily="18" charset="0"/>
            </a:endParaRPr>
          </a:p>
          <a:p>
            <a:pPr eaLnBrk="1" hangingPunct="1">
              <a:lnSpc>
                <a:spcPct val="120000"/>
              </a:lnSpc>
            </a:pPr>
            <a:endParaRPr lang="en-US" altLang="zh-CN" b="1" dirty="0">
              <a:latin typeface="Times New Roman" pitchFamily="18" charset="0"/>
            </a:endParaRPr>
          </a:p>
          <a:p>
            <a:pPr eaLnBrk="1" hangingPunct="1">
              <a:lnSpc>
                <a:spcPct val="120000"/>
              </a:lnSpc>
            </a:pPr>
            <a:r>
              <a:rPr lang="zh-CN" altLang="en-US" b="1" dirty="0">
                <a:latin typeface="Times New Roman" panose="02020603050405020304" pitchFamily="18" charset="0"/>
                <a:ea typeface="楷体" panose="02010609060101010101" pitchFamily="49" charset="-122"/>
                <a:cs typeface="Times New Roman" panose="02020603050405020304" pitchFamily="18" charset="0"/>
              </a:rPr>
              <a:t>例如</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 </a:t>
            </a:r>
          </a:p>
          <a:p>
            <a:pPr eaLnBrk="1" hangingPunct="1">
              <a:lnSpc>
                <a:spcPct val="120000"/>
              </a:lnSpc>
            </a:pPr>
            <a:r>
              <a:rPr lang="zh-CN" altLang="en-US" sz="2400" b="1"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sym typeface="Symbol" pitchFamily="18" charset="2"/>
              </a:rPr>
              <a:t>实例</a:t>
            </a:r>
            <a:r>
              <a:rPr lang="zh-CN" altLang="en-US" b="1" dirty="0">
                <a:latin typeface="Times New Roman" panose="02020603050405020304" pitchFamily="18" charset="0"/>
                <a:ea typeface="楷体" panose="02010609060101010101" pitchFamily="49" charset="-122"/>
                <a:cs typeface="Times New Roman" panose="02020603050405020304" pitchFamily="18" charset="0"/>
                <a:sym typeface="Symbol" pitchFamily="18" charset="2"/>
              </a:rPr>
              <a:t> </a:t>
            </a:r>
            <a:r>
              <a:rPr lang="zh-CN" altLang="en-US" b="1" i="1" dirty="0">
                <a:latin typeface="Times New Roman" panose="02020603050405020304" pitchFamily="18" charset="0"/>
                <a:ea typeface="楷体" panose="02010609060101010101" pitchFamily="49" charset="-122"/>
                <a:cs typeface="Times New Roman" panose="02020603050405020304" pitchFamily="18" charset="0"/>
                <a:sym typeface="Symbol" pitchFamily="18" charset="2"/>
              </a:rPr>
              <a:t> </a:t>
            </a:r>
            <a:r>
              <a:rPr lang="en-US" altLang="zh-CN" sz="2400" b="1" i="1"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sym typeface="Symbol" pitchFamily="18" charset="2"/>
              </a:rPr>
              <a:t>p</a:t>
            </a:r>
            <a:r>
              <a:rPr lang="en-US" altLang="zh-CN" sz="2400" b="1"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sym typeface="Symbol" pitchFamily="18" charset="2"/>
              </a:rPr>
              <a:t>: </a:t>
            </a:r>
            <a:r>
              <a:rPr lang="zh-CN" altLang="en-US" sz="2400" b="1"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sym typeface="Symbol" pitchFamily="18" charset="2"/>
              </a:rPr>
              <a:t>我有时间</a:t>
            </a:r>
            <a:r>
              <a:rPr lang="en-US" altLang="zh-CN" sz="2400" b="1"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sym typeface="Symbol" pitchFamily="18" charset="2"/>
              </a:rPr>
              <a:t>, </a:t>
            </a:r>
            <a:r>
              <a:rPr lang="en-US" altLang="zh-CN" sz="2400" b="1" i="1"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sym typeface="Symbol" pitchFamily="18" charset="2"/>
              </a:rPr>
              <a:t>q</a:t>
            </a:r>
            <a:r>
              <a:rPr lang="en-US" altLang="zh-CN" sz="2400" b="1"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sym typeface="Symbol" pitchFamily="18" charset="2"/>
              </a:rPr>
              <a:t> : </a:t>
            </a:r>
            <a:r>
              <a:rPr lang="zh-CN" altLang="en-US" sz="2400" b="1"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sym typeface="Symbol" pitchFamily="18" charset="2"/>
              </a:rPr>
              <a:t>我去看望我的父母</a:t>
            </a:r>
            <a:r>
              <a:rPr lang="en-US" altLang="zh-CN" sz="2400" b="1"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sym typeface="Symbol" pitchFamily="18" charset="2"/>
              </a:rPr>
              <a:t>.</a:t>
            </a:r>
            <a:endParaRPr lang="en-US" altLang="zh-CN" sz="2400" b="1"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endParaRPr>
          </a:p>
          <a:p>
            <a:pPr eaLnBrk="1" hangingPunct="1">
              <a:lnSpc>
                <a:spcPct val="120000"/>
              </a:lnSpc>
            </a:pPr>
            <a:r>
              <a:rPr lang="en-US" altLang="zh-CN" b="1" dirty="0">
                <a:latin typeface="Times New Roman" panose="02020603050405020304" pitchFamily="18" charset="0"/>
                <a:ea typeface="楷体" panose="02010609060101010101" pitchFamily="49" charset="-122"/>
                <a:cs typeface="Times New Roman" panose="02020603050405020304" pitchFamily="18" charset="0"/>
              </a:rPr>
              <a:t>Theorem </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逻辑等值是命题公式间的等价关系</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:(1)</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自反</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 (2)</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对称</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 (3)</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传递</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a:t>
            </a:r>
          </a:p>
          <a:p>
            <a:pPr eaLnBrk="1" hangingPunct="1">
              <a:lnSpc>
                <a:spcPct val="120000"/>
              </a:lnSpc>
            </a:pPr>
            <a:r>
              <a:rPr lang="en-US" altLang="zh-CN" b="1" dirty="0">
                <a:latin typeface="Times New Roman" panose="02020603050405020304" pitchFamily="18" charset="0"/>
                <a:ea typeface="楷体" panose="02010609060101010101" pitchFamily="49" charset="-122"/>
                <a:cs typeface="Times New Roman" panose="02020603050405020304" pitchFamily="18" charset="0"/>
              </a:rPr>
              <a:t>Problem  </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等价类是什么</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a:t>
            </a:r>
          </a:p>
        </p:txBody>
      </p:sp>
      <p:graphicFrame>
        <p:nvGraphicFramePr>
          <p:cNvPr id="73731" name="Object 3"/>
          <p:cNvGraphicFramePr>
            <a:graphicFrameLocks noChangeAspect="1"/>
          </p:cNvGraphicFramePr>
          <p:nvPr/>
        </p:nvGraphicFramePr>
        <p:xfrm>
          <a:off x="2051050" y="1052513"/>
          <a:ext cx="5153025" cy="544512"/>
        </p:xfrm>
        <a:graphic>
          <a:graphicData uri="http://schemas.openxmlformats.org/presentationml/2006/ole">
            <mc:AlternateContent xmlns:mc="http://schemas.openxmlformats.org/markup-compatibility/2006">
              <mc:Choice xmlns:v="urn:schemas-microsoft-com:vml" Requires="v">
                <p:oleObj name="Equation" r:id="rId2" imgW="2085967" imgH="152280" progId="Equation.3">
                  <p:embed/>
                </p:oleObj>
              </mc:Choice>
              <mc:Fallback>
                <p:oleObj name="Equation" r:id="rId2" imgW="2085967" imgH="152280" progId="Equation.3">
                  <p:embed/>
                  <p:pic>
                    <p:nvPicPr>
                      <p:cNvPr id="0" name="Object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51050" y="1052513"/>
                        <a:ext cx="5153025" cy="5445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3732" name="Object 4"/>
          <p:cNvGraphicFramePr>
            <a:graphicFrameLocks noChangeAspect="1"/>
          </p:cNvGraphicFramePr>
          <p:nvPr/>
        </p:nvGraphicFramePr>
        <p:xfrm>
          <a:off x="1979613" y="2205038"/>
          <a:ext cx="5122862" cy="544512"/>
        </p:xfrm>
        <a:graphic>
          <a:graphicData uri="http://schemas.openxmlformats.org/presentationml/2006/ole">
            <mc:AlternateContent xmlns:mc="http://schemas.openxmlformats.org/markup-compatibility/2006">
              <mc:Choice xmlns:v="urn:schemas-microsoft-com:vml" Requires="v">
                <p:oleObj name="Equation" r:id="rId4" imgW="2067057" imgH="152280" progId="Equation.3">
                  <p:embed/>
                </p:oleObj>
              </mc:Choice>
              <mc:Fallback>
                <p:oleObj name="Equation" r:id="rId4" imgW="2067057" imgH="152280" progId="Equation.3">
                  <p:embed/>
                  <p:pic>
                    <p:nvPicPr>
                      <p:cNvPr id="0"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979613" y="2205038"/>
                        <a:ext cx="5122862" cy="5445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3733" name="AutoShape 5"/>
          <p:cNvSpPr>
            <a:spLocks noChangeArrowheads="1"/>
          </p:cNvSpPr>
          <p:nvPr/>
        </p:nvSpPr>
        <p:spPr bwMode="auto">
          <a:xfrm>
            <a:off x="4067175" y="1700213"/>
            <a:ext cx="485775" cy="576262"/>
          </a:xfrm>
          <a:prstGeom prst="downArrow">
            <a:avLst>
              <a:gd name="adj1" fmla="val 50000"/>
              <a:gd name="adj2" fmla="val 29657"/>
            </a:avLst>
          </a:prstGeom>
          <a:solidFill>
            <a:schemeClr val="accent1"/>
          </a:solidFill>
          <a:ln w="9525">
            <a:solidFill>
              <a:schemeClr val="tx1"/>
            </a:solidFill>
            <a:miter lim="800000"/>
            <a:headEnd/>
            <a:tailEnd/>
          </a:ln>
        </p:spPr>
        <p:txBody>
          <a:bodyPr wrap="none" anchor="ctr"/>
          <a:lstStyle/>
          <a:p>
            <a:endParaRPr lang="zh-CN" altLang="en-US"/>
          </a:p>
        </p:txBody>
      </p:sp>
      <p:graphicFrame>
        <p:nvGraphicFramePr>
          <p:cNvPr id="73734" name="Object 6"/>
          <p:cNvGraphicFramePr>
            <a:graphicFrameLocks noChangeAspect="1"/>
          </p:cNvGraphicFramePr>
          <p:nvPr/>
        </p:nvGraphicFramePr>
        <p:xfrm>
          <a:off x="1908175" y="3141663"/>
          <a:ext cx="5334000" cy="485775"/>
        </p:xfrm>
        <a:graphic>
          <a:graphicData uri="http://schemas.openxmlformats.org/presentationml/2006/ole">
            <mc:AlternateContent xmlns:mc="http://schemas.openxmlformats.org/markup-compatibility/2006">
              <mc:Choice xmlns:v="urn:schemas-microsoft-com:vml" Requires="v">
                <p:oleObj name="Equation" r:id="rId6" imgW="2162144" imgH="123930" progId="Equation.3">
                  <p:embed/>
                </p:oleObj>
              </mc:Choice>
              <mc:Fallback>
                <p:oleObj name="Equation" r:id="rId6" imgW="2162144" imgH="123930" progId="Equation.3">
                  <p:embed/>
                  <p:pic>
                    <p:nvPicPr>
                      <p:cNvPr id="0" name="Object 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908175" y="3141663"/>
                        <a:ext cx="5334000" cy="4857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2"/>
          <p:cNvSpPr>
            <a:spLocks noGrp="1" noChangeArrowheads="1"/>
          </p:cNvSpPr>
          <p:nvPr>
            <p:ph/>
          </p:nvPr>
        </p:nvSpPr>
        <p:spPr/>
        <p:txBody>
          <a:bodyPr/>
          <a:lstStyle/>
          <a:p>
            <a:pPr eaLnBrk="1" hangingPunct="1">
              <a:lnSpc>
                <a:spcPct val="120000"/>
              </a:lnSpc>
            </a:pPr>
            <a:r>
              <a:rPr lang="en-US" altLang="zh-CN" b="1" dirty="0">
                <a:latin typeface="Times New Roman" pitchFamily="18" charset="0"/>
              </a:rPr>
              <a:t>3.4.2 </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基本等值式</a:t>
            </a:r>
          </a:p>
          <a:p>
            <a:pPr eaLnBrk="1" hangingPunct="1">
              <a:lnSpc>
                <a:spcPct val="120000"/>
              </a:lnSpc>
            </a:pPr>
            <a:r>
              <a:rPr lang="en-US" altLang="zh-CN" b="1" dirty="0">
                <a:latin typeface="Times New Roman" panose="02020603050405020304" pitchFamily="18" charset="0"/>
                <a:ea typeface="楷体" panose="02010609060101010101" pitchFamily="49" charset="-122"/>
                <a:cs typeface="Times New Roman" panose="02020603050405020304" pitchFamily="18" charset="0"/>
              </a:rPr>
              <a:t>(I)</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与</a:t>
            </a:r>
            <a:r>
              <a:rPr lang="zh-CN" altLang="en-US" b="1" dirty="0">
                <a:latin typeface="Times New Roman" panose="02020603050405020304" pitchFamily="18" charset="0"/>
                <a:ea typeface="楷体" panose="02010609060101010101" pitchFamily="49" charset="-122"/>
                <a:cs typeface="Times New Roman" panose="02020603050405020304" pitchFamily="18" charset="0"/>
                <a:sym typeface="Symbol" pitchFamily="18" charset="2"/>
              </a:rPr>
              <a:t></a:t>
            </a:r>
            <a:r>
              <a:rPr lang="en-US" altLang="zh-CN" b="1" dirty="0">
                <a:latin typeface="Times New Roman" panose="02020603050405020304" pitchFamily="18" charset="0"/>
                <a:ea typeface="楷体" panose="02010609060101010101" pitchFamily="49" charset="-122"/>
                <a:cs typeface="Times New Roman" panose="02020603050405020304" pitchFamily="18" charset="0"/>
                <a:sym typeface="Symbol" pitchFamily="18" charset="2"/>
              </a:rPr>
              <a:t>, , </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有关的等值式</a:t>
            </a:r>
          </a:p>
          <a:p>
            <a:pPr eaLnBrk="1" hangingPunct="1">
              <a:lnSpc>
                <a:spcPct val="120000"/>
              </a:lnSpc>
            </a:pPr>
            <a:r>
              <a:rPr lang="en-US" altLang="zh-CN" b="1" dirty="0">
                <a:latin typeface="Times New Roman" pitchFamily="18" charset="0"/>
              </a:rPr>
              <a:t>Theorem 3-5 </a:t>
            </a:r>
          </a:p>
          <a:p>
            <a:pPr eaLnBrk="1" hangingPunct="1">
              <a:lnSpc>
                <a:spcPct val="120000"/>
              </a:lnSpc>
            </a:pPr>
            <a:r>
              <a:rPr lang="en-US" altLang="zh-CN" b="1" dirty="0">
                <a:latin typeface="Times New Roman" pitchFamily="18" charset="0"/>
              </a:rPr>
              <a:t>(1)</a:t>
            </a:r>
          </a:p>
          <a:p>
            <a:pPr eaLnBrk="1" hangingPunct="1">
              <a:lnSpc>
                <a:spcPct val="120000"/>
              </a:lnSpc>
            </a:pPr>
            <a:r>
              <a:rPr lang="en-US" altLang="zh-CN" b="1" dirty="0">
                <a:latin typeface="Times New Roman" pitchFamily="18" charset="0"/>
              </a:rPr>
              <a:t>(2)</a:t>
            </a:r>
          </a:p>
          <a:p>
            <a:pPr eaLnBrk="1" hangingPunct="1">
              <a:lnSpc>
                <a:spcPct val="120000"/>
              </a:lnSpc>
            </a:pPr>
            <a:r>
              <a:rPr lang="en-US" altLang="zh-CN" b="1" dirty="0">
                <a:latin typeface="Times New Roman" pitchFamily="18" charset="0"/>
              </a:rPr>
              <a:t>(3)</a:t>
            </a:r>
          </a:p>
          <a:p>
            <a:pPr eaLnBrk="1" hangingPunct="1">
              <a:lnSpc>
                <a:spcPct val="120000"/>
              </a:lnSpc>
            </a:pPr>
            <a:r>
              <a:rPr lang="en-US" altLang="zh-CN" b="1" dirty="0">
                <a:latin typeface="Times New Roman" pitchFamily="18" charset="0"/>
              </a:rPr>
              <a:t>(4)</a:t>
            </a:r>
          </a:p>
          <a:p>
            <a:pPr eaLnBrk="1" hangingPunct="1">
              <a:lnSpc>
                <a:spcPct val="120000"/>
              </a:lnSpc>
            </a:pPr>
            <a:r>
              <a:rPr lang="en-US" altLang="zh-CN" b="1" dirty="0">
                <a:latin typeface="Times New Roman" pitchFamily="18" charset="0"/>
              </a:rPr>
              <a:t>(5)</a:t>
            </a:r>
          </a:p>
          <a:p>
            <a:pPr eaLnBrk="1" hangingPunct="1">
              <a:lnSpc>
                <a:spcPct val="120000"/>
              </a:lnSpc>
            </a:pPr>
            <a:endParaRPr lang="en-US" altLang="zh-CN" b="1" dirty="0">
              <a:latin typeface="Times New Roman" pitchFamily="18" charset="0"/>
            </a:endParaRPr>
          </a:p>
        </p:txBody>
      </p:sp>
      <p:graphicFrame>
        <p:nvGraphicFramePr>
          <p:cNvPr id="74755" name="Object 3"/>
          <p:cNvGraphicFramePr>
            <a:graphicFrameLocks noChangeAspect="1"/>
          </p:cNvGraphicFramePr>
          <p:nvPr>
            <p:extLst>
              <p:ext uri="{D42A27DB-BD31-4B8C-83A1-F6EECF244321}">
                <p14:modId xmlns:p14="http://schemas.microsoft.com/office/powerpoint/2010/main" val="325434332"/>
              </p:ext>
            </p:extLst>
          </p:nvPr>
        </p:nvGraphicFramePr>
        <p:xfrm>
          <a:off x="1476375" y="2276872"/>
          <a:ext cx="2576513" cy="574675"/>
        </p:xfrm>
        <a:graphic>
          <a:graphicData uri="http://schemas.openxmlformats.org/presentationml/2006/ole">
            <mc:AlternateContent xmlns:mc="http://schemas.openxmlformats.org/markup-compatibility/2006">
              <mc:Choice xmlns:v="urn:schemas-microsoft-com:vml" Requires="v">
                <p:oleObj name="公式" r:id="rId2" imgW="1000032" imgH="162000" progId="Equation.3">
                  <p:embed/>
                </p:oleObj>
              </mc:Choice>
              <mc:Fallback>
                <p:oleObj name="公式" r:id="rId2" imgW="1000032" imgH="162000" progId="Equation.3">
                  <p:embed/>
                  <p:pic>
                    <p:nvPicPr>
                      <p:cNvPr id="0" name="Object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76375" y="2276872"/>
                        <a:ext cx="2576513" cy="5746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4756" name="Object 4"/>
          <p:cNvGraphicFramePr>
            <a:graphicFrameLocks noChangeAspect="1"/>
          </p:cNvGraphicFramePr>
          <p:nvPr/>
        </p:nvGraphicFramePr>
        <p:xfrm>
          <a:off x="1476375" y="3141663"/>
          <a:ext cx="6002338" cy="484187"/>
        </p:xfrm>
        <a:graphic>
          <a:graphicData uri="http://schemas.openxmlformats.org/presentationml/2006/ole">
            <mc:AlternateContent xmlns:mc="http://schemas.openxmlformats.org/markup-compatibility/2006">
              <mc:Choice xmlns:v="urn:schemas-microsoft-com:vml" Requires="v">
                <p:oleObj name="公式" r:id="rId4" imgW="2438490" imgH="123930" progId="Equation.3">
                  <p:embed/>
                </p:oleObj>
              </mc:Choice>
              <mc:Fallback>
                <p:oleObj name="公式" r:id="rId4" imgW="2438490" imgH="123930" progId="Equation.3">
                  <p:embed/>
                  <p:pic>
                    <p:nvPicPr>
                      <p:cNvPr id="0"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476375" y="3141663"/>
                        <a:ext cx="6002338" cy="4841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4757" name="Object 5"/>
          <p:cNvGraphicFramePr>
            <a:graphicFrameLocks noChangeAspect="1"/>
          </p:cNvGraphicFramePr>
          <p:nvPr>
            <p:extLst>
              <p:ext uri="{D42A27DB-BD31-4B8C-83A1-F6EECF244321}">
                <p14:modId xmlns:p14="http://schemas.microsoft.com/office/powerpoint/2010/main" val="355930598"/>
              </p:ext>
            </p:extLst>
          </p:nvPr>
        </p:nvGraphicFramePr>
        <p:xfrm>
          <a:off x="1475656" y="3808909"/>
          <a:ext cx="4335462" cy="484187"/>
        </p:xfrm>
        <a:graphic>
          <a:graphicData uri="http://schemas.openxmlformats.org/presentationml/2006/ole">
            <mc:AlternateContent xmlns:mc="http://schemas.openxmlformats.org/markup-compatibility/2006">
              <mc:Choice xmlns:v="urn:schemas-microsoft-com:vml" Requires="v">
                <p:oleObj name="公式" r:id="rId6" imgW="1743168" imgH="123930" progId="Equation.3">
                  <p:embed/>
                </p:oleObj>
              </mc:Choice>
              <mc:Fallback>
                <p:oleObj name="公式" r:id="rId6" imgW="1743168" imgH="123930" progId="Equation.3">
                  <p:embed/>
                  <p:pic>
                    <p:nvPicPr>
                      <p:cNvPr id="0" name="Object 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475656" y="3808909"/>
                        <a:ext cx="4335462" cy="4841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4758" name="Object 6"/>
          <p:cNvGraphicFramePr>
            <a:graphicFrameLocks noChangeAspect="1"/>
          </p:cNvGraphicFramePr>
          <p:nvPr/>
        </p:nvGraphicFramePr>
        <p:xfrm>
          <a:off x="1476375" y="4508500"/>
          <a:ext cx="7292975" cy="484188"/>
        </p:xfrm>
        <a:graphic>
          <a:graphicData uri="http://schemas.openxmlformats.org/presentationml/2006/ole">
            <mc:AlternateContent xmlns:mc="http://schemas.openxmlformats.org/markup-compatibility/2006">
              <mc:Choice xmlns:v="urn:schemas-microsoft-com:vml" Requires="v">
                <p:oleObj name="公式" r:id="rId8" imgW="3171901" imgH="123930" progId="Equation.3">
                  <p:embed/>
                </p:oleObj>
              </mc:Choice>
              <mc:Fallback>
                <p:oleObj name="公式" r:id="rId8" imgW="3171901" imgH="123930" progId="Equation.3">
                  <p:embed/>
                  <p:pic>
                    <p:nvPicPr>
                      <p:cNvPr id="0" name="Object 6"/>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476375" y="4508500"/>
                        <a:ext cx="7292975" cy="4841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4759" name="Object 7"/>
          <p:cNvGraphicFramePr>
            <a:graphicFrameLocks noChangeAspect="1"/>
          </p:cNvGraphicFramePr>
          <p:nvPr>
            <p:extLst>
              <p:ext uri="{D42A27DB-BD31-4B8C-83A1-F6EECF244321}">
                <p14:modId xmlns:p14="http://schemas.microsoft.com/office/powerpoint/2010/main" val="2249051736"/>
              </p:ext>
            </p:extLst>
          </p:nvPr>
        </p:nvGraphicFramePr>
        <p:xfrm>
          <a:off x="1437109" y="5157788"/>
          <a:ext cx="4791075" cy="484187"/>
        </p:xfrm>
        <a:graphic>
          <a:graphicData uri="http://schemas.openxmlformats.org/presentationml/2006/ole">
            <mc:AlternateContent xmlns:mc="http://schemas.openxmlformats.org/markup-compatibility/2006">
              <mc:Choice xmlns:v="urn:schemas-microsoft-com:vml" Requires="v">
                <p:oleObj name="公式" r:id="rId10" imgW="1933612" imgH="123930" progId="Equation.3">
                  <p:embed/>
                </p:oleObj>
              </mc:Choice>
              <mc:Fallback>
                <p:oleObj name="公式" r:id="rId10" imgW="1933612" imgH="123930" progId="Equation.3">
                  <p:embed/>
                  <p:pic>
                    <p:nvPicPr>
                      <p:cNvPr id="0" name="Object 7"/>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437109" y="5157788"/>
                        <a:ext cx="4791075" cy="4841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4760" name="Object 8"/>
          <p:cNvGraphicFramePr>
            <a:graphicFrameLocks noChangeAspect="1"/>
          </p:cNvGraphicFramePr>
          <p:nvPr>
            <p:extLst>
              <p:ext uri="{D42A27DB-BD31-4B8C-83A1-F6EECF244321}">
                <p14:modId xmlns:p14="http://schemas.microsoft.com/office/powerpoint/2010/main" val="1439741463"/>
              </p:ext>
            </p:extLst>
          </p:nvPr>
        </p:nvGraphicFramePr>
        <p:xfrm>
          <a:off x="2058715" y="5641976"/>
          <a:ext cx="3881437" cy="484187"/>
        </p:xfrm>
        <a:graphic>
          <a:graphicData uri="http://schemas.openxmlformats.org/presentationml/2006/ole">
            <mc:AlternateContent xmlns:mc="http://schemas.openxmlformats.org/markup-compatibility/2006">
              <mc:Choice xmlns:v="urn:schemas-microsoft-com:vml" Requires="v">
                <p:oleObj name="公式" r:id="rId12" imgW="1552454" imgH="123930" progId="Equation.3">
                  <p:embed/>
                </p:oleObj>
              </mc:Choice>
              <mc:Fallback>
                <p:oleObj name="公式" r:id="rId12" imgW="1552454" imgH="123930" progId="Equation.3">
                  <p:embed/>
                  <p:pic>
                    <p:nvPicPr>
                      <p:cNvPr id="0" name="Object 8"/>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2058715" y="5641976"/>
                        <a:ext cx="3881437" cy="4841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2"/>
          <p:cNvSpPr>
            <a:spLocks noGrp="1" noChangeArrowheads="1"/>
          </p:cNvSpPr>
          <p:nvPr>
            <p:ph/>
          </p:nvPr>
        </p:nvSpPr>
        <p:spPr/>
        <p:txBody>
          <a:bodyPr/>
          <a:lstStyle/>
          <a:p>
            <a:pPr eaLnBrk="1" hangingPunct="1">
              <a:lnSpc>
                <a:spcPct val="120000"/>
              </a:lnSpc>
            </a:pPr>
            <a:r>
              <a:rPr lang="en-US" altLang="zh-CN" b="1">
                <a:latin typeface="Times New Roman" pitchFamily="18" charset="0"/>
              </a:rPr>
              <a:t>(6)</a:t>
            </a:r>
          </a:p>
          <a:p>
            <a:pPr eaLnBrk="1" hangingPunct="1">
              <a:lnSpc>
                <a:spcPct val="120000"/>
              </a:lnSpc>
            </a:pPr>
            <a:endParaRPr lang="en-US" altLang="zh-CN" b="1">
              <a:latin typeface="Times New Roman" pitchFamily="18" charset="0"/>
            </a:endParaRPr>
          </a:p>
          <a:p>
            <a:pPr eaLnBrk="1" hangingPunct="1">
              <a:lnSpc>
                <a:spcPct val="120000"/>
              </a:lnSpc>
            </a:pPr>
            <a:endParaRPr lang="en-US" altLang="zh-CN" b="1">
              <a:latin typeface="Times New Roman" pitchFamily="18" charset="0"/>
            </a:endParaRPr>
          </a:p>
          <a:p>
            <a:pPr eaLnBrk="1" hangingPunct="1">
              <a:lnSpc>
                <a:spcPct val="120000"/>
              </a:lnSpc>
            </a:pPr>
            <a:endParaRPr lang="en-US" altLang="zh-CN" b="1">
              <a:latin typeface="Times New Roman" pitchFamily="18" charset="0"/>
            </a:endParaRPr>
          </a:p>
          <a:p>
            <a:pPr eaLnBrk="1" hangingPunct="1">
              <a:lnSpc>
                <a:spcPct val="120000"/>
              </a:lnSpc>
            </a:pPr>
            <a:endParaRPr lang="en-US" altLang="zh-CN" b="1">
              <a:latin typeface="Times New Roman" pitchFamily="18" charset="0"/>
            </a:endParaRPr>
          </a:p>
          <a:p>
            <a:pPr eaLnBrk="1" hangingPunct="1">
              <a:lnSpc>
                <a:spcPct val="120000"/>
              </a:lnSpc>
            </a:pPr>
            <a:r>
              <a:rPr lang="en-US" altLang="zh-CN" b="1">
                <a:latin typeface="Times New Roman" pitchFamily="18" charset="0"/>
              </a:rPr>
              <a:t>(7)</a:t>
            </a:r>
          </a:p>
          <a:p>
            <a:pPr eaLnBrk="1" hangingPunct="1">
              <a:lnSpc>
                <a:spcPct val="120000"/>
              </a:lnSpc>
            </a:pPr>
            <a:r>
              <a:rPr lang="en-US" altLang="zh-CN" b="1">
                <a:latin typeface="Times New Roman" pitchFamily="18" charset="0"/>
              </a:rPr>
              <a:t>(8)</a:t>
            </a:r>
          </a:p>
          <a:p>
            <a:pPr eaLnBrk="1" hangingPunct="1">
              <a:lnSpc>
                <a:spcPct val="120000"/>
              </a:lnSpc>
            </a:pPr>
            <a:endParaRPr lang="en-US" altLang="zh-CN" b="1">
              <a:latin typeface="Times New Roman" pitchFamily="18" charset="0"/>
            </a:endParaRPr>
          </a:p>
          <a:p>
            <a:pPr eaLnBrk="1" hangingPunct="1">
              <a:lnSpc>
                <a:spcPct val="120000"/>
              </a:lnSpc>
            </a:pPr>
            <a:r>
              <a:rPr lang="en-US" altLang="zh-CN" b="1">
                <a:latin typeface="Times New Roman" pitchFamily="18" charset="0"/>
              </a:rPr>
              <a:t>(9),(10)</a:t>
            </a:r>
          </a:p>
        </p:txBody>
      </p:sp>
      <p:graphicFrame>
        <p:nvGraphicFramePr>
          <p:cNvPr id="75779" name="Object 3"/>
          <p:cNvGraphicFramePr>
            <a:graphicFrameLocks noChangeAspect="1"/>
          </p:cNvGraphicFramePr>
          <p:nvPr/>
        </p:nvGraphicFramePr>
        <p:xfrm>
          <a:off x="1416050" y="404813"/>
          <a:ext cx="4791075" cy="484187"/>
        </p:xfrm>
        <a:graphic>
          <a:graphicData uri="http://schemas.openxmlformats.org/presentationml/2006/ole">
            <mc:AlternateContent xmlns:mc="http://schemas.openxmlformats.org/markup-compatibility/2006">
              <mc:Choice xmlns:v="urn:schemas-microsoft-com:vml" Requires="v">
                <p:oleObj name="公式" r:id="rId2" imgW="1933612" imgH="123930" progId="Equation.3">
                  <p:embed/>
                </p:oleObj>
              </mc:Choice>
              <mc:Fallback>
                <p:oleObj name="公式" r:id="rId2" imgW="1933612" imgH="123930" progId="Equation.3">
                  <p:embed/>
                  <p:pic>
                    <p:nvPicPr>
                      <p:cNvPr id="0" name="Object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16050" y="404813"/>
                        <a:ext cx="4791075" cy="4841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5780" name="Object 4"/>
          <p:cNvGraphicFramePr>
            <a:graphicFrameLocks noChangeAspect="1"/>
          </p:cNvGraphicFramePr>
          <p:nvPr/>
        </p:nvGraphicFramePr>
        <p:xfrm>
          <a:off x="1416050" y="1916113"/>
          <a:ext cx="4791075" cy="484187"/>
        </p:xfrm>
        <a:graphic>
          <a:graphicData uri="http://schemas.openxmlformats.org/presentationml/2006/ole">
            <mc:AlternateContent xmlns:mc="http://schemas.openxmlformats.org/markup-compatibility/2006">
              <mc:Choice xmlns:v="urn:schemas-microsoft-com:vml" Requires="v">
                <p:oleObj name="公式" r:id="rId4" imgW="1933612" imgH="123930" progId="Equation.3">
                  <p:embed/>
                </p:oleObj>
              </mc:Choice>
              <mc:Fallback>
                <p:oleObj name="公式" r:id="rId4" imgW="1933612" imgH="123930" progId="Equation.3">
                  <p:embed/>
                  <p:pic>
                    <p:nvPicPr>
                      <p:cNvPr id="0"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416050" y="1916113"/>
                        <a:ext cx="4791075" cy="4841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5781" name="Object 5"/>
          <p:cNvGraphicFramePr>
            <a:graphicFrameLocks noChangeAspect="1"/>
          </p:cNvGraphicFramePr>
          <p:nvPr/>
        </p:nvGraphicFramePr>
        <p:xfrm>
          <a:off x="2047875" y="981075"/>
          <a:ext cx="3668713" cy="484188"/>
        </p:xfrm>
        <a:graphic>
          <a:graphicData uri="http://schemas.openxmlformats.org/presentationml/2006/ole">
            <mc:AlternateContent xmlns:mc="http://schemas.openxmlformats.org/markup-compatibility/2006">
              <mc:Choice xmlns:v="urn:schemas-microsoft-com:vml" Requires="v">
                <p:oleObj name="公式" r:id="rId6" imgW="1457367" imgH="123930" progId="Equation.3">
                  <p:embed/>
                </p:oleObj>
              </mc:Choice>
              <mc:Fallback>
                <p:oleObj name="公式" r:id="rId6" imgW="1457367" imgH="123930" progId="Equation.3">
                  <p:embed/>
                  <p:pic>
                    <p:nvPicPr>
                      <p:cNvPr id="0" name="Object 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047875" y="981075"/>
                        <a:ext cx="3668713" cy="4841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5782" name="Object 6"/>
          <p:cNvGraphicFramePr>
            <a:graphicFrameLocks noChangeAspect="1"/>
          </p:cNvGraphicFramePr>
          <p:nvPr/>
        </p:nvGraphicFramePr>
        <p:xfrm>
          <a:off x="2339975" y="2420938"/>
          <a:ext cx="3122613" cy="484187"/>
        </p:xfrm>
        <a:graphic>
          <a:graphicData uri="http://schemas.openxmlformats.org/presentationml/2006/ole">
            <mc:AlternateContent xmlns:mc="http://schemas.openxmlformats.org/markup-compatibility/2006">
              <mc:Choice xmlns:v="urn:schemas-microsoft-com:vml" Requires="v">
                <p:oleObj name="公式" r:id="rId8" imgW="1228835" imgH="123930" progId="Equation.3">
                  <p:embed/>
                </p:oleObj>
              </mc:Choice>
              <mc:Fallback>
                <p:oleObj name="公式" r:id="rId8" imgW="1228835" imgH="123930" progId="Equation.3">
                  <p:embed/>
                  <p:pic>
                    <p:nvPicPr>
                      <p:cNvPr id="0" name="Object 6"/>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339975" y="2420938"/>
                        <a:ext cx="3122613" cy="4841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5783" name="Object 7"/>
          <p:cNvGraphicFramePr>
            <a:graphicFrameLocks noChangeAspect="1"/>
          </p:cNvGraphicFramePr>
          <p:nvPr/>
        </p:nvGraphicFramePr>
        <p:xfrm>
          <a:off x="1547813" y="4508500"/>
          <a:ext cx="6245225" cy="484188"/>
        </p:xfrm>
        <a:graphic>
          <a:graphicData uri="http://schemas.openxmlformats.org/presentationml/2006/ole">
            <mc:AlternateContent xmlns:mc="http://schemas.openxmlformats.org/markup-compatibility/2006">
              <mc:Choice xmlns:v="urn:schemas-microsoft-com:vml" Requires="v">
                <p:oleObj name="公式" r:id="rId10" imgW="2543302" imgH="123930" progId="Equation.3">
                  <p:embed/>
                </p:oleObj>
              </mc:Choice>
              <mc:Fallback>
                <p:oleObj name="公式" r:id="rId10" imgW="2543302" imgH="123930" progId="Equation.3">
                  <p:embed/>
                  <p:pic>
                    <p:nvPicPr>
                      <p:cNvPr id="0" name="Object 7"/>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547813" y="4508500"/>
                        <a:ext cx="6245225" cy="4841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5784" name="Object 8"/>
          <p:cNvGraphicFramePr>
            <a:graphicFrameLocks noChangeAspect="1"/>
          </p:cNvGraphicFramePr>
          <p:nvPr/>
        </p:nvGraphicFramePr>
        <p:xfrm>
          <a:off x="2862263" y="5184775"/>
          <a:ext cx="3759200" cy="574675"/>
        </p:xfrm>
        <a:graphic>
          <a:graphicData uri="http://schemas.openxmlformats.org/presentationml/2006/ole">
            <mc:AlternateContent xmlns:mc="http://schemas.openxmlformats.org/markup-compatibility/2006">
              <mc:Choice xmlns:v="urn:schemas-microsoft-com:vml" Requires="v">
                <p:oleObj name="公式" r:id="rId12" imgW="1495456" imgH="162000" progId="Equation.3">
                  <p:embed/>
                </p:oleObj>
              </mc:Choice>
              <mc:Fallback>
                <p:oleObj name="公式" r:id="rId12" imgW="1495456" imgH="162000" progId="Equation.3">
                  <p:embed/>
                  <p:pic>
                    <p:nvPicPr>
                      <p:cNvPr id="0" name="Object 8"/>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2862263" y="5184775"/>
                        <a:ext cx="3759200" cy="5746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2"/>
          <p:cNvSpPr>
            <a:spLocks noGrp="1" noChangeArrowheads="1"/>
          </p:cNvSpPr>
          <p:nvPr>
            <p:ph/>
          </p:nvPr>
        </p:nvSpPr>
        <p:spPr/>
        <p:txBody>
          <a:bodyPr/>
          <a:lstStyle/>
          <a:p>
            <a:pPr eaLnBrk="1" hangingPunct="1">
              <a:lnSpc>
                <a:spcPct val="120000"/>
              </a:lnSpc>
            </a:pPr>
            <a:r>
              <a:rPr lang="en-US" altLang="zh-CN" b="1" dirty="0">
                <a:latin typeface="Times New Roman" pitchFamily="18" charset="0"/>
              </a:rPr>
              <a:t>(II)</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其他重要的等值式 </a:t>
            </a:r>
          </a:p>
          <a:p>
            <a:pPr eaLnBrk="1" hangingPunct="1">
              <a:lnSpc>
                <a:spcPct val="120000"/>
              </a:lnSpc>
            </a:pPr>
            <a:r>
              <a:rPr lang="en-US" altLang="zh-CN" b="1" dirty="0">
                <a:latin typeface="Times New Roman" pitchFamily="18" charset="0"/>
              </a:rPr>
              <a:t>Theorem</a:t>
            </a:r>
          </a:p>
          <a:p>
            <a:pPr eaLnBrk="1" hangingPunct="1">
              <a:lnSpc>
                <a:spcPct val="120000"/>
              </a:lnSpc>
            </a:pPr>
            <a:r>
              <a:rPr lang="en-US" altLang="zh-CN" b="1" dirty="0">
                <a:latin typeface="Times New Roman" pitchFamily="18" charset="0"/>
              </a:rPr>
              <a:t>(1)</a:t>
            </a:r>
          </a:p>
          <a:p>
            <a:pPr eaLnBrk="1" hangingPunct="1">
              <a:lnSpc>
                <a:spcPct val="120000"/>
              </a:lnSpc>
            </a:pPr>
            <a:r>
              <a:rPr lang="en-US" altLang="zh-CN" b="1" dirty="0">
                <a:latin typeface="Times New Roman" pitchFamily="18" charset="0"/>
              </a:rPr>
              <a:t>(2)</a:t>
            </a:r>
          </a:p>
          <a:p>
            <a:pPr eaLnBrk="1" hangingPunct="1">
              <a:lnSpc>
                <a:spcPct val="120000"/>
              </a:lnSpc>
            </a:pPr>
            <a:r>
              <a:rPr lang="en-US" altLang="zh-CN" b="1" dirty="0">
                <a:latin typeface="Times New Roman" pitchFamily="18" charset="0"/>
              </a:rPr>
              <a:t>(3)</a:t>
            </a:r>
          </a:p>
          <a:p>
            <a:pPr eaLnBrk="1" hangingPunct="1">
              <a:lnSpc>
                <a:spcPct val="120000"/>
              </a:lnSpc>
            </a:pPr>
            <a:r>
              <a:rPr lang="en-US" altLang="zh-CN" b="1" dirty="0">
                <a:latin typeface="Times New Roman" pitchFamily="18" charset="0"/>
              </a:rPr>
              <a:t>(4)</a:t>
            </a:r>
          </a:p>
          <a:p>
            <a:pPr eaLnBrk="1" hangingPunct="1">
              <a:lnSpc>
                <a:spcPct val="120000"/>
              </a:lnSpc>
            </a:pPr>
            <a:r>
              <a:rPr lang="en-US" altLang="zh-CN" b="1" dirty="0">
                <a:latin typeface="Times New Roman" pitchFamily="18" charset="0"/>
              </a:rPr>
              <a:t>(5)</a:t>
            </a:r>
          </a:p>
          <a:p>
            <a:pPr eaLnBrk="1" hangingPunct="1">
              <a:lnSpc>
                <a:spcPct val="120000"/>
              </a:lnSpc>
            </a:pPr>
            <a:r>
              <a:rPr lang="en-US" altLang="zh-CN" b="1" dirty="0">
                <a:latin typeface="Times New Roman" pitchFamily="18" charset="0"/>
              </a:rPr>
              <a:t>(6)</a:t>
            </a:r>
          </a:p>
          <a:p>
            <a:pPr eaLnBrk="1" hangingPunct="1">
              <a:lnSpc>
                <a:spcPct val="120000"/>
              </a:lnSpc>
            </a:pPr>
            <a:r>
              <a:rPr lang="en-US" altLang="zh-CN" b="1" dirty="0">
                <a:latin typeface="Times New Roman" pitchFamily="18" charset="0"/>
              </a:rPr>
              <a:t>Proof(?)</a:t>
            </a:r>
          </a:p>
        </p:txBody>
      </p:sp>
      <p:graphicFrame>
        <p:nvGraphicFramePr>
          <p:cNvPr id="77828" name="Object 4"/>
          <p:cNvGraphicFramePr>
            <a:graphicFrameLocks noChangeAspect="1"/>
          </p:cNvGraphicFramePr>
          <p:nvPr>
            <p:extLst>
              <p:ext uri="{D42A27DB-BD31-4B8C-83A1-F6EECF244321}">
                <p14:modId xmlns:p14="http://schemas.microsoft.com/office/powerpoint/2010/main" val="1040163408"/>
              </p:ext>
            </p:extLst>
          </p:nvPr>
        </p:nvGraphicFramePr>
        <p:xfrm>
          <a:off x="1619673" y="2450348"/>
          <a:ext cx="3971809" cy="443690"/>
        </p:xfrm>
        <a:graphic>
          <a:graphicData uri="http://schemas.openxmlformats.org/presentationml/2006/ole">
            <mc:AlternateContent xmlns:mc="http://schemas.openxmlformats.org/markup-compatibility/2006">
              <mc:Choice xmlns:v="urn:schemas-microsoft-com:vml" Requires="v">
                <p:oleObj name="公式" r:id="rId2" imgW="1841400" imgH="177480" progId="Equation.3">
                  <p:embed/>
                </p:oleObj>
              </mc:Choice>
              <mc:Fallback>
                <p:oleObj name="公式" r:id="rId2" imgW="1841400" imgH="177480" progId="Equation.3">
                  <p:embed/>
                  <p:pic>
                    <p:nvPicPr>
                      <p:cNvPr id="0" name="Object 4"/>
                      <p:cNvPicPr>
                        <a:picLocks noChangeAspect="1" noChangeArrowheads="1"/>
                      </p:cNvPicPr>
                      <p:nvPr/>
                    </p:nvPicPr>
                    <p:blipFill>
                      <a:blip r:embed="rId3"/>
                      <a:srcRect/>
                      <a:stretch>
                        <a:fillRect/>
                      </a:stretch>
                    </p:blipFill>
                    <p:spPr bwMode="auto">
                      <a:xfrm>
                        <a:off x="1619673" y="2450348"/>
                        <a:ext cx="3971809" cy="443690"/>
                      </a:xfrm>
                      <a:prstGeom prst="rect">
                        <a:avLst/>
                      </a:prstGeom>
                      <a:solidFill>
                        <a:srgbClr val="FF0000"/>
                      </a:solidFill>
                      <a:ln>
                        <a:noFill/>
                      </a:ln>
                      <a:effectLst/>
                    </p:spPr>
                  </p:pic>
                </p:oleObj>
              </mc:Fallback>
            </mc:AlternateContent>
          </a:graphicData>
        </a:graphic>
      </p:graphicFrame>
      <p:graphicFrame>
        <p:nvGraphicFramePr>
          <p:cNvPr id="77829" name="Object 5"/>
          <p:cNvGraphicFramePr>
            <a:graphicFrameLocks noChangeAspect="1"/>
          </p:cNvGraphicFramePr>
          <p:nvPr>
            <p:extLst>
              <p:ext uri="{D42A27DB-BD31-4B8C-83A1-F6EECF244321}">
                <p14:modId xmlns:p14="http://schemas.microsoft.com/office/powerpoint/2010/main" val="2717089479"/>
              </p:ext>
            </p:extLst>
          </p:nvPr>
        </p:nvGraphicFramePr>
        <p:xfrm>
          <a:off x="1619672" y="3141664"/>
          <a:ext cx="4896544" cy="465358"/>
        </p:xfrm>
        <a:graphic>
          <a:graphicData uri="http://schemas.openxmlformats.org/presentationml/2006/ole">
            <mc:AlternateContent xmlns:mc="http://schemas.openxmlformats.org/markup-compatibility/2006">
              <mc:Choice xmlns:v="urn:schemas-microsoft-com:vml" Requires="v">
                <p:oleObj name="Equation" r:id="rId4" imgW="1781257" imgH="123930" progId="Equation.3">
                  <p:embed/>
                </p:oleObj>
              </mc:Choice>
              <mc:Fallback>
                <p:oleObj name="Equation" r:id="rId4" imgW="1781257" imgH="123930" progId="Equation.3">
                  <p:embed/>
                  <p:pic>
                    <p:nvPicPr>
                      <p:cNvPr id="0" name="Object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619672" y="3141664"/>
                        <a:ext cx="4896544" cy="465358"/>
                      </a:xfrm>
                      <a:prstGeom prst="rect">
                        <a:avLst/>
                      </a:prstGeom>
                      <a:solidFill>
                        <a:srgbClr val="FF0000"/>
                      </a:solidFill>
                      <a:ln>
                        <a:noFill/>
                      </a:ln>
                      <a:effectLst/>
                    </p:spPr>
                  </p:pic>
                </p:oleObj>
              </mc:Fallback>
            </mc:AlternateContent>
          </a:graphicData>
        </a:graphic>
      </p:graphicFrame>
      <p:graphicFrame>
        <p:nvGraphicFramePr>
          <p:cNvPr id="77830" name="Object 6"/>
          <p:cNvGraphicFramePr>
            <a:graphicFrameLocks noChangeAspect="1"/>
          </p:cNvGraphicFramePr>
          <p:nvPr>
            <p:extLst>
              <p:ext uri="{D42A27DB-BD31-4B8C-83A1-F6EECF244321}">
                <p14:modId xmlns:p14="http://schemas.microsoft.com/office/powerpoint/2010/main" val="3147314586"/>
              </p:ext>
            </p:extLst>
          </p:nvPr>
        </p:nvGraphicFramePr>
        <p:xfrm>
          <a:off x="1547664" y="3789040"/>
          <a:ext cx="3312790" cy="544512"/>
        </p:xfrm>
        <a:graphic>
          <a:graphicData uri="http://schemas.openxmlformats.org/presentationml/2006/ole">
            <mc:AlternateContent xmlns:mc="http://schemas.openxmlformats.org/markup-compatibility/2006">
              <mc:Choice xmlns:v="urn:schemas-microsoft-com:vml" Requires="v">
                <p:oleObj name="Equation" r:id="rId6" imgW="1066755" imgH="152280" progId="Equation.3">
                  <p:embed/>
                </p:oleObj>
              </mc:Choice>
              <mc:Fallback>
                <p:oleObj name="Equation" r:id="rId6" imgW="1066755" imgH="152280" progId="Equation.3">
                  <p:embed/>
                  <p:pic>
                    <p:nvPicPr>
                      <p:cNvPr id="0" name="Object 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547664" y="3789040"/>
                        <a:ext cx="3312790" cy="544512"/>
                      </a:xfrm>
                      <a:prstGeom prst="rect">
                        <a:avLst/>
                      </a:prstGeom>
                      <a:noFill/>
                      <a:ln>
                        <a:noFill/>
                      </a:ln>
                      <a:effectLst/>
                    </p:spPr>
                  </p:pic>
                </p:oleObj>
              </mc:Fallback>
            </mc:AlternateContent>
          </a:graphicData>
        </a:graphic>
      </p:graphicFrame>
      <p:graphicFrame>
        <p:nvGraphicFramePr>
          <p:cNvPr id="77831" name="Object 7"/>
          <p:cNvGraphicFramePr>
            <a:graphicFrameLocks noChangeAspect="1"/>
          </p:cNvGraphicFramePr>
          <p:nvPr>
            <p:extLst>
              <p:ext uri="{D42A27DB-BD31-4B8C-83A1-F6EECF244321}">
                <p14:modId xmlns:p14="http://schemas.microsoft.com/office/powerpoint/2010/main" val="4261375207"/>
              </p:ext>
            </p:extLst>
          </p:nvPr>
        </p:nvGraphicFramePr>
        <p:xfrm>
          <a:off x="1547242" y="4437063"/>
          <a:ext cx="3312790" cy="544512"/>
        </p:xfrm>
        <a:graphic>
          <a:graphicData uri="http://schemas.openxmlformats.org/presentationml/2006/ole">
            <mc:AlternateContent xmlns:mc="http://schemas.openxmlformats.org/markup-compatibility/2006">
              <mc:Choice xmlns:v="urn:schemas-microsoft-com:vml" Requires="v">
                <p:oleObj name="Equation" r:id="rId8" imgW="1066755" imgH="152280" progId="Equation.3">
                  <p:embed/>
                </p:oleObj>
              </mc:Choice>
              <mc:Fallback>
                <p:oleObj name="Equation" r:id="rId8" imgW="1066755" imgH="152280" progId="Equation.3">
                  <p:embed/>
                  <p:pic>
                    <p:nvPicPr>
                      <p:cNvPr id="0" name="Object 7"/>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547242" y="4437063"/>
                        <a:ext cx="3312790" cy="544512"/>
                      </a:xfrm>
                      <a:prstGeom prst="rect">
                        <a:avLst/>
                      </a:prstGeom>
                      <a:noFill/>
                      <a:ln>
                        <a:noFill/>
                      </a:ln>
                      <a:effectLst/>
                    </p:spPr>
                  </p:pic>
                </p:oleObj>
              </mc:Fallback>
            </mc:AlternateContent>
          </a:graphicData>
        </a:graphic>
      </p:graphicFrame>
      <p:graphicFrame>
        <p:nvGraphicFramePr>
          <p:cNvPr id="77832" name="Object 8"/>
          <p:cNvGraphicFramePr>
            <a:graphicFrameLocks noChangeAspect="1"/>
          </p:cNvGraphicFramePr>
          <p:nvPr>
            <p:extLst>
              <p:ext uri="{D42A27DB-BD31-4B8C-83A1-F6EECF244321}">
                <p14:modId xmlns:p14="http://schemas.microsoft.com/office/powerpoint/2010/main" val="218094172"/>
              </p:ext>
            </p:extLst>
          </p:nvPr>
        </p:nvGraphicFramePr>
        <p:xfrm>
          <a:off x="1528708" y="5193319"/>
          <a:ext cx="2899276" cy="467929"/>
        </p:xfrm>
        <a:graphic>
          <a:graphicData uri="http://schemas.openxmlformats.org/presentationml/2006/ole">
            <mc:AlternateContent xmlns:mc="http://schemas.openxmlformats.org/markup-compatibility/2006">
              <mc:Choice xmlns:v="urn:schemas-microsoft-com:vml" Requires="v">
                <p:oleObj name="公式" r:id="rId10" imgW="1282680" imgH="203040" progId="Equation.3">
                  <p:embed/>
                </p:oleObj>
              </mc:Choice>
              <mc:Fallback>
                <p:oleObj name="公式" r:id="rId10" imgW="1282680" imgH="203040" progId="Equation.3">
                  <p:embed/>
                  <p:pic>
                    <p:nvPicPr>
                      <p:cNvPr id="0" name="Object 8"/>
                      <p:cNvPicPr>
                        <a:picLocks noChangeAspect="1" noChangeArrowheads="1"/>
                      </p:cNvPicPr>
                      <p:nvPr/>
                    </p:nvPicPr>
                    <p:blipFill>
                      <a:blip r:embed="rId11"/>
                      <a:srcRect/>
                      <a:stretch>
                        <a:fillRect/>
                      </a:stretch>
                    </p:blipFill>
                    <p:spPr bwMode="auto">
                      <a:xfrm>
                        <a:off x="1528708" y="5193319"/>
                        <a:ext cx="2899276" cy="467929"/>
                      </a:xfrm>
                      <a:prstGeom prst="rect">
                        <a:avLst/>
                      </a:prstGeom>
                      <a:noFill/>
                      <a:ln>
                        <a:noFill/>
                      </a:ln>
                      <a:effectLst/>
                    </p:spPr>
                  </p:pic>
                </p:oleObj>
              </mc:Fallback>
            </mc:AlternateContent>
          </a:graphicData>
        </a:graphic>
      </p:graphicFrame>
      <p:graphicFrame>
        <p:nvGraphicFramePr>
          <p:cNvPr id="2" name="对象 1"/>
          <p:cNvGraphicFramePr>
            <a:graphicFrameLocks noChangeAspect="1"/>
          </p:cNvGraphicFramePr>
          <p:nvPr>
            <p:extLst>
              <p:ext uri="{D42A27DB-BD31-4B8C-83A1-F6EECF244321}">
                <p14:modId xmlns:p14="http://schemas.microsoft.com/office/powerpoint/2010/main" val="3502870652"/>
              </p:ext>
            </p:extLst>
          </p:nvPr>
        </p:nvGraphicFramePr>
        <p:xfrm>
          <a:off x="1475656" y="1700808"/>
          <a:ext cx="6912768" cy="574675"/>
        </p:xfrm>
        <a:graphic>
          <a:graphicData uri="http://schemas.openxmlformats.org/presentationml/2006/ole">
            <mc:AlternateContent xmlns:mc="http://schemas.openxmlformats.org/markup-compatibility/2006">
              <mc:Choice xmlns:v="urn:schemas-microsoft-com:vml" Requires="v">
                <p:oleObj name="公式" r:id="rId12" imgW="3352680" imgH="241200" progId="Equation.3">
                  <p:embed/>
                </p:oleObj>
              </mc:Choice>
              <mc:Fallback>
                <p:oleObj name="公式" r:id="rId12" imgW="3352680" imgH="241200" progId="Equation.3">
                  <p:embed/>
                  <p:pic>
                    <p:nvPicPr>
                      <p:cNvPr id="0" name="Object 3"/>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475656" y="1700808"/>
                        <a:ext cx="6912768" cy="574675"/>
                      </a:xfrm>
                      <a:prstGeom prst="rect">
                        <a:avLst/>
                      </a:prstGeom>
                      <a:noFill/>
                      <a:ln>
                        <a:noFill/>
                      </a:ln>
                      <a:effectLst/>
                    </p:spPr>
                  </p:pic>
                </p:oleObj>
              </mc:Fallback>
            </mc:AlternateContent>
          </a:graphicData>
        </a:graphic>
      </p:graphicFrame>
    </p:spTree>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2"/>
          <p:cNvSpPr>
            <a:spLocks noGrp="1" noChangeArrowheads="1"/>
          </p:cNvSpPr>
          <p:nvPr>
            <p:ph type="title"/>
          </p:nvPr>
        </p:nvSpPr>
        <p:spPr/>
        <p:txBody>
          <a:bodyPr/>
          <a:lstStyle/>
          <a:p>
            <a:pPr algn="l" eaLnBrk="1" hangingPunct="1"/>
            <a:r>
              <a:rPr lang="en-US" altLang="zh-CN" b="1">
                <a:latin typeface="Times New Roman" pitchFamily="18" charset="0"/>
              </a:rPr>
              <a:t>3.4 </a:t>
            </a:r>
            <a:r>
              <a:rPr lang="zh-CN" altLang="en-US" b="1">
                <a:latin typeface="Times New Roman" pitchFamily="18" charset="0"/>
              </a:rPr>
              <a:t>逻辑等值的命题公式</a:t>
            </a:r>
          </a:p>
        </p:txBody>
      </p:sp>
      <p:sp>
        <p:nvSpPr>
          <p:cNvPr id="78851" name="Rectangle 3"/>
          <p:cNvSpPr>
            <a:spLocks noGrp="1" noChangeArrowheads="1"/>
          </p:cNvSpPr>
          <p:nvPr>
            <p:ph type="body" idx="1"/>
          </p:nvPr>
        </p:nvSpPr>
        <p:spPr/>
        <p:txBody>
          <a:bodyPr/>
          <a:lstStyle/>
          <a:p>
            <a:pPr eaLnBrk="1" hangingPunct="1"/>
            <a:endParaRPr lang="en-US" altLang="zh-CN"/>
          </a:p>
          <a:p>
            <a:pPr eaLnBrk="1" hangingPunct="1"/>
            <a:endParaRPr lang="en-US" altLang="zh-CN"/>
          </a:p>
        </p:txBody>
      </p:sp>
      <p:grpSp>
        <p:nvGrpSpPr>
          <p:cNvPr id="78852" name="Group 4"/>
          <p:cNvGrpSpPr>
            <a:grpSpLocks/>
          </p:cNvGrpSpPr>
          <p:nvPr/>
        </p:nvGrpSpPr>
        <p:grpSpPr bwMode="auto">
          <a:xfrm>
            <a:off x="1042988" y="1365250"/>
            <a:ext cx="5905500" cy="712788"/>
            <a:chOff x="1152" y="1101"/>
            <a:chExt cx="3408" cy="449"/>
          </a:xfrm>
        </p:grpSpPr>
        <p:grpSp>
          <p:nvGrpSpPr>
            <p:cNvPr id="78878" name="Group 5"/>
            <p:cNvGrpSpPr>
              <a:grpSpLocks/>
            </p:cNvGrpSpPr>
            <p:nvPr/>
          </p:nvGrpSpPr>
          <p:grpSpPr bwMode="auto">
            <a:xfrm>
              <a:off x="1152" y="1131"/>
              <a:ext cx="480" cy="419"/>
              <a:chOff x="1110" y="2656"/>
              <a:chExt cx="1549" cy="1351"/>
            </a:xfrm>
          </p:grpSpPr>
          <p:sp>
            <p:nvSpPr>
              <p:cNvPr id="78882" name="AutoShape 6"/>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a:solidFill>
                    <a:srgbClr val="000000"/>
                  </a:solidFill>
                </a:endParaRPr>
              </a:p>
            </p:txBody>
          </p:sp>
          <p:sp>
            <p:nvSpPr>
              <p:cNvPr id="78883" name="AutoShape 7"/>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500">
                    <a:srgbClr val="7D8496"/>
                  </a:gs>
                  <a:gs pos="26500">
                    <a:srgbClr val="E6E6E6"/>
                  </a:gs>
                  <a:gs pos="34000">
                    <a:srgbClr val="7D8496"/>
                  </a:gs>
                  <a:gs pos="46500">
                    <a:srgbClr val="E6E6E6"/>
                  </a:gs>
                  <a:gs pos="50000">
                    <a:srgbClr val="FFFFFF"/>
                  </a:gs>
                  <a:gs pos="53500">
                    <a:srgbClr val="E6E6E6"/>
                  </a:gs>
                  <a:gs pos="66000">
                    <a:srgbClr val="7D8496"/>
                  </a:gs>
                  <a:gs pos="73500">
                    <a:srgbClr val="E6E6E6"/>
                  </a:gs>
                  <a:gs pos="92500">
                    <a:srgbClr val="7D8496"/>
                  </a:gs>
                  <a:gs pos="100000">
                    <a:srgbClr val="E6E6E6"/>
                  </a:gs>
                </a:gsLst>
                <a:lin ang="2700000" scaled="1"/>
              </a:gradFill>
              <a:ln w="9525">
                <a:solidFill>
                  <a:srgbClr val="C0C0C0"/>
                </a:solidFill>
                <a:miter lim="800000"/>
                <a:headEnd/>
                <a:tailEnd/>
              </a:ln>
            </p:spPr>
            <p:txBody>
              <a:bodyPr wrap="none" anchor="ctr"/>
              <a:lstStyle/>
              <a:p>
                <a:endParaRPr lang="zh-CN" altLang="en-US">
                  <a:solidFill>
                    <a:srgbClr val="000000"/>
                  </a:solidFill>
                </a:endParaRPr>
              </a:p>
            </p:txBody>
          </p:sp>
          <p:sp>
            <p:nvSpPr>
              <p:cNvPr id="77832" name="AutoShape 8"/>
              <p:cNvSpPr>
                <a:spLocks noChangeArrowheads="1"/>
              </p:cNvSpPr>
              <p:nvPr/>
            </p:nvSpPr>
            <p:spPr bwMode="gray">
              <a:xfrm>
                <a:off x="1199" y="2737"/>
                <a:ext cx="1351" cy="1167"/>
              </a:xfrm>
              <a:prstGeom prst="hexagon">
                <a:avLst>
                  <a:gd name="adj" fmla="val 28896"/>
                  <a:gd name="vf" fmla="val 115470"/>
                </a:avLst>
              </a:prstGeom>
              <a:gradFill rotWithShape="1">
                <a:gsLst>
                  <a:gs pos="0">
                    <a:schemeClr val="accent2">
                      <a:gamma/>
                      <a:shade val="46275"/>
                      <a:invGamma/>
                    </a:schemeClr>
                  </a:gs>
                  <a:gs pos="100000">
                    <a:schemeClr val="accent2"/>
                  </a:gs>
                </a:gsLst>
                <a:lin ang="2700000" scaled="1"/>
              </a:gradFill>
              <a:ln w="9525">
                <a:solidFill>
                  <a:schemeClr val="tx1"/>
                </a:solidFill>
                <a:miter lim="800000"/>
                <a:headEnd/>
                <a:tailEnd/>
              </a:ln>
              <a:effectLst/>
            </p:spPr>
            <p:txBody>
              <a:bodyPr wrap="none" anchor="ctr"/>
              <a:lstStyle/>
              <a:p>
                <a:pPr>
                  <a:defRPr/>
                </a:pPr>
                <a:endParaRPr lang="zh-CN" altLang="en-US">
                  <a:solidFill>
                    <a:srgbClr val="000000"/>
                  </a:solidFill>
                </a:endParaRPr>
              </a:p>
            </p:txBody>
          </p:sp>
        </p:grpSp>
        <p:sp>
          <p:nvSpPr>
            <p:cNvPr id="78879" name="Line 9"/>
            <p:cNvSpPr>
              <a:spLocks noChangeShapeType="1"/>
            </p:cNvSpPr>
            <p:nvPr/>
          </p:nvSpPr>
          <p:spPr bwMode="auto">
            <a:xfrm>
              <a:off x="1536" y="1515"/>
              <a:ext cx="3024" cy="0"/>
            </a:xfrm>
            <a:prstGeom prst="line">
              <a:avLst/>
            </a:prstGeom>
            <a:noFill/>
            <a:ln w="25400">
              <a:solidFill>
                <a:srgbClr val="C0C0C0"/>
              </a:solidFill>
              <a:prstDash val="sysDot"/>
              <a:round/>
              <a:headEnd/>
              <a:tailEnd type="oval"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8880" name="Text Box 10"/>
            <p:cNvSpPr txBox="1">
              <a:spLocks noChangeArrowheads="1"/>
            </p:cNvSpPr>
            <p:nvPr/>
          </p:nvSpPr>
          <p:spPr bwMode="auto">
            <a:xfrm>
              <a:off x="2112" y="1101"/>
              <a:ext cx="1915"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r>
                <a:rPr lang="zh-CN" altLang="en-US" sz="3200" b="1" dirty="0">
                  <a:solidFill>
                    <a:srgbClr val="000000"/>
                  </a:solidFill>
                </a:rPr>
                <a:t>逻辑等值的定义</a:t>
              </a:r>
            </a:p>
          </p:txBody>
        </p:sp>
        <p:sp>
          <p:nvSpPr>
            <p:cNvPr id="78881" name="Text Box 11"/>
            <p:cNvSpPr txBox="1">
              <a:spLocks noChangeArrowheads="1"/>
            </p:cNvSpPr>
            <p:nvPr/>
          </p:nvSpPr>
          <p:spPr bwMode="gray">
            <a:xfrm>
              <a:off x="1276" y="1132"/>
              <a:ext cx="223"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a:r>
                <a:rPr lang="en-US" altLang="zh-CN" sz="3200" b="1">
                  <a:solidFill>
                    <a:srgbClr val="FFFFFF"/>
                  </a:solidFill>
                  <a:latin typeface="Times New Roman" pitchFamily="18" charset="0"/>
                </a:rPr>
                <a:t>1</a:t>
              </a:r>
            </a:p>
          </p:txBody>
        </p:sp>
      </p:grpSp>
      <p:grpSp>
        <p:nvGrpSpPr>
          <p:cNvPr id="78853" name="Group 12"/>
          <p:cNvGrpSpPr>
            <a:grpSpLocks/>
          </p:cNvGrpSpPr>
          <p:nvPr/>
        </p:nvGrpSpPr>
        <p:grpSpPr bwMode="auto">
          <a:xfrm>
            <a:off x="1042988" y="2444750"/>
            <a:ext cx="5689600" cy="712788"/>
            <a:chOff x="1152" y="1677"/>
            <a:chExt cx="3408" cy="449"/>
          </a:xfrm>
        </p:grpSpPr>
        <p:grpSp>
          <p:nvGrpSpPr>
            <p:cNvPr id="78871" name="Group 13"/>
            <p:cNvGrpSpPr>
              <a:grpSpLocks/>
            </p:cNvGrpSpPr>
            <p:nvPr/>
          </p:nvGrpSpPr>
          <p:grpSpPr bwMode="auto">
            <a:xfrm>
              <a:off x="1152" y="1707"/>
              <a:ext cx="480" cy="419"/>
              <a:chOff x="3174" y="2656"/>
              <a:chExt cx="1549" cy="1351"/>
            </a:xfrm>
          </p:grpSpPr>
          <p:sp>
            <p:nvSpPr>
              <p:cNvPr id="78875" name="AutoShape 14"/>
              <p:cNvSpPr>
                <a:spLocks noChangeArrowheads="1"/>
              </p:cNvSpPr>
              <p:nvPr/>
            </p:nvSpPr>
            <p:spPr bwMode="gray">
              <a:xfrm>
                <a:off x="3187" y="2679"/>
                <a:ext cx="1536" cy="1328"/>
              </a:xfrm>
              <a:prstGeom prst="hexagon">
                <a:avLst>
                  <a:gd name="adj" fmla="val 28916"/>
                  <a:gd name="vf" fmla="val 115470"/>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a:solidFill>
                    <a:srgbClr val="000000"/>
                  </a:solidFill>
                </a:endParaRPr>
              </a:p>
            </p:txBody>
          </p:sp>
          <p:sp>
            <p:nvSpPr>
              <p:cNvPr id="78876" name="AutoShape 15"/>
              <p:cNvSpPr>
                <a:spLocks noChangeArrowheads="1"/>
              </p:cNvSpPr>
              <p:nvPr/>
            </p:nvSpPr>
            <p:spPr bwMode="gray">
              <a:xfrm>
                <a:off x="3174" y="2656"/>
                <a:ext cx="1536" cy="1328"/>
              </a:xfrm>
              <a:prstGeom prst="hexagon">
                <a:avLst>
                  <a:gd name="adj" fmla="val 28916"/>
                  <a:gd name="vf" fmla="val 115470"/>
                </a:avLst>
              </a:prstGeom>
              <a:gradFill rotWithShape="1">
                <a:gsLst>
                  <a:gs pos="0">
                    <a:srgbClr val="E6E6E6"/>
                  </a:gs>
                  <a:gs pos="7500">
                    <a:srgbClr val="7D8496"/>
                  </a:gs>
                  <a:gs pos="26500">
                    <a:srgbClr val="E6E6E6"/>
                  </a:gs>
                  <a:gs pos="34000">
                    <a:srgbClr val="7D8496"/>
                  </a:gs>
                  <a:gs pos="46500">
                    <a:srgbClr val="E6E6E6"/>
                  </a:gs>
                  <a:gs pos="50000">
                    <a:srgbClr val="FFFFFF"/>
                  </a:gs>
                  <a:gs pos="53500">
                    <a:srgbClr val="E6E6E6"/>
                  </a:gs>
                  <a:gs pos="66000">
                    <a:srgbClr val="7D8496"/>
                  </a:gs>
                  <a:gs pos="73500">
                    <a:srgbClr val="E6E6E6"/>
                  </a:gs>
                  <a:gs pos="92500">
                    <a:srgbClr val="7D8496"/>
                  </a:gs>
                  <a:gs pos="100000">
                    <a:srgbClr val="E6E6E6"/>
                  </a:gs>
                </a:gsLst>
                <a:lin ang="2700000" scaled="1"/>
              </a:gradFill>
              <a:ln w="9525">
                <a:solidFill>
                  <a:srgbClr val="C0C0C0"/>
                </a:solidFill>
                <a:miter lim="800000"/>
                <a:headEnd/>
                <a:tailEnd/>
              </a:ln>
            </p:spPr>
            <p:txBody>
              <a:bodyPr wrap="none" anchor="ctr"/>
              <a:lstStyle/>
              <a:p>
                <a:endParaRPr lang="zh-CN" altLang="en-US">
                  <a:solidFill>
                    <a:srgbClr val="000000"/>
                  </a:solidFill>
                </a:endParaRPr>
              </a:p>
            </p:txBody>
          </p:sp>
          <p:sp>
            <p:nvSpPr>
              <p:cNvPr id="4" name="AutoShape 16"/>
              <p:cNvSpPr>
                <a:spLocks noChangeArrowheads="1"/>
              </p:cNvSpPr>
              <p:nvPr/>
            </p:nvSpPr>
            <p:spPr bwMode="gray">
              <a:xfrm>
                <a:off x="3263" y="2737"/>
                <a:ext cx="1350" cy="1167"/>
              </a:xfrm>
              <a:prstGeom prst="hexagon">
                <a:avLst>
                  <a:gd name="adj" fmla="val 28896"/>
                  <a:gd name="vf" fmla="val 115470"/>
                </a:avLst>
              </a:prstGeom>
              <a:gradFill rotWithShape="1">
                <a:gsLst>
                  <a:gs pos="0">
                    <a:schemeClr val="accent1">
                      <a:gamma/>
                      <a:shade val="46275"/>
                      <a:invGamma/>
                    </a:schemeClr>
                  </a:gs>
                  <a:gs pos="100000">
                    <a:schemeClr val="accent1"/>
                  </a:gs>
                </a:gsLst>
                <a:lin ang="2700000" scaled="1"/>
              </a:gradFill>
              <a:ln w="9525">
                <a:solidFill>
                  <a:schemeClr val="tx1"/>
                </a:solidFill>
                <a:miter lim="800000"/>
                <a:headEnd/>
                <a:tailEnd/>
              </a:ln>
              <a:effectLst/>
            </p:spPr>
            <p:txBody>
              <a:bodyPr wrap="none" anchor="ctr"/>
              <a:lstStyle/>
              <a:p>
                <a:pPr>
                  <a:defRPr/>
                </a:pPr>
                <a:endParaRPr lang="zh-CN" altLang="en-US">
                  <a:solidFill>
                    <a:srgbClr val="000000"/>
                  </a:solidFill>
                </a:endParaRPr>
              </a:p>
            </p:txBody>
          </p:sp>
        </p:grpSp>
        <p:sp>
          <p:nvSpPr>
            <p:cNvPr id="78872" name="Line 17"/>
            <p:cNvSpPr>
              <a:spLocks noChangeShapeType="1"/>
            </p:cNvSpPr>
            <p:nvPr/>
          </p:nvSpPr>
          <p:spPr bwMode="auto">
            <a:xfrm>
              <a:off x="1536" y="2091"/>
              <a:ext cx="3024" cy="0"/>
            </a:xfrm>
            <a:prstGeom prst="line">
              <a:avLst/>
            </a:prstGeom>
            <a:noFill/>
            <a:ln w="25400">
              <a:solidFill>
                <a:srgbClr val="C0C0C0"/>
              </a:solidFill>
              <a:prstDash val="sysDot"/>
              <a:round/>
              <a:headEnd/>
              <a:tailEnd type="oval"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8873" name="Text Box 18"/>
            <p:cNvSpPr txBox="1">
              <a:spLocks noChangeArrowheads="1"/>
            </p:cNvSpPr>
            <p:nvPr/>
          </p:nvSpPr>
          <p:spPr bwMode="auto">
            <a:xfrm>
              <a:off x="2112" y="1677"/>
              <a:ext cx="1401"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r>
                <a:rPr lang="zh-CN" altLang="en-US" sz="3200" b="1">
                  <a:solidFill>
                    <a:srgbClr val="000000"/>
                  </a:solidFill>
                </a:rPr>
                <a:t>基本等值式</a:t>
              </a:r>
            </a:p>
          </p:txBody>
        </p:sp>
        <p:sp>
          <p:nvSpPr>
            <p:cNvPr id="78874" name="Text Box 19"/>
            <p:cNvSpPr txBox="1">
              <a:spLocks noChangeArrowheads="1"/>
            </p:cNvSpPr>
            <p:nvPr/>
          </p:nvSpPr>
          <p:spPr bwMode="gray">
            <a:xfrm>
              <a:off x="1272" y="1708"/>
              <a:ext cx="232"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a:r>
                <a:rPr lang="en-US" altLang="zh-CN" sz="3200" b="1">
                  <a:solidFill>
                    <a:srgbClr val="FFFFFF"/>
                  </a:solidFill>
                  <a:latin typeface="Times New Roman" pitchFamily="18" charset="0"/>
                </a:rPr>
                <a:t>2</a:t>
              </a:r>
            </a:p>
          </p:txBody>
        </p:sp>
      </p:grpSp>
      <p:grpSp>
        <p:nvGrpSpPr>
          <p:cNvPr id="78854" name="Group 20"/>
          <p:cNvGrpSpPr>
            <a:grpSpLocks/>
          </p:cNvGrpSpPr>
          <p:nvPr/>
        </p:nvGrpSpPr>
        <p:grpSpPr bwMode="auto">
          <a:xfrm>
            <a:off x="1042988" y="3549650"/>
            <a:ext cx="5410200" cy="688975"/>
            <a:chOff x="1152" y="2254"/>
            <a:chExt cx="3408" cy="434"/>
          </a:xfrm>
        </p:grpSpPr>
        <p:grpSp>
          <p:nvGrpSpPr>
            <p:cNvPr id="78864" name="Group 21"/>
            <p:cNvGrpSpPr>
              <a:grpSpLocks/>
            </p:cNvGrpSpPr>
            <p:nvPr/>
          </p:nvGrpSpPr>
          <p:grpSpPr bwMode="auto">
            <a:xfrm>
              <a:off x="1152" y="2269"/>
              <a:ext cx="480" cy="419"/>
              <a:chOff x="1110" y="2656"/>
              <a:chExt cx="1549" cy="1351"/>
            </a:xfrm>
          </p:grpSpPr>
          <p:sp>
            <p:nvSpPr>
              <p:cNvPr id="78868" name="AutoShape 22"/>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a:solidFill>
                    <a:srgbClr val="000000"/>
                  </a:solidFill>
                </a:endParaRPr>
              </a:p>
            </p:txBody>
          </p:sp>
          <p:sp>
            <p:nvSpPr>
              <p:cNvPr id="78869" name="AutoShape 23"/>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500">
                    <a:srgbClr val="7D8496"/>
                  </a:gs>
                  <a:gs pos="26500">
                    <a:srgbClr val="E6E6E6"/>
                  </a:gs>
                  <a:gs pos="34000">
                    <a:srgbClr val="7D8496"/>
                  </a:gs>
                  <a:gs pos="46500">
                    <a:srgbClr val="E6E6E6"/>
                  </a:gs>
                  <a:gs pos="50000">
                    <a:srgbClr val="FFFFFF"/>
                  </a:gs>
                  <a:gs pos="53500">
                    <a:srgbClr val="E6E6E6"/>
                  </a:gs>
                  <a:gs pos="66000">
                    <a:srgbClr val="7D8496"/>
                  </a:gs>
                  <a:gs pos="73500">
                    <a:srgbClr val="E6E6E6"/>
                  </a:gs>
                  <a:gs pos="92500">
                    <a:srgbClr val="7D8496"/>
                  </a:gs>
                  <a:gs pos="100000">
                    <a:srgbClr val="E6E6E6"/>
                  </a:gs>
                </a:gsLst>
                <a:lin ang="2700000" scaled="1"/>
              </a:gradFill>
              <a:ln w="9525">
                <a:solidFill>
                  <a:srgbClr val="C0C0C0"/>
                </a:solidFill>
                <a:miter lim="800000"/>
                <a:headEnd/>
                <a:tailEnd/>
              </a:ln>
            </p:spPr>
            <p:txBody>
              <a:bodyPr wrap="none" anchor="ctr"/>
              <a:lstStyle/>
              <a:p>
                <a:endParaRPr lang="zh-CN" altLang="en-US">
                  <a:solidFill>
                    <a:srgbClr val="000000"/>
                  </a:solidFill>
                </a:endParaRPr>
              </a:p>
            </p:txBody>
          </p:sp>
          <p:sp>
            <p:nvSpPr>
              <p:cNvPr id="77848" name="AutoShape 24"/>
              <p:cNvSpPr>
                <a:spLocks noChangeArrowheads="1"/>
              </p:cNvSpPr>
              <p:nvPr/>
            </p:nvSpPr>
            <p:spPr bwMode="gray">
              <a:xfrm>
                <a:off x="1200" y="2737"/>
                <a:ext cx="1349" cy="1167"/>
              </a:xfrm>
              <a:prstGeom prst="hexagon">
                <a:avLst>
                  <a:gd name="adj" fmla="val 28896"/>
                  <a:gd name="vf" fmla="val 115470"/>
                </a:avLst>
              </a:prstGeom>
              <a:gradFill rotWithShape="1">
                <a:gsLst>
                  <a:gs pos="0">
                    <a:schemeClr val="accent2">
                      <a:gamma/>
                      <a:shade val="46275"/>
                      <a:invGamma/>
                    </a:schemeClr>
                  </a:gs>
                  <a:gs pos="100000">
                    <a:schemeClr val="accent2"/>
                  </a:gs>
                </a:gsLst>
                <a:lin ang="2700000" scaled="1"/>
              </a:gradFill>
              <a:ln w="9525">
                <a:solidFill>
                  <a:schemeClr val="tx1"/>
                </a:solidFill>
                <a:miter lim="800000"/>
                <a:headEnd/>
                <a:tailEnd/>
              </a:ln>
              <a:effectLst/>
            </p:spPr>
            <p:txBody>
              <a:bodyPr wrap="none" anchor="ctr"/>
              <a:lstStyle/>
              <a:p>
                <a:pPr>
                  <a:defRPr/>
                </a:pPr>
                <a:endParaRPr lang="zh-CN" altLang="en-US">
                  <a:solidFill>
                    <a:srgbClr val="000000"/>
                  </a:solidFill>
                </a:endParaRPr>
              </a:p>
            </p:txBody>
          </p:sp>
        </p:grpSp>
        <p:sp>
          <p:nvSpPr>
            <p:cNvPr id="78865" name="Line 25"/>
            <p:cNvSpPr>
              <a:spLocks noChangeShapeType="1"/>
            </p:cNvSpPr>
            <p:nvPr/>
          </p:nvSpPr>
          <p:spPr bwMode="auto">
            <a:xfrm>
              <a:off x="1536" y="2653"/>
              <a:ext cx="3024" cy="0"/>
            </a:xfrm>
            <a:prstGeom prst="line">
              <a:avLst/>
            </a:prstGeom>
            <a:noFill/>
            <a:ln w="25400">
              <a:solidFill>
                <a:srgbClr val="C0C0C0"/>
              </a:solidFill>
              <a:prstDash val="sysDot"/>
              <a:round/>
              <a:headEnd/>
              <a:tailEnd type="oval"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8866" name="Text Box 26"/>
            <p:cNvSpPr txBox="1">
              <a:spLocks noChangeArrowheads="1"/>
            </p:cNvSpPr>
            <p:nvPr/>
          </p:nvSpPr>
          <p:spPr bwMode="auto">
            <a:xfrm>
              <a:off x="2112" y="2254"/>
              <a:ext cx="1472"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r>
                <a:rPr lang="en-US" altLang="zh-CN" sz="3200" b="1">
                  <a:solidFill>
                    <a:srgbClr val="000000"/>
                  </a:solidFill>
                </a:rPr>
                <a:t> </a:t>
              </a:r>
              <a:r>
                <a:rPr lang="zh-CN" altLang="en-US" sz="3200" b="1">
                  <a:solidFill>
                    <a:srgbClr val="000000"/>
                  </a:solidFill>
                </a:rPr>
                <a:t>等值演算法</a:t>
              </a:r>
            </a:p>
          </p:txBody>
        </p:sp>
        <p:sp>
          <p:nvSpPr>
            <p:cNvPr id="78867" name="Text Box 27"/>
            <p:cNvSpPr txBox="1">
              <a:spLocks noChangeArrowheads="1"/>
            </p:cNvSpPr>
            <p:nvPr/>
          </p:nvSpPr>
          <p:spPr bwMode="gray">
            <a:xfrm>
              <a:off x="1281" y="2332"/>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a:r>
                <a:rPr lang="en-US" altLang="zh-CN" sz="2400" b="1">
                  <a:solidFill>
                    <a:srgbClr val="FFFFFF"/>
                  </a:solidFill>
                  <a:latin typeface="Times New Roman" pitchFamily="18" charset="0"/>
                </a:rPr>
                <a:t>3</a:t>
              </a:r>
            </a:p>
          </p:txBody>
        </p:sp>
      </p:grpSp>
      <p:grpSp>
        <p:nvGrpSpPr>
          <p:cNvPr id="78855" name="Group 28"/>
          <p:cNvGrpSpPr>
            <a:grpSpLocks/>
          </p:cNvGrpSpPr>
          <p:nvPr/>
        </p:nvGrpSpPr>
        <p:grpSpPr bwMode="auto">
          <a:xfrm>
            <a:off x="1042988" y="4724400"/>
            <a:ext cx="5834062" cy="712788"/>
            <a:chOff x="1152" y="2815"/>
            <a:chExt cx="3408" cy="449"/>
          </a:xfrm>
        </p:grpSpPr>
        <p:grpSp>
          <p:nvGrpSpPr>
            <p:cNvPr id="78857" name="Group 29"/>
            <p:cNvGrpSpPr>
              <a:grpSpLocks/>
            </p:cNvGrpSpPr>
            <p:nvPr/>
          </p:nvGrpSpPr>
          <p:grpSpPr bwMode="auto">
            <a:xfrm>
              <a:off x="1152" y="2845"/>
              <a:ext cx="480" cy="419"/>
              <a:chOff x="3174" y="2656"/>
              <a:chExt cx="1549" cy="1351"/>
            </a:xfrm>
          </p:grpSpPr>
          <p:sp>
            <p:nvSpPr>
              <p:cNvPr id="78861" name="AutoShape 30"/>
              <p:cNvSpPr>
                <a:spLocks noChangeArrowheads="1"/>
              </p:cNvSpPr>
              <p:nvPr/>
            </p:nvSpPr>
            <p:spPr bwMode="gray">
              <a:xfrm>
                <a:off x="3187" y="2679"/>
                <a:ext cx="1536" cy="1328"/>
              </a:xfrm>
              <a:prstGeom prst="hexagon">
                <a:avLst>
                  <a:gd name="adj" fmla="val 28916"/>
                  <a:gd name="vf" fmla="val 115470"/>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a:solidFill>
                    <a:srgbClr val="000000"/>
                  </a:solidFill>
                </a:endParaRPr>
              </a:p>
            </p:txBody>
          </p:sp>
          <p:sp>
            <p:nvSpPr>
              <p:cNvPr id="78862" name="AutoShape 31"/>
              <p:cNvSpPr>
                <a:spLocks noChangeArrowheads="1"/>
              </p:cNvSpPr>
              <p:nvPr/>
            </p:nvSpPr>
            <p:spPr bwMode="gray">
              <a:xfrm>
                <a:off x="3174" y="2656"/>
                <a:ext cx="1536" cy="1328"/>
              </a:xfrm>
              <a:prstGeom prst="hexagon">
                <a:avLst>
                  <a:gd name="adj" fmla="val 28916"/>
                  <a:gd name="vf" fmla="val 115470"/>
                </a:avLst>
              </a:prstGeom>
              <a:gradFill rotWithShape="1">
                <a:gsLst>
                  <a:gs pos="0">
                    <a:srgbClr val="E6E6E6"/>
                  </a:gs>
                  <a:gs pos="7500">
                    <a:srgbClr val="7D8496"/>
                  </a:gs>
                  <a:gs pos="26500">
                    <a:srgbClr val="E6E6E6"/>
                  </a:gs>
                  <a:gs pos="34000">
                    <a:srgbClr val="7D8496"/>
                  </a:gs>
                  <a:gs pos="46500">
                    <a:srgbClr val="E6E6E6"/>
                  </a:gs>
                  <a:gs pos="50000">
                    <a:srgbClr val="FFFFFF"/>
                  </a:gs>
                  <a:gs pos="53500">
                    <a:srgbClr val="E6E6E6"/>
                  </a:gs>
                  <a:gs pos="66000">
                    <a:srgbClr val="7D8496"/>
                  </a:gs>
                  <a:gs pos="73500">
                    <a:srgbClr val="E6E6E6"/>
                  </a:gs>
                  <a:gs pos="92500">
                    <a:srgbClr val="7D8496"/>
                  </a:gs>
                  <a:gs pos="100000">
                    <a:srgbClr val="E6E6E6"/>
                  </a:gs>
                </a:gsLst>
                <a:lin ang="2700000" scaled="1"/>
              </a:gradFill>
              <a:ln w="9525">
                <a:solidFill>
                  <a:srgbClr val="C0C0C0"/>
                </a:solidFill>
                <a:miter lim="800000"/>
                <a:headEnd/>
                <a:tailEnd/>
              </a:ln>
            </p:spPr>
            <p:txBody>
              <a:bodyPr wrap="none" anchor="ctr"/>
              <a:lstStyle/>
              <a:p>
                <a:endParaRPr lang="zh-CN" altLang="en-US">
                  <a:solidFill>
                    <a:srgbClr val="000000"/>
                  </a:solidFill>
                </a:endParaRPr>
              </a:p>
            </p:txBody>
          </p:sp>
          <p:sp>
            <p:nvSpPr>
              <p:cNvPr id="77856" name="AutoShape 32"/>
              <p:cNvSpPr>
                <a:spLocks noChangeArrowheads="1"/>
              </p:cNvSpPr>
              <p:nvPr/>
            </p:nvSpPr>
            <p:spPr bwMode="gray">
              <a:xfrm>
                <a:off x="3264" y="2737"/>
                <a:ext cx="1377" cy="1167"/>
              </a:xfrm>
              <a:prstGeom prst="hexagon">
                <a:avLst>
                  <a:gd name="adj" fmla="val 28896"/>
                  <a:gd name="vf" fmla="val 115470"/>
                </a:avLst>
              </a:prstGeom>
              <a:gradFill rotWithShape="1">
                <a:gsLst>
                  <a:gs pos="0">
                    <a:schemeClr val="accent1">
                      <a:gamma/>
                      <a:shade val="46275"/>
                      <a:invGamma/>
                    </a:schemeClr>
                  </a:gs>
                  <a:gs pos="100000">
                    <a:schemeClr val="accent1"/>
                  </a:gs>
                </a:gsLst>
                <a:lin ang="2700000" scaled="1"/>
              </a:gradFill>
              <a:ln w="9525">
                <a:solidFill>
                  <a:schemeClr val="tx1"/>
                </a:solidFill>
                <a:miter lim="800000"/>
                <a:headEnd/>
                <a:tailEnd/>
              </a:ln>
              <a:effectLst/>
            </p:spPr>
            <p:txBody>
              <a:bodyPr wrap="none" anchor="ctr"/>
              <a:lstStyle/>
              <a:p>
                <a:pPr>
                  <a:defRPr/>
                </a:pPr>
                <a:endParaRPr lang="zh-CN" altLang="en-US">
                  <a:solidFill>
                    <a:srgbClr val="000000"/>
                  </a:solidFill>
                </a:endParaRPr>
              </a:p>
            </p:txBody>
          </p:sp>
        </p:grpSp>
        <p:sp>
          <p:nvSpPr>
            <p:cNvPr id="78858" name="Line 33"/>
            <p:cNvSpPr>
              <a:spLocks noChangeShapeType="1"/>
            </p:cNvSpPr>
            <p:nvPr/>
          </p:nvSpPr>
          <p:spPr bwMode="auto">
            <a:xfrm>
              <a:off x="1536" y="3229"/>
              <a:ext cx="3024" cy="0"/>
            </a:xfrm>
            <a:prstGeom prst="line">
              <a:avLst/>
            </a:prstGeom>
            <a:noFill/>
            <a:ln w="25400">
              <a:solidFill>
                <a:srgbClr val="C0C0C0"/>
              </a:solidFill>
              <a:prstDash val="sysDot"/>
              <a:round/>
              <a:headEnd/>
              <a:tailEnd type="oval"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8859" name="Text Box 34"/>
            <p:cNvSpPr txBox="1">
              <a:spLocks noChangeArrowheads="1"/>
            </p:cNvSpPr>
            <p:nvPr/>
          </p:nvSpPr>
          <p:spPr bwMode="auto">
            <a:xfrm>
              <a:off x="2112" y="2815"/>
              <a:ext cx="1144"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r>
                <a:rPr lang="zh-CN" altLang="en-US" sz="3200" b="1">
                  <a:solidFill>
                    <a:srgbClr val="000000"/>
                  </a:solidFill>
                </a:rPr>
                <a:t>对偶原理</a:t>
              </a:r>
            </a:p>
          </p:txBody>
        </p:sp>
        <p:sp>
          <p:nvSpPr>
            <p:cNvPr id="78860" name="Text Box 35"/>
            <p:cNvSpPr txBox="1">
              <a:spLocks noChangeArrowheads="1"/>
            </p:cNvSpPr>
            <p:nvPr/>
          </p:nvSpPr>
          <p:spPr bwMode="gray">
            <a:xfrm>
              <a:off x="1288" y="2908"/>
              <a:ext cx="197"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a:r>
                <a:rPr lang="en-US" altLang="zh-CN" sz="2400" b="1">
                  <a:solidFill>
                    <a:srgbClr val="FFFFFF"/>
                  </a:solidFill>
                  <a:latin typeface="Times New Roman" pitchFamily="18" charset="0"/>
                </a:rPr>
                <a:t>4</a:t>
              </a:r>
            </a:p>
          </p:txBody>
        </p:sp>
      </p:grpSp>
      <p:sp>
        <p:nvSpPr>
          <p:cNvPr id="2" name="圆角矩形 1"/>
          <p:cNvSpPr/>
          <p:nvPr/>
        </p:nvSpPr>
        <p:spPr>
          <a:xfrm>
            <a:off x="900113" y="3429000"/>
            <a:ext cx="6264275" cy="2281238"/>
          </a:xfrm>
          <a:prstGeom prst="round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2"/>
          <p:cNvSpPr>
            <a:spLocks noGrp="1" noChangeArrowheads="1"/>
          </p:cNvSpPr>
          <p:nvPr>
            <p:ph/>
          </p:nvPr>
        </p:nvSpPr>
        <p:spPr/>
        <p:txBody>
          <a:bodyPr/>
          <a:lstStyle/>
          <a:p>
            <a:pPr eaLnBrk="1" hangingPunct="1">
              <a:lnSpc>
                <a:spcPct val="120000"/>
              </a:lnSpc>
            </a:pPr>
            <a:r>
              <a:rPr lang="en-US" altLang="zh-CN" b="1" dirty="0">
                <a:latin typeface="Times New Roman" pitchFamily="18" charset="0"/>
              </a:rPr>
              <a:t>3.4.3 </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等值演算法</a:t>
            </a:r>
          </a:p>
          <a:p>
            <a:pPr eaLnBrk="1" hangingPunct="1">
              <a:lnSpc>
                <a:spcPct val="120000"/>
              </a:lnSpc>
            </a:pPr>
            <a:r>
              <a:rPr lang="zh-CN" altLang="en-US" b="1" dirty="0">
                <a:latin typeface="Times New Roman" panose="02020603050405020304" pitchFamily="18" charset="0"/>
                <a:ea typeface="楷体" panose="02010609060101010101" pitchFamily="49" charset="-122"/>
                <a:cs typeface="Times New Roman" panose="02020603050405020304" pitchFamily="18" charset="0"/>
              </a:rPr>
              <a:t>基本等值式有很多用途</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 </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如</a:t>
            </a:r>
            <a:r>
              <a:rPr lang="zh-CN" altLang="en-US" b="1" dirty="0">
                <a:solidFill>
                  <a:srgbClr val="1829A6"/>
                </a:solidFill>
                <a:latin typeface="Times New Roman" panose="02020603050405020304" pitchFamily="18" charset="0"/>
                <a:ea typeface="楷体" panose="02010609060101010101" pitchFamily="49" charset="-122"/>
                <a:cs typeface="Times New Roman" panose="02020603050405020304" pitchFamily="18" charset="0"/>
              </a:rPr>
              <a:t>化简命题公式</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a:t>
            </a:r>
            <a:r>
              <a:rPr lang="zh-CN" altLang="en-US" b="1" dirty="0">
                <a:solidFill>
                  <a:srgbClr val="1829A6"/>
                </a:solidFill>
                <a:latin typeface="Times New Roman" panose="02020603050405020304" pitchFamily="18" charset="0"/>
                <a:ea typeface="楷体" panose="02010609060101010101" pitchFamily="49" charset="-122"/>
                <a:cs typeface="Times New Roman" panose="02020603050405020304" pitchFamily="18" charset="0"/>
              </a:rPr>
              <a:t>判断命题公式的类型</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a:t>
            </a:r>
            <a:r>
              <a:rPr lang="zh-CN" altLang="en-US" b="1" dirty="0">
                <a:solidFill>
                  <a:srgbClr val="1829A6"/>
                </a:solidFill>
                <a:latin typeface="Times New Roman" panose="02020603050405020304" pitchFamily="18" charset="0"/>
                <a:ea typeface="楷体" panose="02010609060101010101" pitchFamily="49" charset="-122"/>
                <a:cs typeface="Times New Roman" panose="02020603050405020304" pitchFamily="18" charset="0"/>
              </a:rPr>
              <a:t>证明等值式</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a:t>
            </a:r>
            <a:r>
              <a:rPr lang="zh-CN" altLang="en-US" b="1" dirty="0">
                <a:solidFill>
                  <a:srgbClr val="1829A6"/>
                </a:solidFill>
                <a:latin typeface="Times New Roman" panose="02020603050405020304" pitchFamily="18" charset="0"/>
                <a:ea typeface="楷体" panose="02010609060101010101" pitchFamily="49" charset="-122"/>
                <a:cs typeface="Times New Roman" panose="02020603050405020304" pitchFamily="18" charset="0"/>
              </a:rPr>
              <a:t>计算命题公式的范式</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a:t>
            </a:r>
            <a:r>
              <a:rPr lang="zh-CN" altLang="en-US" b="1" dirty="0">
                <a:solidFill>
                  <a:srgbClr val="1829A6"/>
                </a:solidFill>
                <a:latin typeface="Times New Roman" panose="02020603050405020304" pitchFamily="18" charset="0"/>
                <a:ea typeface="楷体" panose="02010609060101010101" pitchFamily="49" charset="-122"/>
                <a:cs typeface="Times New Roman" panose="02020603050405020304" pitchFamily="18" charset="0"/>
              </a:rPr>
              <a:t>命题逻辑中的推理</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等</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 </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要求大家要熟记</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 </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特别是定理</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3-5</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中的等值式</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 </a:t>
            </a:r>
          </a:p>
        </p:txBody>
      </p:sp>
    </p:spTree>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2"/>
          <p:cNvSpPr>
            <a:spLocks noGrp="1" noChangeArrowheads="1"/>
          </p:cNvSpPr>
          <p:nvPr>
            <p:ph/>
          </p:nvPr>
        </p:nvSpPr>
        <p:spPr/>
        <p:txBody>
          <a:bodyPr/>
          <a:lstStyle/>
          <a:p>
            <a:pPr eaLnBrk="1" hangingPunct="1">
              <a:lnSpc>
                <a:spcPct val="120000"/>
              </a:lnSpc>
            </a:pPr>
            <a:r>
              <a:rPr lang="zh-CN" altLang="en-US" b="1" dirty="0">
                <a:latin typeface="Times New Roman" panose="02020603050405020304" pitchFamily="18" charset="0"/>
                <a:ea typeface="楷体" panose="02010609060101010101" pitchFamily="49" charset="-122"/>
                <a:cs typeface="Times New Roman" panose="02020603050405020304" pitchFamily="18" charset="0"/>
              </a:rPr>
              <a:t>在使用等值式时</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常用下列的等值置换定理</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RR (Rule of Replacement).</a:t>
            </a:r>
          </a:p>
          <a:p>
            <a:pPr eaLnBrk="1" hangingPunct="1">
              <a:lnSpc>
                <a:spcPct val="120000"/>
              </a:lnSpc>
            </a:pPr>
            <a:endParaRPr lang="en-US" altLang="zh-CN" b="1" dirty="0">
              <a:latin typeface="Times New Roman" panose="02020603050405020304" pitchFamily="18" charset="0"/>
              <a:ea typeface="楷体" panose="02010609060101010101" pitchFamily="49" charset="-122"/>
              <a:cs typeface="Times New Roman" panose="02020603050405020304" pitchFamily="18" charset="0"/>
            </a:endParaRPr>
          </a:p>
          <a:p>
            <a:pPr eaLnBrk="1" hangingPunct="1">
              <a:lnSpc>
                <a:spcPct val="120000"/>
              </a:lnSpc>
            </a:pPr>
            <a:r>
              <a:rPr lang="zh-CN" altLang="en-US" b="1" dirty="0">
                <a:solidFill>
                  <a:schemeClr val="hlink"/>
                </a:solidFill>
                <a:latin typeface="Times New Roman" panose="02020603050405020304" pitchFamily="18" charset="0"/>
                <a:ea typeface="楷体" panose="02010609060101010101" pitchFamily="49" charset="-122"/>
                <a:cs typeface="Times New Roman" panose="02020603050405020304" pitchFamily="18" charset="0"/>
              </a:rPr>
              <a:t>等值置换定理</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 设</a:t>
            </a:r>
            <a:r>
              <a:rPr lang="en-US" altLang="zh-CN" b="1" i="1" dirty="0">
                <a:latin typeface="Times New Roman" panose="02020603050405020304" pitchFamily="18" charset="0"/>
                <a:ea typeface="楷体" panose="02010609060101010101" pitchFamily="49" charset="-122"/>
                <a:cs typeface="Times New Roman" panose="02020603050405020304" pitchFamily="18" charset="0"/>
              </a:rPr>
              <a:t>C</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是命题公式</a:t>
            </a:r>
            <a:r>
              <a:rPr lang="en-US" altLang="zh-CN" b="1" i="1" dirty="0">
                <a:latin typeface="Times New Roman" panose="02020603050405020304" pitchFamily="18" charset="0"/>
                <a:ea typeface="楷体" panose="02010609060101010101" pitchFamily="49" charset="-122"/>
                <a:cs typeface="Times New Roman" panose="02020603050405020304" pitchFamily="18" charset="0"/>
              </a:rPr>
              <a:t>A</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的子公式</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若</a:t>
            </a:r>
            <a:r>
              <a:rPr lang="en-US" altLang="zh-CN" b="1" i="1" dirty="0">
                <a:latin typeface="Times New Roman" panose="02020603050405020304" pitchFamily="18" charset="0"/>
                <a:ea typeface="楷体" panose="02010609060101010101" pitchFamily="49" charset="-122"/>
                <a:cs typeface="Times New Roman" panose="02020603050405020304" pitchFamily="18" charset="0"/>
              </a:rPr>
              <a:t>C</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 = </a:t>
            </a:r>
            <a:r>
              <a:rPr lang="en-US" altLang="zh-CN" b="1" i="1" dirty="0">
                <a:latin typeface="Times New Roman" panose="02020603050405020304" pitchFamily="18" charset="0"/>
                <a:ea typeface="楷体" panose="02010609060101010101" pitchFamily="49" charset="-122"/>
                <a:cs typeface="Times New Roman" panose="02020603050405020304" pitchFamily="18" charset="0"/>
              </a:rPr>
              <a:t>D</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 </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则将</a:t>
            </a:r>
            <a:r>
              <a:rPr lang="en-US" altLang="zh-CN" b="1" i="1" dirty="0">
                <a:latin typeface="Times New Roman" panose="02020603050405020304" pitchFamily="18" charset="0"/>
                <a:ea typeface="楷体" panose="02010609060101010101" pitchFamily="49" charset="-122"/>
                <a:cs typeface="Times New Roman" panose="02020603050405020304" pitchFamily="18" charset="0"/>
              </a:rPr>
              <a:t>A</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中的</a:t>
            </a:r>
            <a:r>
              <a:rPr lang="en-US" altLang="zh-CN" b="1" i="1" dirty="0">
                <a:latin typeface="Times New Roman" panose="02020603050405020304" pitchFamily="18" charset="0"/>
                <a:ea typeface="楷体" panose="02010609060101010101" pitchFamily="49" charset="-122"/>
                <a:cs typeface="Times New Roman" panose="02020603050405020304" pitchFamily="18" charset="0"/>
              </a:rPr>
              <a:t>C</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部分或全部替换为</a:t>
            </a:r>
            <a:r>
              <a:rPr lang="en-US" altLang="zh-CN" b="1" i="1" dirty="0">
                <a:latin typeface="Times New Roman" panose="02020603050405020304" pitchFamily="18" charset="0"/>
                <a:ea typeface="楷体" panose="02010609060101010101" pitchFamily="49" charset="-122"/>
                <a:cs typeface="Times New Roman" panose="02020603050405020304" pitchFamily="18" charset="0"/>
              </a:rPr>
              <a:t>D</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所得到的命题公式与</a:t>
            </a:r>
            <a:r>
              <a:rPr lang="en-US" altLang="zh-CN" b="1" i="1" dirty="0">
                <a:latin typeface="Times New Roman" panose="02020603050405020304" pitchFamily="18" charset="0"/>
                <a:ea typeface="楷体" panose="02010609060101010101" pitchFamily="49" charset="-122"/>
                <a:cs typeface="Times New Roman" panose="02020603050405020304" pitchFamily="18" charset="0"/>
              </a:rPr>
              <a:t>A</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等值</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a:t>
            </a:r>
          </a:p>
          <a:p>
            <a:pPr eaLnBrk="1" hangingPunct="1">
              <a:lnSpc>
                <a:spcPct val="120000"/>
              </a:lnSpc>
            </a:pPr>
            <a:endParaRPr lang="en-US" altLang="zh-CN" b="1" dirty="0">
              <a:latin typeface="Times New Roman" panose="02020603050405020304" pitchFamily="18" charset="0"/>
              <a:ea typeface="楷体" panose="02010609060101010101" pitchFamily="49" charset="-122"/>
              <a:cs typeface="Times New Roman" panose="02020603050405020304" pitchFamily="18" charset="0"/>
            </a:endParaRPr>
          </a:p>
          <a:p>
            <a:pPr eaLnBrk="1" hangingPunct="1">
              <a:lnSpc>
                <a:spcPct val="120000"/>
              </a:lnSpc>
            </a:pPr>
            <a:r>
              <a:rPr lang="zh-CN" altLang="en-US" b="1" dirty="0">
                <a:latin typeface="Times New Roman" panose="02020603050405020304" pitchFamily="18" charset="0"/>
                <a:ea typeface="楷体" panose="02010609060101010101" pitchFamily="49" charset="-122"/>
                <a:cs typeface="Times New Roman" panose="02020603050405020304" pitchFamily="18" charset="0"/>
              </a:rPr>
              <a:t>利用基本等值式以及等值置换定理求解问题的方法称为“等值演算法”</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2"/>
          <p:cNvSpPr>
            <a:spLocks noGrp="1" noChangeArrowheads="1"/>
          </p:cNvSpPr>
          <p:nvPr>
            <p:ph/>
          </p:nvPr>
        </p:nvSpPr>
        <p:spPr/>
        <p:txBody>
          <a:bodyPr/>
          <a:lstStyle/>
          <a:p>
            <a:pPr eaLnBrk="1" hangingPunct="1">
              <a:lnSpc>
                <a:spcPct val="120000"/>
              </a:lnSpc>
            </a:pPr>
            <a:r>
              <a:rPr lang="zh-CN" altLang="en-US" b="1" dirty="0">
                <a:latin typeface="Times New Roman" panose="02020603050405020304" pitchFamily="18" charset="0"/>
                <a:ea typeface="楷体" panose="02010609060101010101" pitchFamily="49" charset="-122"/>
                <a:cs typeface="Times New Roman" panose="02020603050405020304" pitchFamily="18" charset="0"/>
              </a:rPr>
              <a:t>例</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3-13 </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化简</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a:t>
            </a:r>
            <a:r>
              <a:rPr lang="en-US" altLang="zh-CN" b="1" dirty="0">
                <a:solidFill>
                  <a:schemeClr val="hlink"/>
                </a:solidFill>
                <a:latin typeface="Times New Roman" panose="02020603050405020304" pitchFamily="18" charset="0"/>
                <a:ea typeface="楷体" panose="02010609060101010101" pitchFamily="49" charset="-122"/>
                <a:cs typeface="Times New Roman" panose="02020603050405020304" pitchFamily="18" charset="0"/>
              </a:rPr>
              <a:t>?</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下列命题公式并将最后结果用只含</a:t>
            </a:r>
            <a:r>
              <a:rPr lang="zh-CN" altLang="en-US" b="1" dirty="0">
                <a:latin typeface="Times New Roman" panose="02020603050405020304" pitchFamily="18" charset="0"/>
                <a:ea typeface="楷体" panose="02010609060101010101" pitchFamily="49" charset="-122"/>
                <a:cs typeface="Times New Roman" panose="02020603050405020304" pitchFamily="18" charset="0"/>
                <a:sym typeface="Symbol" pitchFamily="18" charset="2"/>
              </a:rPr>
              <a:t></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和</a:t>
            </a:r>
            <a:r>
              <a:rPr lang="zh-CN" altLang="en-US" b="1" dirty="0">
                <a:latin typeface="Times New Roman" panose="02020603050405020304" pitchFamily="18" charset="0"/>
                <a:ea typeface="楷体" panose="02010609060101010101" pitchFamily="49" charset="-122"/>
                <a:cs typeface="Times New Roman" panose="02020603050405020304" pitchFamily="18" charset="0"/>
                <a:sym typeface="Symbol" pitchFamily="18" charset="2"/>
              </a:rPr>
              <a:t></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表示</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 </a:t>
            </a:r>
          </a:p>
          <a:p>
            <a:pPr eaLnBrk="1" hangingPunct="1">
              <a:lnSpc>
                <a:spcPct val="120000"/>
              </a:lnSpc>
            </a:pPr>
            <a:r>
              <a:rPr lang="en-US" altLang="zh-CN" b="1" dirty="0">
                <a:latin typeface="Times New Roman" pitchFamily="18" charset="0"/>
              </a:rPr>
              <a:t>(1)</a:t>
            </a:r>
          </a:p>
          <a:p>
            <a:pPr eaLnBrk="1" hangingPunct="1">
              <a:lnSpc>
                <a:spcPct val="120000"/>
              </a:lnSpc>
            </a:pPr>
            <a:r>
              <a:rPr lang="en-US" altLang="zh-CN" b="1" dirty="0">
                <a:latin typeface="Times New Roman" pitchFamily="18" charset="0"/>
              </a:rPr>
              <a:t>(2)</a:t>
            </a:r>
          </a:p>
          <a:p>
            <a:pPr eaLnBrk="1" hangingPunct="1">
              <a:lnSpc>
                <a:spcPct val="120000"/>
              </a:lnSpc>
            </a:pPr>
            <a:r>
              <a:rPr lang="en-US" altLang="zh-CN" b="1" dirty="0">
                <a:latin typeface="Times New Roman" pitchFamily="18" charset="0"/>
              </a:rPr>
              <a:t>Solution (1)</a:t>
            </a:r>
          </a:p>
          <a:p>
            <a:pPr eaLnBrk="1" hangingPunct="1">
              <a:lnSpc>
                <a:spcPct val="120000"/>
              </a:lnSpc>
            </a:pPr>
            <a:endParaRPr lang="en-US" altLang="zh-CN" b="1" dirty="0">
              <a:latin typeface="Times New Roman" pitchFamily="18" charset="0"/>
            </a:endParaRPr>
          </a:p>
          <a:p>
            <a:pPr eaLnBrk="1" hangingPunct="1">
              <a:lnSpc>
                <a:spcPct val="120000"/>
              </a:lnSpc>
            </a:pPr>
            <a:endParaRPr lang="en-US" altLang="zh-CN" b="1" dirty="0"/>
          </a:p>
        </p:txBody>
      </p:sp>
      <p:graphicFrame>
        <p:nvGraphicFramePr>
          <p:cNvPr id="81923" name="Object 3"/>
          <p:cNvGraphicFramePr>
            <a:graphicFrameLocks noChangeAspect="1"/>
          </p:cNvGraphicFramePr>
          <p:nvPr>
            <p:extLst>
              <p:ext uri="{D42A27DB-BD31-4B8C-83A1-F6EECF244321}">
                <p14:modId xmlns:p14="http://schemas.microsoft.com/office/powerpoint/2010/main" val="4051096565"/>
              </p:ext>
            </p:extLst>
          </p:nvPr>
        </p:nvGraphicFramePr>
        <p:xfrm>
          <a:off x="1417044" y="1675533"/>
          <a:ext cx="4320877" cy="484187"/>
        </p:xfrm>
        <a:graphic>
          <a:graphicData uri="http://schemas.openxmlformats.org/presentationml/2006/ole">
            <mc:AlternateContent xmlns:mc="http://schemas.openxmlformats.org/markup-compatibility/2006">
              <mc:Choice xmlns:v="urn:schemas-microsoft-com:vml" Requires="v">
                <p:oleObj name="Equation" r:id="rId2" imgW="1571633" imgH="123930" progId="Equation.3">
                  <p:embed/>
                </p:oleObj>
              </mc:Choice>
              <mc:Fallback>
                <p:oleObj name="Equation" r:id="rId2" imgW="1571633" imgH="123930" progId="Equation.3">
                  <p:embed/>
                  <p:pic>
                    <p:nvPicPr>
                      <p:cNvPr id="0" name="Object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17044" y="1675533"/>
                        <a:ext cx="4320877" cy="484187"/>
                      </a:xfrm>
                      <a:prstGeom prst="rect">
                        <a:avLst/>
                      </a:prstGeom>
                      <a:noFill/>
                      <a:ln>
                        <a:noFill/>
                      </a:ln>
                      <a:effectLst/>
                    </p:spPr>
                  </p:pic>
                </p:oleObj>
              </mc:Fallback>
            </mc:AlternateContent>
          </a:graphicData>
        </a:graphic>
      </p:graphicFrame>
      <p:graphicFrame>
        <p:nvGraphicFramePr>
          <p:cNvPr id="81924" name="Object 4"/>
          <p:cNvGraphicFramePr>
            <a:graphicFrameLocks noChangeAspect="1"/>
          </p:cNvGraphicFramePr>
          <p:nvPr/>
        </p:nvGraphicFramePr>
        <p:xfrm>
          <a:off x="3132138" y="3068638"/>
          <a:ext cx="3879850" cy="484187"/>
        </p:xfrm>
        <a:graphic>
          <a:graphicData uri="http://schemas.openxmlformats.org/presentationml/2006/ole">
            <mc:AlternateContent xmlns:mc="http://schemas.openxmlformats.org/markup-compatibility/2006">
              <mc:Choice xmlns:v="urn:schemas-microsoft-com:vml" Requires="v">
                <p:oleObj name="Equation" r:id="rId4" imgW="1552454" imgH="123930" progId="Equation.3">
                  <p:embed/>
                </p:oleObj>
              </mc:Choice>
              <mc:Fallback>
                <p:oleObj name="Equation" r:id="rId4" imgW="1552454" imgH="123930" progId="Equation.3">
                  <p:embed/>
                  <p:pic>
                    <p:nvPicPr>
                      <p:cNvPr id="0"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132138" y="3068638"/>
                        <a:ext cx="3879850" cy="4841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1929" name="Text Box 9"/>
          <p:cNvSpPr txBox="1">
            <a:spLocks noChangeArrowheads="1"/>
          </p:cNvSpPr>
          <p:nvPr/>
        </p:nvSpPr>
        <p:spPr bwMode="auto">
          <a:xfrm>
            <a:off x="7812088" y="2420938"/>
            <a:ext cx="458787" cy="3775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lang="zh-CN" altLang="en-US" b="1">
                <a:latin typeface="Times New Roman" pitchFamily="18" charset="0"/>
              </a:rPr>
              <a:t>数字逻辑、计算机组成中经常化简单</a:t>
            </a:r>
            <a:r>
              <a:rPr lang="en-US" altLang="zh-CN" b="1">
                <a:latin typeface="Times New Roman" pitchFamily="18" charset="0"/>
              </a:rPr>
              <a:t>!</a:t>
            </a:r>
          </a:p>
        </p:txBody>
      </p:sp>
      <p:graphicFrame>
        <p:nvGraphicFramePr>
          <p:cNvPr id="10" name="Object 5">
            <a:extLst>
              <a:ext uri="{FF2B5EF4-FFF2-40B4-BE49-F238E27FC236}">
                <a16:creationId xmlns:a16="http://schemas.microsoft.com/office/drawing/2014/main" id="{A78B2D56-BA97-BA4B-A1F0-0B6C6F687A36}"/>
              </a:ext>
            </a:extLst>
          </p:cNvPr>
          <p:cNvGraphicFramePr>
            <a:graphicFrameLocks noChangeAspect="1"/>
          </p:cNvGraphicFramePr>
          <p:nvPr>
            <p:extLst>
              <p:ext uri="{D42A27DB-BD31-4B8C-83A1-F6EECF244321}">
                <p14:modId xmlns:p14="http://schemas.microsoft.com/office/powerpoint/2010/main" val="4132234146"/>
              </p:ext>
            </p:extLst>
          </p:nvPr>
        </p:nvGraphicFramePr>
        <p:xfrm>
          <a:off x="3131840" y="3808908"/>
          <a:ext cx="4213225" cy="484188"/>
        </p:xfrm>
        <a:graphic>
          <a:graphicData uri="http://schemas.openxmlformats.org/presentationml/2006/ole">
            <mc:AlternateContent xmlns:mc="http://schemas.openxmlformats.org/markup-compatibility/2006">
              <mc:Choice xmlns:v="urn:schemas-microsoft-com:vml" Requires="v">
                <p:oleObj name="Equation" r:id="rId6" imgW="711200" imgH="50800" progId="Equation.3">
                  <p:embed/>
                </p:oleObj>
              </mc:Choice>
              <mc:Fallback>
                <p:oleObj name="Equation" r:id="rId6" imgW="711200" imgH="50800" progId="Equation.3">
                  <p:embed/>
                  <p:pic>
                    <p:nvPicPr>
                      <p:cNvPr id="2" name="Object 5">
                        <a:extLst>
                          <a:ext uri="{FF2B5EF4-FFF2-40B4-BE49-F238E27FC236}">
                            <a16:creationId xmlns:a16="http://schemas.microsoft.com/office/drawing/2014/main" id="{1D2B9F73-BCAC-494B-9F2D-A112809AF69C}"/>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131840" y="3808908"/>
                        <a:ext cx="4213225" cy="4841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 name="Object 6">
            <a:extLst>
              <a:ext uri="{FF2B5EF4-FFF2-40B4-BE49-F238E27FC236}">
                <a16:creationId xmlns:a16="http://schemas.microsoft.com/office/drawing/2014/main" id="{8076A6D8-EE3A-CC43-AE41-2D648D1A6219}"/>
              </a:ext>
            </a:extLst>
          </p:cNvPr>
          <p:cNvGraphicFramePr>
            <a:graphicFrameLocks noChangeAspect="1"/>
          </p:cNvGraphicFramePr>
          <p:nvPr>
            <p:extLst>
              <p:ext uri="{D42A27DB-BD31-4B8C-83A1-F6EECF244321}">
                <p14:modId xmlns:p14="http://schemas.microsoft.com/office/powerpoint/2010/main" val="1839993960"/>
              </p:ext>
            </p:extLst>
          </p:nvPr>
        </p:nvGraphicFramePr>
        <p:xfrm>
          <a:off x="3141811" y="4528988"/>
          <a:ext cx="4454525" cy="484188"/>
        </p:xfrm>
        <a:graphic>
          <a:graphicData uri="http://schemas.openxmlformats.org/presentationml/2006/ole">
            <mc:AlternateContent xmlns:mc="http://schemas.openxmlformats.org/markup-compatibility/2006">
              <mc:Choice xmlns:v="urn:schemas-microsoft-com:vml" Requires="v">
                <p:oleObj name="Equation" r:id="rId8" imgW="755650" imgH="50800" progId="Equation.3">
                  <p:embed/>
                </p:oleObj>
              </mc:Choice>
              <mc:Fallback>
                <p:oleObj name="Equation" r:id="rId8" imgW="755650" imgH="50800" progId="Equation.3">
                  <p:embed/>
                  <p:pic>
                    <p:nvPicPr>
                      <p:cNvPr id="3" name="Object 6">
                        <a:extLst>
                          <a:ext uri="{FF2B5EF4-FFF2-40B4-BE49-F238E27FC236}">
                            <a16:creationId xmlns:a16="http://schemas.microsoft.com/office/drawing/2014/main" id="{29C83FCC-C21F-A941-BE77-C3FFA7709F3C}"/>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141811" y="4528988"/>
                        <a:ext cx="4454525" cy="4841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2" name="Object 7">
            <a:extLst>
              <a:ext uri="{FF2B5EF4-FFF2-40B4-BE49-F238E27FC236}">
                <a16:creationId xmlns:a16="http://schemas.microsoft.com/office/drawing/2014/main" id="{C3A21D5A-603B-AE4E-BDB5-DBFE1CE85EF6}"/>
              </a:ext>
            </a:extLst>
          </p:cNvPr>
          <p:cNvGraphicFramePr>
            <a:graphicFrameLocks noChangeAspect="1"/>
          </p:cNvGraphicFramePr>
          <p:nvPr>
            <p:extLst>
              <p:ext uri="{D42A27DB-BD31-4B8C-83A1-F6EECF244321}">
                <p14:modId xmlns:p14="http://schemas.microsoft.com/office/powerpoint/2010/main" val="1997260852"/>
              </p:ext>
            </p:extLst>
          </p:nvPr>
        </p:nvGraphicFramePr>
        <p:xfrm>
          <a:off x="3132138" y="5195540"/>
          <a:ext cx="1455737" cy="393700"/>
        </p:xfrm>
        <a:graphic>
          <a:graphicData uri="http://schemas.openxmlformats.org/presentationml/2006/ole">
            <mc:AlternateContent xmlns:mc="http://schemas.openxmlformats.org/markup-compatibility/2006">
              <mc:Choice xmlns:v="urn:schemas-microsoft-com:vml" Requires="v">
                <p:oleObj name="Equation" r:id="rId10" imgW="222250" imgH="31750" progId="Equation.3">
                  <p:embed/>
                </p:oleObj>
              </mc:Choice>
              <mc:Fallback>
                <p:oleObj name="Equation" r:id="rId10" imgW="222250" imgH="31750" progId="Equation.3">
                  <p:embed/>
                  <p:pic>
                    <p:nvPicPr>
                      <p:cNvPr id="4" name="Object 7">
                        <a:extLst>
                          <a:ext uri="{FF2B5EF4-FFF2-40B4-BE49-F238E27FC236}">
                            <a16:creationId xmlns:a16="http://schemas.microsoft.com/office/drawing/2014/main" id="{4F9C6250-BD2D-C24C-BDCC-C45830ADE3EB}"/>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132138" y="5195540"/>
                        <a:ext cx="1455737" cy="393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3" name="Object 8">
            <a:extLst>
              <a:ext uri="{FF2B5EF4-FFF2-40B4-BE49-F238E27FC236}">
                <a16:creationId xmlns:a16="http://schemas.microsoft.com/office/drawing/2014/main" id="{55395DAC-A121-E043-9DAA-ECF5BE7545F3}"/>
              </a:ext>
            </a:extLst>
          </p:cNvPr>
          <p:cNvGraphicFramePr>
            <a:graphicFrameLocks noChangeAspect="1"/>
          </p:cNvGraphicFramePr>
          <p:nvPr>
            <p:extLst>
              <p:ext uri="{D42A27DB-BD31-4B8C-83A1-F6EECF244321}">
                <p14:modId xmlns:p14="http://schemas.microsoft.com/office/powerpoint/2010/main" val="1909531085"/>
              </p:ext>
            </p:extLst>
          </p:nvPr>
        </p:nvGraphicFramePr>
        <p:xfrm>
          <a:off x="3132138" y="5825133"/>
          <a:ext cx="2032000" cy="484187"/>
        </p:xfrm>
        <a:graphic>
          <a:graphicData uri="http://schemas.openxmlformats.org/presentationml/2006/ole">
            <mc:AlternateContent xmlns:mc="http://schemas.openxmlformats.org/markup-compatibility/2006">
              <mc:Choice xmlns:v="urn:schemas-microsoft-com:vml" Requires="v">
                <p:oleObj name="Equation" r:id="rId12" imgW="323850" imgH="50800" progId="Equation.3">
                  <p:embed/>
                </p:oleObj>
              </mc:Choice>
              <mc:Fallback>
                <p:oleObj name="Equation" r:id="rId12" imgW="323850" imgH="50800" progId="Equation.3">
                  <p:embed/>
                  <p:pic>
                    <p:nvPicPr>
                      <p:cNvPr id="5" name="Object 8">
                        <a:extLst>
                          <a:ext uri="{FF2B5EF4-FFF2-40B4-BE49-F238E27FC236}">
                            <a16:creationId xmlns:a16="http://schemas.microsoft.com/office/drawing/2014/main" id="{B925836B-D442-A44F-A047-D998B0C33872}"/>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3132138" y="5825133"/>
                        <a:ext cx="2032000" cy="4841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cxnSp>
        <p:nvCxnSpPr>
          <p:cNvPr id="14" name="直接连接符 2">
            <a:extLst>
              <a:ext uri="{FF2B5EF4-FFF2-40B4-BE49-F238E27FC236}">
                <a16:creationId xmlns:a16="http://schemas.microsoft.com/office/drawing/2014/main" id="{37EE2E4D-8387-0249-B6D4-436A859074C3}"/>
              </a:ext>
            </a:extLst>
          </p:cNvPr>
          <p:cNvCxnSpPr/>
          <p:nvPr/>
        </p:nvCxnSpPr>
        <p:spPr>
          <a:xfrm>
            <a:off x="3708400" y="5001890"/>
            <a:ext cx="431800" cy="0"/>
          </a:xfrm>
          <a:prstGeom prst="line">
            <a:avLst/>
          </a:prstGeom>
          <a:ln w="28575">
            <a:solidFill>
              <a:srgbClr val="990000"/>
            </a:solidFill>
          </a:ln>
        </p:spPr>
        <p:style>
          <a:lnRef idx="1">
            <a:schemeClr val="accent1"/>
          </a:lnRef>
          <a:fillRef idx="0">
            <a:schemeClr val="accent1"/>
          </a:fillRef>
          <a:effectRef idx="0">
            <a:schemeClr val="accent1"/>
          </a:effectRef>
          <a:fontRef idx="minor">
            <a:schemeClr val="tx1"/>
          </a:fontRef>
        </p:style>
      </p:cxnSp>
      <p:cxnSp>
        <p:nvCxnSpPr>
          <p:cNvPr id="15" name="直接连接符 12">
            <a:extLst>
              <a:ext uri="{FF2B5EF4-FFF2-40B4-BE49-F238E27FC236}">
                <a16:creationId xmlns:a16="http://schemas.microsoft.com/office/drawing/2014/main" id="{1497E967-05B1-6549-8C5E-A14ED9F1C50F}"/>
              </a:ext>
            </a:extLst>
          </p:cNvPr>
          <p:cNvCxnSpPr/>
          <p:nvPr/>
        </p:nvCxnSpPr>
        <p:spPr>
          <a:xfrm>
            <a:off x="6372225" y="5013003"/>
            <a:ext cx="431800" cy="0"/>
          </a:xfrm>
          <a:prstGeom prst="line">
            <a:avLst/>
          </a:prstGeom>
          <a:ln w="28575">
            <a:solidFill>
              <a:srgbClr val="990000"/>
            </a:solidFill>
          </a:ln>
        </p:spPr>
        <p:style>
          <a:lnRef idx="1">
            <a:schemeClr val="accent1"/>
          </a:lnRef>
          <a:fillRef idx="0">
            <a:schemeClr val="accent1"/>
          </a:fillRef>
          <a:effectRef idx="0">
            <a:schemeClr val="accent1"/>
          </a:effectRef>
          <a:fontRef idx="minor">
            <a:schemeClr val="tx1"/>
          </a:fontRef>
        </p:style>
      </p:cxnSp>
      <p:cxnSp>
        <p:nvCxnSpPr>
          <p:cNvPr id="16" name="直接连接符 13">
            <a:extLst>
              <a:ext uri="{FF2B5EF4-FFF2-40B4-BE49-F238E27FC236}">
                <a16:creationId xmlns:a16="http://schemas.microsoft.com/office/drawing/2014/main" id="{E5C3F711-C8A4-B140-AAE3-79E1AA0ED03E}"/>
              </a:ext>
            </a:extLst>
          </p:cNvPr>
          <p:cNvCxnSpPr/>
          <p:nvPr/>
        </p:nvCxnSpPr>
        <p:spPr>
          <a:xfrm>
            <a:off x="4643438" y="5013003"/>
            <a:ext cx="1081087" cy="0"/>
          </a:xfrm>
          <a:prstGeom prst="line">
            <a:avLst/>
          </a:prstGeom>
          <a:ln w="19050">
            <a:solidFill>
              <a:srgbClr val="990000"/>
            </a:solidFill>
            <a:prstDash val="sysDash"/>
          </a:ln>
        </p:spPr>
        <p:style>
          <a:lnRef idx="1">
            <a:schemeClr val="accent1"/>
          </a:lnRef>
          <a:fillRef idx="0">
            <a:schemeClr val="accent1"/>
          </a:fillRef>
          <a:effectRef idx="0">
            <a:schemeClr val="accent1"/>
          </a:effectRef>
          <a:fontRef idx="minor">
            <a:schemeClr val="tx1"/>
          </a:fontRef>
        </p:style>
      </p:cxn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5"/>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6"/>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2"/>
          <p:cNvSpPr>
            <a:spLocks noGrp="1" noChangeArrowheads="1"/>
          </p:cNvSpPr>
          <p:nvPr>
            <p:ph/>
          </p:nvPr>
        </p:nvSpPr>
        <p:spPr/>
        <p:txBody>
          <a:bodyPr/>
          <a:lstStyle/>
          <a:p>
            <a:pPr eaLnBrk="1" hangingPunct="1"/>
            <a:r>
              <a:rPr lang="zh-CN" altLang="en-US" b="1" dirty="0">
                <a:latin typeface="Times New Roman" panose="02020603050405020304" pitchFamily="18" charset="0"/>
                <a:ea typeface="楷体" panose="02010609060101010101" pitchFamily="49" charset="-122"/>
                <a:cs typeface="Times New Roman" panose="02020603050405020304" pitchFamily="18" charset="0"/>
              </a:rPr>
              <a:t>利用等值演算法</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 </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判断一个命题公式的类型是比较方便的</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a:t>
            </a:r>
          </a:p>
          <a:p>
            <a:pPr eaLnBrk="1" hangingPunct="1"/>
            <a:r>
              <a:rPr lang="zh-CN" altLang="en-US" b="1" dirty="0">
                <a:latin typeface="Times New Roman" panose="02020603050405020304" pitchFamily="18" charset="0"/>
                <a:ea typeface="楷体" panose="02010609060101010101" pitchFamily="49" charset="-122"/>
                <a:cs typeface="Times New Roman" panose="02020603050405020304" pitchFamily="18" charset="0"/>
              </a:rPr>
              <a:t>例</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3-14 </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设</a:t>
            </a:r>
            <a:r>
              <a:rPr lang="en-US" altLang="zh-CN" b="1" i="1" dirty="0">
                <a:latin typeface="Times New Roman" panose="02020603050405020304" pitchFamily="18" charset="0"/>
                <a:ea typeface="楷体" panose="02010609060101010101" pitchFamily="49" charset="-122"/>
                <a:cs typeface="Times New Roman" panose="02020603050405020304" pitchFamily="18" charset="0"/>
              </a:rPr>
              <a:t>A</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 </a:t>
            </a:r>
            <a:r>
              <a:rPr lang="en-US" altLang="zh-CN" b="1" i="1" dirty="0">
                <a:latin typeface="Times New Roman" panose="02020603050405020304" pitchFamily="18" charset="0"/>
                <a:ea typeface="楷体" panose="02010609060101010101" pitchFamily="49" charset="-122"/>
                <a:cs typeface="Times New Roman" panose="02020603050405020304" pitchFamily="18" charset="0"/>
              </a:rPr>
              <a:t>B</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 </a:t>
            </a:r>
            <a:r>
              <a:rPr lang="en-US" altLang="zh-CN" b="1" i="1" dirty="0">
                <a:latin typeface="Times New Roman" panose="02020603050405020304" pitchFamily="18" charset="0"/>
                <a:ea typeface="楷体" panose="02010609060101010101" pitchFamily="49" charset="-122"/>
                <a:cs typeface="Times New Roman" panose="02020603050405020304" pitchFamily="18" charset="0"/>
              </a:rPr>
              <a:t>C</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是任意的命题公式</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 </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判断下列命题公式的类型</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 </a:t>
            </a:r>
          </a:p>
          <a:p>
            <a:pPr eaLnBrk="1" hangingPunct="1"/>
            <a:r>
              <a:rPr lang="en-US" altLang="zh-CN" b="1" dirty="0">
                <a:latin typeface="Times New Roman" pitchFamily="18" charset="0"/>
              </a:rPr>
              <a:t>(1)</a:t>
            </a:r>
          </a:p>
          <a:p>
            <a:pPr eaLnBrk="1" hangingPunct="1"/>
            <a:r>
              <a:rPr lang="en-US" altLang="zh-CN" b="1" dirty="0">
                <a:latin typeface="Times New Roman" pitchFamily="18" charset="0"/>
              </a:rPr>
              <a:t>(2)</a:t>
            </a:r>
          </a:p>
          <a:p>
            <a:pPr eaLnBrk="1" hangingPunct="1"/>
            <a:r>
              <a:rPr lang="en-US" altLang="zh-CN" b="1" dirty="0">
                <a:latin typeface="Times New Roman" pitchFamily="18" charset="0"/>
              </a:rPr>
              <a:t>Solution (2)</a:t>
            </a:r>
          </a:p>
          <a:p>
            <a:pPr eaLnBrk="1" hangingPunct="1"/>
            <a:endParaRPr lang="en-US" altLang="zh-CN" b="1" dirty="0">
              <a:latin typeface="Times New Roman" pitchFamily="18" charset="0"/>
            </a:endParaRPr>
          </a:p>
          <a:p>
            <a:pPr eaLnBrk="1" hangingPunct="1"/>
            <a:endParaRPr lang="en-US" altLang="zh-CN" b="1" dirty="0">
              <a:latin typeface="Times New Roman" pitchFamily="18" charset="0"/>
            </a:endParaRPr>
          </a:p>
        </p:txBody>
      </p:sp>
      <p:graphicFrame>
        <p:nvGraphicFramePr>
          <p:cNvPr id="82947" name="Object 3"/>
          <p:cNvGraphicFramePr>
            <a:graphicFrameLocks noChangeAspect="1"/>
          </p:cNvGraphicFramePr>
          <p:nvPr/>
        </p:nvGraphicFramePr>
        <p:xfrm>
          <a:off x="1403350" y="3068638"/>
          <a:ext cx="2849563" cy="484187"/>
        </p:xfrm>
        <a:graphic>
          <a:graphicData uri="http://schemas.openxmlformats.org/presentationml/2006/ole">
            <mc:AlternateContent xmlns:mc="http://schemas.openxmlformats.org/markup-compatibility/2006">
              <mc:Choice xmlns:v="urn:schemas-microsoft-com:vml" Requires="v">
                <p:oleObj name="Equation" r:id="rId2" imgW="1114298" imgH="123930" progId="Equation.3">
                  <p:embed/>
                </p:oleObj>
              </mc:Choice>
              <mc:Fallback>
                <p:oleObj name="Equation" r:id="rId2" imgW="1114298" imgH="123930" progId="Equation.3">
                  <p:embed/>
                  <p:pic>
                    <p:nvPicPr>
                      <p:cNvPr id="0" name="Object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03350" y="3068638"/>
                        <a:ext cx="2849563" cy="4841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2948" name="Object 4"/>
          <p:cNvGraphicFramePr>
            <a:graphicFrameLocks noChangeAspect="1"/>
          </p:cNvGraphicFramePr>
          <p:nvPr/>
        </p:nvGraphicFramePr>
        <p:xfrm>
          <a:off x="2987675" y="3644900"/>
          <a:ext cx="2757488" cy="484188"/>
        </p:xfrm>
        <a:graphic>
          <a:graphicData uri="http://schemas.openxmlformats.org/presentationml/2006/ole">
            <mc:AlternateContent xmlns:mc="http://schemas.openxmlformats.org/markup-compatibility/2006">
              <mc:Choice xmlns:v="urn:schemas-microsoft-com:vml" Requires="v">
                <p:oleObj name="Equation" r:id="rId4" imgW="1076210" imgH="123930" progId="Equation.3">
                  <p:embed/>
                </p:oleObj>
              </mc:Choice>
              <mc:Fallback>
                <p:oleObj name="Equation" r:id="rId4" imgW="1076210" imgH="123930" progId="Equation.3">
                  <p:embed/>
                  <p:pic>
                    <p:nvPicPr>
                      <p:cNvPr id="0"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987675" y="3644900"/>
                        <a:ext cx="2757488" cy="4841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2949" name="Object 5"/>
          <p:cNvGraphicFramePr>
            <a:graphicFrameLocks noChangeAspect="1"/>
          </p:cNvGraphicFramePr>
          <p:nvPr/>
        </p:nvGraphicFramePr>
        <p:xfrm>
          <a:off x="2843213" y="4292600"/>
          <a:ext cx="3121025" cy="484188"/>
        </p:xfrm>
        <a:graphic>
          <a:graphicData uri="http://schemas.openxmlformats.org/presentationml/2006/ole">
            <mc:AlternateContent xmlns:mc="http://schemas.openxmlformats.org/markup-compatibility/2006">
              <mc:Choice xmlns:v="urn:schemas-microsoft-com:vml" Requires="v">
                <p:oleObj name="Equation" r:id="rId6" imgW="1228835" imgH="123930" progId="Equation.3">
                  <p:embed/>
                </p:oleObj>
              </mc:Choice>
              <mc:Fallback>
                <p:oleObj name="Equation" r:id="rId6" imgW="1228835" imgH="123930" progId="Equation.3">
                  <p:embed/>
                  <p:pic>
                    <p:nvPicPr>
                      <p:cNvPr id="0" name="Object 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843213" y="4292600"/>
                        <a:ext cx="3121025" cy="4841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2950" name="Object 6"/>
          <p:cNvGraphicFramePr>
            <a:graphicFrameLocks noChangeAspect="1"/>
          </p:cNvGraphicFramePr>
          <p:nvPr/>
        </p:nvGraphicFramePr>
        <p:xfrm>
          <a:off x="2843213" y="4868863"/>
          <a:ext cx="3363912" cy="484187"/>
        </p:xfrm>
        <a:graphic>
          <a:graphicData uri="http://schemas.openxmlformats.org/presentationml/2006/ole">
            <mc:AlternateContent xmlns:mc="http://schemas.openxmlformats.org/markup-compatibility/2006">
              <mc:Choice xmlns:v="urn:schemas-microsoft-com:vml" Requires="v">
                <p:oleObj name="Equation" r:id="rId8" imgW="1333376" imgH="123930" progId="Equation.3">
                  <p:embed/>
                </p:oleObj>
              </mc:Choice>
              <mc:Fallback>
                <p:oleObj name="Equation" r:id="rId8" imgW="1333376" imgH="123930" progId="Equation.3">
                  <p:embed/>
                  <p:pic>
                    <p:nvPicPr>
                      <p:cNvPr id="0" name="Object 6"/>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843213" y="4868863"/>
                        <a:ext cx="3363912" cy="4841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2951" name="Object 7"/>
          <p:cNvGraphicFramePr>
            <a:graphicFrameLocks noChangeAspect="1"/>
          </p:cNvGraphicFramePr>
          <p:nvPr/>
        </p:nvGraphicFramePr>
        <p:xfrm>
          <a:off x="2843213" y="5589588"/>
          <a:ext cx="1060450" cy="423862"/>
        </p:xfrm>
        <a:graphic>
          <a:graphicData uri="http://schemas.openxmlformats.org/presentationml/2006/ole">
            <mc:AlternateContent xmlns:mc="http://schemas.openxmlformats.org/markup-compatibility/2006">
              <mc:Choice xmlns:v="urn:schemas-microsoft-com:vml" Requires="v">
                <p:oleObj name="Equation" r:id="rId10" imgW="371433" imgH="104760" progId="Equation.3">
                  <p:embed/>
                </p:oleObj>
              </mc:Choice>
              <mc:Fallback>
                <p:oleObj name="Equation" r:id="rId10" imgW="371433" imgH="104760" progId="Equation.3">
                  <p:embed/>
                  <p:pic>
                    <p:nvPicPr>
                      <p:cNvPr id="0" name="Object 7"/>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843213" y="5589588"/>
                        <a:ext cx="1060450" cy="4238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cxnSp>
        <p:nvCxnSpPr>
          <p:cNvPr id="8" name="直接连接符 7">
            <a:extLst>
              <a:ext uri="{FF2B5EF4-FFF2-40B4-BE49-F238E27FC236}">
                <a16:creationId xmlns:a16="http://schemas.microsoft.com/office/drawing/2014/main" id="{2DFEC76E-9CA3-0349-84F9-CC36A63F2AB0}"/>
              </a:ext>
            </a:extLst>
          </p:cNvPr>
          <p:cNvCxnSpPr/>
          <p:nvPr/>
        </p:nvCxnSpPr>
        <p:spPr>
          <a:xfrm>
            <a:off x="3203575" y="5360988"/>
            <a:ext cx="431800" cy="0"/>
          </a:xfrm>
          <a:prstGeom prst="line">
            <a:avLst/>
          </a:prstGeom>
          <a:ln w="28575">
            <a:solidFill>
              <a:srgbClr val="990000"/>
            </a:solidFill>
          </a:ln>
        </p:spPr>
        <p:style>
          <a:lnRef idx="1">
            <a:schemeClr val="accent1"/>
          </a:lnRef>
          <a:fillRef idx="0">
            <a:schemeClr val="accent1"/>
          </a:fillRef>
          <a:effectRef idx="0">
            <a:schemeClr val="accent1"/>
          </a:effectRef>
          <a:fontRef idx="minor">
            <a:schemeClr val="tx1"/>
          </a:fontRef>
        </p:style>
      </p:cxnSp>
      <p:cxnSp>
        <p:nvCxnSpPr>
          <p:cNvPr id="9" name="直接连接符 8">
            <a:extLst>
              <a:ext uri="{FF2B5EF4-FFF2-40B4-BE49-F238E27FC236}">
                <a16:creationId xmlns:a16="http://schemas.microsoft.com/office/drawing/2014/main" id="{841AD1BB-B102-8147-B96F-25FC361D4F04}"/>
              </a:ext>
            </a:extLst>
          </p:cNvPr>
          <p:cNvCxnSpPr/>
          <p:nvPr/>
        </p:nvCxnSpPr>
        <p:spPr>
          <a:xfrm>
            <a:off x="4086225" y="5360988"/>
            <a:ext cx="431800" cy="0"/>
          </a:xfrm>
          <a:prstGeom prst="line">
            <a:avLst/>
          </a:prstGeom>
          <a:ln w="28575">
            <a:solidFill>
              <a:srgbClr val="990000"/>
            </a:solidFill>
          </a:ln>
        </p:spPr>
        <p:style>
          <a:lnRef idx="1">
            <a:schemeClr val="accent1"/>
          </a:lnRef>
          <a:fillRef idx="0">
            <a:schemeClr val="accent1"/>
          </a:fillRef>
          <a:effectRef idx="0">
            <a:schemeClr val="accent1"/>
          </a:effectRef>
          <a:fontRef idx="minor">
            <a:schemeClr val="tx1"/>
          </a:fontRef>
        </p:style>
      </p:cxnSp>
      <p:cxnSp>
        <p:nvCxnSpPr>
          <p:cNvPr id="10" name="直接连接符 9">
            <a:extLst>
              <a:ext uri="{FF2B5EF4-FFF2-40B4-BE49-F238E27FC236}">
                <a16:creationId xmlns:a16="http://schemas.microsoft.com/office/drawing/2014/main" id="{80D27DAB-74DF-A140-93D0-F7BEDC2D6E9B}"/>
              </a:ext>
            </a:extLst>
          </p:cNvPr>
          <p:cNvCxnSpPr/>
          <p:nvPr/>
        </p:nvCxnSpPr>
        <p:spPr>
          <a:xfrm>
            <a:off x="4932363" y="5373688"/>
            <a:ext cx="1079500" cy="0"/>
          </a:xfrm>
          <a:prstGeom prst="line">
            <a:avLst/>
          </a:prstGeom>
          <a:ln w="19050">
            <a:solidFill>
              <a:srgbClr val="990000"/>
            </a:solidFill>
            <a:prstDash val="sysDash"/>
          </a:ln>
        </p:spPr>
        <p:style>
          <a:lnRef idx="1">
            <a:schemeClr val="accent1"/>
          </a:lnRef>
          <a:fillRef idx="0">
            <a:schemeClr val="accent1"/>
          </a:fillRef>
          <a:effectRef idx="0">
            <a:schemeClr val="accent1"/>
          </a:effectRef>
          <a:fontRef idx="minor">
            <a:schemeClr val="tx1"/>
          </a:fontRef>
        </p:style>
      </p:cxn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nodeType="clickEffect">
                                  <p:stCondLst>
                                    <p:cond delay="0"/>
                                  </p:stCondLst>
                                  <p:childTnLst>
                                    <p:set>
                                      <p:cBhvr>
                                        <p:cTn id="14" dur="1" fill="hold">
                                          <p:stCondLst>
                                            <p:cond delay="0"/>
                                          </p:stCondLst>
                                        </p:cTn>
                                        <p:tgtEl>
                                          <p:spTgt spid="82951"/>
                                        </p:tgtEl>
                                        <p:attrNameLst>
                                          <p:attrName>style.visibility</p:attrName>
                                        </p:attrNameLst>
                                      </p:cBhvr>
                                      <p:to>
                                        <p:strVal val="visible"/>
                                      </p:to>
                                    </p:set>
                                    <p:animEffect transition="in" filter="wipe(left)">
                                      <p:cBhvr>
                                        <p:cTn id="15" dur="500"/>
                                        <p:tgtEl>
                                          <p:spTgt spid="829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2"/>
          <p:cNvSpPr>
            <a:spLocks noGrp="1" noChangeArrowheads="1"/>
          </p:cNvSpPr>
          <p:nvPr>
            <p:ph/>
          </p:nvPr>
        </p:nvSpPr>
        <p:spPr/>
        <p:txBody>
          <a:bodyPr/>
          <a:lstStyle/>
          <a:p>
            <a:pPr eaLnBrk="1" hangingPunct="1">
              <a:lnSpc>
                <a:spcPct val="120000"/>
              </a:lnSpc>
            </a:pPr>
            <a:r>
              <a:rPr lang="zh-CN" altLang="en-US" b="1" dirty="0">
                <a:latin typeface="Times New Roman" panose="02020603050405020304" pitchFamily="18" charset="0"/>
                <a:ea typeface="楷体" panose="02010609060101010101" pitchFamily="49" charset="-122"/>
                <a:cs typeface="Times New Roman" panose="02020603050405020304" pitchFamily="18" charset="0"/>
              </a:rPr>
              <a:t>证明两个命题公式等值的第二种方法</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 </a:t>
            </a:r>
            <a:r>
              <a:rPr lang="zh-CN" altLang="en-US" b="1" dirty="0">
                <a:solidFill>
                  <a:schemeClr val="hlink"/>
                </a:solidFill>
                <a:latin typeface="Times New Roman" panose="02020603050405020304" pitchFamily="18" charset="0"/>
                <a:ea typeface="楷体" panose="02010609060101010101" pitchFamily="49" charset="-122"/>
                <a:cs typeface="Times New Roman" panose="02020603050405020304" pitchFamily="18" charset="0"/>
              </a:rPr>
              <a:t>等值演算法</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a:t>
            </a:r>
          </a:p>
          <a:p>
            <a:pPr eaLnBrk="1" hangingPunct="1">
              <a:lnSpc>
                <a:spcPct val="120000"/>
              </a:lnSpc>
            </a:pPr>
            <a:r>
              <a:rPr lang="zh-CN" altLang="en-US" b="1" dirty="0">
                <a:latin typeface="Times New Roman" panose="02020603050405020304" pitchFamily="18" charset="0"/>
                <a:ea typeface="楷体" panose="02010609060101010101" pitchFamily="49" charset="-122"/>
                <a:cs typeface="Times New Roman" panose="02020603050405020304" pitchFamily="18" charset="0"/>
              </a:rPr>
              <a:t>例</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3-15 </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设</a:t>
            </a:r>
            <a:r>
              <a:rPr lang="en-US" altLang="zh-CN" b="1" i="1" dirty="0">
                <a:latin typeface="Times New Roman" panose="02020603050405020304" pitchFamily="18" charset="0"/>
                <a:ea typeface="楷体" panose="02010609060101010101" pitchFamily="49" charset="-122"/>
                <a:cs typeface="Times New Roman" panose="02020603050405020304" pitchFamily="18" charset="0"/>
              </a:rPr>
              <a:t>A</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 </a:t>
            </a:r>
            <a:r>
              <a:rPr lang="en-US" altLang="zh-CN" b="1" i="1" dirty="0">
                <a:latin typeface="Times New Roman" panose="02020603050405020304" pitchFamily="18" charset="0"/>
                <a:ea typeface="楷体" panose="02010609060101010101" pitchFamily="49" charset="-122"/>
                <a:cs typeface="Times New Roman" panose="02020603050405020304" pitchFamily="18" charset="0"/>
              </a:rPr>
              <a:t>B</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 </a:t>
            </a:r>
            <a:r>
              <a:rPr lang="en-US" altLang="zh-CN" b="1" i="1" dirty="0">
                <a:latin typeface="Times New Roman" panose="02020603050405020304" pitchFamily="18" charset="0"/>
                <a:ea typeface="楷体" panose="02010609060101010101" pitchFamily="49" charset="-122"/>
                <a:cs typeface="Times New Roman" panose="02020603050405020304" pitchFamily="18" charset="0"/>
              </a:rPr>
              <a:t>C</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是任意的命题公式</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证明下列等值式</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 </a:t>
            </a:r>
          </a:p>
          <a:p>
            <a:pPr eaLnBrk="1" hangingPunct="1">
              <a:lnSpc>
                <a:spcPct val="120000"/>
              </a:lnSpc>
            </a:pPr>
            <a:r>
              <a:rPr lang="en-US" altLang="zh-CN" b="1" dirty="0">
                <a:latin typeface="Times New Roman" pitchFamily="18" charset="0"/>
              </a:rPr>
              <a:t>(1)</a:t>
            </a:r>
          </a:p>
          <a:p>
            <a:pPr eaLnBrk="1" hangingPunct="1">
              <a:lnSpc>
                <a:spcPct val="120000"/>
              </a:lnSpc>
            </a:pPr>
            <a:r>
              <a:rPr lang="en-US" altLang="zh-CN" b="1" dirty="0">
                <a:latin typeface="Times New Roman" pitchFamily="18" charset="0"/>
              </a:rPr>
              <a:t>(2)</a:t>
            </a:r>
          </a:p>
          <a:p>
            <a:pPr eaLnBrk="1" hangingPunct="1">
              <a:lnSpc>
                <a:spcPct val="120000"/>
              </a:lnSpc>
            </a:pPr>
            <a:r>
              <a:rPr lang="en-US" altLang="zh-CN" b="1" dirty="0">
                <a:latin typeface="Times New Roman" pitchFamily="18" charset="0"/>
              </a:rPr>
              <a:t>Proof (2)</a:t>
            </a:r>
          </a:p>
          <a:p>
            <a:pPr eaLnBrk="1" hangingPunct="1">
              <a:lnSpc>
                <a:spcPct val="120000"/>
              </a:lnSpc>
            </a:pPr>
            <a:endParaRPr lang="en-US" altLang="zh-CN" b="1" dirty="0">
              <a:latin typeface="Times New Roman" pitchFamily="18" charset="0"/>
            </a:endParaRPr>
          </a:p>
          <a:p>
            <a:pPr eaLnBrk="1" hangingPunct="1">
              <a:lnSpc>
                <a:spcPct val="120000"/>
              </a:lnSpc>
            </a:pPr>
            <a:r>
              <a:rPr lang="en-US" altLang="zh-CN" b="1" dirty="0">
                <a:latin typeface="Times New Roman" pitchFamily="18" charset="0"/>
              </a:rPr>
              <a:t>Remark </a:t>
            </a:r>
            <a:r>
              <a:rPr lang="zh-CN" altLang="en-US" sz="2800" b="1" dirty="0">
                <a:solidFill>
                  <a:srgbClr val="C00000"/>
                </a:solidFill>
                <a:latin typeface="+mn-ea"/>
              </a:rPr>
              <a:t>此乃反证法的理论依据</a:t>
            </a:r>
            <a:r>
              <a:rPr lang="en-US" altLang="zh-CN" b="1" dirty="0">
                <a:latin typeface="Times New Roman" pitchFamily="18" charset="0"/>
              </a:rPr>
              <a:t>.</a:t>
            </a:r>
          </a:p>
        </p:txBody>
      </p:sp>
      <p:graphicFrame>
        <p:nvGraphicFramePr>
          <p:cNvPr id="83971" name="Object 3"/>
          <p:cNvGraphicFramePr>
            <a:graphicFrameLocks noChangeAspect="1"/>
          </p:cNvGraphicFramePr>
          <p:nvPr/>
        </p:nvGraphicFramePr>
        <p:xfrm>
          <a:off x="1331913" y="3573463"/>
          <a:ext cx="3067050" cy="531812"/>
        </p:xfrm>
        <a:graphic>
          <a:graphicData uri="http://schemas.openxmlformats.org/presentationml/2006/ole">
            <mc:AlternateContent xmlns:mc="http://schemas.openxmlformats.org/markup-compatibility/2006">
              <mc:Choice xmlns:v="urn:schemas-microsoft-com:vml" Requires="v">
                <p:oleObj name="公式" r:id="rId2" imgW="1228835" imgH="152280" progId="Equation.3">
                  <p:embed/>
                </p:oleObj>
              </mc:Choice>
              <mc:Fallback>
                <p:oleObj name="公式" r:id="rId2" imgW="1228835" imgH="152280" progId="Equation.3">
                  <p:embed/>
                  <p:pic>
                    <p:nvPicPr>
                      <p:cNvPr id="0" name="Object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31913" y="3573463"/>
                        <a:ext cx="3067050" cy="5318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3972" name="Object 4"/>
          <p:cNvGraphicFramePr>
            <a:graphicFrameLocks noChangeAspect="1"/>
          </p:cNvGraphicFramePr>
          <p:nvPr>
            <p:extLst>
              <p:ext uri="{D42A27DB-BD31-4B8C-83A1-F6EECF244321}">
                <p14:modId xmlns:p14="http://schemas.microsoft.com/office/powerpoint/2010/main" val="953938595"/>
              </p:ext>
            </p:extLst>
          </p:nvPr>
        </p:nvGraphicFramePr>
        <p:xfrm>
          <a:off x="2473325" y="4249738"/>
          <a:ext cx="4341813" cy="1185862"/>
        </p:xfrm>
        <a:graphic>
          <a:graphicData uri="http://schemas.openxmlformats.org/presentationml/2006/ole">
            <mc:AlternateContent xmlns:mc="http://schemas.openxmlformats.org/markup-compatibility/2006">
              <mc:Choice xmlns:v="urn:schemas-microsoft-com:vml" Requires="v">
                <p:oleObj name="Equation" r:id="rId4" imgW="1752480" imgH="431640" progId="Equation.DSMT4">
                  <p:embed/>
                </p:oleObj>
              </mc:Choice>
              <mc:Fallback>
                <p:oleObj name="Equation" r:id="rId4" imgW="1752480" imgH="431640" progId="Equation.DSMT4">
                  <p:embed/>
                  <p:pic>
                    <p:nvPicPr>
                      <p:cNvPr id="0" name="Object 4"/>
                      <p:cNvPicPr>
                        <a:picLocks noChangeAspect="1" noChangeArrowheads="1"/>
                      </p:cNvPicPr>
                      <p:nvPr/>
                    </p:nvPicPr>
                    <p:blipFill>
                      <a:blip r:embed="rId5"/>
                      <a:srcRect/>
                      <a:stretch>
                        <a:fillRect/>
                      </a:stretch>
                    </p:blipFill>
                    <p:spPr bwMode="auto">
                      <a:xfrm>
                        <a:off x="2473325" y="4249738"/>
                        <a:ext cx="4341813" cy="11858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2"/>
          <p:cNvSpPr>
            <a:spLocks noGrp="1" noChangeArrowheads="1"/>
          </p:cNvSpPr>
          <p:nvPr>
            <p:ph/>
          </p:nvPr>
        </p:nvSpPr>
        <p:spPr/>
        <p:txBody>
          <a:bodyPr/>
          <a:lstStyle/>
          <a:p>
            <a:pPr eaLnBrk="1" hangingPunct="1">
              <a:lnSpc>
                <a:spcPct val="120000"/>
              </a:lnSpc>
            </a:pPr>
            <a:r>
              <a:rPr lang="en-US" altLang="zh-CN" b="1" dirty="0">
                <a:latin typeface="Times New Roman" pitchFamily="18" charset="0"/>
              </a:rPr>
              <a:t>3.4.4 *</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对偶原理</a:t>
            </a:r>
          </a:p>
          <a:p>
            <a:pPr eaLnBrk="1" hangingPunct="1">
              <a:lnSpc>
                <a:spcPct val="120000"/>
              </a:lnSpc>
            </a:pPr>
            <a:r>
              <a:rPr lang="zh-CN" altLang="en-US" b="1" dirty="0">
                <a:latin typeface="Times New Roman" panose="02020603050405020304" pitchFamily="18" charset="0"/>
                <a:ea typeface="楷体" panose="02010609060101010101" pitchFamily="49" charset="-122"/>
                <a:cs typeface="Times New Roman" panose="02020603050405020304" pitchFamily="18" charset="0"/>
              </a:rPr>
              <a:t>在与</a:t>
            </a:r>
            <a:r>
              <a:rPr lang="zh-CN" altLang="en-US" b="1" dirty="0">
                <a:latin typeface="Times New Roman" panose="02020603050405020304" pitchFamily="18" charset="0"/>
                <a:ea typeface="楷体" panose="02010609060101010101" pitchFamily="49" charset="-122"/>
                <a:cs typeface="Times New Roman" panose="02020603050405020304" pitchFamily="18" charset="0"/>
                <a:sym typeface="Symbol" pitchFamily="18" charset="2"/>
              </a:rPr>
              <a:t></a:t>
            </a:r>
            <a:r>
              <a:rPr lang="en-US" altLang="zh-CN" b="1" dirty="0">
                <a:latin typeface="Times New Roman" panose="02020603050405020304" pitchFamily="18" charset="0"/>
                <a:ea typeface="楷体" panose="02010609060101010101" pitchFamily="49" charset="-122"/>
                <a:cs typeface="Times New Roman" panose="02020603050405020304" pitchFamily="18" charset="0"/>
                <a:sym typeface="Symbol" pitchFamily="18" charset="2"/>
              </a:rPr>
              <a:t>, , </a:t>
            </a:r>
            <a:r>
              <a:rPr lang="zh-CN" altLang="en-US" b="1" dirty="0">
                <a:latin typeface="Times New Roman" panose="02020603050405020304" pitchFamily="18" charset="0"/>
                <a:ea typeface="楷体" panose="02010609060101010101" pitchFamily="49" charset="-122"/>
                <a:cs typeface="Times New Roman" panose="02020603050405020304" pitchFamily="18" charset="0"/>
                <a:sym typeface="Symbol" pitchFamily="18" charset="2"/>
              </a:rPr>
              <a:t>有关</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的基本等值式中</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除性质</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(1)</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外</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其它性质都是成对出现的</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两者间有一定的联系</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 </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先给出命题公式的对偶式的定义</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a:t>
            </a:r>
          </a:p>
          <a:p>
            <a:pPr eaLnBrk="1" hangingPunct="1">
              <a:lnSpc>
                <a:spcPct val="120000"/>
              </a:lnSpc>
            </a:pPr>
            <a:r>
              <a:rPr lang="en-US" altLang="zh-CN" b="1" dirty="0" err="1">
                <a:latin typeface="Times New Roman" panose="02020603050405020304" pitchFamily="18" charset="0"/>
                <a:ea typeface="楷体" panose="02010609060101010101" pitchFamily="49" charset="-122"/>
                <a:cs typeface="Times New Roman" panose="02020603050405020304" pitchFamily="18" charset="0"/>
              </a:rPr>
              <a:t>Def</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 3-4 </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设命题公式</a:t>
            </a:r>
            <a:r>
              <a:rPr lang="en-US" altLang="zh-CN" b="1" i="1" dirty="0">
                <a:latin typeface="Times New Roman" panose="02020603050405020304" pitchFamily="18" charset="0"/>
                <a:ea typeface="楷体" panose="02010609060101010101" pitchFamily="49" charset="-122"/>
                <a:cs typeface="Times New Roman" panose="02020603050405020304" pitchFamily="18" charset="0"/>
              </a:rPr>
              <a:t>A</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中至多含有</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3</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个逻辑联结词</a:t>
            </a:r>
            <a:r>
              <a:rPr lang="zh-CN" altLang="en-US" b="1" dirty="0">
                <a:latin typeface="Times New Roman" panose="02020603050405020304" pitchFamily="18" charset="0"/>
                <a:ea typeface="楷体" panose="02010609060101010101" pitchFamily="49" charset="-122"/>
                <a:cs typeface="Times New Roman" panose="02020603050405020304" pitchFamily="18" charset="0"/>
                <a:sym typeface="Symbol" pitchFamily="18" charset="2"/>
              </a:rPr>
              <a:t></a:t>
            </a:r>
            <a:r>
              <a:rPr lang="en-US" altLang="zh-CN" b="1" dirty="0">
                <a:latin typeface="Times New Roman" panose="02020603050405020304" pitchFamily="18" charset="0"/>
                <a:ea typeface="楷体" panose="02010609060101010101" pitchFamily="49" charset="-122"/>
                <a:cs typeface="Times New Roman" panose="02020603050405020304" pitchFamily="18" charset="0"/>
                <a:sym typeface="Symbol" pitchFamily="18" charset="2"/>
              </a:rPr>
              <a:t>, , </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 , (</a:t>
            </a:r>
            <a:r>
              <a:rPr lang="en-US" altLang="zh-CN" b="1" dirty="0">
                <a:solidFill>
                  <a:schemeClr val="hlink"/>
                </a:solidFill>
                <a:latin typeface="Times New Roman" panose="02020603050405020304" pitchFamily="18" charset="0"/>
                <a:ea typeface="楷体" panose="02010609060101010101" pitchFamily="49" charset="-122"/>
                <a:cs typeface="Times New Roman" panose="02020603050405020304" pitchFamily="18" charset="0"/>
              </a:rPr>
              <a:t>1</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将</a:t>
            </a:r>
            <a:r>
              <a:rPr lang="en-US" altLang="zh-CN" b="1" i="1" dirty="0">
                <a:latin typeface="Times New Roman" panose="02020603050405020304" pitchFamily="18" charset="0"/>
                <a:ea typeface="楷体" panose="02010609060101010101" pitchFamily="49" charset="-122"/>
                <a:cs typeface="Times New Roman" panose="02020603050405020304" pitchFamily="18" charset="0"/>
              </a:rPr>
              <a:t>A</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中的</a:t>
            </a:r>
            <a:r>
              <a:rPr lang="zh-CN" altLang="en-US" b="1" dirty="0">
                <a:latin typeface="Times New Roman" panose="02020603050405020304" pitchFamily="18" charset="0"/>
                <a:ea typeface="楷体" panose="02010609060101010101" pitchFamily="49" charset="-122"/>
                <a:cs typeface="Times New Roman" panose="02020603050405020304" pitchFamily="18" charset="0"/>
                <a:sym typeface="Symbol" pitchFamily="18" charset="2"/>
              </a:rPr>
              <a:t></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换成</a:t>
            </a:r>
            <a:r>
              <a:rPr lang="zh-CN" altLang="en-US" b="1" dirty="0">
                <a:latin typeface="Times New Roman" panose="02020603050405020304" pitchFamily="18" charset="0"/>
                <a:ea typeface="楷体" panose="02010609060101010101" pitchFamily="49" charset="-122"/>
                <a:cs typeface="Times New Roman" panose="02020603050405020304" pitchFamily="18" charset="0"/>
                <a:sym typeface="Symbol" pitchFamily="18" charset="2"/>
              </a:rPr>
              <a:t></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 ；</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a:t>
            </a:r>
            <a:r>
              <a:rPr lang="en-US" altLang="zh-CN" b="1" dirty="0">
                <a:solidFill>
                  <a:schemeClr val="hlink"/>
                </a:solidFill>
                <a:latin typeface="Times New Roman" panose="02020603050405020304" pitchFamily="18" charset="0"/>
                <a:ea typeface="楷体" panose="02010609060101010101" pitchFamily="49" charset="-122"/>
                <a:cs typeface="Times New Roman" panose="02020603050405020304" pitchFamily="18" charset="0"/>
              </a:rPr>
              <a:t>2</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a:t>
            </a:r>
            <a:r>
              <a:rPr lang="en-US" altLang="zh-CN" b="1" i="1" dirty="0">
                <a:latin typeface="Times New Roman" panose="02020603050405020304" pitchFamily="18" charset="0"/>
                <a:ea typeface="楷体" panose="02010609060101010101" pitchFamily="49" charset="-122"/>
                <a:cs typeface="Times New Roman" panose="02020603050405020304" pitchFamily="18" charset="0"/>
              </a:rPr>
              <a:t>A</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中的</a:t>
            </a:r>
            <a:r>
              <a:rPr lang="zh-CN" altLang="en-US" b="1" dirty="0">
                <a:latin typeface="Times New Roman" panose="02020603050405020304" pitchFamily="18" charset="0"/>
                <a:ea typeface="楷体" panose="02010609060101010101" pitchFamily="49" charset="-122"/>
                <a:cs typeface="Times New Roman" panose="02020603050405020304" pitchFamily="18" charset="0"/>
                <a:sym typeface="Symbol" pitchFamily="18" charset="2"/>
              </a:rPr>
              <a:t></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换成</a:t>
            </a:r>
            <a:r>
              <a:rPr lang="zh-CN" altLang="en-US" b="1" dirty="0">
                <a:latin typeface="Times New Roman" panose="02020603050405020304" pitchFamily="18" charset="0"/>
                <a:ea typeface="楷体" panose="02010609060101010101" pitchFamily="49" charset="-122"/>
                <a:cs typeface="Times New Roman" panose="02020603050405020304" pitchFamily="18" charset="0"/>
                <a:sym typeface="Symbol" pitchFamily="18" charset="2"/>
              </a:rPr>
              <a:t></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 ；</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a:t>
            </a:r>
            <a:r>
              <a:rPr lang="en-US" altLang="zh-CN" b="1" dirty="0">
                <a:solidFill>
                  <a:schemeClr val="hlink"/>
                </a:solidFill>
                <a:latin typeface="Times New Roman" panose="02020603050405020304" pitchFamily="18" charset="0"/>
                <a:ea typeface="楷体" panose="02010609060101010101" pitchFamily="49" charset="-122"/>
                <a:cs typeface="Times New Roman" panose="02020603050405020304" pitchFamily="18" charset="0"/>
              </a:rPr>
              <a:t>3</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a:t>
            </a:r>
            <a:r>
              <a:rPr lang="en-US" altLang="zh-CN" b="1" i="1" dirty="0">
                <a:latin typeface="Times New Roman" panose="02020603050405020304" pitchFamily="18" charset="0"/>
                <a:ea typeface="楷体" panose="02010609060101010101" pitchFamily="49" charset="-122"/>
                <a:cs typeface="Times New Roman" panose="02020603050405020304" pitchFamily="18" charset="0"/>
              </a:rPr>
              <a:t>A</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中的</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1</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换成</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0</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a:t>
            </a:r>
            <a:r>
              <a:rPr lang="en-US" altLang="zh-CN" b="1" dirty="0">
                <a:solidFill>
                  <a:schemeClr val="hlink"/>
                </a:solidFill>
                <a:latin typeface="Times New Roman" panose="02020603050405020304" pitchFamily="18" charset="0"/>
                <a:ea typeface="楷体" panose="02010609060101010101" pitchFamily="49" charset="-122"/>
                <a:cs typeface="Times New Roman" panose="02020603050405020304" pitchFamily="18" charset="0"/>
              </a:rPr>
              <a:t>4</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 </a:t>
            </a:r>
            <a:r>
              <a:rPr lang="en-US" altLang="zh-CN" b="1" i="1" dirty="0">
                <a:latin typeface="Times New Roman" panose="02020603050405020304" pitchFamily="18" charset="0"/>
                <a:ea typeface="楷体" panose="02010609060101010101" pitchFamily="49" charset="-122"/>
                <a:cs typeface="Times New Roman" panose="02020603050405020304" pitchFamily="18" charset="0"/>
              </a:rPr>
              <a:t>A</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中的</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0</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换成</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1, </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所得到的命题公式称为是</a:t>
            </a:r>
            <a:r>
              <a:rPr lang="en-US" altLang="zh-CN" b="1" i="1" dirty="0">
                <a:latin typeface="Times New Roman" panose="02020603050405020304" pitchFamily="18" charset="0"/>
                <a:ea typeface="楷体" panose="02010609060101010101" pitchFamily="49" charset="-122"/>
                <a:cs typeface="Times New Roman" panose="02020603050405020304" pitchFamily="18" charset="0"/>
              </a:rPr>
              <a:t>A</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的对偶式</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(dual formula), </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记为</a:t>
            </a:r>
            <a:r>
              <a:rPr lang="en-US" altLang="zh-CN" b="1" i="1" dirty="0">
                <a:latin typeface="Times New Roman" panose="02020603050405020304" pitchFamily="18" charset="0"/>
                <a:ea typeface="楷体" panose="02010609060101010101" pitchFamily="49" charset="-122"/>
                <a:cs typeface="Times New Roman" panose="02020603050405020304" pitchFamily="18" charset="0"/>
              </a:rPr>
              <a:t>A</a:t>
            </a:r>
            <a:r>
              <a:rPr lang="en-US" altLang="zh-CN" b="1" baseline="30000" dirty="0">
                <a:latin typeface="Times New Roman" panose="02020603050405020304" pitchFamily="18" charset="0"/>
                <a:ea typeface="楷体" panose="02010609060101010101" pitchFamily="49" charset="-122"/>
                <a:cs typeface="Times New Roman" panose="02020603050405020304" pitchFamily="18" charset="0"/>
              </a:rPr>
              <a:t>*</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 </a:t>
            </a:r>
          </a:p>
        </p:txBody>
      </p:sp>
    </p:spTree>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2"/>
          <p:cNvSpPr>
            <a:spLocks noGrp="1" noChangeArrowheads="1"/>
          </p:cNvSpPr>
          <p:nvPr>
            <p:ph/>
          </p:nvPr>
        </p:nvSpPr>
        <p:spPr/>
        <p:txBody>
          <a:bodyPr/>
          <a:lstStyle/>
          <a:p>
            <a:pPr eaLnBrk="1" hangingPunct="1"/>
            <a:r>
              <a:rPr lang="zh-CN" altLang="en-US" b="1" dirty="0">
                <a:latin typeface="Times New Roman" panose="02020603050405020304" pitchFamily="18" charset="0"/>
                <a:ea typeface="楷体" panose="02010609060101010101" pitchFamily="49" charset="-122"/>
                <a:cs typeface="Times New Roman" panose="02020603050405020304" pitchFamily="18" charset="0"/>
              </a:rPr>
              <a:t>例如 </a:t>
            </a:r>
          </a:p>
          <a:p>
            <a:pPr eaLnBrk="1" hangingPunct="1"/>
            <a:endParaRPr lang="zh-CN" altLang="en-US" b="1" dirty="0">
              <a:latin typeface="Times New Roman" panose="02020603050405020304" pitchFamily="18" charset="0"/>
              <a:ea typeface="楷体" panose="02010609060101010101" pitchFamily="49" charset="-122"/>
              <a:cs typeface="Times New Roman" panose="02020603050405020304" pitchFamily="18" charset="0"/>
            </a:endParaRPr>
          </a:p>
          <a:p>
            <a:pPr eaLnBrk="1" hangingPunct="1"/>
            <a:endParaRPr lang="zh-CN" altLang="en-US" b="1" dirty="0">
              <a:latin typeface="Times New Roman" panose="02020603050405020304" pitchFamily="18" charset="0"/>
              <a:ea typeface="楷体" panose="02010609060101010101" pitchFamily="49" charset="-122"/>
              <a:cs typeface="Times New Roman" panose="02020603050405020304" pitchFamily="18" charset="0"/>
            </a:endParaRPr>
          </a:p>
          <a:p>
            <a:pPr eaLnBrk="1" hangingPunct="1"/>
            <a:r>
              <a:rPr lang="en-US" altLang="zh-CN" b="1" dirty="0">
                <a:latin typeface="Times New Roman" panose="02020603050405020304" pitchFamily="18" charset="0"/>
                <a:ea typeface="楷体" panose="02010609060101010101" pitchFamily="49" charset="-122"/>
                <a:cs typeface="Times New Roman" panose="02020603050405020304" pitchFamily="18" charset="0"/>
              </a:rPr>
              <a:t>Remark  </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一般来说</a:t>
            </a:r>
          </a:p>
          <a:p>
            <a:pPr eaLnBrk="1" hangingPunct="1"/>
            <a:endParaRPr lang="en-US" altLang="zh-CN" b="1" dirty="0">
              <a:latin typeface="Times New Roman" pitchFamily="18" charset="0"/>
            </a:endParaRPr>
          </a:p>
        </p:txBody>
      </p:sp>
      <p:graphicFrame>
        <p:nvGraphicFramePr>
          <p:cNvPr id="86019" name="Object 3"/>
          <p:cNvGraphicFramePr>
            <a:graphicFrameLocks noChangeAspect="1"/>
          </p:cNvGraphicFramePr>
          <p:nvPr/>
        </p:nvGraphicFramePr>
        <p:xfrm>
          <a:off x="1763713" y="404813"/>
          <a:ext cx="2454275" cy="484187"/>
        </p:xfrm>
        <a:graphic>
          <a:graphicData uri="http://schemas.openxmlformats.org/presentationml/2006/ole">
            <mc:AlternateContent xmlns:mc="http://schemas.openxmlformats.org/markup-compatibility/2006">
              <mc:Choice xmlns:v="urn:schemas-microsoft-com:vml" Requires="v">
                <p:oleObj name="公式" r:id="rId2" imgW="952489" imgH="123930" progId="Equation.3">
                  <p:embed/>
                </p:oleObj>
              </mc:Choice>
              <mc:Fallback>
                <p:oleObj name="公式" r:id="rId2" imgW="952489" imgH="123930" progId="Equation.3">
                  <p:embed/>
                  <p:pic>
                    <p:nvPicPr>
                      <p:cNvPr id="0" name="Object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63713" y="404813"/>
                        <a:ext cx="2454275" cy="4841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6020" name="Object 4"/>
          <p:cNvGraphicFramePr>
            <a:graphicFrameLocks noChangeAspect="1"/>
          </p:cNvGraphicFramePr>
          <p:nvPr/>
        </p:nvGraphicFramePr>
        <p:xfrm>
          <a:off x="2916238" y="1125538"/>
          <a:ext cx="3090862" cy="544512"/>
        </p:xfrm>
        <a:graphic>
          <a:graphicData uri="http://schemas.openxmlformats.org/presentationml/2006/ole">
            <mc:AlternateContent xmlns:mc="http://schemas.openxmlformats.org/markup-compatibility/2006">
              <mc:Choice xmlns:v="urn:schemas-microsoft-com:vml" Requires="v">
                <p:oleObj name="公式" r:id="rId4" imgW="1219110" imgH="152280" progId="Equation.3">
                  <p:embed/>
                </p:oleObj>
              </mc:Choice>
              <mc:Fallback>
                <p:oleObj name="公式" r:id="rId4" imgW="1219110" imgH="152280" progId="Equation.3">
                  <p:embed/>
                  <p:pic>
                    <p:nvPicPr>
                      <p:cNvPr id="0"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916238" y="1125538"/>
                        <a:ext cx="3090862" cy="5445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6021" name="Object 5"/>
          <p:cNvGraphicFramePr>
            <a:graphicFrameLocks noChangeAspect="1"/>
          </p:cNvGraphicFramePr>
          <p:nvPr/>
        </p:nvGraphicFramePr>
        <p:xfrm>
          <a:off x="4181475" y="2060575"/>
          <a:ext cx="1212850" cy="484188"/>
        </p:xfrm>
        <a:graphic>
          <a:graphicData uri="http://schemas.openxmlformats.org/presentationml/2006/ole">
            <mc:AlternateContent xmlns:mc="http://schemas.openxmlformats.org/markup-compatibility/2006">
              <mc:Choice xmlns:v="urn:schemas-microsoft-com:vml" Requires="v">
                <p:oleObj name="公式" r:id="rId6" imgW="428701" imgH="123930" progId="Equation.3">
                  <p:embed/>
                </p:oleObj>
              </mc:Choice>
              <mc:Fallback>
                <p:oleObj name="公式" r:id="rId6" imgW="428701" imgH="123930" progId="Equation.3">
                  <p:embed/>
                  <p:pic>
                    <p:nvPicPr>
                      <p:cNvPr id="0" name="Object 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181475" y="2060575"/>
                        <a:ext cx="1212850" cy="4841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2"/>
          <p:cNvSpPr>
            <a:spLocks noGrp="1" noChangeArrowheads="1"/>
          </p:cNvSpPr>
          <p:nvPr>
            <p:ph/>
          </p:nvPr>
        </p:nvSpPr>
        <p:spPr/>
        <p:txBody>
          <a:bodyPr/>
          <a:lstStyle/>
          <a:p>
            <a:pPr eaLnBrk="1" hangingPunct="1">
              <a:lnSpc>
                <a:spcPct val="120000"/>
              </a:lnSpc>
            </a:pPr>
            <a:r>
              <a:rPr lang="zh-CN" altLang="en-US" b="1" dirty="0">
                <a:latin typeface="Times New Roman" panose="02020603050405020304" pitchFamily="18" charset="0"/>
                <a:ea typeface="楷体" panose="02010609060101010101" pitchFamily="49" charset="-122"/>
                <a:cs typeface="Times New Roman" panose="02020603050405020304" pitchFamily="18" charset="0"/>
              </a:rPr>
              <a:t>对偶原理 </a:t>
            </a:r>
            <a:r>
              <a:rPr lang="zh-CN" altLang="en-US" b="1" dirty="0">
                <a:solidFill>
                  <a:schemeClr val="hlink"/>
                </a:solidFill>
                <a:latin typeface="Times New Roman" panose="02020603050405020304" pitchFamily="18" charset="0"/>
                <a:ea typeface="楷体" panose="02010609060101010101" pitchFamily="49" charset="-122"/>
                <a:cs typeface="Times New Roman" panose="02020603050405020304" pitchFamily="18" charset="0"/>
              </a:rPr>
              <a:t>设</a:t>
            </a:r>
            <a:r>
              <a:rPr lang="en-US" altLang="zh-CN" b="1" i="1" dirty="0">
                <a:solidFill>
                  <a:schemeClr val="hlink"/>
                </a:solidFill>
                <a:latin typeface="Times New Roman" panose="02020603050405020304" pitchFamily="18" charset="0"/>
                <a:ea typeface="楷体" panose="02010609060101010101" pitchFamily="49" charset="-122"/>
                <a:cs typeface="Times New Roman" panose="02020603050405020304" pitchFamily="18" charset="0"/>
              </a:rPr>
              <a:t>A</a:t>
            </a:r>
            <a:r>
              <a:rPr lang="zh-CN" altLang="en-US" b="1" dirty="0">
                <a:solidFill>
                  <a:schemeClr val="hlink"/>
                </a:solidFill>
                <a:latin typeface="Times New Roman" panose="02020603050405020304" pitchFamily="18" charset="0"/>
                <a:ea typeface="楷体" panose="02010609060101010101" pitchFamily="49" charset="-122"/>
                <a:cs typeface="Times New Roman" panose="02020603050405020304" pitchFamily="18" charset="0"/>
              </a:rPr>
              <a:t>和</a:t>
            </a:r>
            <a:r>
              <a:rPr lang="en-US" altLang="zh-CN" b="1" i="1" dirty="0">
                <a:solidFill>
                  <a:schemeClr val="hlink"/>
                </a:solidFill>
                <a:latin typeface="Times New Roman" panose="02020603050405020304" pitchFamily="18" charset="0"/>
                <a:ea typeface="楷体" panose="02010609060101010101" pitchFamily="49" charset="-122"/>
                <a:cs typeface="Times New Roman" panose="02020603050405020304" pitchFamily="18" charset="0"/>
              </a:rPr>
              <a:t>B</a:t>
            </a:r>
            <a:r>
              <a:rPr lang="zh-CN" altLang="en-US" b="1" dirty="0">
                <a:solidFill>
                  <a:schemeClr val="hlink"/>
                </a:solidFill>
                <a:latin typeface="Times New Roman" panose="02020603050405020304" pitchFamily="18" charset="0"/>
                <a:ea typeface="楷体" panose="02010609060101010101" pitchFamily="49" charset="-122"/>
                <a:cs typeface="Times New Roman" panose="02020603050405020304" pitchFamily="18" charset="0"/>
              </a:rPr>
              <a:t>是命题公式</a:t>
            </a:r>
            <a:r>
              <a:rPr lang="en-US" altLang="zh-CN" b="1" dirty="0">
                <a:solidFill>
                  <a:schemeClr val="hlink"/>
                </a:solidFill>
                <a:latin typeface="Times New Roman" panose="02020603050405020304" pitchFamily="18" charset="0"/>
                <a:ea typeface="楷体" panose="02010609060101010101" pitchFamily="49" charset="-122"/>
                <a:cs typeface="Times New Roman" panose="02020603050405020304" pitchFamily="18" charset="0"/>
              </a:rPr>
              <a:t>, </a:t>
            </a:r>
            <a:r>
              <a:rPr lang="zh-CN" altLang="en-US" b="1" dirty="0">
                <a:solidFill>
                  <a:schemeClr val="hlink"/>
                </a:solidFill>
                <a:latin typeface="Times New Roman" panose="02020603050405020304" pitchFamily="18" charset="0"/>
                <a:ea typeface="楷体" panose="02010609060101010101" pitchFamily="49" charset="-122"/>
                <a:cs typeface="Times New Roman" panose="02020603050405020304" pitchFamily="18" charset="0"/>
              </a:rPr>
              <a:t>若</a:t>
            </a:r>
            <a:r>
              <a:rPr lang="en-US" altLang="zh-CN" b="1" i="1" dirty="0">
                <a:solidFill>
                  <a:schemeClr val="hlink"/>
                </a:solidFill>
                <a:latin typeface="Times New Roman" panose="02020603050405020304" pitchFamily="18" charset="0"/>
                <a:ea typeface="楷体" panose="02010609060101010101" pitchFamily="49" charset="-122"/>
                <a:cs typeface="Times New Roman" panose="02020603050405020304" pitchFamily="18" charset="0"/>
              </a:rPr>
              <a:t>A</a:t>
            </a:r>
            <a:r>
              <a:rPr lang="en-US" altLang="zh-CN" b="1" dirty="0">
                <a:solidFill>
                  <a:schemeClr val="hlink"/>
                </a:solidFill>
                <a:latin typeface="Times New Roman" panose="02020603050405020304" pitchFamily="18" charset="0"/>
                <a:ea typeface="楷体" panose="02010609060101010101" pitchFamily="49" charset="-122"/>
                <a:cs typeface="Times New Roman" panose="02020603050405020304" pitchFamily="18" charset="0"/>
              </a:rPr>
              <a:t> = </a:t>
            </a:r>
            <a:r>
              <a:rPr lang="en-US" altLang="zh-CN" b="1" i="1" dirty="0">
                <a:solidFill>
                  <a:schemeClr val="hlink"/>
                </a:solidFill>
                <a:latin typeface="Times New Roman" panose="02020603050405020304" pitchFamily="18" charset="0"/>
                <a:ea typeface="楷体" panose="02010609060101010101" pitchFamily="49" charset="-122"/>
                <a:cs typeface="Times New Roman" panose="02020603050405020304" pitchFamily="18" charset="0"/>
              </a:rPr>
              <a:t>B</a:t>
            </a:r>
            <a:r>
              <a:rPr lang="en-US" altLang="zh-CN" b="1" dirty="0">
                <a:solidFill>
                  <a:schemeClr val="hlink"/>
                </a:solidFill>
                <a:latin typeface="Times New Roman" panose="02020603050405020304" pitchFamily="18" charset="0"/>
                <a:ea typeface="楷体" panose="02010609060101010101" pitchFamily="49" charset="-122"/>
                <a:cs typeface="Times New Roman" panose="02020603050405020304" pitchFamily="18" charset="0"/>
              </a:rPr>
              <a:t>, </a:t>
            </a:r>
            <a:r>
              <a:rPr lang="zh-CN" altLang="en-US" b="1" dirty="0">
                <a:solidFill>
                  <a:schemeClr val="hlink"/>
                </a:solidFill>
                <a:latin typeface="Times New Roman" panose="02020603050405020304" pitchFamily="18" charset="0"/>
                <a:ea typeface="楷体" panose="02010609060101010101" pitchFamily="49" charset="-122"/>
                <a:cs typeface="Times New Roman" panose="02020603050405020304" pitchFamily="18" charset="0"/>
              </a:rPr>
              <a:t>则</a:t>
            </a:r>
            <a:r>
              <a:rPr lang="en-US" altLang="zh-CN" b="1" i="1" dirty="0">
                <a:solidFill>
                  <a:schemeClr val="hlink"/>
                </a:solidFill>
                <a:latin typeface="Times New Roman" panose="02020603050405020304" pitchFamily="18" charset="0"/>
                <a:ea typeface="楷体" panose="02010609060101010101" pitchFamily="49" charset="-122"/>
                <a:cs typeface="Times New Roman" panose="02020603050405020304" pitchFamily="18" charset="0"/>
              </a:rPr>
              <a:t>A</a:t>
            </a:r>
            <a:r>
              <a:rPr lang="en-US" altLang="zh-CN" b="1" i="1" baseline="30000" dirty="0">
                <a:solidFill>
                  <a:schemeClr val="hlink"/>
                </a:solidFill>
                <a:latin typeface="Times New Roman" panose="02020603050405020304" pitchFamily="18" charset="0"/>
                <a:ea typeface="楷体" panose="02010609060101010101" pitchFamily="49" charset="-122"/>
                <a:cs typeface="Times New Roman" panose="02020603050405020304" pitchFamily="18" charset="0"/>
              </a:rPr>
              <a:t>*</a:t>
            </a:r>
            <a:r>
              <a:rPr lang="en-US" altLang="zh-CN" b="1" dirty="0">
                <a:solidFill>
                  <a:schemeClr val="hlink"/>
                </a:solidFill>
                <a:latin typeface="Times New Roman" panose="02020603050405020304" pitchFamily="18" charset="0"/>
                <a:ea typeface="楷体" panose="02010609060101010101" pitchFamily="49" charset="-122"/>
                <a:cs typeface="Times New Roman" panose="02020603050405020304" pitchFamily="18" charset="0"/>
              </a:rPr>
              <a:t> = </a:t>
            </a:r>
            <a:r>
              <a:rPr lang="en-US" altLang="zh-CN" b="1" i="1" dirty="0">
                <a:solidFill>
                  <a:schemeClr val="hlink"/>
                </a:solidFill>
                <a:latin typeface="Times New Roman" panose="02020603050405020304" pitchFamily="18" charset="0"/>
                <a:ea typeface="楷体" panose="02010609060101010101" pitchFamily="49" charset="-122"/>
                <a:cs typeface="Times New Roman" panose="02020603050405020304" pitchFamily="18" charset="0"/>
              </a:rPr>
              <a:t>B</a:t>
            </a:r>
            <a:r>
              <a:rPr lang="en-US" altLang="zh-CN" b="1" i="1" baseline="30000" dirty="0">
                <a:solidFill>
                  <a:schemeClr val="hlink"/>
                </a:solidFill>
                <a:latin typeface="Times New Roman" panose="02020603050405020304" pitchFamily="18" charset="0"/>
                <a:ea typeface="楷体" panose="02010609060101010101" pitchFamily="49" charset="-122"/>
                <a:cs typeface="Times New Roman" panose="02020603050405020304" pitchFamily="18" charset="0"/>
              </a:rPr>
              <a:t>*</a:t>
            </a:r>
            <a:r>
              <a:rPr lang="en-US" altLang="zh-CN" b="1" dirty="0">
                <a:solidFill>
                  <a:schemeClr val="hlink"/>
                </a:solidFill>
                <a:latin typeface="Times New Roman" panose="02020603050405020304" pitchFamily="18" charset="0"/>
                <a:ea typeface="楷体" panose="02010609060101010101" pitchFamily="49" charset="-122"/>
                <a:cs typeface="Times New Roman" panose="02020603050405020304" pitchFamily="18" charset="0"/>
              </a:rPr>
              <a:t>.</a:t>
            </a:r>
          </a:p>
          <a:p>
            <a:pPr eaLnBrk="1" hangingPunct="1">
              <a:lnSpc>
                <a:spcPct val="120000"/>
              </a:lnSpc>
            </a:pPr>
            <a:r>
              <a:rPr lang="zh-CN" altLang="en-US" b="1" dirty="0">
                <a:latin typeface="Times New Roman" panose="02020603050405020304" pitchFamily="18" charset="0"/>
                <a:ea typeface="楷体" panose="02010609060101010101" pitchFamily="49" charset="-122"/>
                <a:cs typeface="Times New Roman" panose="02020603050405020304" pitchFamily="18" charset="0"/>
              </a:rPr>
              <a:t>有了对偶原理后</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 </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定理</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3-5</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中除性质</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(1)</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外的等值式</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只需要记住其中一个就可以了</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 </a:t>
            </a:r>
          </a:p>
          <a:p>
            <a:pPr eaLnBrk="1" hangingPunct="1">
              <a:lnSpc>
                <a:spcPct val="120000"/>
              </a:lnSpc>
            </a:pPr>
            <a:endParaRPr lang="en-US" altLang="zh-CN" b="1" dirty="0">
              <a:latin typeface="Times New Roman" panose="02020603050405020304" pitchFamily="18" charset="0"/>
              <a:ea typeface="楷体" panose="02010609060101010101" pitchFamily="49" charset="-122"/>
              <a:cs typeface="Times New Roman" panose="02020603050405020304" pitchFamily="18" charset="0"/>
            </a:endParaRPr>
          </a:p>
          <a:p>
            <a:pPr eaLnBrk="1" hangingPunct="1">
              <a:lnSpc>
                <a:spcPct val="120000"/>
              </a:lnSpc>
            </a:pPr>
            <a:endParaRPr lang="en-US" altLang="zh-CN" b="1" dirty="0">
              <a:latin typeface="Times New Roman" panose="02020603050405020304" pitchFamily="18" charset="0"/>
              <a:ea typeface="楷体" panose="02010609060101010101" pitchFamily="49" charset="-122"/>
              <a:cs typeface="Times New Roman" panose="02020603050405020304" pitchFamily="18" charset="0"/>
            </a:endParaRPr>
          </a:p>
          <a:p>
            <a:pPr eaLnBrk="1" hangingPunct="1">
              <a:lnSpc>
                <a:spcPct val="120000"/>
              </a:lnSpc>
            </a:pPr>
            <a:r>
              <a:rPr lang="zh-CN" altLang="en-US" b="1" dirty="0">
                <a:latin typeface="Times New Roman" panose="02020603050405020304" pitchFamily="18" charset="0"/>
                <a:ea typeface="楷体" panose="02010609060101010101" pitchFamily="49" charset="-122"/>
                <a:cs typeface="Times New Roman" panose="02020603050405020304" pitchFamily="18" charset="0"/>
              </a:rPr>
              <a:t>有了对偶原理</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我们可以求出任意命题公式的对偶式</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 </a:t>
            </a:r>
          </a:p>
        </p:txBody>
      </p:sp>
      <p:graphicFrame>
        <p:nvGraphicFramePr>
          <p:cNvPr id="87043" name="Object 3"/>
          <p:cNvGraphicFramePr>
            <a:graphicFrameLocks noChangeAspect="1"/>
          </p:cNvGraphicFramePr>
          <p:nvPr/>
        </p:nvGraphicFramePr>
        <p:xfrm>
          <a:off x="2339975" y="2924175"/>
          <a:ext cx="3275013" cy="1028700"/>
        </p:xfrm>
        <a:graphic>
          <a:graphicData uri="http://schemas.openxmlformats.org/presentationml/2006/ole">
            <mc:AlternateContent xmlns:mc="http://schemas.openxmlformats.org/markup-compatibility/2006">
              <mc:Choice xmlns:v="urn:schemas-microsoft-com:vml" Requires="v">
                <p:oleObj name="公式" r:id="rId2" imgW="1295287" imgH="352350" progId="Equation.3">
                  <p:embed/>
                </p:oleObj>
              </mc:Choice>
              <mc:Fallback>
                <p:oleObj name="公式" r:id="rId2" imgW="1295287" imgH="352350" progId="Equation.3">
                  <p:embed/>
                  <p:pic>
                    <p:nvPicPr>
                      <p:cNvPr id="0" name="Object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39975" y="2924175"/>
                        <a:ext cx="3275013" cy="1028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7044" name="Object 4"/>
          <p:cNvGraphicFramePr>
            <a:graphicFrameLocks noChangeAspect="1"/>
          </p:cNvGraphicFramePr>
          <p:nvPr/>
        </p:nvGraphicFramePr>
        <p:xfrm>
          <a:off x="2987675" y="4941888"/>
          <a:ext cx="3001963" cy="1089025"/>
        </p:xfrm>
        <a:graphic>
          <a:graphicData uri="http://schemas.openxmlformats.org/presentationml/2006/ole">
            <mc:AlternateContent xmlns:mc="http://schemas.openxmlformats.org/markup-compatibility/2006">
              <mc:Choice xmlns:v="urn:schemas-microsoft-com:vml" Requires="v">
                <p:oleObj name="Equation" r:id="rId4" imgW="1181021" imgH="380970" progId="Equation.3">
                  <p:embed/>
                </p:oleObj>
              </mc:Choice>
              <mc:Fallback>
                <p:oleObj name="Equation" r:id="rId4" imgW="1181021" imgH="380970" progId="Equation.3">
                  <p:embed/>
                  <p:pic>
                    <p:nvPicPr>
                      <p:cNvPr id="0"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987675" y="4941888"/>
                        <a:ext cx="3001963" cy="10890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AutoShape 2"/>
          <p:cNvSpPr>
            <a:spLocks noChangeArrowheads="1"/>
          </p:cNvSpPr>
          <p:nvPr/>
        </p:nvSpPr>
        <p:spPr bwMode="ltGray">
          <a:xfrm rot="5400000">
            <a:off x="-2251074" y="1573212"/>
            <a:ext cx="4824412" cy="4646613"/>
          </a:xfrm>
          <a:custGeom>
            <a:avLst/>
            <a:gdLst>
              <a:gd name="G0" fmla="+- 10594 0 0"/>
              <a:gd name="G1" fmla="+- -10553582 0 0"/>
              <a:gd name="G2" fmla="+- 0 0 -10553582"/>
              <a:gd name="T0" fmla="*/ 0 256 1"/>
              <a:gd name="T1" fmla="*/ 180 256 1"/>
              <a:gd name="G3" fmla="+- -10553582 T0 T1"/>
              <a:gd name="T2" fmla="*/ 0 256 1"/>
              <a:gd name="T3" fmla="*/ 90 256 1"/>
              <a:gd name="G4" fmla="+- -10553582 T2 T3"/>
              <a:gd name="G5" fmla="*/ G4 2 1"/>
              <a:gd name="T4" fmla="*/ 90 256 1"/>
              <a:gd name="T5" fmla="*/ 0 256 1"/>
              <a:gd name="G6" fmla="+- -10553582 T4 T5"/>
              <a:gd name="G7" fmla="*/ G6 2 1"/>
              <a:gd name="G8" fmla="abs -10553582"/>
              <a:gd name="T6" fmla="*/ 0 256 1"/>
              <a:gd name="T7" fmla="*/ 90 256 1"/>
              <a:gd name="G9" fmla="+- G8 T6 T7"/>
              <a:gd name="G10" fmla="?: G9 G7 G5"/>
              <a:gd name="T8" fmla="*/ 0 256 1"/>
              <a:gd name="T9" fmla="*/ 360 256 1"/>
              <a:gd name="G11" fmla="+- G10 T8 T9"/>
              <a:gd name="G12" fmla="?: G10 G11 G10"/>
              <a:gd name="T10" fmla="*/ 0 256 1"/>
              <a:gd name="T11" fmla="*/ 360 256 1"/>
              <a:gd name="G13" fmla="+- G12 T10 T11"/>
              <a:gd name="G14" fmla="?: G12 G13 G12"/>
              <a:gd name="G15" fmla="+- 0 0 G14"/>
              <a:gd name="G16" fmla="+- 10800 0 0"/>
              <a:gd name="G17" fmla="+- 10800 0 10594"/>
              <a:gd name="G18" fmla="*/ 10594 1 2"/>
              <a:gd name="G19" fmla="+- G18 5400 0"/>
              <a:gd name="G20" fmla="cos G19 -10553582"/>
              <a:gd name="G21" fmla="sin G19 -10553582"/>
              <a:gd name="G22" fmla="+- G20 10800 0"/>
              <a:gd name="G23" fmla="+- G21 10800 0"/>
              <a:gd name="G24" fmla="+- 10800 0 G20"/>
              <a:gd name="G25" fmla="+- 10594 10800 0"/>
              <a:gd name="G26" fmla="?: G9 G17 G25"/>
              <a:gd name="G27" fmla="?: G9 0 21600"/>
              <a:gd name="G28" fmla="cos 10800 -10553582"/>
              <a:gd name="G29" fmla="sin 10800 -10553582"/>
              <a:gd name="G30" fmla="sin 10594 -10553582"/>
              <a:gd name="G31" fmla="+- G28 10800 0"/>
              <a:gd name="G32" fmla="+- G29 10800 0"/>
              <a:gd name="G33" fmla="+- G30 10800 0"/>
              <a:gd name="G34" fmla="?: G4 0 G31"/>
              <a:gd name="G35" fmla="?: -10553582 G34 0"/>
              <a:gd name="G36" fmla="?: G6 G35 G31"/>
              <a:gd name="G37" fmla="+- 21600 0 G36"/>
              <a:gd name="G38" fmla="?: G4 0 G33"/>
              <a:gd name="G39" fmla="?: -10553582 G38 G32"/>
              <a:gd name="G40" fmla="?: G6 G39 0"/>
              <a:gd name="G41" fmla="?: G4 G32 21600"/>
              <a:gd name="G42" fmla="?: G6 G41 G33"/>
              <a:gd name="T12" fmla="*/ 10800 w 21600"/>
              <a:gd name="T13" fmla="*/ 0 h 21600"/>
              <a:gd name="T14" fmla="*/ 683 w 21600"/>
              <a:gd name="T15" fmla="*/ 7323 h 21600"/>
              <a:gd name="T16" fmla="*/ 10800 w 21600"/>
              <a:gd name="T17" fmla="*/ 206 h 21600"/>
              <a:gd name="T18" fmla="*/ 20917 w 21600"/>
              <a:gd name="T19" fmla="*/ 7323 h 21600"/>
              <a:gd name="T20" fmla="*/ G36 w 21600"/>
              <a:gd name="T21" fmla="*/ G40 h 21600"/>
              <a:gd name="T22" fmla="*/ G37 w 21600"/>
              <a:gd name="T23" fmla="*/ G42 h 21600"/>
            </a:gdLst>
            <a:ahLst/>
            <a:cxnLst>
              <a:cxn ang="0">
                <a:pos x="T12" y="T13"/>
              </a:cxn>
              <a:cxn ang="0">
                <a:pos x="T14" y="T15"/>
              </a:cxn>
              <a:cxn ang="0">
                <a:pos x="T16" y="T17"/>
              </a:cxn>
              <a:cxn ang="0">
                <a:pos x="T18" y="T19"/>
              </a:cxn>
            </a:cxnLst>
            <a:rect l="T20" t="T21" r="T22" b="T23"/>
            <a:pathLst>
              <a:path w="21600" h="21600">
                <a:moveTo>
                  <a:pt x="781" y="7357"/>
                </a:moveTo>
                <a:cubicBezTo>
                  <a:pt x="2251" y="3078"/>
                  <a:pt x="6276" y="205"/>
                  <a:pt x="10800" y="206"/>
                </a:cubicBezTo>
                <a:cubicBezTo>
                  <a:pt x="15323" y="206"/>
                  <a:pt x="19348" y="3078"/>
                  <a:pt x="20818" y="7357"/>
                </a:cubicBezTo>
                <a:lnTo>
                  <a:pt x="21013" y="7290"/>
                </a:lnTo>
                <a:cubicBezTo>
                  <a:pt x="19514" y="2928"/>
                  <a:pt x="15411" y="-1"/>
                  <a:pt x="10799" y="0"/>
                </a:cubicBezTo>
                <a:cubicBezTo>
                  <a:pt x="6188" y="0"/>
                  <a:pt x="2085" y="2928"/>
                  <a:pt x="586" y="7290"/>
                </a:cubicBezTo>
                <a:close/>
              </a:path>
            </a:pathLst>
          </a:custGeom>
          <a:gradFill rotWithShape="1">
            <a:gsLst>
              <a:gs pos="0">
                <a:schemeClr val="accent2"/>
              </a:gs>
              <a:gs pos="100000">
                <a:schemeClr val="accent2">
                  <a:gamma/>
                  <a:tint val="0"/>
                  <a:invGamma/>
                </a:schemeClr>
              </a:gs>
            </a:gsLst>
            <a:lin ang="5400000" scaled="1"/>
          </a:gradFill>
          <a:ln w="9525" algn="ctr">
            <a:noFill/>
            <a:miter lim="800000"/>
            <a:headEnd/>
            <a:tailEnd/>
          </a:ln>
          <a:effectLst/>
        </p:spPr>
        <p:txBody>
          <a:bodyPr wrap="none" anchor="ctr"/>
          <a:lstStyle/>
          <a:p>
            <a:pPr>
              <a:defRPr/>
            </a:pPr>
            <a:endParaRPr lang="zh-CN" altLang="en-US"/>
          </a:p>
        </p:txBody>
      </p:sp>
      <p:sp>
        <p:nvSpPr>
          <p:cNvPr id="88067" name="Rectangle 3"/>
          <p:cNvSpPr>
            <a:spLocks noGrp="1" noChangeArrowheads="1"/>
          </p:cNvSpPr>
          <p:nvPr>
            <p:ph type="title"/>
          </p:nvPr>
        </p:nvSpPr>
        <p:spPr/>
        <p:txBody>
          <a:bodyPr/>
          <a:lstStyle/>
          <a:p>
            <a:pPr algn="l" eaLnBrk="1" hangingPunct="1"/>
            <a:r>
              <a:rPr lang="zh-CN" altLang="en-US" sz="4000" b="1"/>
              <a:t>小结与作业</a:t>
            </a:r>
          </a:p>
        </p:txBody>
      </p:sp>
      <p:grpSp>
        <p:nvGrpSpPr>
          <p:cNvPr id="88068" name="Group 4"/>
          <p:cNvGrpSpPr>
            <a:grpSpLocks/>
          </p:cNvGrpSpPr>
          <p:nvPr/>
        </p:nvGrpSpPr>
        <p:grpSpPr bwMode="auto">
          <a:xfrm>
            <a:off x="1331913" y="1773238"/>
            <a:ext cx="5181600" cy="508000"/>
            <a:chOff x="1419" y="1480"/>
            <a:chExt cx="3575" cy="363"/>
          </a:xfrm>
        </p:grpSpPr>
        <p:grpSp>
          <p:nvGrpSpPr>
            <p:cNvPr id="88097" name="Group 5"/>
            <p:cNvGrpSpPr>
              <a:grpSpLocks/>
            </p:cNvGrpSpPr>
            <p:nvPr/>
          </p:nvGrpSpPr>
          <p:grpSpPr bwMode="auto">
            <a:xfrm>
              <a:off x="1419" y="1480"/>
              <a:ext cx="3575" cy="363"/>
              <a:chOff x="1419" y="1480"/>
              <a:chExt cx="3575" cy="363"/>
            </a:xfrm>
          </p:grpSpPr>
          <p:sp>
            <p:nvSpPr>
              <p:cNvPr id="95238" name="Oval 6"/>
              <p:cNvSpPr>
                <a:spLocks noChangeArrowheads="1"/>
              </p:cNvSpPr>
              <p:nvPr/>
            </p:nvSpPr>
            <p:spPr bwMode="gray">
              <a:xfrm>
                <a:off x="1419" y="1491"/>
                <a:ext cx="344" cy="344"/>
              </a:xfrm>
              <a:prstGeom prst="ellipse">
                <a:avLst/>
              </a:prstGeom>
              <a:gradFill rotWithShape="1">
                <a:gsLst>
                  <a:gs pos="0">
                    <a:schemeClr val="accent2">
                      <a:gamma/>
                      <a:shade val="46275"/>
                      <a:invGamma/>
                    </a:schemeClr>
                  </a:gs>
                  <a:gs pos="100000">
                    <a:schemeClr val="accent2"/>
                  </a:gs>
                </a:gsLst>
                <a:lin ang="0" scaled="1"/>
              </a:gradFill>
              <a:ln w="9525" algn="ctr">
                <a:noFill/>
                <a:round/>
                <a:headEnd/>
                <a:tailEnd/>
              </a:ln>
              <a:effectLst/>
            </p:spPr>
            <p:txBody>
              <a:bodyPr wrap="none" anchor="ctr"/>
              <a:lstStyle/>
              <a:p>
                <a:pPr>
                  <a:defRPr/>
                </a:pPr>
                <a:endParaRPr lang="zh-CN" altLang="en-US"/>
              </a:p>
            </p:txBody>
          </p:sp>
          <p:sp>
            <p:nvSpPr>
              <p:cNvPr id="95239" name="AutoShape 7"/>
              <p:cNvSpPr>
                <a:spLocks noChangeArrowheads="1"/>
              </p:cNvSpPr>
              <p:nvPr/>
            </p:nvSpPr>
            <p:spPr bwMode="gray">
              <a:xfrm>
                <a:off x="1683" y="1480"/>
                <a:ext cx="3311" cy="363"/>
              </a:xfrm>
              <a:prstGeom prst="roundRect">
                <a:avLst>
                  <a:gd name="adj" fmla="val 50000"/>
                </a:avLst>
              </a:prstGeom>
              <a:gradFill rotWithShape="1">
                <a:gsLst>
                  <a:gs pos="0">
                    <a:schemeClr val="accent2"/>
                  </a:gs>
                  <a:gs pos="100000">
                    <a:schemeClr val="accent2">
                      <a:gamma/>
                      <a:tint val="0"/>
                      <a:invGamma/>
                    </a:schemeClr>
                  </a:gs>
                </a:gsLst>
                <a:lin ang="0" scaled="1"/>
              </a:gradFill>
              <a:ln w="9525" algn="ctr">
                <a:noFill/>
                <a:round/>
                <a:headEnd/>
                <a:tailEnd/>
              </a:ln>
              <a:effectLst/>
            </p:spPr>
            <p:txBody>
              <a:bodyPr wrap="none" anchor="ctr"/>
              <a:lstStyle/>
              <a:p>
                <a:pPr>
                  <a:defRPr/>
                </a:pPr>
                <a:r>
                  <a:rPr lang="en-US" altLang="zh-CN" sz="3200" b="1" i="1">
                    <a:latin typeface="Times New Roman" pitchFamily="18" charset="0"/>
                  </a:rPr>
                  <a:t>A</a:t>
                </a:r>
                <a:r>
                  <a:rPr lang="en-US" altLang="zh-CN" sz="3200" b="1">
                    <a:latin typeface="Times New Roman" pitchFamily="18" charset="0"/>
                  </a:rPr>
                  <a:t> = </a:t>
                </a:r>
                <a:r>
                  <a:rPr lang="en-US" altLang="zh-CN" sz="3200" b="1" i="1">
                    <a:latin typeface="Times New Roman" pitchFamily="18" charset="0"/>
                  </a:rPr>
                  <a:t>B</a:t>
                </a:r>
                <a:r>
                  <a:rPr lang="zh-CN" altLang="en-US" sz="3200" b="1">
                    <a:latin typeface="Times New Roman" pitchFamily="18" charset="0"/>
                  </a:rPr>
                  <a:t>定义</a:t>
                </a:r>
              </a:p>
            </p:txBody>
          </p:sp>
        </p:grpSp>
        <p:sp>
          <p:nvSpPr>
            <p:cNvPr id="95240" name="Oval 8"/>
            <p:cNvSpPr>
              <a:spLocks noChangeArrowheads="1"/>
            </p:cNvSpPr>
            <p:nvPr/>
          </p:nvSpPr>
          <p:spPr bwMode="gray">
            <a:xfrm>
              <a:off x="1470" y="1541"/>
              <a:ext cx="239" cy="238"/>
            </a:xfrm>
            <a:prstGeom prst="ellipse">
              <a:avLst/>
            </a:prstGeom>
            <a:gradFill rotWithShape="1">
              <a:gsLst>
                <a:gs pos="0">
                  <a:schemeClr val="folHlink"/>
                </a:gs>
                <a:gs pos="100000">
                  <a:schemeClr val="folHlink">
                    <a:gamma/>
                    <a:shade val="76078"/>
                    <a:invGamma/>
                  </a:schemeClr>
                </a:gs>
              </a:gsLst>
              <a:lin ang="5400000" scaled="1"/>
            </a:gradFill>
            <a:ln w="9525" algn="ctr">
              <a:noFill/>
              <a:round/>
              <a:headEnd/>
              <a:tailEnd/>
            </a:ln>
            <a:effectLst>
              <a:outerShdw dist="35921" dir="2700000" algn="ctr" rotWithShape="0">
                <a:schemeClr val="tx1">
                  <a:alpha val="50000"/>
                </a:schemeClr>
              </a:outerShdw>
            </a:effectLst>
          </p:spPr>
          <p:txBody>
            <a:bodyPr wrap="none" anchor="ctr"/>
            <a:lstStyle/>
            <a:p>
              <a:pPr>
                <a:defRPr/>
              </a:pPr>
              <a:endParaRPr lang="zh-CN" altLang="en-US"/>
            </a:p>
          </p:txBody>
        </p:sp>
        <p:sp>
          <p:nvSpPr>
            <p:cNvPr id="88099" name="Oval 9"/>
            <p:cNvSpPr>
              <a:spLocks noChangeArrowheads="1"/>
            </p:cNvSpPr>
            <p:nvPr/>
          </p:nvSpPr>
          <p:spPr bwMode="gray">
            <a:xfrm>
              <a:off x="1474" y="1532"/>
              <a:ext cx="173" cy="174"/>
            </a:xfrm>
            <a:prstGeom prst="ellipse">
              <a:avLst/>
            </a:prstGeom>
            <a:gradFill rotWithShape="1">
              <a:gsLst>
                <a:gs pos="0">
                  <a:srgbClr val="FFFFFF"/>
                </a:gs>
                <a:gs pos="100000">
                  <a:srgbClr val="E9940B">
                    <a:alpha val="0"/>
                  </a:srgbClr>
                </a:gs>
              </a:gsLst>
              <a:path path="shape">
                <a:fillToRect l="50000" t="50000" r="50000" b="50000"/>
              </a:path>
            </a:gradFill>
            <a:ln>
              <a:noFill/>
            </a:ln>
            <a:extLst>
              <a:ext uri="{91240B29-F687-4F45-9708-019B960494DF}">
                <a14:hiddenLine xmlns:a14="http://schemas.microsoft.com/office/drawing/2010/main" w="9525" algn="ctr">
                  <a:solidFill>
                    <a:srgbClr val="000000"/>
                  </a:solidFill>
                  <a:round/>
                  <a:headEnd/>
                  <a:tailEnd/>
                </a14:hiddenLine>
              </a:ext>
            </a:extLst>
          </p:spPr>
          <p:txBody>
            <a:bodyPr wrap="none" anchor="ctr"/>
            <a:lstStyle/>
            <a:p>
              <a:endParaRPr lang="zh-CN" altLang="en-US"/>
            </a:p>
          </p:txBody>
        </p:sp>
      </p:grpSp>
      <p:grpSp>
        <p:nvGrpSpPr>
          <p:cNvPr id="88069" name="Group 10"/>
          <p:cNvGrpSpPr>
            <a:grpSpLocks/>
          </p:cNvGrpSpPr>
          <p:nvPr/>
        </p:nvGrpSpPr>
        <p:grpSpPr bwMode="auto">
          <a:xfrm>
            <a:off x="1979613" y="2636838"/>
            <a:ext cx="5181600" cy="508000"/>
            <a:chOff x="1419" y="1480"/>
            <a:chExt cx="3575" cy="363"/>
          </a:xfrm>
        </p:grpSpPr>
        <p:grpSp>
          <p:nvGrpSpPr>
            <p:cNvPr id="88092" name="Group 11"/>
            <p:cNvGrpSpPr>
              <a:grpSpLocks/>
            </p:cNvGrpSpPr>
            <p:nvPr/>
          </p:nvGrpSpPr>
          <p:grpSpPr bwMode="auto">
            <a:xfrm>
              <a:off x="1419" y="1480"/>
              <a:ext cx="3575" cy="363"/>
              <a:chOff x="1419" y="1480"/>
              <a:chExt cx="3575" cy="363"/>
            </a:xfrm>
          </p:grpSpPr>
          <p:sp>
            <p:nvSpPr>
              <p:cNvPr id="95244" name="Oval 12"/>
              <p:cNvSpPr>
                <a:spLocks noChangeArrowheads="1"/>
              </p:cNvSpPr>
              <p:nvPr/>
            </p:nvSpPr>
            <p:spPr bwMode="gray">
              <a:xfrm>
                <a:off x="1419" y="1491"/>
                <a:ext cx="344" cy="344"/>
              </a:xfrm>
              <a:prstGeom prst="ellipse">
                <a:avLst/>
              </a:prstGeom>
              <a:gradFill rotWithShape="1">
                <a:gsLst>
                  <a:gs pos="0">
                    <a:schemeClr val="accent2">
                      <a:gamma/>
                      <a:shade val="46275"/>
                      <a:invGamma/>
                    </a:schemeClr>
                  </a:gs>
                  <a:gs pos="100000">
                    <a:schemeClr val="accent2"/>
                  </a:gs>
                </a:gsLst>
                <a:lin ang="0" scaled="1"/>
              </a:gradFill>
              <a:ln w="9525" algn="ctr">
                <a:noFill/>
                <a:round/>
                <a:headEnd/>
                <a:tailEnd/>
              </a:ln>
              <a:effectLst/>
            </p:spPr>
            <p:txBody>
              <a:bodyPr wrap="none" anchor="ctr"/>
              <a:lstStyle/>
              <a:p>
                <a:pPr>
                  <a:defRPr/>
                </a:pPr>
                <a:endParaRPr lang="zh-CN" altLang="en-US"/>
              </a:p>
            </p:txBody>
          </p:sp>
          <p:sp>
            <p:nvSpPr>
              <p:cNvPr id="95245" name="AutoShape 13"/>
              <p:cNvSpPr>
                <a:spLocks noChangeArrowheads="1"/>
              </p:cNvSpPr>
              <p:nvPr/>
            </p:nvSpPr>
            <p:spPr bwMode="gray">
              <a:xfrm>
                <a:off x="1683" y="1480"/>
                <a:ext cx="3311" cy="363"/>
              </a:xfrm>
              <a:prstGeom prst="roundRect">
                <a:avLst>
                  <a:gd name="adj" fmla="val 50000"/>
                </a:avLst>
              </a:prstGeom>
              <a:gradFill rotWithShape="1">
                <a:gsLst>
                  <a:gs pos="0">
                    <a:schemeClr val="accent2"/>
                  </a:gs>
                  <a:gs pos="100000">
                    <a:schemeClr val="accent2">
                      <a:gamma/>
                      <a:tint val="0"/>
                      <a:invGamma/>
                    </a:schemeClr>
                  </a:gs>
                </a:gsLst>
                <a:lin ang="0" scaled="1"/>
              </a:gradFill>
              <a:ln w="9525" algn="ctr">
                <a:noFill/>
                <a:round/>
                <a:headEnd/>
                <a:tailEnd/>
              </a:ln>
              <a:effectLst/>
            </p:spPr>
            <p:txBody>
              <a:bodyPr wrap="none" anchor="ctr"/>
              <a:lstStyle/>
              <a:p>
                <a:pPr>
                  <a:defRPr/>
                </a:pPr>
                <a:r>
                  <a:rPr lang="zh-CN" altLang="en-US" sz="3200" b="1"/>
                  <a:t>基本等值式</a:t>
                </a:r>
              </a:p>
            </p:txBody>
          </p:sp>
        </p:grpSp>
        <p:sp>
          <p:nvSpPr>
            <p:cNvPr id="95246" name="Oval 14"/>
            <p:cNvSpPr>
              <a:spLocks noChangeArrowheads="1"/>
            </p:cNvSpPr>
            <p:nvPr/>
          </p:nvSpPr>
          <p:spPr bwMode="gray">
            <a:xfrm>
              <a:off x="1470" y="1541"/>
              <a:ext cx="239" cy="238"/>
            </a:xfrm>
            <a:prstGeom prst="ellipse">
              <a:avLst/>
            </a:prstGeom>
            <a:gradFill rotWithShape="1">
              <a:gsLst>
                <a:gs pos="0">
                  <a:schemeClr val="folHlink"/>
                </a:gs>
                <a:gs pos="100000">
                  <a:schemeClr val="folHlink">
                    <a:gamma/>
                    <a:shade val="76078"/>
                    <a:invGamma/>
                  </a:schemeClr>
                </a:gs>
              </a:gsLst>
              <a:lin ang="5400000" scaled="1"/>
            </a:gradFill>
            <a:ln w="9525" algn="ctr">
              <a:noFill/>
              <a:round/>
              <a:headEnd/>
              <a:tailEnd/>
            </a:ln>
            <a:effectLst>
              <a:outerShdw dist="35921" dir="2700000" algn="ctr" rotWithShape="0">
                <a:schemeClr val="tx1">
                  <a:alpha val="50000"/>
                </a:schemeClr>
              </a:outerShdw>
            </a:effectLst>
          </p:spPr>
          <p:txBody>
            <a:bodyPr wrap="none" anchor="ctr"/>
            <a:lstStyle/>
            <a:p>
              <a:pPr>
                <a:defRPr/>
              </a:pPr>
              <a:endParaRPr lang="zh-CN" altLang="en-US"/>
            </a:p>
          </p:txBody>
        </p:sp>
        <p:sp>
          <p:nvSpPr>
            <p:cNvPr id="88094" name="Oval 15"/>
            <p:cNvSpPr>
              <a:spLocks noChangeArrowheads="1"/>
            </p:cNvSpPr>
            <p:nvPr/>
          </p:nvSpPr>
          <p:spPr bwMode="gray">
            <a:xfrm>
              <a:off x="1474" y="1532"/>
              <a:ext cx="173" cy="174"/>
            </a:xfrm>
            <a:prstGeom prst="ellipse">
              <a:avLst/>
            </a:prstGeom>
            <a:gradFill rotWithShape="1">
              <a:gsLst>
                <a:gs pos="0">
                  <a:srgbClr val="FFFFFF"/>
                </a:gs>
                <a:gs pos="100000">
                  <a:srgbClr val="E9940B">
                    <a:alpha val="0"/>
                  </a:srgbClr>
                </a:gs>
              </a:gsLst>
              <a:path path="shape">
                <a:fillToRect l="50000" t="50000" r="50000" b="50000"/>
              </a:path>
            </a:gradFill>
            <a:ln>
              <a:noFill/>
            </a:ln>
            <a:extLst>
              <a:ext uri="{91240B29-F687-4F45-9708-019B960494DF}">
                <a14:hiddenLine xmlns:a14="http://schemas.microsoft.com/office/drawing/2010/main" w="9525" algn="ctr">
                  <a:solidFill>
                    <a:srgbClr val="000000"/>
                  </a:solidFill>
                  <a:round/>
                  <a:headEnd/>
                  <a:tailEnd/>
                </a14:hiddenLine>
              </a:ext>
            </a:extLst>
          </p:spPr>
          <p:txBody>
            <a:bodyPr wrap="none" anchor="ctr"/>
            <a:lstStyle/>
            <a:p>
              <a:endParaRPr lang="zh-CN" altLang="en-US"/>
            </a:p>
          </p:txBody>
        </p:sp>
      </p:grpSp>
      <p:grpSp>
        <p:nvGrpSpPr>
          <p:cNvPr id="88070" name="Group 16"/>
          <p:cNvGrpSpPr>
            <a:grpSpLocks/>
          </p:cNvGrpSpPr>
          <p:nvPr/>
        </p:nvGrpSpPr>
        <p:grpSpPr bwMode="auto">
          <a:xfrm>
            <a:off x="2251075" y="3573463"/>
            <a:ext cx="5181600" cy="508000"/>
            <a:chOff x="1419" y="1480"/>
            <a:chExt cx="3575" cy="363"/>
          </a:xfrm>
        </p:grpSpPr>
        <p:grpSp>
          <p:nvGrpSpPr>
            <p:cNvPr id="88087" name="Group 17"/>
            <p:cNvGrpSpPr>
              <a:grpSpLocks/>
            </p:cNvGrpSpPr>
            <p:nvPr/>
          </p:nvGrpSpPr>
          <p:grpSpPr bwMode="auto">
            <a:xfrm>
              <a:off x="1419" y="1480"/>
              <a:ext cx="3575" cy="363"/>
              <a:chOff x="1419" y="1480"/>
              <a:chExt cx="3575" cy="363"/>
            </a:xfrm>
          </p:grpSpPr>
          <p:sp>
            <p:nvSpPr>
              <p:cNvPr id="95250" name="Oval 18"/>
              <p:cNvSpPr>
                <a:spLocks noChangeArrowheads="1"/>
              </p:cNvSpPr>
              <p:nvPr/>
            </p:nvSpPr>
            <p:spPr bwMode="gray">
              <a:xfrm>
                <a:off x="1419" y="1491"/>
                <a:ext cx="344" cy="344"/>
              </a:xfrm>
              <a:prstGeom prst="ellipse">
                <a:avLst/>
              </a:prstGeom>
              <a:gradFill rotWithShape="1">
                <a:gsLst>
                  <a:gs pos="0">
                    <a:schemeClr val="accent2">
                      <a:gamma/>
                      <a:shade val="46275"/>
                      <a:invGamma/>
                    </a:schemeClr>
                  </a:gs>
                  <a:gs pos="100000">
                    <a:schemeClr val="accent2"/>
                  </a:gs>
                </a:gsLst>
                <a:lin ang="0" scaled="1"/>
              </a:gradFill>
              <a:ln w="9525" algn="ctr">
                <a:noFill/>
                <a:round/>
                <a:headEnd/>
                <a:tailEnd/>
              </a:ln>
              <a:effectLst/>
            </p:spPr>
            <p:txBody>
              <a:bodyPr wrap="none" anchor="ctr"/>
              <a:lstStyle/>
              <a:p>
                <a:pPr>
                  <a:defRPr/>
                </a:pPr>
                <a:endParaRPr lang="zh-CN" altLang="en-US"/>
              </a:p>
            </p:txBody>
          </p:sp>
          <p:sp>
            <p:nvSpPr>
              <p:cNvPr id="95251" name="AutoShape 19"/>
              <p:cNvSpPr>
                <a:spLocks noChangeArrowheads="1"/>
              </p:cNvSpPr>
              <p:nvPr/>
            </p:nvSpPr>
            <p:spPr bwMode="gray">
              <a:xfrm>
                <a:off x="1683" y="1480"/>
                <a:ext cx="3311" cy="363"/>
              </a:xfrm>
              <a:prstGeom prst="roundRect">
                <a:avLst>
                  <a:gd name="adj" fmla="val 50000"/>
                </a:avLst>
              </a:prstGeom>
              <a:gradFill rotWithShape="1">
                <a:gsLst>
                  <a:gs pos="0">
                    <a:schemeClr val="accent2"/>
                  </a:gs>
                  <a:gs pos="100000">
                    <a:schemeClr val="accent2">
                      <a:gamma/>
                      <a:tint val="0"/>
                      <a:invGamma/>
                    </a:schemeClr>
                  </a:gs>
                </a:gsLst>
                <a:lin ang="0" scaled="1"/>
              </a:gradFill>
              <a:ln w="9525" algn="ctr">
                <a:noFill/>
                <a:round/>
                <a:headEnd/>
                <a:tailEnd/>
              </a:ln>
              <a:effectLst/>
            </p:spPr>
            <p:txBody>
              <a:bodyPr wrap="none" anchor="ctr"/>
              <a:lstStyle/>
              <a:p>
                <a:pPr>
                  <a:defRPr/>
                </a:pPr>
                <a:r>
                  <a:rPr lang="zh-CN" altLang="en-US" sz="3200" b="1"/>
                  <a:t>等值演算法</a:t>
                </a:r>
              </a:p>
            </p:txBody>
          </p:sp>
        </p:grpSp>
        <p:sp>
          <p:nvSpPr>
            <p:cNvPr id="95252" name="Oval 20"/>
            <p:cNvSpPr>
              <a:spLocks noChangeArrowheads="1"/>
            </p:cNvSpPr>
            <p:nvPr/>
          </p:nvSpPr>
          <p:spPr bwMode="gray">
            <a:xfrm>
              <a:off x="1470" y="1541"/>
              <a:ext cx="239" cy="238"/>
            </a:xfrm>
            <a:prstGeom prst="ellipse">
              <a:avLst/>
            </a:prstGeom>
            <a:gradFill rotWithShape="1">
              <a:gsLst>
                <a:gs pos="0">
                  <a:schemeClr val="folHlink"/>
                </a:gs>
                <a:gs pos="100000">
                  <a:schemeClr val="folHlink">
                    <a:gamma/>
                    <a:shade val="76078"/>
                    <a:invGamma/>
                  </a:schemeClr>
                </a:gs>
              </a:gsLst>
              <a:lin ang="5400000" scaled="1"/>
            </a:gradFill>
            <a:ln w="9525" algn="ctr">
              <a:noFill/>
              <a:round/>
              <a:headEnd/>
              <a:tailEnd/>
            </a:ln>
            <a:effectLst>
              <a:outerShdw dist="35921" dir="2700000" algn="ctr" rotWithShape="0">
                <a:schemeClr val="tx1">
                  <a:alpha val="50000"/>
                </a:schemeClr>
              </a:outerShdw>
            </a:effectLst>
          </p:spPr>
          <p:txBody>
            <a:bodyPr wrap="none" anchor="ctr"/>
            <a:lstStyle/>
            <a:p>
              <a:pPr>
                <a:defRPr/>
              </a:pPr>
              <a:endParaRPr lang="zh-CN" altLang="en-US"/>
            </a:p>
          </p:txBody>
        </p:sp>
        <p:sp>
          <p:nvSpPr>
            <p:cNvPr id="88089" name="Oval 21"/>
            <p:cNvSpPr>
              <a:spLocks noChangeArrowheads="1"/>
            </p:cNvSpPr>
            <p:nvPr/>
          </p:nvSpPr>
          <p:spPr bwMode="gray">
            <a:xfrm>
              <a:off x="1474" y="1532"/>
              <a:ext cx="173" cy="174"/>
            </a:xfrm>
            <a:prstGeom prst="ellipse">
              <a:avLst/>
            </a:prstGeom>
            <a:gradFill rotWithShape="1">
              <a:gsLst>
                <a:gs pos="0">
                  <a:srgbClr val="FFFFFF"/>
                </a:gs>
                <a:gs pos="100000">
                  <a:srgbClr val="E9940B">
                    <a:alpha val="0"/>
                  </a:srgbClr>
                </a:gs>
              </a:gsLst>
              <a:path path="shape">
                <a:fillToRect l="50000" t="50000" r="50000" b="50000"/>
              </a:path>
            </a:gradFill>
            <a:ln>
              <a:noFill/>
            </a:ln>
            <a:extLst>
              <a:ext uri="{91240B29-F687-4F45-9708-019B960494DF}">
                <a14:hiddenLine xmlns:a14="http://schemas.microsoft.com/office/drawing/2010/main" w="9525" algn="ctr">
                  <a:solidFill>
                    <a:srgbClr val="000000"/>
                  </a:solidFill>
                  <a:round/>
                  <a:headEnd/>
                  <a:tailEnd/>
                </a14:hiddenLine>
              </a:ext>
            </a:extLst>
          </p:spPr>
          <p:txBody>
            <a:bodyPr wrap="none" anchor="ctr"/>
            <a:lstStyle/>
            <a:p>
              <a:endParaRPr lang="zh-CN" altLang="en-US"/>
            </a:p>
          </p:txBody>
        </p:sp>
      </p:grpSp>
      <p:grpSp>
        <p:nvGrpSpPr>
          <p:cNvPr id="88071" name="Group 22"/>
          <p:cNvGrpSpPr>
            <a:grpSpLocks/>
          </p:cNvGrpSpPr>
          <p:nvPr/>
        </p:nvGrpSpPr>
        <p:grpSpPr bwMode="auto">
          <a:xfrm>
            <a:off x="2051050" y="4581525"/>
            <a:ext cx="5181600" cy="508000"/>
            <a:chOff x="1419" y="1480"/>
            <a:chExt cx="3575" cy="363"/>
          </a:xfrm>
        </p:grpSpPr>
        <p:grpSp>
          <p:nvGrpSpPr>
            <p:cNvPr id="88082" name="Group 23"/>
            <p:cNvGrpSpPr>
              <a:grpSpLocks/>
            </p:cNvGrpSpPr>
            <p:nvPr/>
          </p:nvGrpSpPr>
          <p:grpSpPr bwMode="auto">
            <a:xfrm>
              <a:off x="1419" y="1480"/>
              <a:ext cx="3575" cy="363"/>
              <a:chOff x="1419" y="1480"/>
              <a:chExt cx="3575" cy="363"/>
            </a:xfrm>
          </p:grpSpPr>
          <p:sp>
            <p:nvSpPr>
              <p:cNvPr id="95256" name="Oval 24"/>
              <p:cNvSpPr>
                <a:spLocks noChangeArrowheads="1"/>
              </p:cNvSpPr>
              <p:nvPr/>
            </p:nvSpPr>
            <p:spPr bwMode="gray">
              <a:xfrm>
                <a:off x="1419" y="1491"/>
                <a:ext cx="344" cy="344"/>
              </a:xfrm>
              <a:prstGeom prst="ellipse">
                <a:avLst/>
              </a:prstGeom>
              <a:gradFill rotWithShape="1">
                <a:gsLst>
                  <a:gs pos="0">
                    <a:schemeClr val="accent2">
                      <a:gamma/>
                      <a:shade val="46275"/>
                      <a:invGamma/>
                    </a:schemeClr>
                  </a:gs>
                  <a:gs pos="100000">
                    <a:schemeClr val="accent2"/>
                  </a:gs>
                </a:gsLst>
                <a:lin ang="0" scaled="1"/>
              </a:gradFill>
              <a:ln w="9525" algn="ctr">
                <a:noFill/>
                <a:round/>
                <a:headEnd/>
                <a:tailEnd/>
              </a:ln>
              <a:effectLst/>
            </p:spPr>
            <p:txBody>
              <a:bodyPr wrap="none" anchor="ctr"/>
              <a:lstStyle/>
              <a:p>
                <a:pPr>
                  <a:defRPr/>
                </a:pPr>
                <a:endParaRPr lang="zh-CN" altLang="en-US"/>
              </a:p>
            </p:txBody>
          </p:sp>
          <p:sp>
            <p:nvSpPr>
              <p:cNvPr id="95257" name="AutoShape 25"/>
              <p:cNvSpPr>
                <a:spLocks noChangeArrowheads="1"/>
              </p:cNvSpPr>
              <p:nvPr/>
            </p:nvSpPr>
            <p:spPr bwMode="gray">
              <a:xfrm>
                <a:off x="1683" y="1480"/>
                <a:ext cx="3311" cy="363"/>
              </a:xfrm>
              <a:prstGeom prst="roundRect">
                <a:avLst>
                  <a:gd name="adj" fmla="val 50000"/>
                </a:avLst>
              </a:prstGeom>
              <a:gradFill rotWithShape="1">
                <a:gsLst>
                  <a:gs pos="0">
                    <a:schemeClr val="accent2"/>
                  </a:gs>
                  <a:gs pos="100000">
                    <a:schemeClr val="accent2">
                      <a:gamma/>
                      <a:tint val="0"/>
                      <a:invGamma/>
                    </a:schemeClr>
                  </a:gs>
                </a:gsLst>
                <a:lin ang="0" scaled="1"/>
              </a:gradFill>
              <a:ln w="9525" algn="ctr">
                <a:noFill/>
                <a:round/>
                <a:headEnd/>
                <a:tailEnd/>
              </a:ln>
              <a:effectLst/>
            </p:spPr>
            <p:txBody>
              <a:bodyPr wrap="none" anchor="ctr"/>
              <a:lstStyle/>
              <a:p>
                <a:pPr>
                  <a:defRPr/>
                </a:pPr>
                <a:r>
                  <a:rPr lang="zh-CN" altLang="en-US" sz="3200" b="1"/>
                  <a:t>对偶原理</a:t>
                </a:r>
              </a:p>
            </p:txBody>
          </p:sp>
        </p:grpSp>
        <p:sp>
          <p:nvSpPr>
            <p:cNvPr id="95258" name="Oval 26"/>
            <p:cNvSpPr>
              <a:spLocks noChangeArrowheads="1"/>
            </p:cNvSpPr>
            <p:nvPr/>
          </p:nvSpPr>
          <p:spPr bwMode="gray">
            <a:xfrm>
              <a:off x="1470" y="1541"/>
              <a:ext cx="239" cy="238"/>
            </a:xfrm>
            <a:prstGeom prst="ellipse">
              <a:avLst/>
            </a:prstGeom>
            <a:gradFill rotWithShape="1">
              <a:gsLst>
                <a:gs pos="0">
                  <a:schemeClr val="folHlink"/>
                </a:gs>
                <a:gs pos="100000">
                  <a:schemeClr val="folHlink">
                    <a:gamma/>
                    <a:shade val="76078"/>
                    <a:invGamma/>
                  </a:schemeClr>
                </a:gs>
              </a:gsLst>
              <a:lin ang="5400000" scaled="1"/>
            </a:gradFill>
            <a:ln w="9525" algn="ctr">
              <a:noFill/>
              <a:round/>
              <a:headEnd/>
              <a:tailEnd/>
            </a:ln>
            <a:effectLst>
              <a:outerShdw dist="35921" dir="2700000" algn="ctr" rotWithShape="0">
                <a:schemeClr val="tx1">
                  <a:alpha val="50000"/>
                </a:schemeClr>
              </a:outerShdw>
            </a:effectLst>
          </p:spPr>
          <p:txBody>
            <a:bodyPr wrap="none" anchor="ctr"/>
            <a:lstStyle/>
            <a:p>
              <a:pPr>
                <a:defRPr/>
              </a:pPr>
              <a:endParaRPr lang="zh-CN" altLang="en-US"/>
            </a:p>
          </p:txBody>
        </p:sp>
        <p:sp>
          <p:nvSpPr>
            <p:cNvPr id="88084" name="Oval 27"/>
            <p:cNvSpPr>
              <a:spLocks noChangeArrowheads="1"/>
            </p:cNvSpPr>
            <p:nvPr/>
          </p:nvSpPr>
          <p:spPr bwMode="gray">
            <a:xfrm>
              <a:off x="1474" y="1532"/>
              <a:ext cx="173" cy="174"/>
            </a:xfrm>
            <a:prstGeom prst="ellipse">
              <a:avLst/>
            </a:prstGeom>
            <a:gradFill rotWithShape="1">
              <a:gsLst>
                <a:gs pos="0">
                  <a:srgbClr val="FFFFFF"/>
                </a:gs>
                <a:gs pos="100000">
                  <a:srgbClr val="E9940B">
                    <a:alpha val="0"/>
                  </a:srgbClr>
                </a:gs>
              </a:gsLst>
              <a:path path="shape">
                <a:fillToRect l="50000" t="50000" r="50000" b="50000"/>
              </a:path>
            </a:gradFill>
            <a:ln>
              <a:noFill/>
            </a:ln>
            <a:extLst>
              <a:ext uri="{91240B29-F687-4F45-9708-019B960494DF}">
                <a14:hiddenLine xmlns:a14="http://schemas.microsoft.com/office/drawing/2010/main" w="9525" algn="ctr">
                  <a:solidFill>
                    <a:srgbClr val="000000"/>
                  </a:solidFill>
                  <a:round/>
                  <a:headEnd/>
                  <a:tailEnd/>
                </a14:hiddenLine>
              </a:ext>
            </a:extLst>
          </p:spPr>
          <p:txBody>
            <a:bodyPr wrap="none" anchor="ctr"/>
            <a:lstStyle/>
            <a:p>
              <a:endParaRPr lang="zh-CN" altLang="en-US"/>
            </a:p>
          </p:txBody>
        </p:sp>
      </p:grpSp>
      <p:sp>
        <p:nvSpPr>
          <p:cNvPr id="88072" name="AutoShape 28"/>
          <p:cNvSpPr>
            <a:spLocks noChangeArrowheads="1"/>
          </p:cNvSpPr>
          <p:nvPr/>
        </p:nvSpPr>
        <p:spPr bwMode="gray">
          <a:xfrm>
            <a:off x="3419475" y="5445125"/>
            <a:ext cx="4665663" cy="315913"/>
          </a:xfrm>
          <a:prstGeom prst="roundRect">
            <a:avLst>
              <a:gd name="adj" fmla="val 0"/>
            </a:avLst>
          </a:prstGeom>
          <a:noFill/>
          <a:ln>
            <a:noFill/>
          </a:ln>
          <a:effectLst>
            <a:prstShdw prst="shdw17" dist="12700">
              <a:schemeClr val="bg2"/>
            </a:prst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round/>
                <a:headEnd/>
                <a:tailEnd/>
              </a14:hiddenLine>
            </a:ext>
          </a:extLst>
        </p:spPr>
        <p:txBody>
          <a:bodyPr wrap="none" anchor="ctr"/>
          <a:lstStyle/>
          <a:p>
            <a:pPr latinLnBrk="1"/>
            <a:endParaRPr kumimoji="1" lang="zh-CN" altLang="zh-CN" sz="2400" b="1">
              <a:solidFill>
                <a:schemeClr val="tx2"/>
              </a:solidFill>
              <a:ea typeface="Gulim" pitchFamily="34" charset="-127"/>
            </a:endParaRPr>
          </a:p>
        </p:txBody>
      </p:sp>
      <p:grpSp>
        <p:nvGrpSpPr>
          <p:cNvPr id="88074" name="Group 30"/>
          <p:cNvGrpSpPr>
            <a:grpSpLocks/>
          </p:cNvGrpSpPr>
          <p:nvPr/>
        </p:nvGrpSpPr>
        <p:grpSpPr bwMode="auto">
          <a:xfrm>
            <a:off x="1403350" y="5302250"/>
            <a:ext cx="5714605" cy="685800"/>
            <a:chOff x="1152" y="2832"/>
            <a:chExt cx="3620" cy="432"/>
          </a:xfrm>
        </p:grpSpPr>
        <p:grpSp>
          <p:nvGrpSpPr>
            <p:cNvPr id="88075" name="Group 31"/>
            <p:cNvGrpSpPr>
              <a:grpSpLocks/>
            </p:cNvGrpSpPr>
            <p:nvPr/>
          </p:nvGrpSpPr>
          <p:grpSpPr bwMode="auto">
            <a:xfrm>
              <a:off x="1152" y="2845"/>
              <a:ext cx="480" cy="419"/>
              <a:chOff x="3174" y="2656"/>
              <a:chExt cx="1549" cy="1351"/>
            </a:xfrm>
          </p:grpSpPr>
          <p:sp>
            <p:nvSpPr>
              <p:cNvPr id="88079" name="AutoShape 32"/>
              <p:cNvSpPr>
                <a:spLocks noChangeArrowheads="1"/>
              </p:cNvSpPr>
              <p:nvPr/>
            </p:nvSpPr>
            <p:spPr bwMode="gray">
              <a:xfrm>
                <a:off x="3187" y="2679"/>
                <a:ext cx="1536" cy="1328"/>
              </a:xfrm>
              <a:prstGeom prst="hexagon">
                <a:avLst>
                  <a:gd name="adj" fmla="val 28916"/>
                  <a:gd name="vf" fmla="val 115470"/>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a:p>
            </p:txBody>
          </p:sp>
          <p:sp>
            <p:nvSpPr>
              <p:cNvPr id="88080" name="AutoShape 33"/>
              <p:cNvSpPr>
                <a:spLocks noChangeArrowheads="1"/>
              </p:cNvSpPr>
              <p:nvPr/>
            </p:nvSpPr>
            <p:spPr bwMode="gray">
              <a:xfrm>
                <a:off x="3174" y="2656"/>
                <a:ext cx="1536" cy="1328"/>
              </a:xfrm>
              <a:prstGeom prst="hexagon">
                <a:avLst>
                  <a:gd name="adj" fmla="val 28916"/>
                  <a:gd name="vf" fmla="val 115470"/>
                </a:avLst>
              </a:prstGeom>
              <a:gradFill rotWithShape="1">
                <a:gsLst>
                  <a:gs pos="0">
                    <a:srgbClr val="E6E6E6"/>
                  </a:gs>
                  <a:gs pos="7500">
                    <a:srgbClr val="7D8496"/>
                  </a:gs>
                  <a:gs pos="26500">
                    <a:srgbClr val="E6E6E6"/>
                  </a:gs>
                  <a:gs pos="34000">
                    <a:srgbClr val="7D8496"/>
                  </a:gs>
                  <a:gs pos="46500">
                    <a:srgbClr val="E6E6E6"/>
                  </a:gs>
                  <a:gs pos="50000">
                    <a:srgbClr val="FFFFFF"/>
                  </a:gs>
                  <a:gs pos="53500">
                    <a:srgbClr val="E6E6E6"/>
                  </a:gs>
                  <a:gs pos="66000">
                    <a:srgbClr val="7D8496"/>
                  </a:gs>
                  <a:gs pos="73500">
                    <a:srgbClr val="E6E6E6"/>
                  </a:gs>
                  <a:gs pos="92500">
                    <a:srgbClr val="7D8496"/>
                  </a:gs>
                  <a:gs pos="100000">
                    <a:srgbClr val="E6E6E6"/>
                  </a:gs>
                </a:gsLst>
                <a:lin ang="2700000" scaled="1"/>
              </a:gradFill>
              <a:ln w="9525">
                <a:solidFill>
                  <a:srgbClr val="C0C0C0"/>
                </a:solidFill>
                <a:miter lim="800000"/>
                <a:headEnd/>
                <a:tailEnd/>
              </a:ln>
            </p:spPr>
            <p:txBody>
              <a:bodyPr wrap="none" anchor="ctr"/>
              <a:lstStyle/>
              <a:p>
                <a:endParaRPr lang="zh-CN" altLang="en-US"/>
              </a:p>
            </p:txBody>
          </p:sp>
          <p:sp>
            <p:nvSpPr>
              <p:cNvPr id="95266" name="AutoShape 34"/>
              <p:cNvSpPr>
                <a:spLocks noChangeArrowheads="1"/>
              </p:cNvSpPr>
              <p:nvPr/>
            </p:nvSpPr>
            <p:spPr bwMode="gray">
              <a:xfrm>
                <a:off x="3265" y="2737"/>
                <a:ext cx="1347" cy="1167"/>
              </a:xfrm>
              <a:prstGeom prst="hexagon">
                <a:avLst>
                  <a:gd name="adj" fmla="val 28896"/>
                  <a:gd name="vf" fmla="val 115470"/>
                </a:avLst>
              </a:prstGeom>
              <a:gradFill rotWithShape="1">
                <a:gsLst>
                  <a:gs pos="0">
                    <a:schemeClr val="accent1">
                      <a:gamma/>
                      <a:shade val="46275"/>
                      <a:invGamma/>
                    </a:schemeClr>
                  </a:gs>
                  <a:gs pos="100000">
                    <a:schemeClr val="accent1"/>
                  </a:gs>
                </a:gsLst>
                <a:lin ang="2700000" scaled="1"/>
              </a:gradFill>
              <a:ln w="9525">
                <a:solidFill>
                  <a:schemeClr val="tx1"/>
                </a:solidFill>
                <a:miter lim="800000"/>
                <a:headEnd/>
                <a:tailEnd/>
              </a:ln>
              <a:effectLst/>
            </p:spPr>
            <p:txBody>
              <a:bodyPr wrap="none" anchor="ctr"/>
              <a:lstStyle/>
              <a:p>
                <a:pPr>
                  <a:defRPr/>
                </a:pPr>
                <a:endParaRPr lang="zh-CN" altLang="en-US"/>
              </a:p>
            </p:txBody>
          </p:sp>
        </p:grpSp>
        <p:sp>
          <p:nvSpPr>
            <p:cNvPr id="88076" name="Line 35"/>
            <p:cNvSpPr>
              <a:spLocks noChangeShapeType="1"/>
            </p:cNvSpPr>
            <p:nvPr/>
          </p:nvSpPr>
          <p:spPr bwMode="auto">
            <a:xfrm>
              <a:off x="1536" y="3229"/>
              <a:ext cx="3024" cy="0"/>
            </a:xfrm>
            <a:prstGeom prst="line">
              <a:avLst/>
            </a:prstGeom>
            <a:noFill/>
            <a:ln w="25400">
              <a:solidFill>
                <a:srgbClr val="C0C0C0"/>
              </a:solidFill>
              <a:prstDash val="sysDot"/>
              <a:round/>
              <a:headEnd/>
              <a:tailEnd type="oval"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8077" name="Text Box 36"/>
            <p:cNvSpPr txBox="1">
              <a:spLocks noChangeArrowheads="1"/>
            </p:cNvSpPr>
            <p:nvPr/>
          </p:nvSpPr>
          <p:spPr bwMode="auto">
            <a:xfrm>
              <a:off x="2112" y="2832"/>
              <a:ext cx="2660" cy="3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r>
                <a:rPr lang="zh-CN" altLang="en-US" sz="3200" b="1" dirty="0">
                  <a:latin typeface="Times New Roman" pitchFamily="18" charset="0"/>
                </a:rPr>
                <a:t>习题</a:t>
              </a:r>
              <a:r>
                <a:rPr lang="en-US" altLang="zh-CN" sz="3200" b="1" dirty="0">
                  <a:latin typeface="Times New Roman" pitchFamily="18" charset="0"/>
                </a:rPr>
                <a:t>3.4     10,   11(2)(3)</a:t>
              </a:r>
            </a:p>
          </p:txBody>
        </p:sp>
        <p:sp>
          <p:nvSpPr>
            <p:cNvPr id="88078" name="Text Box 37"/>
            <p:cNvSpPr txBox="1">
              <a:spLocks noChangeArrowheads="1"/>
            </p:cNvSpPr>
            <p:nvPr/>
          </p:nvSpPr>
          <p:spPr bwMode="gray">
            <a:xfrm>
              <a:off x="1169" y="2928"/>
              <a:ext cx="44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a:r>
                <a:rPr lang="zh-CN" altLang="en-US" sz="2000" b="1">
                  <a:solidFill>
                    <a:schemeClr val="bg1"/>
                  </a:solidFill>
                  <a:latin typeface="Times New Roman" pitchFamily="18" charset="0"/>
                </a:rPr>
                <a:t>作业</a:t>
              </a:r>
            </a:p>
          </p:txBody>
        </p:sp>
      </p:gr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2"/>
          <p:cNvSpPr>
            <a:spLocks noGrp="1" noChangeArrowheads="1"/>
          </p:cNvSpPr>
          <p:nvPr>
            <p:ph type="ctrTitle"/>
          </p:nvPr>
        </p:nvSpPr>
        <p:spPr/>
        <p:txBody>
          <a:bodyPr/>
          <a:lstStyle/>
          <a:p>
            <a:pPr eaLnBrk="1" hangingPunct="1"/>
            <a:r>
              <a:rPr lang="zh-CN" altLang="en-US" b="1">
                <a:latin typeface="Times New Roman" pitchFamily="18" charset="0"/>
              </a:rPr>
              <a:t>第</a:t>
            </a:r>
            <a:r>
              <a:rPr lang="en-US" altLang="zh-CN" b="1">
                <a:latin typeface="Times New Roman" pitchFamily="18" charset="0"/>
              </a:rPr>
              <a:t>3</a:t>
            </a:r>
            <a:r>
              <a:rPr lang="zh-CN" altLang="en-US" b="1">
                <a:latin typeface="Times New Roman" pitchFamily="18" charset="0"/>
              </a:rPr>
              <a:t>章  命题逻辑</a:t>
            </a:r>
          </a:p>
        </p:txBody>
      </p:sp>
      <p:sp>
        <p:nvSpPr>
          <p:cNvPr id="89091" name="Rectangle 3"/>
          <p:cNvSpPr>
            <a:spLocks noGrp="1" noChangeArrowheads="1"/>
          </p:cNvSpPr>
          <p:nvPr>
            <p:ph type="subTitle" idx="1"/>
          </p:nvPr>
        </p:nvSpPr>
        <p:spPr/>
        <p:txBody>
          <a:bodyPr/>
          <a:lstStyle/>
          <a:p>
            <a:pPr eaLnBrk="1" hangingPunct="1"/>
            <a:r>
              <a:rPr lang="en-US" altLang="zh-CN" b="1" dirty="0">
                <a:latin typeface="Times New Roman" pitchFamily="18" charset="0"/>
              </a:rPr>
              <a:t>3.5 </a:t>
            </a:r>
            <a:r>
              <a:rPr lang="zh-CN" altLang="en-US" b="1" dirty="0">
                <a:latin typeface="楷体" panose="02010609060101010101" pitchFamily="49" charset="-122"/>
                <a:ea typeface="楷体" panose="02010609060101010101" pitchFamily="49" charset="-122"/>
              </a:rPr>
              <a:t>命题公式的范式</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2"/>
          <p:cNvSpPr>
            <a:spLocks noGrp="1" noChangeArrowheads="1"/>
          </p:cNvSpPr>
          <p:nvPr>
            <p:ph type="title"/>
          </p:nvPr>
        </p:nvSpPr>
        <p:spPr/>
        <p:txBody>
          <a:bodyPr/>
          <a:lstStyle/>
          <a:p>
            <a:pPr algn="l" eaLnBrk="1" hangingPunct="1"/>
            <a:r>
              <a:rPr lang="en-US" altLang="zh-CN" b="1">
                <a:latin typeface="Times New Roman" pitchFamily="18" charset="0"/>
              </a:rPr>
              <a:t>3.5 </a:t>
            </a:r>
            <a:r>
              <a:rPr lang="zh-CN" altLang="en-US" b="1">
                <a:latin typeface="Times New Roman" pitchFamily="18" charset="0"/>
              </a:rPr>
              <a:t>命题公式的范式</a:t>
            </a:r>
          </a:p>
        </p:txBody>
      </p:sp>
      <p:sp>
        <p:nvSpPr>
          <p:cNvPr id="90115" name="Rectangle 3"/>
          <p:cNvSpPr>
            <a:spLocks noGrp="1" noChangeArrowheads="1"/>
          </p:cNvSpPr>
          <p:nvPr>
            <p:ph type="body" idx="1"/>
          </p:nvPr>
        </p:nvSpPr>
        <p:spPr/>
        <p:txBody>
          <a:bodyPr/>
          <a:lstStyle/>
          <a:p>
            <a:pPr eaLnBrk="1" hangingPunct="1"/>
            <a:endParaRPr lang="en-US" altLang="zh-CN"/>
          </a:p>
          <a:p>
            <a:pPr eaLnBrk="1" hangingPunct="1"/>
            <a:endParaRPr lang="en-US" altLang="zh-CN"/>
          </a:p>
        </p:txBody>
      </p:sp>
      <p:grpSp>
        <p:nvGrpSpPr>
          <p:cNvPr id="90116" name="Group 4"/>
          <p:cNvGrpSpPr>
            <a:grpSpLocks/>
          </p:cNvGrpSpPr>
          <p:nvPr/>
        </p:nvGrpSpPr>
        <p:grpSpPr bwMode="auto">
          <a:xfrm>
            <a:off x="1042988" y="1557338"/>
            <a:ext cx="7419975" cy="712787"/>
            <a:chOff x="1152" y="1101"/>
            <a:chExt cx="4674" cy="449"/>
          </a:xfrm>
        </p:grpSpPr>
        <p:grpSp>
          <p:nvGrpSpPr>
            <p:cNvPr id="90126" name="Group 5"/>
            <p:cNvGrpSpPr>
              <a:grpSpLocks/>
            </p:cNvGrpSpPr>
            <p:nvPr/>
          </p:nvGrpSpPr>
          <p:grpSpPr bwMode="auto">
            <a:xfrm>
              <a:off x="1152" y="1131"/>
              <a:ext cx="480" cy="419"/>
              <a:chOff x="1110" y="2656"/>
              <a:chExt cx="1549" cy="1351"/>
            </a:xfrm>
          </p:grpSpPr>
          <p:sp>
            <p:nvSpPr>
              <p:cNvPr id="90130" name="AutoShape 6"/>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a:p>
            </p:txBody>
          </p:sp>
          <p:sp>
            <p:nvSpPr>
              <p:cNvPr id="90131" name="AutoShape 7"/>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500">
                    <a:srgbClr val="7D8496"/>
                  </a:gs>
                  <a:gs pos="26500">
                    <a:srgbClr val="E6E6E6"/>
                  </a:gs>
                  <a:gs pos="34000">
                    <a:srgbClr val="7D8496"/>
                  </a:gs>
                  <a:gs pos="46500">
                    <a:srgbClr val="E6E6E6"/>
                  </a:gs>
                  <a:gs pos="50000">
                    <a:srgbClr val="FFFFFF"/>
                  </a:gs>
                  <a:gs pos="53500">
                    <a:srgbClr val="E6E6E6"/>
                  </a:gs>
                  <a:gs pos="66000">
                    <a:srgbClr val="7D8496"/>
                  </a:gs>
                  <a:gs pos="73500">
                    <a:srgbClr val="E6E6E6"/>
                  </a:gs>
                  <a:gs pos="92500">
                    <a:srgbClr val="7D8496"/>
                  </a:gs>
                  <a:gs pos="100000">
                    <a:srgbClr val="E6E6E6"/>
                  </a:gs>
                </a:gsLst>
                <a:lin ang="2700000" scaled="1"/>
              </a:gradFill>
              <a:ln w="9525">
                <a:solidFill>
                  <a:srgbClr val="C0C0C0"/>
                </a:solidFill>
                <a:miter lim="800000"/>
                <a:headEnd/>
                <a:tailEnd/>
              </a:ln>
            </p:spPr>
            <p:txBody>
              <a:bodyPr wrap="none" anchor="ctr"/>
              <a:lstStyle/>
              <a:p>
                <a:endParaRPr lang="zh-CN" altLang="en-US"/>
              </a:p>
            </p:txBody>
          </p:sp>
          <p:sp>
            <p:nvSpPr>
              <p:cNvPr id="97288" name="AutoShape 8"/>
              <p:cNvSpPr>
                <a:spLocks noChangeArrowheads="1"/>
              </p:cNvSpPr>
              <p:nvPr/>
            </p:nvSpPr>
            <p:spPr bwMode="gray">
              <a:xfrm>
                <a:off x="1200" y="2737"/>
                <a:ext cx="1349" cy="1167"/>
              </a:xfrm>
              <a:prstGeom prst="hexagon">
                <a:avLst>
                  <a:gd name="adj" fmla="val 28896"/>
                  <a:gd name="vf" fmla="val 115470"/>
                </a:avLst>
              </a:prstGeom>
              <a:gradFill rotWithShape="1">
                <a:gsLst>
                  <a:gs pos="0">
                    <a:schemeClr val="accent2">
                      <a:gamma/>
                      <a:shade val="46275"/>
                      <a:invGamma/>
                    </a:schemeClr>
                  </a:gs>
                  <a:gs pos="100000">
                    <a:schemeClr val="accent2"/>
                  </a:gs>
                </a:gsLst>
                <a:lin ang="2700000" scaled="1"/>
              </a:gradFill>
              <a:ln w="9525">
                <a:solidFill>
                  <a:schemeClr val="tx1"/>
                </a:solidFill>
                <a:miter lim="800000"/>
                <a:headEnd/>
                <a:tailEnd/>
              </a:ln>
              <a:effectLst/>
            </p:spPr>
            <p:txBody>
              <a:bodyPr wrap="none" anchor="ctr"/>
              <a:lstStyle/>
              <a:p>
                <a:pPr>
                  <a:defRPr/>
                </a:pPr>
                <a:endParaRPr lang="zh-CN" altLang="en-US"/>
              </a:p>
            </p:txBody>
          </p:sp>
        </p:grpSp>
        <p:sp>
          <p:nvSpPr>
            <p:cNvPr id="90127" name="Line 9"/>
            <p:cNvSpPr>
              <a:spLocks noChangeShapeType="1"/>
            </p:cNvSpPr>
            <p:nvPr/>
          </p:nvSpPr>
          <p:spPr bwMode="auto">
            <a:xfrm>
              <a:off x="1536" y="1515"/>
              <a:ext cx="3024" cy="0"/>
            </a:xfrm>
            <a:prstGeom prst="line">
              <a:avLst/>
            </a:prstGeom>
            <a:noFill/>
            <a:ln w="25400">
              <a:solidFill>
                <a:srgbClr val="C0C0C0"/>
              </a:solidFill>
              <a:prstDash val="sysDot"/>
              <a:round/>
              <a:headEnd/>
              <a:tailEnd type="oval"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0128" name="Text Box 10"/>
            <p:cNvSpPr txBox="1">
              <a:spLocks noChangeArrowheads="1"/>
            </p:cNvSpPr>
            <p:nvPr/>
          </p:nvSpPr>
          <p:spPr bwMode="auto">
            <a:xfrm>
              <a:off x="2112" y="1101"/>
              <a:ext cx="3714"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r>
                <a:rPr lang="zh-CN" altLang="en-US" sz="3200" b="1"/>
                <a:t>命题公式的析取范式及合取范式</a:t>
              </a:r>
            </a:p>
          </p:txBody>
        </p:sp>
        <p:sp>
          <p:nvSpPr>
            <p:cNvPr id="90129" name="Text Box 11"/>
            <p:cNvSpPr txBox="1">
              <a:spLocks noChangeArrowheads="1"/>
            </p:cNvSpPr>
            <p:nvPr/>
          </p:nvSpPr>
          <p:spPr bwMode="gray">
            <a:xfrm>
              <a:off x="1266" y="1132"/>
              <a:ext cx="244"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a:r>
                <a:rPr lang="en-US" altLang="zh-CN" sz="3200" b="1">
                  <a:solidFill>
                    <a:schemeClr val="bg1"/>
                  </a:solidFill>
                  <a:latin typeface="Times New Roman" pitchFamily="18" charset="0"/>
                </a:rPr>
                <a:t>1</a:t>
              </a:r>
            </a:p>
          </p:txBody>
        </p:sp>
      </p:grpSp>
      <p:grpSp>
        <p:nvGrpSpPr>
          <p:cNvPr id="90117" name="Group 12"/>
          <p:cNvGrpSpPr>
            <a:grpSpLocks/>
          </p:cNvGrpSpPr>
          <p:nvPr/>
        </p:nvGrpSpPr>
        <p:grpSpPr bwMode="auto">
          <a:xfrm>
            <a:off x="1042988" y="3500438"/>
            <a:ext cx="7419975" cy="712787"/>
            <a:chOff x="1152" y="1677"/>
            <a:chExt cx="4674" cy="449"/>
          </a:xfrm>
        </p:grpSpPr>
        <p:grpSp>
          <p:nvGrpSpPr>
            <p:cNvPr id="90119" name="Group 13"/>
            <p:cNvGrpSpPr>
              <a:grpSpLocks/>
            </p:cNvGrpSpPr>
            <p:nvPr/>
          </p:nvGrpSpPr>
          <p:grpSpPr bwMode="auto">
            <a:xfrm>
              <a:off x="1152" y="1707"/>
              <a:ext cx="480" cy="419"/>
              <a:chOff x="3174" y="2656"/>
              <a:chExt cx="1549" cy="1351"/>
            </a:xfrm>
          </p:grpSpPr>
          <p:sp>
            <p:nvSpPr>
              <p:cNvPr id="90123" name="AutoShape 14"/>
              <p:cNvSpPr>
                <a:spLocks noChangeArrowheads="1"/>
              </p:cNvSpPr>
              <p:nvPr/>
            </p:nvSpPr>
            <p:spPr bwMode="gray">
              <a:xfrm>
                <a:off x="3187" y="2679"/>
                <a:ext cx="1536" cy="1328"/>
              </a:xfrm>
              <a:prstGeom prst="hexagon">
                <a:avLst>
                  <a:gd name="adj" fmla="val 28916"/>
                  <a:gd name="vf" fmla="val 115470"/>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a:p>
            </p:txBody>
          </p:sp>
          <p:sp>
            <p:nvSpPr>
              <p:cNvPr id="90124" name="AutoShape 15"/>
              <p:cNvSpPr>
                <a:spLocks noChangeArrowheads="1"/>
              </p:cNvSpPr>
              <p:nvPr/>
            </p:nvSpPr>
            <p:spPr bwMode="gray">
              <a:xfrm>
                <a:off x="3174" y="2656"/>
                <a:ext cx="1536" cy="1328"/>
              </a:xfrm>
              <a:prstGeom prst="hexagon">
                <a:avLst>
                  <a:gd name="adj" fmla="val 28916"/>
                  <a:gd name="vf" fmla="val 115470"/>
                </a:avLst>
              </a:prstGeom>
              <a:gradFill rotWithShape="1">
                <a:gsLst>
                  <a:gs pos="0">
                    <a:srgbClr val="E6E6E6"/>
                  </a:gs>
                  <a:gs pos="7500">
                    <a:srgbClr val="7D8496"/>
                  </a:gs>
                  <a:gs pos="26500">
                    <a:srgbClr val="E6E6E6"/>
                  </a:gs>
                  <a:gs pos="34000">
                    <a:srgbClr val="7D8496"/>
                  </a:gs>
                  <a:gs pos="46500">
                    <a:srgbClr val="E6E6E6"/>
                  </a:gs>
                  <a:gs pos="50000">
                    <a:srgbClr val="FFFFFF"/>
                  </a:gs>
                  <a:gs pos="53500">
                    <a:srgbClr val="E6E6E6"/>
                  </a:gs>
                  <a:gs pos="66000">
                    <a:srgbClr val="7D8496"/>
                  </a:gs>
                  <a:gs pos="73500">
                    <a:srgbClr val="E6E6E6"/>
                  </a:gs>
                  <a:gs pos="92500">
                    <a:srgbClr val="7D8496"/>
                  </a:gs>
                  <a:gs pos="100000">
                    <a:srgbClr val="E6E6E6"/>
                  </a:gs>
                </a:gsLst>
                <a:lin ang="2700000" scaled="1"/>
              </a:gradFill>
              <a:ln w="9525">
                <a:solidFill>
                  <a:srgbClr val="C0C0C0"/>
                </a:solidFill>
                <a:miter lim="800000"/>
                <a:headEnd/>
                <a:tailEnd/>
              </a:ln>
            </p:spPr>
            <p:txBody>
              <a:bodyPr wrap="none" anchor="ctr"/>
              <a:lstStyle/>
              <a:p>
                <a:endParaRPr lang="zh-CN" altLang="en-US"/>
              </a:p>
            </p:txBody>
          </p:sp>
          <p:sp>
            <p:nvSpPr>
              <p:cNvPr id="97296" name="AutoShape 16"/>
              <p:cNvSpPr>
                <a:spLocks noChangeArrowheads="1"/>
              </p:cNvSpPr>
              <p:nvPr/>
            </p:nvSpPr>
            <p:spPr bwMode="gray">
              <a:xfrm>
                <a:off x="3264" y="2737"/>
                <a:ext cx="1349" cy="1167"/>
              </a:xfrm>
              <a:prstGeom prst="hexagon">
                <a:avLst>
                  <a:gd name="adj" fmla="val 28896"/>
                  <a:gd name="vf" fmla="val 115470"/>
                </a:avLst>
              </a:prstGeom>
              <a:gradFill rotWithShape="1">
                <a:gsLst>
                  <a:gs pos="0">
                    <a:schemeClr val="accent1">
                      <a:gamma/>
                      <a:shade val="46275"/>
                      <a:invGamma/>
                    </a:schemeClr>
                  </a:gs>
                  <a:gs pos="100000">
                    <a:schemeClr val="accent1"/>
                  </a:gs>
                </a:gsLst>
                <a:lin ang="2700000" scaled="1"/>
              </a:gradFill>
              <a:ln w="9525">
                <a:solidFill>
                  <a:schemeClr val="tx1"/>
                </a:solidFill>
                <a:miter lim="800000"/>
                <a:headEnd/>
                <a:tailEnd/>
              </a:ln>
              <a:effectLst/>
            </p:spPr>
            <p:txBody>
              <a:bodyPr wrap="none" anchor="ctr"/>
              <a:lstStyle/>
              <a:p>
                <a:pPr>
                  <a:defRPr/>
                </a:pPr>
                <a:endParaRPr lang="zh-CN" altLang="en-US"/>
              </a:p>
            </p:txBody>
          </p:sp>
        </p:grpSp>
        <p:sp>
          <p:nvSpPr>
            <p:cNvPr id="90120" name="Line 17"/>
            <p:cNvSpPr>
              <a:spLocks noChangeShapeType="1"/>
            </p:cNvSpPr>
            <p:nvPr/>
          </p:nvSpPr>
          <p:spPr bwMode="auto">
            <a:xfrm>
              <a:off x="1536" y="2091"/>
              <a:ext cx="3024" cy="0"/>
            </a:xfrm>
            <a:prstGeom prst="line">
              <a:avLst/>
            </a:prstGeom>
            <a:noFill/>
            <a:ln w="25400">
              <a:solidFill>
                <a:srgbClr val="C0C0C0"/>
              </a:solidFill>
              <a:prstDash val="sysDot"/>
              <a:round/>
              <a:headEnd/>
              <a:tailEnd type="oval"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0121" name="Text Box 18"/>
            <p:cNvSpPr txBox="1">
              <a:spLocks noChangeArrowheads="1"/>
            </p:cNvSpPr>
            <p:nvPr/>
          </p:nvSpPr>
          <p:spPr bwMode="auto">
            <a:xfrm>
              <a:off x="2112" y="1677"/>
              <a:ext cx="3714"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r>
                <a:rPr lang="zh-CN" altLang="en-US" sz="3200" b="1"/>
                <a:t>命题公式的主析取及主合取范式</a:t>
              </a:r>
            </a:p>
          </p:txBody>
        </p:sp>
        <p:sp>
          <p:nvSpPr>
            <p:cNvPr id="90122" name="Text Box 19"/>
            <p:cNvSpPr txBox="1">
              <a:spLocks noChangeArrowheads="1"/>
            </p:cNvSpPr>
            <p:nvPr/>
          </p:nvSpPr>
          <p:spPr bwMode="gray">
            <a:xfrm>
              <a:off x="1266" y="1708"/>
              <a:ext cx="244"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a:r>
                <a:rPr lang="en-US" altLang="zh-CN" sz="3200" b="1">
                  <a:solidFill>
                    <a:schemeClr val="bg1"/>
                  </a:solidFill>
                  <a:latin typeface="Times New Roman" pitchFamily="18" charset="0"/>
                </a:rPr>
                <a:t>2</a:t>
              </a:r>
            </a:p>
          </p:txBody>
        </p:sp>
      </p:grpSp>
      <p:sp>
        <p:nvSpPr>
          <p:cNvPr id="2" name="圆角矩形 1"/>
          <p:cNvSpPr/>
          <p:nvPr/>
        </p:nvSpPr>
        <p:spPr>
          <a:xfrm>
            <a:off x="827088" y="1412875"/>
            <a:ext cx="7777162" cy="3240088"/>
          </a:xfrm>
          <a:prstGeom prst="round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2"/>
          <p:cNvSpPr>
            <a:spLocks noGrp="1" noChangeArrowheads="1"/>
          </p:cNvSpPr>
          <p:nvPr>
            <p:ph type="title"/>
          </p:nvPr>
        </p:nvSpPr>
        <p:spPr/>
        <p:txBody>
          <a:bodyPr/>
          <a:lstStyle/>
          <a:p>
            <a:pPr eaLnBrk="1" hangingPunct="1"/>
            <a:r>
              <a:rPr lang="en-US" altLang="zh-CN" b="1">
                <a:latin typeface="Times New Roman" pitchFamily="18" charset="0"/>
              </a:rPr>
              <a:t>3.5  </a:t>
            </a:r>
            <a:r>
              <a:rPr lang="zh-CN" altLang="en-US" b="1">
                <a:latin typeface="Times New Roman" pitchFamily="18" charset="0"/>
              </a:rPr>
              <a:t>命题公式的范式</a:t>
            </a:r>
          </a:p>
        </p:txBody>
      </p:sp>
      <p:sp>
        <p:nvSpPr>
          <p:cNvPr id="91139" name="Rectangle 3"/>
          <p:cNvSpPr>
            <a:spLocks noGrp="1" noChangeArrowheads="1"/>
          </p:cNvSpPr>
          <p:nvPr>
            <p:ph type="body" idx="1"/>
          </p:nvPr>
        </p:nvSpPr>
        <p:spPr/>
        <p:txBody>
          <a:bodyPr/>
          <a:lstStyle/>
          <a:p>
            <a:pPr eaLnBrk="1" hangingPunct="1">
              <a:lnSpc>
                <a:spcPct val="120000"/>
              </a:lnSpc>
            </a:pPr>
            <a:r>
              <a:rPr lang="zh-CN" altLang="en-US" sz="2800" b="1" dirty="0">
                <a:latin typeface="Times New Roman" panose="02020603050405020304" pitchFamily="18" charset="0"/>
                <a:ea typeface="楷体" panose="02010609060101010101" pitchFamily="49" charset="-122"/>
                <a:cs typeface="Times New Roman" panose="02020603050405020304" pitchFamily="18" charset="0"/>
              </a:rPr>
              <a:t>命题公式的范式就是其</a:t>
            </a:r>
            <a:r>
              <a:rPr lang="zh-CN" altLang="en-US" sz="2800" b="1" dirty="0">
                <a:solidFill>
                  <a:srgbClr val="1829A6"/>
                </a:solidFill>
                <a:latin typeface="Times New Roman" panose="02020603050405020304" pitchFamily="18" charset="0"/>
                <a:ea typeface="楷体" panose="02010609060101010101" pitchFamily="49" charset="-122"/>
                <a:cs typeface="Times New Roman" panose="02020603050405020304" pitchFamily="18" charset="0"/>
              </a:rPr>
              <a:t>标准形式</a:t>
            </a:r>
            <a:r>
              <a:rPr lang="zh-CN" altLang="en-US" sz="2800" b="1" dirty="0">
                <a:latin typeface="Times New Roman" panose="02020603050405020304" pitchFamily="18" charset="0"/>
                <a:ea typeface="楷体" panose="02010609060101010101" pitchFamily="49" charset="-122"/>
                <a:cs typeface="Times New Roman" panose="02020603050405020304" pitchFamily="18" charset="0"/>
              </a:rPr>
              <a:t>或</a:t>
            </a:r>
            <a:r>
              <a:rPr lang="zh-CN" altLang="en-US" sz="2800" b="1" dirty="0">
                <a:solidFill>
                  <a:srgbClr val="1829A6"/>
                </a:solidFill>
                <a:latin typeface="Times New Roman" panose="02020603050405020304" pitchFamily="18" charset="0"/>
                <a:ea typeface="楷体" panose="02010609060101010101" pitchFamily="49" charset="-122"/>
                <a:cs typeface="Times New Roman" panose="02020603050405020304" pitchFamily="18" charset="0"/>
              </a:rPr>
              <a:t>规范形式</a:t>
            </a:r>
            <a:r>
              <a:rPr lang="en-US" altLang="zh-CN" sz="2800" b="1" dirty="0">
                <a:latin typeface="Times New Roman" panose="02020603050405020304" pitchFamily="18" charset="0"/>
                <a:ea typeface="楷体" panose="02010609060101010101" pitchFamily="49" charset="-122"/>
                <a:cs typeface="Times New Roman" panose="02020603050405020304" pitchFamily="18" charset="0"/>
              </a:rPr>
              <a:t>.</a:t>
            </a:r>
          </a:p>
          <a:p>
            <a:pPr lvl="1" eaLnBrk="1" hangingPunct="1">
              <a:lnSpc>
                <a:spcPct val="120000"/>
              </a:lnSpc>
            </a:pPr>
            <a:r>
              <a:rPr lang="zh-CN" altLang="en-US" sz="2400" b="1" dirty="0">
                <a:solidFill>
                  <a:schemeClr val="accent1">
                    <a:lumMod val="50000"/>
                  </a:schemeClr>
                </a:solidFill>
                <a:latin typeface="Times New Roman" panose="02020603050405020304" pitchFamily="18" charset="0"/>
                <a:ea typeface="楷体" panose="02010609060101010101" pitchFamily="49" charset="-122"/>
                <a:cs typeface="Times New Roman" panose="02020603050405020304" pitchFamily="18" charset="0"/>
              </a:rPr>
              <a:t>仅使用</a:t>
            </a:r>
            <a:r>
              <a:rPr lang="en-US" altLang="zh-CN" sz="2400" b="1" dirty="0">
                <a:solidFill>
                  <a:schemeClr val="accent1">
                    <a:lumMod val="50000"/>
                  </a:schemeClr>
                </a:solidFill>
                <a:latin typeface="Times New Roman" panose="02020603050405020304" pitchFamily="18" charset="0"/>
                <a:ea typeface="楷体" panose="02010609060101010101" pitchFamily="49" charset="-122"/>
                <a:cs typeface="Times New Roman" panose="02020603050405020304" pitchFamily="18" charset="0"/>
              </a:rPr>
              <a:t>3</a:t>
            </a:r>
            <a:r>
              <a:rPr lang="zh-CN" altLang="en-US" sz="2400" b="1" dirty="0">
                <a:solidFill>
                  <a:schemeClr val="accent1">
                    <a:lumMod val="50000"/>
                  </a:schemeClr>
                </a:solidFill>
                <a:latin typeface="Times New Roman" panose="02020603050405020304" pitchFamily="18" charset="0"/>
                <a:ea typeface="楷体" panose="02010609060101010101" pitchFamily="49" charset="-122"/>
                <a:cs typeface="Times New Roman" panose="02020603050405020304" pitchFamily="18" charset="0"/>
              </a:rPr>
              <a:t>个联接词</a:t>
            </a:r>
            <a:r>
              <a:rPr lang="zh-CN" altLang="en-US" sz="2400" b="1" dirty="0">
                <a:solidFill>
                  <a:schemeClr val="accent1">
                    <a:lumMod val="50000"/>
                  </a:schemeClr>
                </a:solidFill>
                <a:latin typeface="Times New Roman" panose="02020603050405020304" pitchFamily="18" charset="0"/>
                <a:ea typeface="楷体" panose="02010609060101010101" pitchFamily="49" charset="-122"/>
                <a:cs typeface="Times New Roman" panose="02020603050405020304" pitchFamily="18" charset="0"/>
                <a:sym typeface="Symbol"/>
              </a:rPr>
              <a:t></a:t>
            </a:r>
            <a:r>
              <a:rPr lang="en-US" altLang="zh-CN" sz="2400" b="1" dirty="0">
                <a:solidFill>
                  <a:schemeClr val="accent1">
                    <a:lumMod val="50000"/>
                  </a:schemeClr>
                </a:solidFill>
                <a:latin typeface="Times New Roman" panose="02020603050405020304" pitchFamily="18" charset="0"/>
                <a:ea typeface="楷体" panose="02010609060101010101" pitchFamily="49" charset="-122"/>
                <a:cs typeface="Times New Roman" panose="02020603050405020304" pitchFamily="18" charset="0"/>
                <a:sym typeface="Symbol"/>
              </a:rPr>
              <a:t>, </a:t>
            </a:r>
            <a:r>
              <a:rPr lang="zh-CN" altLang="en-US" sz="2400" b="1" dirty="0">
                <a:solidFill>
                  <a:schemeClr val="accent1">
                    <a:lumMod val="50000"/>
                  </a:schemeClr>
                </a:solidFill>
                <a:latin typeface="Times New Roman" panose="02020603050405020304" pitchFamily="18" charset="0"/>
                <a:ea typeface="楷体" panose="02010609060101010101" pitchFamily="49" charset="-122"/>
                <a:cs typeface="Times New Roman" panose="02020603050405020304" pitchFamily="18" charset="0"/>
                <a:sym typeface="Symbol"/>
              </a:rPr>
              <a:t></a:t>
            </a:r>
            <a:r>
              <a:rPr lang="en-US" altLang="zh-CN" sz="2400" b="1" dirty="0">
                <a:solidFill>
                  <a:schemeClr val="accent1">
                    <a:lumMod val="50000"/>
                  </a:schemeClr>
                </a:solidFill>
                <a:latin typeface="Times New Roman" panose="02020603050405020304" pitchFamily="18" charset="0"/>
                <a:ea typeface="楷体" panose="02010609060101010101" pitchFamily="49" charset="-122"/>
                <a:cs typeface="Times New Roman" panose="02020603050405020304" pitchFamily="18" charset="0"/>
                <a:sym typeface="Symbol"/>
              </a:rPr>
              <a:t>, </a:t>
            </a:r>
            <a:r>
              <a:rPr lang="zh-CN" altLang="en-US" sz="2400" b="1" dirty="0">
                <a:solidFill>
                  <a:schemeClr val="accent1">
                    <a:lumMod val="50000"/>
                  </a:schemeClr>
                </a:solidFill>
                <a:latin typeface="Times New Roman" panose="02020603050405020304" pitchFamily="18" charset="0"/>
                <a:ea typeface="楷体" panose="02010609060101010101" pitchFamily="49" charset="-122"/>
                <a:cs typeface="Times New Roman" panose="02020603050405020304" pitchFamily="18" charset="0"/>
                <a:sym typeface="Symbol"/>
              </a:rPr>
              <a:t></a:t>
            </a:r>
            <a:r>
              <a:rPr lang="en-US" altLang="zh-CN" sz="2400" b="1" dirty="0">
                <a:solidFill>
                  <a:schemeClr val="accent1">
                    <a:lumMod val="50000"/>
                  </a:schemeClr>
                </a:solidFill>
                <a:latin typeface="Times New Roman" panose="02020603050405020304" pitchFamily="18" charset="0"/>
                <a:ea typeface="楷体" panose="02010609060101010101" pitchFamily="49" charset="-122"/>
                <a:cs typeface="Times New Roman" panose="02020603050405020304" pitchFamily="18" charset="0"/>
                <a:sym typeface="Symbol"/>
              </a:rPr>
              <a:t>;</a:t>
            </a:r>
          </a:p>
          <a:p>
            <a:pPr lvl="1" eaLnBrk="1" hangingPunct="1">
              <a:lnSpc>
                <a:spcPct val="120000"/>
              </a:lnSpc>
            </a:pPr>
            <a:r>
              <a:rPr lang="zh-CN" altLang="en-US" sz="2400" b="1" dirty="0">
                <a:solidFill>
                  <a:schemeClr val="accent1">
                    <a:lumMod val="50000"/>
                  </a:schemeClr>
                </a:solidFill>
                <a:latin typeface="Times New Roman" panose="02020603050405020304" pitchFamily="18" charset="0"/>
                <a:ea typeface="楷体" panose="02010609060101010101" pitchFamily="49" charset="-122"/>
                <a:cs typeface="Times New Roman" panose="02020603050405020304" pitchFamily="18" charset="0"/>
                <a:sym typeface="Symbol"/>
              </a:rPr>
              <a:t>给出命题公式</a:t>
            </a:r>
            <a:r>
              <a:rPr lang="en-US" altLang="zh-CN" sz="2400" b="1" i="1" dirty="0">
                <a:solidFill>
                  <a:schemeClr val="accent1">
                    <a:lumMod val="50000"/>
                  </a:schemeClr>
                </a:solidFill>
                <a:latin typeface="Times New Roman" panose="02020603050405020304" pitchFamily="18" charset="0"/>
                <a:ea typeface="楷体" panose="02010609060101010101" pitchFamily="49" charset="-122"/>
                <a:cs typeface="Times New Roman" panose="02020603050405020304" pitchFamily="18" charset="0"/>
                <a:sym typeface="Symbol"/>
              </a:rPr>
              <a:t>A</a:t>
            </a:r>
            <a:r>
              <a:rPr lang="zh-CN" altLang="en-US" sz="2400" b="1" dirty="0">
                <a:solidFill>
                  <a:schemeClr val="accent1">
                    <a:lumMod val="50000"/>
                  </a:schemeClr>
                </a:solidFill>
                <a:latin typeface="Times New Roman" panose="02020603050405020304" pitchFamily="18" charset="0"/>
                <a:ea typeface="楷体" panose="02010609060101010101" pitchFamily="49" charset="-122"/>
                <a:cs typeface="Times New Roman" panose="02020603050405020304" pitchFamily="18" charset="0"/>
                <a:sym typeface="Symbol"/>
              </a:rPr>
              <a:t>等值式的形式</a:t>
            </a:r>
            <a:r>
              <a:rPr lang="en-US" altLang="zh-CN" sz="2400" b="1" dirty="0">
                <a:solidFill>
                  <a:schemeClr val="accent1">
                    <a:lumMod val="50000"/>
                  </a:schemeClr>
                </a:solidFill>
                <a:latin typeface="Times New Roman" panose="02020603050405020304" pitchFamily="18" charset="0"/>
                <a:ea typeface="楷体" panose="02010609060101010101" pitchFamily="49" charset="-122"/>
                <a:cs typeface="Times New Roman" panose="02020603050405020304" pitchFamily="18" charset="0"/>
                <a:sym typeface="Symbol"/>
              </a:rPr>
              <a:t>.</a:t>
            </a:r>
            <a:endParaRPr lang="en-US" altLang="zh-CN" sz="2400" b="1" dirty="0">
              <a:solidFill>
                <a:schemeClr val="accent1">
                  <a:lumMod val="50000"/>
                </a:schemeClr>
              </a:solidFill>
              <a:latin typeface="Times New Roman" panose="02020603050405020304" pitchFamily="18" charset="0"/>
              <a:ea typeface="楷体" panose="02010609060101010101" pitchFamily="49" charset="-122"/>
              <a:cs typeface="Times New Roman" panose="02020603050405020304" pitchFamily="18" charset="0"/>
            </a:endParaRPr>
          </a:p>
          <a:p>
            <a:pPr eaLnBrk="1" hangingPunct="1">
              <a:lnSpc>
                <a:spcPct val="120000"/>
              </a:lnSpc>
            </a:pPr>
            <a:endParaRPr lang="en-US" altLang="zh-CN" sz="2800" b="1" dirty="0">
              <a:latin typeface="Times New Roman" panose="02020603050405020304" pitchFamily="18" charset="0"/>
              <a:ea typeface="楷体" panose="02010609060101010101" pitchFamily="49" charset="-122"/>
              <a:cs typeface="Times New Roman" panose="02020603050405020304" pitchFamily="18" charset="0"/>
            </a:endParaRPr>
          </a:p>
          <a:p>
            <a:pPr eaLnBrk="1" hangingPunct="1">
              <a:lnSpc>
                <a:spcPct val="120000"/>
              </a:lnSpc>
            </a:pPr>
            <a:r>
              <a:rPr lang="zh-CN" altLang="en-US" sz="2800" b="1" dirty="0">
                <a:latin typeface="Times New Roman" panose="02020603050405020304" pitchFamily="18" charset="0"/>
                <a:ea typeface="楷体" panose="02010609060101010101" pitchFamily="49" charset="-122"/>
                <a:cs typeface="Times New Roman" panose="02020603050405020304" pitchFamily="18" charset="0"/>
              </a:rPr>
              <a:t>有了命题公式的范式</a:t>
            </a:r>
            <a:r>
              <a:rPr lang="en-US" altLang="zh-CN" sz="2800" b="1" dirty="0">
                <a:latin typeface="Times New Roman" panose="02020603050405020304" pitchFamily="18" charset="0"/>
                <a:ea typeface="楷体" panose="02010609060101010101" pitchFamily="49" charset="-122"/>
                <a:cs typeface="Times New Roman" panose="02020603050405020304" pitchFamily="18" charset="0"/>
              </a:rPr>
              <a:t>, </a:t>
            </a:r>
            <a:r>
              <a:rPr lang="zh-CN" altLang="en-US" sz="2800" b="1" dirty="0">
                <a:latin typeface="Times New Roman" panose="02020603050405020304" pitchFamily="18" charset="0"/>
                <a:ea typeface="楷体" panose="02010609060101010101" pitchFamily="49" charset="-122"/>
                <a:cs typeface="Times New Roman" panose="02020603050405020304" pitchFamily="18" charset="0"/>
              </a:rPr>
              <a:t>就可以不用写出真值表就能确定在何真值指派下取真以及在何真值指派下取假</a:t>
            </a:r>
            <a:r>
              <a:rPr lang="en-US" altLang="zh-CN" sz="2800" b="1" dirty="0">
                <a:latin typeface="Times New Roman" panose="02020603050405020304" pitchFamily="18" charset="0"/>
                <a:ea typeface="楷体" panose="02010609060101010101" pitchFamily="49" charset="-122"/>
                <a:cs typeface="Times New Roman" panose="02020603050405020304" pitchFamily="18" charset="0"/>
              </a:rPr>
              <a:t>. </a:t>
            </a:r>
          </a:p>
        </p:txBody>
      </p:sp>
    </p:spTree>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2"/>
          <p:cNvSpPr>
            <a:spLocks noGrp="1" noChangeArrowheads="1"/>
          </p:cNvSpPr>
          <p:nvPr>
            <p:ph/>
          </p:nvPr>
        </p:nvSpPr>
        <p:spPr/>
        <p:txBody>
          <a:bodyPr/>
          <a:lstStyle/>
          <a:p>
            <a:pPr eaLnBrk="1" hangingPunct="1">
              <a:lnSpc>
                <a:spcPct val="120000"/>
              </a:lnSpc>
            </a:pPr>
            <a:r>
              <a:rPr lang="en-US" altLang="zh-CN" b="1" dirty="0">
                <a:latin typeface="Times New Roman" pitchFamily="18" charset="0"/>
              </a:rPr>
              <a:t>3.5.1 </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命题公式的析取范式及合取范式</a:t>
            </a:r>
          </a:p>
          <a:p>
            <a:pPr eaLnBrk="1" hangingPunct="1">
              <a:lnSpc>
                <a:spcPct val="120000"/>
              </a:lnSpc>
            </a:pPr>
            <a:r>
              <a:rPr lang="en-US" altLang="zh-CN" b="1" dirty="0">
                <a:latin typeface="Times New Roman" panose="02020603050405020304" pitchFamily="18" charset="0"/>
                <a:ea typeface="楷体" panose="02010609060101010101" pitchFamily="49" charset="-122"/>
                <a:cs typeface="Times New Roman" panose="02020603050405020304" pitchFamily="18" charset="0"/>
              </a:rPr>
              <a:t>(1) </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析取范式及合取范式的定义 </a:t>
            </a:r>
          </a:p>
          <a:p>
            <a:pPr eaLnBrk="1" hangingPunct="1">
              <a:lnSpc>
                <a:spcPct val="120000"/>
              </a:lnSpc>
            </a:pPr>
            <a:r>
              <a:rPr lang="en-US" altLang="zh-CN" b="1" dirty="0" err="1">
                <a:latin typeface="Times New Roman" panose="02020603050405020304" pitchFamily="18" charset="0"/>
                <a:ea typeface="楷体" panose="02010609060101010101" pitchFamily="49" charset="-122"/>
                <a:cs typeface="Times New Roman" panose="02020603050405020304" pitchFamily="18" charset="0"/>
              </a:rPr>
              <a:t>Def</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 3-5 </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设</a:t>
            </a:r>
            <a:r>
              <a:rPr lang="en-US" altLang="zh-CN" b="1" i="1" dirty="0">
                <a:latin typeface="Times New Roman" panose="02020603050405020304" pitchFamily="18" charset="0"/>
                <a:ea typeface="楷体" panose="02010609060101010101" pitchFamily="49" charset="-122"/>
                <a:cs typeface="Times New Roman" panose="02020603050405020304" pitchFamily="18" charset="0"/>
              </a:rPr>
              <a:t>A</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是命题公式</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 </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若</a:t>
            </a:r>
            <a:r>
              <a:rPr lang="en-US" altLang="zh-CN" b="1" i="1" dirty="0">
                <a:latin typeface="Times New Roman" panose="02020603050405020304" pitchFamily="18" charset="0"/>
                <a:ea typeface="楷体" panose="02010609060101010101" pitchFamily="49" charset="-122"/>
                <a:cs typeface="Times New Roman" panose="02020603050405020304" pitchFamily="18" charset="0"/>
              </a:rPr>
              <a:t>A</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 = </a:t>
            </a:r>
            <a:r>
              <a:rPr lang="en-US" altLang="zh-CN" b="1" i="1" dirty="0">
                <a:latin typeface="Times New Roman" panose="02020603050405020304" pitchFamily="18" charset="0"/>
                <a:ea typeface="楷体" panose="02010609060101010101" pitchFamily="49" charset="-122"/>
                <a:cs typeface="Times New Roman" panose="02020603050405020304" pitchFamily="18" charset="0"/>
              </a:rPr>
              <a:t>A</a:t>
            </a:r>
            <a:r>
              <a:rPr lang="en-US" altLang="zh-CN" b="1" baseline="-25000" dirty="0">
                <a:latin typeface="Times New Roman" panose="02020603050405020304" pitchFamily="18" charset="0"/>
                <a:ea typeface="楷体" panose="02010609060101010101" pitchFamily="49" charset="-122"/>
                <a:cs typeface="Times New Roman" panose="02020603050405020304" pitchFamily="18" charset="0"/>
              </a:rPr>
              <a:t>1</a:t>
            </a:r>
            <a:r>
              <a:rPr lang="en-US" altLang="zh-CN" b="1" dirty="0">
                <a:latin typeface="Times New Roman" panose="02020603050405020304" pitchFamily="18" charset="0"/>
                <a:ea typeface="楷体" panose="02010609060101010101" pitchFamily="49" charset="-122"/>
                <a:cs typeface="Times New Roman" panose="02020603050405020304" pitchFamily="18" charset="0"/>
                <a:sym typeface="Symbol" pitchFamily="18" charset="2"/>
              </a:rPr>
              <a:t> </a:t>
            </a:r>
            <a:r>
              <a:rPr lang="en-US" altLang="zh-CN" b="1" i="1" dirty="0">
                <a:latin typeface="Times New Roman" panose="02020603050405020304" pitchFamily="18" charset="0"/>
                <a:ea typeface="楷体" panose="02010609060101010101" pitchFamily="49" charset="-122"/>
                <a:cs typeface="Times New Roman" panose="02020603050405020304" pitchFamily="18" charset="0"/>
              </a:rPr>
              <a:t>A</a:t>
            </a:r>
            <a:r>
              <a:rPr lang="en-US" altLang="zh-CN" b="1" baseline="-25000" dirty="0">
                <a:latin typeface="Times New Roman" panose="02020603050405020304" pitchFamily="18" charset="0"/>
                <a:ea typeface="楷体" panose="02010609060101010101" pitchFamily="49" charset="-122"/>
                <a:cs typeface="Times New Roman" panose="02020603050405020304" pitchFamily="18" charset="0"/>
              </a:rPr>
              <a:t>2</a:t>
            </a:r>
            <a:r>
              <a:rPr lang="en-US" altLang="zh-CN" b="1" dirty="0">
                <a:latin typeface="Times New Roman" panose="02020603050405020304" pitchFamily="18" charset="0"/>
                <a:ea typeface="楷体" panose="02010609060101010101" pitchFamily="49" charset="-122"/>
                <a:cs typeface="Times New Roman" panose="02020603050405020304" pitchFamily="18" charset="0"/>
                <a:sym typeface="Symbol" pitchFamily="18" charset="2"/>
              </a:rPr>
              <a:t>  …  </a:t>
            </a:r>
            <a:r>
              <a:rPr lang="en-US" altLang="zh-CN" b="1" i="1" dirty="0">
                <a:latin typeface="Times New Roman" panose="02020603050405020304" pitchFamily="18" charset="0"/>
                <a:ea typeface="楷体" panose="02010609060101010101" pitchFamily="49" charset="-122"/>
                <a:cs typeface="Times New Roman" panose="02020603050405020304" pitchFamily="18" charset="0"/>
              </a:rPr>
              <a:t>A</a:t>
            </a:r>
            <a:r>
              <a:rPr lang="en-US" altLang="zh-CN" b="1" i="1" baseline="-25000" dirty="0">
                <a:latin typeface="Times New Roman" panose="02020603050405020304" pitchFamily="18" charset="0"/>
                <a:ea typeface="楷体" panose="02010609060101010101" pitchFamily="49" charset="-122"/>
                <a:cs typeface="Times New Roman" panose="02020603050405020304" pitchFamily="18" charset="0"/>
              </a:rPr>
              <a:t>n</a:t>
            </a:r>
            <a:r>
              <a:rPr lang="en-US" altLang="zh-CN" b="1" dirty="0">
                <a:latin typeface="Times New Roman" panose="02020603050405020304" pitchFamily="18" charset="0"/>
                <a:ea typeface="楷体" panose="02010609060101010101" pitchFamily="49" charset="-122"/>
                <a:cs typeface="Times New Roman" panose="02020603050405020304" pitchFamily="18" charset="0"/>
                <a:sym typeface="Symbol" pitchFamily="18" charset="2"/>
              </a:rPr>
              <a:t> (</a:t>
            </a:r>
            <a:r>
              <a:rPr lang="en-US" altLang="zh-CN" b="1" i="1" dirty="0">
                <a:latin typeface="Times New Roman" panose="02020603050405020304" pitchFamily="18" charset="0"/>
                <a:ea typeface="楷体" panose="02010609060101010101" pitchFamily="49" charset="-122"/>
                <a:cs typeface="Times New Roman" panose="02020603050405020304" pitchFamily="18" charset="0"/>
                <a:sym typeface="Symbol" pitchFamily="18" charset="2"/>
              </a:rPr>
              <a:t>n</a:t>
            </a:r>
            <a:r>
              <a:rPr lang="en-US" altLang="zh-CN" b="1" dirty="0">
                <a:latin typeface="Times New Roman" panose="02020603050405020304" pitchFamily="18" charset="0"/>
                <a:ea typeface="楷体" panose="02010609060101010101" pitchFamily="49" charset="-122"/>
                <a:cs typeface="Times New Roman" panose="02020603050405020304" pitchFamily="18" charset="0"/>
                <a:sym typeface="Symbol" pitchFamily="18" charset="2"/>
              </a:rPr>
              <a:t> 1), </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其中</a:t>
            </a:r>
            <a:r>
              <a:rPr lang="en-US" altLang="zh-CN" b="1" i="1" dirty="0">
                <a:latin typeface="Times New Roman" panose="02020603050405020304" pitchFamily="18" charset="0"/>
                <a:ea typeface="楷体" panose="02010609060101010101" pitchFamily="49" charset="-122"/>
                <a:cs typeface="Times New Roman" panose="02020603050405020304" pitchFamily="18" charset="0"/>
              </a:rPr>
              <a:t>A</a:t>
            </a:r>
            <a:r>
              <a:rPr lang="en-US" altLang="zh-CN" b="1" i="1" baseline="-25000" dirty="0">
                <a:latin typeface="Times New Roman" panose="02020603050405020304" pitchFamily="18" charset="0"/>
                <a:ea typeface="楷体" panose="02010609060101010101" pitchFamily="49" charset="-122"/>
                <a:cs typeface="Times New Roman" panose="02020603050405020304" pitchFamily="18" charset="0"/>
              </a:rPr>
              <a:t>i </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(1</a:t>
            </a:r>
            <a:r>
              <a:rPr lang="en-US" altLang="zh-CN" b="1" dirty="0">
                <a:latin typeface="Times New Roman" panose="02020603050405020304" pitchFamily="18" charset="0"/>
                <a:ea typeface="楷体" panose="02010609060101010101" pitchFamily="49" charset="-122"/>
                <a:cs typeface="Times New Roman" panose="02020603050405020304" pitchFamily="18" charset="0"/>
                <a:sym typeface="Symbol" pitchFamily="18" charset="2"/>
              </a:rPr>
              <a:t> </a:t>
            </a:r>
            <a:r>
              <a:rPr lang="en-US" altLang="zh-CN" b="1" i="1" dirty="0" err="1">
                <a:latin typeface="Times New Roman" panose="02020603050405020304" pitchFamily="18" charset="0"/>
                <a:ea typeface="楷体" panose="02010609060101010101" pitchFamily="49" charset="-122"/>
                <a:cs typeface="Times New Roman" panose="02020603050405020304" pitchFamily="18" charset="0"/>
                <a:sym typeface="Symbol" pitchFamily="18" charset="2"/>
              </a:rPr>
              <a:t>i</a:t>
            </a:r>
            <a:r>
              <a:rPr lang="en-US" altLang="zh-CN" b="1" dirty="0">
                <a:latin typeface="Times New Roman" panose="02020603050405020304" pitchFamily="18" charset="0"/>
                <a:ea typeface="楷体" panose="02010609060101010101" pitchFamily="49" charset="-122"/>
                <a:cs typeface="Times New Roman" panose="02020603050405020304" pitchFamily="18" charset="0"/>
                <a:sym typeface="Symbol" pitchFamily="18" charset="2"/>
              </a:rPr>
              <a:t>  </a:t>
            </a:r>
            <a:r>
              <a:rPr lang="en-US" altLang="zh-CN" b="1" i="1" dirty="0">
                <a:latin typeface="Times New Roman" panose="02020603050405020304" pitchFamily="18" charset="0"/>
                <a:ea typeface="楷体" panose="02010609060101010101" pitchFamily="49" charset="-122"/>
                <a:cs typeface="Times New Roman" panose="02020603050405020304" pitchFamily="18" charset="0"/>
                <a:sym typeface="Symbol" pitchFamily="18" charset="2"/>
              </a:rPr>
              <a:t>n</a:t>
            </a:r>
            <a:r>
              <a:rPr lang="en-US" altLang="zh-CN" b="1" dirty="0">
                <a:latin typeface="Times New Roman" panose="02020603050405020304" pitchFamily="18" charset="0"/>
                <a:ea typeface="楷体" panose="02010609060101010101" pitchFamily="49" charset="-122"/>
                <a:cs typeface="Times New Roman" panose="02020603050405020304" pitchFamily="18" charset="0"/>
                <a:sym typeface="Symbol" pitchFamily="18" charset="2"/>
              </a:rPr>
              <a:t>)</a:t>
            </a:r>
            <a:r>
              <a:rPr lang="zh-CN" altLang="en-US" b="1" dirty="0">
                <a:latin typeface="Times New Roman" panose="02020603050405020304" pitchFamily="18" charset="0"/>
                <a:ea typeface="楷体" panose="02010609060101010101" pitchFamily="49" charset="-122"/>
                <a:cs typeface="Times New Roman" panose="02020603050405020304" pitchFamily="18" charset="0"/>
                <a:sym typeface="Symbol" pitchFamily="18" charset="2"/>
              </a:rPr>
              <a:t>是由</a:t>
            </a:r>
            <a:r>
              <a:rPr lang="zh-CN" altLang="en-US" b="1" dirty="0">
                <a:solidFill>
                  <a:srgbClr val="1829A6"/>
                </a:solidFill>
                <a:latin typeface="Times New Roman" panose="02020603050405020304" pitchFamily="18" charset="0"/>
                <a:ea typeface="楷体" panose="02010609060101010101" pitchFamily="49" charset="-122"/>
                <a:cs typeface="Times New Roman" panose="02020603050405020304" pitchFamily="18" charset="0"/>
                <a:sym typeface="Symbol" pitchFamily="18" charset="2"/>
              </a:rPr>
              <a:t>命题变元</a:t>
            </a:r>
            <a:r>
              <a:rPr lang="zh-CN" altLang="en-US" b="1" dirty="0">
                <a:latin typeface="Times New Roman" panose="02020603050405020304" pitchFamily="18" charset="0"/>
                <a:ea typeface="楷体" panose="02010609060101010101" pitchFamily="49" charset="-122"/>
                <a:cs typeface="Times New Roman" panose="02020603050405020304" pitchFamily="18" charset="0"/>
                <a:sym typeface="Symbol" pitchFamily="18" charset="2"/>
              </a:rPr>
              <a:t>或</a:t>
            </a:r>
            <a:r>
              <a:rPr lang="zh-CN" altLang="en-US" b="1" dirty="0">
                <a:solidFill>
                  <a:srgbClr val="1829A6"/>
                </a:solidFill>
                <a:latin typeface="Times New Roman" panose="02020603050405020304" pitchFamily="18" charset="0"/>
                <a:ea typeface="楷体" panose="02010609060101010101" pitchFamily="49" charset="-122"/>
                <a:cs typeface="Times New Roman" panose="02020603050405020304" pitchFamily="18" charset="0"/>
                <a:sym typeface="Symbol" pitchFamily="18" charset="2"/>
              </a:rPr>
              <a:t>其否定</a:t>
            </a:r>
            <a:r>
              <a:rPr lang="zh-CN" altLang="en-US" b="1" dirty="0">
                <a:latin typeface="Times New Roman" panose="02020603050405020304" pitchFamily="18" charset="0"/>
                <a:ea typeface="楷体" panose="02010609060101010101" pitchFamily="49" charset="-122"/>
                <a:cs typeface="Times New Roman" panose="02020603050405020304" pitchFamily="18" charset="0"/>
                <a:sym typeface="Symbol" pitchFamily="18" charset="2"/>
              </a:rPr>
              <a:t>组成的合取式</a:t>
            </a:r>
            <a:r>
              <a:rPr lang="en-US" altLang="zh-CN" b="1" dirty="0">
                <a:latin typeface="Times New Roman" panose="02020603050405020304" pitchFamily="18" charset="0"/>
                <a:ea typeface="楷体" panose="02010609060101010101" pitchFamily="49" charset="-122"/>
                <a:cs typeface="Times New Roman" panose="02020603050405020304" pitchFamily="18" charset="0"/>
                <a:sym typeface="Symbol" pitchFamily="18" charset="2"/>
              </a:rPr>
              <a:t>, </a:t>
            </a:r>
            <a:r>
              <a:rPr lang="zh-CN" altLang="en-US" b="1" dirty="0">
                <a:latin typeface="Times New Roman" panose="02020603050405020304" pitchFamily="18" charset="0"/>
                <a:ea typeface="楷体" panose="02010609060101010101" pitchFamily="49" charset="-122"/>
                <a:cs typeface="Times New Roman" panose="02020603050405020304" pitchFamily="18" charset="0"/>
                <a:sym typeface="Symbol" pitchFamily="18" charset="2"/>
              </a:rPr>
              <a:t>则称</a:t>
            </a:r>
            <a:r>
              <a:rPr lang="en-US" altLang="zh-CN" b="1" i="1" dirty="0">
                <a:latin typeface="Times New Roman" panose="02020603050405020304" pitchFamily="18" charset="0"/>
                <a:ea typeface="楷体" panose="02010609060101010101" pitchFamily="49" charset="-122"/>
                <a:cs typeface="Times New Roman" panose="02020603050405020304" pitchFamily="18" charset="0"/>
              </a:rPr>
              <a:t>A</a:t>
            </a:r>
            <a:r>
              <a:rPr lang="en-US" altLang="zh-CN" b="1" baseline="-25000" dirty="0">
                <a:latin typeface="Times New Roman" panose="02020603050405020304" pitchFamily="18" charset="0"/>
                <a:ea typeface="楷体" panose="02010609060101010101" pitchFamily="49" charset="-122"/>
                <a:cs typeface="Times New Roman" panose="02020603050405020304" pitchFamily="18" charset="0"/>
              </a:rPr>
              <a:t>1</a:t>
            </a:r>
            <a:r>
              <a:rPr lang="en-US" altLang="zh-CN" b="1" dirty="0">
                <a:latin typeface="Times New Roman" panose="02020603050405020304" pitchFamily="18" charset="0"/>
                <a:ea typeface="楷体" panose="02010609060101010101" pitchFamily="49" charset="-122"/>
                <a:cs typeface="Times New Roman" panose="02020603050405020304" pitchFamily="18" charset="0"/>
                <a:sym typeface="Symbol" pitchFamily="18" charset="2"/>
              </a:rPr>
              <a:t> </a:t>
            </a:r>
            <a:r>
              <a:rPr lang="en-US" altLang="zh-CN" b="1" i="1" dirty="0">
                <a:latin typeface="Times New Roman" panose="02020603050405020304" pitchFamily="18" charset="0"/>
                <a:ea typeface="楷体" panose="02010609060101010101" pitchFamily="49" charset="-122"/>
                <a:cs typeface="Times New Roman" panose="02020603050405020304" pitchFamily="18" charset="0"/>
              </a:rPr>
              <a:t>A</a:t>
            </a:r>
            <a:r>
              <a:rPr lang="en-US" altLang="zh-CN" b="1" baseline="-25000" dirty="0">
                <a:latin typeface="Times New Roman" panose="02020603050405020304" pitchFamily="18" charset="0"/>
                <a:ea typeface="楷体" panose="02010609060101010101" pitchFamily="49" charset="-122"/>
                <a:cs typeface="Times New Roman" panose="02020603050405020304" pitchFamily="18" charset="0"/>
              </a:rPr>
              <a:t>2</a:t>
            </a:r>
            <a:r>
              <a:rPr lang="en-US" altLang="zh-CN" b="1" dirty="0">
                <a:latin typeface="Times New Roman" panose="02020603050405020304" pitchFamily="18" charset="0"/>
                <a:ea typeface="楷体" panose="02010609060101010101" pitchFamily="49" charset="-122"/>
                <a:cs typeface="Times New Roman" panose="02020603050405020304" pitchFamily="18" charset="0"/>
                <a:sym typeface="Symbol" pitchFamily="18" charset="2"/>
              </a:rPr>
              <a:t>  …  </a:t>
            </a:r>
            <a:r>
              <a:rPr lang="en-US" altLang="zh-CN" b="1" i="1" dirty="0">
                <a:latin typeface="Times New Roman" panose="02020603050405020304" pitchFamily="18" charset="0"/>
                <a:ea typeface="楷体" panose="02010609060101010101" pitchFamily="49" charset="-122"/>
                <a:cs typeface="Times New Roman" panose="02020603050405020304" pitchFamily="18" charset="0"/>
              </a:rPr>
              <a:t>A</a:t>
            </a:r>
            <a:r>
              <a:rPr lang="en-US" altLang="zh-CN" b="1" i="1" baseline="-25000" dirty="0">
                <a:latin typeface="Times New Roman" panose="02020603050405020304" pitchFamily="18" charset="0"/>
                <a:ea typeface="楷体" panose="02010609060101010101" pitchFamily="49" charset="-122"/>
                <a:cs typeface="Times New Roman" panose="02020603050405020304" pitchFamily="18" charset="0"/>
              </a:rPr>
              <a:t>n</a:t>
            </a:r>
            <a:r>
              <a:rPr lang="zh-CN" altLang="en-US" b="1" dirty="0">
                <a:latin typeface="Times New Roman" panose="02020603050405020304" pitchFamily="18" charset="0"/>
                <a:ea typeface="楷体" panose="02010609060101010101" pitchFamily="49" charset="-122"/>
                <a:cs typeface="Times New Roman" panose="02020603050405020304" pitchFamily="18" charset="0"/>
                <a:sym typeface="Symbol" pitchFamily="18" charset="2"/>
              </a:rPr>
              <a:t>为</a:t>
            </a:r>
            <a:r>
              <a:rPr lang="en-US" altLang="zh-CN" b="1" i="1" dirty="0">
                <a:latin typeface="Times New Roman" panose="02020603050405020304" pitchFamily="18" charset="0"/>
                <a:ea typeface="楷体" panose="02010609060101010101" pitchFamily="49" charset="-122"/>
                <a:cs typeface="Times New Roman" panose="02020603050405020304" pitchFamily="18" charset="0"/>
                <a:sym typeface="Symbol" pitchFamily="18" charset="2"/>
              </a:rPr>
              <a:t>A</a:t>
            </a:r>
            <a:r>
              <a:rPr lang="zh-CN" altLang="en-US" b="1" dirty="0">
                <a:latin typeface="Times New Roman" panose="02020603050405020304" pitchFamily="18" charset="0"/>
                <a:ea typeface="楷体" panose="02010609060101010101" pitchFamily="49" charset="-122"/>
                <a:cs typeface="Times New Roman" panose="02020603050405020304" pitchFamily="18" charset="0"/>
                <a:sym typeface="Symbol" pitchFamily="18" charset="2"/>
              </a:rPr>
              <a:t>的</a:t>
            </a:r>
            <a:r>
              <a:rPr lang="zh-CN" altLang="en-US" b="1" dirty="0">
                <a:solidFill>
                  <a:srgbClr val="C00000"/>
                </a:solidFill>
                <a:latin typeface="Times New Roman" panose="02020603050405020304" pitchFamily="18" charset="0"/>
                <a:ea typeface="楷体" panose="02010609060101010101" pitchFamily="49" charset="-122"/>
                <a:cs typeface="Times New Roman" panose="02020603050405020304" pitchFamily="18" charset="0"/>
                <a:sym typeface="Symbol" pitchFamily="18" charset="2"/>
              </a:rPr>
              <a:t>析取范式</a:t>
            </a:r>
            <a:r>
              <a:rPr lang="en-US" altLang="zh-CN" b="1" dirty="0">
                <a:latin typeface="Times New Roman" panose="02020603050405020304" pitchFamily="18" charset="0"/>
                <a:ea typeface="楷体" panose="02010609060101010101" pitchFamily="49" charset="-122"/>
                <a:cs typeface="Times New Roman" panose="02020603050405020304" pitchFamily="18" charset="0"/>
                <a:sym typeface="Symbol" pitchFamily="18" charset="2"/>
              </a:rPr>
              <a:t>(disjunctive normal form, </a:t>
            </a:r>
            <a:r>
              <a:rPr lang="en-US" altLang="zh-CN" b="1"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sym typeface="Symbol" pitchFamily="18" charset="2"/>
              </a:rPr>
              <a:t>DNF</a:t>
            </a:r>
            <a:r>
              <a:rPr lang="en-US" altLang="zh-CN" b="1" dirty="0">
                <a:latin typeface="Times New Roman" panose="02020603050405020304" pitchFamily="18" charset="0"/>
                <a:ea typeface="楷体" panose="02010609060101010101" pitchFamily="49" charset="-122"/>
                <a:cs typeface="Times New Roman" panose="02020603050405020304" pitchFamily="18" charset="0"/>
                <a:sym typeface="Symbol" pitchFamily="18" charset="2"/>
              </a:rPr>
              <a:t>).</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 </a:t>
            </a:r>
          </a:p>
          <a:p>
            <a:pPr eaLnBrk="1" hangingPunct="1">
              <a:lnSpc>
                <a:spcPct val="120000"/>
              </a:lnSpc>
            </a:pPr>
            <a:r>
              <a:rPr lang="en-US" altLang="zh-CN" b="1" dirty="0">
                <a:latin typeface="Times New Roman" pitchFamily="18" charset="0"/>
              </a:rPr>
              <a:t>Remarks</a:t>
            </a:r>
          </a:p>
          <a:p>
            <a:pPr lvl="1" eaLnBrk="1" hangingPunct="1">
              <a:lnSpc>
                <a:spcPct val="120000"/>
              </a:lnSpc>
            </a:pPr>
            <a:r>
              <a:rPr lang="en-US" altLang="zh-CN" b="1" dirty="0">
                <a:latin typeface="Times New Roman" pitchFamily="18" charset="0"/>
              </a:rPr>
              <a:t> </a:t>
            </a:r>
            <a:r>
              <a:rPr lang="en-US" altLang="zh-CN" b="1" i="1" dirty="0">
                <a:latin typeface="Times New Roman" pitchFamily="18" charset="0"/>
              </a:rPr>
              <a:t>A</a:t>
            </a:r>
            <a:r>
              <a:rPr lang="en-US" altLang="zh-CN" b="1" i="1" baseline="-25000" dirty="0">
                <a:latin typeface="Times New Roman" pitchFamily="18" charset="0"/>
              </a:rPr>
              <a:t> </a:t>
            </a:r>
            <a:r>
              <a:rPr lang="en-US" altLang="zh-CN" b="1" dirty="0">
                <a:latin typeface="Times New Roman" pitchFamily="18" charset="0"/>
              </a:rPr>
              <a:t>= (</a:t>
            </a:r>
            <a:r>
              <a:rPr lang="en-US" altLang="zh-CN" b="1" dirty="0">
                <a:latin typeface="Times New Roman" pitchFamily="18" charset="0"/>
                <a:sym typeface="Symbol" pitchFamily="18" charset="2"/>
              </a:rPr>
              <a:t></a:t>
            </a:r>
            <a:r>
              <a:rPr lang="en-US" altLang="zh-CN" b="1" i="1" dirty="0">
                <a:latin typeface="Times New Roman" pitchFamily="18" charset="0"/>
                <a:sym typeface="Symbol" pitchFamily="18" charset="2"/>
              </a:rPr>
              <a:t>p</a:t>
            </a:r>
            <a:r>
              <a:rPr lang="en-US" altLang="zh-CN" b="1" dirty="0">
                <a:latin typeface="Times New Roman" pitchFamily="18" charset="0"/>
                <a:sym typeface="Symbol" pitchFamily="18" charset="2"/>
              </a:rPr>
              <a:t>  </a:t>
            </a:r>
            <a:r>
              <a:rPr lang="en-US" altLang="zh-CN" b="1" i="1" dirty="0">
                <a:latin typeface="Times New Roman" pitchFamily="18" charset="0"/>
                <a:sym typeface="Symbol" pitchFamily="18" charset="2"/>
              </a:rPr>
              <a:t>r</a:t>
            </a:r>
            <a:r>
              <a:rPr lang="en-US" altLang="zh-CN" b="1" dirty="0">
                <a:latin typeface="Times New Roman" pitchFamily="18" charset="0"/>
                <a:sym typeface="Symbol" pitchFamily="18" charset="2"/>
              </a:rPr>
              <a:t>)</a:t>
            </a:r>
            <a:r>
              <a:rPr lang="en-US" altLang="zh-CN" b="1" dirty="0">
                <a:latin typeface="Times New Roman" panose="02020603050405020304" pitchFamily="18" charset="0"/>
                <a:ea typeface="楷体" panose="02010609060101010101" pitchFamily="49" charset="-122"/>
                <a:cs typeface="Times New Roman" panose="02020603050405020304" pitchFamily="18" charset="0"/>
                <a:sym typeface="Symbol" pitchFamily="18" charset="2"/>
              </a:rPr>
              <a:t>  </a:t>
            </a:r>
            <a:r>
              <a:rPr lang="en-US" altLang="zh-CN" b="1" dirty="0">
                <a:latin typeface="Times New Roman" pitchFamily="18" charset="0"/>
                <a:sym typeface="Symbol" pitchFamily="18" charset="2"/>
              </a:rPr>
              <a:t>(</a:t>
            </a:r>
            <a:r>
              <a:rPr lang="en-US" altLang="zh-CN" b="1" i="1" dirty="0">
                <a:latin typeface="Times New Roman" pitchFamily="18" charset="0"/>
                <a:sym typeface="Symbol" pitchFamily="18" charset="2"/>
              </a:rPr>
              <a:t>p</a:t>
            </a:r>
            <a:r>
              <a:rPr lang="en-US" altLang="zh-CN" b="1" dirty="0">
                <a:latin typeface="Times New Roman" pitchFamily="18" charset="0"/>
                <a:sym typeface="Symbol" pitchFamily="18" charset="2"/>
              </a:rPr>
              <a:t>  </a:t>
            </a:r>
            <a:r>
              <a:rPr lang="en-US" altLang="zh-CN" b="1" i="1" dirty="0">
                <a:latin typeface="Times New Roman" pitchFamily="18" charset="0"/>
                <a:sym typeface="Symbol" pitchFamily="18" charset="2"/>
              </a:rPr>
              <a:t>q</a:t>
            </a:r>
            <a:r>
              <a:rPr lang="en-US" altLang="zh-CN" b="1" dirty="0">
                <a:latin typeface="Times New Roman" pitchFamily="18" charset="0"/>
                <a:sym typeface="Symbol" pitchFamily="18" charset="2"/>
              </a:rPr>
              <a:t>) </a:t>
            </a:r>
            <a:r>
              <a:rPr lang="en-US" altLang="zh-CN" b="1" dirty="0">
                <a:latin typeface="Times New Roman" panose="02020603050405020304" pitchFamily="18" charset="0"/>
                <a:ea typeface="楷体" panose="02010609060101010101" pitchFamily="49" charset="-122"/>
                <a:cs typeface="Times New Roman" panose="02020603050405020304" pitchFamily="18" charset="0"/>
                <a:sym typeface="Symbol" pitchFamily="18" charset="2"/>
              </a:rPr>
              <a:t> </a:t>
            </a:r>
            <a:r>
              <a:rPr lang="en-US" altLang="zh-CN" b="1" dirty="0">
                <a:latin typeface="Times New Roman" pitchFamily="18" charset="0"/>
                <a:sym typeface="Symbol" pitchFamily="18" charset="2"/>
              </a:rPr>
              <a:t>(</a:t>
            </a:r>
            <a:r>
              <a:rPr lang="en-US" altLang="zh-CN" b="1" i="1" dirty="0">
                <a:latin typeface="Times New Roman" pitchFamily="18" charset="0"/>
                <a:sym typeface="Symbol" pitchFamily="18" charset="2"/>
              </a:rPr>
              <a:t>p</a:t>
            </a:r>
            <a:r>
              <a:rPr lang="en-US" altLang="zh-CN" b="1" dirty="0">
                <a:latin typeface="Times New Roman" pitchFamily="18" charset="0"/>
                <a:sym typeface="Symbol" pitchFamily="18" charset="2"/>
              </a:rPr>
              <a:t> </a:t>
            </a:r>
            <a:r>
              <a:rPr lang="en-US" altLang="zh-CN" b="1" i="1" dirty="0">
                <a:latin typeface="Times New Roman" pitchFamily="18" charset="0"/>
                <a:sym typeface="Symbol" pitchFamily="18" charset="2"/>
              </a:rPr>
              <a:t>q</a:t>
            </a:r>
            <a:r>
              <a:rPr lang="en-US" altLang="zh-CN" b="1" dirty="0">
                <a:latin typeface="Times New Roman" pitchFamily="18" charset="0"/>
                <a:sym typeface="Symbol" pitchFamily="18" charset="2"/>
              </a:rPr>
              <a:t>  </a:t>
            </a:r>
            <a:r>
              <a:rPr lang="en-US" altLang="zh-CN" b="1" i="1" dirty="0">
                <a:latin typeface="Times New Roman" pitchFamily="18" charset="0"/>
                <a:sym typeface="Symbol" pitchFamily="18" charset="2"/>
              </a:rPr>
              <a:t>r</a:t>
            </a:r>
            <a:r>
              <a:rPr lang="en-US" altLang="zh-CN" b="1" dirty="0">
                <a:latin typeface="Times New Roman" pitchFamily="18" charset="0"/>
                <a:sym typeface="Symbol" pitchFamily="18" charset="2"/>
              </a:rPr>
              <a:t>)?</a:t>
            </a:r>
            <a:endParaRPr lang="en-US" altLang="zh-CN" b="1" dirty="0">
              <a:latin typeface="Times New Roman" pitchFamily="18" charset="0"/>
            </a:endParaRPr>
          </a:p>
          <a:p>
            <a:pPr lvl="1" eaLnBrk="1" hangingPunct="1">
              <a:lnSpc>
                <a:spcPct val="120000"/>
              </a:lnSpc>
            </a:pPr>
            <a:r>
              <a:rPr lang="en-US" altLang="zh-CN" b="1" dirty="0">
                <a:latin typeface="Times New Roman" pitchFamily="18" charset="0"/>
              </a:rPr>
              <a:t> </a:t>
            </a:r>
            <a:r>
              <a:rPr lang="en-US" altLang="zh-CN" b="1" i="1" dirty="0">
                <a:latin typeface="Times New Roman" pitchFamily="18" charset="0"/>
              </a:rPr>
              <a:t>n</a:t>
            </a:r>
            <a:r>
              <a:rPr lang="en-US" altLang="zh-CN" b="1" dirty="0">
                <a:latin typeface="Times New Roman" pitchFamily="18" charset="0"/>
              </a:rPr>
              <a:t> = 1? </a:t>
            </a:r>
            <a:r>
              <a:rPr lang="zh-CN" altLang="en-US" b="1" dirty="0">
                <a:latin typeface="Times New Roman" pitchFamily="18" charset="0"/>
              </a:rPr>
              <a:t>如</a:t>
            </a:r>
            <a:r>
              <a:rPr lang="en-US" altLang="zh-CN" b="1" i="1" dirty="0">
                <a:latin typeface="Times New Roman" pitchFamily="18" charset="0"/>
              </a:rPr>
              <a:t>A</a:t>
            </a:r>
            <a:r>
              <a:rPr lang="en-US" altLang="zh-CN" b="1" dirty="0">
                <a:latin typeface="Times New Roman" pitchFamily="18" charset="0"/>
              </a:rPr>
              <a:t> = </a:t>
            </a:r>
            <a:r>
              <a:rPr lang="en-US" altLang="zh-CN" b="1" dirty="0">
                <a:latin typeface="Times New Roman" pitchFamily="18" charset="0"/>
                <a:sym typeface="Symbol" pitchFamily="18" charset="2"/>
              </a:rPr>
              <a:t></a:t>
            </a:r>
            <a:r>
              <a:rPr lang="en-US" altLang="zh-CN" b="1" i="1" dirty="0">
                <a:latin typeface="Times New Roman" pitchFamily="18" charset="0"/>
                <a:sym typeface="Symbol" pitchFamily="18" charset="2"/>
              </a:rPr>
              <a:t>p</a:t>
            </a:r>
            <a:r>
              <a:rPr lang="en-US" altLang="zh-CN" b="1" dirty="0">
                <a:latin typeface="Times New Roman" pitchFamily="18" charset="0"/>
                <a:sym typeface="Symbol" pitchFamily="18" charset="2"/>
              </a:rPr>
              <a:t>  </a:t>
            </a:r>
            <a:r>
              <a:rPr lang="en-US" altLang="zh-CN" b="1" i="1" dirty="0">
                <a:latin typeface="Times New Roman" pitchFamily="18" charset="0"/>
                <a:sym typeface="Symbol" pitchFamily="18" charset="2"/>
              </a:rPr>
              <a:t>q</a:t>
            </a:r>
            <a:r>
              <a:rPr lang="en-US" altLang="zh-CN" b="1" dirty="0">
                <a:latin typeface="Times New Roman" pitchFamily="18" charset="0"/>
                <a:sym typeface="Symbol" pitchFamily="18" charset="2"/>
              </a:rPr>
              <a:t>  </a:t>
            </a:r>
            <a:r>
              <a:rPr lang="en-US" altLang="zh-CN" b="1" i="1" dirty="0">
                <a:latin typeface="Times New Roman" pitchFamily="18" charset="0"/>
                <a:sym typeface="Symbol" pitchFamily="18" charset="2"/>
              </a:rPr>
              <a:t>r</a:t>
            </a:r>
            <a:r>
              <a:rPr lang="en-US" altLang="zh-CN" b="1" dirty="0">
                <a:latin typeface="Times New Roman" pitchFamily="18" charset="0"/>
                <a:sym typeface="Symbol" pitchFamily="18" charset="2"/>
              </a:rPr>
              <a:t> = (</a:t>
            </a:r>
            <a:r>
              <a:rPr lang="en-US" altLang="zh-CN" b="1" i="1" dirty="0">
                <a:latin typeface="Times New Roman" pitchFamily="18" charset="0"/>
                <a:sym typeface="Symbol" pitchFamily="18" charset="2"/>
              </a:rPr>
              <a:t>p</a:t>
            </a:r>
            <a:r>
              <a:rPr lang="en-US" altLang="zh-CN" b="1" dirty="0">
                <a:latin typeface="Times New Roman" pitchFamily="18" charset="0"/>
                <a:sym typeface="Symbol" pitchFamily="18" charset="2"/>
              </a:rPr>
              <a:t>  </a:t>
            </a:r>
            <a:r>
              <a:rPr lang="en-US" altLang="zh-CN" b="1" i="1" dirty="0">
                <a:latin typeface="Times New Roman" pitchFamily="18" charset="0"/>
                <a:sym typeface="Symbol" pitchFamily="18" charset="2"/>
              </a:rPr>
              <a:t>q</a:t>
            </a:r>
            <a:r>
              <a:rPr lang="en-US" altLang="zh-CN" b="1" dirty="0">
                <a:latin typeface="Times New Roman" pitchFamily="18" charset="0"/>
                <a:sym typeface="Symbol" pitchFamily="18" charset="2"/>
              </a:rPr>
              <a:t>  </a:t>
            </a:r>
            <a:r>
              <a:rPr lang="en-US" altLang="zh-CN" b="1" i="1" dirty="0">
                <a:latin typeface="Times New Roman" pitchFamily="18" charset="0"/>
                <a:sym typeface="Symbol" pitchFamily="18" charset="2"/>
              </a:rPr>
              <a:t>r</a:t>
            </a:r>
            <a:r>
              <a:rPr lang="en-US" altLang="zh-CN" b="1" dirty="0">
                <a:latin typeface="Times New Roman" pitchFamily="18" charset="0"/>
                <a:sym typeface="Symbol" pitchFamily="18" charset="2"/>
              </a:rPr>
              <a:t> ).</a:t>
            </a:r>
          </a:p>
          <a:p>
            <a:pPr eaLnBrk="1" hangingPunct="1">
              <a:lnSpc>
                <a:spcPct val="120000"/>
              </a:lnSpc>
            </a:pPr>
            <a:endParaRPr lang="en-US" altLang="zh-CN" b="1" dirty="0">
              <a:latin typeface="Times New Roman" pitchFamily="18" charset="0"/>
              <a:sym typeface="Symbol" pitchFamily="18" charset="2"/>
            </a:endParaRPr>
          </a:p>
        </p:txBody>
      </p:sp>
    </p:spTree>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2"/>
          <p:cNvSpPr>
            <a:spLocks noGrp="1" noChangeArrowheads="1"/>
          </p:cNvSpPr>
          <p:nvPr>
            <p:ph/>
          </p:nvPr>
        </p:nvSpPr>
        <p:spPr/>
        <p:txBody>
          <a:bodyPr/>
          <a:lstStyle/>
          <a:p>
            <a:pPr eaLnBrk="1" hangingPunct="1">
              <a:lnSpc>
                <a:spcPct val="120000"/>
              </a:lnSpc>
            </a:pPr>
            <a:r>
              <a:rPr lang="en-US" altLang="zh-CN" b="1" dirty="0" err="1">
                <a:latin typeface="Times New Roman" pitchFamily="18" charset="0"/>
              </a:rPr>
              <a:t>Def</a:t>
            </a:r>
            <a:r>
              <a:rPr lang="en-US" altLang="zh-CN" b="1" dirty="0">
                <a:latin typeface="Times New Roman" pitchFamily="18" charset="0"/>
              </a:rPr>
              <a:t> 3-6 </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设</a:t>
            </a:r>
            <a:r>
              <a:rPr lang="en-US" altLang="zh-CN" b="1" i="1" dirty="0">
                <a:latin typeface="Times New Roman" panose="02020603050405020304" pitchFamily="18" charset="0"/>
                <a:ea typeface="楷体" panose="02010609060101010101" pitchFamily="49" charset="-122"/>
                <a:cs typeface="Times New Roman" panose="02020603050405020304" pitchFamily="18" charset="0"/>
              </a:rPr>
              <a:t>A</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是命题公式</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 </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若</a:t>
            </a:r>
            <a:r>
              <a:rPr lang="en-US" altLang="zh-CN" b="1" i="1" dirty="0">
                <a:latin typeface="Times New Roman" panose="02020603050405020304" pitchFamily="18" charset="0"/>
                <a:ea typeface="楷体" panose="02010609060101010101" pitchFamily="49" charset="-122"/>
                <a:cs typeface="Times New Roman" panose="02020603050405020304" pitchFamily="18" charset="0"/>
              </a:rPr>
              <a:t>A</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 = </a:t>
            </a:r>
            <a:r>
              <a:rPr lang="en-US" altLang="zh-CN" b="1" i="1" dirty="0">
                <a:latin typeface="Times New Roman" panose="02020603050405020304" pitchFamily="18" charset="0"/>
                <a:ea typeface="楷体" panose="02010609060101010101" pitchFamily="49" charset="-122"/>
                <a:cs typeface="Times New Roman" panose="02020603050405020304" pitchFamily="18" charset="0"/>
              </a:rPr>
              <a:t>A</a:t>
            </a:r>
            <a:r>
              <a:rPr lang="en-US" altLang="zh-CN" b="1" baseline="-25000" dirty="0">
                <a:latin typeface="Times New Roman" panose="02020603050405020304" pitchFamily="18" charset="0"/>
                <a:ea typeface="楷体" panose="02010609060101010101" pitchFamily="49" charset="-122"/>
                <a:cs typeface="Times New Roman" panose="02020603050405020304" pitchFamily="18" charset="0"/>
              </a:rPr>
              <a:t>1</a:t>
            </a:r>
            <a:r>
              <a:rPr lang="en-US" altLang="zh-CN" b="1" dirty="0">
                <a:latin typeface="Times New Roman" panose="02020603050405020304" pitchFamily="18" charset="0"/>
                <a:ea typeface="楷体" panose="02010609060101010101" pitchFamily="49" charset="-122"/>
                <a:cs typeface="Times New Roman" panose="02020603050405020304" pitchFamily="18" charset="0"/>
                <a:sym typeface="Symbol" pitchFamily="18" charset="2"/>
              </a:rPr>
              <a:t> </a:t>
            </a:r>
            <a:r>
              <a:rPr lang="en-US" altLang="zh-CN" b="1" i="1" dirty="0">
                <a:latin typeface="Times New Roman" panose="02020603050405020304" pitchFamily="18" charset="0"/>
                <a:ea typeface="楷体" panose="02010609060101010101" pitchFamily="49" charset="-122"/>
                <a:cs typeface="Times New Roman" panose="02020603050405020304" pitchFamily="18" charset="0"/>
              </a:rPr>
              <a:t>A</a:t>
            </a:r>
            <a:r>
              <a:rPr lang="en-US" altLang="zh-CN" b="1" baseline="-25000" dirty="0">
                <a:latin typeface="Times New Roman" panose="02020603050405020304" pitchFamily="18" charset="0"/>
                <a:ea typeface="楷体" panose="02010609060101010101" pitchFamily="49" charset="-122"/>
                <a:cs typeface="Times New Roman" panose="02020603050405020304" pitchFamily="18" charset="0"/>
              </a:rPr>
              <a:t>2</a:t>
            </a:r>
            <a:r>
              <a:rPr lang="en-US" altLang="zh-CN" b="1" dirty="0">
                <a:latin typeface="Times New Roman" panose="02020603050405020304" pitchFamily="18" charset="0"/>
                <a:ea typeface="楷体" panose="02010609060101010101" pitchFamily="49" charset="-122"/>
                <a:cs typeface="Times New Roman" panose="02020603050405020304" pitchFamily="18" charset="0"/>
                <a:sym typeface="Symbol" pitchFamily="18" charset="2"/>
              </a:rPr>
              <a:t>  …  </a:t>
            </a:r>
            <a:r>
              <a:rPr lang="en-US" altLang="zh-CN" b="1" i="1" dirty="0">
                <a:latin typeface="Times New Roman" panose="02020603050405020304" pitchFamily="18" charset="0"/>
                <a:ea typeface="楷体" panose="02010609060101010101" pitchFamily="49" charset="-122"/>
                <a:cs typeface="Times New Roman" panose="02020603050405020304" pitchFamily="18" charset="0"/>
              </a:rPr>
              <a:t>A</a:t>
            </a:r>
            <a:r>
              <a:rPr lang="en-US" altLang="zh-CN" b="1" i="1" baseline="-25000" dirty="0">
                <a:latin typeface="Times New Roman" panose="02020603050405020304" pitchFamily="18" charset="0"/>
                <a:ea typeface="楷体" panose="02010609060101010101" pitchFamily="49" charset="-122"/>
                <a:cs typeface="Times New Roman" panose="02020603050405020304" pitchFamily="18" charset="0"/>
              </a:rPr>
              <a:t>n</a:t>
            </a:r>
            <a:r>
              <a:rPr lang="en-US" altLang="zh-CN" b="1" dirty="0">
                <a:latin typeface="Times New Roman" panose="02020603050405020304" pitchFamily="18" charset="0"/>
                <a:ea typeface="楷体" panose="02010609060101010101" pitchFamily="49" charset="-122"/>
                <a:cs typeface="Times New Roman" panose="02020603050405020304" pitchFamily="18" charset="0"/>
                <a:sym typeface="Symbol" pitchFamily="18" charset="2"/>
              </a:rPr>
              <a:t> (</a:t>
            </a:r>
            <a:r>
              <a:rPr lang="en-US" altLang="zh-CN" b="1" i="1" dirty="0">
                <a:latin typeface="Times New Roman" panose="02020603050405020304" pitchFamily="18" charset="0"/>
                <a:ea typeface="楷体" panose="02010609060101010101" pitchFamily="49" charset="-122"/>
                <a:cs typeface="Times New Roman" panose="02020603050405020304" pitchFamily="18" charset="0"/>
                <a:sym typeface="Symbol" pitchFamily="18" charset="2"/>
              </a:rPr>
              <a:t>n</a:t>
            </a:r>
            <a:r>
              <a:rPr lang="en-US" altLang="zh-CN" b="1" dirty="0">
                <a:latin typeface="Times New Roman" panose="02020603050405020304" pitchFamily="18" charset="0"/>
                <a:ea typeface="楷体" panose="02010609060101010101" pitchFamily="49" charset="-122"/>
                <a:cs typeface="Times New Roman" panose="02020603050405020304" pitchFamily="18" charset="0"/>
                <a:sym typeface="Symbol" pitchFamily="18" charset="2"/>
              </a:rPr>
              <a:t> 1), </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其中</a:t>
            </a:r>
            <a:r>
              <a:rPr lang="en-US" altLang="zh-CN" b="1" i="1" dirty="0">
                <a:latin typeface="Times New Roman" panose="02020603050405020304" pitchFamily="18" charset="0"/>
                <a:ea typeface="楷体" panose="02010609060101010101" pitchFamily="49" charset="-122"/>
                <a:cs typeface="Times New Roman" panose="02020603050405020304" pitchFamily="18" charset="0"/>
              </a:rPr>
              <a:t>A</a:t>
            </a:r>
            <a:r>
              <a:rPr lang="en-US" altLang="zh-CN" b="1" i="1" baseline="-25000" dirty="0">
                <a:latin typeface="Times New Roman" panose="02020603050405020304" pitchFamily="18" charset="0"/>
                <a:ea typeface="楷体" panose="02010609060101010101" pitchFamily="49" charset="-122"/>
                <a:cs typeface="Times New Roman" panose="02020603050405020304" pitchFamily="18" charset="0"/>
              </a:rPr>
              <a:t>i</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(1</a:t>
            </a:r>
            <a:r>
              <a:rPr lang="en-US" altLang="zh-CN" b="1" dirty="0">
                <a:latin typeface="Times New Roman" panose="02020603050405020304" pitchFamily="18" charset="0"/>
                <a:ea typeface="楷体" panose="02010609060101010101" pitchFamily="49" charset="-122"/>
                <a:cs typeface="Times New Roman" panose="02020603050405020304" pitchFamily="18" charset="0"/>
                <a:sym typeface="Symbol" pitchFamily="18" charset="2"/>
              </a:rPr>
              <a:t> </a:t>
            </a:r>
            <a:r>
              <a:rPr lang="en-US" altLang="zh-CN" b="1" i="1" dirty="0" err="1">
                <a:latin typeface="Times New Roman" panose="02020603050405020304" pitchFamily="18" charset="0"/>
                <a:ea typeface="楷体" panose="02010609060101010101" pitchFamily="49" charset="-122"/>
                <a:cs typeface="Times New Roman" panose="02020603050405020304" pitchFamily="18" charset="0"/>
                <a:sym typeface="Symbol" pitchFamily="18" charset="2"/>
              </a:rPr>
              <a:t>i</a:t>
            </a:r>
            <a:r>
              <a:rPr lang="en-US" altLang="zh-CN" b="1" dirty="0">
                <a:latin typeface="Times New Roman" panose="02020603050405020304" pitchFamily="18" charset="0"/>
                <a:ea typeface="楷体" panose="02010609060101010101" pitchFamily="49" charset="-122"/>
                <a:cs typeface="Times New Roman" panose="02020603050405020304" pitchFamily="18" charset="0"/>
                <a:sym typeface="Symbol" pitchFamily="18" charset="2"/>
              </a:rPr>
              <a:t>  </a:t>
            </a:r>
            <a:r>
              <a:rPr lang="en-US" altLang="zh-CN" b="1" i="1" dirty="0">
                <a:latin typeface="Times New Roman" panose="02020603050405020304" pitchFamily="18" charset="0"/>
                <a:ea typeface="楷体" panose="02010609060101010101" pitchFamily="49" charset="-122"/>
                <a:cs typeface="Times New Roman" panose="02020603050405020304" pitchFamily="18" charset="0"/>
                <a:sym typeface="Symbol" pitchFamily="18" charset="2"/>
              </a:rPr>
              <a:t>n</a:t>
            </a:r>
            <a:r>
              <a:rPr lang="en-US" altLang="zh-CN" b="1" dirty="0">
                <a:latin typeface="Times New Roman" panose="02020603050405020304" pitchFamily="18" charset="0"/>
                <a:ea typeface="楷体" panose="02010609060101010101" pitchFamily="49" charset="-122"/>
                <a:cs typeface="Times New Roman" panose="02020603050405020304" pitchFamily="18" charset="0"/>
                <a:sym typeface="Symbol" pitchFamily="18" charset="2"/>
              </a:rPr>
              <a:t>)</a:t>
            </a:r>
            <a:r>
              <a:rPr lang="zh-CN" altLang="en-US" b="1" dirty="0">
                <a:latin typeface="Times New Roman" panose="02020603050405020304" pitchFamily="18" charset="0"/>
                <a:ea typeface="楷体" panose="02010609060101010101" pitchFamily="49" charset="-122"/>
                <a:cs typeface="Times New Roman" panose="02020603050405020304" pitchFamily="18" charset="0"/>
                <a:sym typeface="Symbol" pitchFamily="18" charset="2"/>
              </a:rPr>
              <a:t>是由命题变元或其否定组成的析取式</a:t>
            </a:r>
            <a:r>
              <a:rPr lang="en-US" altLang="zh-CN" b="1" dirty="0">
                <a:latin typeface="Times New Roman" panose="02020603050405020304" pitchFamily="18" charset="0"/>
                <a:ea typeface="楷体" panose="02010609060101010101" pitchFamily="49" charset="-122"/>
                <a:cs typeface="Times New Roman" panose="02020603050405020304" pitchFamily="18" charset="0"/>
                <a:sym typeface="Symbol" pitchFamily="18" charset="2"/>
              </a:rPr>
              <a:t>, </a:t>
            </a:r>
            <a:r>
              <a:rPr lang="zh-CN" altLang="en-US" b="1" dirty="0">
                <a:latin typeface="Times New Roman" panose="02020603050405020304" pitchFamily="18" charset="0"/>
                <a:ea typeface="楷体" panose="02010609060101010101" pitchFamily="49" charset="-122"/>
                <a:cs typeface="Times New Roman" panose="02020603050405020304" pitchFamily="18" charset="0"/>
                <a:sym typeface="Symbol" pitchFamily="18" charset="2"/>
              </a:rPr>
              <a:t>则称</a:t>
            </a:r>
            <a:r>
              <a:rPr lang="en-US" altLang="zh-CN" b="1" i="1" dirty="0">
                <a:latin typeface="Times New Roman" panose="02020603050405020304" pitchFamily="18" charset="0"/>
                <a:ea typeface="楷体" panose="02010609060101010101" pitchFamily="49" charset="-122"/>
                <a:cs typeface="Times New Roman" panose="02020603050405020304" pitchFamily="18" charset="0"/>
              </a:rPr>
              <a:t>A</a:t>
            </a:r>
            <a:r>
              <a:rPr lang="en-US" altLang="zh-CN" b="1" baseline="-25000" dirty="0">
                <a:latin typeface="Times New Roman" panose="02020603050405020304" pitchFamily="18" charset="0"/>
                <a:ea typeface="楷体" panose="02010609060101010101" pitchFamily="49" charset="-122"/>
                <a:cs typeface="Times New Roman" panose="02020603050405020304" pitchFamily="18" charset="0"/>
              </a:rPr>
              <a:t>1</a:t>
            </a:r>
            <a:r>
              <a:rPr lang="en-US" altLang="zh-CN" b="1" dirty="0">
                <a:latin typeface="Times New Roman" panose="02020603050405020304" pitchFamily="18" charset="0"/>
                <a:ea typeface="楷体" panose="02010609060101010101" pitchFamily="49" charset="-122"/>
                <a:cs typeface="Times New Roman" panose="02020603050405020304" pitchFamily="18" charset="0"/>
                <a:sym typeface="Symbol" pitchFamily="18" charset="2"/>
              </a:rPr>
              <a:t> </a:t>
            </a:r>
            <a:r>
              <a:rPr lang="en-US" altLang="zh-CN" b="1" i="1" dirty="0">
                <a:latin typeface="Times New Roman" panose="02020603050405020304" pitchFamily="18" charset="0"/>
                <a:ea typeface="楷体" panose="02010609060101010101" pitchFamily="49" charset="-122"/>
                <a:cs typeface="Times New Roman" panose="02020603050405020304" pitchFamily="18" charset="0"/>
              </a:rPr>
              <a:t>A</a:t>
            </a:r>
            <a:r>
              <a:rPr lang="en-US" altLang="zh-CN" b="1" baseline="-25000" dirty="0">
                <a:latin typeface="Times New Roman" panose="02020603050405020304" pitchFamily="18" charset="0"/>
                <a:ea typeface="楷体" panose="02010609060101010101" pitchFamily="49" charset="-122"/>
                <a:cs typeface="Times New Roman" panose="02020603050405020304" pitchFamily="18" charset="0"/>
              </a:rPr>
              <a:t>2</a:t>
            </a:r>
            <a:r>
              <a:rPr lang="en-US" altLang="zh-CN" b="1" dirty="0">
                <a:latin typeface="Times New Roman" panose="02020603050405020304" pitchFamily="18" charset="0"/>
                <a:ea typeface="楷体" panose="02010609060101010101" pitchFamily="49" charset="-122"/>
                <a:cs typeface="Times New Roman" panose="02020603050405020304" pitchFamily="18" charset="0"/>
                <a:sym typeface="Symbol" pitchFamily="18" charset="2"/>
              </a:rPr>
              <a:t>  …  </a:t>
            </a:r>
            <a:r>
              <a:rPr lang="en-US" altLang="zh-CN" b="1" i="1" dirty="0">
                <a:latin typeface="Times New Roman" panose="02020603050405020304" pitchFamily="18" charset="0"/>
                <a:ea typeface="楷体" panose="02010609060101010101" pitchFamily="49" charset="-122"/>
                <a:cs typeface="Times New Roman" panose="02020603050405020304" pitchFamily="18" charset="0"/>
              </a:rPr>
              <a:t>A</a:t>
            </a:r>
            <a:r>
              <a:rPr lang="en-US" altLang="zh-CN" b="1" i="1" baseline="-25000" dirty="0">
                <a:latin typeface="Times New Roman" panose="02020603050405020304" pitchFamily="18" charset="0"/>
                <a:ea typeface="楷体" panose="02010609060101010101" pitchFamily="49" charset="-122"/>
                <a:cs typeface="Times New Roman" panose="02020603050405020304" pitchFamily="18" charset="0"/>
              </a:rPr>
              <a:t>n</a:t>
            </a:r>
            <a:r>
              <a:rPr lang="zh-CN" altLang="en-US" b="1" dirty="0">
                <a:latin typeface="Times New Roman" panose="02020603050405020304" pitchFamily="18" charset="0"/>
                <a:ea typeface="楷体" panose="02010609060101010101" pitchFamily="49" charset="-122"/>
                <a:cs typeface="Times New Roman" panose="02020603050405020304" pitchFamily="18" charset="0"/>
                <a:sym typeface="Symbol" pitchFamily="18" charset="2"/>
              </a:rPr>
              <a:t>为</a:t>
            </a:r>
            <a:r>
              <a:rPr lang="en-US" altLang="zh-CN" b="1" i="1" dirty="0">
                <a:latin typeface="Times New Roman" panose="02020603050405020304" pitchFamily="18" charset="0"/>
                <a:ea typeface="楷体" panose="02010609060101010101" pitchFamily="49" charset="-122"/>
                <a:cs typeface="Times New Roman" panose="02020603050405020304" pitchFamily="18" charset="0"/>
                <a:sym typeface="Symbol" pitchFamily="18" charset="2"/>
              </a:rPr>
              <a:t>A</a:t>
            </a:r>
            <a:r>
              <a:rPr lang="zh-CN" altLang="en-US" b="1" dirty="0">
                <a:latin typeface="Times New Roman" panose="02020603050405020304" pitchFamily="18" charset="0"/>
                <a:ea typeface="楷体" panose="02010609060101010101" pitchFamily="49" charset="-122"/>
                <a:cs typeface="Times New Roman" panose="02020603050405020304" pitchFamily="18" charset="0"/>
                <a:sym typeface="Symbol" pitchFamily="18" charset="2"/>
              </a:rPr>
              <a:t>的合取范式</a:t>
            </a:r>
            <a:r>
              <a:rPr lang="en-US" altLang="zh-CN" b="1" dirty="0">
                <a:latin typeface="Times New Roman" panose="02020603050405020304" pitchFamily="18" charset="0"/>
                <a:ea typeface="楷体" panose="02010609060101010101" pitchFamily="49" charset="-122"/>
                <a:cs typeface="Times New Roman" panose="02020603050405020304" pitchFamily="18" charset="0"/>
                <a:sym typeface="Symbol" pitchFamily="18" charset="2"/>
              </a:rPr>
              <a:t>(conjunctive normal form, </a:t>
            </a:r>
            <a:r>
              <a:rPr lang="en-US" altLang="zh-CN" b="1"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sym typeface="Symbol" pitchFamily="18" charset="2"/>
              </a:rPr>
              <a:t>CNF</a:t>
            </a:r>
            <a:r>
              <a:rPr lang="en-US" altLang="zh-CN" b="1" dirty="0">
                <a:latin typeface="Times New Roman" panose="02020603050405020304" pitchFamily="18" charset="0"/>
                <a:ea typeface="楷体" panose="02010609060101010101" pitchFamily="49" charset="-122"/>
                <a:cs typeface="Times New Roman" panose="02020603050405020304" pitchFamily="18" charset="0"/>
                <a:sym typeface="Symbol" pitchFamily="18" charset="2"/>
              </a:rPr>
              <a:t>).</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 </a:t>
            </a:r>
          </a:p>
          <a:p>
            <a:pPr eaLnBrk="1" hangingPunct="1">
              <a:lnSpc>
                <a:spcPct val="120000"/>
              </a:lnSpc>
            </a:pPr>
            <a:r>
              <a:rPr lang="en-US" altLang="zh-CN" b="1" dirty="0">
                <a:latin typeface="Times New Roman" panose="02020603050405020304" pitchFamily="18" charset="0"/>
                <a:ea typeface="楷体" panose="02010609060101010101" pitchFamily="49" charset="-122"/>
                <a:cs typeface="Times New Roman" panose="02020603050405020304" pitchFamily="18" charset="0"/>
              </a:rPr>
              <a:t>Remarks</a:t>
            </a:r>
          </a:p>
          <a:p>
            <a:pPr lvl="1" eaLnBrk="1" hangingPunct="1">
              <a:lnSpc>
                <a:spcPct val="120000"/>
              </a:lnSpc>
            </a:pPr>
            <a:r>
              <a:rPr lang="en-US" altLang="zh-CN" b="1" dirty="0">
                <a:latin typeface="Times New Roman" pitchFamily="18" charset="0"/>
              </a:rPr>
              <a:t> </a:t>
            </a:r>
            <a:r>
              <a:rPr lang="en-US" altLang="zh-CN" b="1" i="1" dirty="0">
                <a:latin typeface="Times New Roman" pitchFamily="18" charset="0"/>
              </a:rPr>
              <a:t>A</a:t>
            </a:r>
            <a:r>
              <a:rPr lang="en-US" altLang="zh-CN" b="1" i="1" baseline="-25000" dirty="0">
                <a:latin typeface="Times New Roman" pitchFamily="18" charset="0"/>
              </a:rPr>
              <a:t> </a:t>
            </a:r>
            <a:r>
              <a:rPr lang="en-US" altLang="zh-CN" b="1" dirty="0">
                <a:latin typeface="Times New Roman" pitchFamily="18" charset="0"/>
              </a:rPr>
              <a:t>= </a:t>
            </a:r>
            <a:r>
              <a:rPr lang="en-US" altLang="zh-CN" b="1" dirty="0">
                <a:latin typeface="Times New Roman" pitchFamily="18" charset="0"/>
                <a:sym typeface="Symbol" pitchFamily="18" charset="2"/>
              </a:rPr>
              <a:t>(</a:t>
            </a:r>
            <a:r>
              <a:rPr lang="en-US" altLang="zh-CN" b="1" i="1" dirty="0">
                <a:latin typeface="Times New Roman" pitchFamily="18" charset="0"/>
                <a:sym typeface="Symbol" pitchFamily="18" charset="2"/>
              </a:rPr>
              <a:t>p</a:t>
            </a:r>
            <a:r>
              <a:rPr lang="en-US" altLang="zh-CN" b="1" dirty="0">
                <a:latin typeface="Times New Roman" pitchFamily="18" charset="0"/>
                <a:sym typeface="Symbol" pitchFamily="18" charset="2"/>
              </a:rPr>
              <a:t>  </a:t>
            </a:r>
            <a:r>
              <a:rPr lang="en-US" altLang="zh-CN" b="1" i="1" dirty="0">
                <a:latin typeface="Times New Roman" pitchFamily="18" charset="0"/>
                <a:sym typeface="Symbol" pitchFamily="18" charset="2"/>
              </a:rPr>
              <a:t>q</a:t>
            </a:r>
            <a:r>
              <a:rPr lang="en-US" altLang="zh-CN" b="1" dirty="0">
                <a:latin typeface="Times New Roman" pitchFamily="18" charset="0"/>
                <a:sym typeface="Symbol" pitchFamily="18" charset="2"/>
              </a:rPr>
              <a:t>)</a:t>
            </a:r>
            <a:r>
              <a:rPr lang="en-US" altLang="zh-CN" b="1" dirty="0">
                <a:latin typeface="Times New Roman" panose="02020603050405020304" pitchFamily="18" charset="0"/>
                <a:ea typeface="楷体" panose="02010609060101010101" pitchFamily="49" charset="-122"/>
                <a:cs typeface="Times New Roman" panose="02020603050405020304" pitchFamily="18" charset="0"/>
                <a:sym typeface="Symbol" pitchFamily="18" charset="2"/>
              </a:rPr>
              <a:t> </a:t>
            </a:r>
            <a:r>
              <a:rPr lang="en-US" altLang="zh-CN" b="1" dirty="0">
                <a:latin typeface="Times New Roman" pitchFamily="18" charset="0"/>
              </a:rPr>
              <a:t> (</a:t>
            </a:r>
            <a:r>
              <a:rPr lang="en-US" altLang="zh-CN" b="1" dirty="0">
                <a:latin typeface="Times New Roman" pitchFamily="18" charset="0"/>
                <a:sym typeface="Symbol" pitchFamily="18" charset="2"/>
              </a:rPr>
              <a:t></a:t>
            </a:r>
            <a:r>
              <a:rPr lang="en-US" altLang="zh-CN" b="1" i="1" dirty="0">
                <a:latin typeface="Times New Roman" pitchFamily="18" charset="0"/>
                <a:sym typeface="Symbol" pitchFamily="18" charset="2"/>
              </a:rPr>
              <a:t>p</a:t>
            </a:r>
            <a:r>
              <a:rPr lang="en-US" altLang="zh-CN" b="1" dirty="0">
                <a:latin typeface="Times New Roman" pitchFamily="18" charset="0"/>
                <a:sym typeface="Symbol" pitchFamily="18" charset="2"/>
              </a:rPr>
              <a:t>  </a:t>
            </a:r>
            <a:r>
              <a:rPr lang="en-US" altLang="zh-CN" b="1" i="1" dirty="0">
                <a:latin typeface="Times New Roman" pitchFamily="18" charset="0"/>
                <a:sym typeface="Symbol" pitchFamily="18" charset="2"/>
              </a:rPr>
              <a:t>q</a:t>
            </a:r>
            <a:r>
              <a:rPr lang="en-US" altLang="zh-CN" b="1" dirty="0">
                <a:latin typeface="Times New Roman" pitchFamily="18" charset="0"/>
                <a:sym typeface="Symbol" pitchFamily="18" charset="2"/>
              </a:rPr>
              <a:t>  </a:t>
            </a:r>
            <a:r>
              <a:rPr lang="en-US" altLang="zh-CN" b="1" i="1" dirty="0">
                <a:latin typeface="Times New Roman" pitchFamily="18" charset="0"/>
                <a:sym typeface="Symbol" pitchFamily="18" charset="2"/>
              </a:rPr>
              <a:t>r</a:t>
            </a:r>
            <a:r>
              <a:rPr lang="en-US" altLang="zh-CN" b="1" dirty="0">
                <a:latin typeface="Times New Roman" pitchFamily="18" charset="0"/>
                <a:sym typeface="Symbol" pitchFamily="18" charset="2"/>
              </a:rPr>
              <a:t>)</a:t>
            </a:r>
            <a:r>
              <a:rPr lang="en-US" altLang="zh-CN" b="1" dirty="0">
                <a:latin typeface="Times New Roman" panose="02020603050405020304" pitchFamily="18" charset="0"/>
                <a:ea typeface="楷体" panose="02010609060101010101" pitchFamily="49" charset="-122"/>
                <a:cs typeface="Times New Roman" panose="02020603050405020304" pitchFamily="18" charset="0"/>
                <a:sym typeface="Symbol" pitchFamily="18" charset="2"/>
              </a:rPr>
              <a:t>  </a:t>
            </a:r>
            <a:r>
              <a:rPr lang="en-US" altLang="zh-CN" b="1" dirty="0">
                <a:latin typeface="Times New Roman" pitchFamily="18" charset="0"/>
                <a:sym typeface="Symbol" pitchFamily="18" charset="2"/>
              </a:rPr>
              <a:t>(</a:t>
            </a:r>
            <a:r>
              <a:rPr lang="en-US" altLang="zh-CN" b="1" i="1" dirty="0">
                <a:latin typeface="Times New Roman" pitchFamily="18" charset="0"/>
                <a:sym typeface="Symbol" pitchFamily="18" charset="2"/>
              </a:rPr>
              <a:t>q</a:t>
            </a:r>
            <a:r>
              <a:rPr lang="en-US" altLang="zh-CN" b="1" dirty="0">
                <a:latin typeface="Times New Roman" pitchFamily="18" charset="0"/>
                <a:sym typeface="Symbol" pitchFamily="18" charset="2"/>
              </a:rPr>
              <a:t>  </a:t>
            </a:r>
            <a:r>
              <a:rPr lang="en-US" altLang="zh-CN" b="1" i="1" dirty="0">
                <a:latin typeface="Times New Roman" pitchFamily="18" charset="0"/>
                <a:sym typeface="Symbol" pitchFamily="18" charset="2"/>
              </a:rPr>
              <a:t>r</a:t>
            </a:r>
            <a:r>
              <a:rPr lang="en-US" altLang="zh-CN" b="1" dirty="0">
                <a:latin typeface="Times New Roman" pitchFamily="18" charset="0"/>
                <a:sym typeface="Symbol" pitchFamily="18" charset="2"/>
              </a:rPr>
              <a:t>)</a:t>
            </a:r>
            <a:r>
              <a:rPr lang="en-US" altLang="zh-CN" b="1" dirty="0">
                <a:latin typeface="Times New Roman" pitchFamily="18" charset="0"/>
              </a:rPr>
              <a:t> </a:t>
            </a:r>
          </a:p>
          <a:p>
            <a:pPr lvl="1" eaLnBrk="1" hangingPunct="1">
              <a:lnSpc>
                <a:spcPct val="120000"/>
              </a:lnSpc>
            </a:pPr>
            <a:r>
              <a:rPr lang="en-US" altLang="zh-CN" b="1" dirty="0">
                <a:latin typeface="Times New Roman" pitchFamily="18" charset="0"/>
              </a:rPr>
              <a:t> </a:t>
            </a:r>
            <a:r>
              <a:rPr lang="en-US" altLang="zh-CN" b="1" i="1" dirty="0">
                <a:latin typeface="Times New Roman" pitchFamily="18" charset="0"/>
              </a:rPr>
              <a:t>n</a:t>
            </a:r>
            <a:r>
              <a:rPr lang="en-US" altLang="zh-CN" b="1" dirty="0">
                <a:latin typeface="Times New Roman" pitchFamily="18" charset="0"/>
              </a:rPr>
              <a:t> = 1? </a:t>
            </a:r>
            <a:r>
              <a:rPr lang="zh-CN" altLang="en-US" b="1" dirty="0">
                <a:latin typeface="Times New Roman" pitchFamily="18" charset="0"/>
              </a:rPr>
              <a:t>如</a:t>
            </a:r>
            <a:r>
              <a:rPr lang="en-US" altLang="zh-CN" b="1" i="1" dirty="0">
                <a:latin typeface="Times New Roman" pitchFamily="18" charset="0"/>
              </a:rPr>
              <a:t>A</a:t>
            </a:r>
            <a:r>
              <a:rPr lang="en-US" altLang="zh-CN" b="1" dirty="0">
                <a:latin typeface="Times New Roman" pitchFamily="18" charset="0"/>
              </a:rPr>
              <a:t> = </a:t>
            </a:r>
            <a:r>
              <a:rPr lang="en-US" altLang="zh-CN" b="1" dirty="0">
                <a:latin typeface="Times New Roman" pitchFamily="18" charset="0"/>
                <a:sym typeface="Symbol" pitchFamily="18" charset="2"/>
              </a:rPr>
              <a:t></a:t>
            </a:r>
            <a:r>
              <a:rPr lang="en-US" altLang="zh-CN" b="1" i="1" dirty="0">
                <a:latin typeface="Times New Roman" pitchFamily="18" charset="0"/>
                <a:sym typeface="Symbol" pitchFamily="18" charset="2"/>
              </a:rPr>
              <a:t>p</a:t>
            </a:r>
            <a:r>
              <a:rPr lang="en-US" altLang="zh-CN" b="1" dirty="0">
                <a:latin typeface="Times New Roman" pitchFamily="18" charset="0"/>
                <a:sym typeface="Symbol" pitchFamily="18" charset="2"/>
              </a:rPr>
              <a:t>  </a:t>
            </a:r>
            <a:r>
              <a:rPr lang="en-US" altLang="zh-CN" b="1" i="1" dirty="0">
                <a:latin typeface="Times New Roman" pitchFamily="18" charset="0"/>
                <a:sym typeface="Symbol" pitchFamily="18" charset="2"/>
              </a:rPr>
              <a:t>q</a:t>
            </a:r>
            <a:r>
              <a:rPr lang="en-US" altLang="zh-CN" b="1" dirty="0">
                <a:latin typeface="Times New Roman" pitchFamily="18" charset="0"/>
                <a:sym typeface="Symbol" pitchFamily="18" charset="2"/>
              </a:rPr>
              <a:t>  </a:t>
            </a:r>
            <a:r>
              <a:rPr lang="en-US" altLang="zh-CN" b="1" i="1" dirty="0">
                <a:latin typeface="Times New Roman" pitchFamily="18" charset="0"/>
                <a:sym typeface="Symbol" pitchFamily="18" charset="2"/>
              </a:rPr>
              <a:t>r</a:t>
            </a:r>
            <a:r>
              <a:rPr lang="en-US" altLang="zh-CN" b="1" dirty="0">
                <a:latin typeface="Times New Roman" pitchFamily="18" charset="0"/>
                <a:sym typeface="Symbol" pitchFamily="18" charset="2"/>
              </a:rPr>
              <a:t> = (</a:t>
            </a:r>
            <a:r>
              <a:rPr lang="en-US" altLang="zh-CN" b="1" i="1" dirty="0">
                <a:latin typeface="Times New Roman" pitchFamily="18" charset="0"/>
                <a:sym typeface="Symbol" pitchFamily="18" charset="2"/>
              </a:rPr>
              <a:t>p</a:t>
            </a:r>
            <a:r>
              <a:rPr lang="en-US" altLang="zh-CN" b="1" dirty="0">
                <a:latin typeface="Times New Roman" pitchFamily="18" charset="0"/>
                <a:sym typeface="Symbol" pitchFamily="18" charset="2"/>
              </a:rPr>
              <a:t>  </a:t>
            </a:r>
            <a:r>
              <a:rPr lang="en-US" altLang="zh-CN" b="1" i="1" dirty="0">
                <a:latin typeface="Times New Roman" pitchFamily="18" charset="0"/>
                <a:sym typeface="Symbol" pitchFamily="18" charset="2"/>
              </a:rPr>
              <a:t>q</a:t>
            </a:r>
            <a:r>
              <a:rPr lang="en-US" altLang="zh-CN" b="1" dirty="0">
                <a:latin typeface="Times New Roman" pitchFamily="18" charset="0"/>
                <a:sym typeface="Symbol" pitchFamily="18" charset="2"/>
              </a:rPr>
              <a:t>  </a:t>
            </a:r>
            <a:r>
              <a:rPr lang="en-US" altLang="zh-CN" b="1" i="1" dirty="0">
                <a:latin typeface="Times New Roman" pitchFamily="18" charset="0"/>
                <a:sym typeface="Symbol" pitchFamily="18" charset="2"/>
              </a:rPr>
              <a:t>r</a:t>
            </a:r>
            <a:r>
              <a:rPr lang="en-US" altLang="zh-CN" b="1" dirty="0">
                <a:latin typeface="Times New Roman" pitchFamily="18" charset="0"/>
                <a:sym typeface="Symbol" pitchFamily="18" charset="2"/>
              </a:rPr>
              <a:t> ).</a:t>
            </a:r>
          </a:p>
          <a:p>
            <a:pPr lvl="1" eaLnBrk="1" hangingPunct="1">
              <a:lnSpc>
                <a:spcPct val="120000"/>
              </a:lnSpc>
            </a:pPr>
            <a:r>
              <a:rPr lang="zh-CN" altLang="en-US" b="1" dirty="0">
                <a:latin typeface="Times New Roman" pitchFamily="18" charset="0"/>
              </a:rPr>
              <a:t>若</a:t>
            </a:r>
            <a:r>
              <a:rPr lang="en-US" altLang="zh-CN" b="1" i="1" dirty="0">
                <a:latin typeface="Times New Roman" pitchFamily="18" charset="0"/>
              </a:rPr>
              <a:t>A</a:t>
            </a:r>
            <a:r>
              <a:rPr lang="en-US" altLang="zh-CN" b="1" dirty="0">
                <a:latin typeface="Times New Roman" pitchFamily="18" charset="0"/>
              </a:rPr>
              <a:t> = </a:t>
            </a:r>
            <a:r>
              <a:rPr lang="en-US" altLang="zh-CN" b="1" dirty="0">
                <a:latin typeface="Times New Roman" pitchFamily="18" charset="0"/>
                <a:sym typeface="Symbol" pitchFamily="18" charset="2"/>
              </a:rPr>
              <a:t></a:t>
            </a:r>
            <a:r>
              <a:rPr lang="en-US" altLang="zh-CN" b="1" i="1" dirty="0">
                <a:latin typeface="Times New Roman" pitchFamily="18" charset="0"/>
                <a:sym typeface="Symbol" pitchFamily="18" charset="2"/>
              </a:rPr>
              <a:t>p</a:t>
            </a:r>
            <a:r>
              <a:rPr lang="en-US" altLang="zh-CN" b="1" dirty="0">
                <a:latin typeface="Times New Roman" pitchFamily="18" charset="0"/>
                <a:sym typeface="Symbol" pitchFamily="18" charset="2"/>
              </a:rPr>
              <a:t>  </a:t>
            </a:r>
            <a:r>
              <a:rPr lang="en-US" altLang="zh-CN" b="1" i="1" dirty="0">
                <a:latin typeface="Times New Roman" pitchFamily="18" charset="0"/>
                <a:sym typeface="Symbol" pitchFamily="18" charset="2"/>
              </a:rPr>
              <a:t>q</a:t>
            </a:r>
            <a:r>
              <a:rPr lang="en-US" altLang="zh-CN" b="1" dirty="0">
                <a:latin typeface="Times New Roman" pitchFamily="18" charset="0"/>
                <a:sym typeface="Symbol" pitchFamily="18" charset="2"/>
              </a:rPr>
              <a:t>  </a:t>
            </a:r>
            <a:r>
              <a:rPr lang="en-US" altLang="zh-CN" b="1" i="1" dirty="0">
                <a:latin typeface="Times New Roman" pitchFamily="18" charset="0"/>
                <a:sym typeface="Symbol" pitchFamily="18" charset="2"/>
              </a:rPr>
              <a:t>r</a:t>
            </a:r>
            <a:r>
              <a:rPr lang="en-US" altLang="zh-CN" b="1" dirty="0">
                <a:latin typeface="Times New Roman" pitchFamily="18" charset="0"/>
                <a:sym typeface="Symbol" pitchFamily="18" charset="2"/>
              </a:rPr>
              <a:t> , </a:t>
            </a:r>
            <a:r>
              <a:rPr lang="zh-CN" altLang="en-US" b="1" dirty="0">
                <a:latin typeface="Times New Roman" pitchFamily="18" charset="0"/>
                <a:sym typeface="Symbol" pitchFamily="18" charset="2"/>
              </a:rPr>
              <a:t>则</a:t>
            </a:r>
            <a:r>
              <a:rPr lang="en-US" altLang="zh-CN" b="1" i="1" dirty="0">
                <a:latin typeface="Times New Roman" pitchFamily="18" charset="0"/>
                <a:sym typeface="Symbol" pitchFamily="18" charset="2"/>
              </a:rPr>
              <a:t>p</a:t>
            </a:r>
            <a:r>
              <a:rPr lang="en-US" altLang="zh-CN" b="1" dirty="0">
                <a:latin typeface="Times New Roman" pitchFamily="18" charset="0"/>
                <a:sym typeface="Symbol" pitchFamily="18" charset="2"/>
              </a:rPr>
              <a:t>  </a:t>
            </a:r>
            <a:r>
              <a:rPr lang="en-US" altLang="zh-CN" b="1" i="1" dirty="0">
                <a:latin typeface="Times New Roman" pitchFamily="18" charset="0"/>
                <a:sym typeface="Symbol" pitchFamily="18" charset="2"/>
              </a:rPr>
              <a:t>q</a:t>
            </a:r>
            <a:r>
              <a:rPr lang="en-US" altLang="zh-CN" b="1" dirty="0">
                <a:latin typeface="Times New Roman" pitchFamily="18" charset="0"/>
                <a:sym typeface="Symbol" pitchFamily="18" charset="2"/>
              </a:rPr>
              <a:t>  </a:t>
            </a:r>
            <a:r>
              <a:rPr lang="en-US" altLang="zh-CN" b="1" i="1" dirty="0">
                <a:latin typeface="Times New Roman" pitchFamily="18" charset="0"/>
                <a:sym typeface="Symbol" pitchFamily="18" charset="2"/>
              </a:rPr>
              <a:t>r</a:t>
            </a:r>
            <a:r>
              <a:rPr lang="zh-CN" altLang="en-US" b="1" dirty="0">
                <a:latin typeface="Times New Roman" pitchFamily="18" charset="0"/>
                <a:sym typeface="Symbol" pitchFamily="18" charset="2"/>
              </a:rPr>
              <a:t>也</a:t>
            </a:r>
            <a:r>
              <a:rPr lang="zh-CN" altLang="en-US" b="1" dirty="0">
                <a:latin typeface="Times New Roman" pitchFamily="18" charset="0"/>
              </a:rPr>
              <a:t>是</a:t>
            </a:r>
            <a:r>
              <a:rPr lang="en-US" altLang="zh-CN" b="1" i="1" dirty="0">
                <a:latin typeface="Times New Roman" pitchFamily="18" charset="0"/>
              </a:rPr>
              <a:t>A</a:t>
            </a:r>
            <a:r>
              <a:rPr lang="zh-CN" altLang="en-US" b="1" dirty="0">
                <a:latin typeface="Times New Roman" pitchFamily="18" charset="0"/>
              </a:rPr>
              <a:t>的析取范式</a:t>
            </a:r>
            <a:r>
              <a:rPr lang="en-US" altLang="zh-CN" b="1" dirty="0">
                <a:latin typeface="Times New Roman" pitchFamily="18" charset="0"/>
              </a:rPr>
              <a:t>.</a:t>
            </a:r>
            <a:endParaRPr lang="en-US" altLang="zh-CN" b="1" dirty="0">
              <a:latin typeface="Times New Roman" pitchFamily="18" charset="0"/>
              <a:sym typeface="Symbol" pitchFamily="18" charset="2"/>
            </a:endParaRPr>
          </a:p>
          <a:p>
            <a:pPr eaLnBrk="1" hangingPunct="1"/>
            <a:endParaRPr lang="en-US" altLang="zh-CN" b="1" dirty="0"/>
          </a:p>
        </p:txBody>
      </p:sp>
    </p:spTree>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2"/>
          <p:cNvSpPr>
            <a:spLocks noGrp="1" noChangeArrowheads="1"/>
          </p:cNvSpPr>
          <p:nvPr>
            <p:ph/>
          </p:nvPr>
        </p:nvSpPr>
        <p:spPr/>
        <p:txBody>
          <a:bodyPr/>
          <a:lstStyle/>
          <a:p>
            <a:pPr eaLnBrk="1" hangingPunct="1">
              <a:lnSpc>
                <a:spcPct val="120000"/>
              </a:lnSpc>
            </a:pPr>
            <a:r>
              <a:rPr lang="en-US" altLang="zh-CN" b="1" dirty="0">
                <a:latin typeface="Times New Roman" pitchFamily="18" charset="0"/>
              </a:rPr>
              <a:t>(2) </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析取范式及合取范式的计算</a:t>
            </a:r>
          </a:p>
          <a:p>
            <a:pPr eaLnBrk="1" hangingPunct="1">
              <a:lnSpc>
                <a:spcPct val="120000"/>
              </a:lnSpc>
            </a:pPr>
            <a:r>
              <a:rPr lang="en-US" altLang="zh-CN" b="1" dirty="0">
                <a:latin typeface="Times New Roman" panose="02020603050405020304" pitchFamily="18" charset="0"/>
                <a:ea typeface="楷体" panose="02010609060101010101" pitchFamily="49" charset="-122"/>
                <a:cs typeface="Times New Roman" panose="02020603050405020304" pitchFamily="18" charset="0"/>
              </a:rPr>
              <a:t>Step1 </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使用等值式</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 </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将命题公式中的联结词归约为</a:t>
            </a:r>
            <a:r>
              <a:rPr lang="zh-CN" altLang="en-US" b="1" dirty="0">
                <a:latin typeface="Times New Roman" panose="02020603050405020304" pitchFamily="18" charset="0"/>
                <a:ea typeface="楷体" panose="02010609060101010101" pitchFamily="49" charset="-122"/>
                <a:cs typeface="Times New Roman" panose="02020603050405020304" pitchFamily="18" charset="0"/>
                <a:sym typeface="Symbol" pitchFamily="18" charset="2"/>
              </a:rPr>
              <a:t></a:t>
            </a:r>
            <a:r>
              <a:rPr lang="en-US" altLang="zh-CN" b="1" dirty="0">
                <a:latin typeface="Times New Roman" panose="02020603050405020304" pitchFamily="18" charset="0"/>
                <a:ea typeface="楷体" panose="02010609060101010101" pitchFamily="49" charset="-122"/>
                <a:cs typeface="Times New Roman" panose="02020603050405020304" pitchFamily="18" charset="0"/>
                <a:sym typeface="Symbol" pitchFamily="18" charset="2"/>
              </a:rPr>
              <a:t>, , </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a:t>
            </a:r>
          </a:p>
          <a:p>
            <a:pPr eaLnBrk="1" hangingPunct="1">
              <a:lnSpc>
                <a:spcPct val="120000"/>
              </a:lnSpc>
            </a:pPr>
            <a:r>
              <a:rPr lang="en-US" altLang="zh-CN" b="1" dirty="0">
                <a:latin typeface="Times New Roman" panose="02020603050405020304" pitchFamily="18" charset="0"/>
                <a:ea typeface="楷体" panose="02010609060101010101" pitchFamily="49" charset="-122"/>
                <a:cs typeface="Times New Roman" panose="02020603050405020304" pitchFamily="18" charset="0"/>
              </a:rPr>
              <a:t>Step2 </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利用</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De Morgan</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律将</a:t>
            </a:r>
            <a:r>
              <a:rPr lang="zh-CN" altLang="en-US" b="1" dirty="0">
                <a:latin typeface="Times New Roman" panose="02020603050405020304" pitchFamily="18" charset="0"/>
                <a:ea typeface="楷体" panose="02010609060101010101" pitchFamily="49" charset="-122"/>
                <a:cs typeface="Times New Roman" panose="02020603050405020304" pitchFamily="18" charset="0"/>
                <a:sym typeface="Symbol" pitchFamily="18" charset="2"/>
              </a:rPr>
              <a:t></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移到命题变元的前面；</a:t>
            </a:r>
          </a:p>
          <a:p>
            <a:pPr eaLnBrk="1" hangingPunct="1">
              <a:lnSpc>
                <a:spcPct val="120000"/>
              </a:lnSpc>
            </a:pPr>
            <a:r>
              <a:rPr lang="en-US" altLang="zh-CN" b="1" dirty="0">
                <a:latin typeface="Times New Roman" panose="02020603050405020304" pitchFamily="18" charset="0"/>
                <a:ea typeface="楷体" panose="02010609060101010101" pitchFamily="49" charset="-122"/>
                <a:cs typeface="Times New Roman" panose="02020603050405020304" pitchFamily="18" charset="0"/>
              </a:rPr>
              <a:t>Step3 </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根据</a:t>
            </a:r>
            <a:r>
              <a:rPr lang="zh-CN" altLang="en-US" b="1" dirty="0">
                <a:solidFill>
                  <a:srgbClr val="7030A0"/>
                </a:solidFill>
                <a:latin typeface="Times New Roman" panose="02020603050405020304" pitchFamily="18" charset="0"/>
                <a:ea typeface="楷体" panose="02010609060101010101" pitchFamily="49" charset="-122"/>
                <a:cs typeface="Times New Roman" panose="02020603050405020304" pitchFamily="18" charset="0"/>
              </a:rPr>
              <a:t>分配律</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得到命题公式的析取范式及合取范式：</a:t>
            </a:r>
          </a:p>
          <a:p>
            <a:pPr eaLnBrk="1" hangingPunct="1">
              <a:lnSpc>
                <a:spcPct val="120000"/>
              </a:lnSpc>
            </a:pPr>
            <a:r>
              <a:rPr lang="en-US" altLang="zh-CN" b="1" i="1" dirty="0">
                <a:latin typeface="Times New Roman" panose="02020603050405020304" pitchFamily="18" charset="0"/>
                <a:ea typeface="楷体" panose="02010609060101010101" pitchFamily="49" charset="-122"/>
                <a:cs typeface="Times New Roman" panose="02020603050405020304" pitchFamily="18" charset="0"/>
              </a:rPr>
              <a:t>A</a:t>
            </a:r>
            <a:r>
              <a:rPr lang="en-US" altLang="zh-CN" b="1" dirty="0">
                <a:latin typeface="Times New Roman" panose="02020603050405020304" pitchFamily="18" charset="0"/>
                <a:ea typeface="楷体" panose="02010609060101010101" pitchFamily="49" charset="-122"/>
                <a:cs typeface="Times New Roman" panose="02020603050405020304" pitchFamily="18" charset="0"/>
                <a:sym typeface="Symbol" pitchFamily="18" charset="2"/>
              </a:rPr>
              <a:t>(</a:t>
            </a:r>
            <a:r>
              <a:rPr lang="en-US" altLang="zh-CN" b="1" i="1" dirty="0">
                <a:latin typeface="Times New Roman" panose="02020603050405020304" pitchFamily="18" charset="0"/>
                <a:ea typeface="楷体" panose="02010609060101010101" pitchFamily="49" charset="-122"/>
                <a:cs typeface="Times New Roman" panose="02020603050405020304" pitchFamily="18" charset="0"/>
                <a:sym typeface="Symbol" pitchFamily="18" charset="2"/>
              </a:rPr>
              <a:t>B</a:t>
            </a:r>
            <a:r>
              <a:rPr lang="en-US" altLang="zh-CN" b="1" dirty="0">
                <a:latin typeface="Times New Roman" panose="02020603050405020304" pitchFamily="18" charset="0"/>
                <a:ea typeface="楷体" panose="02010609060101010101" pitchFamily="49" charset="-122"/>
                <a:cs typeface="Times New Roman" panose="02020603050405020304" pitchFamily="18" charset="0"/>
                <a:sym typeface="Symbol" pitchFamily="18" charset="2"/>
              </a:rPr>
              <a:t></a:t>
            </a:r>
            <a:r>
              <a:rPr lang="en-US" altLang="zh-CN" b="1" i="1" dirty="0">
                <a:latin typeface="Times New Roman" panose="02020603050405020304" pitchFamily="18" charset="0"/>
                <a:ea typeface="楷体" panose="02010609060101010101" pitchFamily="49" charset="-122"/>
                <a:cs typeface="Times New Roman" panose="02020603050405020304" pitchFamily="18" charset="0"/>
                <a:sym typeface="Symbol" pitchFamily="18" charset="2"/>
              </a:rPr>
              <a:t>C</a:t>
            </a:r>
            <a:r>
              <a:rPr lang="en-US" altLang="zh-CN" b="1" dirty="0">
                <a:latin typeface="Times New Roman" panose="02020603050405020304" pitchFamily="18" charset="0"/>
                <a:ea typeface="楷体" panose="02010609060101010101" pitchFamily="49" charset="-122"/>
                <a:cs typeface="Times New Roman" panose="02020603050405020304" pitchFamily="18" charset="0"/>
                <a:sym typeface="Symbol" pitchFamily="18" charset="2"/>
              </a:rPr>
              <a:t>) = (</a:t>
            </a:r>
            <a:r>
              <a:rPr lang="en-US" altLang="zh-CN" b="1" i="1" dirty="0">
                <a:latin typeface="Times New Roman" panose="02020603050405020304" pitchFamily="18" charset="0"/>
                <a:ea typeface="楷体" panose="02010609060101010101" pitchFamily="49" charset="-122"/>
                <a:cs typeface="Times New Roman" panose="02020603050405020304" pitchFamily="18" charset="0"/>
              </a:rPr>
              <a:t>A</a:t>
            </a:r>
            <a:r>
              <a:rPr lang="en-US" altLang="zh-CN" b="1" dirty="0">
                <a:latin typeface="Times New Roman" panose="02020603050405020304" pitchFamily="18" charset="0"/>
                <a:ea typeface="楷体" panose="02010609060101010101" pitchFamily="49" charset="-122"/>
                <a:cs typeface="Times New Roman" panose="02020603050405020304" pitchFamily="18" charset="0"/>
                <a:sym typeface="Symbol" pitchFamily="18" charset="2"/>
              </a:rPr>
              <a:t></a:t>
            </a:r>
            <a:r>
              <a:rPr lang="en-US" altLang="zh-CN" b="1" i="1" dirty="0">
                <a:latin typeface="Times New Roman" panose="02020603050405020304" pitchFamily="18" charset="0"/>
                <a:ea typeface="楷体" panose="02010609060101010101" pitchFamily="49" charset="-122"/>
                <a:cs typeface="Times New Roman" panose="02020603050405020304" pitchFamily="18" charset="0"/>
                <a:sym typeface="Symbol" pitchFamily="18" charset="2"/>
              </a:rPr>
              <a:t>B</a:t>
            </a:r>
            <a:r>
              <a:rPr lang="en-US" altLang="zh-CN" b="1" dirty="0">
                <a:latin typeface="Times New Roman" panose="02020603050405020304" pitchFamily="18" charset="0"/>
                <a:ea typeface="楷体" panose="02010609060101010101" pitchFamily="49" charset="-122"/>
                <a:cs typeface="Times New Roman" panose="02020603050405020304" pitchFamily="18" charset="0"/>
                <a:sym typeface="Symbol" pitchFamily="18" charset="2"/>
              </a:rPr>
              <a:t>)(</a:t>
            </a:r>
            <a:r>
              <a:rPr lang="en-US" altLang="zh-CN" b="1" i="1" dirty="0">
                <a:latin typeface="Times New Roman" panose="02020603050405020304" pitchFamily="18" charset="0"/>
                <a:ea typeface="楷体" panose="02010609060101010101" pitchFamily="49" charset="-122"/>
                <a:cs typeface="Times New Roman" panose="02020603050405020304" pitchFamily="18" charset="0"/>
              </a:rPr>
              <a:t>A</a:t>
            </a:r>
            <a:r>
              <a:rPr lang="en-US" altLang="zh-CN" b="1" dirty="0">
                <a:latin typeface="Times New Roman" panose="02020603050405020304" pitchFamily="18" charset="0"/>
                <a:ea typeface="楷体" panose="02010609060101010101" pitchFamily="49" charset="-122"/>
                <a:cs typeface="Times New Roman" panose="02020603050405020304" pitchFamily="18" charset="0"/>
                <a:sym typeface="Symbol" pitchFamily="18" charset="2"/>
              </a:rPr>
              <a:t></a:t>
            </a:r>
            <a:r>
              <a:rPr lang="en-US" altLang="zh-CN" b="1" i="1" dirty="0">
                <a:latin typeface="Times New Roman" panose="02020603050405020304" pitchFamily="18" charset="0"/>
                <a:ea typeface="楷体" panose="02010609060101010101" pitchFamily="49" charset="-122"/>
                <a:cs typeface="Times New Roman" panose="02020603050405020304" pitchFamily="18" charset="0"/>
                <a:sym typeface="Symbol" pitchFamily="18" charset="2"/>
              </a:rPr>
              <a:t>C</a:t>
            </a:r>
            <a:r>
              <a:rPr lang="en-US" altLang="zh-CN" b="1" dirty="0">
                <a:latin typeface="Times New Roman" panose="02020603050405020304" pitchFamily="18" charset="0"/>
                <a:ea typeface="楷体" panose="02010609060101010101" pitchFamily="49" charset="-122"/>
                <a:cs typeface="Times New Roman" panose="02020603050405020304" pitchFamily="18" charset="0"/>
                <a:sym typeface="Symbol" pitchFamily="18" charset="2"/>
              </a:rPr>
              <a:t>)</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求析取范式用</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a:t>
            </a:r>
          </a:p>
          <a:p>
            <a:pPr eaLnBrk="1" hangingPunct="1">
              <a:lnSpc>
                <a:spcPct val="120000"/>
              </a:lnSpc>
            </a:pPr>
            <a:r>
              <a:rPr lang="en-US" altLang="zh-CN" b="1" i="1" dirty="0">
                <a:latin typeface="Times New Roman" panose="02020603050405020304" pitchFamily="18" charset="0"/>
                <a:ea typeface="楷体" panose="02010609060101010101" pitchFamily="49" charset="-122"/>
                <a:cs typeface="Times New Roman" panose="02020603050405020304" pitchFamily="18" charset="0"/>
              </a:rPr>
              <a:t>A</a:t>
            </a:r>
            <a:r>
              <a:rPr lang="en-US" altLang="zh-CN" b="1" dirty="0">
                <a:latin typeface="Times New Roman" panose="02020603050405020304" pitchFamily="18" charset="0"/>
                <a:ea typeface="楷体" panose="02010609060101010101" pitchFamily="49" charset="-122"/>
                <a:cs typeface="Times New Roman" panose="02020603050405020304" pitchFamily="18" charset="0"/>
                <a:sym typeface="Symbol" pitchFamily="18" charset="2"/>
              </a:rPr>
              <a:t>(</a:t>
            </a:r>
            <a:r>
              <a:rPr lang="en-US" altLang="zh-CN" b="1" i="1" dirty="0">
                <a:latin typeface="Times New Roman" panose="02020603050405020304" pitchFamily="18" charset="0"/>
                <a:ea typeface="楷体" panose="02010609060101010101" pitchFamily="49" charset="-122"/>
                <a:cs typeface="Times New Roman" panose="02020603050405020304" pitchFamily="18" charset="0"/>
                <a:sym typeface="Symbol" pitchFamily="18" charset="2"/>
              </a:rPr>
              <a:t>B</a:t>
            </a:r>
            <a:r>
              <a:rPr lang="en-US" altLang="zh-CN" b="1" dirty="0">
                <a:latin typeface="Times New Roman" panose="02020603050405020304" pitchFamily="18" charset="0"/>
                <a:ea typeface="楷体" panose="02010609060101010101" pitchFamily="49" charset="-122"/>
                <a:cs typeface="Times New Roman" panose="02020603050405020304" pitchFamily="18" charset="0"/>
                <a:sym typeface="Symbol" pitchFamily="18" charset="2"/>
              </a:rPr>
              <a:t></a:t>
            </a:r>
            <a:r>
              <a:rPr lang="en-US" altLang="zh-CN" b="1" i="1" dirty="0">
                <a:latin typeface="Times New Roman" panose="02020603050405020304" pitchFamily="18" charset="0"/>
                <a:ea typeface="楷体" panose="02010609060101010101" pitchFamily="49" charset="-122"/>
                <a:cs typeface="Times New Roman" panose="02020603050405020304" pitchFamily="18" charset="0"/>
                <a:sym typeface="Symbol" pitchFamily="18" charset="2"/>
              </a:rPr>
              <a:t>C</a:t>
            </a:r>
            <a:r>
              <a:rPr lang="en-US" altLang="zh-CN" b="1" dirty="0">
                <a:latin typeface="Times New Roman" panose="02020603050405020304" pitchFamily="18" charset="0"/>
                <a:ea typeface="楷体" panose="02010609060101010101" pitchFamily="49" charset="-122"/>
                <a:cs typeface="Times New Roman" panose="02020603050405020304" pitchFamily="18" charset="0"/>
                <a:sym typeface="Symbol" pitchFamily="18" charset="2"/>
              </a:rPr>
              <a:t>) = (</a:t>
            </a:r>
            <a:r>
              <a:rPr lang="en-US" altLang="zh-CN" b="1" i="1" dirty="0">
                <a:latin typeface="Times New Roman" panose="02020603050405020304" pitchFamily="18" charset="0"/>
                <a:ea typeface="楷体" panose="02010609060101010101" pitchFamily="49" charset="-122"/>
                <a:cs typeface="Times New Roman" panose="02020603050405020304" pitchFamily="18" charset="0"/>
              </a:rPr>
              <a:t>A</a:t>
            </a:r>
            <a:r>
              <a:rPr lang="en-US" altLang="zh-CN" b="1" dirty="0">
                <a:latin typeface="Times New Roman" panose="02020603050405020304" pitchFamily="18" charset="0"/>
                <a:ea typeface="楷体" panose="02010609060101010101" pitchFamily="49" charset="-122"/>
                <a:cs typeface="Times New Roman" panose="02020603050405020304" pitchFamily="18" charset="0"/>
                <a:sym typeface="Symbol" pitchFamily="18" charset="2"/>
              </a:rPr>
              <a:t></a:t>
            </a:r>
            <a:r>
              <a:rPr lang="en-US" altLang="zh-CN" b="1" i="1" dirty="0">
                <a:latin typeface="Times New Roman" panose="02020603050405020304" pitchFamily="18" charset="0"/>
                <a:ea typeface="楷体" panose="02010609060101010101" pitchFamily="49" charset="-122"/>
                <a:cs typeface="Times New Roman" panose="02020603050405020304" pitchFamily="18" charset="0"/>
                <a:sym typeface="Symbol" pitchFamily="18" charset="2"/>
              </a:rPr>
              <a:t>B</a:t>
            </a:r>
            <a:r>
              <a:rPr lang="en-US" altLang="zh-CN" b="1" dirty="0">
                <a:latin typeface="Times New Roman" panose="02020603050405020304" pitchFamily="18" charset="0"/>
                <a:ea typeface="楷体" panose="02010609060101010101" pitchFamily="49" charset="-122"/>
                <a:cs typeface="Times New Roman" panose="02020603050405020304" pitchFamily="18" charset="0"/>
                <a:sym typeface="Symbol" pitchFamily="18" charset="2"/>
              </a:rPr>
              <a:t>)(</a:t>
            </a:r>
            <a:r>
              <a:rPr lang="en-US" altLang="zh-CN" b="1" i="1" dirty="0">
                <a:latin typeface="Times New Roman" panose="02020603050405020304" pitchFamily="18" charset="0"/>
                <a:ea typeface="楷体" panose="02010609060101010101" pitchFamily="49" charset="-122"/>
                <a:cs typeface="Times New Roman" panose="02020603050405020304" pitchFamily="18" charset="0"/>
              </a:rPr>
              <a:t>A</a:t>
            </a:r>
            <a:r>
              <a:rPr lang="en-US" altLang="zh-CN" b="1" dirty="0">
                <a:latin typeface="Times New Roman" panose="02020603050405020304" pitchFamily="18" charset="0"/>
                <a:ea typeface="楷体" panose="02010609060101010101" pitchFamily="49" charset="-122"/>
                <a:cs typeface="Times New Roman" panose="02020603050405020304" pitchFamily="18" charset="0"/>
                <a:sym typeface="Symbol" pitchFamily="18" charset="2"/>
              </a:rPr>
              <a:t></a:t>
            </a:r>
            <a:r>
              <a:rPr lang="en-US" altLang="zh-CN" b="1" i="1" dirty="0">
                <a:latin typeface="Times New Roman" panose="02020603050405020304" pitchFamily="18" charset="0"/>
                <a:ea typeface="楷体" panose="02010609060101010101" pitchFamily="49" charset="-122"/>
                <a:cs typeface="Times New Roman" panose="02020603050405020304" pitchFamily="18" charset="0"/>
                <a:sym typeface="Symbol" pitchFamily="18" charset="2"/>
              </a:rPr>
              <a:t>C</a:t>
            </a:r>
            <a:r>
              <a:rPr lang="en-US" altLang="zh-CN" b="1" dirty="0">
                <a:latin typeface="Times New Roman" panose="02020603050405020304" pitchFamily="18" charset="0"/>
                <a:ea typeface="楷体" panose="02010609060101010101" pitchFamily="49" charset="-122"/>
                <a:cs typeface="Times New Roman" panose="02020603050405020304" pitchFamily="18" charset="0"/>
                <a:sym typeface="Symbol" pitchFamily="18" charset="2"/>
              </a:rPr>
              <a:t>)</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求合取范式用</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a:t>
            </a:r>
          </a:p>
        </p:txBody>
      </p:sp>
    </p:spTree>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2"/>
          <p:cNvSpPr>
            <a:spLocks noGrp="1" noChangeArrowheads="1"/>
          </p:cNvSpPr>
          <p:nvPr>
            <p:ph/>
          </p:nvPr>
        </p:nvSpPr>
        <p:spPr/>
        <p:txBody>
          <a:bodyPr/>
          <a:lstStyle/>
          <a:p>
            <a:pPr eaLnBrk="1" hangingPunct="1">
              <a:lnSpc>
                <a:spcPct val="120000"/>
              </a:lnSpc>
            </a:pPr>
            <a:r>
              <a:rPr lang="zh-CN" altLang="en-US" b="1" dirty="0">
                <a:latin typeface="Times New Roman" panose="02020603050405020304" pitchFamily="18" charset="0"/>
                <a:ea typeface="楷体" panose="02010609060101010101" pitchFamily="49" charset="-122"/>
                <a:cs typeface="Times New Roman" panose="02020603050405020304" pitchFamily="18" charset="0"/>
              </a:rPr>
              <a:t>例</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3-17 </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设</a:t>
            </a:r>
            <a:r>
              <a:rPr lang="en-US" altLang="zh-CN" b="1" i="1" dirty="0">
                <a:latin typeface="Times New Roman" panose="02020603050405020304" pitchFamily="18" charset="0"/>
                <a:ea typeface="楷体" panose="02010609060101010101" pitchFamily="49" charset="-122"/>
                <a:cs typeface="Times New Roman" panose="02020603050405020304" pitchFamily="18" charset="0"/>
              </a:rPr>
              <a:t>p</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 </a:t>
            </a:r>
            <a:r>
              <a:rPr lang="en-US" altLang="zh-CN" b="1" i="1" dirty="0">
                <a:latin typeface="Times New Roman" panose="02020603050405020304" pitchFamily="18" charset="0"/>
                <a:ea typeface="楷体" panose="02010609060101010101" pitchFamily="49" charset="-122"/>
                <a:cs typeface="Times New Roman" panose="02020603050405020304" pitchFamily="18" charset="0"/>
              </a:rPr>
              <a:t>q</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和</a:t>
            </a:r>
            <a:r>
              <a:rPr lang="en-US" altLang="zh-CN" b="1" i="1" dirty="0">
                <a:latin typeface="Times New Roman" panose="02020603050405020304" pitchFamily="18" charset="0"/>
                <a:ea typeface="楷体" panose="02010609060101010101" pitchFamily="49" charset="-122"/>
                <a:cs typeface="Times New Roman" panose="02020603050405020304" pitchFamily="18" charset="0"/>
              </a:rPr>
              <a:t>r</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是命题变元</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求命题公式</a:t>
            </a:r>
            <a:r>
              <a:rPr lang="en-US" altLang="zh-CN" b="1" i="1" dirty="0">
                <a:latin typeface="Times New Roman" panose="02020603050405020304" pitchFamily="18" charset="0"/>
                <a:ea typeface="楷体" panose="02010609060101010101" pitchFamily="49" charset="-122"/>
                <a:cs typeface="Times New Roman" panose="02020603050405020304" pitchFamily="18" charset="0"/>
              </a:rPr>
              <a:t>A</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 = (</a:t>
            </a:r>
            <a:r>
              <a:rPr lang="en-US" altLang="zh-CN" b="1" i="1" dirty="0">
                <a:latin typeface="Times New Roman" panose="02020603050405020304" pitchFamily="18" charset="0"/>
                <a:ea typeface="楷体" panose="02010609060101010101" pitchFamily="49" charset="-122"/>
                <a:cs typeface="Times New Roman" panose="02020603050405020304" pitchFamily="18" charset="0"/>
              </a:rPr>
              <a:t>p</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 </a:t>
            </a:r>
            <a:r>
              <a:rPr lang="en-US" altLang="zh-CN" b="1" dirty="0">
                <a:latin typeface="Times New Roman" panose="02020603050405020304" pitchFamily="18" charset="0"/>
                <a:ea typeface="楷体" panose="02010609060101010101" pitchFamily="49" charset="-122"/>
                <a:cs typeface="Times New Roman" panose="02020603050405020304" pitchFamily="18" charset="0"/>
                <a:sym typeface="Symbol" pitchFamily="18" charset="2"/>
              </a:rPr>
              <a:t> </a:t>
            </a:r>
            <a:r>
              <a:rPr lang="en-US" altLang="zh-CN" b="1" i="1" dirty="0">
                <a:latin typeface="Times New Roman" panose="02020603050405020304" pitchFamily="18" charset="0"/>
                <a:ea typeface="楷体" panose="02010609060101010101" pitchFamily="49" charset="-122"/>
                <a:cs typeface="Times New Roman" panose="02020603050405020304" pitchFamily="18" charset="0"/>
              </a:rPr>
              <a:t>q</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 </a:t>
            </a:r>
            <a:r>
              <a:rPr lang="en-US" altLang="zh-CN" b="1" dirty="0">
                <a:latin typeface="Times New Roman" panose="02020603050405020304" pitchFamily="18" charset="0"/>
                <a:ea typeface="楷体" panose="02010609060101010101" pitchFamily="49" charset="-122"/>
                <a:cs typeface="Times New Roman" panose="02020603050405020304" pitchFamily="18" charset="0"/>
                <a:sym typeface="Symbol" pitchFamily="18" charset="2"/>
              </a:rPr>
              <a:t> </a:t>
            </a:r>
            <a:r>
              <a:rPr lang="en-US" altLang="zh-CN" b="1" i="1" dirty="0">
                <a:latin typeface="Times New Roman" panose="02020603050405020304" pitchFamily="18" charset="0"/>
                <a:ea typeface="楷体" panose="02010609060101010101" pitchFamily="49" charset="-122"/>
                <a:cs typeface="Times New Roman" panose="02020603050405020304" pitchFamily="18" charset="0"/>
                <a:sym typeface="Symbol" pitchFamily="18" charset="2"/>
              </a:rPr>
              <a:t>r</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的析取范式及合取范式</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a:t>
            </a:r>
          </a:p>
          <a:p>
            <a:pPr eaLnBrk="1" hangingPunct="1">
              <a:lnSpc>
                <a:spcPct val="120000"/>
              </a:lnSpc>
            </a:pPr>
            <a:r>
              <a:rPr lang="en-US" altLang="zh-CN" b="1" dirty="0">
                <a:latin typeface="Times New Roman" panose="02020603050405020304" pitchFamily="18" charset="0"/>
                <a:ea typeface="楷体" panose="02010609060101010101" pitchFamily="49" charset="-122"/>
                <a:cs typeface="Times New Roman" panose="02020603050405020304" pitchFamily="18" charset="0"/>
              </a:rPr>
              <a:t>Solution </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求命题公式的析取范式及合取范式的</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Step1</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和</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Step2</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是相同的</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a:t>
            </a:r>
          </a:p>
          <a:p>
            <a:pPr eaLnBrk="1" hangingPunct="1"/>
            <a:endParaRPr lang="en-US" altLang="zh-CN" b="1" dirty="0">
              <a:latin typeface="Times New Roman" pitchFamily="18" charset="0"/>
            </a:endParaRPr>
          </a:p>
          <a:p>
            <a:pPr eaLnBrk="1" hangingPunct="1"/>
            <a:endParaRPr lang="en-US" altLang="zh-CN" dirty="0">
              <a:latin typeface="Times New Roman" pitchFamily="18" charset="0"/>
            </a:endParaRPr>
          </a:p>
          <a:p>
            <a:pPr eaLnBrk="1" hangingPunct="1"/>
            <a:endParaRPr lang="en-US" altLang="zh-CN" dirty="0">
              <a:latin typeface="Times New Roman" pitchFamily="18" charset="0"/>
            </a:endParaRPr>
          </a:p>
          <a:p>
            <a:pPr eaLnBrk="1" hangingPunct="1"/>
            <a:endParaRPr lang="en-US" altLang="zh-CN" dirty="0">
              <a:latin typeface="Times New Roman" pitchFamily="18" charset="0"/>
            </a:endParaRPr>
          </a:p>
          <a:p>
            <a:pPr eaLnBrk="1" hangingPunct="1"/>
            <a:endParaRPr lang="en-US" altLang="zh-CN" dirty="0">
              <a:latin typeface="Times New Roman" pitchFamily="18" charset="0"/>
            </a:endParaRPr>
          </a:p>
        </p:txBody>
      </p:sp>
      <p:graphicFrame>
        <p:nvGraphicFramePr>
          <p:cNvPr id="95235" name="Object 3"/>
          <p:cNvGraphicFramePr>
            <a:graphicFrameLocks noChangeAspect="1"/>
          </p:cNvGraphicFramePr>
          <p:nvPr/>
        </p:nvGraphicFramePr>
        <p:xfrm>
          <a:off x="1692275" y="2852738"/>
          <a:ext cx="4943475" cy="484187"/>
        </p:xfrm>
        <a:graphic>
          <a:graphicData uri="http://schemas.openxmlformats.org/presentationml/2006/ole">
            <mc:AlternateContent xmlns:mc="http://schemas.openxmlformats.org/markup-compatibility/2006">
              <mc:Choice xmlns:v="urn:schemas-microsoft-com:vml" Requires="v">
                <p:oleObj name="Equation" r:id="rId2" imgW="1990610" imgH="123930" progId="Equation.3">
                  <p:embed/>
                </p:oleObj>
              </mc:Choice>
              <mc:Fallback>
                <p:oleObj name="Equation" r:id="rId2" imgW="1990610" imgH="123930" progId="Equation.3">
                  <p:embed/>
                  <p:pic>
                    <p:nvPicPr>
                      <p:cNvPr id="0" name="Object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92275" y="2852738"/>
                        <a:ext cx="4943475" cy="4841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5236" name="Object 4"/>
          <p:cNvGraphicFramePr>
            <a:graphicFrameLocks noChangeAspect="1"/>
          </p:cNvGraphicFramePr>
          <p:nvPr>
            <p:extLst>
              <p:ext uri="{D42A27DB-BD31-4B8C-83A1-F6EECF244321}">
                <p14:modId xmlns:p14="http://schemas.microsoft.com/office/powerpoint/2010/main" val="3461413496"/>
              </p:ext>
            </p:extLst>
          </p:nvPr>
        </p:nvGraphicFramePr>
        <p:xfrm>
          <a:off x="1991049" y="3573016"/>
          <a:ext cx="5033962" cy="484188"/>
        </p:xfrm>
        <a:graphic>
          <a:graphicData uri="http://schemas.openxmlformats.org/presentationml/2006/ole">
            <mc:AlternateContent xmlns:mc="http://schemas.openxmlformats.org/markup-compatibility/2006">
              <mc:Choice xmlns:v="urn:schemas-microsoft-com:vml" Requires="v">
                <p:oleObj name="Equation" r:id="rId4" imgW="2028698" imgH="123930" progId="Equation.3">
                  <p:embed/>
                </p:oleObj>
              </mc:Choice>
              <mc:Fallback>
                <p:oleObj name="Equation" r:id="rId4" imgW="2028698" imgH="123930" progId="Equation.3">
                  <p:embed/>
                  <p:pic>
                    <p:nvPicPr>
                      <p:cNvPr id="0"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991049" y="3573016"/>
                        <a:ext cx="5033962" cy="4841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5237" name="Object 5"/>
          <p:cNvGraphicFramePr>
            <a:graphicFrameLocks noChangeAspect="1"/>
          </p:cNvGraphicFramePr>
          <p:nvPr>
            <p:extLst>
              <p:ext uri="{D42A27DB-BD31-4B8C-83A1-F6EECF244321}">
                <p14:modId xmlns:p14="http://schemas.microsoft.com/office/powerpoint/2010/main" val="2653307614"/>
              </p:ext>
            </p:extLst>
          </p:nvPr>
        </p:nvGraphicFramePr>
        <p:xfrm>
          <a:off x="1964531" y="4305916"/>
          <a:ext cx="5214937" cy="484188"/>
        </p:xfrm>
        <a:graphic>
          <a:graphicData uri="http://schemas.openxmlformats.org/presentationml/2006/ole">
            <mc:AlternateContent xmlns:mc="http://schemas.openxmlformats.org/markup-compatibility/2006">
              <mc:Choice xmlns:v="urn:schemas-microsoft-com:vml" Requires="v">
                <p:oleObj name="Equation" r:id="rId6" imgW="2105146" imgH="123930" progId="Equation.3">
                  <p:embed/>
                </p:oleObj>
              </mc:Choice>
              <mc:Fallback>
                <p:oleObj name="Equation" r:id="rId6" imgW="2105146" imgH="123930" progId="Equation.3">
                  <p:embed/>
                  <p:pic>
                    <p:nvPicPr>
                      <p:cNvPr id="0" name="Object 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964531" y="4305916"/>
                        <a:ext cx="5214937" cy="4841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5238" name="Object 6"/>
          <p:cNvGraphicFramePr>
            <a:graphicFrameLocks noChangeAspect="1"/>
          </p:cNvGraphicFramePr>
          <p:nvPr/>
        </p:nvGraphicFramePr>
        <p:xfrm>
          <a:off x="1979613" y="5084763"/>
          <a:ext cx="4759325" cy="484187"/>
        </p:xfrm>
        <a:graphic>
          <a:graphicData uri="http://schemas.openxmlformats.org/presentationml/2006/ole">
            <mc:AlternateContent xmlns:mc="http://schemas.openxmlformats.org/markup-compatibility/2006">
              <mc:Choice xmlns:v="urn:schemas-microsoft-com:vml" Requires="v">
                <p:oleObj name="Equation" r:id="rId8" imgW="1914432" imgH="123930" progId="Equation.3">
                  <p:embed/>
                </p:oleObj>
              </mc:Choice>
              <mc:Fallback>
                <p:oleObj name="Equation" r:id="rId8" imgW="1914432" imgH="123930" progId="Equation.3">
                  <p:embed/>
                  <p:pic>
                    <p:nvPicPr>
                      <p:cNvPr id="0" name="Object 6"/>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979613" y="5084763"/>
                        <a:ext cx="4759325" cy="4841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523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523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523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2"/>
          <p:cNvSpPr>
            <a:spLocks noGrp="1" noChangeArrowheads="1"/>
          </p:cNvSpPr>
          <p:nvPr>
            <p:ph/>
          </p:nvPr>
        </p:nvSpPr>
        <p:spPr/>
        <p:txBody>
          <a:bodyPr/>
          <a:lstStyle/>
          <a:p>
            <a:pPr eaLnBrk="1" hangingPunct="1">
              <a:lnSpc>
                <a:spcPct val="120000"/>
              </a:lnSpc>
            </a:pPr>
            <a:r>
              <a:rPr lang="zh-CN" altLang="en-US" b="1" dirty="0">
                <a:latin typeface="Times New Roman" panose="02020603050405020304" pitchFamily="18" charset="0"/>
                <a:ea typeface="楷体" panose="02010609060101010101" pitchFamily="49" charset="-122"/>
                <a:cs typeface="Times New Roman" panose="02020603050405020304" pitchFamily="18" charset="0"/>
              </a:rPr>
              <a:t>析取范式</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a:t>
            </a:r>
          </a:p>
          <a:p>
            <a:pPr eaLnBrk="1" hangingPunct="1">
              <a:lnSpc>
                <a:spcPct val="120000"/>
              </a:lnSpc>
            </a:pPr>
            <a:endParaRPr lang="en-US" altLang="zh-CN" b="1" dirty="0">
              <a:latin typeface="Times New Roman" panose="02020603050405020304" pitchFamily="18" charset="0"/>
              <a:ea typeface="楷体" panose="02010609060101010101" pitchFamily="49" charset="-122"/>
              <a:cs typeface="Times New Roman" panose="02020603050405020304" pitchFamily="18" charset="0"/>
            </a:endParaRPr>
          </a:p>
          <a:p>
            <a:pPr eaLnBrk="1" hangingPunct="1">
              <a:lnSpc>
                <a:spcPct val="120000"/>
              </a:lnSpc>
            </a:pPr>
            <a:endParaRPr lang="en-US" altLang="zh-CN" b="1" dirty="0">
              <a:latin typeface="Times New Roman" panose="02020603050405020304" pitchFamily="18" charset="0"/>
              <a:ea typeface="楷体" panose="02010609060101010101" pitchFamily="49" charset="-122"/>
              <a:cs typeface="Times New Roman" panose="02020603050405020304" pitchFamily="18" charset="0"/>
            </a:endParaRPr>
          </a:p>
          <a:p>
            <a:pPr eaLnBrk="1" hangingPunct="1">
              <a:lnSpc>
                <a:spcPct val="120000"/>
              </a:lnSpc>
            </a:pPr>
            <a:endParaRPr lang="en-US" altLang="zh-CN" b="1" dirty="0">
              <a:latin typeface="Times New Roman" panose="02020603050405020304" pitchFamily="18" charset="0"/>
              <a:ea typeface="楷体" panose="02010609060101010101" pitchFamily="49" charset="-122"/>
              <a:cs typeface="Times New Roman" panose="02020603050405020304" pitchFamily="18" charset="0"/>
            </a:endParaRPr>
          </a:p>
          <a:p>
            <a:pPr eaLnBrk="1" hangingPunct="1">
              <a:lnSpc>
                <a:spcPct val="120000"/>
              </a:lnSpc>
            </a:pPr>
            <a:endParaRPr lang="en-US" altLang="zh-CN" b="1" dirty="0">
              <a:latin typeface="Times New Roman" panose="02020603050405020304" pitchFamily="18" charset="0"/>
              <a:ea typeface="楷体" panose="02010609060101010101" pitchFamily="49" charset="-122"/>
              <a:cs typeface="Times New Roman" panose="02020603050405020304" pitchFamily="18" charset="0"/>
            </a:endParaRPr>
          </a:p>
          <a:p>
            <a:pPr eaLnBrk="1" hangingPunct="1">
              <a:lnSpc>
                <a:spcPct val="120000"/>
              </a:lnSpc>
            </a:pPr>
            <a:r>
              <a:rPr lang="zh-CN" altLang="en-US" b="1" dirty="0">
                <a:latin typeface="Times New Roman" panose="02020603050405020304" pitchFamily="18" charset="0"/>
                <a:ea typeface="楷体" panose="02010609060101010101" pitchFamily="49" charset="-122"/>
                <a:cs typeface="Times New Roman" panose="02020603050405020304" pitchFamily="18" charset="0"/>
              </a:rPr>
              <a:t>合取范式</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a:t>
            </a:r>
          </a:p>
          <a:p>
            <a:pPr eaLnBrk="1" hangingPunct="1"/>
            <a:endParaRPr lang="en-US" altLang="zh-CN" b="1" dirty="0"/>
          </a:p>
        </p:txBody>
      </p:sp>
      <p:graphicFrame>
        <p:nvGraphicFramePr>
          <p:cNvPr id="96259" name="Object 3"/>
          <p:cNvGraphicFramePr>
            <a:graphicFrameLocks noChangeAspect="1"/>
          </p:cNvGraphicFramePr>
          <p:nvPr/>
        </p:nvGraphicFramePr>
        <p:xfrm>
          <a:off x="2843213" y="3789363"/>
          <a:ext cx="5092700" cy="576262"/>
        </p:xfrm>
        <a:graphic>
          <a:graphicData uri="http://schemas.openxmlformats.org/presentationml/2006/ole">
            <mc:AlternateContent xmlns:mc="http://schemas.openxmlformats.org/markup-compatibility/2006">
              <mc:Choice xmlns:v="urn:schemas-microsoft-com:vml" Requires="v">
                <p:oleObj name="Equation" r:id="rId2" imgW="2057332" imgH="162000" progId="Equation.3">
                  <p:embed/>
                </p:oleObj>
              </mc:Choice>
              <mc:Fallback>
                <p:oleObj name="Equation" r:id="rId2" imgW="2057332" imgH="162000" progId="Equation.3">
                  <p:embed/>
                  <p:pic>
                    <p:nvPicPr>
                      <p:cNvPr id="0" name="Object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43213" y="3789363"/>
                        <a:ext cx="5092700" cy="5762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6260" name="Object 4"/>
          <p:cNvGraphicFramePr>
            <a:graphicFrameLocks noChangeAspect="1"/>
          </p:cNvGraphicFramePr>
          <p:nvPr/>
        </p:nvGraphicFramePr>
        <p:xfrm>
          <a:off x="3203575" y="4724400"/>
          <a:ext cx="5335588" cy="484188"/>
        </p:xfrm>
        <a:graphic>
          <a:graphicData uri="http://schemas.openxmlformats.org/presentationml/2006/ole">
            <mc:AlternateContent xmlns:mc="http://schemas.openxmlformats.org/markup-compatibility/2006">
              <mc:Choice xmlns:v="urn:schemas-microsoft-com:vml" Requires="v">
                <p:oleObj name="Equation" r:id="rId4" imgW="2162144" imgH="123930" progId="Equation.3">
                  <p:embed/>
                </p:oleObj>
              </mc:Choice>
              <mc:Fallback>
                <p:oleObj name="Equation" r:id="rId4" imgW="2162144" imgH="123930" progId="Equation.3">
                  <p:embed/>
                  <p:pic>
                    <p:nvPicPr>
                      <p:cNvPr id="0"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203575" y="4724400"/>
                        <a:ext cx="5335588" cy="4841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6261" name="Object 5"/>
          <p:cNvGraphicFramePr>
            <a:graphicFrameLocks noChangeAspect="1"/>
          </p:cNvGraphicFramePr>
          <p:nvPr/>
        </p:nvGraphicFramePr>
        <p:xfrm>
          <a:off x="1908175" y="908050"/>
          <a:ext cx="5092700" cy="574675"/>
        </p:xfrm>
        <a:graphic>
          <a:graphicData uri="http://schemas.openxmlformats.org/presentationml/2006/ole">
            <mc:AlternateContent xmlns:mc="http://schemas.openxmlformats.org/markup-compatibility/2006">
              <mc:Choice xmlns:v="urn:schemas-microsoft-com:vml" Requires="v">
                <p:oleObj name="Equation" r:id="rId6" imgW="2057332" imgH="162000" progId="Equation.3">
                  <p:embed/>
                </p:oleObj>
              </mc:Choice>
              <mc:Fallback>
                <p:oleObj name="Equation" r:id="rId6" imgW="2057332" imgH="162000" progId="Equation.3">
                  <p:embed/>
                  <p:pic>
                    <p:nvPicPr>
                      <p:cNvPr id="0" name="Object 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908175" y="908050"/>
                        <a:ext cx="5092700" cy="5746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6262" name="Object 6"/>
          <p:cNvGraphicFramePr>
            <a:graphicFrameLocks noChangeAspect="1"/>
          </p:cNvGraphicFramePr>
          <p:nvPr/>
        </p:nvGraphicFramePr>
        <p:xfrm>
          <a:off x="1763713" y="1773238"/>
          <a:ext cx="7335837" cy="484187"/>
        </p:xfrm>
        <a:graphic>
          <a:graphicData uri="http://schemas.openxmlformats.org/presentationml/2006/ole">
            <mc:AlternateContent xmlns:mc="http://schemas.openxmlformats.org/markup-compatibility/2006">
              <mc:Choice xmlns:v="urn:schemas-microsoft-com:vml" Requires="v">
                <p:oleObj name="Equation" r:id="rId8" imgW="3000367" imgH="123930" progId="Equation.3">
                  <p:embed/>
                </p:oleObj>
              </mc:Choice>
              <mc:Fallback>
                <p:oleObj name="Equation" r:id="rId8" imgW="3000367" imgH="123930" progId="Equation.3">
                  <p:embed/>
                  <p:pic>
                    <p:nvPicPr>
                      <p:cNvPr id="0" name="Object 6"/>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763713" y="1773238"/>
                        <a:ext cx="7335837" cy="4841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6263" name="Object 7"/>
          <p:cNvGraphicFramePr>
            <a:graphicFrameLocks noChangeAspect="1"/>
          </p:cNvGraphicFramePr>
          <p:nvPr/>
        </p:nvGraphicFramePr>
        <p:xfrm>
          <a:off x="1763713" y="2565400"/>
          <a:ext cx="5335587" cy="484188"/>
        </p:xfrm>
        <a:graphic>
          <a:graphicData uri="http://schemas.openxmlformats.org/presentationml/2006/ole">
            <mc:AlternateContent xmlns:mc="http://schemas.openxmlformats.org/markup-compatibility/2006">
              <mc:Choice xmlns:v="urn:schemas-microsoft-com:vml" Requires="v">
                <p:oleObj name="Equation" r:id="rId10" imgW="2162144" imgH="123930" progId="Equation.3">
                  <p:embed/>
                </p:oleObj>
              </mc:Choice>
              <mc:Fallback>
                <p:oleObj name="Equation" r:id="rId10" imgW="2162144" imgH="123930" progId="Equation.3">
                  <p:embed/>
                  <p:pic>
                    <p:nvPicPr>
                      <p:cNvPr id="0" name="Object 7"/>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763713" y="2565400"/>
                        <a:ext cx="5335587" cy="4841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2"/>
          <p:cNvSpPr>
            <a:spLocks noGrp="1" noChangeArrowheads="1"/>
          </p:cNvSpPr>
          <p:nvPr>
            <p:ph/>
          </p:nvPr>
        </p:nvSpPr>
        <p:spPr/>
        <p:txBody>
          <a:bodyPr/>
          <a:lstStyle/>
          <a:p>
            <a:pPr eaLnBrk="1" hangingPunct="1">
              <a:lnSpc>
                <a:spcPct val="120000"/>
              </a:lnSpc>
            </a:pPr>
            <a:r>
              <a:rPr lang="en-US" altLang="zh-CN" b="1" dirty="0">
                <a:latin typeface="Times New Roman" pitchFamily="18" charset="0"/>
              </a:rPr>
              <a:t>(3)</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析取范式及合取范式的应用</a:t>
            </a:r>
          </a:p>
          <a:p>
            <a:pPr eaLnBrk="1" hangingPunct="1">
              <a:lnSpc>
                <a:spcPct val="120000"/>
              </a:lnSpc>
            </a:pPr>
            <a:r>
              <a:rPr lang="zh-CN" altLang="en-US" b="1" dirty="0">
                <a:latin typeface="Times New Roman" panose="02020603050405020304" pitchFamily="18" charset="0"/>
                <a:ea typeface="楷体" panose="02010609060101010101" pitchFamily="49" charset="-122"/>
                <a:cs typeface="Times New Roman" panose="02020603050405020304" pitchFamily="18" charset="0"/>
              </a:rPr>
              <a:t>根据命题公式的析取范式及合取范式可分别得出该命题公式取真、假的指派</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a:t>
            </a:r>
          </a:p>
          <a:p>
            <a:pPr eaLnBrk="1" hangingPunct="1">
              <a:lnSpc>
                <a:spcPct val="120000"/>
              </a:lnSpc>
            </a:pPr>
            <a:endParaRPr lang="en-US" altLang="zh-CN" b="1" dirty="0"/>
          </a:p>
        </p:txBody>
      </p:sp>
      <p:graphicFrame>
        <p:nvGraphicFramePr>
          <p:cNvPr id="97283" name="Object 3"/>
          <p:cNvGraphicFramePr>
            <a:graphicFrameLocks noChangeAspect="1"/>
          </p:cNvGraphicFramePr>
          <p:nvPr>
            <p:extLst>
              <p:ext uri="{D42A27DB-BD31-4B8C-83A1-F6EECF244321}">
                <p14:modId xmlns:p14="http://schemas.microsoft.com/office/powerpoint/2010/main" val="324513762"/>
              </p:ext>
            </p:extLst>
          </p:nvPr>
        </p:nvGraphicFramePr>
        <p:xfrm>
          <a:off x="971550" y="2276475"/>
          <a:ext cx="6275388" cy="484188"/>
        </p:xfrm>
        <a:graphic>
          <a:graphicData uri="http://schemas.openxmlformats.org/presentationml/2006/ole">
            <mc:AlternateContent xmlns:mc="http://schemas.openxmlformats.org/markup-compatibility/2006">
              <mc:Choice xmlns:v="urn:schemas-microsoft-com:vml" Requires="v">
                <p:oleObj name="公式" r:id="rId2" imgW="2552756" imgH="123930" progId="Equation.3">
                  <p:embed/>
                </p:oleObj>
              </mc:Choice>
              <mc:Fallback>
                <p:oleObj name="公式" r:id="rId2" imgW="2552756" imgH="123930" progId="Equation.3">
                  <p:embed/>
                  <p:pic>
                    <p:nvPicPr>
                      <p:cNvPr id="0" name="Object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71550" y="2276475"/>
                        <a:ext cx="6275388" cy="484188"/>
                      </a:xfrm>
                      <a:prstGeom prst="rect">
                        <a:avLst/>
                      </a:prstGeom>
                      <a:noFill/>
                      <a:ln>
                        <a:solidFill>
                          <a:srgbClr val="C00000"/>
                        </a:solidFill>
                      </a:ln>
                      <a:effectLst/>
                    </p:spPr>
                  </p:pic>
                </p:oleObj>
              </mc:Fallback>
            </mc:AlternateContent>
          </a:graphicData>
        </a:graphic>
      </p:graphicFrame>
      <p:graphicFrame>
        <p:nvGraphicFramePr>
          <p:cNvPr id="97284" name="Object 4"/>
          <p:cNvGraphicFramePr>
            <a:graphicFrameLocks noChangeAspect="1"/>
          </p:cNvGraphicFramePr>
          <p:nvPr>
            <p:extLst>
              <p:ext uri="{D42A27DB-BD31-4B8C-83A1-F6EECF244321}">
                <p14:modId xmlns:p14="http://schemas.microsoft.com/office/powerpoint/2010/main" val="3846493477"/>
              </p:ext>
            </p:extLst>
          </p:nvPr>
        </p:nvGraphicFramePr>
        <p:xfrm>
          <a:off x="900113" y="2872805"/>
          <a:ext cx="5576887" cy="484187"/>
        </p:xfrm>
        <a:graphic>
          <a:graphicData uri="http://schemas.openxmlformats.org/presentationml/2006/ole">
            <mc:AlternateContent xmlns:mc="http://schemas.openxmlformats.org/markup-compatibility/2006">
              <mc:Choice xmlns:v="urn:schemas-microsoft-com:vml" Requires="v">
                <p:oleObj name="Equation" r:id="rId4" imgW="2257501" imgH="123930" progId="Equation.3">
                  <p:embed/>
                </p:oleObj>
              </mc:Choice>
              <mc:Fallback>
                <p:oleObj name="Equation" r:id="rId4" imgW="2257501" imgH="123930" progId="Equation.3">
                  <p:embed/>
                  <p:pic>
                    <p:nvPicPr>
                      <p:cNvPr id="0"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00113" y="2872805"/>
                        <a:ext cx="5576887" cy="4841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7285" name="Object 5"/>
          <p:cNvGraphicFramePr>
            <a:graphicFrameLocks noChangeAspect="1"/>
          </p:cNvGraphicFramePr>
          <p:nvPr/>
        </p:nvGraphicFramePr>
        <p:xfrm>
          <a:off x="900113" y="3573463"/>
          <a:ext cx="7759700" cy="484187"/>
        </p:xfrm>
        <a:graphic>
          <a:graphicData uri="http://schemas.openxmlformats.org/presentationml/2006/ole">
            <mc:AlternateContent xmlns:mc="http://schemas.openxmlformats.org/markup-compatibility/2006">
              <mc:Choice xmlns:v="urn:schemas-microsoft-com:vml" Requires="v">
                <p:oleObj name="Equation" r:id="rId6" imgW="3171901" imgH="123930" progId="Equation.3">
                  <p:embed/>
                </p:oleObj>
              </mc:Choice>
              <mc:Fallback>
                <p:oleObj name="Equation" r:id="rId6" imgW="3171901" imgH="123930" progId="Equation.3">
                  <p:embed/>
                  <p:pic>
                    <p:nvPicPr>
                      <p:cNvPr id="0" name="Object 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900113" y="3573463"/>
                        <a:ext cx="7759700" cy="4841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7286" name="Object 6"/>
          <p:cNvGraphicFramePr>
            <a:graphicFrameLocks noChangeAspect="1"/>
          </p:cNvGraphicFramePr>
          <p:nvPr>
            <p:extLst>
              <p:ext uri="{D42A27DB-BD31-4B8C-83A1-F6EECF244321}">
                <p14:modId xmlns:p14="http://schemas.microsoft.com/office/powerpoint/2010/main" val="537318557"/>
              </p:ext>
            </p:extLst>
          </p:nvPr>
        </p:nvGraphicFramePr>
        <p:xfrm>
          <a:off x="899592" y="4293096"/>
          <a:ext cx="7275513" cy="484188"/>
        </p:xfrm>
        <a:graphic>
          <a:graphicData uri="http://schemas.openxmlformats.org/presentationml/2006/ole">
            <mc:AlternateContent xmlns:mc="http://schemas.openxmlformats.org/markup-compatibility/2006">
              <mc:Choice xmlns:v="urn:schemas-microsoft-com:vml" Requires="v">
                <p:oleObj name="Equation" r:id="rId8" imgW="2971732" imgH="123930" progId="Equation.3">
                  <p:embed/>
                </p:oleObj>
              </mc:Choice>
              <mc:Fallback>
                <p:oleObj name="Equation" r:id="rId8" imgW="2971732" imgH="123930" progId="Equation.3">
                  <p:embed/>
                  <p:pic>
                    <p:nvPicPr>
                      <p:cNvPr id="0" name="Object 6"/>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899592" y="4293096"/>
                        <a:ext cx="7275513" cy="4841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7287" name="Object 7"/>
          <p:cNvGraphicFramePr>
            <a:graphicFrameLocks noChangeAspect="1"/>
          </p:cNvGraphicFramePr>
          <p:nvPr>
            <p:extLst>
              <p:ext uri="{D42A27DB-BD31-4B8C-83A1-F6EECF244321}">
                <p14:modId xmlns:p14="http://schemas.microsoft.com/office/powerpoint/2010/main" val="588518579"/>
              </p:ext>
            </p:extLst>
          </p:nvPr>
        </p:nvGraphicFramePr>
        <p:xfrm>
          <a:off x="971550" y="5084763"/>
          <a:ext cx="6335713" cy="484187"/>
        </p:xfrm>
        <a:graphic>
          <a:graphicData uri="http://schemas.openxmlformats.org/presentationml/2006/ole">
            <mc:AlternateContent xmlns:mc="http://schemas.openxmlformats.org/markup-compatibility/2006">
              <mc:Choice xmlns:v="urn:schemas-microsoft-com:vml" Requires="v">
                <p:oleObj name="Equation" r:id="rId10" imgW="2581390" imgH="123930" progId="Equation.3">
                  <p:embed/>
                </p:oleObj>
              </mc:Choice>
              <mc:Fallback>
                <p:oleObj name="Equation" r:id="rId10" imgW="2581390" imgH="123930" progId="Equation.3">
                  <p:embed/>
                  <p:pic>
                    <p:nvPicPr>
                      <p:cNvPr id="0" name="Object 7"/>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971550" y="5084763"/>
                        <a:ext cx="6335713" cy="484187"/>
                      </a:xfrm>
                      <a:prstGeom prst="rect">
                        <a:avLst/>
                      </a:prstGeom>
                      <a:noFill/>
                      <a:ln>
                        <a:solidFill>
                          <a:srgbClr val="C00000"/>
                        </a:solidFill>
                      </a:ln>
                      <a:effectLst/>
                    </p:spPr>
                  </p:pic>
                </p:oleObj>
              </mc:Fallback>
            </mc:AlternateContent>
          </a:graphicData>
        </a:graphic>
      </p:graphicFrame>
    </p:spTree>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2"/>
          <p:cNvSpPr>
            <a:spLocks noGrp="1" noChangeArrowheads="1"/>
          </p:cNvSpPr>
          <p:nvPr>
            <p:ph/>
          </p:nvPr>
        </p:nvSpPr>
        <p:spPr/>
        <p:txBody>
          <a:bodyPr/>
          <a:lstStyle/>
          <a:p>
            <a:pPr eaLnBrk="1" hangingPunct="1">
              <a:lnSpc>
                <a:spcPct val="120000"/>
              </a:lnSpc>
            </a:pPr>
            <a:r>
              <a:rPr lang="zh-CN" altLang="en-US" b="1" dirty="0">
                <a:ea typeface="华文新魏" pitchFamily="2" charset="-122"/>
              </a:rPr>
              <a:t>例</a:t>
            </a:r>
            <a:r>
              <a:rPr lang="en-US" altLang="zh-CN" b="1" dirty="0">
                <a:latin typeface="Times New Roman" pitchFamily="18" charset="0"/>
                <a:ea typeface="华文新魏" pitchFamily="2" charset="-122"/>
              </a:rPr>
              <a:t>3-18</a:t>
            </a:r>
            <a:r>
              <a:rPr lang="en-US" altLang="zh-CN" b="1" dirty="0"/>
              <a:t> </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从</a:t>
            </a:r>
            <a:r>
              <a:rPr lang="en-US" altLang="zh-CN" b="1" i="1" dirty="0">
                <a:latin typeface="Times New Roman" panose="02020603050405020304" pitchFamily="18" charset="0"/>
                <a:ea typeface="楷体" panose="02010609060101010101" pitchFamily="49" charset="-122"/>
                <a:cs typeface="Times New Roman" panose="02020603050405020304" pitchFamily="18" charset="0"/>
              </a:rPr>
              <a:t>p</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 </a:t>
            </a:r>
            <a:r>
              <a:rPr lang="en-US" altLang="zh-CN" b="1" i="1" dirty="0">
                <a:latin typeface="Times New Roman" panose="02020603050405020304" pitchFamily="18" charset="0"/>
                <a:ea typeface="楷体" panose="02010609060101010101" pitchFamily="49" charset="-122"/>
                <a:cs typeface="Times New Roman" panose="02020603050405020304" pitchFamily="18" charset="0"/>
              </a:rPr>
              <a:t>q</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 </a:t>
            </a:r>
            <a:r>
              <a:rPr lang="en-US" altLang="zh-CN" b="1" i="1" dirty="0">
                <a:latin typeface="Times New Roman" panose="02020603050405020304" pitchFamily="18" charset="0"/>
                <a:ea typeface="楷体" panose="02010609060101010101" pitchFamily="49" charset="-122"/>
                <a:cs typeface="Times New Roman" panose="02020603050405020304" pitchFamily="18" charset="0"/>
              </a:rPr>
              <a:t>r</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 </a:t>
            </a:r>
            <a:r>
              <a:rPr lang="en-US" altLang="zh-CN" b="1" i="1" dirty="0">
                <a:latin typeface="Times New Roman" panose="02020603050405020304" pitchFamily="18" charset="0"/>
                <a:ea typeface="楷体" panose="02010609060101010101" pitchFamily="49" charset="-122"/>
                <a:cs typeface="Times New Roman" panose="02020603050405020304" pitchFamily="18" charset="0"/>
              </a:rPr>
              <a:t>s</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四人中选派</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2</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人出差</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求满足下列</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3</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个条件的选派方法有哪几种</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a:t>
            </a:r>
          </a:p>
          <a:p>
            <a:pPr eaLnBrk="1" hangingPunct="1">
              <a:lnSpc>
                <a:spcPct val="120000"/>
              </a:lnSpc>
            </a:pPr>
            <a:r>
              <a:rPr lang="en-US" altLang="zh-CN" b="1" dirty="0">
                <a:latin typeface="Times New Roman" panose="02020603050405020304" pitchFamily="18" charset="0"/>
                <a:ea typeface="楷体" panose="02010609060101010101" pitchFamily="49" charset="-122"/>
                <a:cs typeface="Times New Roman" panose="02020603050405020304" pitchFamily="18" charset="0"/>
              </a:rPr>
              <a:t>(1)</a:t>
            </a:r>
            <a:r>
              <a:rPr lang="zh-Hans" altLang="en-US" b="1" dirty="0">
                <a:latin typeface="Times New Roman" panose="02020603050405020304" pitchFamily="18" charset="0"/>
                <a:ea typeface="楷体" panose="02010609060101010101" pitchFamily="49" charset="-122"/>
                <a:cs typeface="Times New Roman" panose="02020603050405020304" pitchFamily="18" charset="0"/>
              </a:rPr>
              <a:t> </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若</a:t>
            </a:r>
            <a:r>
              <a:rPr lang="en-US" altLang="zh-CN" b="1" i="1" dirty="0">
                <a:latin typeface="Times New Roman" panose="02020603050405020304" pitchFamily="18" charset="0"/>
                <a:ea typeface="楷体" panose="02010609060101010101" pitchFamily="49" charset="-122"/>
                <a:cs typeface="Times New Roman" panose="02020603050405020304" pitchFamily="18" charset="0"/>
              </a:rPr>
              <a:t>p</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去</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则</a:t>
            </a:r>
            <a:r>
              <a:rPr lang="en-US" altLang="zh-CN" b="1" i="1" dirty="0">
                <a:latin typeface="Times New Roman" panose="02020603050405020304" pitchFamily="18" charset="0"/>
                <a:ea typeface="楷体" panose="02010609060101010101" pitchFamily="49" charset="-122"/>
                <a:cs typeface="Times New Roman" panose="02020603050405020304" pitchFamily="18" charset="0"/>
              </a:rPr>
              <a:t>r</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和</a:t>
            </a:r>
            <a:r>
              <a:rPr lang="en-US" altLang="zh-CN" b="1" i="1" dirty="0">
                <a:latin typeface="Times New Roman" panose="02020603050405020304" pitchFamily="18" charset="0"/>
                <a:ea typeface="楷体" panose="02010609060101010101" pitchFamily="49" charset="-122"/>
                <a:cs typeface="Times New Roman" panose="02020603050405020304" pitchFamily="18" charset="0"/>
              </a:rPr>
              <a:t>s</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中只去</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1</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人；</a:t>
            </a:r>
          </a:p>
          <a:p>
            <a:pPr eaLnBrk="1" hangingPunct="1">
              <a:lnSpc>
                <a:spcPct val="120000"/>
              </a:lnSpc>
            </a:pPr>
            <a:r>
              <a:rPr lang="en-US" altLang="zh-CN" b="1" dirty="0">
                <a:latin typeface="Times New Roman" panose="02020603050405020304" pitchFamily="18" charset="0"/>
                <a:ea typeface="楷体" panose="02010609060101010101" pitchFamily="49" charset="-122"/>
                <a:cs typeface="Times New Roman" panose="02020603050405020304" pitchFamily="18" charset="0"/>
              </a:rPr>
              <a:t>(2)</a:t>
            </a:r>
            <a:r>
              <a:rPr lang="zh-Hans" altLang="en-US" b="1" dirty="0">
                <a:latin typeface="Times New Roman" panose="02020603050405020304" pitchFamily="18" charset="0"/>
                <a:ea typeface="楷体" panose="02010609060101010101" pitchFamily="49" charset="-122"/>
                <a:cs typeface="Times New Roman" panose="02020603050405020304" pitchFamily="18" charset="0"/>
              </a:rPr>
              <a:t> </a:t>
            </a:r>
            <a:r>
              <a:rPr lang="en-US" altLang="zh-CN" b="1" i="1" dirty="0">
                <a:latin typeface="Times New Roman" panose="02020603050405020304" pitchFamily="18" charset="0"/>
                <a:ea typeface="楷体" panose="02010609060101010101" pitchFamily="49" charset="-122"/>
                <a:cs typeface="Times New Roman" panose="02020603050405020304" pitchFamily="18" charset="0"/>
              </a:rPr>
              <a:t>q</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和</a:t>
            </a:r>
            <a:r>
              <a:rPr lang="en-US" altLang="zh-CN" b="1" i="1" dirty="0">
                <a:latin typeface="Times New Roman" panose="02020603050405020304" pitchFamily="18" charset="0"/>
                <a:ea typeface="楷体" panose="02010609060101010101" pitchFamily="49" charset="-122"/>
                <a:cs typeface="Times New Roman" panose="02020603050405020304" pitchFamily="18" charset="0"/>
              </a:rPr>
              <a:t>r</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不能都去；</a:t>
            </a:r>
          </a:p>
          <a:p>
            <a:pPr eaLnBrk="1" hangingPunct="1">
              <a:lnSpc>
                <a:spcPct val="120000"/>
              </a:lnSpc>
            </a:pPr>
            <a:r>
              <a:rPr lang="en-US" altLang="zh-CN" b="1" dirty="0">
                <a:latin typeface="Times New Roman" panose="02020603050405020304" pitchFamily="18" charset="0"/>
                <a:ea typeface="楷体" panose="02010609060101010101" pitchFamily="49" charset="-122"/>
                <a:cs typeface="Times New Roman" panose="02020603050405020304" pitchFamily="18" charset="0"/>
              </a:rPr>
              <a:t>(3)</a:t>
            </a:r>
            <a:r>
              <a:rPr lang="zh-Hans" altLang="en-US" b="1" dirty="0">
                <a:latin typeface="Times New Roman" panose="02020603050405020304" pitchFamily="18" charset="0"/>
                <a:ea typeface="楷体" panose="02010609060101010101" pitchFamily="49" charset="-122"/>
                <a:cs typeface="Times New Roman" panose="02020603050405020304" pitchFamily="18" charset="0"/>
              </a:rPr>
              <a:t> </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若</a:t>
            </a:r>
            <a:r>
              <a:rPr lang="en-US" altLang="zh-CN" b="1" i="1" dirty="0">
                <a:latin typeface="Times New Roman" panose="02020603050405020304" pitchFamily="18" charset="0"/>
                <a:ea typeface="楷体" panose="02010609060101010101" pitchFamily="49" charset="-122"/>
                <a:cs typeface="Times New Roman" panose="02020603050405020304" pitchFamily="18" charset="0"/>
              </a:rPr>
              <a:t>r</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去</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 </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则</a:t>
            </a:r>
            <a:r>
              <a:rPr lang="en-US" altLang="zh-CN" b="1" i="1" dirty="0">
                <a:latin typeface="Times New Roman" panose="02020603050405020304" pitchFamily="18" charset="0"/>
                <a:ea typeface="楷体" panose="02010609060101010101" pitchFamily="49" charset="-122"/>
                <a:cs typeface="Times New Roman" panose="02020603050405020304" pitchFamily="18" charset="0"/>
              </a:rPr>
              <a:t>s</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不能去</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a:t>
            </a:r>
          </a:p>
          <a:p>
            <a:pPr eaLnBrk="1" hangingPunct="1">
              <a:lnSpc>
                <a:spcPct val="120000"/>
              </a:lnSpc>
            </a:pPr>
            <a:r>
              <a:rPr lang="en-US" altLang="zh-CN" b="1" dirty="0">
                <a:latin typeface="Times New Roman" panose="02020603050405020304" pitchFamily="18" charset="0"/>
                <a:ea typeface="楷体" panose="02010609060101010101" pitchFamily="49" charset="-122"/>
                <a:cs typeface="Times New Roman" panose="02020603050405020304" pitchFamily="18" charset="0"/>
              </a:rPr>
              <a:t>Solution </a:t>
            </a:r>
            <a:r>
              <a:rPr lang="en-US" altLang="zh-CN" b="1" i="1" dirty="0">
                <a:latin typeface="Times New Roman" panose="02020603050405020304" pitchFamily="18" charset="0"/>
                <a:ea typeface="楷体" panose="02010609060101010101" pitchFamily="49" charset="-122"/>
                <a:cs typeface="Times New Roman" panose="02020603050405020304" pitchFamily="18" charset="0"/>
              </a:rPr>
              <a:t>p</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 </a:t>
            </a:r>
            <a:r>
              <a:rPr lang="en-US" altLang="zh-CN" b="1" i="1" dirty="0">
                <a:latin typeface="Times New Roman" panose="02020603050405020304" pitchFamily="18" charset="0"/>
                <a:ea typeface="楷体" panose="02010609060101010101" pitchFamily="49" charset="-122"/>
                <a:cs typeface="Times New Roman" panose="02020603050405020304" pitchFamily="18" charset="0"/>
              </a:rPr>
              <a:t>p</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去出差</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 </a:t>
            </a:r>
            <a:r>
              <a:rPr lang="en-US" altLang="zh-CN" b="1" i="1" dirty="0">
                <a:latin typeface="Times New Roman" panose="02020603050405020304" pitchFamily="18" charset="0"/>
                <a:ea typeface="楷体" panose="02010609060101010101" pitchFamily="49" charset="-122"/>
                <a:cs typeface="Times New Roman" panose="02020603050405020304" pitchFamily="18" charset="0"/>
              </a:rPr>
              <a:t>q</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 </a:t>
            </a:r>
            <a:r>
              <a:rPr lang="en-US" altLang="zh-CN" b="1" i="1" dirty="0">
                <a:latin typeface="Times New Roman" panose="02020603050405020304" pitchFamily="18" charset="0"/>
                <a:ea typeface="楷体" panose="02010609060101010101" pitchFamily="49" charset="-122"/>
                <a:cs typeface="Times New Roman" panose="02020603050405020304" pitchFamily="18" charset="0"/>
              </a:rPr>
              <a:t>q</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去出差</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 </a:t>
            </a:r>
            <a:r>
              <a:rPr lang="en-US" altLang="zh-CN" b="1" i="1" dirty="0">
                <a:latin typeface="Times New Roman" panose="02020603050405020304" pitchFamily="18" charset="0"/>
                <a:ea typeface="楷体" panose="02010609060101010101" pitchFamily="49" charset="-122"/>
                <a:cs typeface="Times New Roman" panose="02020603050405020304" pitchFamily="18" charset="0"/>
              </a:rPr>
              <a:t>r</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 </a:t>
            </a:r>
            <a:r>
              <a:rPr lang="en-US" altLang="zh-CN" b="1" i="1" dirty="0">
                <a:latin typeface="Times New Roman" panose="02020603050405020304" pitchFamily="18" charset="0"/>
                <a:ea typeface="楷体" panose="02010609060101010101" pitchFamily="49" charset="-122"/>
                <a:cs typeface="Times New Roman" panose="02020603050405020304" pitchFamily="18" charset="0"/>
              </a:rPr>
              <a:t>r</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去出差</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 </a:t>
            </a:r>
            <a:r>
              <a:rPr lang="en-US" altLang="zh-CN" b="1" i="1" dirty="0">
                <a:latin typeface="Times New Roman" panose="02020603050405020304" pitchFamily="18" charset="0"/>
                <a:ea typeface="楷体" panose="02010609060101010101" pitchFamily="49" charset="-122"/>
                <a:cs typeface="Times New Roman" panose="02020603050405020304" pitchFamily="18" charset="0"/>
              </a:rPr>
              <a:t>s</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 </a:t>
            </a:r>
            <a:r>
              <a:rPr lang="en-US" altLang="zh-CN" b="1" i="1" dirty="0">
                <a:latin typeface="Times New Roman" panose="02020603050405020304" pitchFamily="18" charset="0"/>
                <a:ea typeface="楷体" panose="02010609060101010101" pitchFamily="49" charset="-122"/>
                <a:cs typeface="Times New Roman" panose="02020603050405020304" pitchFamily="18" charset="0"/>
              </a:rPr>
              <a:t>s</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去出差</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则</a:t>
            </a:r>
          </a:p>
          <a:p>
            <a:pPr eaLnBrk="1" hangingPunct="1">
              <a:lnSpc>
                <a:spcPct val="120000"/>
              </a:lnSpc>
            </a:pPr>
            <a:r>
              <a:rPr lang="en-US" altLang="zh-CN" b="1" dirty="0">
                <a:latin typeface="Times New Roman" pitchFamily="18" charset="0"/>
              </a:rPr>
              <a:t>(1)</a:t>
            </a:r>
          </a:p>
          <a:p>
            <a:pPr eaLnBrk="1" hangingPunct="1">
              <a:lnSpc>
                <a:spcPct val="120000"/>
              </a:lnSpc>
            </a:pPr>
            <a:r>
              <a:rPr lang="en-US" altLang="zh-CN" b="1" dirty="0">
                <a:latin typeface="Times New Roman" pitchFamily="18" charset="0"/>
              </a:rPr>
              <a:t>(2)</a:t>
            </a:r>
          </a:p>
          <a:p>
            <a:pPr eaLnBrk="1" hangingPunct="1">
              <a:lnSpc>
                <a:spcPct val="120000"/>
              </a:lnSpc>
            </a:pPr>
            <a:r>
              <a:rPr lang="en-US" altLang="zh-CN" b="1" dirty="0">
                <a:latin typeface="Times New Roman" pitchFamily="18" charset="0"/>
              </a:rPr>
              <a:t>(3)</a:t>
            </a:r>
          </a:p>
        </p:txBody>
      </p:sp>
      <p:graphicFrame>
        <p:nvGraphicFramePr>
          <p:cNvPr id="98307" name="Object 3"/>
          <p:cNvGraphicFramePr>
            <a:graphicFrameLocks noChangeAspect="1"/>
          </p:cNvGraphicFramePr>
          <p:nvPr>
            <p:extLst>
              <p:ext uri="{D42A27DB-BD31-4B8C-83A1-F6EECF244321}">
                <p14:modId xmlns:p14="http://schemas.microsoft.com/office/powerpoint/2010/main" val="2111733078"/>
              </p:ext>
            </p:extLst>
          </p:nvPr>
        </p:nvGraphicFramePr>
        <p:xfrm>
          <a:off x="1403350" y="4961036"/>
          <a:ext cx="2520578" cy="484188"/>
        </p:xfrm>
        <a:graphic>
          <a:graphicData uri="http://schemas.openxmlformats.org/presentationml/2006/ole">
            <mc:AlternateContent xmlns:mc="http://schemas.openxmlformats.org/markup-compatibility/2006">
              <mc:Choice xmlns:v="urn:schemas-microsoft-com:vml" Requires="v">
                <p:oleObj name="Equation" r:id="rId2" imgW="723956" imgH="123930" progId="Equation.3">
                  <p:embed/>
                </p:oleObj>
              </mc:Choice>
              <mc:Fallback>
                <p:oleObj name="Equation" r:id="rId2" imgW="723956" imgH="123930" progId="Equation.3">
                  <p:embed/>
                  <p:pic>
                    <p:nvPicPr>
                      <p:cNvPr id="0" name="Object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03350" y="4961036"/>
                        <a:ext cx="2520578" cy="484188"/>
                      </a:xfrm>
                      <a:prstGeom prst="rect">
                        <a:avLst/>
                      </a:prstGeom>
                      <a:noFill/>
                      <a:ln>
                        <a:noFill/>
                      </a:ln>
                      <a:effectLst/>
                    </p:spPr>
                  </p:pic>
                </p:oleObj>
              </mc:Fallback>
            </mc:AlternateContent>
          </a:graphicData>
        </a:graphic>
      </p:graphicFrame>
      <p:graphicFrame>
        <p:nvGraphicFramePr>
          <p:cNvPr id="98308" name="Object 4"/>
          <p:cNvGraphicFramePr>
            <a:graphicFrameLocks noChangeAspect="1"/>
          </p:cNvGraphicFramePr>
          <p:nvPr>
            <p:extLst>
              <p:ext uri="{D42A27DB-BD31-4B8C-83A1-F6EECF244321}">
                <p14:modId xmlns:p14="http://schemas.microsoft.com/office/powerpoint/2010/main" val="2031807472"/>
              </p:ext>
            </p:extLst>
          </p:nvPr>
        </p:nvGraphicFramePr>
        <p:xfrm>
          <a:off x="1548383" y="5661025"/>
          <a:ext cx="1799481" cy="484188"/>
        </p:xfrm>
        <a:graphic>
          <a:graphicData uri="http://schemas.openxmlformats.org/presentationml/2006/ole">
            <mc:AlternateContent xmlns:mc="http://schemas.openxmlformats.org/markup-compatibility/2006">
              <mc:Choice xmlns:v="urn:schemas-microsoft-com:vml" Requires="v">
                <p:oleObj name="Equation" r:id="rId4" imgW="504878" imgH="123930" progId="Equation.3">
                  <p:embed/>
                </p:oleObj>
              </mc:Choice>
              <mc:Fallback>
                <p:oleObj name="Equation" r:id="rId4" imgW="504878" imgH="123930" progId="Equation.3">
                  <p:embed/>
                  <p:pic>
                    <p:nvPicPr>
                      <p:cNvPr id="0"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48383" y="5661025"/>
                        <a:ext cx="1799481" cy="484188"/>
                      </a:xfrm>
                      <a:prstGeom prst="rect">
                        <a:avLst/>
                      </a:prstGeom>
                      <a:noFill/>
                      <a:ln>
                        <a:noFill/>
                      </a:ln>
                      <a:effectLst/>
                    </p:spPr>
                  </p:pic>
                </p:oleObj>
              </mc:Fallback>
            </mc:AlternateContent>
          </a:graphicData>
        </a:graphic>
      </p:graphicFrame>
      <p:graphicFrame>
        <p:nvGraphicFramePr>
          <p:cNvPr id="98309" name="Object 5"/>
          <p:cNvGraphicFramePr>
            <a:graphicFrameLocks noChangeAspect="1"/>
          </p:cNvGraphicFramePr>
          <p:nvPr>
            <p:extLst>
              <p:ext uri="{D42A27DB-BD31-4B8C-83A1-F6EECF244321}">
                <p14:modId xmlns:p14="http://schemas.microsoft.com/office/powerpoint/2010/main" val="490535900"/>
              </p:ext>
            </p:extLst>
          </p:nvPr>
        </p:nvGraphicFramePr>
        <p:xfrm>
          <a:off x="1476375" y="6471944"/>
          <a:ext cx="1943497" cy="347438"/>
        </p:xfrm>
        <a:graphic>
          <a:graphicData uri="http://schemas.openxmlformats.org/presentationml/2006/ole">
            <mc:AlternateContent xmlns:mc="http://schemas.openxmlformats.org/markup-compatibility/2006">
              <mc:Choice xmlns:v="urn:schemas-microsoft-com:vml" Requires="v">
                <p:oleObj name="Equation" r:id="rId6" imgW="447610" imgH="66690" progId="Equation.3">
                  <p:embed/>
                </p:oleObj>
              </mc:Choice>
              <mc:Fallback>
                <p:oleObj name="Equation" r:id="rId6" imgW="447610" imgH="66690" progId="Equation.3">
                  <p:embed/>
                  <p:pic>
                    <p:nvPicPr>
                      <p:cNvPr id="0" name="Object 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476375" y="6471944"/>
                        <a:ext cx="1943497" cy="347438"/>
                      </a:xfrm>
                      <a:prstGeom prst="rect">
                        <a:avLst/>
                      </a:prstGeom>
                      <a:noFill/>
                      <a:ln>
                        <a:noFill/>
                      </a:ln>
                      <a:effectLst/>
                    </p:spPr>
                  </p:pic>
                </p:oleObj>
              </mc:Fallback>
            </mc:AlternateContent>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8306">
                                            <p:txEl>
                                              <p:pRg st="5" end="5"/>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830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8306">
                                            <p:txEl>
                                              <p:pRg st="6" end="6"/>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9830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98306">
                                            <p:txEl>
                                              <p:pRg st="7" end="7"/>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9830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Rectangle 2"/>
          <p:cNvSpPr>
            <a:spLocks noGrp="1" noChangeArrowheads="1"/>
          </p:cNvSpPr>
          <p:nvPr>
            <p:ph/>
          </p:nvPr>
        </p:nvSpPr>
        <p:spPr/>
        <p:txBody>
          <a:bodyPr/>
          <a:lstStyle/>
          <a:p>
            <a:pPr eaLnBrk="1" hangingPunct="1"/>
            <a:endParaRPr lang="en-US" altLang="zh-CN" dirty="0"/>
          </a:p>
          <a:p>
            <a:pPr eaLnBrk="1" hangingPunct="1"/>
            <a:endParaRPr lang="en-US" altLang="zh-CN" dirty="0"/>
          </a:p>
          <a:p>
            <a:pPr eaLnBrk="1" hangingPunct="1"/>
            <a:endParaRPr lang="en-US" altLang="zh-CN" dirty="0"/>
          </a:p>
          <a:p>
            <a:pPr eaLnBrk="1" hangingPunct="1"/>
            <a:endParaRPr lang="en-US" altLang="zh-CN" dirty="0"/>
          </a:p>
          <a:p>
            <a:pPr eaLnBrk="1" hangingPunct="1">
              <a:lnSpc>
                <a:spcPct val="120000"/>
              </a:lnSpc>
            </a:pPr>
            <a:r>
              <a:rPr lang="en-US" altLang="zh-CN" b="1" dirty="0">
                <a:latin typeface="Times New Roman" panose="02020603050405020304" pitchFamily="18" charset="0"/>
                <a:ea typeface="楷体" panose="02010609060101010101" pitchFamily="49" charset="-122"/>
                <a:cs typeface="Times New Roman" panose="02020603050405020304" pitchFamily="18" charset="0"/>
              </a:rPr>
              <a:t>(a)</a:t>
            </a:r>
            <a:r>
              <a:rPr lang="en-US" altLang="zh-CN" b="1" i="1" dirty="0">
                <a:latin typeface="Times New Roman" panose="02020603050405020304" pitchFamily="18" charset="0"/>
                <a:ea typeface="楷体" panose="02010609060101010101" pitchFamily="49" charset="-122"/>
                <a:cs typeface="Times New Roman" panose="02020603050405020304" pitchFamily="18" charset="0"/>
              </a:rPr>
              <a:t>p</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 </a:t>
            </a:r>
            <a:r>
              <a:rPr lang="en-US" altLang="zh-CN" b="1" i="1" dirty="0">
                <a:latin typeface="Times New Roman" panose="02020603050405020304" pitchFamily="18" charset="0"/>
                <a:ea typeface="楷体" panose="02010609060101010101" pitchFamily="49" charset="-122"/>
                <a:cs typeface="Times New Roman" panose="02020603050405020304" pitchFamily="18" charset="0"/>
              </a:rPr>
              <a:t>s</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去</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a:t>
            </a:r>
          </a:p>
          <a:p>
            <a:pPr eaLnBrk="1" hangingPunct="1">
              <a:lnSpc>
                <a:spcPct val="120000"/>
              </a:lnSpc>
            </a:pPr>
            <a:r>
              <a:rPr lang="en-US" altLang="zh-CN" b="1" dirty="0">
                <a:latin typeface="Times New Roman" panose="02020603050405020304" pitchFamily="18" charset="0"/>
                <a:ea typeface="楷体" panose="02010609060101010101" pitchFamily="49" charset="-122"/>
                <a:cs typeface="Times New Roman" panose="02020603050405020304" pitchFamily="18" charset="0"/>
              </a:rPr>
              <a:t>(b)</a:t>
            </a:r>
            <a:r>
              <a:rPr lang="en-US" altLang="zh-CN" b="1" i="1" dirty="0">
                <a:latin typeface="Times New Roman" panose="02020603050405020304" pitchFamily="18" charset="0"/>
                <a:ea typeface="楷体" panose="02010609060101010101" pitchFamily="49" charset="-122"/>
                <a:cs typeface="Times New Roman" panose="02020603050405020304" pitchFamily="18" charset="0"/>
              </a:rPr>
              <a:t>q</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 </a:t>
            </a:r>
            <a:r>
              <a:rPr lang="en-US" altLang="zh-CN" b="1" i="1" dirty="0">
                <a:latin typeface="Times New Roman" panose="02020603050405020304" pitchFamily="18" charset="0"/>
                <a:ea typeface="楷体" panose="02010609060101010101" pitchFamily="49" charset="-122"/>
                <a:cs typeface="Times New Roman" panose="02020603050405020304" pitchFamily="18" charset="0"/>
              </a:rPr>
              <a:t>s</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去</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a:t>
            </a:r>
          </a:p>
          <a:p>
            <a:pPr eaLnBrk="1" hangingPunct="1">
              <a:lnSpc>
                <a:spcPct val="120000"/>
              </a:lnSpc>
            </a:pPr>
            <a:r>
              <a:rPr lang="en-US" altLang="zh-CN" b="1" dirty="0">
                <a:latin typeface="Times New Roman" panose="02020603050405020304" pitchFamily="18" charset="0"/>
                <a:ea typeface="楷体" panose="02010609060101010101" pitchFamily="49" charset="-122"/>
                <a:cs typeface="Times New Roman" panose="02020603050405020304" pitchFamily="18" charset="0"/>
              </a:rPr>
              <a:t>(c)</a:t>
            </a:r>
            <a:r>
              <a:rPr lang="en-US" altLang="zh-CN" b="1" i="1" dirty="0">
                <a:latin typeface="Times New Roman" panose="02020603050405020304" pitchFamily="18" charset="0"/>
                <a:ea typeface="楷体" panose="02010609060101010101" pitchFamily="49" charset="-122"/>
                <a:cs typeface="Times New Roman" panose="02020603050405020304" pitchFamily="18" charset="0"/>
              </a:rPr>
              <a:t>p</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 </a:t>
            </a:r>
            <a:r>
              <a:rPr lang="en-US" altLang="zh-CN" b="1" i="1" dirty="0">
                <a:latin typeface="Times New Roman" panose="02020603050405020304" pitchFamily="18" charset="0"/>
                <a:ea typeface="楷体" panose="02010609060101010101" pitchFamily="49" charset="-122"/>
                <a:cs typeface="Times New Roman" panose="02020603050405020304" pitchFamily="18" charset="0"/>
              </a:rPr>
              <a:t>r</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去</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a:t>
            </a:r>
          </a:p>
        </p:txBody>
      </p:sp>
      <p:graphicFrame>
        <p:nvGraphicFramePr>
          <p:cNvPr id="99331" name="Object 3"/>
          <p:cNvGraphicFramePr>
            <a:graphicFrameLocks noChangeAspect="1"/>
          </p:cNvGraphicFramePr>
          <p:nvPr/>
        </p:nvGraphicFramePr>
        <p:xfrm>
          <a:off x="1187450" y="620713"/>
          <a:ext cx="5940425" cy="1573212"/>
        </p:xfrm>
        <a:graphic>
          <a:graphicData uri="http://schemas.openxmlformats.org/presentationml/2006/ole">
            <mc:AlternateContent xmlns:mc="http://schemas.openxmlformats.org/markup-compatibility/2006">
              <mc:Choice xmlns:v="urn:schemas-microsoft-com:vml" Requires="v">
                <p:oleObj name="Equation" r:id="rId2" imgW="2409856" imgH="581040" progId="Equation.3">
                  <p:embed/>
                </p:oleObj>
              </mc:Choice>
              <mc:Fallback>
                <p:oleObj name="Equation" r:id="rId2" imgW="2409856" imgH="581040" progId="Equation.3">
                  <p:embed/>
                  <p:pic>
                    <p:nvPicPr>
                      <p:cNvPr id="0" name="Object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87450" y="620713"/>
                        <a:ext cx="5940425" cy="1573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Rectangle 2"/>
          <p:cNvSpPr>
            <a:spLocks noGrp="1" noChangeArrowheads="1"/>
          </p:cNvSpPr>
          <p:nvPr>
            <p:ph/>
          </p:nvPr>
        </p:nvSpPr>
        <p:spPr/>
        <p:txBody>
          <a:bodyPr/>
          <a:lstStyle/>
          <a:p>
            <a:pPr eaLnBrk="1" hangingPunct="1">
              <a:lnSpc>
                <a:spcPct val="120000"/>
              </a:lnSpc>
            </a:pPr>
            <a:r>
              <a:rPr lang="en-US" altLang="zh-CN" b="1" dirty="0">
                <a:latin typeface="Times New Roman" pitchFamily="18" charset="0"/>
              </a:rPr>
              <a:t>3.5.2 </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命题公式的主析取范式及主合取范式</a:t>
            </a:r>
          </a:p>
          <a:p>
            <a:pPr eaLnBrk="1" hangingPunct="1">
              <a:lnSpc>
                <a:spcPct val="120000"/>
              </a:lnSpc>
            </a:pPr>
            <a:r>
              <a:rPr lang="zh-CN" altLang="en-US" b="1" dirty="0">
                <a:latin typeface="Times New Roman" panose="02020603050405020304" pitchFamily="18" charset="0"/>
                <a:ea typeface="楷体" panose="02010609060101010101" pitchFamily="49" charset="-122"/>
                <a:cs typeface="Times New Roman" panose="02020603050405020304" pitchFamily="18" charset="0"/>
              </a:rPr>
              <a:t>一般来说</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 </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命题公式的析取范式及合取范式</a:t>
            </a:r>
            <a:r>
              <a:rPr lang="zh-CN" altLang="en-US" b="1" dirty="0">
                <a:solidFill>
                  <a:srgbClr val="1829A6"/>
                </a:solidFill>
                <a:latin typeface="STXinwei" panose="02010800040101010101" pitchFamily="2" charset="-122"/>
                <a:ea typeface="STXinwei" panose="02010800040101010101" pitchFamily="2" charset="-122"/>
                <a:cs typeface="Times New Roman" panose="02020603050405020304" pitchFamily="18" charset="0"/>
              </a:rPr>
              <a:t>不是唯一的</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 </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如</a:t>
            </a:r>
            <a:r>
              <a:rPr lang="en-US" altLang="zh-CN" b="1" i="1" dirty="0">
                <a:latin typeface="Times New Roman" panose="02020603050405020304" pitchFamily="18" charset="0"/>
                <a:ea typeface="楷体" panose="02010609060101010101" pitchFamily="49" charset="-122"/>
                <a:cs typeface="Times New Roman" panose="02020603050405020304" pitchFamily="18" charset="0"/>
              </a:rPr>
              <a:t>A</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 = (</a:t>
            </a:r>
            <a:r>
              <a:rPr lang="en-US" altLang="zh-CN" b="1" i="1" dirty="0">
                <a:latin typeface="Times New Roman" panose="02020603050405020304" pitchFamily="18" charset="0"/>
                <a:ea typeface="楷体" panose="02010609060101010101" pitchFamily="49" charset="-122"/>
                <a:cs typeface="Times New Roman" panose="02020603050405020304" pitchFamily="18" charset="0"/>
              </a:rPr>
              <a:t>p </a:t>
            </a:r>
            <a:r>
              <a:rPr lang="en-US" altLang="zh-CN" b="1" dirty="0">
                <a:latin typeface="Times New Roman" panose="02020603050405020304" pitchFamily="18" charset="0"/>
                <a:ea typeface="楷体" panose="02010609060101010101" pitchFamily="49" charset="-122"/>
                <a:cs typeface="Times New Roman" panose="02020603050405020304" pitchFamily="18" charset="0"/>
                <a:sym typeface="Symbol" pitchFamily="18" charset="2"/>
              </a:rPr>
              <a:t> </a:t>
            </a:r>
            <a:r>
              <a:rPr lang="en-US" altLang="zh-CN" b="1" i="1" dirty="0">
                <a:latin typeface="Times New Roman" panose="02020603050405020304" pitchFamily="18" charset="0"/>
                <a:ea typeface="楷体" panose="02010609060101010101" pitchFamily="49" charset="-122"/>
                <a:cs typeface="Times New Roman" panose="02020603050405020304" pitchFamily="18" charset="0"/>
              </a:rPr>
              <a:t>q</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 </a:t>
            </a:r>
            <a:r>
              <a:rPr lang="en-US" altLang="zh-CN" b="1" dirty="0">
                <a:latin typeface="Times New Roman" panose="02020603050405020304" pitchFamily="18" charset="0"/>
                <a:ea typeface="楷体" panose="02010609060101010101" pitchFamily="49" charset="-122"/>
                <a:cs typeface="Times New Roman" panose="02020603050405020304" pitchFamily="18" charset="0"/>
                <a:sym typeface="Symbol" pitchFamily="18" charset="2"/>
              </a:rPr>
              <a:t> (</a:t>
            </a:r>
            <a:r>
              <a:rPr lang="en-US" altLang="zh-CN" b="1" i="1" dirty="0">
                <a:latin typeface="Times New Roman" panose="02020603050405020304" pitchFamily="18" charset="0"/>
                <a:ea typeface="楷体" panose="02010609060101010101" pitchFamily="49" charset="-122"/>
                <a:cs typeface="Times New Roman" panose="02020603050405020304" pitchFamily="18" charset="0"/>
              </a:rPr>
              <a:t>p </a:t>
            </a:r>
            <a:r>
              <a:rPr lang="en-US" altLang="zh-CN" b="1" dirty="0">
                <a:latin typeface="Times New Roman" panose="02020603050405020304" pitchFamily="18" charset="0"/>
                <a:ea typeface="楷体" panose="02010609060101010101" pitchFamily="49" charset="-122"/>
                <a:cs typeface="Times New Roman" panose="02020603050405020304" pitchFamily="18" charset="0"/>
                <a:sym typeface="Symbol" pitchFamily="18" charset="2"/>
              </a:rPr>
              <a:t> </a:t>
            </a:r>
            <a:r>
              <a:rPr lang="en-US" altLang="zh-CN" b="1" i="1" dirty="0">
                <a:latin typeface="Times New Roman" panose="02020603050405020304" pitchFamily="18" charset="0"/>
                <a:ea typeface="楷体" panose="02010609060101010101" pitchFamily="49" charset="-122"/>
                <a:cs typeface="Times New Roman" panose="02020603050405020304" pitchFamily="18" charset="0"/>
              </a:rPr>
              <a:t>q</a:t>
            </a:r>
            <a:r>
              <a:rPr lang="en-US" altLang="zh-CN" b="1" dirty="0">
                <a:latin typeface="Times New Roman" panose="02020603050405020304" pitchFamily="18" charset="0"/>
                <a:ea typeface="楷体" panose="02010609060101010101" pitchFamily="49" charset="-122"/>
                <a:cs typeface="Times New Roman" panose="02020603050405020304" pitchFamily="18" charset="0"/>
                <a:sym typeface="Symbol" pitchFamily="18" charset="2"/>
              </a:rPr>
              <a:t>) = </a:t>
            </a:r>
            <a:r>
              <a:rPr lang="en-US" altLang="zh-CN" b="1" i="1" dirty="0">
                <a:latin typeface="Times New Roman" panose="02020603050405020304" pitchFamily="18" charset="0"/>
                <a:ea typeface="楷体" panose="02010609060101010101" pitchFamily="49" charset="-122"/>
                <a:cs typeface="Times New Roman" panose="02020603050405020304" pitchFamily="18" charset="0"/>
                <a:sym typeface="Symbol" pitchFamily="18" charset="2"/>
              </a:rPr>
              <a:t>p</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都是</a:t>
            </a:r>
            <a:r>
              <a:rPr lang="en-US" altLang="zh-CN" b="1" i="1" dirty="0">
                <a:latin typeface="Times New Roman" panose="02020603050405020304" pitchFamily="18" charset="0"/>
                <a:ea typeface="楷体" panose="02010609060101010101" pitchFamily="49" charset="-122"/>
                <a:cs typeface="Times New Roman" panose="02020603050405020304" pitchFamily="18" charset="0"/>
              </a:rPr>
              <a:t>A</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的析取范式</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 </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下面讨论</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 </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给定命题公式的唯一的标准形式：主析取范式以及主合取范式</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a:t>
            </a:r>
          </a:p>
          <a:p>
            <a:pPr eaLnBrk="1" hangingPunct="1">
              <a:lnSpc>
                <a:spcPct val="120000"/>
              </a:lnSpc>
            </a:pPr>
            <a:r>
              <a:rPr lang="zh-CN" altLang="en-US" b="1" dirty="0">
                <a:latin typeface="Times New Roman" panose="02020603050405020304" pitchFamily="18" charset="0"/>
                <a:ea typeface="楷体" panose="02010609060101010101" pitchFamily="49" charset="-122"/>
                <a:cs typeface="Times New Roman" panose="02020603050405020304" pitchFamily="18" charset="0"/>
              </a:rPr>
              <a:t>给定命题公式</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 </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从</a:t>
            </a:r>
            <a:r>
              <a:rPr lang="en-US" altLang="zh-CN" b="1" i="1" dirty="0">
                <a:latin typeface="Times New Roman" panose="02020603050405020304" pitchFamily="18" charset="0"/>
                <a:ea typeface="楷体" panose="02010609060101010101" pitchFamily="49" charset="-122"/>
                <a:cs typeface="Times New Roman" panose="02020603050405020304" pitchFamily="18" charset="0"/>
              </a:rPr>
              <a:t>A</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中命题变元产生的最小项和最大项的角度来讨论</a:t>
            </a:r>
            <a:r>
              <a:rPr lang="en-US" altLang="zh-CN" b="1" i="1" dirty="0">
                <a:latin typeface="Times New Roman" panose="02020603050405020304" pitchFamily="18" charset="0"/>
                <a:ea typeface="楷体" panose="02010609060101010101" pitchFamily="49" charset="-122"/>
                <a:cs typeface="Times New Roman" panose="02020603050405020304" pitchFamily="18" charset="0"/>
              </a:rPr>
              <a:t>A</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的主析取范式及主合取范式</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 </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在逻辑电路中也会讨论其相应的标准形式</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a:t>
            </a:r>
          </a:p>
        </p:txBody>
      </p:sp>
    </p:spTree>
  </p:cSld>
  <p:clrMapOvr>
    <a:masterClrMapping/>
  </p:clrMapOv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2"/>
          <p:cNvSpPr>
            <a:spLocks noGrp="1" noChangeArrowheads="1"/>
          </p:cNvSpPr>
          <p:nvPr>
            <p:ph/>
          </p:nvPr>
        </p:nvSpPr>
        <p:spPr>
          <a:xfrm>
            <a:off x="215008" y="25747"/>
            <a:ext cx="8424936" cy="5851525"/>
          </a:xfrm>
        </p:spPr>
        <p:txBody>
          <a:bodyPr/>
          <a:lstStyle/>
          <a:p>
            <a:pPr eaLnBrk="1" hangingPunct="1">
              <a:lnSpc>
                <a:spcPct val="120000"/>
              </a:lnSpc>
            </a:pPr>
            <a:r>
              <a:rPr lang="en-US" altLang="zh-CN" b="1" dirty="0">
                <a:latin typeface="Times New Roman" pitchFamily="18" charset="0"/>
              </a:rPr>
              <a:t>(1)</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主析取范式</a:t>
            </a:r>
          </a:p>
          <a:p>
            <a:pPr eaLnBrk="1" hangingPunct="1">
              <a:lnSpc>
                <a:spcPct val="120000"/>
              </a:lnSpc>
            </a:pPr>
            <a:r>
              <a:rPr lang="en-US" altLang="zh-CN" b="1" dirty="0" err="1">
                <a:latin typeface="Times New Roman" panose="02020603050405020304" pitchFamily="18" charset="0"/>
                <a:ea typeface="楷体" panose="02010609060101010101" pitchFamily="49" charset="-122"/>
                <a:cs typeface="Times New Roman" panose="02020603050405020304" pitchFamily="18" charset="0"/>
              </a:rPr>
              <a:t>Def</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 </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对于给定的命题变元</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若由</a:t>
            </a:r>
            <a:r>
              <a:rPr lang="zh-CN" altLang="en-US" b="1" u="sng" dirty="0">
                <a:latin typeface="Times New Roman" panose="02020603050405020304" pitchFamily="18" charset="0"/>
                <a:ea typeface="楷体" panose="02010609060101010101" pitchFamily="49" charset="-122"/>
                <a:cs typeface="Times New Roman" panose="02020603050405020304" pitchFamily="18" charset="0"/>
              </a:rPr>
              <a:t>命题变元</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或</a:t>
            </a:r>
            <a:r>
              <a:rPr lang="zh-CN" altLang="en-US" b="1" u="sng" dirty="0">
                <a:latin typeface="Times New Roman" panose="02020603050405020304" pitchFamily="18" charset="0"/>
                <a:ea typeface="楷体" panose="02010609060101010101" pitchFamily="49" charset="-122"/>
                <a:cs typeface="Times New Roman" panose="02020603050405020304" pitchFamily="18" charset="0"/>
              </a:rPr>
              <a:t>其否定</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组成的</a:t>
            </a:r>
            <a:r>
              <a:rPr lang="zh-CN" altLang="en-US" b="1" dirty="0">
                <a:solidFill>
                  <a:srgbClr val="1829A6"/>
                </a:solidFill>
                <a:latin typeface="Times New Roman" panose="02020603050405020304" pitchFamily="18" charset="0"/>
                <a:ea typeface="楷体" panose="02010609060101010101" pitchFamily="49" charset="-122"/>
                <a:cs typeface="Times New Roman" panose="02020603050405020304" pitchFamily="18" charset="0"/>
              </a:rPr>
              <a:t>合取式</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满足</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a:t>
            </a:r>
            <a:r>
              <a:rPr lang="en-US" altLang="zh-CN" b="1" dirty="0">
                <a:solidFill>
                  <a:schemeClr val="hlink"/>
                </a:solidFill>
                <a:latin typeface="Times New Roman" panose="02020603050405020304" pitchFamily="18" charset="0"/>
                <a:ea typeface="楷体" panose="02010609060101010101" pitchFamily="49" charset="-122"/>
                <a:cs typeface="Times New Roman" panose="02020603050405020304" pitchFamily="18" charset="0"/>
              </a:rPr>
              <a:t>1</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 </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每个命题变元或其否定二者之一出现且只出现一次</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 (</a:t>
            </a:r>
            <a:r>
              <a:rPr lang="en-US" altLang="zh-CN" b="1" dirty="0">
                <a:solidFill>
                  <a:schemeClr val="hlink"/>
                </a:solidFill>
                <a:latin typeface="Times New Roman" panose="02020603050405020304" pitchFamily="18" charset="0"/>
                <a:ea typeface="楷体" panose="02010609060101010101" pitchFamily="49" charset="-122"/>
                <a:cs typeface="Times New Roman" panose="02020603050405020304" pitchFamily="18" charset="0"/>
              </a:rPr>
              <a:t>2</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按字典顺序或按下标从小到大顺序出现</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 </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称这样的合取式为由所给命题变元产生的</a:t>
            </a:r>
            <a:r>
              <a:rPr lang="zh-CN" altLang="en-US" b="1" dirty="0">
                <a:solidFill>
                  <a:srgbClr val="1829A6"/>
                </a:solidFill>
                <a:latin typeface="Times New Roman" panose="02020603050405020304" pitchFamily="18" charset="0"/>
                <a:ea typeface="楷体" panose="02010609060101010101" pitchFamily="49" charset="-122"/>
                <a:cs typeface="Times New Roman" panose="02020603050405020304" pitchFamily="18" charset="0"/>
              </a:rPr>
              <a:t>极小项</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a:t>
            </a:r>
          </a:p>
          <a:p>
            <a:pPr eaLnBrk="1" hangingPunct="1">
              <a:lnSpc>
                <a:spcPct val="120000"/>
              </a:lnSpc>
            </a:pPr>
            <a:endParaRPr lang="en-US" altLang="zh-CN" b="1" dirty="0">
              <a:latin typeface="Times New Roman" panose="02020603050405020304" pitchFamily="18" charset="0"/>
              <a:ea typeface="楷体" panose="02010609060101010101" pitchFamily="49" charset="-122"/>
              <a:cs typeface="Times New Roman" panose="02020603050405020304" pitchFamily="18" charset="0"/>
            </a:endParaRPr>
          </a:p>
          <a:p>
            <a:pPr eaLnBrk="1" hangingPunct="1">
              <a:lnSpc>
                <a:spcPct val="120000"/>
              </a:lnSpc>
            </a:pPr>
            <a:r>
              <a:rPr lang="zh-CN" altLang="en-US" b="1" dirty="0">
                <a:latin typeface="Times New Roman" panose="02020603050405020304" pitchFamily="18" charset="0"/>
                <a:ea typeface="楷体" panose="02010609060101010101" pitchFamily="49" charset="-122"/>
                <a:cs typeface="Times New Roman" panose="02020603050405020304" pitchFamily="18" charset="0"/>
              </a:rPr>
              <a:t>如</a:t>
            </a:r>
            <a:endParaRPr lang="en-US" altLang="zh-CN" b="1" dirty="0">
              <a:latin typeface="Times New Roman" panose="02020603050405020304" pitchFamily="18" charset="0"/>
              <a:ea typeface="楷体" panose="02010609060101010101" pitchFamily="49" charset="-122"/>
              <a:cs typeface="Times New Roman" panose="02020603050405020304" pitchFamily="18" charset="0"/>
            </a:endParaRPr>
          </a:p>
          <a:p>
            <a:pPr eaLnBrk="1" hangingPunct="1">
              <a:lnSpc>
                <a:spcPct val="120000"/>
              </a:lnSpc>
            </a:pPr>
            <a:endParaRPr lang="en-US" altLang="zh-CN" b="1" dirty="0">
              <a:latin typeface="Times New Roman" pitchFamily="18" charset="0"/>
            </a:endParaRPr>
          </a:p>
        </p:txBody>
      </p:sp>
      <p:graphicFrame>
        <p:nvGraphicFramePr>
          <p:cNvPr id="7" name="对象 6">
            <a:extLst>
              <a:ext uri="{FF2B5EF4-FFF2-40B4-BE49-F238E27FC236}">
                <a16:creationId xmlns:a16="http://schemas.microsoft.com/office/drawing/2014/main" id="{256291F0-93D6-717E-7FB6-F32B6F5A101A}"/>
              </a:ext>
            </a:extLst>
          </p:cNvPr>
          <p:cNvGraphicFramePr>
            <a:graphicFrameLocks noChangeAspect="1"/>
          </p:cNvGraphicFramePr>
          <p:nvPr>
            <p:extLst>
              <p:ext uri="{D42A27DB-BD31-4B8C-83A1-F6EECF244321}">
                <p14:modId xmlns:p14="http://schemas.microsoft.com/office/powerpoint/2010/main" val="1503556237"/>
              </p:ext>
            </p:extLst>
          </p:nvPr>
        </p:nvGraphicFramePr>
        <p:xfrm>
          <a:off x="1440160" y="4581128"/>
          <a:ext cx="6696075" cy="369887"/>
        </p:xfrm>
        <a:graphic>
          <a:graphicData uri="http://schemas.openxmlformats.org/presentationml/2006/ole">
            <mc:AlternateContent xmlns:mc="http://schemas.openxmlformats.org/markup-compatibility/2006">
              <mc:Choice xmlns:v="urn:schemas-microsoft-com:vml" Requires="v">
                <p:oleObj name="Equation" r:id="rId2" imgW="6696500" imgH="370453" progId="Equation.DSMT4">
                  <p:embed/>
                </p:oleObj>
              </mc:Choice>
              <mc:Fallback>
                <p:oleObj name="Equation" r:id="rId2" imgW="6696500" imgH="370453" progId="Equation.DSMT4">
                  <p:embed/>
                  <p:pic>
                    <p:nvPicPr>
                      <p:cNvPr id="2" name="对象 1">
                        <a:extLst>
                          <a:ext uri="{FF2B5EF4-FFF2-40B4-BE49-F238E27FC236}">
                            <a16:creationId xmlns:a16="http://schemas.microsoft.com/office/drawing/2014/main" id="{50A4BBCE-0BC3-C9F9-0882-FAF199E2C78A}"/>
                          </a:ext>
                        </a:extLst>
                      </p:cNvPr>
                      <p:cNvPicPr/>
                      <p:nvPr/>
                    </p:nvPicPr>
                    <p:blipFill>
                      <a:blip r:embed="rId3"/>
                      <a:stretch>
                        <a:fillRect/>
                      </a:stretch>
                    </p:blipFill>
                    <p:spPr>
                      <a:xfrm>
                        <a:off x="1440160" y="4581128"/>
                        <a:ext cx="6696075" cy="369887"/>
                      </a:xfrm>
                      <a:prstGeom prst="rect">
                        <a:avLst/>
                      </a:prstGeom>
                    </p:spPr>
                  </p:pic>
                </p:oleObj>
              </mc:Fallback>
            </mc:AlternateContent>
          </a:graphicData>
        </a:graphic>
      </p:graphicFrame>
      <p:graphicFrame>
        <p:nvGraphicFramePr>
          <p:cNvPr id="8" name="Object 4">
            <a:extLst>
              <a:ext uri="{FF2B5EF4-FFF2-40B4-BE49-F238E27FC236}">
                <a16:creationId xmlns:a16="http://schemas.microsoft.com/office/drawing/2014/main" id="{02149577-41B4-9516-2FE5-CB73E9A8BB25}"/>
              </a:ext>
            </a:extLst>
          </p:cNvPr>
          <p:cNvGraphicFramePr>
            <a:graphicFrameLocks noChangeAspect="1"/>
          </p:cNvGraphicFramePr>
          <p:nvPr>
            <p:extLst>
              <p:ext uri="{D42A27DB-BD31-4B8C-83A1-F6EECF244321}">
                <p14:modId xmlns:p14="http://schemas.microsoft.com/office/powerpoint/2010/main" val="3980195350"/>
              </p:ext>
            </p:extLst>
          </p:nvPr>
        </p:nvGraphicFramePr>
        <p:xfrm>
          <a:off x="179512" y="5301208"/>
          <a:ext cx="8928992" cy="393700"/>
        </p:xfrm>
        <a:graphic>
          <a:graphicData uri="http://schemas.openxmlformats.org/presentationml/2006/ole">
            <mc:AlternateContent xmlns:mc="http://schemas.openxmlformats.org/markup-compatibility/2006">
              <mc:Choice xmlns:v="urn:schemas-microsoft-com:vml" Requires="v">
                <p:oleObj name="Equation" r:id="rId4" imgW="3190810" imgH="85860" progId="Equation.3">
                  <p:embed/>
                </p:oleObj>
              </mc:Choice>
              <mc:Fallback>
                <p:oleObj name="Equation" r:id="rId4" imgW="3190810" imgH="85860" progId="Equation.3">
                  <p:embed/>
                  <p:pic>
                    <p:nvPicPr>
                      <p:cNvPr id="3" name="Object 4">
                        <a:extLst>
                          <a:ext uri="{FF2B5EF4-FFF2-40B4-BE49-F238E27FC236}">
                            <a16:creationId xmlns:a16="http://schemas.microsoft.com/office/drawing/2014/main" id="{C7C77261-FD6A-AEEC-A4E7-761912A8923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79512" y="5301208"/>
                        <a:ext cx="8928992" cy="393700"/>
                      </a:xfrm>
                      <a:prstGeom prst="rect">
                        <a:avLst/>
                      </a:prstGeom>
                      <a:noFill/>
                      <a:ln>
                        <a:noFill/>
                      </a:ln>
                      <a:effectLst/>
                    </p:spPr>
                  </p:pic>
                </p:oleObj>
              </mc:Fallback>
            </mc:AlternateContent>
          </a:graphicData>
        </a:graphic>
      </p:graphicFrame>
      <p:graphicFrame>
        <p:nvGraphicFramePr>
          <p:cNvPr id="9" name="Object 5">
            <a:extLst>
              <a:ext uri="{FF2B5EF4-FFF2-40B4-BE49-F238E27FC236}">
                <a16:creationId xmlns:a16="http://schemas.microsoft.com/office/drawing/2014/main" id="{E591B94B-15EC-4853-EA92-790CF49364A1}"/>
              </a:ext>
            </a:extLst>
          </p:cNvPr>
          <p:cNvGraphicFramePr>
            <a:graphicFrameLocks noChangeAspect="1"/>
          </p:cNvGraphicFramePr>
          <p:nvPr>
            <p:extLst>
              <p:ext uri="{D42A27DB-BD31-4B8C-83A1-F6EECF244321}">
                <p14:modId xmlns:p14="http://schemas.microsoft.com/office/powerpoint/2010/main" val="1427431809"/>
              </p:ext>
            </p:extLst>
          </p:nvPr>
        </p:nvGraphicFramePr>
        <p:xfrm>
          <a:off x="936104" y="5968157"/>
          <a:ext cx="8021960" cy="393700"/>
        </p:xfrm>
        <a:graphic>
          <a:graphicData uri="http://schemas.openxmlformats.org/presentationml/2006/ole">
            <mc:AlternateContent xmlns:mc="http://schemas.openxmlformats.org/markup-compatibility/2006">
              <mc:Choice xmlns:v="urn:schemas-microsoft-com:vml" Requires="v">
                <p:oleObj name="Equation" r:id="rId6" imgW="3085999" imgH="85860" progId="Equation.3">
                  <p:embed/>
                </p:oleObj>
              </mc:Choice>
              <mc:Fallback>
                <p:oleObj name="Equation" r:id="rId6" imgW="3085999" imgH="85860" progId="Equation.3">
                  <p:embed/>
                  <p:pic>
                    <p:nvPicPr>
                      <p:cNvPr id="4" name="Object 5">
                        <a:extLst>
                          <a:ext uri="{FF2B5EF4-FFF2-40B4-BE49-F238E27FC236}">
                            <a16:creationId xmlns:a16="http://schemas.microsoft.com/office/drawing/2014/main" id="{E7205FF2-E007-BF1D-9552-7E380131630A}"/>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936104" y="5968157"/>
                        <a:ext cx="8021960" cy="393700"/>
                      </a:xfrm>
                      <a:prstGeom prst="rect">
                        <a:avLst/>
                      </a:prstGeom>
                      <a:noFill/>
                      <a:ln>
                        <a:noFill/>
                      </a:ln>
                      <a:effectLst/>
                    </p:spPr>
                  </p:pic>
                </p:oleObj>
              </mc:Fallback>
            </mc:AlternateContent>
          </a:graphicData>
        </a:graphic>
      </p:graphicFrame>
      <p:cxnSp>
        <p:nvCxnSpPr>
          <p:cNvPr id="10" name="直接连接符 9">
            <a:extLst>
              <a:ext uri="{FF2B5EF4-FFF2-40B4-BE49-F238E27FC236}">
                <a16:creationId xmlns:a16="http://schemas.microsoft.com/office/drawing/2014/main" id="{0AAF605D-6294-2C11-6F7D-4989A4CA09BA}"/>
              </a:ext>
            </a:extLst>
          </p:cNvPr>
          <p:cNvCxnSpPr/>
          <p:nvPr/>
        </p:nvCxnSpPr>
        <p:spPr>
          <a:xfrm>
            <a:off x="2448272" y="5013176"/>
            <a:ext cx="1008112"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直接连接符 10">
            <a:extLst>
              <a:ext uri="{FF2B5EF4-FFF2-40B4-BE49-F238E27FC236}">
                <a16:creationId xmlns:a16="http://schemas.microsoft.com/office/drawing/2014/main" id="{C515B5A9-7AA2-A883-A1EB-51F898F11320}"/>
              </a:ext>
            </a:extLst>
          </p:cNvPr>
          <p:cNvCxnSpPr>
            <a:cxnSpLocks/>
          </p:cNvCxnSpPr>
          <p:nvPr/>
        </p:nvCxnSpPr>
        <p:spPr>
          <a:xfrm>
            <a:off x="1512168" y="5723780"/>
            <a:ext cx="129614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直接连接符 11">
            <a:extLst>
              <a:ext uri="{FF2B5EF4-FFF2-40B4-BE49-F238E27FC236}">
                <a16:creationId xmlns:a16="http://schemas.microsoft.com/office/drawing/2014/main" id="{0EFBA698-A050-1024-215E-06A3A0607E05}"/>
              </a:ext>
            </a:extLst>
          </p:cNvPr>
          <p:cNvCxnSpPr>
            <a:cxnSpLocks/>
          </p:cNvCxnSpPr>
          <p:nvPr/>
        </p:nvCxnSpPr>
        <p:spPr>
          <a:xfrm flipV="1">
            <a:off x="3096344" y="5682711"/>
            <a:ext cx="1584176" cy="13605"/>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直接连接符 12">
            <a:extLst>
              <a:ext uri="{FF2B5EF4-FFF2-40B4-BE49-F238E27FC236}">
                <a16:creationId xmlns:a16="http://schemas.microsoft.com/office/drawing/2014/main" id="{CDD91086-0370-3F6C-1E9C-E2660AF65D35}"/>
              </a:ext>
            </a:extLst>
          </p:cNvPr>
          <p:cNvCxnSpPr>
            <a:cxnSpLocks/>
          </p:cNvCxnSpPr>
          <p:nvPr/>
        </p:nvCxnSpPr>
        <p:spPr>
          <a:xfrm flipV="1">
            <a:off x="5040560" y="5727814"/>
            <a:ext cx="1656184" cy="10884"/>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直接连接符 13">
            <a:extLst>
              <a:ext uri="{FF2B5EF4-FFF2-40B4-BE49-F238E27FC236}">
                <a16:creationId xmlns:a16="http://schemas.microsoft.com/office/drawing/2014/main" id="{EBAC5650-3FE5-4560-238D-8A84B65D25AB}"/>
              </a:ext>
            </a:extLst>
          </p:cNvPr>
          <p:cNvCxnSpPr>
            <a:cxnSpLocks/>
          </p:cNvCxnSpPr>
          <p:nvPr/>
        </p:nvCxnSpPr>
        <p:spPr>
          <a:xfrm flipV="1">
            <a:off x="6996844" y="5694908"/>
            <a:ext cx="1896652" cy="5442"/>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直接连接符 14">
            <a:extLst>
              <a:ext uri="{FF2B5EF4-FFF2-40B4-BE49-F238E27FC236}">
                <a16:creationId xmlns:a16="http://schemas.microsoft.com/office/drawing/2014/main" id="{856CF794-EE28-ADAF-F049-81D7D38A0945}"/>
              </a:ext>
            </a:extLst>
          </p:cNvPr>
          <p:cNvCxnSpPr>
            <a:cxnSpLocks/>
          </p:cNvCxnSpPr>
          <p:nvPr/>
        </p:nvCxnSpPr>
        <p:spPr>
          <a:xfrm flipV="1">
            <a:off x="1008112" y="6373461"/>
            <a:ext cx="1512168" cy="13605"/>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直接连接符 15">
            <a:extLst>
              <a:ext uri="{FF2B5EF4-FFF2-40B4-BE49-F238E27FC236}">
                <a16:creationId xmlns:a16="http://schemas.microsoft.com/office/drawing/2014/main" id="{ED4CEA39-BC84-C9E3-7F26-E2746AA80DFB}"/>
              </a:ext>
            </a:extLst>
          </p:cNvPr>
          <p:cNvCxnSpPr>
            <a:cxnSpLocks/>
          </p:cNvCxnSpPr>
          <p:nvPr/>
        </p:nvCxnSpPr>
        <p:spPr>
          <a:xfrm>
            <a:off x="2788076" y="6387066"/>
            <a:ext cx="1748428" cy="4034"/>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直接连接符 16">
            <a:extLst>
              <a:ext uri="{FF2B5EF4-FFF2-40B4-BE49-F238E27FC236}">
                <a16:creationId xmlns:a16="http://schemas.microsoft.com/office/drawing/2014/main" id="{ACE809FC-BDE1-9BD5-9941-AF388F812C7C}"/>
              </a:ext>
            </a:extLst>
          </p:cNvPr>
          <p:cNvCxnSpPr>
            <a:cxnSpLocks/>
          </p:cNvCxnSpPr>
          <p:nvPr/>
        </p:nvCxnSpPr>
        <p:spPr>
          <a:xfrm flipV="1">
            <a:off x="4732292" y="6418564"/>
            <a:ext cx="1656184" cy="10884"/>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直接连接符 17">
            <a:extLst>
              <a:ext uri="{FF2B5EF4-FFF2-40B4-BE49-F238E27FC236}">
                <a16:creationId xmlns:a16="http://schemas.microsoft.com/office/drawing/2014/main" id="{F01A8B9F-C891-F388-9D4F-8581D86A4401}"/>
              </a:ext>
            </a:extLst>
          </p:cNvPr>
          <p:cNvCxnSpPr>
            <a:cxnSpLocks/>
          </p:cNvCxnSpPr>
          <p:nvPr/>
        </p:nvCxnSpPr>
        <p:spPr>
          <a:xfrm flipV="1">
            <a:off x="6688576" y="6373461"/>
            <a:ext cx="2024392" cy="17639"/>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直接连接符 18">
            <a:extLst>
              <a:ext uri="{FF2B5EF4-FFF2-40B4-BE49-F238E27FC236}">
                <a16:creationId xmlns:a16="http://schemas.microsoft.com/office/drawing/2014/main" id="{A727341A-C3B3-215A-93E3-9BB62EE9F637}"/>
              </a:ext>
            </a:extLst>
          </p:cNvPr>
          <p:cNvCxnSpPr>
            <a:cxnSpLocks/>
          </p:cNvCxnSpPr>
          <p:nvPr/>
        </p:nvCxnSpPr>
        <p:spPr>
          <a:xfrm>
            <a:off x="6492788" y="5013176"/>
            <a:ext cx="150010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直接连接符 19">
            <a:extLst>
              <a:ext uri="{FF2B5EF4-FFF2-40B4-BE49-F238E27FC236}">
                <a16:creationId xmlns:a16="http://schemas.microsoft.com/office/drawing/2014/main" id="{B6BBEB03-541E-FC0A-BD8A-8A2A9F214209}"/>
              </a:ext>
            </a:extLst>
          </p:cNvPr>
          <p:cNvCxnSpPr>
            <a:cxnSpLocks/>
          </p:cNvCxnSpPr>
          <p:nvPr/>
        </p:nvCxnSpPr>
        <p:spPr>
          <a:xfrm>
            <a:off x="4992688" y="5013176"/>
            <a:ext cx="1272008"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直接连接符 20">
            <a:extLst>
              <a:ext uri="{FF2B5EF4-FFF2-40B4-BE49-F238E27FC236}">
                <a16:creationId xmlns:a16="http://schemas.microsoft.com/office/drawing/2014/main" id="{73859DCC-795C-A23F-7E40-04630CA109A3}"/>
              </a:ext>
            </a:extLst>
          </p:cNvPr>
          <p:cNvCxnSpPr>
            <a:cxnSpLocks/>
          </p:cNvCxnSpPr>
          <p:nvPr/>
        </p:nvCxnSpPr>
        <p:spPr>
          <a:xfrm>
            <a:off x="3600400" y="5013176"/>
            <a:ext cx="1272008"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Tree>
  </p:cSld>
  <p:clrMapOvr>
    <a:masterClrMapping/>
  </p:clrMapOv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Rectangle 2"/>
          <p:cNvSpPr>
            <a:spLocks noGrp="1" noChangeArrowheads="1"/>
          </p:cNvSpPr>
          <p:nvPr>
            <p:ph/>
          </p:nvPr>
        </p:nvSpPr>
        <p:spPr/>
        <p:txBody>
          <a:bodyPr/>
          <a:lstStyle/>
          <a:p>
            <a:pPr eaLnBrk="1" hangingPunct="1">
              <a:lnSpc>
                <a:spcPct val="120000"/>
              </a:lnSpc>
            </a:pPr>
            <a:r>
              <a:rPr lang="zh-CN" altLang="en-US" b="1" dirty="0">
                <a:solidFill>
                  <a:schemeClr val="hlink"/>
                </a:solidFill>
                <a:latin typeface="Times New Roman" panose="02020603050405020304" pitchFamily="18" charset="0"/>
                <a:ea typeface="楷体" panose="02010609060101010101" pitchFamily="49" charset="-122"/>
                <a:cs typeface="Times New Roman" panose="02020603050405020304" pitchFamily="18" charset="0"/>
              </a:rPr>
              <a:t>对于每一个</a:t>
            </a:r>
            <a:r>
              <a:rPr lang="zh-CN" altLang="en-US" b="1" dirty="0">
                <a:solidFill>
                  <a:srgbClr val="00B050"/>
                </a:solidFill>
                <a:latin typeface="Times New Roman" panose="02020603050405020304" pitchFamily="18" charset="0"/>
                <a:ea typeface="楷体" panose="02010609060101010101" pitchFamily="49" charset="-122"/>
                <a:cs typeface="Times New Roman" panose="02020603050405020304" pitchFamily="18" charset="0"/>
              </a:rPr>
              <a:t>极</a:t>
            </a:r>
            <a:r>
              <a:rPr lang="zh-CN" altLang="en-US" b="1" dirty="0">
                <a:solidFill>
                  <a:schemeClr val="hlink"/>
                </a:solidFill>
                <a:latin typeface="Times New Roman" panose="02020603050405020304" pitchFamily="18" charset="0"/>
                <a:ea typeface="楷体" panose="02010609060101010101" pitchFamily="49" charset="-122"/>
                <a:cs typeface="Times New Roman" panose="02020603050405020304" pitchFamily="18" charset="0"/>
              </a:rPr>
              <a:t>小项只有一种指派</a:t>
            </a:r>
            <a:r>
              <a:rPr lang="zh-CN" altLang="en-US" b="1" dirty="0">
                <a:solidFill>
                  <a:srgbClr val="C00000"/>
                </a:solidFill>
                <a:latin typeface="Times New Roman" panose="02020603050405020304" pitchFamily="18" charset="0"/>
                <a:ea typeface="楷体" panose="02010609060101010101" pitchFamily="49" charset="-122"/>
                <a:cs typeface="Times New Roman" panose="02020603050405020304" pitchFamily="18" charset="0"/>
              </a:rPr>
              <a:t>使其取</a:t>
            </a:r>
            <a:r>
              <a:rPr lang="en-US" altLang="zh-CN" b="1" dirty="0">
                <a:solidFill>
                  <a:srgbClr val="C00000"/>
                </a:solidFill>
                <a:latin typeface="Times New Roman" panose="02020603050405020304" pitchFamily="18" charset="0"/>
                <a:ea typeface="楷体" panose="02010609060101010101" pitchFamily="49" charset="-122"/>
                <a:cs typeface="Times New Roman" panose="02020603050405020304" pitchFamily="18" charset="0"/>
              </a:rPr>
              <a:t>1</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a:t>
            </a:r>
          </a:p>
          <a:p>
            <a:pPr eaLnBrk="1" hangingPunct="1">
              <a:lnSpc>
                <a:spcPct val="120000"/>
              </a:lnSpc>
            </a:pPr>
            <a:endParaRPr lang="en-US" altLang="zh-CN" b="1" dirty="0">
              <a:latin typeface="Times New Roman" panose="02020603050405020304" pitchFamily="18" charset="0"/>
              <a:ea typeface="楷体" panose="02010609060101010101" pitchFamily="49" charset="-122"/>
              <a:cs typeface="Times New Roman" panose="02020603050405020304" pitchFamily="18" charset="0"/>
            </a:endParaRPr>
          </a:p>
          <a:p>
            <a:pPr eaLnBrk="1" hangingPunct="1">
              <a:lnSpc>
                <a:spcPct val="120000"/>
              </a:lnSpc>
            </a:pPr>
            <a:r>
              <a:rPr lang="zh-CN" altLang="en-US" b="1" dirty="0">
                <a:latin typeface="Times New Roman" panose="02020603050405020304" pitchFamily="18" charset="0"/>
                <a:ea typeface="楷体" panose="02010609060101010101" pitchFamily="49" charset="-122"/>
                <a:cs typeface="Times New Roman" panose="02020603050405020304" pitchFamily="18" charset="0"/>
              </a:rPr>
              <a:t>可以根据这个结论对最小项编码</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极小项用表示</a:t>
            </a:r>
            <a:r>
              <a:rPr lang="en-US" altLang="zh-CN" b="1" i="1" dirty="0">
                <a:latin typeface="Times New Roman" panose="02020603050405020304" pitchFamily="18" charset="0"/>
                <a:ea typeface="楷体" panose="02010609060101010101" pitchFamily="49" charset="-122"/>
                <a:cs typeface="Times New Roman" panose="02020603050405020304" pitchFamily="18" charset="0"/>
              </a:rPr>
              <a:t>m</a:t>
            </a:r>
            <a:r>
              <a:rPr lang="en-US" altLang="zh-CN" b="1" i="1" baseline="-25000" dirty="0">
                <a:latin typeface="Times New Roman" panose="02020603050405020304" pitchFamily="18" charset="0"/>
                <a:ea typeface="楷体" panose="02010609060101010101" pitchFamily="49" charset="-122"/>
                <a:cs typeface="Times New Roman" panose="02020603050405020304" pitchFamily="18" charset="0"/>
              </a:rPr>
              <a:t>i</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其下标是由成真指派得到的二进制数或对应的十进制数</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 </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对于极小项</a:t>
            </a:r>
            <a:r>
              <a:rPr lang="en-US" altLang="zh-CN" b="1" i="1" dirty="0">
                <a:latin typeface="Times New Roman" panose="02020603050405020304" pitchFamily="18" charset="0"/>
                <a:ea typeface="楷体" panose="02010609060101010101" pitchFamily="49" charset="-122"/>
                <a:cs typeface="Times New Roman" panose="02020603050405020304" pitchFamily="18" charset="0"/>
              </a:rPr>
              <a:t>p</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 </a:t>
            </a:r>
            <a:r>
              <a:rPr lang="en-US" altLang="zh-CN" b="1" dirty="0">
                <a:latin typeface="Times New Roman" panose="02020603050405020304" pitchFamily="18" charset="0"/>
                <a:ea typeface="楷体" panose="02010609060101010101" pitchFamily="49" charset="-122"/>
                <a:cs typeface="Times New Roman" panose="02020603050405020304" pitchFamily="18" charset="0"/>
                <a:sym typeface="Symbol" pitchFamily="18" charset="2"/>
              </a:rPr>
              <a:t></a:t>
            </a:r>
            <a:r>
              <a:rPr lang="en-US" altLang="zh-CN" b="1" i="1" dirty="0">
                <a:latin typeface="Times New Roman" panose="02020603050405020304" pitchFamily="18" charset="0"/>
                <a:ea typeface="楷体" panose="02010609060101010101" pitchFamily="49" charset="-122"/>
                <a:cs typeface="Times New Roman" panose="02020603050405020304" pitchFamily="18" charset="0"/>
              </a:rPr>
              <a:t>q</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 </a:t>
            </a:r>
            <a:r>
              <a:rPr lang="en-US" altLang="zh-CN" b="1" dirty="0">
                <a:latin typeface="Times New Roman" panose="02020603050405020304" pitchFamily="18" charset="0"/>
                <a:ea typeface="楷体" panose="02010609060101010101" pitchFamily="49" charset="-122"/>
                <a:cs typeface="Times New Roman" panose="02020603050405020304" pitchFamily="18" charset="0"/>
                <a:sym typeface="Symbol" pitchFamily="18" charset="2"/>
              </a:rPr>
              <a:t></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 </a:t>
            </a:r>
            <a:r>
              <a:rPr lang="en-US" altLang="zh-CN" b="1" dirty="0">
                <a:latin typeface="Times New Roman" panose="02020603050405020304" pitchFamily="18" charset="0"/>
                <a:ea typeface="楷体" panose="02010609060101010101" pitchFamily="49" charset="-122"/>
                <a:cs typeface="Times New Roman" panose="02020603050405020304" pitchFamily="18" charset="0"/>
                <a:sym typeface="Symbol" pitchFamily="18" charset="2"/>
              </a:rPr>
              <a:t></a:t>
            </a:r>
            <a:r>
              <a:rPr lang="en-US" altLang="zh-CN" b="1" i="1" dirty="0">
                <a:latin typeface="Times New Roman" panose="02020603050405020304" pitchFamily="18" charset="0"/>
                <a:ea typeface="楷体" panose="02010609060101010101" pitchFamily="49" charset="-122"/>
                <a:cs typeface="Times New Roman" panose="02020603050405020304" pitchFamily="18" charset="0"/>
              </a:rPr>
              <a:t>r</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 </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成真指派得到的二进制数为</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110, </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因为</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(110)</a:t>
            </a:r>
            <a:r>
              <a:rPr lang="en-US" altLang="zh-CN" b="1" baseline="-25000" dirty="0">
                <a:latin typeface="Times New Roman" panose="02020603050405020304" pitchFamily="18" charset="0"/>
                <a:ea typeface="楷体" panose="02010609060101010101" pitchFamily="49" charset="-122"/>
                <a:cs typeface="Times New Roman" panose="02020603050405020304" pitchFamily="18" charset="0"/>
              </a:rPr>
              <a:t>2</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 = 6, </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所以</a:t>
            </a:r>
            <a:r>
              <a:rPr lang="en-US" altLang="zh-CN" b="1" i="1" dirty="0">
                <a:latin typeface="Times New Roman" panose="02020603050405020304" pitchFamily="18" charset="0"/>
                <a:ea typeface="楷体" panose="02010609060101010101" pitchFamily="49" charset="-122"/>
                <a:cs typeface="Times New Roman" panose="02020603050405020304" pitchFamily="18" charset="0"/>
              </a:rPr>
              <a:t>p</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 </a:t>
            </a:r>
            <a:r>
              <a:rPr lang="en-US" altLang="zh-CN" b="1" dirty="0">
                <a:latin typeface="Times New Roman" panose="02020603050405020304" pitchFamily="18" charset="0"/>
                <a:ea typeface="楷体" panose="02010609060101010101" pitchFamily="49" charset="-122"/>
                <a:cs typeface="Times New Roman" panose="02020603050405020304" pitchFamily="18" charset="0"/>
                <a:sym typeface="Symbol" pitchFamily="18" charset="2"/>
              </a:rPr>
              <a:t></a:t>
            </a:r>
            <a:r>
              <a:rPr lang="en-US" altLang="zh-CN" b="1" i="1" dirty="0">
                <a:latin typeface="Times New Roman" panose="02020603050405020304" pitchFamily="18" charset="0"/>
                <a:ea typeface="楷体" panose="02010609060101010101" pitchFamily="49" charset="-122"/>
                <a:cs typeface="Times New Roman" panose="02020603050405020304" pitchFamily="18" charset="0"/>
              </a:rPr>
              <a:t>q</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 </a:t>
            </a:r>
            <a:r>
              <a:rPr lang="en-US" altLang="zh-CN" b="1" dirty="0">
                <a:latin typeface="Times New Roman" panose="02020603050405020304" pitchFamily="18" charset="0"/>
                <a:ea typeface="楷体" panose="02010609060101010101" pitchFamily="49" charset="-122"/>
                <a:cs typeface="Times New Roman" panose="02020603050405020304" pitchFamily="18" charset="0"/>
                <a:sym typeface="Symbol" pitchFamily="18" charset="2"/>
              </a:rPr>
              <a:t></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 </a:t>
            </a:r>
            <a:r>
              <a:rPr lang="en-US" altLang="zh-CN" b="1" dirty="0">
                <a:latin typeface="Times New Roman" panose="02020603050405020304" pitchFamily="18" charset="0"/>
                <a:ea typeface="楷体" panose="02010609060101010101" pitchFamily="49" charset="-122"/>
                <a:cs typeface="Times New Roman" panose="02020603050405020304" pitchFamily="18" charset="0"/>
                <a:sym typeface="Symbol" pitchFamily="18" charset="2"/>
              </a:rPr>
              <a:t></a:t>
            </a:r>
            <a:r>
              <a:rPr lang="en-US" altLang="zh-CN" b="1" i="1" dirty="0">
                <a:latin typeface="Times New Roman" panose="02020603050405020304" pitchFamily="18" charset="0"/>
                <a:ea typeface="楷体" panose="02010609060101010101" pitchFamily="49" charset="-122"/>
                <a:cs typeface="Times New Roman" panose="02020603050405020304" pitchFamily="18" charset="0"/>
              </a:rPr>
              <a:t>r </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 </a:t>
            </a:r>
            <a:r>
              <a:rPr lang="en-US" altLang="zh-CN" b="1" i="1" dirty="0">
                <a:latin typeface="Times New Roman" panose="02020603050405020304" pitchFamily="18" charset="0"/>
                <a:ea typeface="楷体" panose="02010609060101010101" pitchFamily="49" charset="-122"/>
                <a:cs typeface="Times New Roman" panose="02020603050405020304" pitchFamily="18" charset="0"/>
              </a:rPr>
              <a:t>m</a:t>
            </a:r>
            <a:r>
              <a:rPr lang="en-US" altLang="zh-CN" b="1" baseline="-25000" dirty="0">
                <a:latin typeface="Times New Roman" panose="02020603050405020304" pitchFamily="18" charset="0"/>
                <a:ea typeface="楷体" panose="02010609060101010101" pitchFamily="49" charset="-122"/>
                <a:cs typeface="Times New Roman" panose="02020603050405020304" pitchFamily="18" charset="0"/>
              </a:rPr>
              <a:t>110</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 </a:t>
            </a:r>
            <a:r>
              <a:rPr lang="en-US" altLang="zh-CN" b="1" i="1" dirty="0">
                <a:latin typeface="Times New Roman" panose="02020603050405020304" pitchFamily="18" charset="0"/>
                <a:ea typeface="楷体" panose="02010609060101010101" pitchFamily="49" charset="-122"/>
                <a:cs typeface="Times New Roman" panose="02020603050405020304" pitchFamily="18" charset="0"/>
              </a:rPr>
              <a:t>m</a:t>
            </a:r>
            <a:r>
              <a:rPr lang="en-US" altLang="zh-CN" b="1" baseline="-25000" dirty="0">
                <a:latin typeface="Times New Roman" panose="02020603050405020304" pitchFamily="18" charset="0"/>
                <a:ea typeface="楷体" panose="02010609060101010101" pitchFamily="49" charset="-122"/>
                <a:cs typeface="Times New Roman" panose="02020603050405020304" pitchFamily="18" charset="0"/>
              </a:rPr>
              <a:t>6</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 . </a:t>
            </a:r>
          </a:p>
          <a:p>
            <a:pPr eaLnBrk="1" hangingPunct="1">
              <a:lnSpc>
                <a:spcPct val="120000"/>
              </a:lnSpc>
            </a:pPr>
            <a:r>
              <a:rPr lang="zh-CN" altLang="en-US" b="1" dirty="0">
                <a:latin typeface="Times New Roman" panose="02020603050405020304" pitchFamily="18" charset="0"/>
                <a:ea typeface="楷体" panose="02010609060101010101" pitchFamily="49" charset="-122"/>
                <a:cs typeface="Times New Roman" panose="02020603050405020304" pitchFamily="18" charset="0"/>
              </a:rPr>
              <a:t>表</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3-15?</a:t>
            </a:r>
          </a:p>
        </p:txBody>
      </p:sp>
    </p:spTree>
  </p:cSld>
  <p:clrMapOvr>
    <a:masterClrMapping/>
  </p:clrMapOv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Rectangle 2"/>
          <p:cNvSpPr>
            <a:spLocks noGrp="1" noChangeArrowheads="1"/>
          </p:cNvSpPr>
          <p:nvPr>
            <p:ph/>
          </p:nvPr>
        </p:nvSpPr>
        <p:spPr/>
        <p:txBody>
          <a:bodyPr/>
          <a:lstStyle/>
          <a:p>
            <a:pPr eaLnBrk="1" hangingPunct="1">
              <a:lnSpc>
                <a:spcPct val="120000"/>
              </a:lnSpc>
            </a:pPr>
            <a:r>
              <a:rPr lang="en-US" altLang="zh-CN" b="1" dirty="0" err="1">
                <a:latin typeface="Times New Roman" pitchFamily="18" charset="0"/>
              </a:rPr>
              <a:t>Def</a:t>
            </a:r>
            <a:r>
              <a:rPr lang="en-US" altLang="zh-CN" b="1" dirty="0">
                <a:latin typeface="Times New Roman" pitchFamily="18" charset="0"/>
              </a:rPr>
              <a:t>   </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对于命题公式</a:t>
            </a:r>
            <a:r>
              <a:rPr lang="en-US" altLang="zh-CN" b="1" i="1" dirty="0">
                <a:latin typeface="Times New Roman" panose="02020603050405020304" pitchFamily="18" charset="0"/>
                <a:ea typeface="楷体" panose="02010609060101010101" pitchFamily="49" charset="-122"/>
                <a:cs typeface="Times New Roman" panose="02020603050405020304" pitchFamily="18" charset="0"/>
              </a:rPr>
              <a:t>A</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 </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若</a:t>
            </a:r>
            <a:r>
              <a:rPr lang="en-US" altLang="zh-CN" b="1" i="1" dirty="0">
                <a:latin typeface="Times New Roman" panose="02020603050405020304" pitchFamily="18" charset="0"/>
                <a:ea typeface="楷体" panose="02010609060101010101" pitchFamily="49" charset="-122"/>
                <a:cs typeface="Times New Roman" panose="02020603050405020304" pitchFamily="18" charset="0"/>
              </a:rPr>
              <a:t>A</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等值于</a:t>
            </a:r>
            <a:r>
              <a:rPr lang="zh-CN" altLang="en-US" b="1" u="sng" dirty="0">
                <a:latin typeface="Times New Roman" panose="02020603050405020304" pitchFamily="18" charset="0"/>
                <a:ea typeface="楷体" panose="02010609060101010101" pitchFamily="49" charset="-122"/>
                <a:cs typeface="Times New Roman" panose="02020603050405020304" pitchFamily="18" charset="0"/>
              </a:rPr>
              <a:t>由</a:t>
            </a:r>
            <a:r>
              <a:rPr lang="en-US" altLang="zh-CN" b="1" i="1" u="sng" dirty="0">
                <a:latin typeface="Times New Roman" panose="02020603050405020304" pitchFamily="18" charset="0"/>
                <a:ea typeface="楷体" panose="02010609060101010101" pitchFamily="49" charset="-122"/>
                <a:cs typeface="Times New Roman" panose="02020603050405020304" pitchFamily="18" charset="0"/>
              </a:rPr>
              <a:t>A</a:t>
            </a:r>
            <a:r>
              <a:rPr lang="zh-CN" altLang="en-US" b="1" u="sng" dirty="0">
                <a:latin typeface="Times New Roman" panose="02020603050405020304" pitchFamily="18" charset="0"/>
                <a:ea typeface="楷体" panose="02010609060101010101" pitchFamily="49" charset="-122"/>
                <a:cs typeface="Times New Roman" panose="02020603050405020304" pitchFamily="18" charset="0"/>
              </a:rPr>
              <a:t>中所有命题变元产生的</a:t>
            </a:r>
            <a:r>
              <a:rPr lang="zh-CN" altLang="en-US" b="1" u="sng" dirty="0">
                <a:latin typeface="华文行楷" panose="02010800040101010101" pitchFamily="2" charset="-122"/>
                <a:ea typeface="华文行楷" panose="02010800040101010101" pitchFamily="2" charset="-122"/>
                <a:cs typeface="Times New Roman" panose="02020603050405020304" pitchFamily="18" charset="0"/>
              </a:rPr>
              <a:t>若干个</a:t>
            </a:r>
            <a:r>
              <a:rPr lang="zh-CN" altLang="en-US" b="1" u="sng" dirty="0">
                <a:solidFill>
                  <a:srgbClr val="1829A6"/>
                </a:solidFill>
                <a:latin typeface="Times New Roman" panose="02020603050405020304" pitchFamily="18" charset="0"/>
                <a:ea typeface="楷体" panose="02010609060101010101" pitchFamily="49" charset="-122"/>
                <a:cs typeface="Times New Roman" panose="02020603050405020304" pitchFamily="18" charset="0"/>
              </a:rPr>
              <a:t>极小项</a:t>
            </a:r>
            <a:r>
              <a:rPr lang="zh-CN" altLang="en-US" b="1" u="sng" dirty="0">
                <a:latin typeface="Times New Roman" panose="02020603050405020304" pitchFamily="18" charset="0"/>
                <a:ea typeface="楷体" panose="02010609060101010101" pitchFamily="49" charset="-122"/>
                <a:cs typeface="Times New Roman" panose="02020603050405020304" pitchFamily="18" charset="0"/>
              </a:rPr>
              <a:t>的析取</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 </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则把后者称为</a:t>
            </a:r>
            <a:r>
              <a:rPr lang="en-US" altLang="zh-CN" b="1" i="1" dirty="0">
                <a:latin typeface="Times New Roman" panose="02020603050405020304" pitchFamily="18" charset="0"/>
                <a:ea typeface="楷体" panose="02010609060101010101" pitchFamily="49" charset="-122"/>
                <a:cs typeface="Times New Roman" panose="02020603050405020304" pitchFamily="18" charset="0"/>
              </a:rPr>
              <a:t>A</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的</a:t>
            </a:r>
            <a:r>
              <a:rPr lang="zh-CN" altLang="en-US" b="1" dirty="0">
                <a:solidFill>
                  <a:srgbClr val="C00000"/>
                </a:solidFill>
                <a:latin typeface="Times New Roman" panose="02020603050405020304" pitchFamily="18" charset="0"/>
                <a:ea typeface="楷体" panose="02010609060101010101" pitchFamily="49" charset="-122"/>
                <a:cs typeface="Times New Roman" panose="02020603050405020304" pitchFamily="18" charset="0"/>
              </a:rPr>
              <a:t>主析取范式</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(major disjunctive normal form).</a:t>
            </a:r>
          </a:p>
          <a:p>
            <a:pPr eaLnBrk="1" hangingPunct="1">
              <a:lnSpc>
                <a:spcPct val="120000"/>
              </a:lnSpc>
            </a:pPr>
            <a:r>
              <a:rPr lang="zh-CN" altLang="en-US" b="1" dirty="0">
                <a:latin typeface="Times New Roman" panose="02020603050405020304" pitchFamily="18" charset="0"/>
                <a:ea typeface="楷体" panose="02010609060101010101" pitchFamily="49" charset="-122"/>
                <a:cs typeface="Times New Roman" panose="02020603050405020304" pitchFamily="18" charset="0"/>
              </a:rPr>
              <a:t>如</a:t>
            </a:r>
            <a:endParaRPr lang="en-US" altLang="zh-CN" b="1" dirty="0">
              <a:latin typeface="Times New Roman" panose="02020603050405020304" pitchFamily="18" charset="0"/>
              <a:ea typeface="楷体" panose="02010609060101010101" pitchFamily="49" charset="-122"/>
              <a:cs typeface="Times New Roman" panose="02020603050405020304" pitchFamily="18" charset="0"/>
            </a:endParaRPr>
          </a:p>
          <a:p>
            <a:pPr eaLnBrk="1" hangingPunct="1">
              <a:lnSpc>
                <a:spcPct val="120000"/>
              </a:lnSpc>
            </a:pPr>
            <a:r>
              <a:rPr lang="zh-CN" altLang="en-US" b="1" dirty="0">
                <a:latin typeface="Times New Roman" panose="02020603050405020304" pitchFamily="18" charset="0"/>
                <a:ea typeface="楷体" panose="02010609060101010101" pitchFamily="49" charset="-122"/>
                <a:cs typeface="Times New Roman" panose="02020603050405020304" pitchFamily="18" charset="0"/>
              </a:rPr>
              <a:t>含</a:t>
            </a:r>
            <a:r>
              <a:rPr lang="en-US" altLang="zh-CN" b="1" i="1" dirty="0">
                <a:latin typeface="Times New Roman" panose="02020603050405020304" pitchFamily="18" charset="0"/>
                <a:ea typeface="楷体" panose="02010609060101010101" pitchFamily="49" charset="-122"/>
                <a:cs typeface="Times New Roman" panose="02020603050405020304" pitchFamily="18" charset="0"/>
              </a:rPr>
              <a:t>n</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个命题变元的命题公式</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若干个”最大为</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2</a:t>
            </a:r>
            <a:r>
              <a:rPr lang="en-US" altLang="zh-CN" b="1" i="1" baseline="30000" dirty="0">
                <a:latin typeface="Times New Roman" panose="02020603050405020304" pitchFamily="18" charset="0"/>
                <a:ea typeface="楷体" panose="02010609060101010101" pitchFamily="49" charset="-122"/>
                <a:cs typeface="Times New Roman" panose="02020603050405020304" pitchFamily="18" charset="0"/>
              </a:rPr>
              <a:t>n</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 </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最小为</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0. </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所有极小项的析取为永真式</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1, </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而</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0</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个极小项的析取意味着</a:t>
            </a:r>
            <a:r>
              <a:rPr lang="en-US" altLang="zh-CN" b="1" i="1" dirty="0">
                <a:latin typeface="Times New Roman" panose="02020603050405020304" pitchFamily="18" charset="0"/>
                <a:ea typeface="楷体" panose="02010609060101010101" pitchFamily="49" charset="-122"/>
                <a:cs typeface="Times New Roman" panose="02020603050405020304" pitchFamily="18" charset="0"/>
              </a:rPr>
              <a:t>A</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为永假式</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0, </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这时的主析取范式不存在</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 </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除这两种极端情形外</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 </a:t>
            </a:r>
            <a:r>
              <a:rPr lang="en-US" altLang="zh-CN" b="1" i="1" dirty="0">
                <a:latin typeface="Times New Roman" panose="02020603050405020304" pitchFamily="18" charset="0"/>
                <a:ea typeface="楷体" panose="02010609060101010101" pitchFamily="49" charset="-122"/>
                <a:cs typeface="Times New Roman" panose="02020603050405020304" pitchFamily="18" charset="0"/>
              </a:rPr>
              <a:t>A</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均为中性式</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a:t>
            </a:r>
          </a:p>
        </p:txBody>
      </p:sp>
      <p:graphicFrame>
        <p:nvGraphicFramePr>
          <p:cNvPr id="2" name="对象 1">
            <a:extLst>
              <a:ext uri="{FF2B5EF4-FFF2-40B4-BE49-F238E27FC236}">
                <a16:creationId xmlns:a16="http://schemas.microsoft.com/office/drawing/2014/main" id="{E58029C1-5E2B-8D2C-A452-AF36BDD63805}"/>
              </a:ext>
            </a:extLst>
          </p:cNvPr>
          <p:cNvGraphicFramePr>
            <a:graphicFrameLocks noChangeAspect="1"/>
          </p:cNvGraphicFramePr>
          <p:nvPr>
            <p:extLst>
              <p:ext uri="{D42A27DB-BD31-4B8C-83A1-F6EECF244321}">
                <p14:modId xmlns:p14="http://schemas.microsoft.com/office/powerpoint/2010/main" val="2749853252"/>
              </p:ext>
            </p:extLst>
          </p:nvPr>
        </p:nvGraphicFramePr>
        <p:xfrm>
          <a:off x="1403648" y="2780929"/>
          <a:ext cx="7704856" cy="561958"/>
        </p:xfrm>
        <a:graphic>
          <a:graphicData uri="http://schemas.openxmlformats.org/presentationml/2006/ole">
            <mc:AlternateContent xmlns:mc="http://schemas.openxmlformats.org/markup-compatibility/2006">
              <mc:Choice xmlns:v="urn:schemas-microsoft-com:vml" Requires="v">
                <p:oleObj name="Equation" r:id="rId2" imgW="7900429" imgH="576381" progId="Equation.DSMT4">
                  <p:embed/>
                </p:oleObj>
              </mc:Choice>
              <mc:Fallback>
                <p:oleObj name="Equation" r:id="rId2" imgW="7900429" imgH="576381" progId="Equation.DSMT4">
                  <p:embed/>
                  <p:pic>
                    <p:nvPicPr>
                      <p:cNvPr id="0" name=""/>
                      <p:cNvPicPr/>
                      <p:nvPr/>
                    </p:nvPicPr>
                    <p:blipFill>
                      <a:blip r:embed="rId3"/>
                      <a:stretch>
                        <a:fillRect/>
                      </a:stretch>
                    </p:blipFill>
                    <p:spPr>
                      <a:xfrm>
                        <a:off x="1403648" y="2780929"/>
                        <a:ext cx="7704856" cy="561958"/>
                      </a:xfrm>
                      <a:prstGeom prst="rect">
                        <a:avLst/>
                      </a:prstGeom>
                      <a:ln>
                        <a:solidFill>
                          <a:srgbClr val="C00000"/>
                        </a:solidFill>
                      </a:ln>
                    </p:spPr>
                  </p:pic>
                </p:oleObj>
              </mc:Fallback>
            </mc:AlternateContent>
          </a:graphicData>
        </a:graphic>
      </p:graphicFrame>
    </p:spTree>
  </p:cSld>
  <p:clrMapOvr>
    <a:masterClrMapping/>
  </p:clrMapOv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Rectangle 2"/>
          <p:cNvSpPr>
            <a:spLocks noGrp="1" noChangeArrowheads="1"/>
          </p:cNvSpPr>
          <p:nvPr>
            <p:ph/>
          </p:nvPr>
        </p:nvSpPr>
        <p:spPr/>
        <p:txBody>
          <a:bodyPr/>
          <a:lstStyle/>
          <a:p>
            <a:pPr eaLnBrk="1" hangingPunct="1">
              <a:lnSpc>
                <a:spcPct val="120000"/>
              </a:lnSpc>
            </a:pPr>
            <a:r>
              <a:rPr lang="zh-CN" altLang="en-US" b="1" dirty="0">
                <a:latin typeface="Times New Roman" panose="02020603050405020304" pitchFamily="18" charset="0"/>
                <a:ea typeface="楷体" panose="02010609060101010101" pitchFamily="49" charset="-122"/>
                <a:cs typeface="Times New Roman" panose="02020603050405020304" pitchFamily="18" charset="0"/>
              </a:rPr>
              <a:t>显然</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 </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主析取范式是析取范式</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 </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但反过来不成立</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a:t>
            </a:r>
          </a:p>
          <a:p>
            <a:pPr eaLnBrk="1" hangingPunct="1"/>
            <a:endParaRPr lang="en-US" altLang="zh-CN" b="1" dirty="0">
              <a:latin typeface="Times New Roman" pitchFamily="18" charset="0"/>
            </a:endParaRPr>
          </a:p>
          <a:p>
            <a:pPr eaLnBrk="1" hangingPunct="1"/>
            <a:endParaRPr lang="en-US" altLang="zh-CN" dirty="0">
              <a:latin typeface="Times New Roman" pitchFamily="18" charset="0"/>
            </a:endParaRPr>
          </a:p>
          <a:p>
            <a:pPr eaLnBrk="1" hangingPunct="1"/>
            <a:endParaRPr lang="en-US" altLang="zh-CN" dirty="0">
              <a:latin typeface="Times New Roman" pitchFamily="18" charset="0"/>
            </a:endParaRPr>
          </a:p>
        </p:txBody>
      </p:sp>
      <p:graphicFrame>
        <p:nvGraphicFramePr>
          <p:cNvPr id="105475" name="Object 3"/>
          <p:cNvGraphicFramePr>
            <a:graphicFrameLocks noChangeAspect="1"/>
          </p:cNvGraphicFramePr>
          <p:nvPr/>
        </p:nvGraphicFramePr>
        <p:xfrm>
          <a:off x="1692275" y="1484313"/>
          <a:ext cx="5789613" cy="484187"/>
        </p:xfrm>
        <a:graphic>
          <a:graphicData uri="http://schemas.openxmlformats.org/presentationml/2006/ole">
            <mc:AlternateContent xmlns:mc="http://schemas.openxmlformats.org/markup-compatibility/2006">
              <mc:Choice xmlns:v="urn:schemas-microsoft-com:vml" Requires="v">
                <p:oleObj name="Equation" r:id="rId2" imgW="2352588" imgH="123930" progId="Equation.3">
                  <p:embed/>
                </p:oleObj>
              </mc:Choice>
              <mc:Fallback>
                <p:oleObj name="Equation" r:id="rId2" imgW="2352588" imgH="123930" progId="Equation.3">
                  <p:embed/>
                  <p:pic>
                    <p:nvPicPr>
                      <p:cNvPr id="0" name="Object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92275" y="1484313"/>
                        <a:ext cx="5789613" cy="4841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5476" name="Object 4"/>
          <p:cNvGraphicFramePr>
            <a:graphicFrameLocks noChangeAspect="1"/>
          </p:cNvGraphicFramePr>
          <p:nvPr/>
        </p:nvGraphicFramePr>
        <p:xfrm>
          <a:off x="1763713" y="2276475"/>
          <a:ext cx="4484687" cy="1028700"/>
        </p:xfrm>
        <a:graphic>
          <a:graphicData uri="http://schemas.openxmlformats.org/presentationml/2006/ole">
            <mc:AlternateContent xmlns:mc="http://schemas.openxmlformats.org/markup-compatibility/2006">
              <mc:Choice xmlns:v="urn:schemas-microsoft-com:vml" Requires="v">
                <p:oleObj name="Equation" r:id="rId4" imgW="1800166" imgH="352350" progId="Equation.3">
                  <p:embed/>
                </p:oleObj>
              </mc:Choice>
              <mc:Fallback>
                <p:oleObj name="Equation" r:id="rId4" imgW="1800166" imgH="352350" progId="Equation.3">
                  <p:embed/>
                  <p:pic>
                    <p:nvPicPr>
                      <p:cNvPr id="0"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763713" y="2276475"/>
                        <a:ext cx="4484687" cy="1028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5477" name="Object 5"/>
          <p:cNvGraphicFramePr>
            <a:graphicFrameLocks noChangeAspect="1"/>
          </p:cNvGraphicFramePr>
          <p:nvPr/>
        </p:nvGraphicFramePr>
        <p:xfrm>
          <a:off x="1763713" y="3644900"/>
          <a:ext cx="4000500" cy="1028700"/>
        </p:xfrm>
        <a:graphic>
          <a:graphicData uri="http://schemas.openxmlformats.org/presentationml/2006/ole">
            <mc:AlternateContent xmlns:mc="http://schemas.openxmlformats.org/markup-compatibility/2006">
              <mc:Choice xmlns:v="urn:schemas-microsoft-com:vml" Requires="v">
                <p:oleObj name="Equation" r:id="rId6" imgW="1600268" imgH="352350" progId="Equation.3">
                  <p:embed/>
                </p:oleObj>
              </mc:Choice>
              <mc:Fallback>
                <p:oleObj name="Equation" r:id="rId6" imgW="1600268" imgH="352350" progId="Equation.3">
                  <p:embed/>
                  <p:pic>
                    <p:nvPicPr>
                      <p:cNvPr id="0" name="Object 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763713" y="3644900"/>
                        <a:ext cx="4000500" cy="1028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5478" name="Object 6"/>
          <p:cNvGraphicFramePr>
            <a:graphicFrameLocks noChangeAspect="1"/>
          </p:cNvGraphicFramePr>
          <p:nvPr/>
        </p:nvGraphicFramePr>
        <p:xfrm>
          <a:off x="1908175" y="5157788"/>
          <a:ext cx="5122863" cy="1028700"/>
        </p:xfrm>
        <a:graphic>
          <a:graphicData uri="http://schemas.openxmlformats.org/presentationml/2006/ole">
            <mc:AlternateContent xmlns:mc="http://schemas.openxmlformats.org/markup-compatibility/2006">
              <mc:Choice xmlns:v="urn:schemas-microsoft-com:vml" Requires="v">
                <p:oleObj name="Equation" r:id="rId8" imgW="2067057" imgH="352350" progId="Equation.3">
                  <p:embed/>
                </p:oleObj>
              </mc:Choice>
              <mc:Fallback>
                <p:oleObj name="Equation" r:id="rId8" imgW="2067057" imgH="352350" progId="Equation.3">
                  <p:embed/>
                  <p:pic>
                    <p:nvPicPr>
                      <p:cNvPr id="0" name="Object 6"/>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908175" y="5157788"/>
                        <a:ext cx="5122863" cy="1028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 name="八边形 6">
            <a:extLst>
              <a:ext uri="{FF2B5EF4-FFF2-40B4-BE49-F238E27FC236}">
                <a16:creationId xmlns:a16="http://schemas.microsoft.com/office/drawing/2014/main" id="{2BE8D0A8-ABE2-8C4B-827C-0851DFA1EA50}"/>
              </a:ext>
            </a:extLst>
          </p:cNvPr>
          <p:cNvSpPr/>
          <p:nvPr/>
        </p:nvSpPr>
        <p:spPr>
          <a:xfrm>
            <a:off x="5315029" y="1956296"/>
            <a:ext cx="288379" cy="291983"/>
          </a:xfrm>
          <a:prstGeom prst="octagon">
            <a:avLst/>
          </a:prstGeom>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Hans" dirty="0">
                <a:solidFill>
                  <a:srgbClr val="C00000"/>
                </a:solidFill>
              </a:rPr>
              <a:t>1</a:t>
            </a:r>
            <a:endParaRPr kumimoji="1" lang="zh-CN" altLang="en-US" dirty="0">
              <a:solidFill>
                <a:srgbClr val="C00000"/>
              </a:solidFill>
            </a:endParaRPr>
          </a:p>
        </p:txBody>
      </p:sp>
      <p:sp>
        <p:nvSpPr>
          <p:cNvPr id="8" name="八边形 7">
            <a:extLst>
              <a:ext uri="{FF2B5EF4-FFF2-40B4-BE49-F238E27FC236}">
                <a16:creationId xmlns:a16="http://schemas.microsoft.com/office/drawing/2014/main" id="{BE3253AE-C655-FD4D-9F76-110FDA03AA16}"/>
              </a:ext>
            </a:extLst>
          </p:cNvPr>
          <p:cNvSpPr/>
          <p:nvPr/>
        </p:nvSpPr>
        <p:spPr>
          <a:xfrm>
            <a:off x="6587877" y="1988840"/>
            <a:ext cx="288379" cy="291983"/>
          </a:xfrm>
          <a:prstGeom prst="octagon">
            <a:avLst/>
          </a:prstGeom>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Hans" dirty="0">
                <a:solidFill>
                  <a:srgbClr val="C00000"/>
                </a:solidFill>
              </a:rPr>
              <a:t>2</a:t>
            </a:r>
            <a:endParaRPr kumimoji="1" lang="zh-CN" altLang="en-US" dirty="0">
              <a:solidFill>
                <a:srgbClr val="C00000"/>
              </a:solidFill>
            </a:endParaRPr>
          </a:p>
        </p:txBody>
      </p:sp>
      <p:sp>
        <p:nvSpPr>
          <p:cNvPr id="9" name="八边形 8">
            <a:extLst>
              <a:ext uri="{FF2B5EF4-FFF2-40B4-BE49-F238E27FC236}">
                <a16:creationId xmlns:a16="http://schemas.microsoft.com/office/drawing/2014/main" id="{FB54AC6D-6284-B143-96A3-65BC4CD9905D}"/>
              </a:ext>
            </a:extLst>
          </p:cNvPr>
          <p:cNvSpPr/>
          <p:nvPr/>
        </p:nvSpPr>
        <p:spPr>
          <a:xfrm>
            <a:off x="1403896" y="2368725"/>
            <a:ext cx="288379" cy="291983"/>
          </a:xfrm>
          <a:prstGeom prst="octagon">
            <a:avLst/>
          </a:prstGeom>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Hans" dirty="0">
                <a:solidFill>
                  <a:srgbClr val="C00000"/>
                </a:solidFill>
              </a:rPr>
              <a:t>1</a:t>
            </a:r>
            <a:endParaRPr kumimoji="1" lang="zh-CN" altLang="en-US" dirty="0">
              <a:solidFill>
                <a:srgbClr val="C00000"/>
              </a:solidFill>
            </a:endParaRPr>
          </a:p>
        </p:txBody>
      </p:sp>
      <p:sp>
        <p:nvSpPr>
          <p:cNvPr id="10" name="八边形 9">
            <a:extLst>
              <a:ext uri="{FF2B5EF4-FFF2-40B4-BE49-F238E27FC236}">
                <a16:creationId xmlns:a16="http://schemas.microsoft.com/office/drawing/2014/main" id="{631884C5-CF74-BB46-9235-261B5D494769}"/>
              </a:ext>
            </a:extLst>
          </p:cNvPr>
          <p:cNvSpPr/>
          <p:nvPr/>
        </p:nvSpPr>
        <p:spPr>
          <a:xfrm>
            <a:off x="1403895" y="3755348"/>
            <a:ext cx="288379" cy="291983"/>
          </a:xfrm>
          <a:prstGeom prst="octagon">
            <a:avLst/>
          </a:prstGeom>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Hans" dirty="0">
                <a:solidFill>
                  <a:srgbClr val="C00000"/>
                </a:solidFill>
              </a:rPr>
              <a:t>2</a:t>
            </a:r>
            <a:endParaRPr kumimoji="1" lang="zh-CN" altLang="en-US" dirty="0">
              <a:solidFill>
                <a:srgbClr val="C00000"/>
              </a:solidFill>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blinds(horizontal)">
                                      <p:cBhvr>
                                        <p:cTn id="7" dur="500"/>
                                        <p:tgtEl>
                                          <p:spTgt spid="7"/>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blinds(horizontal)">
                                      <p:cBhvr>
                                        <p:cTn id="10" dur="500"/>
                                        <p:tgtEl>
                                          <p:spTgt spid="8"/>
                                        </p:tgtEl>
                                      </p:cBhvr>
                                    </p:animEffec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0547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05477"/>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3" presetClass="entr" presetSubtype="10" fill="hold" nodeType="clickEffect">
                                  <p:stCondLst>
                                    <p:cond delay="0"/>
                                  </p:stCondLst>
                                  <p:childTnLst>
                                    <p:set>
                                      <p:cBhvr>
                                        <p:cTn id="30" dur="1" fill="hold">
                                          <p:stCondLst>
                                            <p:cond delay="0"/>
                                          </p:stCondLst>
                                        </p:cTn>
                                        <p:tgtEl>
                                          <p:spTgt spid="105478"/>
                                        </p:tgtEl>
                                        <p:attrNameLst>
                                          <p:attrName>style.visibility</p:attrName>
                                        </p:attrNameLst>
                                      </p:cBhvr>
                                      <p:to>
                                        <p:strVal val="visible"/>
                                      </p:to>
                                    </p:set>
                                    <p:animEffect transition="in" filter="blinds(horizontal)">
                                      <p:cBhvr>
                                        <p:cTn id="31" dur="500"/>
                                        <p:tgtEl>
                                          <p:spTgt spid="10547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P spid="10" grpId="0"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Rectangle 2"/>
          <p:cNvSpPr>
            <a:spLocks noGrp="1" noChangeArrowheads="1"/>
          </p:cNvSpPr>
          <p:nvPr>
            <p:ph/>
          </p:nvPr>
        </p:nvSpPr>
        <p:spPr>
          <a:xfrm>
            <a:off x="457200" y="745827"/>
            <a:ext cx="8229600" cy="5851525"/>
          </a:xfrm>
        </p:spPr>
        <p:txBody>
          <a:bodyPr/>
          <a:lstStyle/>
          <a:p>
            <a:pPr eaLnBrk="1" hangingPunct="1">
              <a:lnSpc>
                <a:spcPct val="120000"/>
              </a:lnSpc>
            </a:pPr>
            <a:r>
              <a:rPr lang="zh-CN" altLang="en-US" b="1" dirty="0">
                <a:latin typeface="Times New Roman" panose="02020603050405020304" pitchFamily="18" charset="0"/>
                <a:ea typeface="楷体" panose="02010609060101010101" pitchFamily="49" charset="-122"/>
                <a:cs typeface="Times New Roman" panose="02020603050405020304" pitchFamily="18" charset="0"/>
              </a:rPr>
              <a:t>根据这个分析</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 </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我们得到求</a:t>
            </a:r>
            <a:r>
              <a:rPr lang="en-US" altLang="zh-CN" b="1" i="1" dirty="0">
                <a:latin typeface="Times New Roman" panose="02020603050405020304" pitchFamily="18" charset="0"/>
                <a:ea typeface="楷体" panose="02010609060101010101" pitchFamily="49" charset="-122"/>
                <a:cs typeface="Times New Roman" panose="02020603050405020304" pitchFamily="18" charset="0"/>
              </a:rPr>
              <a:t>A</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的主析取范式的第一种方法：</a:t>
            </a:r>
            <a:r>
              <a:rPr lang="zh-CN" altLang="en-US" b="1" dirty="0">
                <a:solidFill>
                  <a:schemeClr val="hlink"/>
                </a:solidFill>
                <a:latin typeface="Times New Roman" panose="02020603050405020304" pitchFamily="18" charset="0"/>
                <a:ea typeface="楷体" panose="02010609060101010101" pitchFamily="49" charset="-122"/>
                <a:cs typeface="Times New Roman" panose="02020603050405020304" pitchFamily="18" charset="0"/>
              </a:rPr>
              <a:t>等值演算法</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a:t>
            </a:r>
          </a:p>
          <a:p>
            <a:pPr eaLnBrk="1" hangingPunct="1">
              <a:lnSpc>
                <a:spcPct val="120000"/>
              </a:lnSpc>
            </a:pPr>
            <a:r>
              <a:rPr lang="zh-CN" altLang="en-US" b="1" dirty="0">
                <a:latin typeface="Times New Roman" panose="02020603050405020304" pitchFamily="18" charset="0"/>
                <a:ea typeface="楷体" panose="02010609060101010101" pitchFamily="49" charset="-122"/>
                <a:cs typeface="Times New Roman" panose="02020603050405020304" pitchFamily="18" charset="0"/>
              </a:rPr>
              <a:t>利用等值演算法求</a:t>
            </a:r>
            <a:r>
              <a:rPr lang="en-US" altLang="zh-CN" b="1" i="1" dirty="0">
                <a:latin typeface="Times New Roman" panose="02020603050405020304" pitchFamily="18" charset="0"/>
                <a:ea typeface="楷体" panose="02010609060101010101" pitchFamily="49" charset="-122"/>
                <a:cs typeface="Times New Roman" panose="02020603050405020304" pitchFamily="18" charset="0"/>
              </a:rPr>
              <a:t>A</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的主析取范式的步骤为</a:t>
            </a:r>
          </a:p>
          <a:p>
            <a:pPr eaLnBrk="1" hangingPunct="1">
              <a:lnSpc>
                <a:spcPct val="120000"/>
              </a:lnSpc>
            </a:pPr>
            <a:r>
              <a:rPr lang="en-US" altLang="zh-CN" b="1" dirty="0">
                <a:latin typeface="Times New Roman" panose="02020603050405020304" pitchFamily="18" charset="0"/>
                <a:ea typeface="楷体" panose="02010609060101010101" pitchFamily="49" charset="-122"/>
                <a:cs typeface="Times New Roman" panose="02020603050405020304" pitchFamily="18" charset="0"/>
              </a:rPr>
              <a:t>Step1 </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求出</a:t>
            </a:r>
            <a:r>
              <a:rPr lang="en-US" altLang="zh-CN" b="1" i="1" dirty="0">
                <a:latin typeface="Times New Roman" panose="02020603050405020304" pitchFamily="18" charset="0"/>
                <a:ea typeface="楷体" panose="02010609060101010101" pitchFamily="49" charset="-122"/>
                <a:cs typeface="Times New Roman" panose="02020603050405020304" pitchFamily="18" charset="0"/>
              </a:rPr>
              <a:t>A</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的析取范式；</a:t>
            </a:r>
          </a:p>
          <a:p>
            <a:pPr eaLnBrk="1" hangingPunct="1">
              <a:lnSpc>
                <a:spcPct val="120000"/>
              </a:lnSpc>
            </a:pPr>
            <a:r>
              <a:rPr lang="en-US" altLang="zh-CN" b="1" dirty="0">
                <a:latin typeface="Times New Roman" panose="02020603050405020304" pitchFamily="18" charset="0"/>
                <a:ea typeface="楷体" panose="02010609060101010101" pitchFamily="49" charset="-122"/>
                <a:cs typeface="Times New Roman" panose="02020603050405020304" pitchFamily="18" charset="0"/>
              </a:rPr>
              <a:t>Step2 </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利用分配律补充所缺少的命题变元</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a:t>
            </a:r>
          </a:p>
          <a:p>
            <a:pPr eaLnBrk="1" hangingPunct="1">
              <a:lnSpc>
                <a:spcPct val="120000"/>
              </a:lnSpc>
            </a:pPr>
            <a:endParaRPr lang="en-US" altLang="zh-CN" sz="2600" b="1" dirty="0">
              <a:latin typeface="Times New Roman" panose="02020603050405020304" pitchFamily="18" charset="0"/>
              <a:ea typeface="楷体" panose="02010609060101010101" pitchFamily="49" charset="-122"/>
              <a:cs typeface="Times New Roman" panose="02020603050405020304" pitchFamily="18" charset="0"/>
            </a:endParaRPr>
          </a:p>
        </p:txBody>
      </p:sp>
    </p:spTree>
  </p:cSld>
  <p:clrMapOvr>
    <a:masterClrMapping/>
  </p:clrMapOvr>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Rectangle 2"/>
          <p:cNvSpPr>
            <a:spLocks noGrp="1" noChangeArrowheads="1"/>
          </p:cNvSpPr>
          <p:nvPr>
            <p:ph/>
          </p:nvPr>
        </p:nvSpPr>
        <p:spPr>
          <a:xfrm>
            <a:off x="457200" y="44624"/>
            <a:ext cx="8229600" cy="5851525"/>
          </a:xfrm>
        </p:spPr>
        <p:txBody>
          <a:bodyPr/>
          <a:lstStyle/>
          <a:p>
            <a:pPr eaLnBrk="1" hangingPunct="1">
              <a:lnSpc>
                <a:spcPct val="120000"/>
              </a:lnSpc>
            </a:pPr>
            <a:r>
              <a:rPr lang="zh-CN" altLang="en-US" b="1" dirty="0">
                <a:latin typeface="Times New Roman" panose="02020603050405020304" pitchFamily="18" charset="0"/>
                <a:ea typeface="楷体" panose="02010609060101010101" pitchFamily="49" charset="-122"/>
                <a:cs typeface="Times New Roman" panose="02020603050405020304" pitchFamily="18" charset="0"/>
              </a:rPr>
              <a:t>显然</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 </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主析取范式是析取范式</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 </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但反过来不成立</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a:t>
            </a:r>
          </a:p>
          <a:p>
            <a:pPr eaLnBrk="1" hangingPunct="1">
              <a:lnSpc>
                <a:spcPct val="120000"/>
              </a:lnSpc>
            </a:pPr>
            <a:endParaRPr lang="en-US" altLang="zh-CN" b="1" dirty="0">
              <a:latin typeface="Times New Roman" panose="02020603050405020304" pitchFamily="18" charset="0"/>
              <a:ea typeface="楷体" panose="02010609060101010101" pitchFamily="49" charset="-122"/>
              <a:cs typeface="Times New Roman" panose="02020603050405020304" pitchFamily="18" charset="0"/>
            </a:endParaRPr>
          </a:p>
          <a:p>
            <a:pPr eaLnBrk="1" hangingPunct="1">
              <a:lnSpc>
                <a:spcPct val="120000"/>
              </a:lnSpc>
            </a:pPr>
            <a:endParaRPr lang="en-US" altLang="zh-CN" b="1" dirty="0">
              <a:latin typeface="Times New Roman" panose="02020603050405020304" pitchFamily="18" charset="0"/>
              <a:ea typeface="楷体" panose="02010609060101010101" pitchFamily="49" charset="-122"/>
              <a:cs typeface="Times New Roman" panose="02020603050405020304" pitchFamily="18" charset="0"/>
            </a:endParaRPr>
          </a:p>
          <a:p>
            <a:pPr eaLnBrk="1" hangingPunct="1">
              <a:lnSpc>
                <a:spcPct val="120000"/>
              </a:lnSpc>
            </a:pPr>
            <a:endParaRPr lang="en-US" altLang="zh-CN" b="1" dirty="0">
              <a:latin typeface="Times New Roman" panose="02020603050405020304" pitchFamily="18" charset="0"/>
              <a:ea typeface="楷体" panose="02010609060101010101" pitchFamily="49" charset="-122"/>
              <a:cs typeface="Times New Roman" panose="02020603050405020304" pitchFamily="18" charset="0"/>
            </a:endParaRPr>
          </a:p>
          <a:p>
            <a:pPr eaLnBrk="1" hangingPunct="1">
              <a:lnSpc>
                <a:spcPct val="120000"/>
              </a:lnSpc>
            </a:pPr>
            <a:endParaRPr lang="en-US" altLang="zh-CN" b="1" dirty="0">
              <a:latin typeface="Times New Roman" panose="02020603050405020304" pitchFamily="18" charset="0"/>
              <a:ea typeface="楷体" panose="02010609060101010101" pitchFamily="49" charset="-122"/>
              <a:cs typeface="Times New Roman" panose="02020603050405020304" pitchFamily="18" charset="0"/>
            </a:endParaRPr>
          </a:p>
          <a:p>
            <a:pPr eaLnBrk="1" hangingPunct="1">
              <a:lnSpc>
                <a:spcPct val="120000"/>
              </a:lnSpc>
            </a:pPr>
            <a:endParaRPr lang="en-US" altLang="zh-CN" b="1" dirty="0">
              <a:latin typeface="Times New Roman" panose="02020603050405020304" pitchFamily="18" charset="0"/>
              <a:ea typeface="楷体" panose="02010609060101010101" pitchFamily="49" charset="-122"/>
              <a:cs typeface="Times New Roman" panose="02020603050405020304" pitchFamily="18" charset="0"/>
            </a:endParaRPr>
          </a:p>
          <a:p>
            <a:pPr eaLnBrk="1" hangingPunct="1">
              <a:lnSpc>
                <a:spcPct val="120000"/>
              </a:lnSpc>
            </a:pPr>
            <a:endParaRPr lang="en-US" altLang="zh-CN" b="1" dirty="0">
              <a:latin typeface="Times New Roman" panose="02020603050405020304" pitchFamily="18" charset="0"/>
              <a:ea typeface="楷体" panose="02010609060101010101" pitchFamily="49" charset="-122"/>
              <a:cs typeface="Times New Roman" panose="02020603050405020304" pitchFamily="18" charset="0"/>
            </a:endParaRPr>
          </a:p>
          <a:p>
            <a:pPr eaLnBrk="1" hangingPunct="1">
              <a:lnSpc>
                <a:spcPct val="120000"/>
              </a:lnSpc>
            </a:pPr>
            <a:endParaRPr lang="en-US" altLang="zh-CN" sz="1600" b="1" dirty="0">
              <a:latin typeface="Times New Roman" panose="02020603050405020304" pitchFamily="18" charset="0"/>
              <a:ea typeface="楷体" panose="02010609060101010101" pitchFamily="49" charset="-122"/>
              <a:cs typeface="Times New Roman" panose="02020603050405020304" pitchFamily="18" charset="0"/>
            </a:endParaRPr>
          </a:p>
          <a:p>
            <a:pPr eaLnBrk="1" hangingPunct="1">
              <a:lnSpc>
                <a:spcPct val="120000"/>
              </a:lnSpc>
            </a:pPr>
            <a:r>
              <a:rPr lang="zh-CN" altLang="en-US" sz="2800" b="1" dirty="0">
                <a:latin typeface="Times New Roman" panose="02020603050405020304" pitchFamily="18" charset="0"/>
                <a:ea typeface="楷体" panose="02010609060101010101" pitchFamily="49" charset="-122"/>
                <a:cs typeface="Times New Roman" panose="02020603050405020304" pitchFamily="18" charset="0"/>
              </a:rPr>
              <a:t>由上面的主析取范式可知</a:t>
            </a:r>
            <a:r>
              <a:rPr lang="en-US" altLang="zh-CN" sz="2800" b="1" dirty="0">
                <a:latin typeface="Times New Roman" panose="02020603050405020304" pitchFamily="18" charset="0"/>
                <a:ea typeface="楷体" panose="02010609060101010101" pitchFamily="49" charset="-122"/>
                <a:cs typeface="Times New Roman" panose="02020603050405020304" pitchFamily="18" charset="0"/>
              </a:rPr>
              <a:t>,</a:t>
            </a:r>
            <a:r>
              <a:rPr lang="zh-CN" altLang="en-US" sz="2800" b="1" dirty="0">
                <a:latin typeface="Times New Roman" panose="02020603050405020304" pitchFamily="18" charset="0"/>
                <a:ea typeface="楷体" panose="02010609060101010101" pitchFamily="49" charset="-122"/>
                <a:cs typeface="Times New Roman" panose="02020603050405020304" pitchFamily="18" charset="0"/>
              </a:rPr>
              <a:t>使</a:t>
            </a:r>
            <a:r>
              <a:rPr lang="en-US" altLang="zh-CN" sz="2800" b="1" i="1" dirty="0">
                <a:latin typeface="Times New Roman" panose="02020603050405020304" pitchFamily="18" charset="0"/>
                <a:ea typeface="楷体" panose="02010609060101010101" pitchFamily="49" charset="-122"/>
                <a:cs typeface="Times New Roman" panose="02020603050405020304" pitchFamily="18" charset="0"/>
              </a:rPr>
              <a:t>A</a:t>
            </a:r>
            <a:r>
              <a:rPr lang="zh-CN" altLang="en-US" sz="2800" b="1" dirty="0">
                <a:latin typeface="Times New Roman" panose="02020603050405020304" pitchFamily="18" charset="0"/>
                <a:ea typeface="楷体" panose="02010609060101010101" pitchFamily="49" charset="-122"/>
                <a:cs typeface="Times New Roman" panose="02020603050405020304" pitchFamily="18" charset="0"/>
              </a:rPr>
              <a:t>取</a:t>
            </a:r>
            <a:r>
              <a:rPr lang="en-US" altLang="zh-CN" sz="2800" b="1" dirty="0">
                <a:latin typeface="Times New Roman" panose="02020603050405020304" pitchFamily="18" charset="0"/>
                <a:ea typeface="楷体" panose="02010609060101010101" pitchFamily="49" charset="-122"/>
                <a:cs typeface="Times New Roman" panose="02020603050405020304" pitchFamily="18" charset="0"/>
              </a:rPr>
              <a:t>1</a:t>
            </a:r>
            <a:r>
              <a:rPr lang="zh-CN" altLang="en-US" sz="2800" b="1" dirty="0">
                <a:latin typeface="Times New Roman" panose="02020603050405020304" pitchFamily="18" charset="0"/>
                <a:ea typeface="楷体" panose="02010609060101010101" pitchFamily="49" charset="-122"/>
                <a:cs typeface="Times New Roman" panose="02020603050405020304" pitchFamily="18" charset="0"/>
              </a:rPr>
              <a:t>的真值指派为</a:t>
            </a:r>
            <a:endParaRPr lang="en-US" altLang="zh-CN" sz="2800" b="1" dirty="0">
              <a:latin typeface="Times New Roman" panose="02020603050405020304" pitchFamily="18" charset="0"/>
              <a:ea typeface="楷体" panose="02010609060101010101" pitchFamily="49" charset="-122"/>
              <a:cs typeface="Times New Roman" panose="02020603050405020304" pitchFamily="18" charset="0"/>
            </a:endParaRPr>
          </a:p>
          <a:p>
            <a:pPr eaLnBrk="1" hangingPunct="1">
              <a:lnSpc>
                <a:spcPct val="120000"/>
              </a:lnSpc>
            </a:pPr>
            <a:r>
              <a:rPr lang="en-US" altLang="zh-CN" sz="2400" b="1" dirty="0">
                <a:latin typeface="Times New Roman" panose="02020603050405020304" pitchFamily="18" charset="0"/>
                <a:ea typeface="楷体" panose="02010609060101010101" pitchFamily="49" charset="-122"/>
                <a:cs typeface="Times New Roman" panose="02020603050405020304" pitchFamily="18" charset="0"/>
              </a:rPr>
              <a:t>(</a:t>
            </a:r>
            <a:r>
              <a:rPr lang="en-US" altLang="zh-CN" sz="2400" b="1" i="1" dirty="0">
                <a:latin typeface="Times New Roman" panose="02020603050405020304" pitchFamily="18" charset="0"/>
                <a:ea typeface="楷体" panose="02010609060101010101" pitchFamily="49" charset="-122"/>
                <a:cs typeface="Times New Roman" panose="02020603050405020304" pitchFamily="18" charset="0"/>
              </a:rPr>
              <a:t>p</a:t>
            </a:r>
            <a:r>
              <a:rPr lang="en-US" altLang="zh-CN" sz="2400" b="1" dirty="0">
                <a:latin typeface="Times New Roman" panose="02020603050405020304" pitchFamily="18" charset="0"/>
                <a:ea typeface="楷体" panose="02010609060101010101" pitchFamily="49" charset="-122"/>
                <a:cs typeface="Times New Roman" panose="02020603050405020304" pitchFamily="18" charset="0"/>
              </a:rPr>
              <a:t>, </a:t>
            </a:r>
            <a:r>
              <a:rPr lang="en-US" altLang="zh-CN" sz="2400" b="1" i="1" dirty="0">
                <a:latin typeface="Times New Roman" panose="02020603050405020304" pitchFamily="18" charset="0"/>
                <a:ea typeface="楷体" panose="02010609060101010101" pitchFamily="49" charset="-122"/>
                <a:cs typeface="Times New Roman" panose="02020603050405020304" pitchFamily="18" charset="0"/>
              </a:rPr>
              <a:t>q</a:t>
            </a:r>
            <a:r>
              <a:rPr lang="en-US" altLang="zh-CN" sz="2400" b="1" dirty="0">
                <a:latin typeface="Times New Roman" panose="02020603050405020304" pitchFamily="18" charset="0"/>
                <a:ea typeface="楷体" panose="02010609060101010101" pitchFamily="49" charset="-122"/>
                <a:cs typeface="Times New Roman" panose="02020603050405020304" pitchFamily="18" charset="0"/>
              </a:rPr>
              <a:t>, </a:t>
            </a:r>
            <a:r>
              <a:rPr lang="en-US" altLang="zh-CN" sz="2400" b="1" i="1" dirty="0">
                <a:latin typeface="Times New Roman" panose="02020603050405020304" pitchFamily="18" charset="0"/>
                <a:ea typeface="楷体" panose="02010609060101010101" pitchFamily="49" charset="-122"/>
                <a:cs typeface="Times New Roman" panose="02020603050405020304" pitchFamily="18" charset="0"/>
              </a:rPr>
              <a:t>r</a:t>
            </a:r>
            <a:r>
              <a:rPr lang="en-US" altLang="zh-CN" sz="2400" b="1" dirty="0">
                <a:latin typeface="Times New Roman" panose="02020603050405020304" pitchFamily="18" charset="0"/>
                <a:ea typeface="楷体" panose="02010609060101010101" pitchFamily="49" charset="-122"/>
                <a:cs typeface="Times New Roman" panose="02020603050405020304" pitchFamily="18" charset="0"/>
              </a:rPr>
              <a:t>) = (1, 0, 0), (0, 1, 1), (0, 0, 1), (1, 1, 1). </a:t>
            </a:r>
          </a:p>
          <a:p>
            <a:pPr eaLnBrk="1" hangingPunct="1"/>
            <a:endParaRPr lang="en-US" altLang="zh-CN" b="1" dirty="0">
              <a:latin typeface="Times New Roman" pitchFamily="18" charset="0"/>
            </a:endParaRPr>
          </a:p>
          <a:p>
            <a:pPr eaLnBrk="1" hangingPunct="1"/>
            <a:endParaRPr lang="en-US" altLang="zh-CN" dirty="0">
              <a:latin typeface="Times New Roman" pitchFamily="18" charset="0"/>
            </a:endParaRPr>
          </a:p>
          <a:p>
            <a:pPr eaLnBrk="1" hangingPunct="1"/>
            <a:endParaRPr lang="en-US" altLang="zh-CN" dirty="0">
              <a:latin typeface="Times New Roman" pitchFamily="18" charset="0"/>
            </a:endParaRPr>
          </a:p>
        </p:txBody>
      </p:sp>
      <p:graphicFrame>
        <p:nvGraphicFramePr>
          <p:cNvPr id="105475" name="Object 3"/>
          <p:cNvGraphicFramePr>
            <a:graphicFrameLocks noChangeAspect="1"/>
          </p:cNvGraphicFramePr>
          <p:nvPr>
            <p:extLst>
              <p:ext uri="{D42A27DB-BD31-4B8C-83A1-F6EECF244321}">
                <p14:modId xmlns:p14="http://schemas.microsoft.com/office/powerpoint/2010/main" val="1971477582"/>
              </p:ext>
            </p:extLst>
          </p:nvPr>
        </p:nvGraphicFramePr>
        <p:xfrm>
          <a:off x="1878731" y="1196752"/>
          <a:ext cx="5789613" cy="484187"/>
        </p:xfrm>
        <a:graphic>
          <a:graphicData uri="http://schemas.openxmlformats.org/presentationml/2006/ole">
            <mc:AlternateContent xmlns:mc="http://schemas.openxmlformats.org/markup-compatibility/2006">
              <mc:Choice xmlns:v="urn:schemas-microsoft-com:vml" Requires="v">
                <p:oleObj name="Equation" r:id="rId2" imgW="2352588" imgH="123930" progId="Equation.3">
                  <p:embed/>
                </p:oleObj>
              </mc:Choice>
              <mc:Fallback>
                <p:oleObj name="Equation" r:id="rId2" imgW="2352588" imgH="123930" progId="Equation.3">
                  <p:embed/>
                  <p:pic>
                    <p:nvPicPr>
                      <p:cNvPr id="105475" name="Object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78731" y="1196752"/>
                        <a:ext cx="5789613" cy="4841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5476" name="Object 4"/>
          <p:cNvGraphicFramePr>
            <a:graphicFrameLocks noChangeAspect="1"/>
          </p:cNvGraphicFramePr>
          <p:nvPr>
            <p:extLst>
              <p:ext uri="{D42A27DB-BD31-4B8C-83A1-F6EECF244321}">
                <p14:modId xmlns:p14="http://schemas.microsoft.com/office/powerpoint/2010/main" val="2474943881"/>
              </p:ext>
            </p:extLst>
          </p:nvPr>
        </p:nvGraphicFramePr>
        <p:xfrm>
          <a:off x="1950169" y="1988914"/>
          <a:ext cx="4484687" cy="1028700"/>
        </p:xfrm>
        <a:graphic>
          <a:graphicData uri="http://schemas.openxmlformats.org/presentationml/2006/ole">
            <mc:AlternateContent xmlns:mc="http://schemas.openxmlformats.org/markup-compatibility/2006">
              <mc:Choice xmlns:v="urn:schemas-microsoft-com:vml" Requires="v">
                <p:oleObj name="Equation" r:id="rId4" imgW="1800166" imgH="352350" progId="Equation.3">
                  <p:embed/>
                </p:oleObj>
              </mc:Choice>
              <mc:Fallback>
                <p:oleObj name="Equation" r:id="rId4" imgW="1800166" imgH="352350" progId="Equation.3">
                  <p:embed/>
                  <p:pic>
                    <p:nvPicPr>
                      <p:cNvPr id="105476"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950169" y="1988914"/>
                        <a:ext cx="4484687" cy="1028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5477" name="Object 5"/>
          <p:cNvGraphicFramePr>
            <a:graphicFrameLocks noChangeAspect="1"/>
          </p:cNvGraphicFramePr>
          <p:nvPr>
            <p:extLst>
              <p:ext uri="{D42A27DB-BD31-4B8C-83A1-F6EECF244321}">
                <p14:modId xmlns:p14="http://schemas.microsoft.com/office/powerpoint/2010/main" val="1450392748"/>
              </p:ext>
            </p:extLst>
          </p:nvPr>
        </p:nvGraphicFramePr>
        <p:xfrm>
          <a:off x="1950169" y="3357339"/>
          <a:ext cx="4000500" cy="1028700"/>
        </p:xfrm>
        <a:graphic>
          <a:graphicData uri="http://schemas.openxmlformats.org/presentationml/2006/ole">
            <mc:AlternateContent xmlns:mc="http://schemas.openxmlformats.org/markup-compatibility/2006">
              <mc:Choice xmlns:v="urn:schemas-microsoft-com:vml" Requires="v">
                <p:oleObj name="Equation" r:id="rId6" imgW="1600268" imgH="352350" progId="Equation.3">
                  <p:embed/>
                </p:oleObj>
              </mc:Choice>
              <mc:Fallback>
                <p:oleObj name="Equation" r:id="rId6" imgW="1600268" imgH="352350" progId="Equation.3">
                  <p:embed/>
                  <p:pic>
                    <p:nvPicPr>
                      <p:cNvPr id="105477" name="Object 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950169" y="3357339"/>
                        <a:ext cx="4000500" cy="1028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5478" name="Object 6"/>
          <p:cNvGraphicFramePr>
            <a:graphicFrameLocks noChangeAspect="1"/>
          </p:cNvGraphicFramePr>
          <p:nvPr>
            <p:extLst>
              <p:ext uri="{D42A27DB-BD31-4B8C-83A1-F6EECF244321}">
                <p14:modId xmlns:p14="http://schemas.microsoft.com/office/powerpoint/2010/main" val="2426048158"/>
              </p:ext>
            </p:extLst>
          </p:nvPr>
        </p:nvGraphicFramePr>
        <p:xfrm>
          <a:off x="2094160" y="4597970"/>
          <a:ext cx="5122863" cy="1028700"/>
        </p:xfrm>
        <a:graphic>
          <a:graphicData uri="http://schemas.openxmlformats.org/presentationml/2006/ole">
            <mc:AlternateContent xmlns:mc="http://schemas.openxmlformats.org/markup-compatibility/2006">
              <mc:Choice xmlns:v="urn:schemas-microsoft-com:vml" Requires="v">
                <p:oleObj name="Equation" r:id="rId8" imgW="2067057" imgH="352350" progId="Equation.3">
                  <p:embed/>
                </p:oleObj>
              </mc:Choice>
              <mc:Fallback>
                <p:oleObj name="Equation" r:id="rId8" imgW="2067057" imgH="352350" progId="Equation.3">
                  <p:embed/>
                  <p:pic>
                    <p:nvPicPr>
                      <p:cNvPr id="105478" name="Object 6"/>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094160" y="4597970"/>
                        <a:ext cx="5122863" cy="1028700"/>
                      </a:xfrm>
                      <a:prstGeom prst="rect">
                        <a:avLst/>
                      </a:prstGeom>
                      <a:noFill/>
                      <a:ln w="12700">
                        <a:solidFill>
                          <a:srgbClr val="C00000"/>
                        </a:solidFill>
                      </a:ln>
                      <a:effectLst/>
                    </p:spPr>
                  </p:pic>
                </p:oleObj>
              </mc:Fallback>
            </mc:AlternateContent>
          </a:graphicData>
        </a:graphic>
      </p:graphicFrame>
      <p:sp>
        <p:nvSpPr>
          <p:cNvPr id="7" name="八边形 6">
            <a:extLst>
              <a:ext uri="{FF2B5EF4-FFF2-40B4-BE49-F238E27FC236}">
                <a16:creationId xmlns:a16="http://schemas.microsoft.com/office/drawing/2014/main" id="{2BE8D0A8-ABE2-8C4B-827C-0851DFA1EA50}"/>
              </a:ext>
            </a:extLst>
          </p:cNvPr>
          <p:cNvSpPr/>
          <p:nvPr/>
        </p:nvSpPr>
        <p:spPr>
          <a:xfrm>
            <a:off x="5501485" y="1668735"/>
            <a:ext cx="288379" cy="291983"/>
          </a:xfrm>
          <a:prstGeom prst="octagon">
            <a:avLst/>
          </a:prstGeom>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Hans" dirty="0">
                <a:solidFill>
                  <a:srgbClr val="C00000"/>
                </a:solidFill>
              </a:rPr>
              <a:t>1</a:t>
            </a:r>
            <a:endParaRPr kumimoji="1" lang="zh-CN" altLang="en-US" dirty="0">
              <a:solidFill>
                <a:srgbClr val="C00000"/>
              </a:solidFill>
            </a:endParaRPr>
          </a:p>
        </p:txBody>
      </p:sp>
      <p:sp>
        <p:nvSpPr>
          <p:cNvPr id="8" name="八边形 7">
            <a:extLst>
              <a:ext uri="{FF2B5EF4-FFF2-40B4-BE49-F238E27FC236}">
                <a16:creationId xmlns:a16="http://schemas.microsoft.com/office/drawing/2014/main" id="{BE3253AE-C655-FD4D-9F76-110FDA03AA16}"/>
              </a:ext>
            </a:extLst>
          </p:cNvPr>
          <p:cNvSpPr/>
          <p:nvPr/>
        </p:nvSpPr>
        <p:spPr>
          <a:xfrm>
            <a:off x="6774333" y="1701279"/>
            <a:ext cx="288379" cy="291983"/>
          </a:xfrm>
          <a:prstGeom prst="octagon">
            <a:avLst/>
          </a:prstGeom>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Hans" dirty="0">
                <a:solidFill>
                  <a:srgbClr val="C00000"/>
                </a:solidFill>
              </a:rPr>
              <a:t>2</a:t>
            </a:r>
            <a:endParaRPr kumimoji="1" lang="zh-CN" altLang="en-US" dirty="0">
              <a:solidFill>
                <a:srgbClr val="C00000"/>
              </a:solidFill>
            </a:endParaRPr>
          </a:p>
        </p:txBody>
      </p:sp>
      <p:sp>
        <p:nvSpPr>
          <p:cNvPr id="9" name="八边形 8">
            <a:extLst>
              <a:ext uri="{FF2B5EF4-FFF2-40B4-BE49-F238E27FC236}">
                <a16:creationId xmlns:a16="http://schemas.microsoft.com/office/drawing/2014/main" id="{FB54AC6D-6284-B143-96A3-65BC4CD9905D}"/>
              </a:ext>
            </a:extLst>
          </p:cNvPr>
          <p:cNvSpPr/>
          <p:nvPr/>
        </p:nvSpPr>
        <p:spPr>
          <a:xfrm>
            <a:off x="1590352" y="2081164"/>
            <a:ext cx="288379" cy="291983"/>
          </a:xfrm>
          <a:prstGeom prst="octagon">
            <a:avLst/>
          </a:prstGeom>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Hans" dirty="0">
                <a:solidFill>
                  <a:srgbClr val="C00000"/>
                </a:solidFill>
              </a:rPr>
              <a:t>1</a:t>
            </a:r>
            <a:endParaRPr kumimoji="1" lang="zh-CN" altLang="en-US" dirty="0">
              <a:solidFill>
                <a:srgbClr val="C00000"/>
              </a:solidFill>
            </a:endParaRPr>
          </a:p>
        </p:txBody>
      </p:sp>
      <p:sp>
        <p:nvSpPr>
          <p:cNvPr id="10" name="八边形 9">
            <a:extLst>
              <a:ext uri="{FF2B5EF4-FFF2-40B4-BE49-F238E27FC236}">
                <a16:creationId xmlns:a16="http://schemas.microsoft.com/office/drawing/2014/main" id="{631884C5-CF74-BB46-9235-261B5D494769}"/>
              </a:ext>
            </a:extLst>
          </p:cNvPr>
          <p:cNvSpPr/>
          <p:nvPr/>
        </p:nvSpPr>
        <p:spPr>
          <a:xfrm>
            <a:off x="1590351" y="3467787"/>
            <a:ext cx="288379" cy="291983"/>
          </a:xfrm>
          <a:prstGeom prst="octagon">
            <a:avLst/>
          </a:prstGeom>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Hans" dirty="0">
                <a:solidFill>
                  <a:srgbClr val="C00000"/>
                </a:solidFill>
              </a:rPr>
              <a:t>2</a:t>
            </a:r>
            <a:endParaRPr kumimoji="1" lang="zh-CN" altLang="en-US" dirty="0">
              <a:solidFill>
                <a:srgbClr val="C00000"/>
              </a:solidFill>
            </a:endParaRPr>
          </a:p>
        </p:txBody>
      </p:sp>
    </p:spTree>
    <p:extLst>
      <p:ext uri="{BB962C8B-B14F-4D97-AF65-F5344CB8AC3E}">
        <p14:creationId xmlns:p14="http://schemas.microsoft.com/office/powerpoint/2010/main" val="2232498813"/>
      </p:ext>
    </p:extLst>
  </p:cSld>
  <p:clrMapOvr>
    <a:masterClrMapping/>
  </p:clrMapOvr>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8674" name="Rectangle 2"/>
              <p:cNvSpPr>
                <a:spLocks noGrp="1" noChangeArrowheads="1"/>
              </p:cNvSpPr>
              <p:nvPr>
                <p:ph/>
              </p:nvPr>
            </p:nvSpPr>
            <p:spPr/>
            <p:txBody>
              <a:bodyPr/>
              <a:lstStyle/>
              <a:p>
                <a:pPr>
                  <a:lnSpc>
                    <a:spcPct val="120000"/>
                  </a:lnSpc>
                </a:pPr>
                <a:r>
                  <a:rPr lang="zh-CN" altLang="en-US" b="1" dirty="0">
                    <a:latin typeface="Times New Roman" panose="02020603050405020304" pitchFamily="18" charset="0"/>
                    <a:ea typeface="楷体" panose="02010609060101010101" pitchFamily="49" charset="-122"/>
                    <a:cs typeface="Times New Roman" panose="02020603050405020304" pitchFamily="18" charset="0"/>
                  </a:rPr>
                  <a:t>第</a:t>
                </a:r>
                <a:r>
                  <a:rPr lang="zh-Hans" altLang="en-US" b="1" dirty="0">
                    <a:latin typeface="Times New Roman" panose="02020603050405020304" pitchFamily="18" charset="0"/>
                    <a:ea typeface="楷体" panose="02010609060101010101" pitchFamily="49" charset="-122"/>
                    <a:cs typeface="Times New Roman" panose="02020603050405020304" pitchFamily="18" charset="0"/>
                  </a:rPr>
                  <a:t>二</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种方法：利用真值表求</a:t>
                </a:r>
                <a:r>
                  <a:rPr lang="zh-CN" altLang="en-US" b="1" dirty="0">
                    <a:solidFill>
                      <a:srgbClr val="C00000"/>
                    </a:solidFill>
                    <a:latin typeface="Times New Roman" panose="02020603050405020304" pitchFamily="18" charset="0"/>
                    <a:ea typeface="楷体" panose="02010609060101010101" pitchFamily="49" charset="-122"/>
                    <a:cs typeface="Times New Roman" panose="02020603050405020304" pitchFamily="18" charset="0"/>
                  </a:rPr>
                  <a:t>主析取范式</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的</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3</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个步骤为</a:t>
                </a:r>
              </a:p>
              <a:p>
                <a:pPr>
                  <a:lnSpc>
                    <a:spcPct val="120000"/>
                  </a:lnSpc>
                </a:pPr>
                <a:r>
                  <a:rPr lang="en-US" altLang="zh-CN" b="1" dirty="0">
                    <a:solidFill>
                      <a:srgbClr val="1829A6"/>
                    </a:solidFill>
                    <a:latin typeface="Times New Roman" panose="02020603050405020304" pitchFamily="18" charset="0"/>
                    <a:ea typeface="楷体" panose="02010609060101010101" pitchFamily="49" charset="-122"/>
                    <a:cs typeface="Times New Roman" panose="02020603050405020304" pitchFamily="18" charset="0"/>
                  </a:rPr>
                  <a:t>Step1</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 </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写出命题公式</a:t>
                </a:r>
                <a:r>
                  <a:rPr lang="en-US" altLang="zh-CN" b="1" i="1" dirty="0">
                    <a:latin typeface="Times New Roman" panose="02020603050405020304" pitchFamily="18" charset="0"/>
                    <a:ea typeface="楷体" panose="02010609060101010101" pitchFamily="49" charset="-122"/>
                    <a:cs typeface="Times New Roman" panose="02020603050405020304" pitchFamily="18" charset="0"/>
                  </a:rPr>
                  <a:t>A</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的真值表</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a:t>
                </a:r>
                <a:endParaRPr lang="zh-CN" altLang="en-US" b="1" dirty="0">
                  <a:latin typeface="Times New Roman" panose="02020603050405020304" pitchFamily="18" charset="0"/>
                  <a:ea typeface="楷体" panose="02010609060101010101" pitchFamily="49" charset="-122"/>
                  <a:cs typeface="Times New Roman" panose="02020603050405020304" pitchFamily="18" charset="0"/>
                </a:endParaRPr>
              </a:p>
              <a:p>
                <a:pPr>
                  <a:lnSpc>
                    <a:spcPct val="120000"/>
                  </a:lnSpc>
                </a:pPr>
                <a:r>
                  <a:rPr lang="en-US" altLang="zh-CN" b="1" dirty="0">
                    <a:solidFill>
                      <a:srgbClr val="1829A6"/>
                    </a:solidFill>
                    <a:latin typeface="Times New Roman" panose="02020603050405020304" pitchFamily="18" charset="0"/>
                    <a:ea typeface="楷体" panose="02010609060101010101" pitchFamily="49" charset="-122"/>
                    <a:cs typeface="Times New Roman" panose="02020603050405020304" pitchFamily="18" charset="0"/>
                  </a:rPr>
                  <a:t>Step2</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 </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对于使</a:t>
                </a:r>
                <a:r>
                  <a:rPr lang="en-US" altLang="zh-CN" b="1" i="1" dirty="0">
                    <a:latin typeface="Times New Roman" panose="02020603050405020304" pitchFamily="18" charset="0"/>
                    <a:ea typeface="楷体" panose="02010609060101010101" pitchFamily="49" charset="-122"/>
                    <a:cs typeface="Times New Roman" panose="02020603050405020304" pitchFamily="18" charset="0"/>
                  </a:rPr>
                  <a:t>A</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取</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1</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的指派</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写出对应的</a:t>
                </a:r>
                <a:r>
                  <a:rPr lang="zh-CN" altLang="en-US" b="1" dirty="0">
                    <a:solidFill>
                      <a:srgbClr val="C00000"/>
                    </a:solidFill>
                    <a:latin typeface="Times New Roman" panose="02020603050405020304" pitchFamily="18" charset="0"/>
                    <a:ea typeface="楷体" panose="02010609060101010101" pitchFamily="49" charset="-122"/>
                    <a:cs typeface="Times New Roman" panose="02020603050405020304" pitchFamily="18" charset="0"/>
                  </a:rPr>
                  <a:t>极小项</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使该极小项在该指派下也为</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1.</a:t>
                </a:r>
                <a:endParaRPr lang="zh-CN" altLang="en-US" b="1" dirty="0">
                  <a:latin typeface="Times New Roman" panose="02020603050405020304" pitchFamily="18" charset="0"/>
                  <a:ea typeface="楷体" panose="02010609060101010101" pitchFamily="49" charset="-122"/>
                  <a:cs typeface="Times New Roman" panose="02020603050405020304" pitchFamily="18" charset="0"/>
                </a:endParaRPr>
              </a:p>
              <a:p>
                <a:pPr>
                  <a:lnSpc>
                    <a:spcPct val="120000"/>
                  </a:lnSpc>
                </a:pPr>
                <a14:m>
                  <m:oMath xmlns:m="http://schemas.openxmlformats.org/officeDocument/2006/math">
                    <m:d>
                      <m:dPr>
                        <m:ctrlPr>
                          <a:rPr lang="en-US" altLang="zh-CN" b="1" i="1" smtClean="0">
                            <a:latin typeface="Cambria Math" panose="02040503050406030204" pitchFamily="18" charset="0"/>
                            <a:ea typeface="楷体" panose="02010609060101010101" pitchFamily="49" charset="-122"/>
                            <a:cs typeface="Times New Roman" panose="02020603050405020304" pitchFamily="18" charset="0"/>
                          </a:rPr>
                        </m:ctrlPr>
                      </m:dPr>
                      <m:e>
                        <m:r>
                          <a:rPr lang="en-US" altLang="zh-CN" b="1" i="1" smtClean="0">
                            <a:latin typeface="Cambria Math"/>
                            <a:ea typeface="楷体" panose="02010609060101010101" pitchFamily="49" charset="-122"/>
                            <a:cs typeface="Times New Roman" panose="02020603050405020304" pitchFamily="18" charset="0"/>
                          </a:rPr>
                          <m:t>𝒑</m:t>
                        </m:r>
                        <m:r>
                          <a:rPr lang="en-US" altLang="zh-CN" b="1" i="1" smtClean="0">
                            <a:latin typeface="Cambria Math"/>
                            <a:ea typeface="楷体" panose="02010609060101010101" pitchFamily="49" charset="-122"/>
                            <a:cs typeface="Times New Roman" panose="02020603050405020304" pitchFamily="18" charset="0"/>
                          </a:rPr>
                          <m:t>,</m:t>
                        </m:r>
                        <m:r>
                          <a:rPr lang="en-US" altLang="zh-CN" b="1" i="1" smtClean="0">
                            <a:latin typeface="Cambria Math"/>
                            <a:ea typeface="楷体" panose="02010609060101010101" pitchFamily="49" charset="-122"/>
                            <a:cs typeface="Times New Roman" panose="02020603050405020304" pitchFamily="18" charset="0"/>
                          </a:rPr>
                          <m:t>𝒒</m:t>
                        </m:r>
                        <m:r>
                          <a:rPr lang="en-US" altLang="zh-CN" b="1" i="1" smtClean="0">
                            <a:latin typeface="Cambria Math"/>
                            <a:ea typeface="楷体" panose="02010609060101010101" pitchFamily="49" charset="-122"/>
                            <a:cs typeface="Times New Roman" panose="02020603050405020304" pitchFamily="18" charset="0"/>
                          </a:rPr>
                          <m:t>,</m:t>
                        </m:r>
                        <m:r>
                          <a:rPr lang="en-US" altLang="zh-CN" b="1" i="1" smtClean="0">
                            <a:latin typeface="Cambria Math"/>
                            <a:ea typeface="楷体" panose="02010609060101010101" pitchFamily="49" charset="-122"/>
                            <a:cs typeface="Times New Roman" panose="02020603050405020304" pitchFamily="18" charset="0"/>
                          </a:rPr>
                          <m:t>𝒓</m:t>
                        </m:r>
                      </m:e>
                    </m:d>
                    <m:r>
                      <a:rPr lang="en-US" altLang="zh-CN" b="1" i="1" smtClean="0">
                        <a:latin typeface="Cambria Math"/>
                        <a:ea typeface="楷体" panose="02010609060101010101" pitchFamily="49" charset="-122"/>
                        <a:cs typeface="Times New Roman" panose="02020603050405020304" pitchFamily="18" charset="0"/>
                      </a:rPr>
                      <m:t>=(</m:t>
                    </m:r>
                    <m:r>
                      <a:rPr lang="en-US" altLang="zh-CN" b="1" i="1" smtClean="0">
                        <a:latin typeface="Cambria Math"/>
                        <a:ea typeface="楷体" panose="02010609060101010101" pitchFamily="49" charset="-122"/>
                        <a:cs typeface="Times New Roman" panose="02020603050405020304" pitchFamily="18" charset="0"/>
                      </a:rPr>
                      <m:t>𝟏</m:t>
                    </m:r>
                    <m:r>
                      <a:rPr lang="en-US" altLang="zh-CN" b="1" i="1" smtClean="0">
                        <a:latin typeface="Cambria Math"/>
                        <a:ea typeface="楷体" panose="02010609060101010101" pitchFamily="49" charset="-122"/>
                        <a:cs typeface="Times New Roman" panose="02020603050405020304" pitchFamily="18" charset="0"/>
                      </a:rPr>
                      <m:t>,</m:t>
                    </m:r>
                    <m:r>
                      <a:rPr lang="en-US" altLang="zh-CN" b="1" i="1" smtClean="0">
                        <a:latin typeface="Cambria Math"/>
                        <a:ea typeface="楷体" panose="02010609060101010101" pitchFamily="49" charset="-122"/>
                        <a:cs typeface="Times New Roman" panose="02020603050405020304" pitchFamily="18" charset="0"/>
                      </a:rPr>
                      <m:t>𝟏</m:t>
                    </m:r>
                    <m:r>
                      <a:rPr lang="en-US" altLang="zh-CN" b="1" i="1" smtClean="0">
                        <a:latin typeface="Cambria Math"/>
                        <a:ea typeface="楷体" panose="02010609060101010101" pitchFamily="49" charset="-122"/>
                        <a:cs typeface="Times New Roman" panose="02020603050405020304" pitchFamily="18" charset="0"/>
                      </a:rPr>
                      <m:t>,</m:t>
                    </m:r>
                    <m:r>
                      <a:rPr lang="en-US" altLang="zh-CN" b="1" i="1" smtClean="0">
                        <a:latin typeface="Cambria Math"/>
                        <a:ea typeface="楷体" panose="02010609060101010101" pitchFamily="49" charset="-122"/>
                        <a:cs typeface="Times New Roman" panose="02020603050405020304" pitchFamily="18" charset="0"/>
                      </a:rPr>
                      <m:t>𝟏</m:t>
                    </m:r>
                    <m:r>
                      <a:rPr lang="en-US" altLang="zh-CN" b="1" i="1" smtClean="0">
                        <a:latin typeface="Cambria Math"/>
                        <a:ea typeface="楷体" panose="02010609060101010101" pitchFamily="49" charset="-122"/>
                        <a:cs typeface="Times New Roman" panose="02020603050405020304" pitchFamily="18" charset="0"/>
                      </a:rPr>
                      <m:t>)⇒</m:t>
                    </m:r>
                    <m:r>
                      <a:rPr lang="en-US" altLang="zh-CN" b="1" i="1" smtClean="0">
                        <a:latin typeface="Cambria Math"/>
                        <a:ea typeface="Cambria Math"/>
                        <a:cs typeface="Times New Roman" panose="02020603050405020304" pitchFamily="18" charset="0"/>
                      </a:rPr>
                      <m:t>𝒑</m:t>
                    </m:r>
                    <m:r>
                      <a:rPr lang="en-US" altLang="zh-CN" b="1" i="1" smtClean="0">
                        <a:latin typeface="Cambria Math"/>
                        <a:ea typeface="Cambria Math"/>
                        <a:cs typeface="Times New Roman" panose="02020603050405020304" pitchFamily="18" charset="0"/>
                      </a:rPr>
                      <m:t>∧</m:t>
                    </m:r>
                    <m:r>
                      <a:rPr lang="en-US" altLang="zh-CN" b="1" i="1" smtClean="0">
                        <a:latin typeface="Cambria Math"/>
                        <a:ea typeface="Cambria Math"/>
                        <a:cs typeface="Times New Roman" panose="02020603050405020304" pitchFamily="18" charset="0"/>
                      </a:rPr>
                      <m:t>𝒒</m:t>
                    </m:r>
                    <m:r>
                      <a:rPr lang="en-US" altLang="zh-CN" b="1" i="1" smtClean="0">
                        <a:latin typeface="Cambria Math"/>
                        <a:ea typeface="Cambria Math"/>
                        <a:cs typeface="Times New Roman" panose="02020603050405020304" pitchFamily="18" charset="0"/>
                      </a:rPr>
                      <m:t>∧</m:t>
                    </m:r>
                    <m:r>
                      <a:rPr lang="en-US" altLang="zh-CN" b="1" i="1" smtClean="0">
                        <a:latin typeface="Cambria Math"/>
                        <a:ea typeface="Cambria Math"/>
                        <a:cs typeface="Times New Roman" panose="02020603050405020304" pitchFamily="18" charset="0"/>
                      </a:rPr>
                      <m:t>𝒓</m:t>
                    </m:r>
                  </m:oMath>
                </a14:m>
                <a:endParaRPr lang="zh-CN" altLang="en-US" b="1" dirty="0">
                  <a:latin typeface="Times New Roman" panose="02020603050405020304" pitchFamily="18" charset="0"/>
                  <a:ea typeface="楷体" panose="02010609060101010101" pitchFamily="49" charset="-122"/>
                  <a:cs typeface="Times New Roman" panose="02020603050405020304" pitchFamily="18" charset="0"/>
                </a:endParaRPr>
              </a:p>
              <a:p>
                <a:pPr>
                  <a:lnSpc>
                    <a:spcPct val="120000"/>
                  </a:lnSpc>
                </a:pPr>
                <a14:m>
                  <m:oMath xmlns:m="http://schemas.openxmlformats.org/officeDocument/2006/math">
                    <m:d>
                      <m:dPr>
                        <m:ctrlPr>
                          <a:rPr lang="en-US" altLang="zh-CN" b="1" i="1">
                            <a:latin typeface="Cambria Math" panose="02040503050406030204" pitchFamily="18" charset="0"/>
                            <a:ea typeface="楷体" panose="02010609060101010101" pitchFamily="49" charset="-122"/>
                            <a:cs typeface="Times New Roman" panose="02020603050405020304" pitchFamily="18" charset="0"/>
                          </a:rPr>
                        </m:ctrlPr>
                      </m:dPr>
                      <m:e>
                        <m:r>
                          <a:rPr lang="en-US" altLang="zh-CN" b="1" i="1">
                            <a:latin typeface="Cambria Math"/>
                            <a:ea typeface="楷体" panose="02010609060101010101" pitchFamily="49" charset="-122"/>
                            <a:cs typeface="Times New Roman" panose="02020603050405020304" pitchFamily="18" charset="0"/>
                          </a:rPr>
                          <m:t>𝒑</m:t>
                        </m:r>
                        <m:r>
                          <a:rPr lang="en-US" altLang="zh-CN" b="1" i="1">
                            <a:latin typeface="Cambria Math"/>
                            <a:ea typeface="楷体" panose="02010609060101010101" pitchFamily="49" charset="-122"/>
                            <a:cs typeface="Times New Roman" panose="02020603050405020304" pitchFamily="18" charset="0"/>
                          </a:rPr>
                          <m:t>,</m:t>
                        </m:r>
                        <m:r>
                          <a:rPr lang="en-US" altLang="zh-CN" b="1" i="1">
                            <a:latin typeface="Cambria Math"/>
                            <a:ea typeface="楷体" panose="02010609060101010101" pitchFamily="49" charset="-122"/>
                            <a:cs typeface="Times New Roman" panose="02020603050405020304" pitchFamily="18" charset="0"/>
                          </a:rPr>
                          <m:t>𝒒</m:t>
                        </m:r>
                        <m:r>
                          <a:rPr lang="en-US" altLang="zh-CN" b="1" i="1">
                            <a:latin typeface="Cambria Math"/>
                            <a:ea typeface="楷体" panose="02010609060101010101" pitchFamily="49" charset="-122"/>
                            <a:cs typeface="Times New Roman" panose="02020603050405020304" pitchFamily="18" charset="0"/>
                          </a:rPr>
                          <m:t>,</m:t>
                        </m:r>
                        <m:r>
                          <a:rPr lang="en-US" altLang="zh-CN" b="1" i="1">
                            <a:latin typeface="Cambria Math"/>
                            <a:ea typeface="楷体" panose="02010609060101010101" pitchFamily="49" charset="-122"/>
                            <a:cs typeface="Times New Roman" panose="02020603050405020304" pitchFamily="18" charset="0"/>
                          </a:rPr>
                          <m:t>𝒓</m:t>
                        </m:r>
                      </m:e>
                    </m:d>
                    <m:r>
                      <a:rPr lang="en-US" altLang="zh-CN" b="1" i="1">
                        <a:latin typeface="Cambria Math"/>
                        <a:ea typeface="楷体" panose="02010609060101010101" pitchFamily="49" charset="-122"/>
                        <a:cs typeface="Times New Roman" panose="02020603050405020304" pitchFamily="18" charset="0"/>
                      </a:rPr>
                      <m:t>=(</m:t>
                    </m:r>
                    <m:r>
                      <a:rPr lang="en-US" altLang="zh-CN" b="1" i="1">
                        <a:latin typeface="Cambria Math"/>
                        <a:ea typeface="楷体" panose="02010609060101010101" pitchFamily="49" charset="-122"/>
                        <a:cs typeface="Times New Roman" panose="02020603050405020304" pitchFamily="18" charset="0"/>
                      </a:rPr>
                      <m:t>𝟏</m:t>
                    </m:r>
                    <m:r>
                      <a:rPr lang="en-US" altLang="zh-CN" b="1" i="1">
                        <a:latin typeface="Cambria Math"/>
                        <a:ea typeface="楷体" panose="02010609060101010101" pitchFamily="49" charset="-122"/>
                        <a:cs typeface="Times New Roman" panose="02020603050405020304" pitchFamily="18" charset="0"/>
                      </a:rPr>
                      <m:t>,</m:t>
                    </m:r>
                    <m:r>
                      <a:rPr lang="en-US" altLang="zh-CN" b="1" i="1" smtClean="0">
                        <a:latin typeface="Cambria Math"/>
                        <a:ea typeface="楷体" panose="02010609060101010101" pitchFamily="49" charset="-122"/>
                        <a:cs typeface="Times New Roman" panose="02020603050405020304" pitchFamily="18" charset="0"/>
                      </a:rPr>
                      <m:t>𝟎</m:t>
                    </m:r>
                    <m:r>
                      <a:rPr lang="en-US" altLang="zh-CN" b="1" i="1">
                        <a:latin typeface="Cambria Math"/>
                        <a:ea typeface="楷体" panose="02010609060101010101" pitchFamily="49" charset="-122"/>
                        <a:cs typeface="Times New Roman" panose="02020603050405020304" pitchFamily="18" charset="0"/>
                      </a:rPr>
                      <m:t>,</m:t>
                    </m:r>
                    <m:r>
                      <a:rPr lang="en-US" altLang="zh-CN" b="1" i="1">
                        <a:latin typeface="Cambria Math"/>
                        <a:ea typeface="楷体" panose="02010609060101010101" pitchFamily="49" charset="-122"/>
                        <a:cs typeface="Times New Roman" panose="02020603050405020304" pitchFamily="18" charset="0"/>
                      </a:rPr>
                      <m:t>𝟏</m:t>
                    </m:r>
                    <m:r>
                      <a:rPr lang="en-US" altLang="zh-CN" b="1" i="1">
                        <a:latin typeface="Cambria Math"/>
                        <a:ea typeface="楷体" panose="02010609060101010101" pitchFamily="49" charset="-122"/>
                        <a:cs typeface="Times New Roman" panose="02020603050405020304" pitchFamily="18" charset="0"/>
                      </a:rPr>
                      <m:t>)⇒</m:t>
                    </m:r>
                    <m:r>
                      <a:rPr lang="en-US" altLang="zh-CN" b="1" i="1">
                        <a:latin typeface="Cambria Math"/>
                        <a:ea typeface="Cambria Math"/>
                        <a:cs typeface="Times New Roman" panose="02020603050405020304" pitchFamily="18" charset="0"/>
                      </a:rPr>
                      <m:t>𝒑</m:t>
                    </m:r>
                    <m:r>
                      <a:rPr lang="en-US" altLang="zh-CN" b="1" i="1">
                        <a:latin typeface="Cambria Math"/>
                        <a:ea typeface="Cambria Math"/>
                        <a:cs typeface="Times New Roman" panose="02020603050405020304" pitchFamily="18" charset="0"/>
                      </a:rPr>
                      <m:t>∧¬</m:t>
                    </m:r>
                    <m:r>
                      <a:rPr lang="en-US" altLang="zh-CN" b="1" i="1">
                        <a:latin typeface="Cambria Math"/>
                        <a:ea typeface="Cambria Math"/>
                        <a:cs typeface="Times New Roman" panose="02020603050405020304" pitchFamily="18" charset="0"/>
                      </a:rPr>
                      <m:t>𝒒</m:t>
                    </m:r>
                    <m:r>
                      <a:rPr lang="en-US" altLang="zh-CN" b="1" i="1">
                        <a:latin typeface="Cambria Math"/>
                        <a:ea typeface="Cambria Math"/>
                        <a:cs typeface="Times New Roman" panose="02020603050405020304" pitchFamily="18" charset="0"/>
                      </a:rPr>
                      <m:t>∧</m:t>
                    </m:r>
                    <m:r>
                      <a:rPr lang="en-US" altLang="zh-CN" b="1" i="1">
                        <a:latin typeface="Cambria Math"/>
                        <a:ea typeface="Cambria Math"/>
                        <a:cs typeface="Times New Roman" panose="02020603050405020304" pitchFamily="18" charset="0"/>
                      </a:rPr>
                      <m:t>𝒓</m:t>
                    </m:r>
                  </m:oMath>
                </a14:m>
                <a:endParaRPr lang="zh-CN" altLang="en-US" b="1" dirty="0">
                  <a:latin typeface="Times New Roman" panose="02020603050405020304" pitchFamily="18" charset="0"/>
                  <a:ea typeface="楷体" panose="02010609060101010101" pitchFamily="49" charset="-122"/>
                  <a:cs typeface="Times New Roman" panose="02020603050405020304" pitchFamily="18" charset="0"/>
                </a:endParaRPr>
              </a:p>
              <a:p>
                <a:pPr>
                  <a:lnSpc>
                    <a:spcPct val="120000"/>
                  </a:lnSpc>
                </a:pPr>
                <a14:m>
                  <m:oMath xmlns:m="http://schemas.openxmlformats.org/officeDocument/2006/math">
                    <m:d>
                      <m:dPr>
                        <m:ctrlPr>
                          <a:rPr lang="en-US" altLang="zh-CN" b="1" i="1">
                            <a:latin typeface="Cambria Math" panose="02040503050406030204" pitchFamily="18" charset="0"/>
                            <a:ea typeface="楷体" panose="02010609060101010101" pitchFamily="49" charset="-122"/>
                            <a:cs typeface="Times New Roman" panose="02020603050405020304" pitchFamily="18" charset="0"/>
                          </a:rPr>
                        </m:ctrlPr>
                      </m:dPr>
                      <m:e>
                        <m:r>
                          <a:rPr lang="en-US" altLang="zh-CN" b="1" i="1">
                            <a:latin typeface="Cambria Math"/>
                            <a:ea typeface="楷体" panose="02010609060101010101" pitchFamily="49" charset="-122"/>
                            <a:cs typeface="Times New Roman" panose="02020603050405020304" pitchFamily="18" charset="0"/>
                          </a:rPr>
                          <m:t>𝒑</m:t>
                        </m:r>
                        <m:r>
                          <a:rPr lang="en-US" altLang="zh-CN" b="1" i="1">
                            <a:latin typeface="Cambria Math"/>
                            <a:ea typeface="楷体" panose="02010609060101010101" pitchFamily="49" charset="-122"/>
                            <a:cs typeface="Times New Roman" panose="02020603050405020304" pitchFamily="18" charset="0"/>
                          </a:rPr>
                          <m:t>,</m:t>
                        </m:r>
                        <m:r>
                          <a:rPr lang="en-US" altLang="zh-CN" b="1" i="1">
                            <a:latin typeface="Cambria Math"/>
                            <a:ea typeface="楷体" panose="02010609060101010101" pitchFamily="49" charset="-122"/>
                            <a:cs typeface="Times New Roman" panose="02020603050405020304" pitchFamily="18" charset="0"/>
                          </a:rPr>
                          <m:t>𝒒</m:t>
                        </m:r>
                        <m:r>
                          <a:rPr lang="en-US" altLang="zh-CN" b="1" i="1">
                            <a:latin typeface="Cambria Math"/>
                            <a:ea typeface="楷体" panose="02010609060101010101" pitchFamily="49" charset="-122"/>
                            <a:cs typeface="Times New Roman" panose="02020603050405020304" pitchFamily="18" charset="0"/>
                          </a:rPr>
                          <m:t>,</m:t>
                        </m:r>
                        <m:r>
                          <a:rPr lang="en-US" altLang="zh-CN" b="1" i="1">
                            <a:latin typeface="Cambria Math"/>
                            <a:ea typeface="楷体" panose="02010609060101010101" pitchFamily="49" charset="-122"/>
                            <a:cs typeface="Times New Roman" panose="02020603050405020304" pitchFamily="18" charset="0"/>
                          </a:rPr>
                          <m:t>𝒓</m:t>
                        </m:r>
                      </m:e>
                    </m:d>
                    <m:r>
                      <a:rPr lang="en-US" altLang="zh-CN" b="1" i="1">
                        <a:latin typeface="Cambria Math"/>
                        <a:ea typeface="楷体" panose="02010609060101010101" pitchFamily="49" charset="-122"/>
                        <a:cs typeface="Times New Roman" panose="02020603050405020304" pitchFamily="18" charset="0"/>
                      </a:rPr>
                      <m:t>=(</m:t>
                    </m:r>
                    <m:r>
                      <a:rPr lang="en-US" altLang="zh-CN" b="1" i="1" smtClean="0">
                        <a:latin typeface="Cambria Math"/>
                        <a:ea typeface="楷体" panose="02010609060101010101" pitchFamily="49" charset="-122"/>
                        <a:cs typeface="Times New Roman" panose="02020603050405020304" pitchFamily="18" charset="0"/>
                      </a:rPr>
                      <m:t>𝟎</m:t>
                    </m:r>
                    <m:r>
                      <a:rPr lang="en-US" altLang="zh-CN" b="1" i="1">
                        <a:latin typeface="Cambria Math"/>
                        <a:ea typeface="楷体" panose="02010609060101010101" pitchFamily="49" charset="-122"/>
                        <a:cs typeface="Times New Roman" panose="02020603050405020304" pitchFamily="18" charset="0"/>
                      </a:rPr>
                      <m:t>,</m:t>
                    </m:r>
                    <m:r>
                      <a:rPr lang="en-US" altLang="zh-CN" b="1" i="1" smtClean="0">
                        <a:latin typeface="Cambria Math"/>
                        <a:ea typeface="楷体" panose="02010609060101010101" pitchFamily="49" charset="-122"/>
                        <a:cs typeface="Times New Roman" panose="02020603050405020304" pitchFamily="18" charset="0"/>
                      </a:rPr>
                      <m:t>𝟏</m:t>
                    </m:r>
                    <m:r>
                      <a:rPr lang="en-US" altLang="zh-CN" b="1" i="1">
                        <a:latin typeface="Cambria Math"/>
                        <a:ea typeface="楷体" panose="02010609060101010101" pitchFamily="49" charset="-122"/>
                        <a:cs typeface="Times New Roman" panose="02020603050405020304" pitchFamily="18" charset="0"/>
                      </a:rPr>
                      <m:t>,</m:t>
                    </m:r>
                    <m:r>
                      <a:rPr lang="en-US" altLang="zh-CN" b="1" i="1">
                        <a:latin typeface="Cambria Math"/>
                        <a:ea typeface="楷体" panose="02010609060101010101" pitchFamily="49" charset="-122"/>
                        <a:cs typeface="Times New Roman" panose="02020603050405020304" pitchFamily="18" charset="0"/>
                      </a:rPr>
                      <m:t>𝟏</m:t>
                    </m:r>
                    <m:r>
                      <a:rPr lang="en-US" altLang="zh-CN" b="1" i="1">
                        <a:latin typeface="Cambria Math"/>
                        <a:ea typeface="楷体" panose="02010609060101010101" pitchFamily="49" charset="-122"/>
                        <a:cs typeface="Times New Roman" panose="02020603050405020304" pitchFamily="18" charset="0"/>
                      </a:rPr>
                      <m:t>)⇒¬</m:t>
                    </m:r>
                    <m:r>
                      <a:rPr lang="en-US" altLang="zh-CN" b="1" i="1">
                        <a:latin typeface="Cambria Math"/>
                        <a:ea typeface="Cambria Math"/>
                        <a:cs typeface="Times New Roman" panose="02020603050405020304" pitchFamily="18" charset="0"/>
                      </a:rPr>
                      <m:t>𝒑</m:t>
                    </m:r>
                    <m:r>
                      <a:rPr lang="en-US" altLang="zh-CN" b="1" i="1">
                        <a:latin typeface="Cambria Math"/>
                        <a:ea typeface="Cambria Math"/>
                        <a:cs typeface="Times New Roman" panose="02020603050405020304" pitchFamily="18" charset="0"/>
                      </a:rPr>
                      <m:t>∧</m:t>
                    </m:r>
                    <m:r>
                      <a:rPr lang="en-US" altLang="zh-CN" b="1" i="1">
                        <a:latin typeface="Cambria Math"/>
                        <a:ea typeface="Cambria Math"/>
                        <a:cs typeface="Times New Roman" panose="02020603050405020304" pitchFamily="18" charset="0"/>
                      </a:rPr>
                      <m:t>𝒒</m:t>
                    </m:r>
                    <m:r>
                      <a:rPr lang="en-US" altLang="zh-CN" b="1" i="1">
                        <a:latin typeface="Cambria Math"/>
                        <a:ea typeface="Cambria Math"/>
                        <a:cs typeface="Times New Roman" panose="02020603050405020304" pitchFamily="18" charset="0"/>
                      </a:rPr>
                      <m:t>∧</m:t>
                    </m:r>
                    <m:r>
                      <a:rPr lang="en-US" altLang="zh-CN" b="1" i="1">
                        <a:latin typeface="Cambria Math"/>
                        <a:ea typeface="Cambria Math"/>
                        <a:cs typeface="Times New Roman" panose="02020603050405020304" pitchFamily="18" charset="0"/>
                      </a:rPr>
                      <m:t>𝒓</m:t>
                    </m:r>
                  </m:oMath>
                </a14:m>
                <a:r>
                  <a:rPr lang="en-US" altLang="zh-CN" b="1" dirty="0">
                    <a:latin typeface="Times New Roman" panose="02020603050405020304" pitchFamily="18" charset="0"/>
                    <a:ea typeface="楷体" panose="02010609060101010101" pitchFamily="49" charset="-122"/>
                    <a:cs typeface="Times New Roman" panose="02020603050405020304" pitchFamily="18" charset="0"/>
                  </a:rPr>
                  <a:t>,…</a:t>
                </a:r>
                <a:endParaRPr lang="zh-CN" altLang="en-US" b="1" dirty="0">
                  <a:latin typeface="Times New Roman" panose="02020603050405020304" pitchFamily="18" charset="0"/>
                  <a:ea typeface="楷体" panose="02010609060101010101" pitchFamily="49" charset="-122"/>
                  <a:cs typeface="Times New Roman" panose="02020603050405020304" pitchFamily="18" charset="0"/>
                </a:endParaRPr>
              </a:p>
              <a:p>
                <a:pPr>
                  <a:lnSpc>
                    <a:spcPct val="120000"/>
                  </a:lnSpc>
                </a:pPr>
                <a:r>
                  <a:rPr lang="en-US" altLang="zh-CN" b="1" dirty="0">
                    <a:solidFill>
                      <a:srgbClr val="1829A6"/>
                    </a:solidFill>
                    <a:latin typeface="Times New Roman" panose="02020603050405020304" pitchFamily="18" charset="0"/>
                    <a:ea typeface="楷体" panose="02010609060101010101" pitchFamily="49" charset="-122"/>
                    <a:cs typeface="Times New Roman" panose="02020603050405020304" pitchFamily="18" charset="0"/>
                  </a:rPr>
                  <a:t>Step3</a:t>
                </a:r>
                <a:r>
                  <a:rPr lang="zh-Hans" altLang="en-US" b="1" dirty="0">
                    <a:latin typeface="Times New Roman" panose="02020603050405020304" pitchFamily="18" charset="0"/>
                    <a:ea typeface="楷体" panose="02010609060101010101" pitchFamily="49" charset="-122"/>
                    <a:cs typeface="Times New Roman" panose="02020603050405020304" pitchFamily="18" charset="0"/>
                  </a:rPr>
                  <a:t>  </a:t>
                </a:r>
                <a:r>
                  <a:rPr lang="en-US" altLang="zh-CN" b="1" i="1" dirty="0">
                    <a:latin typeface="Times New Roman" panose="02020603050405020304" pitchFamily="18" charset="0"/>
                    <a:ea typeface="楷体" panose="02010609060101010101" pitchFamily="49" charset="-122"/>
                    <a:cs typeface="Times New Roman" panose="02020603050405020304" pitchFamily="18" charset="0"/>
                  </a:rPr>
                  <a:t>A</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等值于所有这样写出的极小项的析取</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a:t>
                </a:r>
              </a:p>
            </p:txBody>
          </p:sp>
        </mc:Choice>
        <mc:Fallback xmlns="">
          <p:sp>
            <p:nvSpPr>
              <p:cNvPr id="28674" name="Rectangle 2"/>
              <p:cNvSpPr>
                <a:spLocks noGrp="1" noRot="1" noChangeAspect="1" noMove="1" noResize="1" noEditPoints="1" noAdjustHandles="1" noChangeArrowheads="1" noChangeShapeType="1" noTextEdit="1"/>
              </p:cNvSpPr>
              <p:nvPr>
                <p:ph/>
              </p:nvPr>
            </p:nvSpPr>
            <p:spPr>
              <a:blipFill>
                <a:blip r:embed="rId2"/>
                <a:stretch>
                  <a:fillRect l="-1698" t="-868" b="-13883"/>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024411973"/>
      </p:ext>
    </p:extLst>
  </p:cSld>
  <p:clrMapOvr>
    <a:masterClrMapping/>
  </p:clrMapOvr>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Rectangle 2"/>
          <p:cNvSpPr>
            <a:spLocks noGrp="1" noChangeArrowheads="1"/>
          </p:cNvSpPr>
          <p:nvPr>
            <p:ph/>
          </p:nvPr>
        </p:nvSpPr>
        <p:spPr/>
        <p:txBody>
          <a:bodyPr/>
          <a:lstStyle/>
          <a:p>
            <a:pPr eaLnBrk="1" hangingPunct="1">
              <a:lnSpc>
                <a:spcPct val="120000"/>
              </a:lnSpc>
            </a:pPr>
            <a:r>
              <a:rPr lang="zh-CN" altLang="en-US" b="1" dirty="0">
                <a:latin typeface="Times New Roman" panose="02020603050405020304" pitchFamily="18" charset="0"/>
                <a:ea typeface="楷体" panose="02010609060101010101" pitchFamily="49" charset="-122"/>
                <a:cs typeface="Times New Roman" panose="02020603050405020304" pitchFamily="18" charset="0"/>
              </a:rPr>
              <a:t>例</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3-20 </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设</a:t>
            </a:r>
            <a:r>
              <a:rPr lang="en-US" altLang="zh-CN" b="1" i="1" dirty="0">
                <a:latin typeface="Times New Roman" panose="02020603050405020304" pitchFamily="18" charset="0"/>
                <a:ea typeface="楷体" panose="02010609060101010101" pitchFamily="49" charset="-122"/>
                <a:cs typeface="Times New Roman" panose="02020603050405020304" pitchFamily="18" charset="0"/>
              </a:rPr>
              <a:t>p</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 </a:t>
            </a:r>
            <a:r>
              <a:rPr lang="en-US" altLang="zh-CN" b="1" i="1" dirty="0">
                <a:latin typeface="Times New Roman" panose="02020603050405020304" pitchFamily="18" charset="0"/>
                <a:ea typeface="楷体" panose="02010609060101010101" pitchFamily="49" charset="-122"/>
                <a:cs typeface="Times New Roman" panose="02020603050405020304" pitchFamily="18" charset="0"/>
              </a:rPr>
              <a:t>q</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和</a:t>
            </a:r>
            <a:r>
              <a:rPr lang="en-US" altLang="zh-CN" b="1" i="1" dirty="0">
                <a:latin typeface="Times New Roman" panose="02020603050405020304" pitchFamily="18" charset="0"/>
                <a:ea typeface="楷体" panose="02010609060101010101" pitchFamily="49" charset="-122"/>
                <a:cs typeface="Times New Roman" panose="02020603050405020304" pitchFamily="18" charset="0"/>
              </a:rPr>
              <a:t>r</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是命题变元</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求命题公式    </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a:t>
            </a:r>
            <a:r>
              <a:rPr lang="en-US" altLang="zh-CN" b="1" i="1" dirty="0">
                <a:latin typeface="Times New Roman" panose="02020603050405020304" pitchFamily="18" charset="0"/>
                <a:ea typeface="楷体" panose="02010609060101010101" pitchFamily="49" charset="-122"/>
                <a:cs typeface="Times New Roman" panose="02020603050405020304" pitchFamily="18" charset="0"/>
              </a:rPr>
              <a:t>p</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 </a:t>
            </a:r>
            <a:r>
              <a:rPr lang="en-US" altLang="zh-CN" b="1" dirty="0">
                <a:latin typeface="Times New Roman" panose="02020603050405020304" pitchFamily="18" charset="0"/>
                <a:ea typeface="楷体" panose="02010609060101010101" pitchFamily="49" charset="-122"/>
                <a:cs typeface="Times New Roman" panose="02020603050405020304" pitchFamily="18" charset="0"/>
                <a:sym typeface="Symbol" pitchFamily="18" charset="2"/>
              </a:rPr>
              <a:t> </a:t>
            </a:r>
            <a:r>
              <a:rPr lang="en-US" altLang="zh-CN" b="1" i="1" dirty="0">
                <a:latin typeface="Times New Roman" panose="02020603050405020304" pitchFamily="18" charset="0"/>
                <a:ea typeface="楷体" panose="02010609060101010101" pitchFamily="49" charset="-122"/>
                <a:cs typeface="Times New Roman" panose="02020603050405020304" pitchFamily="18" charset="0"/>
                <a:sym typeface="Symbol" pitchFamily="18" charset="2"/>
              </a:rPr>
              <a:t>q</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 </a:t>
            </a:r>
            <a:r>
              <a:rPr lang="en-US" altLang="zh-CN" b="1" dirty="0">
                <a:latin typeface="Times New Roman" panose="02020603050405020304" pitchFamily="18" charset="0"/>
                <a:ea typeface="楷体" panose="02010609060101010101" pitchFamily="49" charset="-122"/>
                <a:cs typeface="Times New Roman" panose="02020603050405020304" pitchFamily="18" charset="0"/>
                <a:sym typeface="Symbol" pitchFamily="18" charset="2"/>
              </a:rPr>
              <a:t> </a:t>
            </a:r>
            <a:r>
              <a:rPr lang="en-US" altLang="zh-CN" b="1" i="1" dirty="0">
                <a:latin typeface="Times New Roman" panose="02020603050405020304" pitchFamily="18" charset="0"/>
                <a:ea typeface="楷体" panose="02010609060101010101" pitchFamily="49" charset="-122"/>
                <a:cs typeface="Times New Roman" panose="02020603050405020304" pitchFamily="18" charset="0"/>
                <a:sym typeface="Symbol" pitchFamily="18" charset="2"/>
              </a:rPr>
              <a:t>r</a:t>
            </a:r>
            <a:r>
              <a:rPr lang="en-US" altLang="zh-CN" b="1" dirty="0">
                <a:latin typeface="Times New Roman" panose="02020603050405020304" pitchFamily="18" charset="0"/>
                <a:ea typeface="楷体" panose="02010609060101010101" pitchFamily="49" charset="-122"/>
                <a:cs typeface="Times New Roman" panose="02020603050405020304" pitchFamily="18" charset="0"/>
                <a:sym typeface="Symbol" pitchFamily="18" charset="2"/>
              </a:rPr>
              <a:t> </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的主析取范式</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a:t>
            </a:r>
          </a:p>
          <a:p>
            <a:pPr eaLnBrk="1" hangingPunct="1"/>
            <a:endParaRPr lang="en-US" altLang="zh-CN" b="1" dirty="0">
              <a:latin typeface="Times New Roman" pitchFamily="18" charset="0"/>
            </a:endParaRPr>
          </a:p>
        </p:txBody>
      </p:sp>
      <p:graphicFrame>
        <p:nvGraphicFramePr>
          <p:cNvPr id="115715" name="Group 3"/>
          <p:cNvGraphicFramePr>
            <a:graphicFrameLocks noGrp="1"/>
          </p:cNvGraphicFramePr>
          <p:nvPr/>
        </p:nvGraphicFramePr>
        <p:xfrm>
          <a:off x="1116013" y="1484313"/>
          <a:ext cx="6696075" cy="4664079"/>
        </p:xfrm>
        <a:graphic>
          <a:graphicData uri="http://schemas.openxmlformats.org/drawingml/2006/table">
            <a:tbl>
              <a:tblPr/>
              <a:tblGrid>
                <a:gridCol w="935037">
                  <a:extLst>
                    <a:ext uri="{9D8B030D-6E8A-4147-A177-3AD203B41FA5}">
                      <a16:colId xmlns:a16="http://schemas.microsoft.com/office/drawing/2014/main" val="20000"/>
                    </a:ext>
                  </a:extLst>
                </a:gridCol>
                <a:gridCol w="936625">
                  <a:extLst>
                    <a:ext uri="{9D8B030D-6E8A-4147-A177-3AD203B41FA5}">
                      <a16:colId xmlns:a16="http://schemas.microsoft.com/office/drawing/2014/main" val="20001"/>
                    </a:ext>
                  </a:extLst>
                </a:gridCol>
                <a:gridCol w="863600">
                  <a:extLst>
                    <a:ext uri="{9D8B030D-6E8A-4147-A177-3AD203B41FA5}">
                      <a16:colId xmlns:a16="http://schemas.microsoft.com/office/drawing/2014/main" val="20002"/>
                    </a:ext>
                  </a:extLst>
                </a:gridCol>
                <a:gridCol w="1441450">
                  <a:extLst>
                    <a:ext uri="{9D8B030D-6E8A-4147-A177-3AD203B41FA5}">
                      <a16:colId xmlns:a16="http://schemas.microsoft.com/office/drawing/2014/main" val="20003"/>
                    </a:ext>
                  </a:extLst>
                </a:gridCol>
                <a:gridCol w="2519363">
                  <a:extLst>
                    <a:ext uri="{9D8B030D-6E8A-4147-A177-3AD203B41FA5}">
                      <a16:colId xmlns:a16="http://schemas.microsoft.com/office/drawing/2014/main" val="20004"/>
                    </a:ext>
                  </a:extLst>
                </a:gridCol>
              </a:tblGrid>
              <a:tr h="518231">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1" i="1" u="none" strike="noStrike" cap="none" normalizeH="0" baseline="0">
                          <a:ln>
                            <a:noFill/>
                          </a:ln>
                          <a:solidFill>
                            <a:schemeClr val="tx1"/>
                          </a:solidFill>
                          <a:effectLst/>
                          <a:latin typeface="Times New Roman" pitchFamily="18" charset="0"/>
                          <a:ea typeface="宋体" pitchFamily="2" charset="-122"/>
                        </a:rPr>
                        <a:t>p</a:t>
                      </a:r>
                    </a:p>
                  </a:txBody>
                  <a:tcPr marT="45726" marB="45726"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1" i="0" u="none" strike="noStrike" cap="none" normalizeH="0" baseline="0">
                          <a:ln>
                            <a:noFill/>
                          </a:ln>
                          <a:solidFill>
                            <a:schemeClr val="tx1"/>
                          </a:solidFill>
                          <a:effectLst/>
                          <a:latin typeface="Times New Roman" pitchFamily="18" charset="0"/>
                          <a:ea typeface="宋体" pitchFamily="2" charset="-122"/>
                        </a:rPr>
                        <a:t> </a:t>
                      </a:r>
                      <a:r>
                        <a:rPr kumimoji="0" lang="en-US" altLang="zh-CN" sz="2800" b="1" i="1" u="none" strike="noStrike" cap="none" normalizeH="0" baseline="0">
                          <a:ln>
                            <a:noFill/>
                          </a:ln>
                          <a:solidFill>
                            <a:schemeClr val="tx1"/>
                          </a:solidFill>
                          <a:effectLst/>
                          <a:latin typeface="Times New Roman" pitchFamily="18" charset="0"/>
                          <a:ea typeface="宋体" pitchFamily="2" charset="-122"/>
                        </a:rPr>
                        <a:t>q</a:t>
                      </a:r>
                    </a:p>
                  </a:txBody>
                  <a:tcPr marT="45726" marB="4572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1" i="1" u="none" strike="noStrike" cap="none" normalizeH="0" baseline="0">
                          <a:ln>
                            <a:noFill/>
                          </a:ln>
                          <a:solidFill>
                            <a:schemeClr val="tx1"/>
                          </a:solidFill>
                          <a:effectLst/>
                          <a:latin typeface="Times New Roman" pitchFamily="18" charset="0"/>
                          <a:ea typeface="宋体" pitchFamily="2" charset="-122"/>
                        </a:rPr>
                        <a:t>r</a:t>
                      </a:r>
                    </a:p>
                  </a:txBody>
                  <a:tcPr marT="45726" marB="4572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1" i="1" u="none" strike="noStrike" cap="none" normalizeH="0" baseline="0">
                          <a:ln>
                            <a:noFill/>
                          </a:ln>
                          <a:solidFill>
                            <a:schemeClr val="tx1"/>
                          </a:solidFill>
                          <a:effectLst/>
                          <a:latin typeface="Times New Roman" pitchFamily="18" charset="0"/>
                          <a:ea typeface="宋体" pitchFamily="2" charset="-122"/>
                        </a:rPr>
                        <a:t>p</a:t>
                      </a:r>
                      <a:r>
                        <a:rPr kumimoji="0" lang="en-US" altLang="zh-CN" sz="2800" b="1" i="0" u="none" strike="noStrike" cap="none" normalizeH="0" baseline="0">
                          <a:ln>
                            <a:noFill/>
                          </a:ln>
                          <a:solidFill>
                            <a:schemeClr val="tx1"/>
                          </a:solidFill>
                          <a:effectLst/>
                          <a:latin typeface="Times New Roman" pitchFamily="18" charset="0"/>
                          <a:ea typeface="宋体" pitchFamily="2" charset="-122"/>
                        </a:rPr>
                        <a:t> </a:t>
                      </a:r>
                      <a:r>
                        <a:rPr kumimoji="0" lang="en-US" altLang="zh-CN" sz="2800" b="1" i="0" u="none" strike="noStrike" cap="none" normalizeH="0" baseline="0">
                          <a:ln>
                            <a:noFill/>
                          </a:ln>
                          <a:solidFill>
                            <a:schemeClr val="tx1"/>
                          </a:solidFill>
                          <a:effectLst/>
                          <a:latin typeface="Times New Roman" pitchFamily="18" charset="0"/>
                          <a:ea typeface="宋体" pitchFamily="2" charset="-122"/>
                          <a:sym typeface="Symbol" pitchFamily="18" charset="2"/>
                        </a:rPr>
                        <a:t> </a:t>
                      </a:r>
                      <a:r>
                        <a:rPr kumimoji="0" lang="en-US" altLang="zh-CN" sz="2800" b="1" i="1" u="none" strike="noStrike" cap="none" normalizeH="0" baseline="0">
                          <a:ln>
                            <a:noFill/>
                          </a:ln>
                          <a:solidFill>
                            <a:schemeClr val="tx1"/>
                          </a:solidFill>
                          <a:effectLst/>
                          <a:latin typeface="Times New Roman" pitchFamily="18" charset="0"/>
                          <a:ea typeface="宋体" pitchFamily="2" charset="-122"/>
                          <a:sym typeface="Symbol" pitchFamily="18" charset="2"/>
                        </a:rPr>
                        <a:t>q</a:t>
                      </a:r>
                    </a:p>
                  </a:txBody>
                  <a:tcPr marT="45726" marB="4572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1" i="0" u="none" strike="noStrike" cap="none" normalizeH="0" baseline="0">
                          <a:ln>
                            <a:noFill/>
                          </a:ln>
                          <a:solidFill>
                            <a:schemeClr val="tx1"/>
                          </a:solidFill>
                          <a:effectLst/>
                          <a:latin typeface="Times New Roman" pitchFamily="18" charset="0"/>
                          <a:ea typeface="宋体" pitchFamily="2" charset="-122"/>
                        </a:rPr>
                        <a:t>(</a:t>
                      </a:r>
                      <a:r>
                        <a:rPr kumimoji="0" lang="en-US" altLang="zh-CN" sz="2800" b="1" i="1" u="none" strike="noStrike" cap="none" normalizeH="0" baseline="0">
                          <a:ln>
                            <a:noFill/>
                          </a:ln>
                          <a:solidFill>
                            <a:schemeClr val="tx1"/>
                          </a:solidFill>
                          <a:effectLst/>
                          <a:latin typeface="Times New Roman" pitchFamily="18" charset="0"/>
                          <a:ea typeface="宋体" pitchFamily="2" charset="-122"/>
                        </a:rPr>
                        <a:t>p</a:t>
                      </a:r>
                      <a:r>
                        <a:rPr kumimoji="0" lang="en-US" altLang="zh-CN" sz="2800" b="1" i="0" u="none" strike="noStrike" cap="none" normalizeH="0" baseline="0">
                          <a:ln>
                            <a:noFill/>
                          </a:ln>
                          <a:solidFill>
                            <a:schemeClr val="tx1"/>
                          </a:solidFill>
                          <a:effectLst/>
                          <a:latin typeface="Times New Roman" pitchFamily="18" charset="0"/>
                          <a:ea typeface="宋体" pitchFamily="2" charset="-122"/>
                        </a:rPr>
                        <a:t> </a:t>
                      </a:r>
                      <a:r>
                        <a:rPr kumimoji="0" lang="en-US" altLang="zh-CN" sz="2800" b="1" i="0" u="none" strike="noStrike" cap="none" normalizeH="0" baseline="0">
                          <a:ln>
                            <a:noFill/>
                          </a:ln>
                          <a:solidFill>
                            <a:schemeClr val="tx1"/>
                          </a:solidFill>
                          <a:effectLst/>
                          <a:latin typeface="Times New Roman" pitchFamily="18" charset="0"/>
                          <a:ea typeface="宋体" pitchFamily="2" charset="-122"/>
                          <a:sym typeface="Symbol" pitchFamily="18" charset="2"/>
                        </a:rPr>
                        <a:t> </a:t>
                      </a:r>
                      <a:r>
                        <a:rPr kumimoji="0" lang="en-US" altLang="zh-CN" sz="2800" b="1" i="1" u="none" strike="noStrike" cap="none" normalizeH="0" baseline="0">
                          <a:ln>
                            <a:noFill/>
                          </a:ln>
                          <a:solidFill>
                            <a:schemeClr val="tx1"/>
                          </a:solidFill>
                          <a:effectLst/>
                          <a:latin typeface="Times New Roman" pitchFamily="18" charset="0"/>
                          <a:ea typeface="宋体" pitchFamily="2" charset="-122"/>
                          <a:sym typeface="Symbol" pitchFamily="18" charset="2"/>
                        </a:rPr>
                        <a:t>q</a:t>
                      </a:r>
                      <a:r>
                        <a:rPr kumimoji="0" lang="en-US" altLang="zh-CN" sz="2800" b="1" i="0" u="none" strike="noStrike" cap="none" normalizeH="0" baseline="0">
                          <a:ln>
                            <a:noFill/>
                          </a:ln>
                          <a:solidFill>
                            <a:schemeClr val="tx1"/>
                          </a:solidFill>
                          <a:effectLst/>
                          <a:latin typeface="Times New Roman" pitchFamily="18" charset="0"/>
                          <a:ea typeface="宋体" pitchFamily="2" charset="-122"/>
                        </a:rPr>
                        <a:t>) </a:t>
                      </a:r>
                      <a:r>
                        <a:rPr kumimoji="0" lang="en-US" altLang="zh-CN" sz="2800" b="1" i="0" u="none" strike="noStrike" cap="none" normalizeH="0" baseline="0">
                          <a:ln>
                            <a:noFill/>
                          </a:ln>
                          <a:solidFill>
                            <a:schemeClr val="tx1"/>
                          </a:solidFill>
                          <a:effectLst/>
                          <a:latin typeface="Times New Roman" pitchFamily="18" charset="0"/>
                          <a:ea typeface="宋体" pitchFamily="2" charset="-122"/>
                          <a:sym typeface="Symbol" pitchFamily="18" charset="2"/>
                        </a:rPr>
                        <a:t> </a:t>
                      </a:r>
                      <a:r>
                        <a:rPr kumimoji="0" lang="en-US" altLang="zh-CN" sz="2800" b="1" i="1" u="none" strike="noStrike" cap="none" normalizeH="0" baseline="0">
                          <a:ln>
                            <a:noFill/>
                          </a:ln>
                          <a:solidFill>
                            <a:schemeClr val="tx1"/>
                          </a:solidFill>
                          <a:effectLst/>
                          <a:latin typeface="Times New Roman" pitchFamily="18" charset="0"/>
                          <a:ea typeface="宋体" pitchFamily="2" charset="-122"/>
                          <a:sym typeface="Symbol" pitchFamily="18" charset="2"/>
                        </a:rPr>
                        <a:t>r</a:t>
                      </a:r>
                    </a:p>
                  </a:txBody>
                  <a:tcPr marT="45726" marB="45726"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18231">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1" i="0" u="none" strike="noStrike" cap="none" normalizeH="0" baseline="0" dirty="0">
                          <a:ln>
                            <a:noFill/>
                          </a:ln>
                          <a:solidFill>
                            <a:schemeClr val="tx1"/>
                          </a:solidFill>
                          <a:effectLst/>
                          <a:latin typeface="Times New Roman" pitchFamily="18" charset="0"/>
                          <a:ea typeface="宋体" pitchFamily="2" charset="-122"/>
                        </a:rPr>
                        <a:t>1</a:t>
                      </a:r>
                    </a:p>
                  </a:txBody>
                  <a:tcPr marT="45726" marB="45726"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1" i="0" u="none" strike="noStrike" cap="none" normalizeH="0" baseline="0">
                          <a:ln>
                            <a:noFill/>
                          </a:ln>
                          <a:solidFill>
                            <a:schemeClr val="tx1"/>
                          </a:solidFill>
                          <a:effectLst/>
                          <a:latin typeface="Times New Roman" pitchFamily="18" charset="0"/>
                          <a:ea typeface="宋体" pitchFamily="2" charset="-122"/>
                        </a:rPr>
                        <a:t>1</a:t>
                      </a:r>
                    </a:p>
                  </a:txBody>
                  <a:tcPr marT="45726" marB="4572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1" i="0" u="none" strike="noStrike" cap="none" normalizeH="0" baseline="0">
                          <a:ln>
                            <a:noFill/>
                          </a:ln>
                          <a:solidFill>
                            <a:schemeClr val="tx1"/>
                          </a:solidFill>
                          <a:effectLst/>
                          <a:latin typeface="Times New Roman" pitchFamily="18" charset="0"/>
                          <a:ea typeface="宋体" pitchFamily="2" charset="-122"/>
                        </a:rPr>
                        <a:t>1</a:t>
                      </a:r>
                    </a:p>
                  </a:txBody>
                  <a:tcPr marT="45726" marB="4572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1" i="0" u="none" strike="noStrike" cap="none" normalizeH="0" baseline="0">
                          <a:ln>
                            <a:noFill/>
                          </a:ln>
                          <a:solidFill>
                            <a:schemeClr val="tx1"/>
                          </a:solidFill>
                          <a:effectLst/>
                          <a:latin typeface="Times New Roman" pitchFamily="18" charset="0"/>
                          <a:ea typeface="宋体" pitchFamily="2" charset="-122"/>
                        </a:rPr>
                        <a:t>1</a:t>
                      </a:r>
                    </a:p>
                  </a:txBody>
                  <a:tcPr marT="45726" marB="4572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1" i="0" u="none" strike="noStrike" cap="none" normalizeH="0" baseline="0">
                          <a:ln>
                            <a:noFill/>
                          </a:ln>
                          <a:solidFill>
                            <a:schemeClr val="tx1"/>
                          </a:solidFill>
                          <a:effectLst/>
                          <a:latin typeface="Times New Roman" pitchFamily="18" charset="0"/>
                          <a:ea typeface="宋体" pitchFamily="2" charset="-122"/>
                        </a:rPr>
                        <a:t>1</a:t>
                      </a:r>
                    </a:p>
                  </a:txBody>
                  <a:tcPr marT="45726" marB="45726"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18231">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1" i="0" u="none" strike="noStrike" cap="none" normalizeH="0" baseline="0">
                          <a:ln>
                            <a:noFill/>
                          </a:ln>
                          <a:solidFill>
                            <a:schemeClr val="tx1"/>
                          </a:solidFill>
                          <a:effectLst/>
                          <a:latin typeface="Times New Roman" pitchFamily="18" charset="0"/>
                          <a:ea typeface="宋体" pitchFamily="2" charset="-122"/>
                        </a:rPr>
                        <a:t>1</a:t>
                      </a:r>
                    </a:p>
                  </a:txBody>
                  <a:tcPr marT="45726" marB="45726"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1" i="0" u="none" strike="noStrike" cap="none" normalizeH="0" baseline="0">
                          <a:ln>
                            <a:noFill/>
                          </a:ln>
                          <a:solidFill>
                            <a:schemeClr val="tx1"/>
                          </a:solidFill>
                          <a:effectLst/>
                          <a:latin typeface="Times New Roman" pitchFamily="18" charset="0"/>
                          <a:ea typeface="宋体" pitchFamily="2" charset="-122"/>
                        </a:rPr>
                        <a:t>1</a:t>
                      </a:r>
                    </a:p>
                  </a:txBody>
                  <a:tcPr marT="45726" marB="4572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1" i="0" u="none" strike="noStrike" cap="none" normalizeH="0" baseline="0">
                          <a:ln>
                            <a:noFill/>
                          </a:ln>
                          <a:solidFill>
                            <a:schemeClr val="tx1"/>
                          </a:solidFill>
                          <a:effectLst/>
                          <a:latin typeface="Times New Roman" pitchFamily="18" charset="0"/>
                          <a:ea typeface="宋体" pitchFamily="2" charset="-122"/>
                        </a:rPr>
                        <a:t>0</a:t>
                      </a:r>
                    </a:p>
                  </a:txBody>
                  <a:tcPr marT="45726" marB="4572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1" i="0" u="none" strike="noStrike" cap="none" normalizeH="0" baseline="0">
                          <a:ln>
                            <a:noFill/>
                          </a:ln>
                          <a:solidFill>
                            <a:schemeClr val="tx1"/>
                          </a:solidFill>
                          <a:effectLst/>
                          <a:latin typeface="Times New Roman" pitchFamily="18" charset="0"/>
                          <a:ea typeface="宋体" pitchFamily="2" charset="-122"/>
                        </a:rPr>
                        <a:t>1</a:t>
                      </a:r>
                    </a:p>
                  </a:txBody>
                  <a:tcPr marT="45726" marB="4572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1" i="0" u="none" strike="noStrike" cap="none" normalizeH="0" baseline="0">
                          <a:ln>
                            <a:noFill/>
                          </a:ln>
                          <a:solidFill>
                            <a:schemeClr val="tx1"/>
                          </a:solidFill>
                          <a:effectLst/>
                          <a:latin typeface="Times New Roman" pitchFamily="18" charset="0"/>
                          <a:ea typeface="宋体" pitchFamily="2" charset="-122"/>
                        </a:rPr>
                        <a:t>0</a:t>
                      </a:r>
                    </a:p>
                  </a:txBody>
                  <a:tcPr marT="45726" marB="45726"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518231">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1" i="0" u="none" strike="noStrike" cap="none" normalizeH="0" baseline="0">
                          <a:ln>
                            <a:noFill/>
                          </a:ln>
                          <a:solidFill>
                            <a:schemeClr val="tx1"/>
                          </a:solidFill>
                          <a:effectLst/>
                          <a:latin typeface="Times New Roman" pitchFamily="18" charset="0"/>
                          <a:ea typeface="宋体" pitchFamily="2" charset="-122"/>
                        </a:rPr>
                        <a:t>1</a:t>
                      </a:r>
                    </a:p>
                  </a:txBody>
                  <a:tcPr marT="45726" marB="45726"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1" i="0" u="none" strike="noStrike" cap="none" normalizeH="0" baseline="0">
                          <a:ln>
                            <a:noFill/>
                          </a:ln>
                          <a:solidFill>
                            <a:schemeClr val="tx1"/>
                          </a:solidFill>
                          <a:effectLst/>
                          <a:latin typeface="Times New Roman" pitchFamily="18" charset="0"/>
                          <a:ea typeface="宋体" pitchFamily="2" charset="-122"/>
                        </a:rPr>
                        <a:t>0</a:t>
                      </a:r>
                    </a:p>
                  </a:txBody>
                  <a:tcPr marT="45726" marB="4572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1" i="0" u="none" strike="noStrike" cap="none" normalizeH="0" baseline="0">
                          <a:ln>
                            <a:noFill/>
                          </a:ln>
                          <a:solidFill>
                            <a:schemeClr val="tx1"/>
                          </a:solidFill>
                          <a:effectLst/>
                          <a:latin typeface="Times New Roman" pitchFamily="18" charset="0"/>
                          <a:ea typeface="宋体" pitchFamily="2" charset="-122"/>
                        </a:rPr>
                        <a:t>1</a:t>
                      </a:r>
                    </a:p>
                  </a:txBody>
                  <a:tcPr marT="45726" marB="4572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1" i="0" u="none" strike="noStrike" cap="none" normalizeH="0" baseline="0">
                          <a:ln>
                            <a:noFill/>
                          </a:ln>
                          <a:solidFill>
                            <a:schemeClr val="tx1"/>
                          </a:solidFill>
                          <a:effectLst/>
                          <a:latin typeface="Times New Roman" pitchFamily="18" charset="0"/>
                          <a:ea typeface="宋体" pitchFamily="2" charset="-122"/>
                        </a:rPr>
                        <a:t>1</a:t>
                      </a:r>
                    </a:p>
                  </a:txBody>
                  <a:tcPr marT="45726" marB="4572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1" i="0" u="none" strike="noStrike" cap="none" normalizeH="0" baseline="0">
                          <a:ln>
                            <a:noFill/>
                          </a:ln>
                          <a:solidFill>
                            <a:schemeClr val="tx1"/>
                          </a:solidFill>
                          <a:effectLst/>
                          <a:latin typeface="Times New Roman" pitchFamily="18" charset="0"/>
                          <a:ea typeface="宋体" pitchFamily="2" charset="-122"/>
                        </a:rPr>
                        <a:t>1</a:t>
                      </a:r>
                    </a:p>
                  </a:txBody>
                  <a:tcPr marT="45726" marB="45726"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518231">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1" i="0" u="none" strike="noStrike" cap="none" normalizeH="0" baseline="0">
                          <a:ln>
                            <a:noFill/>
                          </a:ln>
                          <a:solidFill>
                            <a:schemeClr val="tx1"/>
                          </a:solidFill>
                          <a:effectLst/>
                          <a:latin typeface="Times New Roman" pitchFamily="18" charset="0"/>
                          <a:ea typeface="宋体" pitchFamily="2" charset="-122"/>
                        </a:rPr>
                        <a:t>1</a:t>
                      </a:r>
                    </a:p>
                  </a:txBody>
                  <a:tcPr marT="45726" marB="45726"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1" i="0" u="none" strike="noStrike" cap="none" normalizeH="0" baseline="0">
                          <a:ln>
                            <a:noFill/>
                          </a:ln>
                          <a:solidFill>
                            <a:schemeClr val="tx1"/>
                          </a:solidFill>
                          <a:effectLst/>
                          <a:latin typeface="Times New Roman" pitchFamily="18" charset="0"/>
                          <a:ea typeface="宋体" pitchFamily="2" charset="-122"/>
                        </a:rPr>
                        <a:t>0</a:t>
                      </a:r>
                    </a:p>
                  </a:txBody>
                  <a:tcPr marT="45726" marB="4572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1" i="0" u="none" strike="noStrike" cap="none" normalizeH="0" baseline="0">
                          <a:ln>
                            <a:noFill/>
                          </a:ln>
                          <a:solidFill>
                            <a:schemeClr val="tx1"/>
                          </a:solidFill>
                          <a:effectLst/>
                          <a:latin typeface="Times New Roman" pitchFamily="18" charset="0"/>
                          <a:ea typeface="宋体" pitchFamily="2" charset="-122"/>
                        </a:rPr>
                        <a:t>0</a:t>
                      </a:r>
                    </a:p>
                  </a:txBody>
                  <a:tcPr marT="45726" marB="4572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1" i="0" u="none" strike="noStrike" cap="none" normalizeH="0" baseline="0">
                          <a:ln>
                            <a:noFill/>
                          </a:ln>
                          <a:solidFill>
                            <a:schemeClr val="tx1"/>
                          </a:solidFill>
                          <a:effectLst/>
                          <a:latin typeface="Times New Roman" pitchFamily="18" charset="0"/>
                          <a:ea typeface="宋体" pitchFamily="2" charset="-122"/>
                        </a:rPr>
                        <a:t>1</a:t>
                      </a:r>
                    </a:p>
                  </a:txBody>
                  <a:tcPr marT="45726" marB="4572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1" i="0" u="none" strike="noStrike" cap="none" normalizeH="0" baseline="0">
                          <a:ln>
                            <a:noFill/>
                          </a:ln>
                          <a:solidFill>
                            <a:schemeClr val="tx1"/>
                          </a:solidFill>
                          <a:effectLst/>
                          <a:latin typeface="Times New Roman" pitchFamily="18" charset="0"/>
                          <a:ea typeface="宋体" pitchFamily="2" charset="-122"/>
                        </a:rPr>
                        <a:t>0</a:t>
                      </a:r>
                    </a:p>
                  </a:txBody>
                  <a:tcPr marT="45726" marB="45726"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518231">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1" i="0" u="none" strike="noStrike" cap="none" normalizeH="0" baseline="0">
                          <a:ln>
                            <a:noFill/>
                          </a:ln>
                          <a:solidFill>
                            <a:schemeClr val="tx1"/>
                          </a:solidFill>
                          <a:effectLst/>
                          <a:latin typeface="Times New Roman" pitchFamily="18" charset="0"/>
                          <a:ea typeface="宋体" pitchFamily="2" charset="-122"/>
                        </a:rPr>
                        <a:t>0</a:t>
                      </a:r>
                    </a:p>
                  </a:txBody>
                  <a:tcPr marT="45726" marB="45726"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1" i="0" u="none" strike="noStrike" cap="none" normalizeH="0" baseline="0">
                          <a:ln>
                            <a:noFill/>
                          </a:ln>
                          <a:solidFill>
                            <a:schemeClr val="tx1"/>
                          </a:solidFill>
                          <a:effectLst/>
                          <a:latin typeface="Times New Roman" pitchFamily="18" charset="0"/>
                          <a:ea typeface="宋体" pitchFamily="2" charset="-122"/>
                        </a:rPr>
                        <a:t>1</a:t>
                      </a:r>
                    </a:p>
                  </a:txBody>
                  <a:tcPr marT="45726" marB="4572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1" i="0" u="none" strike="noStrike" cap="none" normalizeH="0" baseline="0">
                          <a:ln>
                            <a:noFill/>
                          </a:ln>
                          <a:solidFill>
                            <a:schemeClr val="tx1"/>
                          </a:solidFill>
                          <a:effectLst/>
                          <a:latin typeface="Times New Roman" pitchFamily="18" charset="0"/>
                          <a:ea typeface="宋体" pitchFamily="2" charset="-122"/>
                        </a:rPr>
                        <a:t>1</a:t>
                      </a:r>
                    </a:p>
                  </a:txBody>
                  <a:tcPr marT="45726" marB="4572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1" i="0" u="none" strike="noStrike" cap="none" normalizeH="0" baseline="0">
                          <a:ln>
                            <a:noFill/>
                          </a:ln>
                          <a:solidFill>
                            <a:schemeClr val="tx1"/>
                          </a:solidFill>
                          <a:effectLst/>
                          <a:latin typeface="Times New Roman" pitchFamily="18" charset="0"/>
                          <a:ea typeface="宋体" pitchFamily="2" charset="-122"/>
                        </a:rPr>
                        <a:t>1</a:t>
                      </a:r>
                    </a:p>
                  </a:txBody>
                  <a:tcPr marT="45726" marB="4572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1" i="0" u="none" strike="noStrike" cap="none" normalizeH="0" baseline="0">
                          <a:ln>
                            <a:noFill/>
                          </a:ln>
                          <a:solidFill>
                            <a:schemeClr val="tx1"/>
                          </a:solidFill>
                          <a:effectLst/>
                          <a:latin typeface="Times New Roman" pitchFamily="18" charset="0"/>
                          <a:ea typeface="宋体" pitchFamily="2" charset="-122"/>
                        </a:rPr>
                        <a:t>1</a:t>
                      </a:r>
                    </a:p>
                  </a:txBody>
                  <a:tcPr marT="45726" marB="45726"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518231">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1" i="0" u="none" strike="noStrike" cap="none" normalizeH="0" baseline="0">
                          <a:ln>
                            <a:noFill/>
                          </a:ln>
                          <a:solidFill>
                            <a:schemeClr val="tx1"/>
                          </a:solidFill>
                          <a:effectLst/>
                          <a:latin typeface="Times New Roman" pitchFamily="18" charset="0"/>
                          <a:ea typeface="宋体" pitchFamily="2" charset="-122"/>
                        </a:rPr>
                        <a:t>0</a:t>
                      </a:r>
                    </a:p>
                  </a:txBody>
                  <a:tcPr marT="45726" marB="45726"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1" i="0" u="none" strike="noStrike" cap="none" normalizeH="0" baseline="0">
                          <a:ln>
                            <a:noFill/>
                          </a:ln>
                          <a:solidFill>
                            <a:schemeClr val="tx1"/>
                          </a:solidFill>
                          <a:effectLst/>
                          <a:latin typeface="Times New Roman" pitchFamily="18" charset="0"/>
                          <a:ea typeface="宋体" pitchFamily="2" charset="-122"/>
                        </a:rPr>
                        <a:t>1</a:t>
                      </a:r>
                    </a:p>
                  </a:txBody>
                  <a:tcPr marT="45726" marB="4572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1" i="0" u="none" strike="noStrike" cap="none" normalizeH="0" baseline="0">
                          <a:ln>
                            <a:noFill/>
                          </a:ln>
                          <a:solidFill>
                            <a:schemeClr val="tx1"/>
                          </a:solidFill>
                          <a:effectLst/>
                          <a:latin typeface="Times New Roman" pitchFamily="18" charset="0"/>
                          <a:ea typeface="宋体" pitchFamily="2" charset="-122"/>
                        </a:rPr>
                        <a:t>0</a:t>
                      </a:r>
                    </a:p>
                  </a:txBody>
                  <a:tcPr marT="45726" marB="4572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1" i="0" u="none" strike="noStrike" cap="none" normalizeH="0" baseline="0">
                          <a:ln>
                            <a:noFill/>
                          </a:ln>
                          <a:solidFill>
                            <a:schemeClr val="tx1"/>
                          </a:solidFill>
                          <a:effectLst/>
                          <a:latin typeface="Times New Roman" pitchFamily="18" charset="0"/>
                          <a:ea typeface="宋体" pitchFamily="2" charset="-122"/>
                        </a:rPr>
                        <a:t>1</a:t>
                      </a:r>
                    </a:p>
                  </a:txBody>
                  <a:tcPr marT="45726" marB="4572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1" i="0" u="none" strike="noStrike" cap="none" normalizeH="0" baseline="0">
                          <a:ln>
                            <a:noFill/>
                          </a:ln>
                          <a:solidFill>
                            <a:schemeClr val="tx1"/>
                          </a:solidFill>
                          <a:effectLst/>
                          <a:latin typeface="Times New Roman" pitchFamily="18" charset="0"/>
                          <a:ea typeface="宋体" pitchFamily="2" charset="-122"/>
                        </a:rPr>
                        <a:t>0</a:t>
                      </a:r>
                    </a:p>
                  </a:txBody>
                  <a:tcPr marT="45726" marB="45726"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518231">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1" i="0" u="none" strike="noStrike" cap="none" normalizeH="0" baseline="0">
                          <a:ln>
                            <a:noFill/>
                          </a:ln>
                          <a:solidFill>
                            <a:schemeClr val="tx1"/>
                          </a:solidFill>
                          <a:effectLst/>
                          <a:latin typeface="Times New Roman" pitchFamily="18" charset="0"/>
                          <a:ea typeface="宋体" pitchFamily="2" charset="-122"/>
                        </a:rPr>
                        <a:t>0</a:t>
                      </a:r>
                    </a:p>
                  </a:txBody>
                  <a:tcPr marT="45726" marB="45726"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1" i="0" u="none" strike="noStrike" cap="none" normalizeH="0" baseline="0">
                          <a:ln>
                            <a:noFill/>
                          </a:ln>
                          <a:solidFill>
                            <a:schemeClr val="tx1"/>
                          </a:solidFill>
                          <a:effectLst/>
                          <a:latin typeface="Times New Roman" pitchFamily="18" charset="0"/>
                          <a:ea typeface="宋体" pitchFamily="2" charset="-122"/>
                        </a:rPr>
                        <a:t>0</a:t>
                      </a:r>
                    </a:p>
                  </a:txBody>
                  <a:tcPr marT="45726" marB="4572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1" i="0" u="none" strike="noStrike" cap="none" normalizeH="0" baseline="0">
                          <a:ln>
                            <a:noFill/>
                          </a:ln>
                          <a:solidFill>
                            <a:schemeClr val="tx1"/>
                          </a:solidFill>
                          <a:effectLst/>
                          <a:latin typeface="Times New Roman" pitchFamily="18" charset="0"/>
                          <a:ea typeface="宋体" pitchFamily="2" charset="-122"/>
                        </a:rPr>
                        <a:t>1</a:t>
                      </a:r>
                    </a:p>
                  </a:txBody>
                  <a:tcPr marT="45726" marB="4572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1" i="0" u="none" strike="noStrike" cap="none" normalizeH="0" baseline="0">
                          <a:ln>
                            <a:noFill/>
                          </a:ln>
                          <a:solidFill>
                            <a:schemeClr val="tx1"/>
                          </a:solidFill>
                          <a:effectLst/>
                          <a:latin typeface="Times New Roman" pitchFamily="18" charset="0"/>
                          <a:ea typeface="宋体" pitchFamily="2" charset="-122"/>
                        </a:rPr>
                        <a:t>0</a:t>
                      </a:r>
                    </a:p>
                  </a:txBody>
                  <a:tcPr marT="45726" marB="4572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1" i="0" u="none" strike="noStrike" cap="none" normalizeH="0" baseline="0">
                          <a:ln>
                            <a:noFill/>
                          </a:ln>
                          <a:solidFill>
                            <a:schemeClr val="tx1"/>
                          </a:solidFill>
                          <a:effectLst/>
                          <a:latin typeface="Times New Roman" pitchFamily="18" charset="0"/>
                          <a:ea typeface="宋体" pitchFamily="2" charset="-122"/>
                        </a:rPr>
                        <a:t>1</a:t>
                      </a:r>
                    </a:p>
                  </a:txBody>
                  <a:tcPr marT="45726" marB="45726"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518231">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1" i="0" u="none" strike="noStrike" cap="none" normalizeH="0" baseline="0">
                          <a:ln>
                            <a:noFill/>
                          </a:ln>
                          <a:solidFill>
                            <a:schemeClr val="tx1"/>
                          </a:solidFill>
                          <a:effectLst/>
                          <a:latin typeface="Times New Roman" pitchFamily="18" charset="0"/>
                          <a:ea typeface="宋体" pitchFamily="2" charset="-122"/>
                        </a:rPr>
                        <a:t>0</a:t>
                      </a:r>
                    </a:p>
                  </a:txBody>
                  <a:tcPr marT="45726" marB="45726"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1" i="0" u="none" strike="noStrike" cap="none" normalizeH="0" baseline="0">
                          <a:ln>
                            <a:noFill/>
                          </a:ln>
                          <a:solidFill>
                            <a:schemeClr val="tx1"/>
                          </a:solidFill>
                          <a:effectLst/>
                          <a:latin typeface="Times New Roman" pitchFamily="18" charset="0"/>
                          <a:ea typeface="宋体" pitchFamily="2" charset="-122"/>
                        </a:rPr>
                        <a:t>0</a:t>
                      </a:r>
                    </a:p>
                  </a:txBody>
                  <a:tcPr marT="45726" marB="4572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1" i="0" u="none" strike="noStrike" cap="none" normalizeH="0" baseline="0">
                          <a:ln>
                            <a:noFill/>
                          </a:ln>
                          <a:solidFill>
                            <a:schemeClr val="tx1"/>
                          </a:solidFill>
                          <a:effectLst/>
                          <a:latin typeface="Times New Roman" pitchFamily="18" charset="0"/>
                          <a:ea typeface="宋体" pitchFamily="2" charset="-122"/>
                        </a:rPr>
                        <a:t>0</a:t>
                      </a:r>
                    </a:p>
                  </a:txBody>
                  <a:tcPr marT="45726" marB="4572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1" i="0" u="none" strike="noStrike" cap="none" normalizeH="0" baseline="0">
                          <a:ln>
                            <a:noFill/>
                          </a:ln>
                          <a:solidFill>
                            <a:schemeClr val="tx1"/>
                          </a:solidFill>
                          <a:effectLst/>
                          <a:latin typeface="Times New Roman" pitchFamily="18" charset="0"/>
                          <a:ea typeface="宋体" pitchFamily="2" charset="-122"/>
                        </a:rPr>
                        <a:t>0</a:t>
                      </a:r>
                    </a:p>
                  </a:txBody>
                  <a:tcPr marT="45726" marB="4572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1" i="0" u="none" strike="noStrike" cap="none" normalizeH="0" baseline="0" dirty="0">
                          <a:ln>
                            <a:noFill/>
                          </a:ln>
                          <a:solidFill>
                            <a:schemeClr val="tx1"/>
                          </a:solidFill>
                          <a:effectLst/>
                          <a:latin typeface="Times New Roman" pitchFamily="18" charset="0"/>
                          <a:ea typeface="宋体" pitchFamily="2" charset="-122"/>
                        </a:rPr>
                        <a:t>1</a:t>
                      </a:r>
                    </a:p>
                  </a:txBody>
                  <a:tcPr marT="45726" marB="45726"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bl>
          </a:graphicData>
        </a:graphic>
      </p:graphicFrame>
      <p:cxnSp>
        <p:nvCxnSpPr>
          <p:cNvPr id="4" name="直线箭头连接符 3">
            <a:extLst>
              <a:ext uri="{FF2B5EF4-FFF2-40B4-BE49-F238E27FC236}">
                <a16:creationId xmlns:a16="http://schemas.microsoft.com/office/drawing/2014/main" id="{66A50628-231D-AA4D-8CE6-9F3605698F30}"/>
              </a:ext>
            </a:extLst>
          </p:cNvPr>
          <p:cNvCxnSpPr>
            <a:cxnSpLocks/>
          </p:cNvCxnSpPr>
          <p:nvPr/>
        </p:nvCxnSpPr>
        <p:spPr>
          <a:xfrm flipH="1">
            <a:off x="7884368" y="2276872"/>
            <a:ext cx="360312" cy="0"/>
          </a:xfrm>
          <a:prstGeom prst="straightConnector1">
            <a:avLst/>
          </a:prstGeom>
          <a:ln w="1905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5" name="直线箭头连接符 4">
            <a:extLst>
              <a:ext uri="{FF2B5EF4-FFF2-40B4-BE49-F238E27FC236}">
                <a16:creationId xmlns:a16="http://schemas.microsoft.com/office/drawing/2014/main" id="{7445F382-8CA7-8244-A454-4D792A9018B4}"/>
              </a:ext>
            </a:extLst>
          </p:cNvPr>
          <p:cNvCxnSpPr>
            <a:cxnSpLocks/>
          </p:cNvCxnSpPr>
          <p:nvPr/>
        </p:nvCxnSpPr>
        <p:spPr>
          <a:xfrm flipH="1">
            <a:off x="7884368" y="3284984"/>
            <a:ext cx="360312" cy="0"/>
          </a:xfrm>
          <a:prstGeom prst="straightConnector1">
            <a:avLst/>
          </a:prstGeom>
          <a:ln w="1905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6" name="直线箭头连接符 5">
            <a:extLst>
              <a:ext uri="{FF2B5EF4-FFF2-40B4-BE49-F238E27FC236}">
                <a16:creationId xmlns:a16="http://schemas.microsoft.com/office/drawing/2014/main" id="{C61E412B-3D13-2A41-9405-A510DC89EFD9}"/>
              </a:ext>
            </a:extLst>
          </p:cNvPr>
          <p:cNvCxnSpPr>
            <a:cxnSpLocks/>
          </p:cNvCxnSpPr>
          <p:nvPr/>
        </p:nvCxnSpPr>
        <p:spPr>
          <a:xfrm flipH="1">
            <a:off x="7884368" y="4365104"/>
            <a:ext cx="360312" cy="0"/>
          </a:xfrm>
          <a:prstGeom prst="straightConnector1">
            <a:avLst/>
          </a:prstGeom>
          <a:ln w="1905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7" name="圆角矩形 6">
            <a:extLst>
              <a:ext uri="{FF2B5EF4-FFF2-40B4-BE49-F238E27FC236}">
                <a16:creationId xmlns:a16="http://schemas.microsoft.com/office/drawing/2014/main" id="{E8E4C117-574E-8E4B-AC0F-73F8BE1FE960}"/>
              </a:ext>
            </a:extLst>
          </p:cNvPr>
          <p:cNvSpPr/>
          <p:nvPr/>
        </p:nvSpPr>
        <p:spPr>
          <a:xfrm>
            <a:off x="1403648" y="2060848"/>
            <a:ext cx="2232248" cy="432048"/>
          </a:xfrm>
          <a:prstGeom prst="roundRect">
            <a:avLst/>
          </a:prstGeom>
          <a:noFill/>
          <a:ln w="19050">
            <a:solidFill>
              <a:srgbClr val="C0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8" name="圆角矩形 7">
            <a:extLst>
              <a:ext uri="{FF2B5EF4-FFF2-40B4-BE49-F238E27FC236}">
                <a16:creationId xmlns:a16="http://schemas.microsoft.com/office/drawing/2014/main" id="{E8BF5E29-125A-B44F-8873-605A38A3F33E}"/>
              </a:ext>
            </a:extLst>
          </p:cNvPr>
          <p:cNvSpPr/>
          <p:nvPr/>
        </p:nvSpPr>
        <p:spPr>
          <a:xfrm>
            <a:off x="1403648" y="3068960"/>
            <a:ext cx="2232248" cy="432048"/>
          </a:xfrm>
          <a:prstGeom prst="roundRect">
            <a:avLst/>
          </a:prstGeom>
          <a:noFill/>
          <a:ln w="19050">
            <a:solidFill>
              <a:srgbClr val="C0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9" name="圆角矩形 8">
            <a:extLst>
              <a:ext uri="{FF2B5EF4-FFF2-40B4-BE49-F238E27FC236}">
                <a16:creationId xmlns:a16="http://schemas.microsoft.com/office/drawing/2014/main" id="{B98339E9-4311-124D-9D16-C658C9D1AB4D}"/>
              </a:ext>
            </a:extLst>
          </p:cNvPr>
          <p:cNvSpPr/>
          <p:nvPr/>
        </p:nvSpPr>
        <p:spPr>
          <a:xfrm>
            <a:off x="1403648" y="4149080"/>
            <a:ext cx="2232248" cy="432048"/>
          </a:xfrm>
          <a:prstGeom prst="roundRect">
            <a:avLst/>
          </a:prstGeom>
          <a:noFill/>
          <a:ln w="19050">
            <a:solidFill>
              <a:srgbClr val="C0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cxnSp>
        <p:nvCxnSpPr>
          <p:cNvPr id="11" name="直线箭头连接符 10">
            <a:extLst>
              <a:ext uri="{FF2B5EF4-FFF2-40B4-BE49-F238E27FC236}">
                <a16:creationId xmlns:a16="http://schemas.microsoft.com/office/drawing/2014/main" id="{5608D7E3-3AC1-CC41-BF58-ACF1B0648619}"/>
              </a:ext>
            </a:extLst>
          </p:cNvPr>
          <p:cNvCxnSpPr>
            <a:cxnSpLocks/>
          </p:cNvCxnSpPr>
          <p:nvPr/>
        </p:nvCxnSpPr>
        <p:spPr>
          <a:xfrm flipH="1">
            <a:off x="7884096" y="5373216"/>
            <a:ext cx="360312" cy="0"/>
          </a:xfrm>
          <a:prstGeom prst="straightConnector1">
            <a:avLst/>
          </a:prstGeom>
          <a:ln w="1905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12" name="直线箭头连接符 11">
            <a:extLst>
              <a:ext uri="{FF2B5EF4-FFF2-40B4-BE49-F238E27FC236}">
                <a16:creationId xmlns:a16="http://schemas.microsoft.com/office/drawing/2014/main" id="{15300F02-F97F-DD47-A254-50855844E525}"/>
              </a:ext>
            </a:extLst>
          </p:cNvPr>
          <p:cNvCxnSpPr>
            <a:cxnSpLocks/>
          </p:cNvCxnSpPr>
          <p:nvPr/>
        </p:nvCxnSpPr>
        <p:spPr>
          <a:xfrm flipH="1">
            <a:off x="7884096" y="5949280"/>
            <a:ext cx="360312" cy="0"/>
          </a:xfrm>
          <a:prstGeom prst="straightConnector1">
            <a:avLst/>
          </a:prstGeom>
          <a:ln w="1905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14" name="圆角矩形 13">
            <a:extLst>
              <a:ext uri="{FF2B5EF4-FFF2-40B4-BE49-F238E27FC236}">
                <a16:creationId xmlns:a16="http://schemas.microsoft.com/office/drawing/2014/main" id="{4514D042-6C16-8A42-BEA3-850ADDAC6982}"/>
              </a:ext>
            </a:extLst>
          </p:cNvPr>
          <p:cNvSpPr/>
          <p:nvPr/>
        </p:nvSpPr>
        <p:spPr>
          <a:xfrm>
            <a:off x="1390054" y="5133110"/>
            <a:ext cx="2232248" cy="432048"/>
          </a:xfrm>
          <a:prstGeom prst="roundRect">
            <a:avLst/>
          </a:prstGeom>
          <a:noFill/>
          <a:ln w="19050">
            <a:solidFill>
              <a:srgbClr val="C0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5" name="圆角矩形 14">
            <a:extLst>
              <a:ext uri="{FF2B5EF4-FFF2-40B4-BE49-F238E27FC236}">
                <a16:creationId xmlns:a16="http://schemas.microsoft.com/office/drawing/2014/main" id="{9F770E37-7771-5F4E-ACA0-6866AD6B3444}"/>
              </a:ext>
            </a:extLst>
          </p:cNvPr>
          <p:cNvSpPr/>
          <p:nvPr/>
        </p:nvSpPr>
        <p:spPr>
          <a:xfrm>
            <a:off x="1390054" y="5661248"/>
            <a:ext cx="2232248" cy="432048"/>
          </a:xfrm>
          <a:prstGeom prst="roundRect">
            <a:avLst/>
          </a:prstGeom>
          <a:noFill/>
          <a:ln w="19050">
            <a:solidFill>
              <a:srgbClr val="C0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6"/>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1"/>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8"/>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9"/>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4"/>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P spid="14" grpId="0" animBg="1"/>
      <p:bldP spid="15" grpId="0" animBg="1"/>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0722" name="Rectangle 2"/>
              <p:cNvSpPr>
                <a:spLocks noGrp="1" noChangeArrowheads="1"/>
              </p:cNvSpPr>
              <p:nvPr>
                <p:ph/>
              </p:nvPr>
            </p:nvSpPr>
            <p:spPr/>
            <p:txBody>
              <a:bodyPr/>
              <a:lstStyle/>
              <a:p>
                <a:pPr>
                  <a:lnSpc>
                    <a:spcPct val="120000"/>
                  </a:lnSpc>
                </a:pPr>
                <a14:m>
                  <m:oMath xmlns:m="http://schemas.openxmlformats.org/officeDocument/2006/math">
                    <m:d>
                      <m:dPr>
                        <m:ctrlPr>
                          <a:rPr lang="en-US" altLang="zh-CN" b="1" i="1" smtClean="0">
                            <a:latin typeface="Cambria Math" panose="02040503050406030204" pitchFamily="18" charset="0"/>
                            <a:ea typeface="楷体" panose="02010609060101010101" pitchFamily="49" charset="-122"/>
                            <a:cs typeface="Times New Roman" panose="02020603050405020304" pitchFamily="18" charset="0"/>
                          </a:rPr>
                        </m:ctrlPr>
                      </m:dPr>
                      <m:e>
                        <m:r>
                          <a:rPr lang="en-US" altLang="zh-CN" b="1" i="1">
                            <a:latin typeface="Cambria Math"/>
                            <a:ea typeface="楷体" panose="02010609060101010101" pitchFamily="49" charset="-122"/>
                            <a:cs typeface="Times New Roman" panose="02020603050405020304" pitchFamily="18" charset="0"/>
                          </a:rPr>
                          <m:t>𝒑</m:t>
                        </m:r>
                        <m:r>
                          <a:rPr lang="en-US" altLang="zh-CN" b="1" i="1">
                            <a:latin typeface="Cambria Math"/>
                            <a:ea typeface="楷体" panose="02010609060101010101" pitchFamily="49" charset="-122"/>
                            <a:cs typeface="Times New Roman" panose="02020603050405020304" pitchFamily="18" charset="0"/>
                          </a:rPr>
                          <m:t>,</m:t>
                        </m:r>
                        <m:r>
                          <a:rPr lang="en-US" altLang="zh-CN" b="1" i="1">
                            <a:latin typeface="Cambria Math"/>
                            <a:ea typeface="楷体" panose="02010609060101010101" pitchFamily="49" charset="-122"/>
                            <a:cs typeface="Times New Roman" panose="02020603050405020304" pitchFamily="18" charset="0"/>
                          </a:rPr>
                          <m:t>𝒒</m:t>
                        </m:r>
                        <m:r>
                          <a:rPr lang="en-US" altLang="zh-CN" b="1" i="1">
                            <a:latin typeface="Cambria Math"/>
                            <a:ea typeface="楷体" panose="02010609060101010101" pitchFamily="49" charset="-122"/>
                            <a:cs typeface="Times New Roman" panose="02020603050405020304" pitchFamily="18" charset="0"/>
                          </a:rPr>
                          <m:t>,</m:t>
                        </m:r>
                        <m:r>
                          <a:rPr lang="en-US" altLang="zh-CN" b="1" i="1">
                            <a:latin typeface="Cambria Math"/>
                            <a:ea typeface="楷体" panose="02010609060101010101" pitchFamily="49" charset="-122"/>
                            <a:cs typeface="Times New Roman" panose="02020603050405020304" pitchFamily="18" charset="0"/>
                          </a:rPr>
                          <m:t>𝒓</m:t>
                        </m:r>
                      </m:e>
                    </m:d>
                    <m:r>
                      <a:rPr lang="en-US" altLang="zh-CN" b="1" i="1">
                        <a:latin typeface="Cambria Math"/>
                        <a:ea typeface="楷体" panose="02010609060101010101" pitchFamily="49" charset="-122"/>
                        <a:cs typeface="Times New Roman" panose="02020603050405020304" pitchFamily="18" charset="0"/>
                      </a:rPr>
                      <m:t>=(</m:t>
                    </m:r>
                    <m:r>
                      <a:rPr lang="en-US" altLang="zh-CN" b="1" i="1">
                        <a:latin typeface="Cambria Math"/>
                        <a:ea typeface="楷体" panose="02010609060101010101" pitchFamily="49" charset="-122"/>
                        <a:cs typeface="Times New Roman" panose="02020603050405020304" pitchFamily="18" charset="0"/>
                      </a:rPr>
                      <m:t>𝟏</m:t>
                    </m:r>
                    <m:r>
                      <a:rPr lang="en-US" altLang="zh-CN" b="1" i="1">
                        <a:latin typeface="Cambria Math"/>
                        <a:ea typeface="楷体" panose="02010609060101010101" pitchFamily="49" charset="-122"/>
                        <a:cs typeface="Times New Roman" panose="02020603050405020304" pitchFamily="18" charset="0"/>
                      </a:rPr>
                      <m:t>,</m:t>
                    </m:r>
                    <m:r>
                      <a:rPr lang="en-US" altLang="zh-CN" b="1" i="1">
                        <a:latin typeface="Cambria Math"/>
                        <a:ea typeface="楷体" panose="02010609060101010101" pitchFamily="49" charset="-122"/>
                        <a:cs typeface="Times New Roman" panose="02020603050405020304" pitchFamily="18" charset="0"/>
                      </a:rPr>
                      <m:t>𝟏</m:t>
                    </m:r>
                    <m:r>
                      <a:rPr lang="en-US" altLang="zh-CN" b="1" i="1">
                        <a:latin typeface="Cambria Math"/>
                        <a:ea typeface="楷体" panose="02010609060101010101" pitchFamily="49" charset="-122"/>
                        <a:cs typeface="Times New Roman" panose="02020603050405020304" pitchFamily="18" charset="0"/>
                      </a:rPr>
                      <m:t>,</m:t>
                    </m:r>
                    <m:r>
                      <a:rPr lang="en-US" altLang="zh-CN" b="1" i="1">
                        <a:latin typeface="Cambria Math"/>
                        <a:ea typeface="楷体" panose="02010609060101010101" pitchFamily="49" charset="-122"/>
                        <a:cs typeface="Times New Roman" panose="02020603050405020304" pitchFamily="18" charset="0"/>
                      </a:rPr>
                      <m:t>𝟏</m:t>
                    </m:r>
                    <m:r>
                      <a:rPr lang="en-US" altLang="zh-CN" b="1" i="1">
                        <a:latin typeface="Cambria Math"/>
                        <a:ea typeface="楷体" panose="02010609060101010101" pitchFamily="49" charset="-122"/>
                        <a:cs typeface="Times New Roman" panose="02020603050405020304" pitchFamily="18" charset="0"/>
                      </a:rPr>
                      <m:t>)⇒</m:t>
                    </m:r>
                    <m:r>
                      <a:rPr lang="en-US" altLang="zh-CN" b="1" i="1">
                        <a:latin typeface="Cambria Math"/>
                        <a:ea typeface="Cambria Math"/>
                        <a:cs typeface="Times New Roman" panose="02020603050405020304" pitchFamily="18" charset="0"/>
                      </a:rPr>
                      <m:t>𝒑</m:t>
                    </m:r>
                    <m:r>
                      <a:rPr lang="en-US" altLang="zh-CN" b="1" i="1">
                        <a:latin typeface="Cambria Math"/>
                        <a:ea typeface="Cambria Math"/>
                        <a:cs typeface="Times New Roman" panose="02020603050405020304" pitchFamily="18" charset="0"/>
                      </a:rPr>
                      <m:t>∧</m:t>
                    </m:r>
                    <m:r>
                      <a:rPr lang="en-US" altLang="zh-CN" b="1" i="1">
                        <a:latin typeface="Cambria Math"/>
                        <a:ea typeface="Cambria Math"/>
                        <a:cs typeface="Times New Roman" panose="02020603050405020304" pitchFamily="18" charset="0"/>
                      </a:rPr>
                      <m:t>𝒒</m:t>
                    </m:r>
                    <m:r>
                      <a:rPr lang="en-US" altLang="zh-CN" b="1" i="1">
                        <a:latin typeface="Cambria Math"/>
                        <a:ea typeface="Cambria Math"/>
                        <a:cs typeface="Times New Roman" panose="02020603050405020304" pitchFamily="18" charset="0"/>
                      </a:rPr>
                      <m:t>∧</m:t>
                    </m:r>
                    <m:r>
                      <a:rPr lang="en-US" altLang="zh-CN" b="1" i="1">
                        <a:latin typeface="Cambria Math"/>
                        <a:ea typeface="Cambria Math"/>
                        <a:cs typeface="Times New Roman" panose="02020603050405020304" pitchFamily="18" charset="0"/>
                      </a:rPr>
                      <m:t>𝒓</m:t>
                    </m:r>
                  </m:oMath>
                </a14:m>
                <a:endParaRPr lang="zh-CN" altLang="en-US" b="1" dirty="0">
                  <a:latin typeface="Times New Roman" panose="02020603050405020304" pitchFamily="18" charset="0"/>
                  <a:ea typeface="楷体" panose="02010609060101010101" pitchFamily="49" charset="-122"/>
                  <a:cs typeface="Times New Roman" panose="02020603050405020304" pitchFamily="18" charset="0"/>
                </a:endParaRPr>
              </a:p>
              <a:p>
                <a:pPr>
                  <a:lnSpc>
                    <a:spcPct val="120000"/>
                  </a:lnSpc>
                </a:pPr>
                <a14:m>
                  <m:oMath xmlns:m="http://schemas.openxmlformats.org/officeDocument/2006/math">
                    <m:d>
                      <m:dPr>
                        <m:ctrlPr>
                          <a:rPr lang="en-US" altLang="zh-CN" b="1" i="1">
                            <a:latin typeface="Cambria Math" panose="02040503050406030204" pitchFamily="18" charset="0"/>
                            <a:ea typeface="楷体" panose="02010609060101010101" pitchFamily="49" charset="-122"/>
                            <a:cs typeface="Times New Roman" panose="02020603050405020304" pitchFamily="18" charset="0"/>
                          </a:rPr>
                        </m:ctrlPr>
                      </m:dPr>
                      <m:e>
                        <m:r>
                          <a:rPr lang="en-US" altLang="zh-CN" b="1" i="1">
                            <a:latin typeface="Cambria Math"/>
                            <a:ea typeface="楷体" panose="02010609060101010101" pitchFamily="49" charset="-122"/>
                            <a:cs typeface="Times New Roman" panose="02020603050405020304" pitchFamily="18" charset="0"/>
                          </a:rPr>
                          <m:t>𝒑</m:t>
                        </m:r>
                        <m:r>
                          <a:rPr lang="en-US" altLang="zh-CN" b="1" i="1">
                            <a:latin typeface="Cambria Math"/>
                            <a:ea typeface="楷体" panose="02010609060101010101" pitchFamily="49" charset="-122"/>
                            <a:cs typeface="Times New Roman" panose="02020603050405020304" pitchFamily="18" charset="0"/>
                          </a:rPr>
                          <m:t>,</m:t>
                        </m:r>
                        <m:r>
                          <a:rPr lang="en-US" altLang="zh-CN" b="1" i="1">
                            <a:latin typeface="Cambria Math"/>
                            <a:ea typeface="楷体" panose="02010609060101010101" pitchFamily="49" charset="-122"/>
                            <a:cs typeface="Times New Roman" panose="02020603050405020304" pitchFamily="18" charset="0"/>
                          </a:rPr>
                          <m:t>𝒒</m:t>
                        </m:r>
                        <m:r>
                          <a:rPr lang="en-US" altLang="zh-CN" b="1" i="1">
                            <a:latin typeface="Cambria Math"/>
                            <a:ea typeface="楷体" panose="02010609060101010101" pitchFamily="49" charset="-122"/>
                            <a:cs typeface="Times New Roman" panose="02020603050405020304" pitchFamily="18" charset="0"/>
                          </a:rPr>
                          <m:t>,</m:t>
                        </m:r>
                        <m:r>
                          <a:rPr lang="en-US" altLang="zh-CN" b="1" i="1">
                            <a:latin typeface="Cambria Math"/>
                            <a:ea typeface="楷体" panose="02010609060101010101" pitchFamily="49" charset="-122"/>
                            <a:cs typeface="Times New Roman" panose="02020603050405020304" pitchFamily="18" charset="0"/>
                          </a:rPr>
                          <m:t>𝒓</m:t>
                        </m:r>
                      </m:e>
                    </m:d>
                    <m:r>
                      <a:rPr lang="en-US" altLang="zh-CN" b="1" i="1">
                        <a:latin typeface="Cambria Math"/>
                        <a:ea typeface="楷体" panose="02010609060101010101" pitchFamily="49" charset="-122"/>
                        <a:cs typeface="Times New Roman" panose="02020603050405020304" pitchFamily="18" charset="0"/>
                      </a:rPr>
                      <m:t>=(</m:t>
                    </m:r>
                    <m:r>
                      <a:rPr lang="en-US" altLang="zh-CN" b="1" i="1">
                        <a:latin typeface="Cambria Math"/>
                        <a:ea typeface="楷体" panose="02010609060101010101" pitchFamily="49" charset="-122"/>
                        <a:cs typeface="Times New Roman" panose="02020603050405020304" pitchFamily="18" charset="0"/>
                      </a:rPr>
                      <m:t>𝟏</m:t>
                    </m:r>
                    <m:r>
                      <a:rPr lang="en-US" altLang="zh-CN" b="1" i="1">
                        <a:latin typeface="Cambria Math"/>
                        <a:ea typeface="楷体" panose="02010609060101010101" pitchFamily="49" charset="-122"/>
                        <a:cs typeface="Times New Roman" panose="02020603050405020304" pitchFamily="18" charset="0"/>
                      </a:rPr>
                      <m:t>,</m:t>
                    </m:r>
                    <m:r>
                      <a:rPr lang="en-US" altLang="zh-CN" b="1" i="1">
                        <a:latin typeface="Cambria Math"/>
                        <a:ea typeface="楷体" panose="02010609060101010101" pitchFamily="49" charset="-122"/>
                        <a:cs typeface="Times New Roman" panose="02020603050405020304" pitchFamily="18" charset="0"/>
                      </a:rPr>
                      <m:t>𝟎</m:t>
                    </m:r>
                    <m:r>
                      <a:rPr lang="en-US" altLang="zh-CN" b="1" i="1">
                        <a:latin typeface="Cambria Math"/>
                        <a:ea typeface="楷体" panose="02010609060101010101" pitchFamily="49" charset="-122"/>
                        <a:cs typeface="Times New Roman" panose="02020603050405020304" pitchFamily="18" charset="0"/>
                      </a:rPr>
                      <m:t>,</m:t>
                    </m:r>
                    <m:r>
                      <a:rPr lang="en-US" altLang="zh-CN" b="1" i="1">
                        <a:latin typeface="Cambria Math"/>
                        <a:ea typeface="楷体" panose="02010609060101010101" pitchFamily="49" charset="-122"/>
                        <a:cs typeface="Times New Roman" panose="02020603050405020304" pitchFamily="18" charset="0"/>
                      </a:rPr>
                      <m:t>𝟏</m:t>
                    </m:r>
                    <m:r>
                      <a:rPr lang="en-US" altLang="zh-CN" b="1" i="1">
                        <a:latin typeface="Cambria Math"/>
                        <a:ea typeface="楷体" panose="02010609060101010101" pitchFamily="49" charset="-122"/>
                        <a:cs typeface="Times New Roman" panose="02020603050405020304" pitchFamily="18" charset="0"/>
                      </a:rPr>
                      <m:t>)⇒</m:t>
                    </m:r>
                    <m:r>
                      <a:rPr lang="en-US" altLang="zh-CN" b="1" i="1">
                        <a:latin typeface="Cambria Math"/>
                        <a:ea typeface="Cambria Math"/>
                        <a:cs typeface="Times New Roman" panose="02020603050405020304" pitchFamily="18" charset="0"/>
                      </a:rPr>
                      <m:t>𝒑</m:t>
                    </m:r>
                    <m:r>
                      <a:rPr lang="en-US" altLang="zh-CN" b="1" i="1">
                        <a:latin typeface="Cambria Math"/>
                        <a:ea typeface="Cambria Math"/>
                        <a:cs typeface="Times New Roman" panose="02020603050405020304" pitchFamily="18" charset="0"/>
                      </a:rPr>
                      <m:t>∧¬</m:t>
                    </m:r>
                    <m:r>
                      <a:rPr lang="en-US" altLang="zh-CN" b="1" i="1">
                        <a:latin typeface="Cambria Math"/>
                        <a:ea typeface="Cambria Math"/>
                        <a:cs typeface="Times New Roman" panose="02020603050405020304" pitchFamily="18" charset="0"/>
                      </a:rPr>
                      <m:t>𝒒</m:t>
                    </m:r>
                    <m:r>
                      <a:rPr lang="en-US" altLang="zh-CN" b="1" i="1">
                        <a:latin typeface="Cambria Math"/>
                        <a:ea typeface="Cambria Math"/>
                        <a:cs typeface="Times New Roman" panose="02020603050405020304" pitchFamily="18" charset="0"/>
                      </a:rPr>
                      <m:t>∧</m:t>
                    </m:r>
                    <m:r>
                      <a:rPr lang="en-US" altLang="zh-CN" b="1" i="1">
                        <a:latin typeface="Cambria Math"/>
                        <a:ea typeface="Cambria Math"/>
                        <a:cs typeface="Times New Roman" panose="02020603050405020304" pitchFamily="18" charset="0"/>
                      </a:rPr>
                      <m:t>𝒓</m:t>
                    </m:r>
                  </m:oMath>
                </a14:m>
                <a:endParaRPr lang="zh-CN" altLang="en-US" b="1" dirty="0">
                  <a:latin typeface="Times New Roman" panose="02020603050405020304" pitchFamily="18" charset="0"/>
                  <a:ea typeface="楷体" panose="02010609060101010101" pitchFamily="49" charset="-122"/>
                  <a:cs typeface="Times New Roman" panose="02020603050405020304" pitchFamily="18" charset="0"/>
                </a:endParaRPr>
              </a:p>
              <a:p>
                <a:pPr>
                  <a:lnSpc>
                    <a:spcPct val="120000"/>
                  </a:lnSpc>
                </a:pPr>
                <a14:m>
                  <m:oMath xmlns:m="http://schemas.openxmlformats.org/officeDocument/2006/math">
                    <m:d>
                      <m:dPr>
                        <m:ctrlPr>
                          <a:rPr lang="en-US" altLang="zh-CN" b="1" i="1">
                            <a:latin typeface="Cambria Math" panose="02040503050406030204" pitchFamily="18" charset="0"/>
                            <a:ea typeface="楷体" panose="02010609060101010101" pitchFamily="49" charset="-122"/>
                            <a:cs typeface="Times New Roman" panose="02020603050405020304" pitchFamily="18" charset="0"/>
                          </a:rPr>
                        </m:ctrlPr>
                      </m:dPr>
                      <m:e>
                        <m:r>
                          <a:rPr lang="en-US" altLang="zh-CN" b="1" i="1">
                            <a:latin typeface="Cambria Math"/>
                            <a:ea typeface="楷体" panose="02010609060101010101" pitchFamily="49" charset="-122"/>
                            <a:cs typeface="Times New Roman" panose="02020603050405020304" pitchFamily="18" charset="0"/>
                          </a:rPr>
                          <m:t>𝒑</m:t>
                        </m:r>
                        <m:r>
                          <a:rPr lang="en-US" altLang="zh-CN" b="1" i="1">
                            <a:latin typeface="Cambria Math"/>
                            <a:ea typeface="楷体" panose="02010609060101010101" pitchFamily="49" charset="-122"/>
                            <a:cs typeface="Times New Roman" panose="02020603050405020304" pitchFamily="18" charset="0"/>
                          </a:rPr>
                          <m:t>,</m:t>
                        </m:r>
                        <m:r>
                          <a:rPr lang="en-US" altLang="zh-CN" b="1" i="1">
                            <a:latin typeface="Cambria Math"/>
                            <a:ea typeface="楷体" panose="02010609060101010101" pitchFamily="49" charset="-122"/>
                            <a:cs typeface="Times New Roman" panose="02020603050405020304" pitchFamily="18" charset="0"/>
                          </a:rPr>
                          <m:t>𝒒</m:t>
                        </m:r>
                        <m:r>
                          <a:rPr lang="en-US" altLang="zh-CN" b="1" i="1">
                            <a:latin typeface="Cambria Math"/>
                            <a:ea typeface="楷体" panose="02010609060101010101" pitchFamily="49" charset="-122"/>
                            <a:cs typeface="Times New Roman" panose="02020603050405020304" pitchFamily="18" charset="0"/>
                          </a:rPr>
                          <m:t>,</m:t>
                        </m:r>
                        <m:r>
                          <a:rPr lang="en-US" altLang="zh-CN" b="1" i="1">
                            <a:latin typeface="Cambria Math"/>
                            <a:ea typeface="楷体" panose="02010609060101010101" pitchFamily="49" charset="-122"/>
                            <a:cs typeface="Times New Roman" panose="02020603050405020304" pitchFamily="18" charset="0"/>
                          </a:rPr>
                          <m:t>𝒓</m:t>
                        </m:r>
                      </m:e>
                    </m:d>
                    <m:r>
                      <a:rPr lang="en-US" altLang="zh-CN" b="1" i="1">
                        <a:latin typeface="Cambria Math"/>
                        <a:ea typeface="楷体" panose="02010609060101010101" pitchFamily="49" charset="-122"/>
                        <a:cs typeface="Times New Roman" panose="02020603050405020304" pitchFamily="18" charset="0"/>
                      </a:rPr>
                      <m:t>=(</m:t>
                    </m:r>
                    <m:r>
                      <a:rPr lang="en-US" altLang="zh-CN" b="1" i="1">
                        <a:latin typeface="Cambria Math"/>
                        <a:ea typeface="楷体" panose="02010609060101010101" pitchFamily="49" charset="-122"/>
                        <a:cs typeface="Times New Roman" panose="02020603050405020304" pitchFamily="18" charset="0"/>
                      </a:rPr>
                      <m:t>𝟎</m:t>
                    </m:r>
                    <m:r>
                      <a:rPr lang="en-US" altLang="zh-CN" b="1" i="1">
                        <a:latin typeface="Cambria Math"/>
                        <a:ea typeface="楷体" panose="02010609060101010101" pitchFamily="49" charset="-122"/>
                        <a:cs typeface="Times New Roman" panose="02020603050405020304" pitchFamily="18" charset="0"/>
                      </a:rPr>
                      <m:t>,</m:t>
                    </m:r>
                    <m:r>
                      <a:rPr lang="en-US" altLang="zh-CN" b="1" i="1">
                        <a:latin typeface="Cambria Math"/>
                        <a:ea typeface="楷体" panose="02010609060101010101" pitchFamily="49" charset="-122"/>
                        <a:cs typeface="Times New Roman" panose="02020603050405020304" pitchFamily="18" charset="0"/>
                      </a:rPr>
                      <m:t>𝟏</m:t>
                    </m:r>
                    <m:r>
                      <a:rPr lang="en-US" altLang="zh-CN" b="1" i="1">
                        <a:latin typeface="Cambria Math"/>
                        <a:ea typeface="楷体" panose="02010609060101010101" pitchFamily="49" charset="-122"/>
                        <a:cs typeface="Times New Roman" panose="02020603050405020304" pitchFamily="18" charset="0"/>
                      </a:rPr>
                      <m:t>,</m:t>
                    </m:r>
                    <m:r>
                      <a:rPr lang="en-US" altLang="zh-CN" b="1" i="1">
                        <a:latin typeface="Cambria Math"/>
                        <a:ea typeface="楷体" panose="02010609060101010101" pitchFamily="49" charset="-122"/>
                        <a:cs typeface="Times New Roman" panose="02020603050405020304" pitchFamily="18" charset="0"/>
                      </a:rPr>
                      <m:t>𝟏</m:t>
                    </m:r>
                    <m:r>
                      <a:rPr lang="en-US" altLang="zh-CN" b="1" i="1">
                        <a:latin typeface="Cambria Math"/>
                        <a:ea typeface="楷体" panose="02010609060101010101" pitchFamily="49" charset="-122"/>
                        <a:cs typeface="Times New Roman" panose="02020603050405020304" pitchFamily="18" charset="0"/>
                      </a:rPr>
                      <m:t>)⇒¬</m:t>
                    </m:r>
                    <m:r>
                      <a:rPr lang="en-US" altLang="zh-CN" b="1" i="1">
                        <a:latin typeface="Cambria Math"/>
                        <a:ea typeface="Cambria Math"/>
                        <a:cs typeface="Times New Roman" panose="02020603050405020304" pitchFamily="18" charset="0"/>
                      </a:rPr>
                      <m:t>𝒑</m:t>
                    </m:r>
                    <m:r>
                      <a:rPr lang="en-US" altLang="zh-CN" b="1" i="1">
                        <a:latin typeface="Cambria Math"/>
                        <a:ea typeface="Cambria Math"/>
                        <a:cs typeface="Times New Roman" panose="02020603050405020304" pitchFamily="18" charset="0"/>
                      </a:rPr>
                      <m:t>∧</m:t>
                    </m:r>
                    <m:r>
                      <a:rPr lang="en-US" altLang="zh-CN" b="1" i="1">
                        <a:latin typeface="Cambria Math"/>
                        <a:ea typeface="Cambria Math"/>
                        <a:cs typeface="Times New Roman" panose="02020603050405020304" pitchFamily="18" charset="0"/>
                      </a:rPr>
                      <m:t>𝒒</m:t>
                    </m:r>
                    <m:r>
                      <a:rPr lang="en-US" altLang="zh-CN" b="1" i="1">
                        <a:latin typeface="Cambria Math"/>
                        <a:ea typeface="Cambria Math"/>
                        <a:cs typeface="Times New Roman" panose="02020603050405020304" pitchFamily="18" charset="0"/>
                      </a:rPr>
                      <m:t>∧</m:t>
                    </m:r>
                    <m:r>
                      <a:rPr lang="en-US" altLang="zh-CN" b="1" i="1">
                        <a:latin typeface="Cambria Math"/>
                        <a:ea typeface="Cambria Math"/>
                        <a:cs typeface="Times New Roman" panose="02020603050405020304" pitchFamily="18" charset="0"/>
                      </a:rPr>
                      <m:t>𝒓</m:t>
                    </m:r>
                  </m:oMath>
                </a14:m>
                <a:endParaRPr lang="en-US" altLang="zh-CN" dirty="0"/>
              </a:p>
              <a:p>
                <a14:m>
                  <m:oMath xmlns:m="http://schemas.openxmlformats.org/officeDocument/2006/math">
                    <m:d>
                      <m:dPr>
                        <m:ctrlPr>
                          <a:rPr lang="en-US" altLang="zh-CN" b="1" i="1">
                            <a:latin typeface="Cambria Math" panose="02040503050406030204" pitchFamily="18" charset="0"/>
                            <a:ea typeface="楷体" panose="02010609060101010101" pitchFamily="49" charset="-122"/>
                            <a:cs typeface="Times New Roman" panose="02020603050405020304" pitchFamily="18" charset="0"/>
                          </a:rPr>
                        </m:ctrlPr>
                      </m:dPr>
                      <m:e>
                        <m:r>
                          <a:rPr lang="en-US" altLang="zh-CN" b="1" i="1">
                            <a:latin typeface="Cambria Math"/>
                            <a:ea typeface="楷体" panose="02010609060101010101" pitchFamily="49" charset="-122"/>
                            <a:cs typeface="Times New Roman" panose="02020603050405020304" pitchFamily="18" charset="0"/>
                          </a:rPr>
                          <m:t>𝒑</m:t>
                        </m:r>
                        <m:r>
                          <a:rPr lang="en-US" altLang="zh-CN" b="1" i="1">
                            <a:latin typeface="Cambria Math"/>
                            <a:ea typeface="楷体" panose="02010609060101010101" pitchFamily="49" charset="-122"/>
                            <a:cs typeface="Times New Roman" panose="02020603050405020304" pitchFamily="18" charset="0"/>
                          </a:rPr>
                          <m:t>,</m:t>
                        </m:r>
                        <m:r>
                          <a:rPr lang="en-US" altLang="zh-CN" b="1" i="1">
                            <a:latin typeface="Cambria Math"/>
                            <a:ea typeface="楷体" panose="02010609060101010101" pitchFamily="49" charset="-122"/>
                            <a:cs typeface="Times New Roman" panose="02020603050405020304" pitchFamily="18" charset="0"/>
                          </a:rPr>
                          <m:t>𝒒</m:t>
                        </m:r>
                        <m:r>
                          <a:rPr lang="en-US" altLang="zh-CN" b="1" i="1">
                            <a:latin typeface="Cambria Math"/>
                            <a:ea typeface="楷体" panose="02010609060101010101" pitchFamily="49" charset="-122"/>
                            <a:cs typeface="Times New Roman" panose="02020603050405020304" pitchFamily="18" charset="0"/>
                          </a:rPr>
                          <m:t>,</m:t>
                        </m:r>
                        <m:r>
                          <a:rPr lang="en-US" altLang="zh-CN" b="1" i="1">
                            <a:latin typeface="Cambria Math"/>
                            <a:ea typeface="楷体" panose="02010609060101010101" pitchFamily="49" charset="-122"/>
                            <a:cs typeface="Times New Roman" panose="02020603050405020304" pitchFamily="18" charset="0"/>
                          </a:rPr>
                          <m:t>𝒓</m:t>
                        </m:r>
                      </m:e>
                    </m:d>
                    <m:r>
                      <a:rPr lang="en-US" altLang="zh-CN" b="1" i="1">
                        <a:latin typeface="Cambria Math"/>
                        <a:ea typeface="楷体" panose="02010609060101010101" pitchFamily="49" charset="-122"/>
                        <a:cs typeface="Times New Roman" panose="02020603050405020304" pitchFamily="18" charset="0"/>
                      </a:rPr>
                      <m:t>=(</m:t>
                    </m:r>
                    <m:r>
                      <a:rPr lang="en-US" altLang="zh-CN" b="1" i="1">
                        <a:latin typeface="Cambria Math"/>
                        <a:ea typeface="楷体" panose="02010609060101010101" pitchFamily="49" charset="-122"/>
                        <a:cs typeface="Times New Roman" panose="02020603050405020304" pitchFamily="18" charset="0"/>
                      </a:rPr>
                      <m:t>𝟎</m:t>
                    </m:r>
                    <m:r>
                      <a:rPr lang="en-US" altLang="zh-CN" b="1" i="1">
                        <a:latin typeface="Cambria Math"/>
                        <a:ea typeface="楷体" panose="02010609060101010101" pitchFamily="49" charset="-122"/>
                        <a:cs typeface="Times New Roman" panose="02020603050405020304" pitchFamily="18" charset="0"/>
                      </a:rPr>
                      <m:t>,</m:t>
                    </m:r>
                    <m:r>
                      <a:rPr lang="en-US" altLang="zh-CN" b="1" i="1" smtClean="0">
                        <a:latin typeface="Cambria Math"/>
                        <a:ea typeface="楷体" panose="02010609060101010101" pitchFamily="49" charset="-122"/>
                        <a:cs typeface="Times New Roman" panose="02020603050405020304" pitchFamily="18" charset="0"/>
                      </a:rPr>
                      <m:t>𝟎</m:t>
                    </m:r>
                    <m:r>
                      <a:rPr lang="en-US" altLang="zh-CN" b="1" i="1">
                        <a:latin typeface="Cambria Math"/>
                        <a:ea typeface="楷体" panose="02010609060101010101" pitchFamily="49" charset="-122"/>
                        <a:cs typeface="Times New Roman" panose="02020603050405020304" pitchFamily="18" charset="0"/>
                      </a:rPr>
                      <m:t>,</m:t>
                    </m:r>
                    <m:r>
                      <a:rPr lang="en-US" altLang="zh-CN" b="1" i="1">
                        <a:latin typeface="Cambria Math"/>
                        <a:ea typeface="楷体" panose="02010609060101010101" pitchFamily="49" charset="-122"/>
                        <a:cs typeface="Times New Roman" panose="02020603050405020304" pitchFamily="18" charset="0"/>
                      </a:rPr>
                      <m:t>𝟏</m:t>
                    </m:r>
                    <m:r>
                      <a:rPr lang="en-US" altLang="zh-CN" b="1" i="1">
                        <a:latin typeface="Cambria Math"/>
                        <a:ea typeface="楷体" panose="02010609060101010101" pitchFamily="49" charset="-122"/>
                        <a:cs typeface="Times New Roman" panose="02020603050405020304" pitchFamily="18" charset="0"/>
                      </a:rPr>
                      <m:t>)⇒¬</m:t>
                    </m:r>
                    <m:r>
                      <a:rPr lang="en-US" altLang="zh-CN" b="1" i="1">
                        <a:latin typeface="Cambria Math"/>
                        <a:ea typeface="Cambria Math"/>
                        <a:cs typeface="Times New Roman" panose="02020603050405020304" pitchFamily="18" charset="0"/>
                      </a:rPr>
                      <m:t>𝒑</m:t>
                    </m:r>
                    <m:r>
                      <a:rPr lang="en-US" altLang="zh-CN" b="1" i="1">
                        <a:latin typeface="Cambria Math"/>
                        <a:ea typeface="Cambria Math"/>
                        <a:cs typeface="Times New Roman" panose="02020603050405020304" pitchFamily="18" charset="0"/>
                      </a:rPr>
                      <m:t>∧¬</m:t>
                    </m:r>
                    <m:r>
                      <a:rPr lang="en-US" altLang="zh-CN" b="1" i="1">
                        <a:latin typeface="Cambria Math"/>
                        <a:ea typeface="Cambria Math"/>
                        <a:cs typeface="Times New Roman" panose="02020603050405020304" pitchFamily="18" charset="0"/>
                      </a:rPr>
                      <m:t>𝒒</m:t>
                    </m:r>
                    <m:r>
                      <a:rPr lang="en-US" altLang="zh-CN" b="1" i="1">
                        <a:latin typeface="Cambria Math"/>
                        <a:ea typeface="Cambria Math"/>
                        <a:cs typeface="Times New Roman" panose="02020603050405020304" pitchFamily="18" charset="0"/>
                      </a:rPr>
                      <m:t>∧</m:t>
                    </m:r>
                    <m:r>
                      <a:rPr lang="en-US" altLang="zh-CN" b="1" i="1">
                        <a:latin typeface="Cambria Math"/>
                        <a:ea typeface="Cambria Math"/>
                        <a:cs typeface="Times New Roman" panose="02020603050405020304" pitchFamily="18" charset="0"/>
                      </a:rPr>
                      <m:t>𝒓</m:t>
                    </m:r>
                  </m:oMath>
                </a14:m>
                <a:endParaRPr lang="en-US" altLang="zh-CN" dirty="0"/>
              </a:p>
              <a:p>
                <a14:m>
                  <m:oMath xmlns:m="http://schemas.openxmlformats.org/officeDocument/2006/math">
                    <m:d>
                      <m:dPr>
                        <m:ctrlPr>
                          <a:rPr lang="en-US" altLang="zh-CN" b="1" i="1">
                            <a:latin typeface="Cambria Math" panose="02040503050406030204" pitchFamily="18" charset="0"/>
                            <a:ea typeface="楷体" panose="02010609060101010101" pitchFamily="49" charset="-122"/>
                            <a:cs typeface="Times New Roman" panose="02020603050405020304" pitchFamily="18" charset="0"/>
                          </a:rPr>
                        </m:ctrlPr>
                      </m:dPr>
                      <m:e>
                        <m:r>
                          <a:rPr lang="en-US" altLang="zh-CN" b="1" i="1">
                            <a:latin typeface="Cambria Math"/>
                            <a:ea typeface="楷体" panose="02010609060101010101" pitchFamily="49" charset="-122"/>
                            <a:cs typeface="Times New Roman" panose="02020603050405020304" pitchFamily="18" charset="0"/>
                          </a:rPr>
                          <m:t>𝒑</m:t>
                        </m:r>
                        <m:r>
                          <a:rPr lang="en-US" altLang="zh-CN" b="1" i="1">
                            <a:latin typeface="Cambria Math"/>
                            <a:ea typeface="楷体" panose="02010609060101010101" pitchFamily="49" charset="-122"/>
                            <a:cs typeface="Times New Roman" panose="02020603050405020304" pitchFamily="18" charset="0"/>
                          </a:rPr>
                          <m:t>,</m:t>
                        </m:r>
                        <m:r>
                          <a:rPr lang="en-US" altLang="zh-CN" b="1" i="1">
                            <a:latin typeface="Cambria Math"/>
                            <a:ea typeface="楷体" panose="02010609060101010101" pitchFamily="49" charset="-122"/>
                            <a:cs typeface="Times New Roman" panose="02020603050405020304" pitchFamily="18" charset="0"/>
                          </a:rPr>
                          <m:t>𝒒</m:t>
                        </m:r>
                        <m:r>
                          <a:rPr lang="en-US" altLang="zh-CN" b="1" i="1">
                            <a:latin typeface="Cambria Math"/>
                            <a:ea typeface="楷体" panose="02010609060101010101" pitchFamily="49" charset="-122"/>
                            <a:cs typeface="Times New Roman" panose="02020603050405020304" pitchFamily="18" charset="0"/>
                          </a:rPr>
                          <m:t>,</m:t>
                        </m:r>
                        <m:r>
                          <a:rPr lang="en-US" altLang="zh-CN" b="1" i="1">
                            <a:latin typeface="Cambria Math"/>
                            <a:ea typeface="楷体" panose="02010609060101010101" pitchFamily="49" charset="-122"/>
                            <a:cs typeface="Times New Roman" panose="02020603050405020304" pitchFamily="18" charset="0"/>
                          </a:rPr>
                          <m:t>𝒓</m:t>
                        </m:r>
                      </m:e>
                    </m:d>
                    <m:r>
                      <a:rPr lang="en-US" altLang="zh-CN" b="1" i="1">
                        <a:latin typeface="Cambria Math"/>
                        <a:ea typeface="楷体" panose="02010609060101010101" pitchFamily="49" charset="-122"/>
                        <a:cs typeface="Times New Roman" panose="02020603050405020304" pitchFamily="18" charset="0"/>
                      </a:rPr>
                      <m:t>=(</m:t>
                    </m:r>
                    <m:r>
                      <a:rPr lang="en-US" altLang="zh-CN" b="1" i="1">
                        <a:latin typeface="Cambria Math"/>
                        <a:ea typeface="楷体" panose="02010609060101010101" pitchFamily="49" charset="-122"/>
                        <a:cs typeface="Times New Roman" panose="02020603050405020304" pitchFamily="18" charset="0"/>
                      </a:rPr>
                      <m:t>𝟎</m:t>
                    </m:r>
                    <m:r>
                      <a:rPr lang="en-US" altLang="zh-CN" b="1" i="1">
                        <a:latin typeface="Cambria Math"/>
                        <a:ea typeface="楷体" panose="02010609060101010101" pitchFamily="49" charset="-122"/>
                        <a:cs typeface="Times New Roman" panose="02020603050405020304" pitchFamily="18" charset="0"/>
                      </a:rPr>
                      <m:t>,</m:t>
                    </m:r>
                    <m:r>
                      <a:rPr lang="en-US" altLang="zh-CN" b="1" i="1">
                        <a:latin typeface="Cambria Math"/>
                        <a:ea typeface="楷体" panose="02010609060101010101" pitchFamily="49" charset="-122"/>
                        <a:cs typeface="Times New Roman" panose="02020603050405020304" pitchFamily="18" charset="0"/>
                      </a:rPr>
                      <m:t>𝟎</m:t>
                    </m:r>
                    <m:r>
                      <a:rPr lang="en-US" altLang="zh-CN" b="1" i="1">
                        <a:latin typeface="Cambria Math"/>
                        <a:ea typeface="楷体" panose="02010609060101010101" pitchFamily="49" charset="-122"/>
                        <a:cs typeface="Times New Roman" panose="02020603050405020304" pitchFamily="18" charset="0"/>
                      </a:rPr>
                      <m:t>,</m:t>
                    </m:r>
                    <m:r>
                      <a:rPr lang="en-US" altLang="zh-CN" b="1" i="1" smtClean="0">
                        <a:latin typeface="Cambria Math"/>
                        <a:ea typeface="楷体" panose="02010609060101010101" pitchFamily="49" charset="-122"/>
                        <a:cs typeface="Times New Roman" panose="02020603050405020304" pitchFamily="18" charset="0"/>
                      </a:rPr>
                      <m:t>𝟎</m:t>
                    </m:r>
                    <m:r>
                      <a:rPr lang="en-US" altLang="zh-CN" b="1" i="1">
                        <a:latin typeface="Cambria Math"/>
                        <a:ea typeface="楷体" panose="02010609060101010101" pitchFamily="49" charset="-122"/>
                        <a:cs typeface="Times New Roman" panose="02020603050405020304" pitchFamily="18" charset="0"/>
                      </a:rPr>
                      <m:t>)⇒¬</m:t>
                    </m:r>
                    <m:r>
                      <a:rPr lang="en-US" altLang="zh-CN" b="1" i="1">
                        <a:latin typeface="Cambria Math"/>
                        <a:ea typeface="Cambria Math"/>
                        <a:cs typeface="Times New Roman" panose="02020603050405020304" pitchFamily="18" charset="0"/>
                      </a:rPr>
                      <m:t>𝒑</m:t>
                    </m:r>
                    <m:r>
                      <a:rPr lang="en-US" altLang="zh-CN" b="1" i="1">
                        <a:latin typeface="Cambria Math"/>
                        <a:ea typeface="Cambria Math"/>
                        <a:cs typeface="Times New Roman" panose="02020603050405020304" pitchFamily="18" charset="0"/>
                      </a:rPr>
                      <m:t>∧¬</m:t>
                    </m:r>
                    <m:r>
                      <a:rPr lang="en-US" altLang="zh-CN" b="1" i="1">
                        <a:latin typeface="Cambria Math"/>
                        <a:ea typeface="Cambria Math"/>
                        <a:cs typeface="Times New Roman" panose="02020603050405020304" pitchFamily="18" charset="0"/>
                      </a:rPr>
                      <m:t>𝒒</m:t>
                    </m:r>
                    <m:r>
                      <a:rPr lang="en-US" altLang="zh-CN" b="1" i="1">
                        <a:latin typeface="Cambria Math"/>
                        <a:ea typeface="Cambria Math"/>
                        <a:cs typeface="Times New Roman" panose="02020603050405020304" pitchFamily="18" charset="0"/>
                      </a:rPr>
                      <m:t>∧¬</m:t>
                    </m:r>
                    <m:r>
                      <a:rPr lang="en-US" altLang="zh-CN" b="1" i="1">
                        <a:latin typeface="Cambria Math"/>
                        <a:ea typeface="Cambria Math"/>
                        <a:cs typeface="Times New Roman" panose="02020603050405020304" pitchFamily="18" charset="0"/>
                      </a:rPr>
                      <m:t>𝒓</m:t>
                    </m:r>
                  </m:oMath>
                </a14:m>
                <a:endParaRPr lang="en-US" altLang="zh-CN" dirty="0"/>
              </a:p>
              <a:p>
                <a:endParaRPr lang="en-US" altLang="zh-CN" dirty="0"/>
              </a:p>
              <a:p>
                <a14:m>
                  <m:oMath xmlns:m="http://schemas.openxmlformats.org/officeDocument/2006/math">
                    <m:r>
                      <a:rPr lang="en-US" altLang="zh-CN" sz="2800" b="1" i="1" smtClean="0">
                        <a:latin typeface="Cambria Math"/>
                        <a:ea typeface="Cambria Math"/>
                        <a:cs typeface="Times New Roman" panose="02020603050405020304" pitchFamily="18" charset="0"/>
                      </a:rPr>
                      <m:t>∴</m:t>
                    </m:r>
                    <m:r>
                      <a:rPr lang="en-US" altLang="zh-CN" sz="2800" b="1" i="1" smtClean="0">
                        <a:latin typeface="Cambria Math"/>
                        <a:ea typeface="楷体" panose="02010609060101010101" pitchFamily="49" charset="-122"/>
                        <a:cs typeface="Times New Roman" panose="02020603050405020304" pitchFamily="18" charset="0"/>
                      </a:rPr>
                      <m:t>𝑨</m:t>
                    </m:r>
                    <m:r>
                      <a:rPr lang="en-US" altLang="zh-CN" sz="2800" b="1" i="1" smtClean="0">
                        <a:latin typeface="Cambria Math"/>
                        <a:ea typeface="楷体" panose="02010609060101010101" pitchFamily="49" charset="-122"/>
                        <a:cs typeface="Times New Roman" panose="02020603050405020304" pitchFamily="18" charset="0"/>
                      </a:rPr>
                      <m:t>=</m:t>
                    </m:r>
                    <m:d>
                      <m:dPr>
                        <m:ctrlPr>
                          <a:rPr lang="en-US" altLang="zh-CN" sz="2800" b="1" i="1" smtClean="0">
                            <a:latin typeface="Cambria Math" panose="02040503050406030204" pitchFamily="18" charset="0"/>
                            <a:ea typeface="楷体" panose="02010609060101010101" pitchFamily="49" charset="-122"/>
                            <a:cs typeface="Times New Roman" panose="02020603050405020304" pitchFamily="18" charset="0"/>
                          </a:rPr>
                        </m:ctrlPr>
                      </m:dPr>
                      <m:e>
                        <m:r>
                          <a:rPr lang="en-US" altLang="zh-CN" sz="2800" b="1" i="1" smtClean="0">
                            <a:latin typeface="Cambria Math"/>
                            <a:ea typeface="楷体" panose="02010609060101010101" pitchFamily="49" charset="-122"/>
                            <a:cs typeface="Times New Roman" panose="02020603050405020304" pitchFamily="18" charset="0"/>
                          </a:rPr>
                          <m:t>𝒑</m:t>
                        </m:r>
                        <m:r>
                          <a:rPr lang="en-US" altLang="zh-CN" sz="2800" b="1" i="1">
                            <a:latin typeface="Cambria Math"/>
                            <a:ea typeface="Cambria Math"/>
                            <a:cs typeface="Times New Roman" panose="02020603050405020304" pitchFamily="18" charset="0"/>
                          </a:rPr>
                          <m:t>∨</m:t>
                        </m:r>
                        <m:r>
                          <a:rPr lang="en-US" altLang="zh-CN" sz="2800" b="1" i="1" smtClean="0">
                            <a:latin typeface="Cambria Math"/>
                            <a:ea typeface="楷体" panose="02010609060101010101" pitchFamily="49" charset="-122"/>
                            <a:cs typeface="Times New Roman" panose="02020603050405020304" pitchFamily="18" charset="0"/>
                          </a:rPr>
                          <m:t>𝒒</m:t>
                        </m:r>
                      </m:e>
                    </m:d>
                    <m:r>
                      <a:rPr lang="en-US" altLang="zh-CN" sz="2800" b="1" i="1" smtClean="0">
                        <a:latin typeface="Cambria Math"/>
                        <a:ea typeface="Cambria Math"/>
                        <a:cs typeface="Times New Roman" panose="02020603050405020304" pitchFamily="18" charset="0"/>
                      </a:rPr>
                      <m:t>→</m:t>
                    </m:r>
                    <m:r>
                      <a:rPr lang="en-US" altLang="zh-CN" sz="2800" b="1" i="1" smtClean="0">
                        <a:latin typeface="Cambria Math"/>
                        <a:ea typeface="Cambria Math"/>
                        <a:cs typeface="Times New Roman" panose="02020603050405020304" pitchFamily="18" charset="0"/>
                      </a:rPr>
                      <m:t>𝒓</m:t>
                    </m:r>
                    <m:r>
                      <a:rPr lang="en-US" altLang="zh-CN" sz="2800" b="1" i="1" smtClean="0">
                        <a:latin typeface="Cambria Math"/>
                        <a:ea typeface="楷体" panose="02010609060101010101" pitchFamily="49" charset="-122"/>
                        <a:cs typeface="Times New Roman" panose="02020603050405020304" pitchFamily="18" charset="0"/>
                      </a:rPr>
                      <m:t>=</m:t>
                    </m:r>
                    <m:d>
                      <m:dPr>
                        <m:ctrlPr>
                          <a:rPr lang="en-US" altLang="zh-CN" sz="2800" b="1" i="1" smtClean="0">
                            <a:latin typeface="Cambria Math" panose="02040503050406030204" pitchFamily="18" charset="0"/>
                            <a:ea typeface="楷体" panose="02010609060101010101" pitchFamily="49" charset="-122"/>
                            <a:cs typeface="Times New Roman" panose="02020603050405020304" pitchFamily="18" charset="0"/>
                          </a:rPr>
                        </m:ctrlPr>
                      </m:dPr>
                      <m:e>
                        <m:r>
                          <a:rPr lang="en-US" altLang="zh-CN" sz="2800" b="1" i="1">
                            <a:latin typeface="Cambria Math"/>
                            <a:ea typeface="Cambria Math"/>
                            <a:cs typeface="Times New Roman" panose="02020603050405020304" pitchFamily="18" charset="0"/>
                          </a:rPr>
                          <m:t>𝒑</m:t>
                        </m:r>
                        <m:r>
                          <a:rPr lang="en-US" altLang="zh-CN" sz="2800" b="1" i="1">
                            <a:latin typeface="Cambria Math"/>
                            <a:ea typeface="Cambria Math"/>
                            <a:cs typeface="Times New Roman" panose="02020603050405020304" pitchFamily="18" charset="0"/>
                          </a:rPr>
                          <m:t>∧</m:t>
                        </m:r>
                        <m:r>
                          <a:rPr lang="en-US" altLang="zh-CN" sz="2800" b="1" i="1">
                            <a:latin typeface="Cambria Math"/>
                            <a:ea typeface="Cambria Math"/>
                            <a:cs typeface="Times New Roman" panose="02020603050405020304" pitchFamily="18" charset="0"/>
                          </a:rPr>
                          <m:t>𝒒</m:t>
                        </m:r>
                        <m:r>
                          <a:rPr lang="en-US" altLang="zh-CN" sz="2800" b="1" i="1">
                            <a:latin typeface="Cambria Math"/>
                            <a:ea typeface="Cambria Math"/>
                            <a:cs typeface="Times New Roman" panose="02020603050405020304" pitchFamily="18" charset="0"/>
                          </a:rPr>
                          <m:t>∧</m:t>
                        </m:r>
                        <m:r>
                          <a:rPr lang="en-US" altLang="zh-CN" sz="2800" b="1" i="1">
                            <a:latin typeface="Cambria Math"/>
                            <a:ea typeface="Cambria Math"/>
                            <a:cs typeface="Times New Roman" panose="02020603050405020304" pitchFamily="18" charset="0"/>
                          </a:rPr>
                          <m:t>𝒓</m:t>
                        </m:r>
                      </m:e>
                    </m:d>
                    <m:r>
                      <a:rPr lang="en-US" altLang="zh-CN" sz="2800" b="1" i="1">
                        <a:latin typeface="Cambria Math"/>
                        <a:ea typeface="Cambria Math"/>
                        <a:cs typeface="Times New Roman" panose="02020603050405020304" pitchFamily="18" charset="0"/>
                      </a:rPr>
                      <m:t>∨</m:t>
                    </m:r>
                    <m:d>
                      <m:dPr>
                        <m:ctrlPr>
                          <a:rPr lang="en-US" altLang="zh-CN" sz="2800" b="1" i="1" smtClean="0">
                            <a:latin typeface="Cambria Math" panose="02040503050406030204" pitchFamily="18" charset="0"/>
                            <a:ea typeface="Cambria Math"/>
                            <a:cs typeface="Times New Roman" panose="02020603050405020304" pitchFamily="18" charset="0"/>
                          </a:rPr>
                        </m:ctrlPr>
                      </m:dPr>
                      <m:e>
                        <m:r>
                          <a:rPr lang="en-US" altLang="zh-CN" sz="2800" b="1" i="1">
                            <a:latin typeface="Cambria Math"/>
                            <a:ea typeface="Cambria Math"/>
                            <a:cs typeface="Times New Roman" panose="02020603050405020304" pitchFamily="18" charset="0"/>
                          </a:rPr>
                          <m:t>𝒑</m:t>
                        </m:r>
                        <m:r>
                          <a:rPr lang="en-US" altLang="zh-CN" sz="2800" b="1" i="1">
                            <a:latin typeface="Cambria Math"/>
                            <a:ea typeface="Cambria Math"/>
                            <a:cs typeface="Times New Roman" panose="02020603050405020304" pitchFamily="18" charset="0"/>
                          </a:rPr>
                          <m:t>∧¬</m:t>
                        </m:r>
                        <m:r>
                          <a:rPr lang="en-US" altLang="zh-CN" sz="2800" b="1" i="1">
                            <a:latin typeface="Cambria Math"/>
                            <a:ea typeface="Cambria Math"/>
                            <a:cs typeface="Times New Roman" panose="02020603050405020304" pitchFamily="18" charset="0"/>
                          </a:rPr>
                          <m:t>𝒒</m:t>
                        </m:r>
                        <m:r>
                          <a:rPr lang="en-US" altLang="zh-CN" sz="2800" b="1" i="1">
                            <a:latin typeface="Cambria Math"/>
                            <a:ea typeface="Cambria Math"/>
                            <a:cs typeface="Times New Roman" panose="02020603050405020304" pitchFamily="18" charset="0"/>
                          </a:rPr>
                          <m:t>∧</m:t>
                        </m:r>
                        <m:r>
                          <a:rPr lang="en-US" altLang="zh-CN" sz="2800" b="1" i="1">
                            <a:latin typeface="Cambria Math"/>
                            <a:ea typeface="Cambria Math"/>
                            <a:cs typeface="Times New Roman" panose="02020603050405020304" pitchFamily="18" charset="0"/>
                          </a:rPr>
                          <m:t>𝒓</m:t>
                        </m:r>
                      </m:e>
                    </m:d>
                    <m:r>
                      <a:rPr lang="en-US" altLang="zh-CN" sz="2800" b="1" i="1">
                        <a:latin typeface="Cambria Math"/>
                        <a:ea typeface="Cambria Math"/>
                        <a:cs typeface="Times New Roman" panose="02020603050405020304" pitchFamily="18" charset="0"/>
                      </a:rPr>
                      <m:t>∨</m:t>
                    </m:r>
                    <m:r>
                      <a:rPr lang="en-US" altLang="zh-CN" sz="2800" b="1" i="1" smtClean="0">
                        <a:latin typeface="Cambria Math"/>
                        <a:ea typeface="Cambria Math"/>
                        <a:cs typeface="Times New Roman" panose="02020603050405020304" pitchFamily="18" charset="0"/>
                      </a:rPr>
                      <m:t> </m:t>
                    </m:r>
                    <m:d>
                      <m:dPr>
                        <m:ctrlPr>
                          <a:rPr lang="en-US" altLang="zh-CN" sz="2800" b="1" i="1" smtClean="0">
                            <a:latin typeface="Cambria Math" panose="02040503050406030204" pitchFamily="18" charset="0"/>
                            <a:ea typeface="Cambria Math"/>
                            <a:cs typeface="Times New Roman" panose="02020603050405020304" pitchFamily="18" charset="0"/>
                          </a:rPr>
                        </m:ctrlPr>
                      </m:dPr>
                      <m:e>
                        <m:r>
                          <a:rPr lang="en-US" altLang="zh-CN" sz="2800" b="1" i="1">
                            <a:latin typeface="Cambria Math"/>
                            <a:ea typeface="楷体" panose="02010609060101010101" pitchFamily="49" charset="-122"/>
                            <a:cs typeface="Times New Roman" panose="02020603050405020304" pitchFamily="18" charset="0"/>
                          </a:rPr>
                          <m:t>¬</m:t>
                        </m:r>
                        <m:r>
                          <a:rPr lang="en-US" altLang="zh-CN" sz="2800" b="1" i="1">
                            <a:latin typeface="Cambria Math"/>
                            <a:ea typeface="Cambria Math"/>
                            <a:cs typeface="Times New Roman" panose="02020603050405020304" pitchFamily="18" charset="0"/>
                          </a:rPr>
                          <m:t>𝒑</m:t>
                        </m:r>
                        <m:r>
                          <a:rPr lang="en-US" altLang="zh-CN" sz="2800" b="1" i="1">
                            <a:latin typeface="Cambria Math"/>
                            <a:ea typeface="Cambria Math"/>
                            <a:cs typeface="Times New Roman" panose="02020603050405020304" pitchFamily="18" charset="0"/>
                          </a:rPr>
                          <m:t>∧</m:t>
                        </m:r>
                        <m:r>
                          <a:rPr lang="en-US" altLang="zh-CN" sz="2800" b="1" i="1">
                            <a:latin typeface="Cambria Math"/>
                            <a:ea typeface="Cambria Math"/>
                            <a:cs typeface="Times New Roman" panose="02020603050405020304" pitchFamily="18" charset="0"/>
                          </a:rPr>
                          <m:t>𝒒</m:t>
                        </m:r>
                        <m:r>
                          <a:rPr lang="en-US" altLang="zh-CN" sz="2800" b="1" i="1">
                            <a:latin typeface="Cambria Math"/>
                            <a:ea typeface="Cambria Math"/>
                            <a:cs typeface="Times New Roman" panose="02020603050405020304" pitchFamily="18" charset="0"/>
                          </a:rPr>
                          <m:t>∧</m:t>
                        </m:r>
                        <m:r>
                          <a:rPr lang="en-US" altLang="zh-CN" sz="2800" b="1" i="1">
                            <a:latin typeface="Cambria Math"/>
                            <a:ea typeface="Cambria Math"/>
                            <a:cs typeface="Times New Roman" panose="02020603050405020304" pitchFamily="18" charset="0"/>
                          </a:rPr>
                          <m:t>𝒓</m:t>
                        </m:r>
                      </m:e>
                    </m:d>
                    <m:r>
                      <a:rPr lang="en-US" altLang="zh-CN" sz="2800" b="1" i="1">
                        <a:latin typeface="Cambria Math"/>
                        <a:ea typeface="Cambria Math"/>
                        <a:cs typeface="Times New Roman" panose="02020603050405020304" pitchFamily="18" charset="0"/>
                      </a:rPr>
                      <m:t>∨</m:t>
                    </m:r>
                    <m:r>
                      <a:rPr lang="en-US" altLang="zh-CN" sz="2800" b="1" i="1" smtClean="0">
                        <a:latin typeface="Cambria Math"/>
                        <a:ea typeface="楷体" panose="02010609060101010101" pitchFamily="49" charset="-122"/>
                        <a:cs typeface="Times New Roman" panose="02020603050405020304" pitchFamily="18" charset="0"/>
                      </a:rPr>
                      <m:t>(</m:t>
                    </m:r>
                    <m:r>
                      <a:rPr lang="en-US" altLang="zh-CN" sz="2800" b="1" i="1">
                        <a:latin typeface="Cambria Math"/>
                        <a:ea typeface="楷体" panose="02010609060101010101" pitchFamily="49" charset="-122"/>
                        <a:cs typeface="Times New Roman" panose="02020603050405020304" pitchFamily="18" charset="0"/>
                      </a:rPr>
                      <m:t>¬</m:t>
                    </m:r>
                    <m:r>
                      <a:rPr lang="en-US" altLang="zh-CN" sz="2800" b="1" i="1">
                        <a:latin typeface="Cambria Math"/>
                        <a:ea typeface="Cambria Math"/>
                        <a:cs typeface="Times New Roman" panose="02020603050405020304" pitchFamily="18" charset="0"/>
                      </a:rPr>
                      <m:t>𝒑</m:t>
                    </m:r>
                    <m:r>
                      <a:rPr lang="en-US" altLang="zh-CN" sz="2800" b="1" i="1">
                        <a:latin typeface="Cambria Math"/>
                        <a:ea typeface="Cambria Math"/>
                        <a:cs typeface="Times New Roman" panose="02020603050405020304" pitchFamily="18" charset="0"/>
                      </a:rPr>
                      <m:t>∧¬</m:t>
                    </m:r>
                    <m:r>
                      <a:rPr lang="en-US" altLang="zh-CN" sz="2800" b="1" i="1">
                        <a:latin typeface="Cambria Math"/>
                        <a:ea typeface="Cambria Math"/>
                        <a:cs typeface="Times New Roman" panose="02020603050405020304" pitchFamily="18" charset="0"/>
                      </a:rPr>
                      <m:t>𝒒</m:t>
                    </m:r>
                    <m:r>
                      <a:rPr lang="en-US" altLang="zh-CN" sz="2800" b="1" i="1">
                        <a:latin typeface="Cambria Math"/>
                        <a:ea typeface="Cambria Math"/>
                        <a:cs typeface="Times New Roman" panose="02020603050405020304" pitchFamily="18" charset="0"/>
                      </a:rPr>
                      <m:t>∧</m:t>
                    </m:r>
                    <m:r>
                      <a:rPr lang="en-US" altLang="zh-CN" sz="2800" b="1" i="1">
                        <a:latin typeface="Cambria Math"/>
                        <a:ea typeface="Cambria Math"/>
                        <a:cs typeface="Times New Roman" panose="02020603050405020304" pitchFamily="18" charset="0"/>
                      </a:rPr>
                      <m:t>𝒓</m:t>
                    </m:r>
                    <m:r>
                      <a:rPr lang="en-US" altLang="zh-CN" sz="2800" b="1" i="1" smtClean="0">
                        <a:latin typeface="Cambria Math"/>
                        <a:ea typeface="楷体" panose="02010609060101010101" pitchFamily="49" charset="-122"/>
                        <a:cs typeface="Times New Roman" panose="02020603050405020304" pitchFamily="18" charset="0"/>
                      </a:rPr>
                      <m:t>)</m:t>
                    </m:r>
                    <m:r>
                      <a:rPr lang="en-US" altLang="zh-CN" sz="2800" b="1" i="1" smtClean="0">
                        <a:latin typeface="Cambria Math"/>
                        <a:ea typeface="Cambria Math"/>
                        <a:cs typeface="Times New Roman" panose="02020603050405020304" pitchFamily="18" charset="0"/>
                      </a:rPr>
                      <m:t>∨</m:t>
                    </m:r>
                    <m:r>
                      <a:rPr lang="en-US" altLang="zh-CN" sz="2800" b="1" i="1" smtClean="0">
                        <a:latin typeface="Cambria Math"/>
                        <a:ea typeface="楷体" panose="02010609060101010101" pitchFamily="49" charset="-122"/>
                        <a:cs typeface="Times New Roman" panose="02020603050405020304" pitchFamily="18" charset="0"/>
                      </a:rPr>
                      <m:t>(</m:t>
                    </m:r>
                    <m:r>
                      <a:rPr lang="en-US" altLang="zh-CN" sz="2800" b="1" i="1">
                        <a:latin typeface="Cambria Math"/>
                        <a:ea typeface="楷体" panose="02010609060101010101" pitchFamily="49" charset="-122"/>
                        <a:cs typeface="Times New Roman" panose="02020603050405020304" pitchFamily="18" charset="0"/>
                      </a:rPr>
                      <m:t>¬</m:t>
                    </m:r>
                    <m:r>
                      <a:rPr lang="en-US" altLang="zh-CN" sz="2800" b="1" i="1">
                        <a:latin typeface="Cambria Math"/>
                        <a:ea typeface="Cambria Math"/>
                        <a:cs typeface="Times New Roman" panose="02020603050405020304" pitchFamily="18" charset="0"/>
                      </a:rPr>
                      <m:t>𝒑</m:t>
                    </m:r>
                    <m:r>
                      <a:rPr lang="en-US" altLang="zh-CN" sz="2800" b="1" i="1">
                        <a:latin typeface="Cambria Math"/>
                        <a:ea typeface="Cambria Math"/>
                        <a:cs typeface="Times New Roman" panose="02020603050405020304" pitchFamily="18" charset="0"/>
                      </a:rPr>
                      <m:t>∧¬</m:t>
                    </m:r>
                    <m:r>
                      <a:rPr lang="en-US" altLang="zh-CN" sz="2800" b="1" i="1">
                        <a:latin typeface="Cambria Math"/>
                        <a:ea typeface="Cambria Math"/>
                        <a:cs typeface="Times New Roman" panose="02020603050405020304" pitchFamily="18" charset="0"/>
                      </a:rPr>
                      <m:t>𝒒</m:t>
                    </m:r>
                    <m:r>
                      <a:rPr lang="en-US" altLang="zh-CN" sz="2800" b="1" i="1">
                        <a:latin typeface="Cambria Math"/>
                        <a:ea typeface="Cambria Math"/>
                        <a:cs typeface="Times New Roman" panose="02020603050405020304" pitchFamily="18" charset="0"/>
                      </a:rPr>
                      <m:t>∧¬</m:t>
                    </m:r>
                    <m:r>
                      <a:rPr lang="en-US" altLang="zh-CN" sz="2800" b="1" i="1">
                        <a:latin typeface="Cambria Math"/>
                        <a:ea typeface="Cambria Math"/>
                        <a:cs typeface="Times New Roman" panose="02020603050405020304" pitchFamily="18" charset="0"/>
                      </a:rPr>
                      <m:t>𝒓</m:t>
                    </m:r>
                    <m:r>
                      <a:rPr lang="en-US" altLang="zh-CN" sz="2800" b="1" i="1" smtClean="0">
                        <a:latin typeface="Cambria Math"/>
                        <a:ea typeface="Cambria Math"/>
                        <a:cs typeface="Times New Roman" panose="02020603050405020304" pitchFamily="18" charset="0"/>
                      </a:rPr>
                      <m:t>)</m:t>
                    </m:r>
                  </m:oMath>
                </a14:m>
                <a:endParaRPr lang="en-US" altLang="zh-CN" sz="2800" dirty="0"/>
              </a:p>
              <a:p>
                <a:endParaRPr lang="en-US" altLang="zh-CN" dirty="0"/>
              </a:p>
              <a:p>
                <a:endParaRPr lang="en-US" altLang="zh-CN" dirty="0"/>
              </a:p>
            </p:txBody>
          </p:sp>
        </mc:Choice>
        <mc:Fallback xmlns="">
          <p:sp>
            <p:nvSpPr>
              <p:cNvPr id="30722" name="Rectangle 2"/>
              <p:cNvSpPr>
                <a:spLocks noGrp="1" noRot="1" noChangeAspect="1" noMove="1" noResize="1" noEditPoints="1" noAdjustHandles="1" noChangeArrowheads="1" noChangeShapeType="1" noTextEdit="1"/>
              </p:cNvSpPr>
              <p:nvPr>
                <p:ph/>
              </p:nvPr>
            </p:nvSpPr>
            <p:spPr>
              <a:blipFill rotWithShape="1">
                <a:blip r:embed="rId2"/>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4062955941"/>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0722">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Rectangle 2"/>
          <p:cNvSpPr>
            <a:spLocks noGrp="1" noChangeArrowheads="1"/>
          </p:cNvSpPr>
          <p:nvPr>
            <p:ph/>
          </p:nvPr>
        </p:nvSpPr>
        <p:spPr/>
        <p:txBody>
          <a:bodyPr/>
          <a:lstStyle/>
          <a:p>
            <a:pPr eaLnBrk="1" hangingPunct="1">
              <a:lnSpc>
                <a:spcPct val="120000"/>
              </a:lnSpc>
            </a:pPr>
            <a:r>
              <a:rPr lang="en-US" altLang="zh-CN" b="1" dirty="0">
                <a:latin typeface="Times New Roman" pitchFamily="18" charset="0"/>
              </a:rPr>
              <a:t>(2) </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主合取范式</a:t>
            </a:r>
          </a:p>
          <a:p>
            <a:pPr eaLnBrk="1" hangingPunct="1">
              <a:lnSpc>
                <a:spcPct val="120000"/>
              </a:lnSpc>
            </a:pPr>
            <a:r>
              <a:rPr lang="zh-CN" altLang="en-US" b="1" dirty="0">
                <a:latin typeface="Times New Roman" panose="02020603050405020304" pitchFamily="18" charset="0"/>
                <a:ea typeface="楷体" panose="02010609060101010101" pitchFamily="49" charset="-122"/>
                <a:cs typeface="Times New Roman" panose="02020603050405020304" pitchFamily="18" charset="0"/>
              </a:rPr>
              <a:t>主合取范式的讨论与主析取范式是类似的</a:t>
            </a:r>
            <a:r>
              <a:rPr lang="en-US" altLang="zh-CN" dirty="0">
                <a:latin typeface="Times New Roman" panose="02020603050405020304" pitchFamily="18" charset="0"/>
                <a:ea typeface="楷体" panose="02010609060101010101" pitchFamily="49" charset="-122"/>
                <a:cs typeface="Times New Roman" panose="02020603050405020304" pitchFamily="18" charset="0"/>
              </a:rPr>
              <a:t>.</a:t>
            </a:r>
          </a:p>
          <a:p>
            <a:pPr eaLnBrk="1" hangingPunct="1">
              <a:lnSpc>
                <a:spcPct val="120000"/>
              </a:lnSpc>
            </a:pPr>
            <a:r>
              <a:rPr lang="en-US" altLang="zh-CN" b="1" dirty="0" err="1">
                <a:latin typeface="Times New Roman" panose="02020603050405020304" pitchFamily="18" charset="0"/>
                <a:ea typeface="楷体" panose="02010609060101010101" pitchFamily="49" charset="-122"/>
                <a:cs typeface="Times New Roman" panose="02020603050405020304" pitchFamily="18" charset="0"/>
              </a:rPr>
              <a:t>Def</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 3-9 </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对于给定的命题变元</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 </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若由命题变元或其否定组成的析取式满足</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a:t>
            </a:r>
            <a:r>
              <a:rPr lang="en-US" altLang="zh-CN" b="1" dirty="0">
                <a:solidFill>
                  <a:schemeClr val="hlink"/>
                </a:solidFill>
                <a:latin typeface="Times New Roman" panose="02020603050405020304" pitchFamily="18" charset="0"/>
                <a:ea typeface="楷体" panose="02010609060101010101" pitchFamily="49" charset="-122"/>
                <a:cs typeface="Times New Roman" panose="02020603050405020304" pitchFamily="18" charset="0"/>
              </a:rPr>
              <a:t>1</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 </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每个命题变元或其否定二者之一只出现一次</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 (</a:t>
            </a:r>
            <a:r>
              <a:rPr lang="en-US" altLang="zh-CN" b="1" dirty="0">
                <a:solidFill>
                  <a:schemeClr val="hlink"/>
                </a:solidFill>
                <a:latin typeface="Times New Roman" panose="02020603050405020304" pitchFamily="18" charset="0"/>
                <a:ea typeface="楷体" panose="02010609060101010101" pitchFamily="49" charset="-122"/>
                <a:cs typeface="Times New Roman" panose="02020603050405020304" pitchFamily="18" charset="0"/>
              </a:rPr>
              <a:t>2</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按字典顺序或按下标从小到大顺序出现</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称这样的析取式为由所给命题变元产生的</a:t>
            </a:r>
            <a:r>
              <a:rPr lang="zh-CN" altLang="en-US" b="1"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极大项</a:t>
            </a:r>
            <a:r>
              <a:rPr lang="en-US" altLang="zh-CN" b="1" dirty="0">
                <a:latin typeface="Times New Roman" pitchFamily="18" charset="0"/>
              </a:rPr>
              <a:t>(maximal term).</a:t>
            </a:r>
          </a:p>
        </p:txBody>
      </p:sp>
    </p:spTree>
  </p:cSld>
  <p:clrMapOvr>
    <a:masterClrMapping/>
  </p:clrMapOvr>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Rectangle 2"/>
          <p:cNvSpPr>
            <a:spLocks noGrp="1" noChangeArrowheads="1"/>
          </p:cNvSpPr>
          <p:nvPr>
            <p:ph/>
          </p:nvPr>
        </p:nvSpPr>
        <p:spPr/>
        <p:txBody>
          <a:bodyPr/>
          <a:lstStyle/>
          <a:p>
            <a:pPr eaLnBrk="1" hangingPunct="1"/>
            <a:endParaRPr lang="en-US" altLang="zh-CN" dirty="0">
              <a:latin typeface="华文新魏" pitchFamily="2" charset="-122"/>
              <a:ea typeface="华文新魏" pitchFamily="2" charset="-122"/>
            </a:endParaRPr>
          </a:p>
          <a:p>
            <a:pPr eaLnBrk="1" hangingPunct="1"/>
            <a:endParaRPr lang="en-US" altLang="zh-CN" dirty="0">
              <a:latin typeface="华文新魏" pitchFamily="2" charset="-122"/>
              <a:ea typeface="华文新魏" pitchFamily="2" charset="-122"/>
            </a:endParaRPr>
          </a:p>
          <a:p>
            <a:pPr eaLnBrk="1" hangingPunct="1"/>
            <a:endParaRPr lang="en-US" altLang="zh-CN" dirty="0">
              <a:latin typeface="华文新魏" pitchFamily="2" charset="-122"/>
              <a:ea typeface="华文新魏" pitchFamily="2" charset="-122"/>
            </a:endParaRPr>
          </a:p>
          <a:p>
            <a:pPr eaLnBrk="1" hangingPunct="1"/>
            <a:endParaRPr lang="en-US" altLang="zh-CN" dirty="0">
              <a:latin typeface="华文新魏" pitchFamily="2" charset="-122"/>
              <a:ea typeface="华文新魏" pitchFamily="2" charset="-122"/>
            </a:endParaRPr>
          </a:p>
          <a:p>
            <a:pPr eaLnBrk="1" hangingPunct="1">
              <a:lnSpc>
                <a:spcPct val="120000"/>
              </a:lnSpc>
            </a:pPr>
            <a:r>
              <a:rPr lang="zh-CN" altLang="en-US" b="1" dirty="0">
                <a:solidFill>
                  <a:schemeClr val="hlink"/>
                </a:solidFill>
                <a:latin typeface="Times New Roman" panose="02020603050405020304" pitchFamily="18" charset="0"/>
                <a:ea typeface="楷体" panose="02010609060101010101" pitchFamily="49" charset="-122"/>
                <a:cs typeface="Times New Roman" panose="02020603050405020304" pitchFamily="18" charset="0"/>
              </a:rPr>
              <a:t>对于每一个</a:t>
            </a:r>
            <a:r>
              <a:rPr lang="zh-CN" altLang="en-US" b="1" dirty="0">
                <a:solidFill>
                  <a:srgbClr val="00B050"/>
                </a:solidFill>
                <a:latin typeface="Times New Roman" panose="02020603050405020304" pitchFamily="18" charset="0"/>
                <a:ea typeface="楷体" panose="02010609060101010101" pitchFamily="49" charset="-122"/>
                <a:cs typeface="Times New Roman" panose="02020603050405020304" pitchFamily="18" charset="0"/>
              </a:rPr>
              <a:t>极</a:t>
            </a:r>
            <a:r>
              <a:rPr lang="zh-CN" altLang="en-US" b="1" dirty="0">
                <a:solidFill>
                  <a:schemeClr val="hlink"/>
                </a:solidFill>
                <a:latin typeface="Times New Roman" panose="02020603050405020304" pitchFamily="18" charset="0"/>
                <a:ea typeface="楷体" panose="02010609060101010101" pitchFamily="49" charset="-122"/>
                <a:cs typeface="Times New Roman" panose="02020603050405020304" pitchFamily="18" charset="0"/>
              </a:rPr>
              <a:t>大项只有一种指派</a:t>
            </a:r>
            <a:r>
              <a:rPr lang="zh-CN" altLang="en-US" b="1" dirty="0">
                <a:solidFill>
                  <a:srgbClr val="C00000"/>
                </a:solidFill>
                <a:latin typeface="Times New Roman" panose="02020603050405020304" pitchFamily="18" charset="0"/>
                <a:ea typeface="楷体" panose="02010609060101010101" pitchFamily="49" charset="-122"/>
                <a:cs typeface="Times New Roman" panose="02020603050405020304" pitchFamily="18" charset="0"/>
              </a:rPr>
              <a:t>使其取</a:t>
            </a:r>
            <a:r>
              <a:rPr lang="en-US" altLang="zh-CN" b="1" dirty="0">
                <a:solidFill>
                  <a:srgbClr val="C00000"/>
                </a:solidFill>
                <a:latin typeface="Times New Roman" panose="02020603050405020304" pitchFamily="18" charset="0"/>
                <a:ea typeface="楷体" panose="02010609060101010101" pitchFamily="49" charset="-122"/>
                <a:cs typeface="Times New Roman" panose="02020603050405020304" pitchFamily="18" charset="0"/>
              </a:rPr>
              <a:t>0</a:t>
            </a:r>
            <a:r>
              <a:rPr lang="en-US" altLang="zh-CN" b="1" dirty="0">
                <a:solidFill>
                  <a:schemeClr val="hlink"/>
                </a:solidFill>
                <a:latin typeface="Times New Roman" panose="02020603050405020304" pitchFamily="18" charset="0"/>
                <a:ea typeface="楷体" panose="02010609060101010101" pitchFamily="49" charset="-122"/>
                <a:cs typeface="Times New Roman" panose="02020603050405020304" pitchFamily="18" charset="0"/>
              </a:rPr>
              <a:t>.</a:t>
            </a:r>
          </a:p>
          <a:p>
            <a:pPr eaLnBrk="1" hangingPunct="1">
              <a:lnSpc>
                <a:spcPct val="120000"/>
              </a:lnSpc>
            </a:pPr>
            <a:r>
              <a:rPr lang="zh-CN" altLang="en-US" b="1" dirty="0">
                <a:latin typeface="Times New Roman" panose="02020603050405020304" pitchFamily="18" charset="0"/>
                <a:ea typeface="楷体" panose="02010609060101010101" pitchFamily="49" charset="-122"/>
                <a:cs typeface="Times New Roman" panose="02020603050405020304" pitchFamily="18" charset="0"/>
              </a:rPr>
              <a:t>可以根据这个结论对极大项编码</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极大项用</a:t>
            </a:r>
            <a:r>
              <a:rPr lang="en-US" altLang="zh-CN" b="1" i="1" dirty="0" err="1">
                <a:latin typeface="Times New Roman" panose="02020603050405020304" pitchFamily="18" charset="0"/>
                <a:ea typeface="楷体" panose="02010609060101010101" pitchFamily="49" charset="-122"/>
                <a:cs typeface="Times New Roman" panose="02020603050405020304" pitchFamily="18" charset="0"/>
              </a:rPr>
              <a:t>M</a:t>
            </a:r>
            <a:r>
              <a:rPr lang="en-US" altLang="zh-CN" b="1" i="1" baseline="-25000" dirty="0" err="1">
                <a:latin typeface="Times New Roman" panose="02020603050405020304" pitchFamily="18" charset="0"/>
                <a:ea typeface="楷体" panose="02010609060101010101" pitchFamily="49" charset="-122"/>
                <a:cs typeface="Times New Roman" panose="02020603050405020304" pitchFamily="18" charset="0"/>
              </a:rPr>
              <a:t>i</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表示</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其下标是由成假指派得到的二进制数或对应的十进制数</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 </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对于极大项</a:t>
            </a:r>
            <a:r>
              <a:rPr lang="en-US" altLang="zh-CN" b="1" i="1" dirty="0">
                <a:latin typeface="Times New Roman" panose="02020603050405020304" pitchFamily="18" charset="0"/>
                <a:ea typeface="楷体" panose="02010609060101010101" pitchFamily="49" charset="-122"/>
                <a:cs typeface="Times New Roman" panose="02020603050405020304" pitchFamily="18" charset="0"/>
              </a:rPr>
              <a:t>p</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 </a:t>
            </a:r>
            <a:r>
              <a:rPr lang="en-US" altLang="zh-CN" b="1" dirty="0">
                <a:latin typeface="Times New Roman" panose="02020603050405020304" pitchFamily="18" charset="0"/>
                <a:ea typeface="楷体" panose="02010609060101010101" pitchFamily="49" charset="-122"/>
                <a:cs typeface="Times New Roman" panose="02020603050405020304" pitchFamily="18" charset="0"/>
                <a:sym typeface="Symbol" pitchFamily="18" charset="2"/>
              </a:rPr>
              <a:t> </a:t>
            </a:r>
            <a:r>
              <a:rPr lang="en-US" altLang="zh-CN" b="1" i="1" dirty="0">
                <a:latin typeface="Times New Roman" panose="02020603050405020304" pitchFamily="18" charset="0"/>
                <a:ea typeface="楷体" panose="02010609060101010101" pitchFamily="49" charset="-122"/>
                <a:cs typeface="Times New Roman" panose="02020603050405020304" pitchFamily="18" charset="0"/>
              </a:rPr>
              <a:t>q</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 </a:t>
            </a:r>
            <a:r>
              <a:rPr lang="en-US" altLang="zh-CN" b="1" dirty="0">
                <a:latin typeface="Times New Roman" panose="02020603050405020304" pitchFamily="18" charset="0"/>
                <a:ea typeface="楷体" panose="02010609060101010101" pitchFamily="49" charset="-122"/>
                <a:cs typeface="Times New Roman" panose="02020603050405020304" pitchFamily="18" charset="0"/>
                <a:sym typeface="Symbol" pitchFamily="18" charset="2"/>
              </a:rPr>
              <a:t></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 </a:t>
            </a:r>
            <a:r>
              <a:rPr lang="en-US" altLang="zh-CN" b="1" dirty="0">
                <a:latin typeface="Times New Roman" panose="02020603050405020304" pitchFamily="18" charset="0"/>
                <a:ea typeface="楷体" panose="02010609060101010101" pitchFamily="49" charset="-122"/>
                <a:cs typeface="Times New Roman" panose="02020603050405020304" pitchFamily="18" charset="0"/>
                <a:sym typeface="Symbol" pitchFamily="18" charset="2"/>
              </a:rPr>
              <a:t></a:t>
            </a:r>
            <a:r>
              <a:rPr lang="en-US" altLang="zh-CN" b="1" i="1" dirty="0">
                <a:latin typeface="Times New Roman" panose="02020603050405020304" pitchFamily="18" charset="0"/>
                <a:ea typeface="楷体" panose="02010609060101010101" pitchFamily="49" charset="-122"/>
                <a:cs typeface="Times New Roman" panose="02020603050405020304" pitchFamily="18" charset="0"/>
              </a:rPr>
              <a:t>r</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 </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成真指派得到的二进制数为</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001, </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因为</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(001)</a:t>
            </a:r>
            <a:r>
              <a:rPr lang="en-US" altLang="zh-CN" b="1" baseline="-25000" dirty="0">
                <a:latin typeface="Times New Roman" panose="02020603050405020304" pitchFamily="18" charset="0"/>
                <a:ea typeface="楷体" panose="02010609060101010101" pitchFamily="49" charset="-122"/>
                <a:cs typeface="Times New Roman" panose="02020603050405020304" pitchFamily="18" charset="0"/>
              </a:rPr>
              <a:t>2</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 = 1, </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所以</a:t>
            </a:r>
            <a:r>
              <a:rPr lang="en-US" altLang="zh-CN" b="1" i="1" dirty="0">
                <a:latin typeface="Times New Roman" panose="02020603050405020304" pitchFamily="18" charset="0"/>
                <a:ea typeface="楷体" panose="02010609060101010101" pitchFamily="49" charset="-122"/>
                <a:cs typeface="Times New Roman" panose="02020603050405020304" pitchFamily="18" charset="0"/>
              </a:rPr>
              <a:t>p</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 </a:t>
            </a:r>
            <a:r>
              <a:rPr lang="en-US" altLang="zh-CN" b="1" dirty="0">
                <a:latin typeface="Times New Roman" panose="02020603050405020304" pitchFamily="18" charset="0"/>
                <a:ea typeface="楷体" panose="02010609060101010101" pitchFamily="49" charset="-122"/>
                <a:cs typeface="Times New Roman" panose="02020603050405020304" pitchFamily="18" charset="0"/>
                <a:sym typeface="Symbol" pitchFamily="18" charset="2"/>
              </a:rPr>
              <a:t> </a:t>
            </a:r>
            <a:r>
              <a:rPr lang="en-US" altLang="zh-CN" b="1" i="1" dirty="0">
                <a:latin typeface="Times New Roman" panose="02020603050405020304" pitchFamily="18" charset="0"/>
                <a:ea typeface="楷体" panose="02010609060101010101" pitchFamily="49" charset="-122"/>
                <a:cs typeface="Times New Roman" panose="02020603050405020304" pitchFamily="18" charset="0"/>
              </a:rPr>
              <a:t>q</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 </a:t>
            </a:r>
            <a:r>
              <a:rPr lang="en-US" altLang="zh-CN" b="1" dirty="0">
                <a:latin typeface="Times New Roman" panose="02020603050405020304" pitchFamily="18" charset="0"/>
                <a:ea typeface="楷体" panose="02010609060101010101" pitchFamily="49" charset="-122"/>
                <a:cs typeface="Times New Roman" panose="02020603050405020304" pitchFamily="18" charset="0"/>
                <a:sym typeface="Symbol" pitchFamily="18" charset="2"/>
              </a:rPr>
              <a:t></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 </a:t>
            </a:r>
            <a:r>
              <a:rPr lang="en-US" altLang="zh-CN" b="1" dirty="0">
                <a:latin typeface="Times New Roman" panose="02020603050405020304" pitchFamily="18" charset="0"/>
                <a:ea typeface="楷体" panose="02010609060101010101" pitchFamily="49" charset="-122"/>
                <a:cs typeface="Times New Roman" panose="02020603050405020304" pitchFamily="18" charset="0"/>
                <a:sym typeface="Symbol" pitchFamily="18" charset="2"/>
              </a:rPr>
              <a:t></a:t>
            </a:r>
            <a:r>
              <a:rPr lang="en-US" altLang="zh-CN" b="1" i="1" dirty="0">
                <a:latin typeface="Times New Roman" panose="02020603050405020304" pitchFamily="18" charset="0"/>
                <a:ea typeface="楷体" panose="02010609060101010101" pitchFamily="49" charset="-122"/>
                <a:cs typeface="Times New Roman" panose="02020603050405020304" pitchFamily="18" charset="0"/>
              </a:rPr>
              <a:t>r </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 </a:t>
            </a:r>
            <a:r>
              <a:rPr lang="en-US" altLang="zh-CN" b="1" i="1" dirty="0">
                <a:latin typeface="Times New Roman" panose="02020603050405020304" pitchFamily="18" charset="0"/>
                <a:ea typeface="楷体" panose="02010609060101010101" pitchFamily="49" charset="-122"/>
                <a:cs typeface="Times New Roman" panose="02020603050405020304" pitchFamily="18" charset="0"/>
              </a:rPr>
              <a:t>M</a:t>
            </a:r>
            <a:r>
              <a:rPr lang="en-US" altLang="zh-CN" b="1" baseline="-25000" dirty="0">
                <a:latin typeface="Times New Roman" panose="02020603050405020304" pitchFamily="18" charset="0"/>
                <a:ea typeface="楷体" panose="02010609060101010101" pitchFamily="49" charset="-122"/>
                <a:cs typeface="Times New Roman" panose="02020603050405020304" pitchFamily="18" charset="0"/>
              </a:rPr>
              <a:t>001</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 </a:t>
            </a:r>
            <a:r>
              <a:rPr lang="en-US" altLang="zh-CN" b="1" i="1" dirty="0">
                <a:latin typeface="Times New Roman" panose="02020603050405020304" pitchFamily="18" charset="0"/>
                <a:ea typeface="楷体" panose="02010609060101010101" pitchFamily="49" charset="-122"/>
                <a:cs typeface="Times New Roman" panose="02020603050405020304" pitchFamily="18" charset="0"/>
              </a:rPr>
              <a:t>M</a:t>
            </a:r>
            <a:r>
              <a:rPr lang="en-US" altLang="zh-CN" b="1" baseline="-25000" dirty="0">
                <a:latin typeface="Times New Roman" panose="02020603050405020304" pitchFamily="18" charset="0"/>
                <a:ea typeface="楷体" panose="02010609060101010101" pitchFamily="49" charset="-122"/>
                <a:cs typeface="Times New Roman" panose="02020603050405020304" pitchFamily="18" charset="0"/>
              </a:rPr>
              <a:t>1</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 . </a:t>
            </a:r>
          </a:p>
        </p:txBody>
      </p:sp>
      <p:graphicFrame>
        <p:nvGraphicFramePr>
          <p:cNvPr id="111619" name="Object 3"/>
          <p:cNvGraphicFramePr>
            <a:graphicFrameLocks noChangeAspect="1"/>
          </p:cNvGraphicFramePr>
          <p:nvPr>
            <p:extLst>
              <p:ext uri="{D42A27DB-BD31-4B8C-83A1-F6EECF244321}">
                <p14:modId xmlns:p14="http://schemas.microsoft.com/office/powerpoint/2010/main" val="2841756446"/>
              </p:ext>
            </p:extLst>
          </p:nvPr>
        </p:nvGraphicFramePr>
        <p:xfrm>
          <a:off x="395536" y="404664"/>
          <a:ext cx="6480720" cy="389374"/>
        </p:xfrm>
        <a:graphic>
          <a:graphicData uri="http://schemas.openxmlformats.org/presentationml/2006/ole">
            <mc:AlternateContent xmlns:mc="http://schemas.openxmlformats.org/markup-compatibility/2006">
              <mc:Choice xmlns:v="urn:schemas-microsoft-com:vml" Requires="v">
                <p:oleObj name="Equation" r:id="rId2" imgW="2171599" imgH="85860" progId="Equation.3">
                  <p:embed/>
                </p:oleObj>
              </mc:Choice>
              <mc:Fallback>
                <p:oleObj name="Equation" r:id="rId2" imgW="2171599" imgH="85860" progId="Equation.3">
                  <p:embed/>
                  <p:pic>
                    <p:nvPicPr>
                      <p:cNvPr id="0" name="Object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5536" y="404664"/>
                        <a:ext cx="6480720" cy="389374"/>
                      </a:xfrm>
                      <a:prstGeom prst="rect">
                        <a:avLst/>
                      </a:prstGeom>
                      <a:noFill/>
                      <a:ln>
                        <a:noFill/>
                      </a:ln>
                      <a:effectLst/>
                    </p:spPr>
                  </p:pic>
                </p:oleObj>
              </mc:Fallback>
            </mc:AlternateContent>
          </a:graphicData>
        </a:graphic>
      </p:graphicFrame>
      <p:graphicFrame>
        <p:nvGraphicFramePr>
          <p:cNvPr id="111620" name="Object 4"/>
          <p:cNvGraphicFramePr>
            <a:graphicFrameLocks noChangeAspect="1"/>
          </p:cNvGraphicFramePr>
          <p:nvPr>
            <p:extLst>
              <p:ext uri="{D42A27DB-BD31-4B8C-83A1-F6EECF244321}">
                <p14:modId xmlns:p14="http://schemas.microsoft.com/office/powerpoint/2010/main" val="629647361"/>
              </p:ext>
            </p:extLst>
          </p:nvPr>
        </p:nvGraphicFramePr>
        <p:xfrm>
          <a:off x="395536" y="1196975"/>
          <a:ext cx="8568952" cy="392045"/>
        </p:xfrm>
        <a:graphic>
          <a:graphicData uri="http://schemas.openxmlformats.org/presentationml/2006/ole">
            <mc:AlternateContent xmlns:mc="http://schemas.openxmlformats.org/markup-compatibility/2006">
              <mc:Choice xmlns:v="urn:schemas-microsoft-com:vml" Requires="v">
                <p:oleObj name="Equation" r:id="rId4" imgW="3190810" imgH="85860" progId="Equation.3">
                  <p:embed/>
                </p:oleObj>
              </mc:Choice>
              <mc:Fallback>
                <p:oleObj name="Equation" r:id="rId4" imgW="3190810" imgH="85860" progId="Equation.3">
                  <p:embed/>
                  <p:pic>
                    <p:nvPicPr>
                      <p:cNvPr id="0"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95536" y="1196975"/>
                        <a:ext cx="8568952" cy="392045"/>
                      </a:xfrm>
                      <a:prstGeom prst="rect">
                        <a:avLst/>
                      </a:prstGeom>
                      <a:noFill/>
                      <a:ln>
                        <a:noFill/>
                      </a:ln>
                      <a:effectLst/>
                    </p:spPr>
                  </p:pic>
                </p:oleObj>
              </mc:Fallback>
            </mc:AlternateContent>
          </a:graphicData>
        </a:graphic>
      </p:graphicFrame>
      <p:graphicFrame>
        <p:nvGraphicFramePr>
          <p:cNvPr id="111621" name="Object 5"/>
          <p:cNvGraphicFramePr>
            <a:graphicFrameLocks noChangeAspect="1"/>
          </p:cNvGraphicFramePr>
          <p:nvPr>
            <p:extLst>
              <p:ext uri="{D42A27DB-BD31-4B8C-83A1-F6EECF244321}">
                <p14:modId xmlns:p14="http://schemas.microsoft.com/office/powerpoint/2010/main" val="619390693"/>
              </p:ext>
            </p:extLst>
          </p:nvPr>
        </p:nvGraphicFramePr>
        <p:xfrm>
          <a:off x="841449" y="1865312"/>
          <a:ext cx="8195047" cy="393700"/>
        </p:xfrm>
        <a:graphic>
          <a:graphicData uri="http://schemas.openxmlformats.org/presentationml/2006/ole">
            <mc:AlternateContent xmlns:mc="http://schemas.openxmlformats.org/markup-compatibility/2006">
              <mc:Choice xmlns:v="urn:schemas-microsoft-com:vml" Requires="v">
                <p:oleObj name="Equation" r:id="rId6" imgW="3085999" imgH="85860" progId="Equation.3">
                  <p:embed/>
                </p:oleObj>
              </mc:Choice>
              <mc:Fallback>
                <p:oleObj name="Equation" r:id="rId6" imgW="3085999" imgH="85860" progId="Equation.3">
                  <p:embed/>
                  <p:pic>
                    <p:nvPicPr>
                      <p:cNvPr id="0" name="Object 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41449" y="1865312"/>
                        <a:ext cx="8195047" cy="393700"/>
                      </a:xfrm>
                      <a:prstGeom prst="rect">
                        <a:avLst/>
                      </a:prstGeom>
                      <a:noFill/>
                      <a:ln>
                        <a:noFill/>
                      </a:ln>
                      <a:effectLst/>
                    </p:spPr>
                  </p:pic>
                </p:oleObj>
              </mc:Fallback>
            </mc:AlternateContent>
          </a:graphicData>
        </a:graphic>
      </p:graphicFrame>
      <p:cxnSp>
        <p:nvCxnSpPr>
          <p:cNvPr id="3" name="直线连接符 2">
            <a:extLst>
              <a:ext uri="{FF2B5EF4-FFF2-40B4-BE49-F238E27FC236}">
                <a16:creationId xmlns:a16="http://schemas.microsoft.com/office/drawing/2014/main" id="{8DD2ABF4-437C-624D-A438-C853E0A54FA8}"/>
              </a:ext>
            </a:extLst>
          </p:cNvPr>
          <p:cNvCxnSpPr>
            <a:cxnSpLocks/>
          </p:cNvCxnSpPr>
          <p:nvPr/>
        </p:nvCxnSpPr>
        <p:spPr>
          <a:xfrm>
            <a:off x="457200" y="836712"/>
            <a:ext cx="586408"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9" name="直线连接符 8">
            <a:extLst>
              <a:ext uri="{FF2B5EF4-FFF2-40B4-BE49-F238E27FC236}">
                <a16:creationId xmlns:a16="http://schemas.microsoft.com/office/drawing/2014/main" id="{7B6E6C77-3E36-A04A-B987-703343E7650E}"/>
              </a:ext>
            </a:extLst>
          </p:cNvPr>
          <p:cNvCxnSpPr>
            <a:cxnSpLocks/>
          </p:cNvCxnSpPr>
          <p:nvPr/>
        </p:nvCxnSpPr>
        <p:spPr>
          <a:xfrm>
            <a:off x="467544" y="1628800"/>
            <a:ext cx="864096"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spTree>
  </p:cSld>
  <p:clrMapOvr>
    <a:masterClrMapping/>
  </p:clrMapOvr>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2"/>
          <p:cNvSpPr>
            <a:spLocks noGrp="1" noChangeArrowheads="1"/>
          </p:cNvSpPr>
          <p:nvPr>
            <p:ph/>
          </p:nvPr>
        </p:nvSpPr>
        <p:spPr/>
        <p:txBody>
          <a:bodyPr/>
          <a:lstStyle/>
          <a:p>
            <a:pPr eaLnBrk="1" hangingPunct="1">
              <a:lnSpc>
                <a:spcPct val="120000"/>
              </a:lnSpc>
            </a:pPr>
            <a:r>
              <a:rPr lang="en-US" altLang="zh-CN" b="1" dirty="0" err="1">
                <a:latin typeface="Times New Roman" pitchFamily="18" charset="0"/>
              </a:rPr>
              <a:t>Def</a:t>
            </a:r>
            <a:r>
              <a:rPr lang="en-US" altLang="zh-CN" b="1" dirty="0">
                <a:latin typeface="Times New Roman" pitchFamily="18" charset="0"/>
              </a:rPr>
              <a:t> 3-10   </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对于命题公式</a:t>
            </a:r>
            <a:r>
              <a:rPr lang="en-US" altLang="zh-CN" b="1" i="1" dirty="0">
                <a:latin typeface="Times New Roman" panose="02020603050405020304" pitchFamily="18" charset="0"/>
                <a:ea typeface="楷体" panose="02010609060101010101" pitchFamily="49" charset="-122"/>
                <a:cs typeface="Times New Roman" panose="02020603050405020304" pitchFamily="18" charset="0"/>
              </a:rPr>
              <a:t>A</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 </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若</a:t>
            </a:r>
            <a:r>
              <a:rPr lang="en-US" altLang="zh-CN" b="1" i="1" dirty="0">
                <a:latin typeface="Times New Roman" panose="02020603050405020304" pitchFamily="18" charset="0"/>
                <a:ea typeface="楷体" panose="02010609060101010101" pitchFamily="49" charset="-122"/>
                <a:cs typeface="Times New Roman" panose="02020603050405020304" pitchFamily="18" charset="0"/>
              </a:rPr>
              <a:t>A</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等值于由</a:t>
            </a:r>
            <a:r>
              <a:rPr lang="en-US" altLang="zh-CN" b="1" i="1" dirty="0">
                <a:latin typeface="Times New Roman" panose="02020603050405020304" pitchFamily="18" charset="0"/>
                <a:ea typeface="楷体" panose="02010609060101010101" pitchFamily="49" charset="-122"/>
                <a:cs typeface="Times New Roman" panose="02020603050405020304" pitchFamily="18" charset="0"/>
              </a:rPr>
              <a:t>A</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中所有命题变元产生的若干个</a:t>
            </a:r>
            <a:r>
              <a:rPr lang="zh-CN" altLang="en-US" b="1" dirty="0">
                <a:solidFill>
                  <a:srgbClr val="0070C0"/>
                </a:solidFill>
                <a:latin typeface="Times New Roman" panose="02020603050405020304" pitchFamily="18" charset="0"/>
                <a:ea typeface="楷体" panose="02010609060101010101" pitchFamily="49" charset="-122"/>
                <a:cs typeface="Times New Roman" panose="02020603050405020304" pitchFamily="18" charset="0"/>
              </a:rPr>
              <a:t>极大项</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的</a:t>
            </a:r>
            <a:r>
              <a:rPr lang="zh-CN" altLang="en-US" b="1" dirty="0">
                <a:solidFill>
                  <a:srgbClr val="0070C0"/>
                </a:solidFill>
                <a:latin typeface="Times New Roman" panose="02020603050405020304" pitchFamily="18" charset="0"/>
                <a:ea typeface="楷体" panose="02010609060101010101" pitchFamily="49" charset="-122"/>
                <a:cs typeface="Times New Roman" panose="02020603050405020304" pitchFamily="18" charset="0"/>
              </a:rPr>
              <a:t>合取</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 </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则把后者称为</a:t>
            </a:r>
            <a:r>
              <a:rPr lang="en-US" altLang="zh-CN" b="1" i="1" dirty="0">
                <a:latin typeface="Times New Roman" panose="02020603050405020304" pitchFamily="18" charset="0"/>
                <a:ea typeface="楷体" panose="02010609060101010101" pitchFamily="49" charset="-122"/>
                <a:cs typeface="Times New Roman" panose="02020603050405020304" pitchFamily="18" charset="0"/>
              </a:rPr>
              <a:t>A</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的</a:t>
            </a:r>
            <a:r>
              <a:rPr lang="zh-CN" altLang="en-US" b="1" dirty="0">
                <a:solidFill>
                  <a:srgbClr val="C00000"/>
                </a:solidFill>
                <a:latin typeface="Times New Roman" panose="02020603050405020304" pitchFamily="18" charset="0"/>
                <a:ea typeface="楷体" panose="02010609060101010101" pitchFamily="49" charset="-122"/>
                <a:cs typeface="Times New Roman" panose="02020603050405020304" pitchFamily="18" charset="0"/>
              </a:rPr>
              <a:t>主</a:t>
            </a:r>
            <a:r>
              <a:rPr lang="zh-CN" altLang="en-US" b="1" dirty="0">
                <a:solidFill>
                  <a:srgbClr val="0070C0"/>
                </a:solidFill>
                <a:latin typeface="Times New Roman" panose="02020603050405020304" pitchFamily="18" charset="0"/>
                <a:ea typeface="楷体" panose="02010609060101010101" pitchFamily="49" charset="-122"/>
                <a:cs typeface="Times New Roman" panose="02020603050405020304" pitchFamily="18" charset="0"/>
              </a:rPr>
              <a:t>合取</a:t>
            </a:r>
            <a:r>
              <a:rPr lang="zh-CN" altLang="en-US" b="1" dirty="0">
                <a:solidFill>
                  <a:srgbClr val="C00000"/>
                </a:solidFill>
                <a:latin typeface="Times New Roman" panose="02020603050405020304" pitchFamily="18" charset="0"/>
                <a:ea typeface="楷体" panose="02010609060101010101" pitchFamily="49" charset="-122"/>
                <a:cs typeface="Times New Roman" panose="02020603050405020304" pitchFamily="18" charset="0"/>
              </a:rPr>
              <a:t>范式</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a:t>
            </a:r>
          </a:p>
          <a:p>
            <a:pPr eaLnBrk="1" hangingPunct="1">
              <a:lnSpc>
                <a:spcPct val="120000"/>
              </a:lnSpc>
            </a:pPr>
            <a:endParaRPr lang="en-US" altLang="zh-CN" b="1" dirty="0">
              <a:latin typeface="Times New Roman" panose="02020603050405020304" pitchFamily="18" charset="0"/>
              <a:ea typeface="楷体" panose="02010609060101010101" pitchFamily="49" charset="-122"/>
              <a:cs typeface="Times New Roman" panose="02020603050405020304" pitchFamily="18" charset="0"/>
            </a:endParaRPr>
          </a:p>
          <a:p>
            <a:pPr eaLnBrk="1" hangingPunct="1">
              <a:lnSpc>
                <a:spcPct val="120000"/>
              </a:lnSpc>
            </a:pPr>
            <a:r>
              <a:rPr lang="zh-CN" altLang="en-US" b="1" dirty="0">
                <a:latin typeface="Times New Roman" panose="02020603050405020304" pitchFamily="18" charset="0"/>
                <a:ea typeface="楷体" panose="02010609060101010101" pitchFamily="49" charset="-122"/>
                <a:cs typeface="Times New Roman" panose="02020603050405020304" pitchFamily="18" charset="0"/>
              </a:rPr>
              <a:t>含</a:t>
            </a:r>
            <a:r>
              <a:rPr lang="en-US" altLang="zh-CN" b="1" i="1" dirty="0">
                <a:latin typeface="Times New Roman" panose="02020603050405020304" pitchFamily="18" charset="0"/>
                <a:ea typeface="楷体" panose="02010609060101010101" pitchFamily="49" charset="-122"/>
                <a:cs typeface="Times New Roman" panose="02020603050405020304" pitchFamily="18" charset="0"/>
              </a:rPr>
              <a:t>n</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个命题变元的命题公式</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若干个”极大为</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2</a:t>
            </a:r>
            <a:r>
              <a:rPr lang="en-US" altLang="zh-CN" b="1" i="1" baseline="30000" dirty="0">
                <a:latin typeface="Times New Roman" panose="02020603050405020304" pitchFamily="18" charset="0"/>
                <a:ea typeface="楷体" panose="02010609060101010101" pitchFamily="49" charset="-122"/>
                <a:cs typeface="Times New Roman" panose="02020603050405020304" pitchFamily="18" charset="0"/>
              </a:rPr>
              <a:t>n</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 </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最小为</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0. </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所有极大项的合取为永假式</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0, </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而</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0</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个极大项的合取意味着</a:t>
            </a:r>
            <a:r>
              <a:rPr lang="en-US" altLang="zh-CN" b="1" i="1" dirty="0">
                <a:latin typeface="Times New Roman" panose="02020603050405020304" pitchFamily="18" charset="0"/>
                <a:ea typeface="楷体" panose="02010609060101010101" pitchFamily="49" charset="-122"/>
                <a:cs typeface="Times New Roman" panose="02020603050405020304" pitchFamily="18" charset="0"/>
              </a:rPr>
              <a:t>A</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为永真式</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1 , </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这时的主合取范式不存在</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 </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除这两种极端情形外</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 </a:t>
            </a:r>
            <a:r>
              <a:rPr lang="en-US" altLang="zh-CN" b="1" i="1" dirty="0">
                <a:latin typeface="Times New Roman" panose="02020603050405020304" pitchFamily="18" charset="0"/>
                <a:ea typeface="楷体" panose="02010609060101010101" pitchFamily="49" charset="-122"/>
                <a:cs typeface="Times New Roman" panose="02020603050405020304" pitchFamily="18" charset="0"/>
              </a:rPr>
              <a:t>A</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均为中性式</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a:t>
            </a:r>
          </a:p>
        </p:txBody>
      </p:sp>
    </p:spTree>
  </p:cSld>
  <p:clrMapOvr>
    <a:masterClrMapping/>
  </p:clrMapOvr>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Rectangle 2"/>
          <p:cNvSpPr>
            <a:spLocks noGrp="1" noChangeArrowheads="1"/>
          </p:cNvSpPr>
          <p:nvPr>
            <p:ph/>
          </p:nvPr>
        </p:nvSpPr>
        <p:spPr/>
        <p:txBody>
          <a:bodyPr/>
          <a:lstStyle/>
          <a:p>
            <a:pPr eaLnBrk="1" hangingPunct="1">
              <a:lnSpc>
                <a:spcPct val="120000"/>
              </a:lnSpc>
            </a:pPr>
            <a:r>
              <a:rPr lang="zh-CN" altLang="en-US" b="1" dirty="0">
                <a:latin typeface="Times New Roman" panose="02020603050405020304" pitchFamily="18" charset="0"/>
                <a:ea typeface="楷体" panose="02010609060101010101" pitchFamily="49" charset="-122"/>
                <a:cs typeface="Times New Roman" panose="02020603050405020304" pitchFamily="18" charset="0"/>
              </a:rPr>
              <a:t>主合取范式是合取范式</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 </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但反过来不成立</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a:t>
            </a:r>
          </a:p>
          <a:p>
            <a:pPr eaLnBrk="1" hangingPunct="1">
              <a:lnSpc>
                <a:spcPct val="120000"/>
              </a:lnSpc>
            </a:pPr>
            <a:endParaRPr lang="en-US" altLang="zh-CN" b="1" dirty="0">
              <a:latin typeface="Times New Roman" pitchFamily="18" charset="0"/>
            </a:endParaRPr>
          </a:p>
          <a:p>
            <a:pPr eaLnBrk="1" hangingPunct="1">
              <a:lnSpc>
                <a:spcPct val="120000"/>
              </a:lnSpc>
            </a:pPr>
            <a:endParaRPr lang="en-US" altLang="zh-CN" b="1" dirty="0">
              <a:latin typeface="Times New Roman" pitchFamily="18" charset="0"/>
            </a:endParaRPr>
          </a:p>
          <a:p>
            <a:pPr eaLnBrk="1" hangingPunct="1"/>
            <a:endParaRPr lang="en-US" altLang="zh-CN" b="1" dirty="0">
              <a:latin typeface="Times New Roman" pitchFamily="18" charset="0"/>
            </a:endParaRPr>
          </a:p>
        </p:txBody>
      </p:sp>
      <p:graphicFrame>
        <p:nvGraphicFramePr>
          <p:cNvPr id="113667" name="Object 3"/>
          <p:cNvGraphicFramePr>
            <a:graphicFrameLocks noChangeAspect="1"/>
          </p:cNvGraphicFramePr>
          <p:nvPr>
            <p:extLst>
              <p:ext uri="{D42A27DB-BD31-4B8C-83A1-F6EECF244321}">
                <p14:modId xmlns:p14="http://schemas.microsoft.com/office/powerpoint/2010/main" val="583657107"/>
              </p:ext>
            </p:extLst>
          </p:nvPr>
        </p:nvGraphicFramePr>
        <p:xfrm>
          <a:off x="971600" y="1212669"/>
          <a:ext cx="7348438" cy="484188"/>
        </p:xfrm>
        <a:graphic>
          <a:graphicData uri="http://schemas.openxmlformats.org/presentationml/2006/ole">
            <mc:AlternateContent xmlns:mc="http://schemas.openxmlformats.org/markup-compatibility/2006">
              <mc:Choice xmlns:v="urn:schemas-microsoft-com:vml" Requires="v">
                <p:oleObj name="Equation" r:id="rId2" imgW="2295590" imgH="123930" progId="Equation.3">
                  <p:embed/>
                </p:oleObj>
              </mc:Choice>
              <mc:Fallback>
                <p:oleObj name="Equation" r:id="rId2" imgW="2295590" imgH="123930" progId="Equation.3">
                  <p:embed/>
                  <p:pic>
                    <p:nvPicPr>
                      <p:cNvPr id="0" name="Object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71600" y="1212669"/>
                        <a:ext cx="7348438" cy="484188"/>
                      </a:xfrm>
                      <a:prstGeom prst="rect">
                        <a:avLst/>
                      </a:prstGeom>
                      <a:noFill/>
                      <a:ln>
                        <a:noFill/>
                      </a:ln>
                      <a:effectLst/>
                    </p:spPr>
                  </p:pic>
                </p:oleObj>
              </mc:Fallback>
            </mc:AlternateContent>
          </a:graphicData>
        </a:graphic>
      </p:graphicFrame>
      <p:graphicFrame>
        <p:nvGraphicFramePr>
          <p:cNvPr id="113668" name="Object 4"/>
          <p:cNvGraphicFramePr>
            <a:graphicFrameLocks noChangeAspect="1"/>
          </p:cNvGraphicFramePr>
          <p:nvPr/>
        </p:nvGraphicFramePr>
        <p:xfrm>
          <a:off x="2411413" y="2205038"/>
          <a:ext cx="4062412" cy="1028700"/>
        </p:xfrm>
        <a:graphic>
          <a:graphicData uri="http://schemas.openxmlformats.org/presentationml/2006/ole">
            <mc:AlternateContent xmlns:mc="http://schemas.openxmlformats.org/markup-compatibility/2006">
              <mc:Choice xmlns:v="urn:schemas-microsoft-com:vml" Requires="v">
                <p:oleObj name="Equation" r:id="rId4" imgW="1628902" imgH="352350" progId="Equation.3">
                  <p:embed/>
                </p:oleObj>
              </mc:Choice>
              <mc:Fallback>
                <p:oleObj name="Equation" r:id="rId4" imgW="1628902" imgH="352350" progId="Equation.3">
                  <p:embed/>
                  <p:pic>
                    <p:nvPicPr>
                      <p:cNvPr id="0"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411413" y="2205038"/>
                        <a:ext cx="4062412" cy="1028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3669" name="Object 5"/>
          <p:cNvGraphicFramePr>
            <a:graphicFrameLocks noChangeAspect="1"/>
          </p:cNvGraphicFramePr>
          <p:nvPr/>
        </p:nvGraphicFramePr>
        <p:xfrm>
          <a:off x="2411413" y="3573463"/>
          <a:ext cx="4578350" cy="1028700"/>
        </p:xfrm>
        <a:graphic>
          <a:graphicData uri="http://schemas.openxmlformats.org/presentationml/2006/ole">
            <mc:AlternateContent xmlns:mc="http://schemas.openxmlformats.org/markup-compatibility/2006">
              <mc:Choice xmlns:v="urn:schemas-microsoft-com:vml" Requires="v">
                <p:oleObj name="Equation" r:id="rId6" imgW="1838255" imgH="352350" progId="Equation.3">
                  <p:embed/>
                </p:oleObj>
              </mc:Choice>
              <mc:Fallback>
                <p:oleObj name="Equation" r:id="rId6" imgW="1838255" imgH="352350" progId="Equation.3">
                  <p:embed/>
                  <p:pic>
                    <p:nvPicPr>
                      <p:cNvPr id="0" name="Object 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411413" y="3573463"/>
                        <a:ext cx="4578350" cy="1028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3670" name="Object 6"/>
          <p:cNvGraphicFramePr>
            <a:graphicFrameLocks noChangeAspect="1"/>
          </p:cNvGraphicFramePr>
          <p:nvPr/>
        </p:nvGraphicFramePr>
        <p:xfrm>
          <a:off x="2268538" y="4941888"/>
          <a:ext cx="4789487" cy="1028700"/>
        </p:xfrm>
        <a:graphic>
          <a:graphicData uri="http://schemas.openxmlformats.org/presentationml/2006/ole">
            <mc:AlternateContent xmlns:mc="http://schemas.openxmlformats.org/markup-compatibility/2006">
              <mc:Choice xmlns:v="urn:schemas-microsoft-com:vml" Requires="v">
                <p:oleObj name="Equation" r:id="rId8" imgW="1933612" imgH="352350" progId="Equation.3">
                  <p:embed/>
                </p:oleObj>
              </mc:Choice>
              <mc:Fallback>
                <p:oleObj name="Equation" r:id="rId8" imgW="1933612" imgH="352350" progId="Equation.3">
                  <p:embed/>
                  <p:pic>
                    <p:nvPicPr>
                      <p:cNvPr id="0" name="Object 6"/>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268538" y="4941888"/>
                        <a:ext cx="4789487" cy="1028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 name="八边形 2">
            <a:extLst>
              <a:ext uri="{FF2B5EF4-FFF2-40B4-BE49-F238E27FC236}">
                <a16:creationId xmlns:a16="http://schemas.microsoft.com/office/drawing/2014/main" id="{39AE45EB-B66D-FE46-BC3B-6B826635DCAA}"/>
              </a:ext>
            </a:extLst>
          </p:cNvPr>
          <p:cNvSpPr/>
          <p:nvPr/>
        </p:nvSpPr>
        <p:spPr>
          <a:xfrm>
            <a:off x="2339405" y="1696857"/>
            <a:ext cx="288379" cy="291983"/>
          </a:xfrm>
          <a:prstGeom prst="octagon">
            <a:avLst/>
          </a:prstGeom>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Hans" dirty="0">
                <a:solidFill>
                  <a:srgbClr val="C00000"/>
                </a:solidFill>
              </a:rPr>
              <a:t>1</a:t>
            </a:r>
            <a:endParaRPr kumimoji="1" lang="zh-CN" altLang="en-US" dirty="0">
              <a:solidFill>
                <a:srgbClr val="C00000"/>
              </a:solidFill>
            </a:endParaRPr>
          </a:p>
        </p:txBody>
      </p:sp>
      <p:sp>
        <p:nvSpPr>
          <p:cNvPr id="9" name="八边形 8">
            <a:extLst>
              <a:ext uri="{FF2B5EF4-FFF2-40B4-BE49-F238E27FC236}">
                <a16:creationId xmlns:a16="http://schemas.microsoft.com/office/drawing/2014/main" id="{ADDD748C-8AC2-E141-88DA-2E672CBE861D}"/>
              </a:ext>
            </a:extLst>
          </p:cNvPr>
          <p:cNvSpPr/>
          <p:nvPr/>
        </p:nvSpPr>
        <p:spPr>
          <a:xfrm>
            <a:off x="4355629" y="1700808"/>
            <a:ext cx="288379" cy="291983"/>
          </a:xfrm>
          <a:prstGeom prst="octagon">
            <a:avLst/>
          </a:prstGeom>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Hans" dirty="0">
                <a:solidFill>
                  <a:srgbClr val="C00000"/>
                </a:solidFill>
              </a:rPr>
              <a:t>2</a:t>
            </a:r>
            <a:endParaRPr kumimoji="1" lang="zh-CN" altLang="en-US" dirty="0">
              <a:solidFill>
                <a:srgbClr val="C00000"/>
              </a:solidFill>
            </a:endParaRPr>
          </a:p>
        </p:txBody>
      </p:sp>
      <p:sp>
        <p:nvSpPr>
          <p:cNvPr id="10" name="八边形 9">
            <a:extLst>
              <a:ext uri="{FF2B5EF4-FFF2-40B4-BE49-F238E27FC236}">
                <a16:creationId xmlns:a16="http://schemas.microsoft.com/office/drawing/2014/main" id="{B2D8101C-6E4F-B844-B5E5-14988299F43C}"/>
              </a:ext>
            </a:extLst>
          </p:cNvPr>
          <p:cNvSpPr/>
          <p:nvPr/>
        </p:nvSpPr>
        <p:spPr>
          <a:xfrm>
            <a:off x="1979712" y="2344929"/>
            <a:ext cx="288379" cy="291983"/>
          </a:xfrm>
          <a:prstGeom prst="octagon">
            <a:avLst/>
          </a:prstGeom>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Hans" dirty="0">
                <a:solidFill>
                  <a:srgbClr val="C00000"/>
                </a:solidFill>
              </a:rPr>
              <a:t>1</a:t>
            </a:r>
            <a:endParaRPr kumimoji="1" lang="zh-CN" altLang="en-US" dirty="0">
              <a:solidFill>
                <a:srgbClr val="C00000"/>
              </a:solidFill>
            </a:endParaRPr>
          </a:p>
        </p:txBody>
      </p:sp>
      <p:sp>
        <p:nvSpPr>
          <p:cNvPr id="11" name="八边形 10">
            <a:extLst>
              <a:ext uri="{FF2B5EF4-FFF2-40B4-BE49-F238E27FC236}">
                <a16:creationId xmlns:a16="http://schemas.microsoft.com/office/drawing/2014/main" id="{1CB78090-6AF4-F744-AFA2-207E26CEDA75}"/>
              </a:ext>
            </a:extLst>
          </p:cNvPr>
          <p:cNvSpPr/>
          <p:nvPr/>
        </p:nvSpPr>
        <p:spPr>
          <a:xfrm>
            <a:off x="1979712" y="3713081"/>
            <a:ext cx="288379" cy="291983"/>
          </a:xfrm>
          <a:prstGeom prst="octagon">
            <a:avLst/>
          </a:prstGeom>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Hans" dirty="0">
                <a:solidFill>
                  <a:srgbClr val="C00000"/>
                </a:solidFill>
              </a:rPr>
              <a:t>2</a:t>
            </a:r>
            <a:endParaRPr kumimoji="1" lang="zh-CN" altLang="en-US" dirty="0">
              <a:solidFill>
                <a:srgbClr val="C00000"/>
              </a:solidFill>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linds(horizontal)">
                                      <p:cBhvr>
                                        <p:cTn id="7" dur="500"/>
                                        <p:tgtEl>
                                          <p:spTgt spid="3"/>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blinds(horizontal)">
                                      <p:cBhvr>
                                        <p:cTn id="10" dur="500"/>
                                        <p:tgtEl>
                                          <p:spTgt spid="9"/>
                                        </p:tgtEl>
                                      </p:cBhvr>
                                    </p:animEffec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1366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13669"/>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1367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9" grpId="0" animBg="1"/>
      <p:bldP spid="10" grpId="0" animBg="1"/>
      <p:bldP spid="11" grpId="0" animBg="1"/>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Rectangle 2"/>
          <p:cNvSpPr>
            <a:spLocks noGrp="1" noChangeArrowheads="1"/>
          </p:cNvSpPr>
          <p:nvPr>
            <p:ph/>
          </p:nvPr>
        </p:nvSpPr>
        <p:spPr/>
        <p:txBody>
          <a:bodyPr/>
          <a:lstStyle/>
          <a:p>
            <a:pPr eaLnBrk="1" hangingPunct="1">
              <a:lnSpc>
                <a:spcPct val="120000"/>
              </a:lnSpc>
            </a:pPr>
            <a:r>
              <a:rPr lang="zh-CN" altLang="en-US" b="1" dirty="0">
                <a:latin typeface="Times New Roman" panose="02020603050405020304" pitchFamily="18" charset="0"/>
                <a:ea typeface="楷体" panose="02010609060101010101" pitchFamily="49" charset="-122"/>
                <a:cs typeface="Times New Roman" panose="02020603050405020304" pitchFamily="18" charset="0"/>
              </a:rPr>
              <a:t>根据这个分析</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我们得到求</a:t>
            </a:r>
            <a:r>
              <a:rPr lang="en-US" altLang="zh-CN" b="1" i="1" dirty="0">
                <a:latin typeface="Times New Roman" panose="02020603050405020304" pitchFamily="18" charset="0"/>
                <a:ea typeface="楷体" panose="02010609060101010101" pitchFamily="49" charset="-122"/>
                <a:cs typeface="Times New Roman" panose="02020603050405020304" pitchFamily="18" charset="0"/>
              </a:rPr>
              <a:t>A</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的主合取范式的第一种方法：</a:t>
            </a:r>
            <a:r>
              <a:rPr lang="zh-CN" altLang="en-US" b="1" dirty="0">
                <a:solidFill>
                  <a:schemeClr val="hlink"/>
                </a:solidFill>
                <a:latin typeface="Times New Roman" panose="02020603050405020304" pitchFamily="18" charset="0"/>
                <a:ea typeface="楷体" panose="02010609060101010101" pitchFamily="49" charset="-122"/>
                <a:cs typeface="Times New Roman" panose="02020603050405020304" pitchFamily="18" charset="0"/>
              </a:rPr>
              <a:t>等值演算法</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 </a:t>
            </a:r>
          </a:p>
          <a:p>
            <a:pPr eaLnBrk="1" hangingPunct="1">
              <a:lnSpc>
                <a:spcPct val="120000"/>
              </a:lnSpc>
            </a:pPr>
            <a:r>
              <a:rPr lang="zh-CN" altLang="en-US" b="1" dirty="0">
                <a:latin typeface="Times New Roman" panose="02020603050405020304" pitchFamily="18" charset="0"/>
                <a:ea typeface="楷体" panose="02010609060101010101" pitchFamily="49" charset="-122"/>
                <a:cs typeface="Times New Roman" panose="02020603050405020304" pitchFamily="18" charset="0"/>
              </a:rPr>
              <a:t>利用等值演算法求</a:t>
            </a:r>
            <a:r>
              <a:rPr lang="en-US" altLang="zh-CN" b="1" i="1" dirty="0">
                <a:latin typeface="Times New Roman" panose="02020603050405020304" pitchFamily="18" charset="0"/>
                <a:ea typeface="楷体" panose="02010609060101010101" pitchFamily="49" charset="-122"/>
                <a:cs typeface="Times New Roman" panose="02020603050405020304" pitchFamily="18" charset="0"/>
              </a:rPr>
              <a:t>A</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的主合取范式的步骤为</a:t>
            </a:r>
          </a:p>
          <a:p>
            <a:pPr eaLnBrk="1" hangingPunct="1">
              <a:lnSpc>
                <a:spcPct val="120000"/>
              </a:lnSpc>
            </a:pPr>
            <a:r>
              <a:rPr lang="en-US" altLang="zh-CN" b="1" dirty="0">
                <a:latin typeface="Times New Roman" panose="02020603050405020304" pitchFamily="18" charset="0"/>
                <a:ea typeface="楷体" panose="02010609060101010101" pitchFamily="49" charset="-122"/>
                <a:cs typeface="Times New Roman" panose="02020603050405020304" pitchFamily="18" charset="0"/>
              </a:rPr>
              <a:t>Step1 </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求出</a:t>
            </a:r>
            <a:r>
              <a:rPr lang="en-US" altLang="zh-CN" b="1" i="1" dirty="0">
                <a:latin typeface="Times New Roman" panose="02020603050405020304" pitchFamily="18" charset="0"/>
                <a:ea typeface="楷体" panose="02010609060101010101" pitchFamily="49" charset="-122"/>
                <a:cs typeface="Times New Roman" panose="02020603050405020304" pitchFamily="18" charset="0"/>
              </a:rPr>
              <a:t>A</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的合取范式；</a:t>
            </a:r>
          </a:p>
          <a:p>
            <a:pPr eaLnBrk="1" hangingPunct="1">
              <a:lnSpc>
                <a:spcPct val="120000"/>
              </a:lnSpc>
            </a:pPr>
            <a:r>
              <a:rPr lang="en-US" altLang="zh-CN" b="1" dirty="0">
                <a:latin typeface="Times New Roman" panose="02020603050405020304" pitchFamily="18" charset="0"/>
                <a:ea typeface="楷体" panose="02010609060101010101" pitchFamily="49" charset="-122"/>
                <a:cs typeface="Times New Roman" panose="02020603050405020304" pitchFamily="18" charset="0"/>
              </a:rPr>
              <a:t>Step2 </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利用分配律补充所缺少的命题变元</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a:t>
            </a:r>
          </a:p>
          <a:p>
            <a:pPr eaLnBrk="1" hangingPunct="1">
              <a:lnSpc>
                <a:spcPct val="120000"/>
              </a:lnSpc>
            </a:pPr>
            <a:r>
              <a:rPr lang="zh-CN" altLang="en-US" b="1" dirty="0">
                <a:latin typeface="Times New Roman" panose="02020603050405020304" pitchFamily="18" charset="0"/>
                <a:ea typeface="楷体" panose="02010609060101010101" pitchFamily="49" charset="-122"/>
                <a:cs typeface="Times New Roman" panose="02020603050405020304" pitchFamily="18" charset="0"/>
              </a:rPr>
              <a:t>由上面的主合取范式可知</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使</a:t>
            </a:r>
            <a:r>
              <a:rPr lang="en-US" altLang="zh-CN" b="1" i="1" dirty="0">
                <a:latin typeface="Times New Roman" panose="02020603050405020304" pitchFamily="18" charset="0"/>
                <a:ea typeface="楷体" panose="02010609060101010101" pitchFamily="49" charset="-122"/>
                <a:cs typeface="Times New Roman" panose="02020603050405020304" pitchFamily="18" charset="0"/>
              </a:rPr>
              <a:t>A</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取</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0</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的真值指派为</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a:t>
            </a:r>
            <a:r>
              <a:rPr lang="en-US" altLang="zh-CN" b="1" i="1" dirty="0">
                <a:latin typeface="Times New Roman" panose="02020603050405020304" pitchFamily="18" charset="0"/>
                <a:ea typeface="楷体" panose="02010609060101010101" pitchFamily="49" charset="-122"/>
                <a:cs typeface="Times New Roman" panose="02020603050405020304" pitchFamily="18" charset="0"/>
              </a:rPr>
              <a:t>p</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 </a:t>
            </a:r>
            <a:r>
              <a:rPr lang="en-US" altLang="zh-CN" b="1" i="1" dirty="0">
                <a:latin typeface="Times New Roman" panose="02020603050405020304" pitchFamily="18" charset="0"/>
                <a:ea typeface="楷体" panose="02010609060101010101" pitchFamily="49" charset="-122"/>
                <a:cs typeface="Times New Roman" panose="02020603050405020304" pitchFamily="18" charset="0"/>
              </a:rPr>
              <a:t>q</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 </a:t>
            </a:r>
            <a:r>
              <a:rPr lang="en-US" altLang="zh-CN" b="1" i="1" dirty="0">
                <a:latin typeface="Times New Roman" panose="02020603050405020304" pitchFamily="18" charset="0"/>
                <a:ea typeface="楷体" panose="02010609060101010101" pitchFamily="49" charset="-122"/>
                <a:cs typeface="Times New Roman" panose="02020603050405020304" pitchFamily="18" charset="0"/>
              </a:rPr>
              <a:t>r</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 = (0, 0, 0), (0, 1, 0), (1, 1, 0), (1, 0, 1). </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实际上</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我们可以利用</a:t>
            </a:r>
            <a:r>
              <a:rPr lang="en-US" altLang="zh-CN" b="1" i="1" dirty="0">
                <a:latin typeface="Times New Roman" panose="02020603050405020304" pitchFamily="18" charset="0"/>
                <a:ea typeface="楷体" panose="02010609060101010101" pitchFamily="49" charset="-122"/>
                <a:cs typeface="Times New Roman" panose="02020603050405020304" pitchFamily="18" charset="0"/>
              </a:rPr>
              <a:t>A</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的真值表求</a:t>
            </a:r>
            <a:r>
              <a:rPr lang="en-US" altLang="zh-CN" b="1" i="1" dirty="0">
                <a:latin typeface="Times New Roman" panose="02020603050405020304" pitchFamily="18" charset="0"/>
                <a:ea typeface="楷体" panose="02010609060101010101" pitchFamily="49" charset="-122"/>
                <a:cs typeface="Times New Roman" panose="02020603050405020304" pitchFamily="18" charset="0"/>
              </a:rPr>
              <a:t>A</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的主合取范式</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a:t>
            </a:r>
          </a:p>
        </p:txBody>
      </p:sp>
    </p:spTree>
  </p:cSld>
  <p:clrMapOvr>
    <a:masterClrMapping/>
  </p:clrMapOvr>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15714" name="Rectangle 2"/>
              <p:cNvSpPr>
                <a:spLocks noGrp="1" noChangeArrowheads="1"/>
              </p:cNvSpPr>
              <p:nvPr>
                <p:ph/>
              </p:nvPr>
            </p:nvSpPr>
            <p:spPr/>
            <p:txBody>
              <a:bodyPr/>
              <a:lstStyle/>
              <a:p>
                <a:pPr eaLnBrk="1" hangingPunct="1">
                  <a:lnSpc>
                    <a:spcPct val="120000"/>
                  </a:lnSpc>
                </a:pPr>
                <a:r>
                  <a:rPr lang="zh-CN" altLang="en-US" b="1" dirty="0">
                    <a:latin typeface="Times New Roman" panose="02020603050405020304" pitchFamily="18" charset="0"/>
                    <a:ea typeface="楷体" panose="02010609060101010101" pitchFamily="49" charset="-122"/>
                    <a:cs typeface="Times New Roman" panose="02020603050405020304" pitchFamily="18" charset="0"/>
                  </a:rPr>
                  <a:t>求的主合取范式的第二种方法：</a:t>
                </a:r>
                <a:r>
                  <a:rPr lang="zh-CN" altLang="en-US" b="1" dirty="0">
                    <a:solidFill>
                      <a:schemeClr val="hlink"/>
                    </a:solidFill>
                    <a:latin typeface="Times New Roman" panose="02020603050405020304" pitchFamily="18" charset="0"/>
                    <a:ea typeface="楷体" panose="02010609060101010101" pitchFamily="49" charset="-122"/>
                    <a:cs typeface="Times New Roman" panose="02020603050405020304" pitchFamily="18" charset="0"/>
                  </a:rPr>
                  <a:t>真值表法</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a:t>
                </a:r>
              </a:p>
              <a:p>
                <a:pPr>
                  <a:lnSpc>
                    <a:spcPct val="120000"/>
                  </a:lnSpc>
                </a:pPr>
                <a:r>
                  <a:rPr lang="en-US" altLang="zh-CN" b="1" dirty="0">
                    <a:latin typeface="Times New Roman" panose="02020603050405020304" pitchFamily="18" charset="0"/>
                    <a:ea typeface="楷体" panose="02010609060101010101" pitchFamily="49" charset="-122"/>
                    <a:cs typeface="Times New Roman" panose="02020603050405020304" pitchFamily="18" charset="0"/>
                  </a:rPr>
                  <a:t>Step1 </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写出命题公式</a:t>
                </a:r>
                <a:r>
                  <a:rPr lang="en-US" altLang="zh-CN" b="1" i="1" dirty="0">
                    <a:latin typeface="Times New Roman" panose="02020603050405020304" pitchFamily="18" charset="0"/>
                    <a:ea typeface="楷体" panose="02010609060101010101" pitchFamily="49" charset="-122"/>
                    <a:cs typeface="Times New Roman" panose="02020603050405020304" pitchFamily="18" charset="0"/>
                  </a:rPr>
                  <a:t>A</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的真值表；</a:t>
                </a:r>
              </a:p>
              <a:p>
                <a:pPr>
                  <a:lnSpc>
                    <a:spcPct val="120000"/>
                  </a:lnSpc>
                </a:pPr>
                <a:r>
                  <a:rPr lang="en-US" altLang="zh-CN" b="1" dirty="0">
                    <a:latin typeface="Times New Roman" panose="02020603050405020304" pitchFamily="18" charset="0"/>
                    <a:ea typeface="楷体" panose="02010609060101010101" pitchFamily="49" charset="-122"/>
                    <a:cs typeface="Times New Roman" panose="02020603050405020304" pitchFamily="18" charset="0"/>
                  </a:rPr>
                  <a:t>Step2 </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对于使</a:t>
                </a:r>
                <a:r>
                  <a:rPr lang="en-US" altLang="zh-CN" b="1" i="1" dirty="0">
                    <a:latin typeface="Times New Roman" panose="02020603050405020304" pitchFamily="18" charset="0"/>
                    <a:ea typeface="楷体" panose="02010609060101010101" pitchFamily="49" charset="-122"/>
                    <a:cs typeface="Times New Roman" panose="02020603050405020304" pitchFamily="18" charset="0"/>
                  </a:rPr>
                  <a:t>A</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取</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0</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的指派</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写出对应的</a:t>
                </a:r>
                <a:r>
                  <a:rPr lang="zh-CN" altLang="en-US" b="1"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极大项</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使该极大项在该指派下也为</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0</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a:t>
                </a:r>
              </a:p>
              <a:p>
                <a:pPr>
                  <a:lnSpc>
                    <a:spcPct val="120000"/>
                  </a:lnSpc>
                </a:pPr>
                <a14:m>
                  <m:oMath xmlns:m="http://schemas.openxmlformats.org/officeDocument/2006/math">
                    <m:d>
                      <m:dPr>
                        <m:ctrlPr>
                          <a:rPr lang="en-US" altLang="zh-CN" b="1" i="1">
                            <a:latin typeface="Cambria Math" panose="02040503050406030204" pitchFamily="18" charset="0"/>
                            <a:ea typeface="楷体" panose="02010609060101010101" pitchFamily="49" charset="-122"/>
                            <a:cs typeface="Times New Roman" panose="02020603050405020304" pitchFamily="18" charset="0"/>
                          </a:rPr>
                        </m:ctrlPr>
                      </m:dPr>
                      <m:e>
                        <m:r>
                          <a:rPr lang="en-US" altLang="zh-CN" b="1" i="1">
                            <a:latin typeface="Cambria Math"/>
                            <a:ea typeface="楷体" panose="02010609060101010101" pitchFamily="49" charset="-122"/>
                            <a:cs typeface="Times New Roman" panose="02020603050405020304" pitchFamily="18" charset="0"/>
                          </a:rPr>
                          <m:t>𝒑</m:t>
                        </m:r>
                        <m:r>
                          <a:rPr lang="en-US" altLang="zh-CN" b="1" i="1">
                            <a:latin typeface="Cambria Math"/>
                            <a:ea typeface="楷体" panose="02010609060101010101" pitchFamily="49" charset="-122"/>
                            <a:cs typeface="Times New Roman" panose="02020603050405020304" pitchFamily="18" charset="0"/>
                          </a:rPr>
                          <m:t>,</m:t>
                        </m:r>
                        <m:r>
                          <a:rPr lang="en-US" altLang="zh-CN" b="1" i="1">
                            <a:latin typeface="Cambria Math"/>
                            <a:ea typeface="楷体" panose="02010609060101010101" pitchFamily="49" charset="-122"/>
                            <a:cs typeface="Times New Roman" panose="02020603050405020304" pitchFamily="18" charset="0"/>
                          </a:rPr>
                          <m:t>𝒒</m:t>
                        </m:r>
                        <m:r>
                          <a:rPr lang="en-US" altLang="zh-CN" b="1" i="1">
                            <a:latin typeface="Cambria Math"/>
                            <a:ea typeface="楷体" panose="02010609060101010101" pitchFamily="49" charset="-122"/>
                            <a:cs typeface="Times New Roman" panose="02020603050405020304" pitchFamily="18" charset="0"/>
                          </a:rPr>
                          <m:t>,</m:t>
                        </m:r>
                        <m:r>
                          <a:rPr lang="en-US" altLang="zh-CN" b="1" i="1">
                            <a:latin typeface="Cambria Math"/>
                            <a:ea typeface="楷体" panose="02010609060101010101" pitchFamily="49" charset="-122"/>
                            <a:cs typeface="Times New Roman" panose="02020603050405020304" pitchFamily="18" charset="0"/>
                          </a:rPr>
                          <m:t>𝒓</m:t>
                        </m:r>
                      </m:e>
                    </m:d>
                    <m:r>
                      <a:rPr lang="en-US" altLang="zh-CN" b="1" i="1">
                        <a:latin typeface="Cambria Math"/>
                        <a:ea typeface="楷体" panose="02010609060101010101" pitchFamily="49" charset="-122"/>
                        <a:cs typeface="Times New Roman" panose="02020603050405020304" pitchFamily="18" charset="0"/>
                      </a:rPr>
                      <m:t>=(</m:t>
                    </m:r>
                    <m:r>
                      <a:rPr lang="en-US" altLang="zh-CN" b="1" i="1">
                        <a:latin typeface="Cambria Math"/>
                        <a:ea typeface="楷体" panose="02010609060101010101" pitchFamily="49" charset="-122"/>
                        <a:cs typeface="Times New Roman" panose="02020603050405020304" pitchFamily="18" charset="0"/>
                      </a:rPr>
                      <m:t>𝟏</m:t>
                    </m:r>
                    <m:r>
                      <a:rPr lang="en-US" altLang="zh-CN" b="1" i="1">
                        <a:latin typeface="Cambria Math"/>
                        <a:ea typeface="楷体" panose="02010609060101010101" pitchFamily="49" charset="-122"/>
                        <a:cs typeface="Times New Roman" panose="02020603050405020304" pitchFamily="18" charset="0"/>
                      </a:rPr>
                      <m:t>,</m:t>
                    </m:r>
                    <m:r>
                      <a:rPr lang="en-US" altLang="zh-CN" b="1" i="1">
                        <a:latin typeface="Cambria Math"/>
                        <a:ea typeface="楷体" panose="02010609060101010101" pitchFamily="49" charset="-122"/>
                        <a:cs typeface="Times New Roman" panose="02020603050405020304" pitchFamily="18" charset="0"/>
                      </a:rPr>
                      <m:t>𝟏</m:t>
                    </m:r>
                    <m:r>
                      <a:rPr lang="en-US" altLang="zh-CN" b="1" i="1">
                        <a:latin typeface="Cambria Math"/>
                        <a:ea typeface="楷体" panose="02010609060101010101" pitchFamily="49" charset="-122"/>
                        <a:cs typeface="Times New Roman" panose="02020603050405020304" pitchFamily="18" charset="0"/>
                      </a:rPr>
                      <m:t>,</m:t>
                    </m:r>
                    <m:r>
                      <a:rPr lang="en-US" altLang="zh-CN" b="1" i="1">
                        <a:latin typeface="Cambria Math"/>
                        <a:ea typeface="楷体" panose="02010609060101010101" pitchFamily="49" charset="-122"/>
                        <a:cs typeface="Times New Roman" panose="02020603050405020304" pitchFamily="18" charset="0"/>
                      </a:rPr>
                      <m:t>𝟎</m:t>
                    </m:r>
                    <m:r>
                      <a:rPr lang="en-US" altLang="zh-CN" b="1" i="1">
                        <a:latin typeface="Cambria Math"/>
                        <a:ea typeface="楷体" panose="02010609060101010101" pitchFamily="49" charset="-122"/>
                        <a:cs typeface="Times New Roman" panose="02020603050405020304" pitchFamily="18" charset="0"/>
                      </a:rPr>
                      <m:t>)⇒¬</m:t>
                    </m:r>
                    <m:r>
                      <a:rPr lang="en-US" altLang="zh-CN" b="1" i="1">
                        <a:latin typeface="Cambria Math"/>
                        <a:ea typeface="Cambria Math"/>
                        <a:cs typeface="Times New Roman" panose="02020603050405020304" pitchFamily="18" charset="0"/>
                      </a:rPr>
                      <m:t>𝒑</m:t>
                    </m:r>
                    <m:r>
                      <a:rPr lang="en-US" altLang="zh-CN" b="1" i="1">
                        <a:latin typeface="Cambria Math"/>
                        <a:ea typeface="Cambria Math"/>
                        <a:cs typeface="Times New Roman" panose="02020603050405020304" pitchFamily="18" charset="0"/>
                      </a:rPr>
                      <m:t>∨¬</m:t>
                    </m:r>
                    <m:r>
                      <a:rPr lang="en-US" altLang="zh-CN" b="1" i="1">
                        <a:latin typeface="Cambria Math"/>
                        <a:ea typeface="Cambria Math"/>
                        <a:cs typeface="Times New Roman" panose="02020603050405020304" pitchFamily="18" charset="0"/>
                      </a:rPr>
                      <m:t>𝒒</m:t>
                    </m:r>
                    <m:r>
                      <a:rPr lang="en-US" altLang="zh-CN" b="1" i="1">
                        <a:latin typeface="Cambria Math"/>
                        <a:ea typeface="Cambria Math"/>
                        <a:cs typeface="Times New Roman" panose="02020603050405020304" pitchFamily="18" charset="0"/>
                      </a:rPr>
                      <m:t>∨</m:t>
                    </m:r>
                    <m:r>
                      <a:rPr lang="en-US" altLang="zh-CN" b="1" i="1">
                        <a:latin typeface="Cambria Math"/>
                        <a:ea typeface="Cambria Math"/>
                        <a:cs typeface="Times New Roman" panose="02020603050405020304" pitchFamily="18" charset="0"/>
                      </a:rPr>
                      <m:t>𝒓</m:t>
                    </m:r>
                  </m:oMath>
                </a14:m>
                <a:endParaRPr lang="en-US" altLang="zh-CN" b="1" dirty="0">
                  <a:latin typeface="Times New Roman" panose="02020603050405020304" pitchFamily="18" charset="0"/>
                  <a:ea typeface="楷体" panose="02010609060101010101" pitchFamily="49" charset="-122"/>
                  <a:cs typeface="Times New Roman" panose="02020603050405020304" pitchFamily="18" charset="0"/>
                </a:endParaRPr>
              </a:p>
              <a:p>
                <a:pPr>
                  <a:lnSpc>
                    <a:spcPct val="120000"/>
                  </a:lnSpc>
                </a:pPr>
                <a14:m>
                  <m:oMath xmlns:m="http://schemas.openxmlformats.org/officeDocument/2006/math">
                    <m:d>
                      <m:dPr>
                        <m:ctrlPr>
                          <a:rPr lang="en-US" altLang="zh-CN" b="1" i="1">
                            <a:latin typeface="Cambria Math" panose="02040503050406030204" pitchFamily="18" charset="0"/>
                            <a:ea typeface="楷体" panose="02010609060101010101" pitchFamily="49" charset="-122"/>
                            <a:cs typeface="Times New Roman" panose="02020603050405020304" pitchFamily="18" charset="0"/>
                          </a:rPr>
                        </m:ctrlPr>
                      </m:dPr>
                      <m:e>
                        <m:r>
                          <a:rPr lang="en-US" altLang="zh-CN" b="1" i="1">
                            <a:latin typeface="Cambria Math"/>
                            <a:ea typeface="楷体" panose="02010609060101010101" pitchFamily="49" charset="-122"/>
                            <a:cs typeface="Times New Roman" panose="02020603050405020304" pitchFamily="18" charset="0"/>
                          </a:rPr>
                          <m:t>𝒑</m:t>
                        </m:r>
                        <m:r>
                          <a:rPr lang="en-US" altLang="zh-CN" b="1" i="1">
                            <a:latin typeface="Cambria Math"/>
                            <a:ea typeface="楷体" panose="02010609060101010101" pitchFamily="49" charset="-122"/>
                            <a:cs typeface="Times New Roman" panose="02020603050405020304" pitchFamily="18" charset="0"/>
                          </a:rPr>
                          <m:t>,</m:t>
                        </m:r>
                        <m:r>
                          <a:rPr lang="en-US" altLang="zh-CN" b="1" i="1">
                            <a:latin typeface="Cambria Math"/>
                            <a:ea typeface="楷体" panose="02010609060101010101" pitchFamily="49" charset="-122"/>
                            <a:cs typeface="Times New Roman" panose="02020603050405020304" pitchFamily="18" charset="0"/>
                          </a:rPr>
                          <m:t>𝒒</m:t>
                        </m:r>
                        <m:r>
                          <a:rPr lang="en-US" altLang="zh-CN" b="1" i="1">
                            <a:latin typeface="Cambria Math"/>
                            <a:ea typeface="楷体" panose="02010609060101010101" pitchFamily="49" charset="-122"/>
                            <a:cs typeface="Times New Roman" panose="02020603050405020304" pitchFamily="18" charset="0"/>
                          </a:rPr>
                          <m:t>,</m:t>
                        </m:r>
                        <m:r>
                          <a:rPr lang="en-US" altLang="zh-CN" b="1" i="1">
                            <a:latin typeface="Cambria Math"/>
                            <a:ea typeface="楷体" panose="02010609060101010101" pitchFamily="49" charset="-122"/>
                            <a:cs typeface="Times New Roman" panose="02020603050405020304" pitchFamily="18" charset="0"/>
                          </a:rPr>
                          <m:t>𝒓</m:t>
                        </m:r>
                      </m:e>
                    </m:d>
                    <m:r>
                      <a:rPr lang="en-US" altLang="zh-CN" b="1" i="1">
                        <a:latin typeface="Cambria Math"/>
                        <a:ea typeface="楷体" panose="02010609060101010101" pitchFamily="49" charset="-122"/>
                        <a:cs typeface="Times New Roman" panose="02020603050405020304" pitchFamily="18" charset="0"/>
                      </a:rPr>
                      <m:t>=(</m:t>
                    </m:r>
                    <m:r>
                      <a:rPr lang="en-US" altLang="zh-CN" b="1" i="1">
                        <a:latin typeface="Cambria Math"/>
                        <a:ea typeface="楷体" panose="02010609060101010101" pitchFamily="49" charset="-122"/>
                        <a:cs typeface="Times New Roman" panose="02020603050405020304" pitchFamily="18" charset="0"/>
                      </a:rPr>
                      <m:t>𝟏</m:t>
                    </m:r>
                    <m:r>
                      <a:rPr lang="en-US" altLang="zh-CN" b="1" i="1">
                        <a:latin typeface="Cambria Math"/>
                        <a:ea typeface="楷体" panose="02010609060101010101" pitchFamily="49" charset="-122"/>
                        <a:cs typeface="Times New Roman" panose="02020603050405020304" pitchFamily="18" charset="0"/>
                      </a:rPr>
                      <m:t>,</m:t>
                    </m:r>
                    <m:r>
                      <a:rPr lang="en-US" altLang="zh-CN" b="1" i="1">
                        <a:latin typeface="Cambria Math"/>
                        <a:ea typeface="楷体" panose="02010609060101010101" pitchFamily="49" charset="-122"/>
                        <a:cs typeface="Times New Roman" panose="02020603050405020304" pitchFamily="18" charset="0"/>
                      </a:rPr>
                      <m:t>𝟎</m:t>
                    </m:r>
                    <m:r>
                      <a:rPr lang="en-US" altLang="zh-CN" b="1" i="1">
                        <a:latin typeface="Cambria Math"/>
                        <a:ea typeface="楷体" panose="02010609060101010101" pitchFamily="49" charset="-122"/>
                        <a:cs typeface="Times New Roman" panose="02020603050405020304" pitchFamily="18" charset="0"/>
                      </a:rPr>
                      <m:t>,</m:t>
                    </m:r>
                    <m:r>
                      <a:rPr lang="en-US" altLang="zh-CN" b="1" i="1">
                        <a:latin typeface="Cambria Math"/>
                        <a:ea typeface="楷体" panose="02010609060101010101" pitchFamily="49" charset="-122"/>
                        <a:cs typeface="Times New Roman" panose="02020603050405020304" pitchFamily="18" charset="0"/>
                      </a:rPr>
                      <m:t>𝟎</m:t>
                    </m:r>
                    <m:r>
                      <a:rPr lang="en-US" altLang="zh-CN" b="1" i="1">
                        <a:latin typeface="Cambria Math"/>
                        <a:ea typeface="楷体" panose="02010609060101010101" pitchFamily="49" charset="-122"/>
                        <a:cs typeface="Times New Roman" panose="02020603050405020304" pitchFamily="18" charset="0"/>
                      </a:rPr>
                      <m:t>)⇒¬</m:t>
                    </m:r>
                    <m:r>
                      <a:rPr lang="en-US" altLang="zh-CN" b="1" i="1">
                        <a:latin typeface="Cambria Math"/>
                        <a:ea typeface="Cambria Math"/>
                        <a:cs typeface="Times New Roman" panose="02020603050405020304" pitchFamily="18" charset="0"/>
                      </a:rPr>
                      <m:t>𝒑</m:t>
                    </m:r>
                    <m:r>
                      <a:rPr lang="en-US" altLang="zh-CN" b="1" i="1">
                        <a:latin typeface="Cambria Math"/>
                        <a:ea typeface="Cambria Math"/>
                        <a:cs typeface="Times New Roman" panose="02020603050405020304" pitchFamily="18" charset="0"/>
                      </a:rPr>
                      <m:t>∨</m:t>
                    </m:r>
                    <m:r>
                      <a:rPr lang="en-US" altLang="zh-CN" b="1" i="1">
                        <a:latin typeface="Cambria Math"/>
                        <a:ea typeface="Cambria Math"/>
                        <a:cs typeface="Times New Roman" panose="02020603050405020304" pitchFamily="18" charset="0"/>
                      </a:rPr>
                      <m:t>𝒒</m:t>
                    </m:r>
                    <m:r>
                      <a:rPr lang="en-US" altLang="zh-CN" b="1" i="1">
                        <a:latin typeface="Cambria Math"/>
                        <a:ea typeface="Cambria Math"/>
                        <a:cs typeface="Times New Roman" panose="02020603050405020304" pitchFamily="18" charset="0"/>
                      </a:rPr>
                      <m:t>∨</m:t>
                    </m:r>
                    <m:r>
                      <a:rPr lang="en-US" altLang="zh-CN" b="1" i="1">
                        <a:latin typeface="Cambria Math"/>
                        <a:ea typeface="Cambria Math"/>
                        <a:cs typeface="Times New Roman" panose="02020603050405020304" pitchFamily="18" charset="0"/>
                      </a:rPr>
                      <m:t>𝒓</m:t>
                    </m:r>
                  </m:oMath>
                </a14:m>
                <a:endParaRPr lang="en-US" altLang="zh-CN" b="1" dirty="0">
                  <a:latin typeface="Times New Roman" panose="02020603050405020304" pitchFamily="18" charset="0"/>
                  <a:ea typeface="楷体" panose="02010609060101010101" pitchFamily="49" charset="-122"/>
                  <a:cs typeface="Times New Roman" panose="02020603050405020304" pitchFamily="18" charset="0"/>
                </a:endParaRPr>
              </a:p>
              <a:p>
                <a:pPr>
                  <a:lnSpc>
                    <a:spcPct val="120000"/>
                  </a:lnSpc>
                </a:pPr>
                <a14:m>
                  <m:oMath xmlns:m="http://schemas.openxmlformats.org/officeDocument/2006/math">
                    <m:d>
                      <m:dPr>
                        <m:ctrlPr>
                          <a:rPr lang="en-US" altLang="zh-CN" b="1" i="1">
                            <a:latin typeface="Cambria Math" panose="02040503050406030204" pitchFamily="18" charset="0"/>
                            <a:ea typeface="楷体" panose="02010609060101010101" pitchFamily="49" charset="-122"/>
                            <a:cs typeface="Times New Roman" panose="02020603050405020304" pitchFamily="18" charset="0"/>
                          </a:rPr>
                        </m:ctrlPr>
                      </m:dPr>
                      <m:e>
                        <m:r>
                          <a:rPr lang="en-US" altLang="zh-CN" b="1" i="1">
                            <a:latin typeface="Cambria Math"/>
                            <a:ea typeface="楷体" panose="02010609060101010101" pitchFamily="49" charset="-122"/>
                            <a:cs typeface="Times New Roman" panose="02020603050405020304" pitchFamily="18" charset="0"/>
                          </a:rPr>
                          <m:t>𝒑</m:t>
                        </m:r>
                        <m:r>
                          <a:rPr lang="en-US" altLang="zh-CN" b="1" i="1">
                            <a:latin typeface="Cambria Math"/>
                            <a:ea typeface="楷体" panose="02010609060101010101" pitchFamily="49" charset="-122"/>
                            <a:cs typeface="Times New Roman" panose="02020603050405020304" pitchFamily="18" charset="0"/>
                          </a:rPr>
                          <m:t>,</m:t>
                        </m:r>
                        <m:r>
                          <a:rPr lang="en-US" altLang="zh-CN" b="1" i="1">
                            <a:latin typeface="Cambria Math"/>
                            <a:ea typeface="楷体" panose="02010609060101010101" pitchFamily="49" charset="-122"/>
                            <a:cs typeface="Times New Roman" panose="02020603050405020304" pitchFamily="18" charset="0"/>
                          </a:rPr>
                          <m:t>𝒒</m:t>
                        </m:r>
                        <m:r>
                          <a:rPr lang="en-US" altLang="zh-CN" b="1" i="1">
                            <a:latin typeface="Cambria Math"/>
                            <a:ea typeface="楷体" panose="02010609060101010101" pitchFamily="49" charset="-122"/>
                            <a:cs typeface="Times New Roman" panose="02020603050405020304" pitchFamily="18" charset="0"/>
                          </a:rPr>
                          <m:t>,</m:t>
                        </m:r>
                        <m:r>
                          <a:rPr lang="en-US" altLang="zh-CN" b="1" i="1">
                            <a:latin typeface="Cambria Math"/>
                            <a:ea typeface="楷体" panose="02010609060101010101" pitchFamily="49" charset="-122"/>
                            <a:cs typeface="Times New Roman" panose="02020603050405020304" pitchFamily="18" charset="0"/>
                          </a:rPr>
                          <m:t>𝒓</m:t>
                        </m:r>
                      </m:e>
                    </m:d>
                    <m:r>
                      <a:rPr lang="en-US" altLang="zh-CN" b="1" i="1">
                        <a:latin typeface="Cambria Math"/>
                        <a:ea typeface="楷体" panose="02010609060101010101" pitchFamily="49" charset="-122"/>
                        <a:cs typeface="Times New Roman" panose="02020603050405020304" pitchFamily="18" charset="0"/>
                      </a:rPr>
                      <m:t>=(</m:t>
                    </m:r>
                    <m:r>
                      <a:rPr lang="en-US" altLang="zh-CN" b="1" i="1">
                        <a:latin typeface="Cambria Math"/>
                        <a:ea typeface="楷体" panose="02010609060101010101" pitchFamily="49" charset="-122"/>
                        <a:cs typeface="Times New Roman" panose="02020603050405020304" pitchFamily="18" charset="0"/>
                      </a:rPr>
                      <m:t>𝟎</m:t>
                    </m:r>
                    <m:r>
                      <a:rPr lang="en-US" altLang="zh-CN" b="1" i="1">
                        <a:latin typeface="Cambria Math"/>
                        <a:ea typeface="楷体" panose="02010609060101010101" pitchFamily="49" charset="-122"/>
                        <a:cs typeface="Times New Roman" panose="02020603050405020304" pitchFamily="18" charset="0"/>
                      </a:rPr>
                      <m:t>,</m:t>
                    </m:r>
                    <m:r>
                      <a:rPr lang="en-US" altLang="zh-CN" b="1" i="1">
                        <a:latin typeface="Cambria Math"/>
                        <a:ea typeface="楷体" panose="02010609060101010101" pitchFamily="49" charset="-122"/>
                        <a:cs typeface="Times New Roman" panose="02020603050405020304" pitchFamily="18" charset="0"/>
                      </a:rPr>
                      <m:t>𝟏</m:t>
                    </m:r>
                    <m:r>
                      <a:rPr lang="en-US" altLang="zh-CN" b="1" i="1">
                        <a:latin typeface="Cambria Math"/>
                        <a:ea typeface="楷体" panose="02010609060101010101" pitchFamily="49" charset="-122"/>
                        <a:cs typeface="Times New Roman" panose="02020603050405020304" pitchFamily="18" charset="0"/>
                      </a:rPr>
                      <m:t>,</m:t>
                    </m:r>
                    <m:r>
                      <a:rPr lang="en-US" altLang="zh-CN" b="1" i="1">
                        <a:latin typeface="Cambria Math"/>
                        <a:ea typeface="楷体" panose="02010609060101010101" pitchFamily="49" charset="-122"/>
                        <a:cs typeface="Times New Roman" panose="02020603050405020304" pitchFamily="18" charset="0"/>
                      </a:rPr>
                      <m:t>𝟎</m:t>
                    </m:r>
                    <m:r>
                      <a:rPr lang="en-US" altLang="zh-CN" b="1" i="1">
                        <a:latin typeface="Cambria Math"/>
                        <a:ea typeface="楷体" panose="02010609060101010101" pitchFamily="49" charset="-122"/>
                        <a:cs typeface="Times New Roman" panose="02020603050405020304" pitchFamily="18" charset="0"/>
                      </a:rPr>
                      <m:t>)⇒</m:t>
                    </m:r>
                    <m:r>
                      <a:rPr lang="en-US" altLang="zh-CN" b="1" i="1">
                        <a:latin typeface="Cambria Math"/>
                        <a:ea typeface="Cambria Math"/>
                        <a:cs typeface="Times New Roman" panose="02020603050405020304" pitchFamily="18" charset="0"/>
                      </a:rPr>
                      <m:t>𝒑</m:t>
                    </m:r>
                    <m:r>
                      <a:rPr lang="en-US" altLang="zh-CN" b="1" i="1">
                        <a:latin typeface="Cambria Math"/>
                        <a:ea typeface="Cambria Math"/>
                        <a:cs typeface="Times New Roman" panose="02020603050405020304" pitchFamily="18" charset="0"/>
                      </a:rPr>
                      <m:t>∨¬</m:t>
                    </m:r>
                    <m:r>
                      <a:rPr lang="en-US" altLang="zh-CN" b="1" i="1">
                        <a:latin typeface="Cambria Math"/>
                        <a:ea typeface="Cambria Math"/>
                        <a:cs typeface="Times New Roman" panose="02020603050405020304" pitchFamily="18" charset="0"/>
                      </a:rPr>
                      <m:t>𝒒</m:t>
                    </m:r>
                    <m:r>
                      <a:rPr lang="en-US" altLang="zh-CN" b="1" i="1">
                        <a:latin typeface="Cambria Math"/>
                        <a:ea typeface="Cambria Math"/>
                        <a:cs typeface="Times New Roman" panose="02020603050405020304" pitchFamily="18" charset="0"/>
                      </a:rPr>
                      <m:t>∨</m:t>
                    </m:r>
                    <m:r>
                      <a:rPr lang="en-US" altLang="zh-CN" b="1" i="1">
                        <a:latin typeface="Cambria Math"/>
                        <a:ea typeface="Cambria Math"/>
                        <a:cs typeface="Times New Roman" panose="02020603050405020304" pitchFamily="18" charset="0"/>
                      </a:rPr>
                      <m:t>𝒓</m:t>
                    </m:r>
                  </m:oMath>
                </a14:m>
                <a:endParaRPr lang="zh-CN" altLang="en-US" b="1" dirty="0">
                  <a:latin typeface="Times New Roman" panose="02020603050405020304" pitchFamily="18" charset="0"/>
                  <a:ea typeface="楷体" panose="02010609060101010101" pitchFamily="49" charset="-122"/>
                  <a:cs typeface="Times New Roman" panose="02020603050405020304" pitchFamily="18" charset="0"/>
                </a:endParaRPr>
              </a:p>
              <a:p>
                <a:pPr>
                  <a:lnSpc>
                    <a:spcPct val="120000"/>
                  </a:lnSpc>
                </a:pPr>
                <a:r>
                  <a:rPr lang="en-US" altLang="zh-CN" b="1" dirty="0">
                    <a:latin typeface="Times New Roman" panose="02020603050405020304" pitchFamily="18" charset="0"/>
                    <a:ea typeface="楷体" panose="02010609060101010101" pitchFamily="49" charset="-122"/>
                    <a:cs typeface="Times New Roman" panose="02020603050405020304" pitchFamily="18" charset="0"/>
                  </a:rPr>
                  <a:t>Step3 (</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可以证明</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a:t>
                </a:r>
                <a:r>
                  <a:rPr lang="en-US" altLang="zh-CN" b="1" i="1" dirty="0">
                    <a:latin typeface="Times New Roman" panose="02020603050405020304" pitchFamily="18" charset="0"/>
                    <a:ea typeface="楷体" panose="02010609060101010101" pitchFamily="49" charset="-122"/>
                    <a:cs typeface="Times New Roman" panose="02020603050405020304" pitchFamily="18" charset="0"/>
                  </a:rPr>
                  <a:t>A</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等值于所有这样写出的极大项的合取</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a:t>
                </a:r>
              </a:p>
            </p:txBody>
          </p:sp>
        </mc:Choice>
        <mc:Fallback xmlns="">
          <p:sp>
            <p:nvSpPr>
              <p:cNvPr id="115714" name="Rectangle 2"/>
              <p:cNvSpPr>
                <a:spLocks noGrp="1" noRot="1" noChangeAspect="1" noMove="1" noResize="1" noEditPoints="1" noAdjustHandles="1" noChangeArrowheads="1" noChangeShapeType="1" noTextEdit="1"/>
              </p:cNvSpPr>
              <p:nvPr>
                <p:ph/>
              </p:nvPr>
            </p:nvSpPr>
            <p:spPr>
              <a:blipFill rotWithShape="1">
                <a:blip r:embed="rId2"/>
                <a:stretch>
                  <a:fillRect l="-1630" t="-1042" b="-4063"/>
                </a:stretch>
              </a:blipFill>
            </p:spPr>
            <p:txBody>
              <a:bodyPr/>
              <a:lstStyle/>
              <a:p>
                <a:r>
                  <a:rPr lang="zh-CN" altLang="en-US">
                    <a:noFill/>
                  </a:rPr>
                  <a:t> </a:t>
                </a:r>
              </a:p>
            </p:txBody>
          </p:sp>
        </mc:Fallback>
      </mc:AlternateContent>
    </p:spTree>
  </p:cSld>
  <p:clrMapOvr>
    <a:masterClrMapping/>
  </p:clrMapOvr>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Rectangle 2"/>
          <p:cNvSpPr>
            <a:spLocks noGrp="1" noChangeArrowheads="1"/>
          </p:cNvSpPr>
          <p:nvPr>
            <p:ph/>
          </p:nvPr>
        </p:nvSpPr>
        <p:spPr/>
        <p:txBody>
          <a:bodyPr/>
          <a:lstStyle/>
          <a:p>
            <a:pPr eaLnBrk="1" hangingPunct="1">
              <a:lnSpc>
                <a:spcPct val="120000"/>
              </a:lnSpc>
            </a:pPr>
            <a:r>
              <a:rPr lang="zh-CN" altLang="en-US" b="1" dirty="0">
                <a:ea typeface="华文新魏" pitchFamily="2" charset="-122"/>
              </a:rPr>
              <a:t>例</a:t>
            </a:r>
            <a:r>
              <a:rPr lang="en-US" altLang="zh-CN" b="1" dirty="0">
                <a:latin typeface="Times New Roman" pitchFamily="18" charset="0"/>
                <a:ea typeface="华文新魏" pitchFamily="2" charset="-122"/>
              </a:rPr>
              <a:t>3-22</a:t>
            </a:r>
            <a:r>
              <a:rPr lang="en-US" altLang="zh-CN" b="1" dirty="0"/>
              <a:t> </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设</a:t>
            </a:r>
            <a:r>
              <a:rPr lang="en-US" altLang="zh-CN" b="1" i="1" dirty="0">
                <a:latin typeface="Times New Roman" panose="02020603050405020304" pitchFamily="18" charset="0"/>
                <a:ea typeface="楷体" panose="02010609060101010101" pitchFamily="49" charset="-122"/>
                <a:cs typeface="Times New Roman" panose="02020603050405020304" pitchFamily="18" charset="0"/>
              </a:rPr>
              <a:t>p</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 </a:t>
            </a:r>
            <a:r>
              <a:rPr lang="en-US" altLang="zh-CN" b="1" i="1" dirty="0">
                <a:latin typeface="Times New Roman" panose="02020603050405020304" pitchFamily="18" charset="0"/>
                <a:ea typeface="楷体" panose="02010609060101010101" pitchFamily="49" charset="-122"/>
                <a:cs typeface="Times New Roman" panose="02020603050405020304" pitchFamily="18" charset="0"/>
              </a:rPr>
              <a:t>q</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和</a:t>
            </a:r>
            <a:r>
              <a:rPr lang="en-US" altLang="zh-CN" b="1" i="1" dirty="0">
                <a:latin typeface="Times New Roman" panose="02020603050405020304" pitchFamily="18" charset="0"/>
                <a:ea typeface="楷体" panose="02010609060101010101" pitchFamily="49" charset="-122"/>
                <a:cs typeface="Times New Roman" panose="02020603050405020304" pitchFamily="18" charset="0"/>
              </a:rPr>
              <a:t>r</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是命题变元</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求命题公式    </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a:t>
            </a:r>
            <a:r>
              <a:rPr lang="en-US" altLang="zh-CN" b="1" i="1" dirty="0">
                <a:latin typeface="Times New Roman" panose="02020603050405020304" pitchFamily="18" charset="0"/>
                <a:ea typeface="楷体" panose="02010609060101010101" pitchFamily="49" charset="-122"/>
                <a:cs typeface="Times New Roman" panose="02020603050405020304" pitchFamily="18" charset="0"/>
              </a:rPr>
              <a:t>p</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 </a:t>
            </a:r>
            <a:r>
              <a:rPr lang="en-US" altLang="zh-CN" b="1" dirty="0">
                <a:latin typeface="Times New Roman" panose="02020603050405020304" pitchFamily="18" charset="0"/>
                <a:ea typeface="楷体" panose="02010609060101010101" pitchFamily="49" charset="-122"/>
                <a:cs typeface="Times New Roman" panose="02020603050405020304" pitchFamily="18" charset="0"/>
                <a:sym typeface="Symbol" pitchFamily="18" charset="2"/>
              </a:rPr>
              <a:t> </a:t>
            </a:r>
            <a:r>
              <a:rPr lang="en-US" altLang="zh-CN" b="1" i="1" dirty="0">
                <a:latin typeface="Times New Roman" panose="02020603050405020304" pitchFamily="18" charset="0"/>
                <a:ea typeface="楷体" panose="02010609060101010101" pitchFamily="49" charset="-122"/>
                <a:cs typeface="Times New Roman" panose="02020603050405020304" pitchFamily="18" charset="0"/>
                <a:sym typeface="Symbol" pitchFamily="18" charset="2"/>
              </a:rPr>
              <a:t>q</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 </a:t>
            </a:r>
            <a:r>
              <a:rPr lang="en-US" altLang="zh-CN" b="1" dirty="0">
                <a:latin typeface="Times New Roman" panose="02020603050405020304" pitchFamily="18" charset="0"/>
                <a:ea typeface="楷体" panose="02010609060101010101" pitchFamily="49" charset="-122"/>
                <a:cs typeface="Times New Roman" panose="02020603050405020304" pitchFamily="18" charset="0"/>
                <a:sym typeface="Symbol" pitchFamily="18" charset="2"/>
              </a:rPr>
              <a:t> </a:t>
            </a:r>
            <a:r>
              <a:rPr lang="en-US" altLang="zh-CN" b="1" i="1" dirty="0">
                <a:latin typeface="Times New Roman" panose="02020603050405020304" pitchFamily="18" charset="0"/>
                <a:ea typeface="楷体" panose="02010609060101010101" pitchFamily="49" charset="-122"/>
                <a:cs typeface="Times New Roman" panose="02020603050405020304" pitchFamily="18" charset="0"/>
                <a:sym typeface="Symbol" pitchFamily="18" charset="2"/>
              </a:rPr>
              <a:t>r</a:t>
            </a:r>
            <a:r>
              <a:rPr lang="en-US" altLang="zh-CN" b="1" dirty="0">
                <a:latin typeface="Times New Roman" panose="02020603050405020304" pitchFamily="18" charset="0"/>
                <a:ea typeface="楷体" panose="02010609060101010101" pitchFamily="49" charset="-122"/>
                <a:cs typeface="Times New Roman" panose="02020603050405020304" pitchFamily="18" charset="0"/>
                <a:sym typeface="Symbol" pitchFamily="18" charset="2"/>
              </a:rPr>
              <a:t> </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的主合取范式</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a:t>
            </a:r>
          </a:p>
          <a:p>
            <a:pPr eaLnBrk="1" hangingPunct="1">
              <a:lnSpc>
                <a:spcPct val="120000"/>
              </a:lnSpc>
            </a:pPr>
            <a:endParaRPr lang="en-US" altLang="zh-CN" b="1" dirty="0">
              <a:latin typeface="Times New Roman" pitchFamily="18" charset="0"/>
            </a:endParaRPr>
          </a:p>
        </p:txBody>
      </p:sp>
      <p:graphicFrame>
        <p:nvGraphicFramePr>
          <p:cNvPr id="123907" name="Group 3"/>
          <p:cNvGraphicFramePr>
            <a:graphicFrameLocks noGrp="1"/>
          </p:cNvGraphicFramePr>
          <p:nvPr/>
        </p:nvGraphicFramePr>
        <p:xfrm>
          <a:off x="1116013" y="1484313"/>
          <a:ext cx="6696075" cy="4664079"/>
        </p:xfrm>
        <a:graphic>
          <a:graphicData uri="http://schemas.openxmlformats.org/drawingml/2006/table">
            <a:tbl>
              <a:tblPr/>
              <a:tblGrid>
                <a:gridCol w="935037">
                  <a:extLst>
                    <a:ext uri="{9D8B030D-6E8A-4147-A177-3AD203B41FA5}">
                      <a16:colId xmlns:a16="http://schemas.microsoft.com/office/drawing/2014/main" val="20000"/>
                    </a:ext>
                  </a:extLst>
                </a:gridCol>
                <a:gridCol w="936625">
                  <a:extLst>
                    <a:ext uri="{9D8B030D-6E8A-4147-A177-3AD203B41FA5}">
                      <a16:colId xmlns:a16="http://schemas.microsoft.com/office/drawing/2014/main" val="20001"/>
                    </a:ext>
                  </a:extLst>
                </a:gridCol>
                <a:gridCol w="863600">
                  <a:extLst>
                    <a:ext uri="{9D8B030D-6E8A-4147-A177-3AD203B41FA5}">
                      <a16:colId xmlns:a16="http://schemas.microsoft.com/office/drawing/2014/main" val="20002"/>
                    </a:ext>
                  </a:extLst>
                </a:gridCol>
                <a:gridCol w="1441450">
                  <a:extLst>
                    <a:ext uri="{9D8B030D-6E8A-4147-A177-3AD203B41FA5}">
                      <a16:colId xmlns:a16="http://schemas.microsoft.com/office/drawing/2014/main" val="20003"/>
                    </a:ext>
                  </a:extLst>
                </a:gridCol>
                <a:gridCol w="2519363">
                  <a:extLst>
                    <a:ext uri="{9D8B030D-6E8A-4147-A177-3AD203B41FA5}">
                      <a16:colId xmlns:a16="http://schemas.microsoft.com/office/drawing/2014/main" val="20004"/>
                    </a:ext>
                  </a:extLst>
                </a:gridCol>
              </a:tblGrid>
              <a:tr h="518231">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1" i="1" u="none" strike="noStrike" cap="none" normalizeH="0" baseline="0">
                          <a:ln>
                            <a:noFill/>
                          </a:ln>
                          <a:solidFill>
                            <a:schemeClr val="tx1"/>
                          </a:solidFill>
                          <a:effectLst/>
                          <a:latin typeface="Times New Roman" pitchFamily="18" charset="0"/>
                          <a:ea typeface="宋体" pitchFamily="2" charset="-122"/>
                        </a:rPr>
                        <a:t>p</a:t>
                      </a:r>
                    </a:p>
                  </a:txBody>
                  <a:tcPr marT="45726" marB="45726"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1" i="0" u="none" strike="noStrike" cap="none" normalizeH="0" baseline="0">
                          <a:ln>
                            <a:noFill/>
                          </a:ln>
                          <a:solidFill>
                            <a:schemeClr val="tx1"/>
                          </a:solidFill>
                          <a:effectLst/>
                          <a:latin typeface="Times New Roman" pitchFamily="18" charset="0"/>
                          <a:ea typeface="宋体" pitchFamily="2" charset="-122"/>
                        </a:rPr>
                        <a:t> </a:t>
                      </a:r>
                      <a:r>
                        <a:rPr kumimoji="0" lang="en-US" altLang="zh-CN" sz="2800" b="1" i="1" u="none" strike="noStrike" cap="none" normalizeH="0" baseline="0">
                          <a:ln>
                            <a:noFill/>
                          </a:ln>
                          <a:solidFill>
                            <a:schemeClr val="tx1"/>
                          </a:solidFill>
                          <a:effectLst/>
                          <a:latin typeface="Times New Roman" pitchFamily="18" charset="0"/>
                          <a:ea typeface="宋体" pitchFamily="2" charset="-122"/>
                        </a:rPr>
                        <a:t>q</a:t>
                      </a:r>
                    </a:p>
                  </a:txBody>
                  <a:tcPr marT="45726" marB="4572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1" i="1" u="none" strike="noStrike" cap="none" normalizeH="0" baseline="0">
                          <a:ln>
                            <a:noFill/>
                          </a:ln>
                          <a:solidFill>
                            <a:schemeClr val="tx1"/>
                          </a:solidFill>
                          <a:effectLst/>
                          <a:latin typeface="Times New Roman" pitchFamily="18" charset="0"/>
                          <a:ea typeface="宋体" pitchFamily="2" charset="-122"/>
                        </a:rPr>
                        <a:t>r</a:t>
                      </a:r>
                    </a:p>
                  </a:txBody>
                  <a:tcPr marT="45726" marB="4572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1" i="1" u="none" strike="noStrike" cap="none" normalizeH="0" baseline="0">
                          <a:ln>
                            <a:noFill/>
                          </a:ln>
                          <a:solidFill>
                            <a:schemeClr val="tx1"/>
                          </a:solidFill>
                          <a:effectLst/>
                          <a:latin typeface="Times New Roman" pitchFamily="18" charset="0"/>
                          <a:ea typeface="宋体" pitchFamily="2" charset="-122"/>
                        </a:rPr>
                        <a:t>p</a:t>
                      </a:r>
                      <a:r>
                        <a:rPr kumimoji="0" lang="en-US" altLang="zh-CN" sz="2800" b="1" i="0" u="none" strike="noStrike" cap="none" normalizeH="0" baseline="0">
                          <a:ln>
                            <a:noFill/>
                          </a:ln>
                          <a:solidFill>
                            <a:schemeClr val="tx1"/>
                          </a:solidFill>
                          <a:effectLst/>
                          <a:latin typeface="Times New Roman" pitchFamily="18" charset="0"/>
                          <a:ea typeface="宋体" pitchFamily="2" charset="-122"/>
                        </a:rPr>
                        <a:t> </a:t>
                      </a:r>
                      <a:r>
                        <a:rPr kumimoji="0" lang="en-US" altLang="zh-CN" sz="2800" b="1" i="0" u="none" strike="noStrike" cap="none" normalizeH="0" baseline="0">
                          <a:ln>
                            <a:noFill/>
                          </a:ln>
                          <a:solidFill>
                            <a:schemeClr val="tx1"/>
                          </a:solidFill>
                          <a:effectLst/>
                          <a:latin typeface="Times New Roman" pitchFamily="18" charset="0"/>
                          <a:ea typeface="宋体" pitchFamily="2" charset="-122"/>
                          <a:sym typeface="Symbol" pitchFamily="18" charset="2"/>
                        </a:rPr>
                        <a:t> </a:t>
                      </a:r>
                      <a:r>
                        <a:rPr kumimoji="0" lang="en-US" altLang="zh-CN" sz="2800" b="1" i="1" u="none" strike="noStrike" cap="none" normalizeH="0" baseline="0">
                          <a:ln>
                            <a:noFill/>
                          </a:ln>
                          <a:solidFill>
                            <a:schemeClr val="tx1"/>
                          </a:solidFill>
                          <a:effectLst/>
                          <a:latin typeface="Times New Roman" pitchFamily="18" charset="0"/>
                          <a:ea typeface="宋体" pitchFamily="2" charset="-122"/>
                          <a:sym typeface="Symbol" pitchFamily="18" charset="2"/>
                        </a:rPr>
                        <a:t>q</a:t>
                      </a:r>
                    </a:p>
                  </a:txBody>
                  <a:tcPr marT="45726" marB="4572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1" i="0" u="none" strike="noStrike" cap="none" normalizeH="0" baseline="0">
                          <a:ln>
                            <a:noFill/>
                          </a:ln>
                          <a:solidFill>
                            <a:schemeClr val="tx1"/>
                          </a:solidFill>
                          <a:effectLst/>
                          <a:latin typeface="Times New Roman" pitchFamily="18" charset="0"/>
                          <a:ea typeface="宋体" pitchFamily="2" charset="-122"/>
                        </a:rPr>
                        <a:t>(</a:t>
                      </a:r>
                      <a:r>
                        <a:rPr kumimoji="0" lang="en-US" altLang="zh-CN" sz="2800" b="1" i="1" u="none" strike="noStrike" cap="none" normalizeH="0" baseline="0">
                          <a:ln>
                            <a:noFill/>
                          </a:ln>
                          <a:solidFill>
                            <a:schemeClr val="tx1"/>
                          </a:solidFill>
                          <a:effectLst/>
                          <a:latin typeface="Times New Roman" pitchFamily="18" charset="0"/>
                          <a:ea typeface="宋体" pitchFamily="2" charset="-122"/>
                        </a:rPr>
                        <a:t>p</a:t>
                      </a:r>
                      <a:r>
                        <a:rPr kumimoji="0" lang="en-US" altLang="zh-CN" sz="2800" b="1" i="0" u="none" strike="noStrike" cap="none" normalizeH="0" baseline="0">
                          <a:ln>
                            <a:noFill/>
                          </a:ln>
                          <a:solidFill>
                            <a:schemeClr val="tx1"/>
                          </a:solidFill>
                          <a:effectLst/>
                          <a:latin typeface="Times New Roman" pitchFamily="18" charset="0"/>
                          <a:ea typeface="宋体" pitchFamily="2" charset="-122"/>
                        </a:rPr>
                        <a:t> </a:t>
                      </a:r>
                      <a:r>
                        <a:rPr kumimoji="0" lang="en-US" altLang="zh-CN" sz="2800" b="1" i="0" u="none" strike="noStrike" cap="none" normalizeH="0" baseline="0">
                          <a:ln>
                            <a:noFill/>
                          </a:ln>
                          <a:solidFill>
                            <a:schemeClr val="tx1"/>
                          </a:solidFill>
                          <a:effectLst/>
                          <a:latin typeface="Times New Roman" pitchFamily="18" charset="0"/>
                          <a:ea typeface="宋体" pitchFamily="2" charset="-122"/>
                          <a:sym typeface="Symbol" pitchFamily="18" charset="2"/>
                        </a:rPr>
                        <a:t> </a:t>
                      </a:r>
                      <a:r>
                        <a:rPr kumimoji="0" lang="en-US" altLang="zh-CN" sz="2800" b="1" i="1" u="none" strike="noStrike" cap="none" normalizeH="0" baseline="0">
                          <a:ln>
                            <a:noFill/>
                          </a:ln>
                          <a:solidFill>
                            <a:schemeClr val="tx1"/>
                          </a:solidFill>
                          <a:effectLst/>
                          <a:latin typeface="Times New Roman" pitchFamily="18" charset="0"/>
                          <a:ea typeface="宋体" pitchFamily="2" charset="-122"/>
                          <a:sym typeface="Symbol" pitchFamily="18" charset="2"/>
                        </a:rPr>
                        <a:t>q</a:t>
                      </a:r>
                      <a:r>
                        <a:rPr kumimoji="0" lang="en-US" altLang="zh-CN" sz="2800" b="1" i="0" u="none" strike="noStrike" cap="none" normalizeH="0" baseline="0">
                          <a:ln>
                            <a:noFill/>
                          </a:ln>
                          <a:solidFill>
                            <a:schemeClr val="tx1"/>
                          </a:solidFill>
                          <a:effectLst/>
                          <a:latin typeface="Times New Roman" pitchFamily="18" charset="0"/>
                          <a:ea typeface="宋体" pitchFamily="2" charset="-122"/>
                        </a:rPr>
                        <a:t>) </a:t>
                      </a:r>
                      <a:r>
                        <a:rPr kumimoji="0" lang="en-US" altLang="zh-CN" sz="2800" b="1" i="0" u="none" strike="noStrike" cap="none" normalizeH="0" baseline="0">
                          <a:ln>
                            <a:noFill/>
                          </a:ln>
                          <a:solidFill>
                            <a:schemeClr val="tx1"/>
                          </a:solidFill>
                          <a:effectLst/>
                          <a:latin typeface="Times New Roman" pitchFamily="18" charset="0"/>
                          <a:ea typeface="宋体" pitchFamily="2" charset="-122"/>
                          <a:sym typeface="Symbol" pitchFamily="18" charset="2"/>
                        </a:rPr>
                        <a:t> </a:t>
                      </a:r>
                      <a:r>
                        <a:rPr kumimoji="0" lang="en-US" altLang="zh-CN" sz="2800" b="1" i="1" u="none" strike="noStrike" cap="none" normalizeH="0" baseline="0">
                          <a:ln>
                            <a:noFill/>
                          </a:ln>
                          <a:solidFill>
                            <a:schemeClr val="tx1"/>
                          </a:solidFill>
                          <a:effectLst/>
                          <a:latin typeface="Times New Roman" pitchFamily="18" charset="0"/>
                          <a:ea typeface="宋体" pitchFamily="2" charset="-122"/>
                          <a:sym typeface="Symbol" pitchFamily="18" charset="2"/>
                        </a:rPr>
                        <a:t>r</a:t>
                      </a:r>
                    </a:p>
                  </a:txBody>
                  <a:tcPr marT="45726" marB="45726"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18231">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1" i="0" u="none" strike="noStrike" cap="none" normalizeH="0" baseline="0">
                          <a:ln>
                            <a:noFill/>
                          </a:ln>
                          <a:solidFill>
                            <a:schemeClr val="tx1"/>
                          </a:solidFill>
                          <a:effectLst/>
                          <a:latin typeface="Times New Roman" pitchFamily="18" charset="0"/>
                          <a:ea typeface="宋体" pitchFamily="2" charset="-122"/>
                        </a:rPr>
                        <a:t>1</a:t>
                      </a:r>
                    </a:p>
                  </a:txBody>
                  <a:tcPr marT="45726" marB="45726"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1" i="0" u="none" strike="noStrike" cap="none" normalizeH="0" baseline="0">
                          <a:ln>
                            <a:noFill/>
                          </a:ln>
                          <a:solidFill>
                            <a:schemeClr val="tx1"/>
                          </a:solidFill>
                          <a:effectLst/>
                          <a:latin typeface="Times New Roman" pitchFamily="18" charset="0"/>
                          <a:ea typeface="宋体" pitchFamily="2" charset="-122"/>
                        </a:rPr>
                        <a:t>1</a:t>
                      </a:r>
                    </a:p>
                  </a:txBody>
                  <a:tcPr marT="45726" marB="4572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1" i="0" u="none" strike="noStrike" cap="none" normalizeH="0" baseline="0">
                          <a:ln>
                            <a:noFill/>
                          </a:ln>
                          <a:solidFill>
                            <a:schemeClr val="tx1"/>
                          </a:solidFill>
                          <a:effectLst/>
                          <a:latin typeface="Times New Roman" pitchFamily="18" charset="0"/>
                          <a:ea typeface="宋体" pitchFamily="2" charset="-122"/>
                        </a:rPr>
                        <a:t>1</a:t>
                      </a:r>
                    </a:p>
                  </a:txBody>
                  <a:tcPr marT="45726" marB="4572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1" i="0" u="none" strike="noStrike" cap="none" normalizeH="0" baseline="0">
                          <a:ln>
                            <a:noFill/>
                          </a:ln>
                          <a:solidFill>
                            <a:schemeClr val="tx1"/>
                          </a:solidFill>
                          <a:effectLst/>
                          <a:latin typeface="Times New Roman" pitchFamily="18" charset="0"/>
                          <a:ea typeface="宋体" pitchFamily="2" charset="-122"/>
                        </a:rPr>
                        <a:t>1</a:t>
                      </a:r>
                    </a:p>
                  </a:txBody>
                  <a:tcPr marT="45726" marB="4572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1" i="0" u="none" strike="noStrike" cap="none" normalizeH="0" baseline="0">
                          <a:ln>
                            <a:noFill/>
                          </a:ln>
                          <a:solidFill>
                            <a:schemeClr val="tx1"/>
                          </a:solidFill>
                          <a:effectLst/>
                          <a:latin typeface="Times New Roman" pitchFamily="18" charset="0"/>
                          <a:ea typeface="宋体" pitchFamily="2" charset="-122"/>
                        </a:rPr>
                        <a:t>1</a:t>
                      </a:r>
                    </a:p>
                  </a:txBody>
                  <a:tcPr marT="45726" marB="45726"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18231">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1" i="0" u="none" strike="noStrike" cap="none" normalizeH="0" baseline="0">
                          <a:ln>
                            <a:noFill/>
                          </a:ln>
                          <a:solidFill>
                            <a:schemeClr val="tx1"/>
                          </a:solidFill>
                          <a:effectLst/>
                          <a:latin typeface="Times New Roman" pitchFamily="18" charset="0"/>
                          <a:ea typeface="宋体" pitchFamily="2" charset="-122"/>
                        </a:rPr>
                        <a:t>1</a:t>
                      </a:r>
                    </a:p>
                  </a:txBody>
                  <a:tcPr marT="45726" marB="45726"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1" i="0" u="none" strike="noStrike" cap="none" normalizeH="0" baseline="0">
                          <a:ln>
                            <a:noFill/>
                          </a:ln>
                          <a:solidFill>
                            <a:schemeClr val="tx1"/>
                          </a:solidFill>
                          <a:effectLst/>
                          <a:latin typeface="Times New Roman" pitchFamily="18" charset="0"/>
                          <a:ea typeface="宋体" pitchFamily="2" charset="-122"/>
                        </a:rPr>
                        <a:t>1</a:t>
                      </a:r>
                    </a:p>
                  </a:txBody>
                  <a:tcPr marT="45726" marB="4572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1" i="0" u="none" strike="noStrike" cap="none" normalizeH="0" baseline="0">
                          <a:ln>
                            <a:noFill/>
                          </a:ln>
                          <a:solidFill>
                            <a:schemeClr val="tx1"/>
                          </a:solidFill>
                          <a:effectLst/>
                          <a:latin typeface="Times New Roman" pitchFamily="18" charset="0"/>
                          <a:ea typeface="宋体" pitchFamily="2" charset="-122"/>
                        </a:rPr>
                        <a:t>0</a:t>
                      </a:r>
                    </a:p>
                  </a:txBody>
                  <a:tcPr marT="45726" marB="4572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1" i="0" u="none" strike="noStrike" cap="none" normalizeH="0" baseline="0">
                          <a:ln>
                            <a:noFill/>
                          </a:ln>
                          <a:solidFill>
                            <a:schemeClr val="tx1"/>
                          </a:solidFill>
                          <a:effectLst/>
                          <a:latin typeface="Times New Roman" pitchFamily="18" charset="0"/>
                          <a:ea typeface="宋体" pitchFamily="2" charset="-122"/>
                        </a:rPr>
                        <a:t>1</a:t>
                      </a:r>
                    </a:p>
                  </a:txBody>
                  <a:tcPr marT="45726" marB="4572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1" i="0" u="none" strike="noStrike" cap="none" normalizeH="0" baseline="0">
                          <a:ln>
                            <a:noFill/>
                          </a:ln>
                          <a:solidFill>
                            <a:schemeClr val="tx1"/>
                          </a:solidFill>
                          <a:effectLst/>
                          <a:latin typeface="Times New Roman" pitchFamily="18" charset="0"/>
                          <a:ea typeface="宋体" pitchFamily="2" charset="-122"/>
                        </a:rPr>
                        <a:t>0</a:t>
                      </a:r>
                    </a:p>
                  </a:txBody>
                  <a:tcPr marT="45726" marB="45726"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518231">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1" i="0" u="none" strike="noStrike" cap="none" normalizeH="0" baseline="0">
                          <a:ln>
                            <a:noFill/>
                          </a:ln>
                          <a:solidFill>
                            <a:schemeClr val="tx1"/>
                          </a:solidFill>
                          <a:effectLst/>
                          <a:latin typeface="Times New Roman" pitchFamily="18" charset="0"/>
                          <a:ea typeface="宋体" pitchFamily="2" charset="-122"/>
                        </a:rPr>
                        <a:t>1</a:t>
                      </a:r>
                    </a:p>
                  </a:txBody>
                  <a:tcPr marT="45726" marB="45726"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1" i="0" u="none" strike="noStrike" cap="none" normalizeH="0" baseline="0">
                          <a:ln>
                            <a:noFill/>
                          </a:ln>
                          <a:solidFill>
                            <a:schemeClr val="tx1"/>
                          </a:solidFill>
                          <a:effectLst/>
                          <a:latin typeface="Times New Roman" pitchFamily="18" charset="0"/>
                          <a:ea typeface="宋体" pitchFamily="2" charset="-122"/>
                        </a:rPr>
                        <a:t>0</a:t>
                      </a:r>
                    </a:p>
                  </a:txBody>
                  <a:tcPr marT="45726" marB="4572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1" i="0" u="none" strike="noStrike" cap="none" normalizeH="0" baseline="0">
                          <a:ln>
                            <a:noFill/>
                          </a:ln>
                          <a:solidFill>
                            <a:schemeClr val="tx1"/>
                          </a:solidFill>
                          <a:effectLst/>
                          <a:latin typeface="Times New Roman" pitchFamily="18" charset="0"/>
                          <a:ea typeface="宋体" pitchFamily="2" charset="-122"/>
                        </a:rPr>
                        <a:t>1</a:t>
                      </a:r>
                    </a:p>
                  </a:txBody>
                  <a:tcPr marT="45726" marB="4572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1" i="0" u="none" strike="noStrike" cap="none" normalizeH="0" baseline="0">
                          <a:ln>
                            <a:noFill/>
                          </a:ln>
                          <a:solidFill>
                            <a:schemeClr val="tx1"/>
                          </a:solidFill>
                          <a:effectLst/>
                          <a:latin typeface="Times New Roman" pitchFamily="18" charset="0"/>
                          <a:ea typeface="宋体" pitchFamily="2" charset="-122"/>
                        </a:rPr>
                        <a:t>1</a:t>
                      </a:r>
                    </a:p>
                  </a:txBody>
                  <a:tcPr marT="45726" marB="4572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1" i="0" u="none" strike="noStrike" cap="none" normalizeH="0" baseline="0">
                          <a:ln>
                            <a:noFill/>
                          </a:ln>
                          <a:solidFill>
                            <a:schemeClr val="tx1"/>
                          </a:solidFill>
                          <a:effectLst/>
                          <a:latin typeface="Times New Roman" pitchFamily="18" charset="0"/>
                          <a:ea typeface="宋体" pitchFamily="2" charset="-122"/>
                        </a:rPr>
                        <a:t>1</a:t>
                      </a:r>
                    </a:p>
                  </a:txBody>
                  <a:tcPr marT="45726" marB="45726"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518231">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1" i="0" u="none" strike="noStrike" cap="none" normalizeH="0" baseline="0">
                          <a:ln>
                            <a:noFill/>
                          </a:ln>
                          <a:solidFill>
                            <a:schemeClr val="tx1"/>
                          </a:solidFill>
                          <a:effectLst/>
                          <a:latin typeface="Times New Roman" pitchFamily="18" charset="0"/>
                          <a:ea typeface="宋体" pitchFamily="2" charset="-122"/>
                        </a:rPr>
                        <a:t>1</a:t>
                      </a:r>
                    </a:p>
                  </a:txBody>
                  <a:tcPr marT="45726" marB="45726"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1" i="0" u="none" strike="noStrike" cap="none" normalizeH="0" baseline="0">
                          <a:ln>
                            <a:noFill/>
                          </a:ln>
                          <a:solidFill>
                            <a:schemeClr val="tx1"/>
                          </a:solidFill>
                          <a:effectLst/>
                          <a:latin typeface="Times New Roman" pitchFamily="18" charset="0"/>
                          <a:ea typeface="宋体" pitchFamily="2" charset="-122"/>
                        </a:rPr>
                        <a:t>0</a:t>
                      </a:r>
                    </a:p>
                  </a:txBody>
                  <a:tcPr marT="45726" marB="4572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1" i="0" u="none" strike="noStrike" cap="none" normalizeH="0" baseline="0">
                          <a:ln>
                            <a:noFill/>
                          </a:ln>
                          <a:solidFill>
                            <a:schemeClr val="tx1"/>
                          </a:solidFill>
                          <a:effectLst/>
                          <a:latin typeface="Times New Roman" pitchFamily="18" charset="0"/>
                          <a:ea typeface="宋体" pitchFamily="2" charset="-122"/>
                        </a:rPr>
                        <a:t>0</a:t>
                      </a:r>
                    </a:p>
                  </a:txBody>
                  <a:tcPr marT="45726" marB="4572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1" i="0" u="none" strike="noStrike" cap="none" normalizeH="0" baseline="0">
                          <a:ln>
                            <a:noFill/>
                          </a:ln>
                          <a:solidFill>
                            <a:schemeClr val="tx1"/>
                          </a:solidFill>
                          <a:effectLst/>
                          <a:latin typeface="Times New Roman" pitchFamily="18" charset="0"/>
                          <a:ea typeface="宋体" pitchFamily="2" charset="-122"/>
                        </a:rPr>
                        <a:t>1</a:t>
                      </a:r>
                    </a:p>
                  </a:txBody>
                  <a:tcPr marT="45726" marB="4572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1" i="0" u="none" strike="noStrike" cap="none" normalizeH="0" baseline="0">
                          <a:ln>
                            <a:noFill/>
                          </a:ln>
                          <a:solidFill>
                            <a:schemeClr val="tx1"/>
                          </a:solidFill>
                          <a:effectLst/>
                          <a:latin typeface="Times New Roman" pitchFamily="18" charset="0"/>
                          <a:ea typeface="宋体" pitchFamily="2" charset="-122"/>
                        </a:rPr>
                        <a:t>0</a:t>
                      </a:r>
                    </a:p>
                  </a:txBody>
                  <a:tcPr marT="45726" marB="45726"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518231">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1" i="0" u="none" strike="noStrike" cap="none" normalizeH="0" baseline="0">
                          <a:ln>
                            <a:noFill/>
                          </a:ln>
                          <a:solidFill>
                            <a:schemeClr val="tx1"/>
                          </a:solidFill>
                          <a:effectLst/>
                          <a:latin typeface="Times New Roman" pitchFamily="18" charset="0"/>
                          <a:ea typeface="宋体" pitchFamily="2" charset="-122"/>
                        </a:rPr>
                        <a:t>0</a:t>
                      </a:r>
                    </a:p>
                  </a:txBody>
                  <a:tcPr marT="45726" marB="45726"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1" i="0" u="none" strike="noStrike" cap="none" normalizeH="0" baseline="0">
                          <a:ln>
                            <a:noFill/>
                          </a:ln>
                          <a:solidFill>
                            <a:schemeClr val="tx1"/>
                          </a:solidFill>
                          <a:effectLst/>
                          <a:latin typeface="Times New Roman" pitchFamily="18" charset="0"/>
                          <a:ea typeface="宋体" pitchFamily="2" charset="-122"/>
                        </a:rPr>
                        <a:t>1</a:t>
                      </a:r>
                    </a:p>
                  </a:txBody>
                  <a:tcPr marT="45726" marB="4572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1" i="0" u="none" strike="noStrike" cap="none" normalizeH="0" baseline="0">
                          <a:ln>
                            <a:noFill/>
                          </a:ln>
                          <a:solidFill>
                            <a:schemeClr val="tx1"/>
                          </a:solidFill>
                          <a:effectLst/>
                          <a:latin typeface="Times New Roman" pitchFamily="18" charset="0"/>
                          <a:ea typeface="宋体" pitchFamily="2" charset="-122"/>
                        </a:rPr>
                        <a:t>1</a:t>
                      </a:r>
                    </a:p>
                  </a:txBody>
                  <a:tcPr marT="45726" marB="4572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1" i="0" u="none" strike="noStrike" cap="none" normalizeH="0" baseline="0">
                          <a:ln>
                            <a:noFill/>
                          </a:ln>
                          <a:solidFill>
                            <a:schemeClr val="tx1"/>
                          </a:solidFill>
                          <a:effectLst/>
                          <a:latin typeface="Times New Roman" pitchFamily="18" charset="0"/>
                          <a:ea typeface="宋体" pitchFamily="2" charset="-122"/>
                        </a:rPr>
                        <a:t>1</a:t>
                      </a:r>
                    </a:p>
                  </a:txBody>
                  <a:tcPr marT="45726" marB="4572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1" i="0" u="none" strike="noStrike" cap="none" normalizeH="0" baseline="0">
                          <a:ln>
                            <a:noFill/>
                          </a:ln>
                          <a:solidFill>
                            <a:schemeClr val="tx1"/>
                          </a:solidFill>
                          <a:effectLst/>
                          <a:latin typeface="Times New Roman" pitchFamily="18" charset="0"/>
                          <a:ea typeface="宋体" pitchFamily="2" charset="-122"/>
                        </a:rPr>
                        <a:t>1</a:t>
                      </a:r>
                    </a:p>
                  </a:txBody>
                  <a:tcPr marT="45726" marB="45726"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518231">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1" i="0" u="none" strike="noStrike" cap="none" normalizeH="0" baseline="0">
                          <a:ln>
                            <a:noFill/>
                          </a:ln>
                          <a:solidFill>
                            <a:schemeClr val="tx1"/>
                          </a:solidFill>
                          <a:effectLst/>
                          <a:latin typeface="Times New Roman" pitchFamily="18" charset="0"/>
                          <a:ea typeface="宋体" pitchFamily="2" charset="-122"/>
                        </a:rPr>
                        <a:t>0</a:t>
                      </a:r>
                    </a:p>
                  </a:txBody>
                  <a:tcPr marT="45726" marB="45726"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1" i="0" u="none" strike="noStrike" cap="none" normalizeH="0" baseline="0">
                          <a:ln>
                            <a:noFill/>
                          </a:ln>
                          <a:solidFill>
                            <a:schemeClr val="tx1"/>
                          </a:solidFill>
                          <a:effectLst/>
                          <a:latin typeface="Times New Roman" pitchFamily="18" charset="0"/>
                          <a:ea typeface="宋体" pitchFamily="2" charset="-122"/>
                        </a:rPr>
                        <a:t>1</a:t>
                      </a:r>
                    </a:p>
                  </a:txBody>
                  <a:tcPr marT="45726" marB="4572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1" i="0" u="none" strike="noStrike" cap="none" normalizeH="0" baseline="0">
                          <a:ln>
                            <a:noFill/>
                          </a:ln>
                          <a:solidFill>
                            <a:schemeClr val="tx1"/>
                          </a:solidFill>
                          <a:effectLst/>
                          <a:latin typeface="Times New Roman" pitchFamily="18" charset="0"/>
                          <a:ea typeface="宋体" pitchFamily="2" charset="-122"/>
                        </a:rPr>
                        <a:t>0</a:t>
                      </a:r>
                    </a:p>
                  </a:txBody>
                  <a:tcPr marT="45726" marB="4572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1" i="0" u="none" strike="noStrike" cap="none" normalizeH="0" baseline="0">
                          <a:ln>
                            <a:noFill/>
                          </a:ln>
                          <a:solidFill>
                            <a:schemeClr val="tx1"/>
                          </a:solidFill>
                          <a:effectLst/>
                          <a:latin typeface="Times New Roman" pitchFamily="18" charset="0"/>
                          <a:ea typeface="宋体" pitchFamily="2" charset="-122"/>
                        </a:rPr>
                        <a:t>1</a:t>
                      </a:r>
                    </a:p>
                  </a:txBody>
                  <a:tcPr marT="45726" marB="4572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1" i="0" u="none" strike="noStrike" cap="none" normalizeH="0" baseline="0">
                          <a:ln>
                            <a:noFill/>
                          </a:ln>
                          <a:solidFill>
                            <a:schemeClr val="tx1"/>
                          </a:solidFill>
                          <a:effectLst/>
                          <a:latin typeface="Times New Roman" pitchFamily="18" charset="0"/>
                          <a:ea typeface="宋体" pitchFamily="2" charset="-122"/>
                        </a:rPr>
                        <a:t>0</a:t>
                      </a:r>
                    </a:p>
                  </a:txBody>
                  <a:tcPr marT="45726" marB="45726"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518231">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1" i="0" u="none" strike="noStrike" cap="none" normalizeH="0" baseline="0">
                          <a:ln>
                            <a:noFill/>
                          </a:ln>
                          <a:solidFill>
                            <a:schemeClr val="tx1"/>
                          </a:solidFill>
                          <a:effectLst/>
                          <a:latin typeface="Times New Roman" pitchFamily="18" charset="0"/>
                          <a:ea typeface="宋体" pitchFamily="2" charset="-122"/>
                        </a:rPr>
                        <a:t>0</a:t>
                      </a:r>
                    </a:p>
                  </a:txBody>
                  <a:tcPr marT="45726" marB="45726"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1" i="0" u="none" strike="noStrike" cap="none" normalizeH="0" baseline="0">
                          <a:ln>
                            <a:noFill/>
                          </a:ln>
                          <a:solidFill>
                            <a:schemeClr val="tx1"/>
                          </a:solidFill>
                          <a:effectLst/>
                          <a:latin typeface="Times New Roman" pitchFamily="18" charset="0"/>
                          <a:ea typeface="宋体" pitchFamily="2" charset="-122"/>
                        </a:rPr>
                        <a:t>0</a:t>
                      </a:r>
                    </a:p>
                  </a:txBody>
                  <a:tcPr marT="45726" marB="4572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1" i="0" u="none" strike="noStrike" cap="none" normalizeH="0" baseline="0">
                          <a:ln>
                            <a:noFill/>
                          </a:ln>
                          <a:solidFill>
                            <a:schemeClr val="tx1"/>
                          </a:solidFill>
                          <a:effectLst/>
                          <a:latin typeface="Times New Roman" pitchFamily="18" charset="0"/>
                          <a:ea typeface="宋体" pitchFamily="2" charset="-122"/>
                        </a:rPr>
                        <a:t>1</a:t>
                      </a:r>
                    </a:p>
                  </a:txBody>
                  <a:tcPr marT="45726" marB="4572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1" i="0" u="none" strike="noStrike" cap="none" normalizeH="0" baseline="0">
                          <a:ln>
                            <a:noFill/>
                          </a:ln>
                          <a:solidFill>
                            <a:schemeClr val="tx1"/>
                          </a:solidFill>
                          <a:effectLst/>
                          <a:latin typeface="Times New Roman" pitchFamily="18" charset="0"/>
                          <a:ea typeface="宋体" pitchFamily="2" charset="-122"/>
                        </a:rPr>
                        <a:t>0</a:t>
                      </a:r>
                    </a:p>
                  </a:txBody>
                  <a:tcPr marT="45726" marB="4572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1" i="0" u="none" strike="noStrike" cap="none" normalizeH="0" baseline="0">
                          <a:ln>
                            <a:noFill/>
                          </a:ln>
                          <a:solidFill>
                            <a:schemeClr val="tx1"/>
                          </a:solidFill>
                          <a:effectLst/>
                          <a:latin typeface="Times New Roman" pitchFamily="18" charset="0"/>
                          <a:ea typeface="宋体" pitchFamily="2" charset="-122"/>
                        </a:rPr>
                        <a:t>1</a:t>
                      </a:r>
                    </a:p>
                  </a:txBody>
                  <a:tcPr marT="45726" marB="45726"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518231">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1" i="0" u="none" strike="noStrike" cap="none" normalizeH="0" baseline="0">
                          <a:ln>
                            <a:noFill/>
                          </a:ln>
                          <a:solidFill>
                            <a:schemeClr val="tx1"/>
                          </a:solidFill>
                          <a:effectLst/>
                          <a:latin typeface="Times New Roman" pitchFamily="18" charset="0"/>
                          <a:ea typeface="宋体" pitchFamily="2" charset="-122"/>
                        </a:rPr>
                        <a:t>0</a:t>
                      </a:r>
                    </a:p>
                  </a:txBody>
                  <a:tcPr marT="45726" marB="45726"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1" i="0" u="none" strike="noStrike" cap="none" normalizeH="0" baseline="0">
                          <a:ln>
                            <a:noFill/>
                          </a:ln>
                          <a:solidFill>
                            <a:schemeClr val="tx1"/>
                          </a:solidFill>
                          <a:effectLst/>
                          <a:latin typeface="Times New Roman" pitchFamily="18" charset="0"/>
                          <a:ea typeface="宋体" pitchFamily="2" charset="-122"/>
                        </a:rPr>
                        <a:t>0</a:t>
                      </a:r>
                    </a:p>
                  </a:txBody>
                  <a:tcPr marT="45726" marB="4572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1" i="0" u="none" strike="noStrike" cap="none" normalizeH="0" baseline="0">
                          <a:ln>
                            <a:noFill/>
                          </a:ln>
                          <a:solidFill>
                            <a:schemeClr val="tx1"/>
                          </a:solidFill>
                          <a:effectLst/>
                          <a:latin typeface="Times New Roman" pitchFamily="18" charset="0"/>
                          <a:ea typeface="宋体" pitchFamily="2" charset="-122"/>
                        </a:rPr>
                        <a:t>0</a:t>
                      </a:r>
                    </a:p>
                  </a:txBody>
                  <a:tcPr marT="45726" marB="4572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1" i="0" u="none" strike="noStrike" cap="none" normalizeH="0" baseline="0">
                          <a:ln>
                            <a:noFill/>
                          </a:ln>
                          <a:solidFill>
                            <a:schemeClr val="tx1"/>
                          </a:solidFill>
                          <a:effectLst/>
                          <a:latin typeface="Times New Roman" pitchFamily="18" charset="0"/>
                          <a:ea typeface="宋体" pitchFamily="2" charset="-122"/>
                        </a:rPr>
                        <a:t>0</a:t>
                      </a:r>
                    </a:p>
                  </a:txBody>
                  <a:tcPr marT="45726" marB="4572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1" i="0" u="none" strike="noStrike" cap="none" normalizeH="0" baseline="0">
                          <a:ln>
                            <a:noFill/>
                          </a:ln>
                          <a:solidFill>
                            <a:schemeClr val="tx1"/>
                          </a:solidFill>
                          <a:effectLst/>
                          <a:latin typeface="Times New Roman" pitchFamily="18" charset="0"/>
                          <a:ea typeface="宋体" pitchFamily="2" charset="-122"/>
                        </a:rPr>
                        <a:t>1</a:t>
                      </a:r>
                    </a:p>
                  </a:txBody>
                  <a:tcPr marT="45726" marB="45726"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bl>
          </a:graphicData>
        </a:graphic>
      </p:graphicFrame>
      <p:cxnSp>
        <p:nvCxnSpPr>
          <p:cNvPr id="3" name="直线箭头连接符 2">
            <a:extLst>
              <a:ext uri="{FF2B5EF4-FFF2-40B4-BE49-F238E27FC236}">
                <a16:creationId xmlns:a16="http://schemas.microsoft.com/office/drawing/2014/main" id="{936EFD58-34D4-6C43-8BA1-E66962437809}"/>
              </a:ext>
            </a:extLst>
          </p:cNvPr>
          <p:cNvCxnSpPr>
            <a:cxnSpLocks/>
          </p:cNvCxnSpPr>
          <p:nvPr/>
        </p:nvCxnSpPr>
        <p:spPr>
          <a:xfrm flipH="1">
            <a:off x="7884368" y="2780928"/>
            <a:ext cx="360312" cy="0"/>
          </a:xfrm>
          <a:prstGeom prst="straightConnector1">
            <a:avLst/>
          </a:prstGeom>
          <a:ln w="1905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7" name="直线箭头连接符 6">
            <a:extLst>
              <a:ext uri="{FF2B5EF4-FFF2-40B4-BE49-F238E27FC236}">
                <a16:creationId xmlns:a16="http://schemas.microsoft.com/office/drawing/2014/main" id="{51FE4C30-1BB0-4143-A2ED-C16E8E5F3927}"/>
              </a:ext>
            </a:extLst>
          </p:cNvPr>
          <p:cNvCxnSpPr>
            <a:cxnSpLocks/>
          </p:cNvCxnSpPr>
          <p:nvPr/>
        </p:nvCxnSpPr>
        <p:spPr>
          <a:xfrm flipH="1">
            <a:off x="7884368" y="3789040"/>
            <a:ext cx="360312" cy="0"/>
          </a:xfrm>
          <a:prstGeom prst="straightConnector1">
            <a:avLst/>
          </a:prstGeom>
          <a:ln w="1905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8" name="直线箭头连接符 7">
            <a:extLst>
              <a:ext uri="{FF2B5EF4-FFF2-40B4-BE49-F238E27FC236}">
                <a16:creationId xmlns:a16="http://schemas.microsoft.com/office/drawing/2014/main" id="{B8F2BC38-37F7-4246-9EC4-EA5C62BC0535}"/>
              </a:ext>
            </a:extLst>
          </p:cNvPr>
          <p:cNvCxnSpPr>
            <a:cxnSpLocks/>
          </p:cNvCxnSpPr>
          <p:nvPr/>
        </p:nvCxnSpPr>
        <p:spPr>
          <a:xfrm flipH="1">
            <a:off x="7884368" y="4869160"/>
            <a:ext cx="360312" cy="0"/>
          </a:xfrm>
          <a:prstGeom prst="straightConnector1">
            <a:avLst/>
          </a:prstGeom>
          <a:ln w="1905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5" name="圆角矩形 4">
            <a:extLst>
              <a:ext uri="{FF2B5EF4-FFF2-40B4-BE49-F238E27FC236}">
                <a16:creationId xmlns:a16="http://schemas.microsoft.com/office/drawing/2014/main" id="{8AEB0FBD-2013-EE47-9628-79C7A2BF718C}"/>
              </a:ext>
            </a:extLst>
          </p:cNvPr>
          <p:cNvSpPr/>
          <p:nvPr/>
        </p:nvSpPr>
        <p:spPr>
          <a:xfrm>
            <a:off x="1403648" y="2564904"/>
            <a:ext cx="2232248" cy="432048"/>
          </a:xfrm>
          <a:prstGeom prst="roundRect">
            <a:avLst/>
          </a:prstGeom>
          <a:noFill/>
          <a:ln w="19050">
            <a:solidFill>
              <a:srgbClr val="C0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0" name="圆角矩形 9">
            <a:extLst>
              <a:ext uri="{FF2B5EF4-FFF2-40B4-BE49-F238E27FC236}">
                <a16:creationId xmlns:a16="http://schemas.microsoft.com/office/drawing/2014/main" id="{B2A2BE4D-4942-9344-A81A-379693054422}"/>
              </a:ext>
            </a:extLst>
          </p:cNvPr>
          <p:cNvSpPr/>
          <p:nvPr/>
        </p:nvSpPr>
        <p:spPr>
          <a:xfrm>
            <a:off x="1403648" y="3573016"/>
            <a:ext cx="2232248" cy="432048"/>
          </a:xfrm>
          <a:prstGeom prst="roundRect">
            <a:avLst/>
          </a:prstGeom>
          <a:noFill/>
          <a:ln w="19050">
            <a:solidFill>
              <a:srgbClr val="C0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1" name="圆角矩形 10">
            <a:extLst>
              <a:ext uri="{FF2B5EF4-FFF2-40B4-BE49-F238E27FC236}">
                <a16:creationId xmlns:a16="http://schemas.microsoft.com/office/drawing/2014/main" id="{29EAE2A3-9CA0-F548-ACF7-548FC8C2CEA3}"/>
              </a:ext>
            </a:extLst>
          </p:cNvPr>
          <p:cNvSpPr/>
          <p:nvPr/>
        </p:nvSpPr>
        <p:spPr>
          <a:xfrm>
            <a:off x="1403648" y="4653136"/>
            <a:ext cx="2232248" cy="432048"/>
          </a:xfrm>
          <a:prstGeom prst="roundRect">
            <a:avLst/>
          </a:prstGeom>
          <a:noFill/>
          <a:ln w="19050">
            <a:solidFill>
              <a:srgbClr val="C0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5"/>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10" grpId="0" animBg="1"/>
      <p:bldP spid="11" grpId="0" animBg="1"/>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8914" name="Rectangle 2"/>
              <p:cNvSpPr>
                <a:spLocks noGrp="1" noChangeArrowheads="1"/>
              </p:cNvSpPr>
              <p:nvPr>
                <p:ph/>
              </p:nvPr>
            </p:nvSpPr>
            <p:spPr/>
            <p:txBody>
              <a:bodyPr/>
              <a:lstStyle/>
              <a:p>
                <a:pPr>
                  <a:lnSpc>
                    <a:spcPct val="120000"/>
                  </a:lnSpc>
                </a:pPr>
                <a14:m>
                  <m:oMath xmlns:m="http://schemas.openxmlformats.org/officeDocument/2006/math">
                    <m:d>
                      <m:dPr>
                        <m:ctrlPr>
                          <a:rPr lang="en-US" altLang="zh-CN" b="1" i="1" smtClean="0">
                            <a:latin typeface="Cambria Math" panose="02040503050406030204" pitchFamily="18" charset="0"/>
                            <a:ea typeface="楷体" panose="02010609060101010101" pitchFamily="49" charset="-122"/>
                            <a:cs typeface="Times New Roman" panose="02020603050405020304" pitchFamily="18" charset="0"/>
                          </a:rPr>
                        </m:ctrlPr>
                      </m:dPr>
                      <m:e>
                        <m:r>
                          <a:rPr lang="en-US" altLang="zh-CN" b="1" i="1">
                            <a:latin typeface="Cambria Math"/>
                            <a:ea typeface="楷体" panose="02010609060101010101" pitchFamily="49" charset="-122"/>
                            <a:cs typeface="Times New Roman" panose="02020603050405020304" pitchFamily="18" charset="0"/>
                          </a:rPr>
                          <m:t>𝒑</m:t>
                        </m:r>
                        <m:r>
                          <a:rPr lang="en-US" altLang="zh-CN" b="1" i="1">
                            <a:latin typeface="Cambria Math"/>
                            <a:ea typeface="楷体" panose="02010609060101010101" pitchFamily="49" charset="-122"/>
                            <a:cs typeface="Times New Roman" panose="02020603050405020304" pitchFamily="18" charset="0"/>
                          </a:rPr>
                          <m:t>,</m:t>
                        </m:r>
                        <m:r>
                          <a:rPr lang="en-US" altLang="zh-CN" b="1" i="1">
                            <a:latin typeface="Cambria Math"/>
                            <a:ea typeface="楷体" panose="02010609060101010101" pitchFamily="49" charset="-122"/>
                            <a:cs typeface="Times New Roman" panose="02020603050405020304" pitchFamily="18" charset="0"/>
                          </a:rPr>
                          <m:t>𝒒</m:t>
                        </m:r>
                        <m:r>
                          <a:rPr lang="en-US" altLang="zh-CN" b="1" i="1">
                            <a:latin typeface="Cambria Math"/>
                            <a:ea typeface="楷体" panose="02010609060101010101" pitchFamily="49" charset="-122"/>
                            <a:cs typeface="Times New Roman" panose="02020603050405020304" pitchFamily="18" charset="0"/>
                          </a:rPr>
                          <m:t>,</m:t>
                        </m:r>
                        <m:r>
                          <a:rPr lang="en-US" altLang="zh-CN" b="1" i="1">
                            <a:latin typeface="Cambria Math"/>
                            <a:ea typeface="楷体" panose="02010609060101010101" pitchFamily="49" charset="-122"/>
                            <a:cs typeface="Times New Roman" panose="02020603050405020304" pitchFamily="18" charset="0"/>
                          </a:rPr>
                          <m:t>𝒓</m:t>
                        </m:r>
                      </m:e>
                    </m:d>
                    <m:r>
                      <a:rPr lang="en-US" altLang="zh-CN" b="1" i="1">
                        <a:latin typeface="Cambria Math"/>
                        <a:ea typeface="楷体" panose="02010609060101010101" pitchFamily="49" charset="-122"/>
                        <a:cs typeface="Times New Roman" panose="02020603050405020304" pitchFamily="18" charset="0"/>
                      </a:rPr>
                      <m:t>=(</m:t>
                    </m:r>
                    <m:r>
                      <a:rPr lang="en-US" altLang="zh-CN" b="1" i="1">
                        <a:latin typeface="Cambria Math"/>
                        <a:ea typeface="楷体" panose="02010609060101010101" pitchFamily="49" charset="-122"/>
                        <a:cs typeface="Times New Roman" panose="02020603050405020304" pitchFamily="18" charset="0"/>
                      </a:rPr>
                      <m:t>𝟏</m:t>
                    </m:r>
                    <m:r>
                      <a:rPr lang="en-US" altLang="zh-CN" b="1" i="1">
                        <a:latin typeface="Cambria Math"/>
                        <a:ea typeface="楷体" panose="02010609060101010101" pitchFamily="49" charset="-122"/>
                        <a:cs typeface="Times New Roman" panose="02020603050405020304" pitchFamily="18" charset="0"/>
                      </a:rPr>
                      <m:t>,</m:t>
                    </m:r>
                    <m:r>
                      <a:rPr lang="en-US" altLang="zh-CN" b="1" i="1">
                        <a:latin typeface="Cambria Math"/>
                        <a:ea typeface="楷体" panose="02010609060101010101" pitchFamily="49" charset="-122"/>
                        <a:cs typeface="Times New Roman" panose="02020603050405020304" pitchFamily="18" charset="0"/>
                      </a:rPr>
                      <m:t>𝟏</m:t>
                    </m:r>
                    <m:r>
                      <a:rPr lang="en-US" altLang="zh-CN" b="1" i="1">
                        <a:latin typeface="Cambria Math"/>
                        <a:ea typeface="楷体" panose="02010609060101010101" pitchFamily="49" charset="-122"/>
                        <a:cs typeface="Times New Roman" panose="02020603050405020304" pitchFamily="18" charset="0"/>
                      </a:rPr>
                      <m:t>,</m:t>
                    </m:r>
                    <m:r>
                      <a:rPr lang="en-US" altLang="zh-CN" b="1" i="1">
                        <a:latin typeface="Cambria Math"/>
                        <a:ea typeface="楷体" panose="02010609060101010101" pitchFamily="49" charset="-122"/>
                        <a:cs typeface="Times New Roman" panose="02020603050405020304" pitchFamily="18" charset="0"/>
                      </a:rPr>
                      <m:t>𝟎</m:t>
                    </m:r>
                    <m:r>
                      <a:rPr lang="en-US" altLang="zh-CN" b="1" i="1">
                        <a:latin typeface="Cambria Math"/>
                        <a:ea typeface="楷体" panose="02010609060101010101" pitchFamily="49" charset="-122"/>
                        <a:cs typeface="Times New Roman" panose="02020603050405020304" pitchFamily="18" charset="0"/>
                      </a:rPr>
                      <m:t>)⇒¬</m:t>
                    </m:r>
                    <m:r>
                      <a:rPr lang="en-US" altLang="zh-CN" b="1" i="1">
                        <a:latin typeface="Cambria Math"/>
                        <a:ea typeface="Cambria Math"/>
                        <a:cs typeface="Times New Roman" panose="02020603050405020304" pitchFamily="18" charset="0"/>
                      </a:rPr>
                      <m:t>𝒑</m:t>
                    </m:r>
                    <m:r>
                      <a:rPr lang="en-US" altLang="zh-CN" b="1" i="1">
                        <a:latin typeface="Cambria Math"/>
                        <a:ea typeface="Cambria Math"/>
                        <a:cs typeface="Times New Roman" panose="02020603050405020304" pitchFamily="18" charset="0"/>
                      </a:rPr>
                      <m:t>∨¬</m:t>
                    </m:r>
                    <m:r>
                      <a:rPr lang="en-US" altLang="zh-CN" b="1" i="1">
                        <a:latin typeface="Cambria Math"/>
                        <a:ea typeface="Cambria Math"/>
                        <a:cs typeface="Times New Roman" panose="02020603050405020304" pitchFamily="18" charset="0"/>
                      </a:rPr>
                      <m:t>𝒒</m:t>
                    </m:r>
                    <m:r>
                      <a:rPr lang="en-US" altLang="zh-CN" b="1" i="1">
                        <a:latin typeface="Cambria Math"/>
                        <a:ea typeface="Cambria Math"/>
                        <a:cs typeface="Times New Roman" panose="02020603050405020304" pitchFamily="18" charset="0"/>
                      </a:rPr>
                      <m:t>∨</m:t>
                    </m:r>
                    <m:r>
                      <a:rPr lang="en-US" altLang="zh-CN" b="1" i="1">
                        <a:latin typeface="Cambria Math"/>
                        <a:ea typeface="Cambria Math"/>
                        <a:cs typeface="Times New Roman" panose="02020603050405020304" pitchFamily="18" charset="0"/>
                      </a:rPr>
                      <m:t>𝒓</m:t>
                    </m:r>
                  </m:oMath>
                </a14:m>
                <a:endParaRPr lang="en-US" altLang="zh-CN" b="1" dirty="0">
                  <a:latin typeface="Times New Roman" panose="02020603050405020304" pitchFamily="18" charset="0"/>
                  <a:ea typeface="楷体" panose="02010609060101010101" pitchFamily="49" charset="-122"/>
                  <a:cs typeface="Times New Roman" panose="02020603050405020304" pitchFamily="18" charset="0"/>
                </a:endParaRPr>
              </a:p>
              <a:p>
                <a:pPr>
                  <a:lnSpc>
                    <a:spcPct val="120000"/>
                  </a:lnSpc>
                </a:pPr>
                <a14:m>
                  <m:oMath xmlns:m="http://schemas.openxmlformats.org/officeDocument/2006/math">
                    <m:d>
                      <m:dPr>
                        <m:ctrlPr>
                          <a:rPr lang="en-US" altLang="zh-CN" b="1" i="1">
                            <a:latin typeface="Cambria Math" panose="02040503050406030204" pitchFamily="18" charset="0"/>
                            <a:ea typeface="楷体" panose="02010609060101010101" pitchFamily="49" charset="-122"/>
                            <a:cs typeface="Times New Roman" panose="02020603050405020304" pitchFamily="18" charset="0"/>
                          </a:rPr>
                        </m:ctrlPr>
                      </m:dPr>
                      <m:e>
                        <m:r>
                          <a:rPr lang="en-US" altLang="zh-CN" b="1" i="1">
                            <a:latin typeface="Cambria Math"/>
                            <a:ea typeface="楷体" panose="02010609060101010101" pitchFamily="49" charset="-122"/>
                            <a:cs typeface="Times New Roman" panose="02020603050405020304" pitchFamily="18" charset="0"/>
                          </a:rPr>
                          <m:t>𝒑</m:t>
                        </m:r>
                        <m:r>
                          <a:rPr lang="en-US" altLang="zh-CN" b="1" i="1">
                            <a:latin typeface="Cambria Math"/>
                            <a:ea typeface="楷体" panose="02010609060101010101" pitchFamily="49" charset="-122"/>
                            <a:cs typeface="Times New Roman" panose="02020603050405020304" pitchFamily="18" charset="0"/>
                          </a:rPr>
                          <m:t>,</m:t>
                        </m:r>
                        <m:r>
                          <a:rPr lang="en-US" altLang="zh-CN" b="1" i="1">
                            <a:latin typeface="Cambria Math"/>
                            <a:ea typeface="楷体" panose="02010609060101010101" pitchFamily="49" charset="-122"/>
                            <a:cs typeface="Times New Roman" panose="02020603050405020304" pitchFamily="18" charset="0"/>
                          </a:rPr>
                          <m:t>𝒒</m:t>
                        </m:r>
                        <m:r>
                          <a:rPr lang="en-US" altLang="zh-CN" b="1" i="1">
                            <a:latin typeface="Cambria Math"/>
                            <a:ea typeface="楷体" panose="02010609060101010101" pitchFamily="49" charset="-122"/>
                            <a:cs typeface="Times New Roman" panose="02020603050405020304" pitchFamily="18" charset="0"/>
                          </a:rPr>
                          <m:t>,</m:t>
                        </m:r>
                        <m:r>
                          <a:rPr lang="en-US" altLang="zh-CN" b="1" i="1">
                            <a:latin typeface="Cambria Math"/>
                            <a:ea typeface="楷体" panose="02010609060101010101" pitchFamily="49" charset="-122"/>
                            <a:cs typeface="Times New Roman" panose="02020603050405020304" pitchFamily="18" charset="0"/>
                          </a:rPr>
                          <m:t>𝒓</m:t>
                        </m:r>
                      </m:e>
                    </m:d>
                    <m:r>
                      <a:rPr lang="en-US" altLang="zh-CN" b="1" i="1">
                        <a:latin typeface="Cambria Math"/>
                        <a:ea typeface="楷体" panose="02010609060101010101" pitchFamily="49" charset="-122"/>
                        <a:cs typeface="Times New Roman" panose="02020603050405020304" pitchFamily="18" charset="0"/>
                      </a:rPr>
                      <m:t>=(</m:t>
                    </m:r>
                    <m:r>
                      <a:rPr lang="en-US" altLang="zh-CN" b="1" i="1">
                        <a:latin typeface="Cambria Math"/>
                        <a:ea typeface="楷体" panose="02010609060101010101" pitchFamily="49" charset="-122"/>
                        <a:cs typeface="Times New Roman" panose="02020603050405020304" pitchFamily="18" charset="0"/>
                      </a:rPr>
                      <m:t>𝟏</m:t>
                    </m:r>
                    <m:r>
                      <a:rPr lang="en-US" altLang="zh-CN" b="1" i="1">
                        <a:latin typeface="Cambria Math"/>
                        <a:ea typeface="楷体" panose="02010609060101010101" pitchFamily="49" charset="-122"/>
                        <a:cs typeface="Times New Roman" panose="02020603050405020304" pitchFamily="18" charset="0"/>
                      </a:rPr>
                      <m:t>,</m:t>
                    </m:r>
                    <m:r>
                      <a:rPr lang="en-US" altLang="zh-CN" b="1" i="1">
                        <a:latin typeface="Cambria Math"/>
                        <a:ea typeface="楷体" panose="02010609060101010101" pitchFamily="49" charset="-122"/>
                        <a:cs typeface="Times New Roman" panose="02020603050405020304" pitchFamily="18" charset="0"/>
                      </a:rPr>
                      <m:t>𝟎</m:t>
                    </m:r>
                    <m:r>
                      <a:rPr lang="en-US" altLang="zh-CN" b="1" i="1">
                        <a:latin typeface="Cambria Math"/>
                        <a:ea typeface="楷体" panose="02010609060101010101" pitchFamily="49" charset="-122"/>
                        <a:cs typeface="Times New Roman" panose="02020603050405020304" pitchFamily="18" charset="0"/>
                      </a:rPr>
                      <m:t>,</m:t>
                    </m:r>
                    <m:r>
                      <a:rPr lang="en-US" altLang="zh-CN" b="1" i="1">
                        <a:latin typeface="Cambria Math"/>
                        <a:ea typeface="楷体" panose="02010609060101010101" pitchFamily="49" charset="-122"/>
                        <a:cs typeface="Times New Roman" panose="02020603050405020304" pitchFamily="18" charset="0"/>
                      </a:rPr>
                      <m:t>𝟎</m:t>
                    </m:r>
                    <m:r>
                      <a:rPr lang="en-US" altLang="zh-CN" b="1" i="1">
                        <a:latin typeface="Cambria Math"/>
                        <a:ea typeface="楷体" panose="02010609060101010101" pitchFamily="49" charset="-122"/>
                        <a:cs typeface="Times New Roman" panose="02020603050405020304" pitchFamily="18" charset="0"/>
                      </a:rPr>
                      <m:t>)⇒¬</m:t>
                    </m:r>
                    <m:r>
                      <a:rPr lang="en-US" altLang="zh-CN" b="1" i="1">
                        <a:latin typeface="Cambria Math"/>
                        <a:ea typeface="Cambria Math"/>
                        <a:cs typeface="Times New Roman" panose="02020603050405020304" pitchFamily="18" charset="0"/>
                      </a:rPr>
                      <m:t>𝒑</m:t>
                    </m:r>
                    <m:r>
                      <a:rPr lang="en-US" altLang="zh-CN" b="1" i="1">
                        <a:latin typeface="Cambria Math"/>
                        <a:ea typeface="Cambria Math"/>
                        <a:cs typeface="Times New Roman" panose="02020603050405020304" pitchFamily="18" charset="0"/>
                      </a:rPr>
                      <m:t>∨</m:t>
                    </m:r>
                    <m:r>
                      <a:rPr lang="en-US" altLang="zh-CN" b="1" i="1">
                        <a:latin typeface="Cambria Math"/>
                        <a:ea typeface="Cambria Math"/>
                        <a:cs typeface="Times New Roman" panose="02020603050405020304" pitchFamily="18" charset="0"/>
                      </a:rPr>
                      <m:t>𝒒</m:t>
                    </m:r>
                    <m:r>
                      <a:rPr lang="en-US" altLang="zh-CN" b="1" i="1">
                        <a:latin typeface="Cambria Math"/>
                        <a:ea typeface="Cambria Math"/>
                        <a:cs typeface="Times New Roman" panose="02020603050405020304" pitchFamily="18" charset="0"/>
                      </a:rPr>
                      <m:t>∨</m:t>
                    </m:r>
                    <m:r>
                      <a:rPr lang="en-US" altLang="zh-CN" b="1" i="1">
                        <a:latin typeface="Cambria Math"/>
                        <a:ea typeface="Cambria Math"/>
                        <a:cs typeface="Times New Roman" panose="02020603050405020304" pitchFamily="18" charset="0"/>
                      </a:rPr>
                      <m:t>𝒓</m:t>
                    </m:r>
                  </m:oMath>
                </a14:m>
                <a:endParaRPr lang="en-US" altLang="zh-CN" b="1" dirty="0">
                  <a:latin typeface="Times New Roman" panose="02020603050405020304" pitchFamily="18" charset="0"/>
                  <a:ea typeface="楷体" panose="02010609060101010101" pitchFamily="49" charset="-122"/>
                  <a:cs typeface="Times New Roman" panose="02020603050405020304" pitchFamily="18" charset="0"/>
                </a:endParaRPr>
              </a:p>
              <a:p>
                <a:pPr>
                  <a:lnSpc>
                    <a:spcPct val="120000"/>
                  </a:lnSpc>
                </a:pPr>
                <a14:m>
                  <m:oMath xmlns:m="http://schemas.openxmlformats.org/officeDocument/2006/math">
                    <m:d>
                      <m:dPr>
                        <m:ctrlPr>
                          <a:rPr lang="en-US" altLang="zh-CN" b="1" i="1">
                            <a:latin typeface="Cambria Math" panose="02040503050406030204" pitchFamily="18" charset="0"/>
                            <a:ea typeface="楷体" panose="02010609060101010101" pitchFamily="49" charset="-122"/>
                            <a:cs typeface="Times New Roman" panose="02020603050405020304" pitchFamily="18" charset="0"/>
                          </a:rPr>
                        </m:ctrlPr>
                      </m:dPr>
                      <m:e>
                        <m:r>
                          <a:rPr lang="en-US" altLang="zh-CN" b="1" i="1">
                            <a:latin typeface="Cambria Math"/>
                            <a:ea typeface="楷体" panose="02010609060101010101" pitchFamily="49" charset="-122"/>
                            <a:cs typeface="Times New Roman" panose="02020603050405020304" pitchFamily="18" charset="0"/>
                          </a:rPr>
                          <m:t>𝒑</m:t>
                        </m:r>
                        <m:r>
                          <a:rPr lang="en-US" altLang="zh-CN" b="1" i="1">
                            <a:latin typeface="Cambria Math"/>
                            <a:ea typeface="楷体" panose="02010609060101010101" pitchFamily="49" charset="-122"/>
                            <a:cs typeface="Times New Roman" panose="02020603050405020304" pitchFamily="18" charset="0"/>
                          </a:rPr>
                          <m:t>,</m:t>
                        </m:r>
                        <m:r>
                          <a:rPr lang="en-US" altLang="zh-CN" b="1" i="1">
                            <a:latin typeface="Cambria Math"/>
                            <a:ea typeface="楷体" panose="02010609060101010101" pitchFamily="49" charset="-122"/>
                            <a:cs typeface="Times New Roman" panose="02020603050405020304" pitchFamily="18" charset="0"/>
                          </a:rPr>
                          <m:t>𝒒</m:t>
                        </m:r>
                        <m:r>
                          <a:rPr lang="en-US" altLang="zh-CN" b="1" i="1">
                            <a:latin typeface="Cambria Math"/>
                            <a:ea typeface="楷体" panose="02010609060101010101" pitchFamily="49" charset="-122"/>
                            <a:cs typeface="Times New Roman" panose="02020603050405020304" pitchFamily="18" charset="0"/>
                          </a:rPr>
                          <m:t>,</m:t>
                        </m:r>
                        <m:r>
                          <a:rPr lang="en-US" altLang="zh-CN" b="1" i="1">
                            <a:latin typeface="Cambria Math"/>
                            <a:ea typeface="楷体" panose="02010609060101010101" pitchFamily="49" charset="-122"/>
                            <a:cs typeface="Times New Roman" panose="02020603050405020304" pitchFamily="18" charset="0"/>
                          </a:rPr>
                          <m:t>𝒓</m:t>
                        </m:r>
                      </m:e>
                    </m:d>
                    <m:r>
                      <a:rPr lang="en-US" altLang="zh-CN" b="1" i="1">
                        <a:latin typeface="Cambria Math"/>
                        <a:ea typeface="楷体" panose="02010609060101010101" pitchFamily="49" charset="-122"/>
                        <a:cs typeface="Times New Roman" panose="02020603050405020304" pitchFamily="18" charset="0"/>
                      </a:rPr>
                      <m:t>=(</m:t>
                    </m:r>
                    <m:r>
                      <a:rPr lang="en-US" altLang="zh-CN" b="1" i="1">
                        <a:latin typeface="Cambria Math"/>
                        <a:ea typeface="楷体" panose="02010609060101010101" pitchFamily="49" charset="-122"/>
                        <a:cs typeface="Times New Roman" panose="02020603050405020304" pitchFamily="18" charset="0"/>
                      </a:rPr>
                      <m:t>𝟎</m:t>
                    </m:r>
                    <m:r>
                      <a:rPr lang="en-US" altLang="zh-CN" b="1" i="1">
                        <a:latin typeface="Cambria Math"/>
                        <a:ea typeface="楷体" panose="02010609060101010101" pitchFamily="49" charset="-122"/>
                        <a:cs typeface="Times New Roman" panose="02020603050405020304" pitchFamily="18" charset="0"/>
                      </a:rPr>
                      <m:t>,</m:t>
                    </m:r>
                    <m:r>
                      <a:rPr lang="en-US" altLang="zh-CN" b="1" i="1">
                        <a:latin typeface="Cambria Math"/>
                        <a:ea typeface="楷体" panose="02010609060101010101" pitchFamily="49" charset="-122"/>
                        <a:cs typeface="Times New Roman" panose="02020603050405020304" pitchFamily="18" charset="0"/>
                      </a:rPr>
                      <m:t>𝟏</m:t>
                    </m:r>
                    <m:r>
                      <a:rPr lang="en-US" altLang="zh-CN" b="1" i="1">
                        <a:latin typeface="Cambria Math"/>
                        <a:ea typeface="楷体" panose="02010609060101010101" pitchFamily="49" charset="-122"/>
                        <a:cs typeface="Times New Roman" panose="02020603050405020304" pitchFamily="18" charset="0"/>
                      </a:rPr>
                      <m:t>,</m:t>
                    </m:r>
                    <m:r>
                      <a:rPr lang="en-US" altLang="zh-CN" b="1" i="1">
                        <a:latin typeface="Cambria Math"/>
                        <a:ea typeface="楷体" panose="02010609060101010101" pitchFamily="49" charset="-122"/>
                        <a:cs typeface="Times New Roman" panose="02020603050405020304" pitchFamily="18" charset="0"/>
                      </a:rPr>
                      <m:t>𝟎</m:t>
                    </m:r>
                    <m:r>
                      <a:rPr lang="en-US" altLang="zh-CN" b="1" i="1">
                        <a:latin typeface="Cambria Math"/>
                        <a:ea typeface="楷体" panose="02010609060101010101" pitchFamily="49" charset="-122"/>
                        <a:cs typeface="Times New Roman" panose="02020603050405020304" pitchFamily="18" charset="0"/>
                      </a:rPr>
                      <m:t>)⇒</m:t>
                    </m:r>
                    <m:r>
                      <a:rPr lang="en-US" altLang="zh-CN" b="1" i="1">
                        <a:latin typeface="Cambria Math"/>
                        <a:ea typeface="Cambria Math"/>
                        <a:cs typeface="Times New Roman" panose="02020603050405020304" pitchFamily="18" charset="0"/>
                      </a:rPr>
                      <m:t>𝒑</m:t>
                    </m:r>
                    <m:r>
                      <a:rPr lang="en-US" altLang="zh-CN" b="1" i="1">
                        <a:latin typeface="Cambria Math"/>
                        <a:ea typeface="Cambria Math"/>
                        <a:cs typeface="Times New Roman" panose="02020603050405020304" pitchFamily="18" charset="0"/>
                      </a:rPr>
                      <m:t>∨¬</m:t>
                    </m:r>
                    <m:r>
                      <a:rPr lang="en-US" altLang="zh-CN" b="1" i="1">
                        <a:latin typeface="Cambria Math"/>
                        <a:ea typeface="Cambria Math"/>
                        <a:cs typeface="Times New Roman" panose="02020603050405020304" pitchFamily="18" charset="0"/>
                      </a:rPr>
                      <m:t>𝒒</m:t>
                    </m:r>
                    <m:r>
                      <a:rPr lang="en-US" altLang="zh-CN" b="1" i="1">
                        <a:latin typeface="Cambria Math"/>
                        <a:ea typeface="Cambria Math"/>
                        <a:cs typeface="Times New Roman" panose="02020603050405020304" pitchFamily="18" charset="0"/>
                      </a:rPr>
                      <m:t>∨</m:t>
                    </m:r>
                    <m:r>
                      <a:rPr lang="en-US" altLang="zh-CN" b="1" i="1">
                        <a:latin typeface="Cambria Math"/>
                        <a:ea typeface="Cambria Math"/>
                        <a:cs typeface="Times New Roman" panose="02020603050405020304" pitchFamily="18" charset="0"/>
                      </a:rPr>
                      <m:t>𝒓</m:t>
                    </m:r>
                  </m:oMath>
                </a14:m>
                <a:endParaRPr lang="zh-CN" altLang="en-US" b="1" dirty="0">
                  <a:latin typeface="Times New Roman" panose="02020603050405020304" pitchFamily="18" charset="0"/>
                  <a:ea typeface="楷体" panose="02010609060101010101" pitchFamily="49" charset="-122"/>
                  <a:cs typeface="Times New Roman" panose="02020603050405020304" pitchFamily="18" charset="0"/>
                </a:endParaRPr>
              </a:p>
              <a:p>
                <a:endParaRPr lang="en-US" altLang="zh-CN" dirty="0"/>
              </a:p>
              <a:p>
                <a:endParaRPr lang="en-US" altLang="zh-CN" dirty="0"/>
              </a:p>
              <a:p>
                <a:pPr marL="0" indent="0">
                  <a:buNone/>
                </a:pPr>
                <a14:m>
                  <m:oMathPara xmlns:m="http://schemas.openxmlformats.org/officeDocument/2006/math">
                    <m:oMathParaPr>
                      <m:jc m:val="left"/>
                    </m:oMathParaPr>
                    <m:oMath xmlns:m="http://schemas.openxmlformats.org/officeDocument/2006/math">
                      <m:r>
                        <a:rPr lang="en-US" altLang="zh-CN" sz="2800" b="1" i="1" smtClean="0">
                          <a:latin typeface="Cambria Math"/>
                          <a:ea typeface="Cambria Math"/>
                          <a:cs typeface="Times New Roman" panose="02020603050405020304" pitchFamily="18" charset="0"/>
                        </a:rPr>
                        <m:t>    ∴</m:t>
                      </m:r>
                      <m:r>
                        <a:rPr lang="en-US" altLang="zh-CN" sz="2800" b="1" i="1" smtClean="0">
                          <a:latin typeface="Cambria Math"/>
                          <a:ea typeface="楷体" panose="02010609060101010101" pitchFamily="49" charset="-122"/>
                          <a:cs typeface="Times New Roman" panose="02020603050405020304" pitchFamily="18" charset="0"/>
                        </a:rPr>
                        <m:t>𝑨</m:t>
                      </m:r>
                      <m:r>
                        <a:rPr lang="en-US" altLang="zh-CN" sz="2800" b="1" i="1" smtClean="0">
                          <a:latin typeface="Cambria Math"/>
                          <a:ea typeface="楷体" panose="02010609060101010101" pitchFamily="49" charset="-122"/>
                          <a:cs typeface="Times New Roman" panose="02020603050405020304" pitchFamily="18" charset="0"/>
                        </a:rPr>
                        <m:t>=</m:t>
                      </m:r>
                      <m:d>
                        <m:dPr>
                          <m:ctrlPr>
                            <a:rPr lang="en-US" altLang="zh-CN" sz="2800" b="1" i="1" smtClean="0">
                              <a:latin typeface="Cambria Math" panose="02040503050406030204" pitchFamily="18" charset="0"/>
                              <a:ea typeface="楷体" panose="02010609060101010101" pitchFamily="49" charset="-122"/>
                              <a:cs typeface="Times New Roman" panose="02020603050405020304" pitchFamily="18" charset="0"/>
                            </a:rPr>
                          </m:ctrlPr>
                        </m:dPr>
                        <m:e>
                          <m:r>
                            <a:rPr lang="en-US" altLang="zh-CN" sz="2800" b="1" i="1" smtClean="0">
                              <a:latin typeface="Cambria Math"/>
                              <a:ea typeface="楷体" panose="02010609060101010101" pitchFamily="49" charset="-122"/>
                              <a:cs typeface="Times New Roman" panose="02020603050405020304" pitchFamily="18" charset="0"/>
                            </a:rPr>
                            <m:t>𝒑</m:t>
                          </m:r>
                          <m:r>
                            <a:rPr lang="en-US" altLang="zh-CN" sz="2800" b="1" i="1">
                              <a:latin typeface="Cambria Math"/>
                              <a:ea typeface="Cambria Math"/>
                              <a:cs typeface="Times New Roman" panose="02020603050405020304" pitchFamily="18" charset="0"/>
                            </a:rPr>
                            <m:t>∨</m:t>
                          </m:r>
                          <m:r>
                            <a:rPr lang="en-US" altLang="zh-CN" sz="2800" b="1" i="1" smtClean="0">
                              <a:latin typeface="Cambria Math"/>
                              <a:ea typeface="楷体" panose="02010609060101010101" pitchFamily="49" charset="-122"/>
                              <a:cs typeface="Times New Roman" panose="02020603050405020304" pitchFamily="18" charset="0"/>
                            </a:rPr>
                            <m:t>𝒒</m:t>
                          </m:r>
                        </m:e>
                      </m:d>
                      <m:r>
                        <a:rPr lang="en-US" altLang="zh-CN" sz="2800" b="1" i="1" smtClean="0">
                          <a:latin typeface="Cambria Math"/>
                          <a:ea typeface="Cambria Math"/>
                          <a:cs typeface="Times New Roman" panose="02020603050405020304" pitchFamily="18" charset="0"/>
                        </a:rPr>
                        <m:t>→</m:t>
                      </m:r>
                      <m:r>
                        <a:rPr lang="en-US" altLang="zh-CN" sz="2800" b="1" i="1" smtClean="0">
                          <a:latin typeface="Cambria Math"/>
                          <a:ea typeface="Cambria Math"/>
                          <a:cs typeface="Times New Roman" panose="02020603050405020304" pitchFamily="18" charset="0"/>
                        </a:rPr>
                        <m:t>𝒓</m:t>
                      </m:r>
                      <m:r>
                        <a:rPr lang="en-US" altLang="zh-CN" sz="2800" b="1" i="1" smtClean="0">
                          <a:latin typeface="Cambria Math"/>
                          <a:ea typeface="楷体" panose="02010609060101010101" pitchFamily="49" charset="-122"/>
                          <a:cs typeface="Times New Roman" panose="02020603050405020304" pitchFamily="18" charset="0"/>
                        </a:rPr>
                        <m:t>=(¬</m:t>
                      </m:r>
                      <m:r>
                        <a:rPr lang="en-US" altLang="zh-CN" sz="2800" b="1" i="1">
                          <a:latin typeface="Cambria Math"/>
                          <a:ea typeface="Cambria Math"/>
                          <a:cs typeface="Times New Roman" panose="02020603050405020304" pitchFamily="18" charset="0"/>
                        </a:rPr>
                        <m:t>𝒑</m:t>
                      </m:r>
                      <m:r>
                        <a:rPr lang="en-US" altLang="zh-CN" sz="2800" b="1" i="1">
                          <a:latin typeface="Cambria Math"/>
                          <a:ea typeface="Cambria Math"/>
                          <a:cs typeface="Times New Roman" panose="02020603050405020304" pitchFamily="18" charset="0"/>
                        </a:rPr>
                        <m:t>∨¬</m:t>
                      </m:r>
                      <m:r>
                        <a:rPr lang="en-US" altLang="zh-CN" sz="2800" b="1" i="1">
                          <a:latin typeface="Cambria Math"/>
                          <a:ea typeface="Cambria Math"/>
                          <a:cs typeface="Times New Roman" panose="02020603050405020304" pitchFamily="18" charset="0"/>
                        </a:rPr>
                        <m:t>𝒒</m:t>
                      </m:r>
                      <m:r>
                        <a:rPr lang="en-US" altLang="zh-CN" sz="2800" b="1" i="1">
                          <a:latin typeface="Cambria Math"/>
                          <a:ea typeface="Cambria Math"/>
                          <a:cs typeface="Times New Roman" panose="02020603050405020304" pitchFamily="18" charset="0"/>
                        </a:rPr>
                        <m:t>∨</m:t>
                      </m:r>
                      <m:r>
                        <a:rPr lang="en-US" altLang="zh-CN" sz="2800" b="1" i="1">
                          <a:latin typeface="Cambria Math"/>
                          <a:ea typeface="Cambria Math"/>
                          <a:cs typeface="Times New Roman" panose="02020603050405020304" pitchFamily="18" charset="0"/>
                        </a:rPr>
                        <m:t>𝒓</m:t>
                      </m:r>
                      <m:r>
                        <a:rPr lang="en-US" altLang="zh-CN" sz="2800" b="1" i="1" smtClean="0">
                          <a:latin typeface="Cambria Math"/>
                          <a:ea typeface="Cambria Math"/>
                          <a:cs typeface="Times New Roman" panose="02020603050405020304" pitchFamily="18" charset="0"/>
                        </a:rPr>
                        <m:t>)∧(</m:t>
                      </m:r>
                      <m:r>
                        <a:rPr lang="en-US" altLang="zh-CN" sz="2800" b="1" i="1">
                          <a:latin typeface="Cambria Math"/>
                          <a:ea typeface="楷体" panose="02010609060101010101" pitchFamily="49" charset="-122"/>
                          <a:cs typeface="Times New Roman" panose="02020603050405020304" pitchFamily="18" charset="0"/>
                        </a:rPr>
                        <m:t>¬</m:t>
                      </m:r>
                      <m:r>
                        <a:rPr lang="en-US" altLang="zh-CN" sz="2800" b="1" i="1">
                          <a:latin typeface="Cambria Math"/>
                          <a:ea typeface="Cambria Math"/>
                          <a:cs typeface="Times New Roman" panose="02020603050405020304" pitchFamily="18" charset="0"/>
                        </a:rPr>
                        <m:t>𝒑</m:t>
                      </m:r>
                      <m:r>
                        <a:rPr lang="en-US" altLang="zh-CN" sz="2800" b="1" i="1">
                          <a:latin typeface="Cambria Math"/>
                          <a:ea typeface="Cambria Math"/>
                          <a:cs typeface="Times New Roman" panose="02020603050405020304" pitchFamily="18" charset="0"/>
                        </a:rPr>
                        <m:t>∨</m:t>
                      </m:r>
                      <m:r>
                        <a:rPr lang="en-US" altLang="zh-CN" sz="2800" b="1" i="1">
                          <a:latin typeface="Cambria Math"/>
                          <a:ea typeface="Cambria Math"/>
                          <a:cs typeface="Times New Roman" panose="02020603050405020304" pitchFamily="18" charset="0"/>
                        </a:rPr>
                        <m:t>𝒒</m:t>
                      </m:r>
                      <m:r>
                        <a:rPr lang="en-US" altLang="zh-CN" sz="2800" b="1" i="1">
                          <a:latin typeface="Cambria Math"/>
                          <a:ea typeface="Cambria Math"/>
                          <a:cs typeface="Times New Roman" panose="02020603050405020304" pitchFamily="18" charset="0"/>
                        </a:rPr>
                        <m:t>∨</m:t>
                      </m:r>
                      <m:r>
                        <a:rPr lang="en-US" altLang="zh-CN" sz="2800" b="1" i="1">
                          <a:latin typeface="Cambria Math"/>
                          <a:ea typeface="Cambria Math"/>
                          <a:cs typeface="Times New Roman" panose="02020603050405020304" pitchFamily="18" charset="0"/>
                        </a:rPr>
                        <m:t>𝒓</m:t>
                      </m:r>
                      <m:r>
                        <a:rPr lang="en-US" altLang="zh-CN" sz="2800" b="1" i="1" smtClean="0">
                          <a:latin typeface="Cambria Math"/>
                          <a:ea typeface="Cambria Math"/>
                          <a:cs typeface="Times New Roman" panose="02020603050405020304" pitchFamily="18" charset="0"/>
                        </a:rPr>
                        <m:t>)</m:t>
                      </m:r>
                      <m:r>
                        <a:rPr lang="en-US" altLang="zh-CN" sz="2800" b="1" i="1">
                          <a:latin typeface="Cambria Math"/>
                          <a:ea typeface="Cambria Math"/>
                          <a:cs typeface="Times New Roman" panose="02020603050405020304" pitchFamily="18" charset="0"/>
                        </a:rPr>
                        <m:t>∧</m:t>
                      </m:r>
                      <m:r>
                        <a:rPr lang="en-US" altLang="zh-CN" sz="2800" b="1" i="1" smtClean="0">
                          <a:latin typeface="Cambria Math"/>
                          <a:ea typeface="Cambria Math"/>
                          <a:cs typeface="Times New Roman" panose="02020603050405020304" pitchFamily="18" charset="0"/>
                        </a:rPr>
                        <m:t>(</m:t>
                      </m:r>
                      <m:r>
                        <a:rPr lang="en-US" altLang="zh-CN" sz="2800" b="1" i="1">
                          <a:latin typeface="Cambria Math"/>
                          <a:ea typeface="Cambria Math"/>
                          <a:cs typeface="Times New Roman" panose="02020603050405020304" pitchFamily="18" charset="0"/>
                        </a:rPr>
                        <m:t>𝒑</m:t>
                      </m:r>
                      <m:r>
                        <a:rPr lang="en-US" altLang="zh-CN" sz="2800" b="1" i="1">
                          <a:latin typeface="Cambria Math"/>
                          <a:ea typeface="Cambria Math"/>
                          <a:cs typeface="Times New Roman" panose="02020603050405020304" pitchFamily="18" charset="0"/>
                        </a:rPr>
                        <m:t>∨¬</m:t>
                      </m:r>
                      <m:r>
                        <a:rPr lang="en-US" altLang="zh-CN" sz="2800" b="1" i="1">
                          <a:latin typeface="Cambria Math"/>
                          <a:ea typeface="Cambria Math"/>
                          <a:cs typeface="Times New Roman" panose="02020603050405020304" pitchFamily="18" charset="0"/>
                        </a:rPr>
                        <m:t>𝒒</m:t>
                      </m:r>
                      <m:r>
                        <a:rPr lang="en-US" altLang="zh-CN" sz="2800" b="1" i="1">
                          <a:latin typeface="Cambria Math"/>
                          <a:ea typeface="Cambria Math"/>
                          <a:cs typeface="Times New Roman" panose="02020603050405020304" pitchFamily="18" charset="0"/>
                        </a:rPr>
                        <m:t>∨</m:t>
                      </m:r>
                      <m:r>
                        <a:rPr lang="en-US" altLang="zh-CN" sz="2800" b="1" i="1">
                          <a:latin typeface="Cambria Math"/>
                          <a:ea typeface="Cambria Math"/>
                          <a:cs typeface="Times New Roman" panose="02020603050405020304" pitchFamily="18" charset="0"/>
                        </a:rPr>
                        <m:t>𝒓</m:t>
                      </m:r>
                      <m:r>
                        <a:rPr lang="en-US" altLang="zh-CN" sz="2800" b="1" i="1" smtClean="0">
                          <a:latin typeface="Cambria Math"/>
                          <a:ea typeface="Cambria Math"/>
                          <a:cs typeface="Times New Roman" panose="02020603050405020304" pitchFamily="18" charset="0"/>
                        </a:rPr>
                        <m:t>)</m:t>
                      </m:r>
                    </m:oMath>
                  </m:oMathPara>
                </a14:m>
                <a:endParaRPr lang="en-US" altLang="zh-CN" sz="2800" b="1" dirty="0">
                  <a:latin typeface="Times New Roman" panose="02020603050405020304" pitchFamily="18" charset="0"/>
                  <a:ea typeface="楷体" panose="02010609060101010101" pitchFamily="49" charset="-122"/>
                  <a:cs typeface="Times New Roman" panose="02020603050405020304" pitchFamily="18" charset="0"/>
                </a:endParaRPr>
              </a:p>
              <a:p>
                <a:endParaRPr lang="en-US" altLang="zh-CN" dirty="0"/>
              </a:p>
              <a:p>
                <a:endParaRPr lang="en-US" altLang="zh-CN" dirty="0"/>
              </a:p>
              <a:p>
                <a:endParaRPr lang="en-US" altLang="zh-CN" dirty="0"/>
              </a:p>
              <a:p>
                <a:endParaRPr lang="en-US" altLang="zh-CN" dirty="0"/>
              </a:p>
              <a:p>
                <a:endParaRPr lang="en-US" altLang="zh-CN" dirty="0"/>
              </a:p>
            </p:txBody>
          </p:sp>
        </mc:Choice>
        <mc:Fallback xmlns="">
          <p:sp>
            <p:nvSpPr>
              <p:cNvPr id="38914" name="Rectangle 2"/>
              <p:cNvSpPr>
                <a:spLocks noGrp="1" noRot="1" noChangeAspect="1" noMove="1" noResize="1" noEditPoints="1" noAdjustHandles="1" noChangeArrowheads="1" noChangeShapeType="1" noTextEdit="1"/>
              </p:cNvSpPr>
              <p:nvPr>
                <p:ph/>
              </p:nvPr>
            </p:nvSpPr>
            <p:spPr>
              <a:blipFill rotWithShape="1">
                <a:blip r:embed="rId2"/>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78638510"/>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8914">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Rectangle 2"/>
          <p:cNvSpPr>
            <a:spLocks noGrp="1" noChangeArrowheads="1"/>
          </p:cNvSpPr>
          <p:nvPr>
            <p:ph/>
          </p:nvPr>
        </p:nvSpPr>
        <p:spPr/>
        <p:txBody>
          <a:bodyPr/>
          <a:lstStyle/>
          <a:p>
            <a:pPr eaLnBrk="1" hangingPunct="1">
              <a:lnSpc>
                <a:spcPct val="120000"/>
              </a:lnSpc>
            </a:pPr>
            <a:r>
              <a:rPr lang="en-US" altLang="zh-CN" b="1" dirty="0">
                <a:latin typeface="Times New Roman" pitchFamily="18" charset="0"/>
              </a:rPr>
              <a:t>Theorem 3-9</a:t>
            </a:r>
            <a:r>
              <a:rPr lang="en-US" altLang="zh-CN" b="1" dirty="0"/>
              <a:t>  </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任意非永假命题公式都存在唯一的主析取范式</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  </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任意非永真命题公式都存在唯一的主合取范式</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 </a:t>
            </a:r>
          </a:p>
          <a:p>
            <a:pPr eaLnBrk="1" hangingPunct="1">
              <a:lnSpc>
                <a:spcPct val="120000"/>
              </a:lnSpc>
            </a:pPr>
            <a:r>
              <a:rPr lang="en-US" altLang="zh-CN" b="1" dirty="0">
                <a:latin typeface="Times New Roman" panose="02020603050405020304" pitchFamily="18" charset="0"/>
                <a:ea typeface="楷体" panose="02010609060101010101" pitchFamily="49" charset="-122"/>
                <a:cs typeface="Times New Roman" panose="02020603050405020304" pitchFamily="18" charset="0"/>
              </a:rPr>
              <a:t>(1) </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命题公式的主析取范式和主合取范式是等值的</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 </a:t>
            </a:r>
          </a:p>
          <a:p>
            <a:pPr eaLnBrk="1" hangingPunct="1">
              <a:lnSpc>
                <a:spcPct val="120000"/>
              </a:lnSpc>
            </a:pPr>
            <a:r>
              <a:rPr lang="en-US" altLang="zh-CN" b="1" dirty="0">
                <a:latin typeface="Times New Roman" panose="02020603050405020304" pitchFamily="18" charset="0"/>
                <a:ea typeface="楷体" panose="02010609060101010101" pitchFamily="49" charset="-122"/>
                <a:cs typeface="Times New Roman" panose="02020603050405020304" pitchFamily="18" charset="0"/>
              </a:rPr>
              <a:t>(2) </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主析取范式中所含的极小项个数加上主合取范式中所含的极大项个数等于该命题公式的真值指派数目</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 </a:t>
            </a:r>
          </a:p>
          <a:p>
            <a:pPr eaLnBrk="1" hangingPunct="1">
              <a:lnSpc>
                <a:spcPct val="120000"/>
              </a:lnSpc>
            </a:pPr>
            <a:r>
              <a:rPr lang="en-US" altLang="zh-CN" b="1" dirty="0">
                <a:latin typeface="Times New Roman" panose="02020603050405020304" pitchFamily="18" charset="0"/>
                <a:ea typeface="楷体" panose="02010609060101010101" pitchFamily="49" charset="-122"/>
                <a:cs typeface="Times New Roman" panose="02020603050405020304" pitchFamily="18" charset="0"/>
              </a:rPr>
              <a:t>(3) </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可以从主析取范式求出主合取范式</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反过来亦然</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a:t>
            </a:r>
            <a:r>
              <a:rPr lang="en-US" altLang="zh-CN" b="1" dirty="0">
                <a:solidFill>
                  <a:schemeClr val="accent2"/>
                </a:solidFill>
                <a:latin typeface="Times New Roman" panose="02020603050405020304" pitchFamily="18" charset="0"/>
                <a:ea typeface="楷体" panose="02010609060101010101" pitchFamily="49" charset="-122"/>
                <a:cs typeface="Times New Roman" panose="02020603050405020304" pitchFamily="18" charset="0"/>
              </a:rPr>
              <a:t>?</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a:t>
            </a:r>
          </a:p>
        </p:txBody>
      </p:sp>
    </p:spTree>
  </p:cSld>
  <p:clrMapOvr>
    <a:masterClrMapping/>
  </p:clrMapOvr>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Rectangle 2"/>
          <p:cNvSpPr>
            <a:spLocks noGrp="1" noChangeArrowheads="1"/>
          </p:cNvSpPr>
          <p:nvPr>
            <p:ph/>
          </p:nvPr>
        </p:nvSpPr>
        <p:spPr/>
        <p:txBody>
          <a:bodyPr/>
          <a:lstStyle/>
          <a:p>
            <a:pPr eaLnBrk="1" hangingPunct="1">
              <a:lnSpc>
                <a:spcPct val="120000"/>
              </a:lnSpc>
            </a:pPr>
            <a:r>
              <a:rPr lang="en-US" altLang="zh-CN" b="1" dirty="0">
                <a:solidFill>
                  <a:schemeClr val="hlink"/>
                </a:solidFill>
                <a:latin typeface="Times New Roman" pitchFamily="18" charset="0"/>
              </a:rPr>
              <a:t>A</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 </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利用命题公式的主析取范式及主合取范式判定其类型</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 </a:t>
            </a:r>
          </a:p>
          <a:p>
            <a:pPr eaLnBrk="1" hangingPunct="1">
              <a:lnSpc>
                <a:spcPct val="120000"/>
              </a:lnSpc>
            </a:pPr>
            <a:r>
              <a:rPr lang="zh-CN" altLang="en-US" b="1" dirty="0">
                <a:latin typeface="Times New Roman" panose="02020603050405020304" pitchFamily="18" charset="0"/>
                <a:ea typeface="楷体" panose="02010609060101010101" pitchFamily="49" charset="-122"/>
                <a:cs typeface="Times New Roman" panose="02020603050405020304" pitchFamily="18" charset="0"/>
              </a:rPr>
              <a:t>例</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3-23 </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设</a:t>
            </a:r>
            <a:r>
              <a:rPr lang="en-US" altLang="zh-CN" b="1" i="1" dirty="0">
                <a:latin typeface="Times New Roman" panose="02020603050405020304" pitchFamily="18" charset="0"/>
                <a:ea typeface="楷体" panose="02010609060101010101" pitchFamily="49" charset="-122"/>
                <a:cs typeface="Times New Roman" panose="02020603050405020304" pitchFamily="18" charset="0"/>
              </a:rPr>
              <a:t>p</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和</a:t>
            </a:r>
            <a:r>
              <a:rPr lang="en-US" altLang="zh-CN" b="1" i="1" dirty="0">
                <a:latin typeface="Times New Roman" panose="02020603050405020304" pitchFamily="18" charset="0"/>
                <a:ea typeface="楷体" panose="02010609060101010101" pitchFamily="49" charset="-122"/>
                <a:cs typeface="Times New Roman" panose="02020603050405020304" pitchFamily="18" charset="0"/>
              </a:rPr>
              <a:t>q</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是命题变元</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利用主范式判断命题公式</a:t>
            </a:r>
            <a:r>
              <a:rPr lang="en-US" altLang="zh-CN" b="1" i="1" dirty="0">
                <a:latin typeface="Times New Roman" panose="02020603050405020304" pitchFamily="18" charset="0"/>
                <a:ea typeface="楷体" panose="02010609060101010101" pitchFamily="49" charset="-122"/>
                <a:cs typeface="Times New Roman" panose="02020603050405020304" pitchFamily="18" charset="0"/>
              </a:rPr>
              <a:t>p</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 </a:t>
            </a:r>
            <a:r>
              <a:rPr lang="en-US" altLang="zh-CN" b="1" dirty="0">
                <a:latin typeface="Times New Roman" panose="02020603050405020304" pitchFamily="18" charset="0"/>
                <a:ea typeface="楷体" panose="02010609060101010101" pitchFamily="49" charset="-122"/>
                <a:cs typeface="Times New Roman" panose="02020603050405020304" pitchFamily="18" charset="0"/>
                <a:sym typeface="Symbol" pitchFamily="18" charset="2"/>
              </a:rPr>
              <a:t> (</a:t>
            </a:r>
            <a:r>
              <a:rPr lang="en-US" altLang="zh-CN" b="1" i="1" dirty="0">
                <a:latin typeface="Times New Roman" panose="02020603050405020304" pitchFamily="18" charset="0"/>
                <a:ea typeface="楷体" panose="02010609060101010101" pitchFamily="49" charset="-122"/>
                <a:cs typeface="Times New Roman" panose="02020603050405020304" pitchFamily="18" charset="0"/>
                <a:sym typeface="Symbol" pitchFamily="18" charset="2"/>
              </a:rPr>
              <a:t>p</a:t>
            </a:r>
            <a:r>
              <a:rPr lang="en-US" altLang="zh-CN" b="1" dirty="0">
                <a:latin typeface="Times New Roman" panose="02020603050405020304" pitchFamily="18" charset="0"/>
                <a:ea typeface="楷体" panose="02010609060101010101" pitchFamily="49" charset="-122"/>
                <a:cs typeface="Times New Roman" panose="02020603050405020304" pitchFamily="18" charset="0"/>
                <a:sym typeface="Symbol" pitchFamily="18" charset="2"/>
              </a:rPr>
              <a:t> </a:t>
            </a:r>
            <a:r>
              <a:rPr lang="en-US" altLang="zh-CN" b="1" i="1" dirty="0">
                <a:latin typeface="Times New Roman" panose="02020603050405020304" pitchFamily="18" charset="0"/>
                <a:ea typeface="楷体" panose="02010609060101010101" pitchFamily="49" charset="-122"/>
                <a:cs typeface="Times New Roman" panose="02020603050405020304" pitchFamily="18" charset="0"/>
                <a:sym typeface="Symbol" pitchFamily="18" charset="2"/>
              </a:rPr>
              <a:t>q</a:t>
            </a:r>
            <a:r>
              <a:rPr lang="en-US" altLang="zh-CN" b="1" dirty="0">
                <a:latin typeface="Times New Roman" panose="02020603050405020304" pitchFamily="18" charset="0"/>
                <a:ea typeface="楷体" panose="02010609060101010101" pitchFamily="49" charset="-122"/>
                <a:cs typeface="Times New Roman" panose="02020603050405020304" pitchFamily="18" charset="0"/>
                <a:sym typeface="Symbol" pitchFamily="18" charset="2"/>
              </a:rPr>
              <a:t>)</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的类型</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 </a:t>
            </a:r>
          </a:p>
          <a:p>
            <a:pPr eaLnBrk="1" hangingPunct="1">
              <a:lnSpc>
                <a:spcPct val="120000"/>
              </a:lnSpc>
            </a:pPr>
            <a:r>
              <a:rPr lang="en-US" altLang="zh-CN" b="1" dirty="0">
                <a:latin typeface="Times New Roman" pitchFamily="18" charset="0"/>
              </a:rPr>
              <a:t>Solution </a:t>
            </a:r>
          </a:p>
          <a:p>
            <a:pPr eaLnBrk="1" hangingPunct="1">
              <a:lnSpc>
                <a:spcPct val="120000"/>
              </a:lnSpc>
            </a:pPr>
            <a:endParaRPr lang="en-US" altLang="zh-CN" b="1" dirty="0">
              <a:latin typeface="Times New Roman" pitchFamily="18" charset="0"/>
            </a:endParaRPr>
          </a:p>
        </p:txBody>
      </p:sp>
      <p:graphicFrame>
        <p:nvGraphicFramePr>
          <p:cNvPr id="119811" name="Object 3"/>
          <p:cNvGraphicFramePr>
            <a:graphicFrameLocks noChangeAspect="1"/>
          </p:cNvGraphicFramePr>
          <p:nvPr/>
        </p:nvGraphicFramePr>
        <p:xfrm>
          <a:off x="2700338" y="2997200"/>
          <a:ext cx="3303587" cy="2117725"/>
        </p:xfrm>
        <a:graphic>
          <a:graphicData uri="http://schemas.openxmlformats.org/presentationml/2006/ole">
            <mc:AlternateContent xmlns:mc="http://schemas.openxmlformats.org/markup-compatibility/2006">
              <mc:Choice xmlns:v="urn:schemas-microsoft-com:vml" Requires="v">
                <p:oleObj name="Equation" r:id="rId2" imgW="1305012" imgH="809730" progId="Equation.3">
                  <p:embed/>
                </p:oleObj>
              </mc:Choice>
              <mc:Fallback>
                <p:oleObj name="Equation" r:id="rId2" imgW="1305012" imgH="809730" progId="Equation.3">
                  <p:embed/>
                  <p:pic>
                    <p:nvPicPr>
                      <p:cNvPr id="0" name="Object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00338" y="2997200"/>
                        <a:ext cx="3303587" cy="21177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Rectangle 2"/>
          <p:cNvSpPr>
            <a:spLocks noGrp="1" noChangeArrowheads="1"/>
          </p:cNvSpPr>
          <p:nvPr>
            <p:ph/>
          </p:nvPr>
        </p:nvSpPr>
        <p:spPr/>
        <p:txBody>
          <a:bodyPr/>
          <a:lstStyle/>
          <a:p>
            <a:pPr eaLnBrk="1" hangingPunct="1">
              <a:lnSpc>
                <a:spcPct val="120000"/>
              </a:lnSpc>
            </a:pPr>
            <a:r>
              <a:rPr lang="en-US" altLang="zh-CN" b="1" dirty="0">
                <a:solidFill>
                  <a:schemeClr val="hlink"/>
                </a:solidFill>
                <a:latin typeface="Times New Roman" panose="02020603050405020304" pitchFamily="18" charset="0"/>
                <a:ea typeface="楷体" panose="02010609060101010101" pitchFamily="49" charset="-122"/>
                <a:cs typeface="Times New Roman" panose="02020603050405020304" pitchFamily="18" charset="0"/>
              </a:rPr>
              <a:t>B</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 </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利用命题公式的主析取范式及主合取范式可以判断两个命题公式是否等值</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a:t>
            </a:r>
          </a:p>
          <a:p>
            <a:pPr eaLnBrk="1" hangingPunct="1">
              <a:lnSpc>
                <a:spcPct val="120000"/>
              </a:lnSpc>
            </a:pPr>
            <a:r>
              <a:rPr lang="zh-CN" altLang="en-US" b="1" dirty="0">
                <a:latin typeface="Times New Roman" panose="02020603050405020304" pitchFamily="18" charset="0"/>
                <a:ea typeface="楷体" panose="02010609060101010101" pitchFamily="49" charset="-122"/>
                <a:cs typeface="Times New Roman" panose="02020603050405020304" pitchFamily="18" charset="0"/>
              </a:rPr>
              <a:t>例</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3-24</a:t>
            </a:r>
          </a:p>
          <a:p>
            <a:pPr eaLnBrk="1" hangingPunct="1">
              <a:lnSpc>
                <a:spcPct val="120000"/>
              </a:lnSpc>
            </a:pPr>
            <a:r>
              <a:rPr lang="en-US" altLang="zh-CN" b="1" dirty="0">
                <a:latin typeface="Times New Roman" pitchFamily="18" charset="0"/>
                <a:ea typeface="华文新魏" pitchFamily="2" charset="-122"/>
              </a:rPr>
              <a:t>(1)</a:t>
            </a:r>
          </a:p>
          <a:p>
            <a:pPr eaLnBrk="1" hangingPunct="1">
              <a:lnSpc>
                <a:spcPct val="120000"/>
              </a:lnSpc>
            </a:pPr>
            <a:endParaRPr lang="en-US" altLang="zh-CN" b="1" dirty="0">
              <a:latin typeface="Times New Roman" pitchFamily="18" charset="0"/>
              <a:ea typeface="华文新魏" pitchFamily="2" charset="-122"/>
            </a:endParaRPr>
          </a:p>
          <a:p>
            <a:pPr eaLnBrk="1" hangingPunct="1">
              <a:lnSpc>
                <a:spcPct val="120000"/>
              </a:lnSpc>
            </a:pPr>
            <a:r>
              <a:rPr lang="en-US" altLang="zh-CN" b="1" dirty="0">
                <a:latin typeface="Times New Roman" pitchFamily="18" charset="0"/>
                <a:ea typeface="华文新魏" pitchFamily="2" charset="-122"/>
              </a:rPr>
              <a:t>(2)</a:t>
            </a:r>
          </a:p>
          <a:p>
            <a:pPr eaLnBrk="1" hangingPunct="1">
              <a:lnSpc>
                <a:spcPct val="120000"/>
              </a:lnSpc>
            </a:pPr>
            <a:endParaRPr lang="en-US" altLang="zh-CN" b="1" dirty="0"/>
          </a:p>
        </p:txBody>
      </p:sp>
      <p:graphicFrame>
        <p:nvGraphicFramePr>
          <p:cNvPr id="120835" name="Object 3"/>
          <p:cNvGraphicFramePr>
            <a:graphicFrameLocks noChangeAspect="1"/>
          </p:cNvGraphicFramePr>
          <p:nvPr/>
        </p:nvGraphicFramePr>
        <p:xfrm>
          <a:off x="1490663" y="2276475"/>
          <a:ext cx="2455862" cy="1028700"/>
        </p:xfrm>
        <a:graphic>
          <a:graphicData uri="http://schemas.openxmlformats.org/presentationml/2006/ole">
            <mc:AlternateContent xmlns:mc="http://schemas.openxmlformats.org/markup-compatibility/2006">
              <mc:Choice xmlns:v="urn:schemas-microsoft-com:vml" Requires="v">
                <p:oleObj name="公式" r:id="rId2" imgW="952489" imgH="352350" progId="Equation.3">
                  <p:embed/>
                </p:oleObj>
              </mc:Choice>
              <mc:Fallback>
                <p:oleObj name="公式" r:id="rId2" imgW="952489" imgH="352350" progId="Equation.3">
                  <p:embed/>
                  <p:pic>
                    <p:nvPicPr>
                      <p:cNvPr id="0" name="Object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90663" y="2276475"/>
                        <a:ext cx="2455862" cy="1028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20836" name="Object 4"/>
          <p:cNvGraphicFramePr>
            <a:graphicFrameLocks noChangeAspect="1"/>
          </p:cNvGraphicFramePr>
          <p:nvPr/>
        </p:nvGraphicFramePr>
        <p:xfrm>
          <a:off x="1403350" y="3716338"/>
          <a:ext cx="6667500" cy="1030287"/>
        </p:xfrm>
        <a:graphic>
          <a:graphicData uri="http://schemas.openxmlformats.org/presentationml/2006/ole">
            <mc:AlternateContent xmlns:mc="http://schemas.openxmlformats.org/markup-compatibility/2006">
              <mc:Choice xmlns:v="urn:schemas-microsoft-com:vml" Requires="v">
                <p:oleObj name="Equation" r:id="rId4" imgW="2714566" imgH="352350" progId="Equation.3">
                  <p:embed/>
                </p:oleObj>
              </mc:Choice>
              <mc:Fallback>
                <p:oleObj name="Equation" r:id="rId4" imgW="2714566" imgH="352350" progId="Equation.3">
                  <p:embed/>
                  <p:pic>
                    <p:nvPicPr>
                      <p:cNvPr id="0"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403350" y="3716338"/>
                        <a:ext cx="6667500" cy="10302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Rectangle 2"/>
          <p:cNvSpPr>
            <a:spLocks noGrp="1" noChangeArrowheads="1"/>
          </p:cNvSpPr>
          <p:nvPr>
            <p:ph/>
          </p:nvPr>
        </p:nvSpPr>
        <p:spPr/>
        <p:txBody>
          <a:bodyPr/>
          <a:lstStyle/>
          <a:p>
            <a:pPr eaLnBrk="1" hangingPunct="1">
              <a:lnSpc>
                <a:spcPct val="120000"/>
              </a:lnSpc>
            </a:pPr>
            <a:r>
              <a:rPr lang="en-US" altLang="zh-CN" b="1" dirty="0">
                <a:solidFill>
                  <a:schemeClr val="hlink"/>
                </a:solidFill>
                <a:latin typeface="Times New Roman" panose="02020603050405020304" pitchFamily="18" charset="0"/>
                <a:ea typeface="楷体" panose="02010609060101010101" pitchFamily="49" charset="-122"/>
                <a:cs typeface="Times New Roman" panose="02020603050405020304" pitchFamily="18" charset="0"/>
              </a:rPr>
              <a:t>C</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 </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在数字逻辑等后继课程中的应用</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a:t>
            </a:r>
          </a:p>
          <a:p>
            <a:pPr eaLnBrk="1" hangingPunct="1">
              <a:lnSpc>
                <a:spcPct val="120000"/>
              </a:lnSpc>
            </a:pPr>
            <a:r>
              <a:rPr lang="zh-CN" altLang="en-US" b="1" dirty="0">
                <a:latin typeface="Times New Roman" panose="02020603050405020304" pitchFamily="18" charset="0"/>
                <a:ea typeface="楷体" panose="02010609060101010101" pitchFamily="49" charset="-122"/>
                <a:cs typeface="Times New Roman" panose="02020603050405020304" pitchFamily="18" charset="0"/>
              </a:rPr>
              <a:t>例</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3-25 </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设公式</a:t>
            </a:r>
            <a:r>
              <a:rPr lang="en-US" altLang="zh-CN" b="1" i="1" dirty="0">
                <a:latin typeface="Times New Roman" panose="02020603050405020304" pitchFamily="18" charset="0"/>
                <a:ea typeface="楷体" panose="02010609060101010101" pitchFamily="49" charset="-122"/>
                <a:cs typeface="Times New Roman" panose="02020603050405020304" pitchFamily="18" charset="0"/>
              </a:rPr>
              <a:t>A</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的真值表如下</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 </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求</a:t>
            </a:r>
            <a:r>
              <a:rPr lang="en-US" altLang="zh-CN" b="1" i="1" dirty="0">
                <a:latin typeface="Times New Roman" panose="02020603050405020304" pitchFamily="18" charset="0"/>
                <a:ea typeface="楷体" panose="02010609060101010101" pitchFamily="49" charset="-122"/>
                <a:cs typeface="Times New Roman" panose="02020603050405020304" pitchFamily="18" charset="0"/>
              </a:rPr>
              <a:t>A</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a:t>
            </a:r>
          </a:p>
          <a:p>
            <a:pPr eaLnBrk="1" hangingPunct="1">
              <a:lnSpc>
                <a:spcPct val="120000"/>
              </a:lnSpc>
            </a:pPr>
            <a:endParaRPr lang="en-US" altLang="zh-CN" b="1" dirty="0">
              <a:latin typeface="Times New Roman" pitchFamily="18" charset="0"/>
            </a:endParaRPr>
          </a:p>
        </p:txBody>
      </p:sp>
      <p:graphicFrame>
        <p:nvGraphicFramePr>
          <p:cNvPr id="129027" name="Group 3"/>
          <p:cNvGraphicFramePr>
            <a:graphicFrameLocks noGrp="1"/>
          </p:cNvGraphicFramePr>
          <p:nvPr/>
        </p:nvGraphicFramePr>
        <p:xfrm>
          <a:off x="1547813" y="1773238"/>
          <a:ext cx="6096000" cy="4664079"/>
        </p:xfrm>
        <a:graphic>
          <a:graphicData uri="http://schemas.openxmlformats.org/drawingml/2006/table">
            <a:tbl>
              <a:tblPr/>
              <a:tblGrid>
                <a:gridCol w="1524000">
                  <a:extLst>
                    <a:ext uri="{9D8B030D-6E8A-4147-A177-3AD203B41FA5}">
                      <a16:colId xmlns:a16="http://schemas.microsoft.com/office/drawing/2014/main" val="20000"/>
                    </a:ext>
                  </a:extLst>
                </a:gridCol>
                <a:gridCol w="1524000">
                  <a:extLst>
                    <a:ext uri="{9D8B030D-6E8A-4147-A177-3AD203B41FA5}">
                      <a16:colId xmlns:a16="http://schemas.microsoft.com/office/drawing/2014/main" val="20001"/>
                    </a:ext>
                  </a:extLst>
                </a:gridCol>
                <a:gridCol w="1524000">
                  <a:extLst>
                    <a:ext uri="{9D8B030D-6E8A-4147-A177-3AD203B41FA5}">
                      <a16:colId xmlns:a16="http://schemas.microsoft.com/office/drawing/2014/main" val="20002"/>
                    </a:ext>
                  </a:extLst>
                </a:gridCol>
                <a:gridCol w="1524000">
                  <a:extLst>
                    <a:ext uri="{9D8B030D-6E8A-4147-A177-3AD203B41FA5}">
                      <a16:colId xmlns:a16="http://schemas.microsoft.com/office/drawing/2014/main" val="20003"/>
                    </a:ext>
                  </a:extLst>
                </a:gridCol>
              </a:tblGrid>
              <a:tr h="518231">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1" i="1" u="none" strike="noStrike" cap="none" normalizeH="0" baseline="0">
                          <a:ln>
                            <a:noFill/>
                          </a:ln>
                          <a:solidFill>
                            <a:schemeClr val="tx1"/>
                          </a:solidFill>
                          <a:effectLst/>
                          <a:latin typeface="Times New Roman" pitchFamily="18" charset="0"/>
                          <a:ea typeface="宋体" pitchFamily="2" charset="-122"/>
                        </a:rPr>
                        <a:t>p</a:t>
                      </a:r>
                    </a:p>
                  </a:txBody>
                  <a:tcPr marT="45726" marB="45726"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1" i="1" u="none" strike="noStrike" cap="none" normalizeH="0" baseline="0">
                          <a:ln>
                            <a:noFill/>
                          </a:ln>
                          <a:solidFill>
                            <a:schemeClr val="tx1"/>
                          </a:solidFill>
                          <a:effectLst/>
                          <a:latin typeface="Times New Roman" pitchFamily="18" charset="0"/>
                          <a:ea typeface="宋体" pitchFamily="2" charset="-122"/>
                        </a:rPr>
                        <a:t>q</a:t>
                      </a:r>
                    </a:p>
                  </a:txBody>
                  <a:tcPr marT="45726" marB="4572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1" i="1" u="none" strike="noStrike" cap="none" normalizeH="0" baseline="0">
                          <a:ln>
                            <a:noFill/>
                          </a:ln>
                          <a:solidFill>
                            <a:schemeClr val="tx1"/>
                          </a:solidFill>
                          <a:effectLst/>
                          <a:latin typeface="Times New Roman" pitchFamily="18" charset="0"/>
                          <a:ea typeface="宋体" pitchFamily="2" charset="-122"/>
                        </a:rPr>
                        <a:t>r</a:t>
                      </a:r>
                    </a:p>
                  </a:txBody>
                  <a:tcPr marT="45726" marB="4572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1" i="1" u="none" strike="noStrike" cap="none" normalizeH="0" baseline="0">
                          <a:ln>
                            <a:noFill/>
                          </a:ln>
                          <a:solidFill>
                            <a:schemeClr val="tx1"/>
                          </a:solidFill>
                          <a:effectLst/>
                          <a:latin typeface="Times New Roman" pitchFamily="18" charset="0"/>
                          <a:ea typeface="宋体" pitchFamily="2" charset="-122"/>
                        </a:rPr>
                        <a:t>A</a:t>
                      </a:r>
                    </a:p>
                  </a:txBody>
                  <a:tcPr marT="45726" marB="45726"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18231">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1" i="0" u="none" strike="noStrike" cap="none" normalizeH="0" baseline="0">
                          <a:ln>
                            <a:noFill/>
                          </a:ln>
                          <a:solidFill>
                            <a:schemeClr val="tx1"/>
                          </a:solidFill>
                          <a:effectLst/>
                          <a:latin typeface="Times New Roman" pitchFamily="18" charset="0"/>
                          <a:ea typeface="宋体" pitchFamily="2" charset="-122"/>
                        </a:rPr>
                        <a:t>1</a:t>
                      </a:r>
                    </a:p>
                  </a:txBody>
                  <a:tcPr marT="45726" marB="45726"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1" i="0" u="none" strike="noStrike" cap="none" normalizeH="0" baseline="0">
                          <a:ln>
                            <a:noFill/>
                          </a:ln>
                          <a:solidFill>
                            <a:schemeClr val="tx1"/>
                          </a:solidFill>
                          <a:effectLst/>
                          <a:latin typeface="Times New Roman" pitchFamily="18" charset="0"/>
                          <a:ea typeface="宋体" pitchFamily="2" charset="-122"/>
                        </a:rPr>
                        <a:t>1</a:t>
                      </a:r>
                    </a:p>
                  </a:txBody>
                  <a:tcPr marT="45726" marB="4572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1" i="0" u="none" strike="noStrike" cap="none" normalizeH="0" baseline="0">
                          <a:ln>
                            <a:noFill/>
                          </a:ln>
                          <a:solidFill>
                            <a:schemeClr val="tx1"/>
                          </a:solidFill>
                          <a:effectLst/>
                          <a:latin typeface="Times New Roman" pitchFamily="18" charset="0"/>
                          <a:ea typeface="宋体" pitchFamily="2" charset="-122"/>
                        </a:rPr>
                        <a:t>1</a:t>
                      </a:r>
                    </a:p>
                  </a:txBody>
                  <a:tcPr marT="45726" marB="4572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1" i="0" u="none" strike="noStrike" cap="none" normalizeH="0" baseline="0">
                          <a:ln>
                            <a:noFill/>
                          </a:ln>
                          <a:solidFill>
                            <a:schemeClr val="tx1"/>
                          </a:solidFill>
                          <a:effectLst/>
                          <a:latin typeface="Times New Roman" pitchFamily="18" charset="0"/>
                          <a:ea typeface="宋体" pitchFamily="2" charset="-122"/>
                        </a:rPr>
                        <a:t>1</a:t>
                      </a:r>
                    </a:p>
                  </a:txBody>
                  <a:tcPr marT="45726" marB="45726"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18231">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1" i="0" u="none" strike="noStrike" cap="none" normalizeH="0" baseline="0">
                          <a:ln>
                            <a:noFill/>
                          </a:ln>
                          <a:solidFill>
                            <a:schemeClr val="tx1"/>
                          </a:solidFill>
                          <a:effectLst/>
                          <a:latin typeface="Times New Roman" pitchFamily="18" charset="0"/>
                          <a:ea typeface="宋体" pitchFamily="2" charset="-122"/>
                        </a:rPr>
                        <a:t>1</a:t>
                      </a:r>
                    </a:p>
                  </a:txBody>
                  <a:tcPr marT="45726" marB="45726"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1" i="0" u="none" strike="noStrike" cap="none" normalizeH="0" baseline="0">
                          <a:ln>
                            <a:noFill/>
                          </a:ln>
                          <a:solidFill>
                            <a:schemeClr val="tx1"/>
                          </a:solidFill>
                          <a:effectLst/>
                          <a:latin typeface="Times New Roman" pitchFamily="18" charset="0"/>
                          <a:ea typeface="宋体" pitchFamily="2" charset="-122"/>
                        </a:rPr>
                        <a:t>1</a:t>
                      </a:r>
                    </a:p>
                  </a:txBody>
                  <a:tcPr marT="45726" marB="4572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1" i="0" u="none" strike="noStrike" cap="none" normalizeH="0" baseline="0">
                          <a:ln>
                            <a:noFill/>
                          </a:ln>
                          <a:solidFill>
                            <a:schemeClr val="tx1"/>
                          </a:solidFill>
                          <a:effectLst/>
                          <a:latin typeface="Times New Roman" pitchFamily="18" charset="0"/>
                          <a:ea typeface="宋体" pitchFamily="2" charset="-122"/>
                        </a:rPr>
                        <a:t>0</a:t>
                      </a:r>
                    </a:p>
                  </a:txBody>
                  <a:tcPr marT="45726" marB="4572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1" i="0" u="none" strike="noStrike" cap="none" normalizeH="0" baseline="0">
                          <a:ln>
                            <a:noFill/>
                          </a:ln>
                          <a:solidFill>
                            <a:schemeClr val="tx1"/>
                          </a:solidFill>
                          <a:effectLst/>
                          <a:latin typeface="Times New Roman" pitchFamily="18" charset="0"/>
                          <a:ea typeface="宋体" pitchFamily="2" charset="-122"/>
                        </a:rPr>
                        <a:t>0</a:t>
                      </a:r>
                    </a:p>
                  </a:txBody>
                  <a:tcPr marT="45726" marB="45726"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518231">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1" i="0" u="none" strike="noStrike" cap="none" normalizeH="0" baseline="0">
                          <a:ln>
                            <a:noFill/>
                          </a:ln>
                          <a:solidFill>
                            <a:schemeClr val="tx1"/>
                          </a:solidFill>
                          <a:effectLst/>
                          <a:latin typeface="Times New Roman" pitchFamily="18" charset="0"/>
                          <a:ea typeface="宋体" pitchFamily="2" charset="-122"/>
                        </a:rPr>
                        <a:t>1</a:t>
                      </a:r>
                    </a:p>
                  </a:txBody>
                  <a:tcPr marT="45726" marB="45726"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1" i="0" u="none" strike="noStrike" cap="none" normalizeH="0" baseline="0">
                          <a:ln>
                            <a:noFill/>
                          </a:ln>
                          <a:solidFill>
                            <a:schemeClr val="tx1"/>
                          </a:solidFill>
                          <a:effectLst/>
                          <a:latin typeface="Times New Roman" pitchFamily="18" charset="0"/>
                          <a:ea typeface="宋体" pitchFamily="2" charset="-122"/>
                        </a:rPr>
                        <a:t>0</a:t>
                      </a:r>
                    </a:p>
                  </a:txBody>
                  <a:tcPr marT="45726" marB="4572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1" i="0" u="none" strike="noStrike" cap="none" normalizeH="0" baseline="0">
                          <a:ln>
                            <a:noFill/>
                          </a:ln>
                          <a:solidFill>
                            <a:schemeClr val="tx1"/>
                          </a:solidFill>
                          <a:effectLst/>
                          <a:latin typeface="Times New Roman" pitchFamily="18" charset="0"/>
                          <a:ea typeface="宋体" pitchFamily="2" charset="-122"/>
                        </a:rPr>
                        <a:t>1</a:t>
                      </a:r>
                    </a:p>
                  </a:txBody>
                  <a:tcPr marT="45726" marB="4572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1" i="0" u="none" strike="noStrike" cap="none" normalizeH="0" baseline="0">
                          <a:ln>
                            <a:noFill/>
                          </a:ln>
                          <a:solidFill>
                            <a:schemeClr val="tx1"/>
                          </a:solidFill>
                          <a:effectLst/>
                          <a:latin typeface="Times New Roman" pitchFamily="18" charset="0"/>
                          <a:ea typeface="宋体" pitchFamily="2" charset="-122"/>
                        </a:rPr>
                        <a:t>0</a:t>
                      </a:r>
                    </a:p>
                  </a:txBody>
                  <a:tcPr marT="45726" marB="45726"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518231">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1" i="0" u="none" strike="noStrike" cap="none" normalizeH="0" baseline="0">
                          <a:ln>
                            <a:noFill/>
                          </a:ln>
                          <a:solidFill>
                            <a:schemeClr val="tx1"/>
                          </a:solidFill>
                          <a:effectLst/>
                          <a:latin typeface="Times New Roman" pitchFamily="18" charset="0"/>
                          <a:ea typeface="宋体" pitchFamily="2" charset="-122"/>
                        </a:rPr>
                        <a:t>1</a:t>
                      </a:r>
                    </a:p>
                  </a:txBody>
                  <a:tcPr marT="45726" marB="45726"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1" i="0" u="none" strike="noStrike" cap="none" normalizeH="0" baseline="0">
                          <a:ln>
                            <a:noFill/>
                          </a:ln>
                          <a:solidFill>
                            <a:schemeClr val="tx1"/>
                          </a:solidFill>
                          <a:effectLst/>
                          <a:latin typeface="Times New Roman" pitchFamily="18" charset="0"/>
                          <a:ea typeface="宋体" pitchFamily="2" charset="-122"/>
                        </a:rPr>
                        <a:t>0</a:t>
                      </a:r>
                    </a:p>
                  </a:txBody>
                  <a:tcPr marT="45726" marB="4572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1" i="0" u="none" strike="noStrike" cap="none" normalizeH="0" baseline="0">
                          <a:ln>
                            <a:noFill/>
                          </a:ln>
                          <a:solidFill>
                            <a:schemeClr val="tx1"/>
                          </a:solidFill>
                          <a:effectLst/>
                          <a:latin typeface="Times New Roman" pitchFamily="18" charset="0"/>
                          <a:ea typeface="宋体" pitchFamily="2" charset="-122"/>
                        </a:rPr>
                        <a:t>0</a:t>
                      </a:r>
                    </a:p>
                  </a:txBody>
                  <a:tcPr marT="45726" marB="4572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1" i="0" u="none" strike="noStrike" cap="none" normalizeH="0" baseline="0">
                          <a:ln>
                            <a:noFill/>
                          </a:ln>
                          <a:solidFill>
                            <a:schemeClr val="tx1"/>
                          </a:solidFill>
                          <a:effectLst/>
                          <a:latin typeface="Times New Roman" pitchFamily="18" charset="0"/>
                          <a:ea typeface="宋体" pitchFamily="2" charset="-122"/>
                        </a:rPr>
                        <a:t>1</a:t>
                      </a:r>
                    </a:p>
                  </a:txBody>
                  <a:tcPr marT="45726" marB="45726"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518231">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1" i="0" u="none" strike="noStrike" cap="none" normalizeH="0" baseline="0">
                          <a:ln>
                            <a:noFill/>
                          </a:ln>
                          <a:solidFill>
                            <a:schemeClr val="tx1"/>
                          </a:solidFill>
                          <a:effectLst/>
                          <a:latin typeface="Times New Roman" pitchFamily="18" charset="0"/>
                          <a:ea typeface="宋体" pitchFamily="2" charset="-122"/>
                        </a:rPr>
                        <a:t>0</a:t>
                      </a:r>
                    </a:p>
                  </a:txBody>
                  <a:tcPr marT="45726" marB="45726"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1" i="0" u="none" strike="noStrike" cap="none" normalizeH="0" baseline="0">
                          <a:ln>
                            <a:noFill/>
                          </a:ln>
                          <a:solidFill>
                            <a:schemeClr val="tx1"/>
                          </a:solidFill>
                          <a:effectLst/>
                          <a:latin typeface="Times New Roman" pitchFamily="18" charset="0"/>
                          <a:ea typeface="宋体" pitchFamily="2" charset="-122"/>
                        </a:rPr>
                        <a:t>1</a:t>
                      </a:r>
                    </a:p>
                  </a:txBody>
                  <a:tcPr marT="45726" marB="4572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1" i="0" u="none" strike="noStrike" cap="none" normalizeH="0" baseline="0">
                          <a:ln>
                            <a:noFill/>
                          </a:ln>
                          <a:solidFill>
                            <a:schemeClr val="tx1"/>
                          </a:solidFill>
                          <a:effectLst/>
                          <a:latin typeface="Times New Roman" pitchFamily="18" charset="0"/>
                          <a:ea typeface="宋体" pitchFamily="2" charset="-122"/>
                        </a:rPr>
                        <a:t>1</a:t>
                      </a:r>
                    </a:p>
                  </a:txBody>
                  <a:tcPr marT="45726" marB="4572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1" i="0" u="none" strike="noStrike" cap="none" normalizeH="0" baseline="0">
                          <a:ln>
                            <a:noFill/>
                          </a:ln>
                          <a:solidFill>
                            <a:schemeClr val="tx1"/>
                          </a:solidFill>
                          <a:effectLst/>
                          <a:latin typeface="Times New Roman" pitchFamily="18" charset="0"/>
                          <a:ea typeface="宋体" pitchFamily="2" charset="-122"/>
                        </a:rPr>
                        <a:t>0</a:t>
                      </a:r>
                    </a:p>
                  </a:txBody>
                  <a:tcPr marT="45726" marB="45726"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518231">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1" i="0" u="none" strike="noStrike" cap="none" normalizeH="0" baseline="0">
                          <a:ln>
                            <a:noFill/>
                          </a:ln>
                          <a:solidFill>
                            <a:schemeClr val="tx1"/>
                          </a:solidFill>
                          <a:effectLst/>
                          <a:latin typeface="Times New Roman" pitchFamily="18" charset="0"/>
                          <a:ea typeface="宋体" pitchFamily="2" charset="-122"/>
                        </a:rPr>
                        <a:t>0</a:t>
                      </a:r>
                    </a:p>
                  </a:txBody>
                  <a:tcPr marT="45726" marB="45726"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1" i="0" u="none" strike="noStrike" cap="none" normalizeH="0" baseline="0">
                          <a:ln>
                            <a:noFill/>
                          </a:ln>
                          <a:solidFill>
                            <a:schemeClr val="tx1"/>
                          </a:solidFill>
                          <a:effectLst/>
                          <a:latin typeface="Times New Roman" pitchFamily="18" charset="0"/>
                          <a:ea typeface="宋体" pitchFamily="2" charset="-122"/>
                        </a:rPr>
                        <a:t>1</a:t>
                      </a:r>
                    </a:p>
                  </a:txBody>
                  <a:tcPr marT="45726" marB="4572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1" i="0" u="none" strike="noStrike" cap="none" normalizeH="0" baseline="0">
                          <a:ln>
                            <a:noFill/>
                          </a:ln>
                          <a:solidFill>
                            <a:schemeClr val="tx1"/>
                          </a:solidFill>
                          <a:effectLst/>
                          <a:latin typeface="Times New Roman" pitchFamily="18" charset="0"/>
                          <a:ea typeface="宋体" pitchFamily="2" charset="-122"/>
                        </a:rPr>
                        <a:t>0</a:t>
                      </a:r>
                    </a:p>
                  </a:txBody>
                  <a:tcPr marT="45726" marB="4572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1" i="0" u="none" strike="noStrike" cap="none" normalizeH="0" baseline="0">
                          <a:ln>
                            <a:noFill/>
                          </a:ln>
                          <a:solidFill>
                            <a:schemeClr val="tx1"/>
                          </a:solidFill>
                          <a:effectLst/>
                          <a:latin typeface="Times New Roman" pitchFamily="18" charset="0"/>
                          <a:ea typeface="宋体" pitchFamily="2" charset="-122"/>
                        </a:rPr>
                        <a:t>0</a:t>
                      </a:r>
                    </a:p>
                  </a:txBody>
                  <a:tcPr marT="45726" marB="45726"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518231">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1" i="0" u="none" strike="noStrike" cap="none" normalizeH="0" baseline="0">
                          <a:ln>
                            <a:noFill/>
                          </a:ln>
                          <a:solidFill>
                            <a:schemeClr val="tx1"/>
                          </a:solidFill>
                          <a:effectLst/>
                          <a:latin typeface="Times New Roman" pitchFamily="18" charset="0"/>
                          <a:ea typeface="宋体" pitchFamily="2" charset="-122"/>
                        </a:rPr>
                        <a:t>0</a:t>
                      </a:r>
                    </a:p>
                  </a:txBody>
                  <a:tcPr marT="45726" marB="45726"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1" i="0" u="none" strike="noStrike" cap="none" normalizeH="0" baseline="0">
                          <a:ln>
                            <a:noFill/>
                          </a:ln>
                          <a:solidFill>
                            <a:schemeClr val="tx1"/>
                          </a:solidFill>
                          <a:effectLst/>
                          <a:latin typeface="Times New Roman" pitchFamily="18" charset="0"/>
                          <a:ea typeface="宋体" pitchFamily="2" charset="-122"/>
                        </a:rPr>
                        <a:t>0</a:t>
                      </a:r>
                    </a:p>
                  </a:txBody>
                  <a:tcPr marT="45726" marB="4572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1" i="0" u="none" strike="noStrike" cap="none" normalizeH="0" baseline="0">
                          <a:ln>
                            <a:noFill/>
                          </a:ln>
                          <a:solidFill>
                            <a:schemeClr val="tx1"/>
                          </a:solidFill>
                          <a:effectLst/>
                          <a:latin typeface="Times New Roman" pitchFamily="18" charset="0"/>
                          <a:ea typeface="宋体" pitchFamily="2" charset="-122"/>
                        </a:rPr>
                        <a:t>1</a:t>
                      </a:r>
                    </a:p>
                  </a:txBody>
                  <a:tcPr marT="45726" marB="4572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1" i="0" u="none" strike="noStrike" cap="none" normalizeH="0" baseline="0">
                          <a:ln>
                            <a:noFill/>
                          </a:ln>
                          <a:solidFill>
                            <a:schemeClr val="tx1"/>
                          </a:solidFill>
                          <a:effectLst/>
                          <a:latin typeface="Times New Roman" pitchFamily="18" charset="0"/>
                          <a:ea typeface="宋体" pitchFamily="2" charset="-122"/>
                        </a:rPr>
                        <a:t>0</a:t>
                      </a:r>
                    </a:p>
                  </a:txBody>
                  <a:tcPr marT="45726" marB="45726"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518231">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1" i="0" u="none" strike="noStrike" cap="none" normalizeH="0" baseline="0">
                          <a:ln>
                            <a:noFill/>
                          </a:ln>
                          <a:solidFill>
                            <a:schemeClr val="tx1"/>
                          </a:solidFill>
                          <a:effectLst/>
                          <a:latin typeface="Times New Roman" pitchFamily="18" charset="0"/>
                          <a:ea typeface="宋体" pitchFamily="2" charset="-122"/>
                        </a:rPr>
                        <a:t>0</a:t>
                      </a:r>
                    </a:p>
                  </a:txBody>
                  <a:tcPr marT="45726" marB="45726"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1" i="0" u="none" strike="noStrike" cap="none" normalizeH="0" baseline="0">
                          <a:ln>
                            <a:noFill/>
                          </a:ln>
                          <a:solidFill>
                            <a:schemeClr val="tx1"/>
                          </a:solidFill>
                          <a:effectLst/>
                          <a:latin typeface="Times New Roman" pitchFamily="18" charset="0"/>
                          <a:ea typeface="宋体" pitchFamily="2" charset="-122"/>
                        </a:rPr>
                        <a:t>0</a:t>
                      </a:r>
                    </a:p>
                  </a:txBody>
                  <a:tcPr marT="45726" marB="4572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1" i="0" u="none" strike="noStrike" cap="none" normalizeH="0" baseline="0">
                          <a:ln>
                            <a:noFill/>
                          </a:ln>
                          <a:solidFill>
                            <a:schemeClr val="tx1"/>
                          </a:solidFill>
                          <a:effectLst/>
                          <a:latin typeface="Times New Roman" pitchFamily="18" charset="0"/>
                          <a:ea typeface="宋体" pitchFamily="2" charset="-122"/>
                        </a:rPr>
                        <a:t>0</a:t>
                      </a:r>
                    </a:p>
                  </a:txBody>
                  <a:tcPr marT="45726" marB="4572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1" i="0" u="none" strike="noStrike" cap="none" normalizeH="0" baseline="0">
                          <a:ln>
                            <a:noFill/>
                          </a:ln>
                          <a:solidFill>
                            <a:schemeClr val="tx1"/>
                          </a:solidFill>
                          <a:effectLst/>
                          <a:latin typeface="Times New Roman" pitchFamily="18" charset="0"/>
                          <a:ea typeface="宋体" pitchFamily="2" charset="-122"/>
                        </a:rPr>
                        <a:t>1</a:t>
                      </a:r>
                    </a:p>
                  </a:txBody>
                  <a:tcPr marT="45726" marB="45726"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bl>
          </a:graphicData>
        </a:graphic>
      </p:graphicFrame>
    </p:spTree>
  </p:cSld>
  <p:clrMapOvr>
    <a:masterClrMapping/>
  </p:clrMapOvr>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Rectangle 2"/>
          <p:cNvSpPr>
            <a:spLocks noGrp="1" noChangeArrowheads="1"/>
          </p:cNvSpPr>
          <p:nvPr>
            <p:ph/>
          </p:nvPr>
        </p:nvSpPr>
        <p:spPr/>
        <p:txBody>
          <a:bodyPr/>
          <a:lstStyle/>
          <a:p>
            <a:pPr eaLnBrk="1" hangingPunct="1">
              <a:lnSpc>
                <a:spcPct val="120000"/>
              </a:lnSpc>
            </a:pPr>
            <a:endParaRPr lang="en-US" altLang="zh-CN" b="1" dirty="0"/>
          </a:p>
          <a:p>
            <a:pPr eaLnBrk="1" hangingPunct="1">
              <a:lnSpc>
                <a:spcPct val="120000"/>
              </a:lnSpc>
            </a:pPr>
            <a:endParaRPr lang="en-US" altLang="zh-CN" b="1" dirty="0"/>
          </a:p>
          <a:p>
            <a:pPr eaLnBrk="1" hangingPunct="1">
              <a:lnSpc>
                <a:spcPct val="120000"/>
              </a:lnSpc>
            </a:pPr>
            <a:endParaRPr lang="en-US" altLang="zh-CN" b="1" dirty="0"/>
          </a:p>
          <a:p>
            <a:pPr eaLnBrk="1" hangingPunct="1">
              <a:lnSpc>
                <a:spcPct val="120000"/>
              </a:lnSpc>
            </a:pPr>
            <a:endParaRPr lang="en-US" altLang="zh-CN" b="1" dirty="0"/>
          </a:p>
          <a:p>
            <a:pPr eaLnBrk="1" hangingPunct="1">
              <a:lnSpc>
                <a:spcPct val="120000"/>
              </a:lnSpc>
            </a:pPr>
            <a:endParaRPr lang="en-US" altLang="zh-CN" b="1" dirty="0"/>
          </a:p>
          <a:p>
            <a:pPr eaLnBrk="1" hangingPunct="1">
              <a:lnSpc>
                <a:spcPct val="120000"/>
              </a:lnSpc>
            </a:pPr>
            <a:r>
              <a:rPr lang="zh-CN" altLang="en-US" b="1" dirty="0">
                <a:latin typeface="Times New Roman" panose="02020603050405020304" pitchFamily="18" charset="0"/>
                <a:ea typeface="楷体" panose="02010609060101010101" pitchFamily="49" charset="-122"/>
                <a:cs typeface="Times New Roman" panose="02020603050405020304" pitchFamily="18" charset="0"/>
              </a:rPr>
              <a:t>将</a:t>
            </a:r>
            <a:r>
              <a:rPr lang="en-US" altLang="zh-CN" b="1" i="1" dirty="0">
                <a:latin typeface="Times New Roman" panose="02020603050405020304" pitchFamily="18" charset="0"/>
                <a:ea typeface="楷体" panose="02010609060101010101" pitchFamily="49" charset="-122"/>
                <a:cs typeface="Times New Roman" panose="02020603050405020304" pitchFamily="18" charset="0"/>
              </a:rPr>
              <a:t>A</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化简</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a:t>
            </a:r>
          </a:p>
          <a:p>
            <a:pPr eaLnBrk="1" hangingPunct="1">
              <a:lnSpc>
                <a:spcPct val="120000"/>
              </a:lnSpc>
            </a:pPr>
            <a:r>
              <a:rPr lang="zh-CN" altLang="en-US" b="1" dirty="0">
                <a:latin typeface="Times New Roman" panose="02020603050405020304" pitchFamily="18" charset="0"/>
                <a:ea typeface="楷体" panose="02010609060101010101" pitchFamily="49" charset="-122"/>
                <a:cs typeface="Times New Roman" panose="02020603050405020304" pitchFamily="18" charset="0"/>
              </a:rPr>
              <a:t>门电路实现</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a:t>
            </a:r>
          </a:p>
        </p:txBody>
      </p:sp>
      <p:graphicFrame>
        <p:nvGraphicFramePr>
          <p:cNvPr id="122883" name="Object 3"/>
          <p:cNvGraphicFramePr>
            <a:graphicFrameLocks noChangeAspect="1"/>
          </p:cNvGraphicFramePr>
          <p:nvPr>
            <p:extLst>
              <p:ext uri="{D42A27DB-BD31-4B8C-83A1-F6EECF244321}">
                <p14:modId xmlns:p14="http://schemas.microsoft.com/office/powerpoint/2010/main" val="2227166046"/>
              </p:ext>
            </p:extLst>
          </p:nvPr>
        </p:nvGraphicFramePr>
        <p:xfrm>
          <a:off x="755576" y="1052513"/>
          <a:ext cx="7992888" cy="471417"/>
        </p:xfrm>
        <a:graphic>
          <a:graphicData uri="http://schemas.openxmlformats.org/presentationml/2006/ole">
            <mc:AlternateContent xmlns:mc="http://schemas.openxmlformats.org/markup-compatibility/2006">
              <mc:Choice xmlns:v="urn:schemas-microsoft-com:vml" Requires="v">
                <p:oleObj name="Equation" r:id="rId2" imgW="2981457" imgH="123930" progId="Equation.3">
                  <p:embed/>
                </p:oleObj>
              </mc:Choice>
              <mc:Fallback>
                <p:oleObj name="Equation" r:id="rId2" imgW="2981457" imgH="123930" progId="Equation.3">
                  <p:embed/>
                  <p:pic>
                    <p:nvPicPr>
                      <p:cNvPr id="0" name="Object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5576" y="1052513"/>
                        <a:ext cx="7992888" cy="471417"/>
                      </a:xfrm>
                      <a:prstGeom prst="rect">
                        <a:avLst/>
                      </a:prstGeom>
                      <a:noFill/>
                      <a:ln>
                        <a:noFill/>
                      </a:ln>
                      <a:effectLst/>
                    </p:spPr>
                  </p:pic>
                </p:oleObj>
              </mc:Fallback>
            </mc:AlternateContent>
          </a:graphicData>
        </a:graphic>
      </p:graphicFrame>
      <p:graphicFrame>
        <p:nvGraphicFramePr>
          <p:cNvPr id="122884" name="Object 4"/>
          <p:cNvGraphicFramePr>
            <a:graphicFrameLocks noChangeAspect="1"/>
          </p:cNvGraphicFramePr>
          <p:nvPr/>
        </p:nvGraphicFramePr>
        <p:xfrm>
          <a:off x="785813" y="2276475"/>
          <a:ext cx="7427912" cy="1028700"/>
        </p:xfrm>
        <a:graphic>
          <a:graphicData uri="http://schemas.openxmlformats.org/presentationml/2006/ole">
            <mc:AlternateContent xmlns:mc="http://schemas.openxmlformats.org/markup-compatibility/2006">
              <mc:Choice xmlns:v="urn:schemas-microsoft-com:vml" Requires="v">
                <p:oleObj name="Equation" r:id="rId4" imgW="3038455" imgH="352350" progId="Equation.3">
                  <p:embed/>
                </p:oleObj>
              </mc:Choice>
              <mc:Fallback>
                <p:oleObj name="Equation" r:id="rId4" imgW="3038455" imgH="352350" progId="Equation.3">
                  <p:embed/>
                  <p:pic>
                    <p:nvPicPr>
                      <p:cNvPr id="0"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85813" y="2276475"/>
                        <a:ext cx="7427912" cy="1028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Rectangle 2"/>
          <p:cNvSpPr>
            <a:spLocks noGrp="1" noChangeArrowheads="1"/>
          </p:cNvSpPr>
          <p:nvPr>
            <p:ph/>
          </p:nvPr>
        </p:nvSpPr>
        <p:spPr/>
        <p:txBody>
          <a:bodyPr/>
          <a:lstStyle/>
          <a:p>
            <a:pPr eaLnBrk="1" hangingPunct="1">
              <a:lnSpc>
                <a:spcPct val="120000"/>
              </a:lnSpc>
            </a:pPr>
            <a:r>
              <a:rPr lang="zh-CN" altLang="en-US" b="1" dirty="0">
                <a:latin typeface="Times New Roman" panose="02020603050405020304" pitchFamily="18" charset="0"/>
                <a:ea typeface="楷体" panose="02010609060101010101" pitchFamily="49" charset="-122"/>
                <a:cs typeface="Times New Roman" panose="02020603050405020304" pitchFamily="18" charset="0"/>
              </a:rPr>
              <a:t>解法</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1</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比解法</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2</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好</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 </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因为极小项的个数为</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3</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而最大项的个数为</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5, </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所以在电路实现时对</a:t>
            </a:r>
            <a:r>
              <a:rPr lang="en-US" altLang="zh-CN" b="1" i="1" dirty="0">
                <a:latin typeface="Times New Roman" panose="02020603050405020304" pitchFamily="18" charset="0"/>
                <a:ea typeface="楷体" panose="02010609060101010101" pitchFamily="49" charset="-122"/>
                <a:cs typeface="Times New Roman" panose="02020603050405020304" pitchFamily="18" charset="0"/>
              </a:rPr>
              <a:t>A</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进行的化简要容易些</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 </a:t>
            </a:r>
          </a:p>
          <a:p>
            <a:pPr eaLnBrk="1" hangingPunct="1">
              <a:lnSpc>
                <a:spcPct val="120000"/>
              </a:lnSpc>
            </a:pPr>
            <a:r>
              <a:rPr lang="zh-CN" altLang="en-US" b="1" dirty="0">
                <a:latin typeface="Times New Roman" panose="02020603050405020304" pitchFamily="18" charset="0"/>
                <a:ea typeface="楷体" panose="02010609060101010101" pitchFamily="49" charset="-122"/>
                <a:cs typeface="Times New Roman" panose="02020603050405020304" pitchFamily="18" charset="0"/>
              </a:rPr>
              <a:t>只要给出了一个命题公式的真值表</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就可以将该命题公式</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的表达式</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求出来</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 </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这一点在</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3.6</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节中也会用到</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a:t>
            </a:r>
          </a:p>
          <a:p>
            <a:pPr eaLnBrk="1" hangingPunct="1">
              <a:lnSpc>
                <a:spcPct val="120000"/>
              </a:lnSpc>
            </a:pPr>
            <a:r>
              <a:rPr lang="zh-CN" altLang="en-US" b="1" dirty="0">
                <a:latin typeface="Times New Roman" panose="02020603050405020304" pitchFamily="18" charset="0"/>
                <a:ea typeface="楷体" panose="02010609060101010101" pitchFamily="49" charset="-122"/>
                <a:cs typeface="Times New Roman" panose="02020603050405020304" pitchFamily="18" charset="0"/>
              </a:rPr>
              <a:t>另外</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 </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根据真值表法可知</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若得出了命题公式的主析取范式</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 </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则可以得出使为真的所有指派</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 </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进而得出使为假的所有指派</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 </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因此可以得出命题公式的主合取范式</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 </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反过来亦然</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a:t>
            </a:r>
          </a:p>
          <a:p>
            <a:pPr eaLnBrk="1" hangingPunct="1">
              <a:lnSpc>
                <a:spcPct val="120000"/>
              </a:lnSpc>
            </a:pPr>
            <a:endParaRPr lang="en-US" altLang="zh-CN" b="1" dirty="0">
              <a:latin typeface="Times New Roman" panose="02020603050405020304" pitchFamily="18" charset="0"/>
              <a:ea typeface="楷体" panose="02010609060101010101" pitchFamily="49" charset="-122"/>
              <a:cs typeface="Times New Roman" panose="02020603050405020304" pitchFamily="18" charset="0"/>
            </a:endParaRPr>
          </a:p>
        </p:txBody>
      </p:sp>
    </p:spTree>
  </p:cSld>
  <p:clrMapOvr>
    <a:masterClrMapping/>
  </p:clrMapOvr>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2" name="AutoShape 2"/>
          <p:cNvSpPr>
            <a:spLocks noChangeArrowheads="1"/>
          </p:cNvSpPr>
          <p:nvPr/>
        </p:nvSpPr>
        <p:spPr bwMode="ltGray">
          <a:xfrm rot="5400000">
            <a:off x="-2251074" y="1573212"/>
            <a:ext cx="4824412" cy="4646613"/>
          </a:xfrm>
          <a:custGeom>
            <a:avLst/>
            <a:gdLst>
              <a:gd name="G0" fmla="+- 10594 0 0"/>
              <a:gd name="G1" fmla="+- -10553582 0 0"/>
              <a:gd name="G2" fmla="+- 0 0 -10553582"/>
              <a:gd name="T0" fmla="*/ 0 256 1"/>
              <a:gd name="T1" fmla="*/ 180 256 1"/>
              <a:gd name="G3" fmla="+- -10553582 T0 T1"/>
              <a:gd name="T2" fmla="*/ 0 256 1"/>
              <a:gd name="T3" fmla="*/ 90 256 1"/>
              <a:gd name="G4" fmla="+- -10553582 T2 T3"/>
              <a:gd name="G5" fmla="*/ G4 2 1"/>
              <a:gd name="T4" fmla="*/ 90 256 1"/>
              <a:gd name="T5" fmla="*/ 0 256 1"/>
              <a:gd name="G6" fmla="+- -10553582 T4 T5"/>
              <a:gd name="G7" fmla="*/ G6 2 1"/>
              <a:gd name="G8" fmla="abs -10553582"/>
              <a:gd name="T6" fmla="*/ 0 256 1"/>
              <a:gd name="T7" fmla="*/ 90 256 1"/>
              <a:gd name="G9" fmla="+- G8 T6 T7"/>
              <a:gd name="G10" fmla="?: G9 G7 G5"/>
              <a:gd name="T8" fmla="*/ 0 256 1"/>
              <a:gd name="T9" fmla="*/ 360 256 1"/>
              <a:gd name="G11" fmla="+- G10 T8 T9"/>
              <a:gd name="G12" fmla="?: G10 G11 G10"/>
              <a:gd name="T10" fmla="*/ 0 256 1"/>
              <a:gd name="T11" fmla="*/ 360 256 1"/>
              <a:gd name="G13" fmla="+- G12 T10 T11"/>
              <a:gd name="G14" fmla="?: G12 G13 G12"/>
              <a:gd name="G15" fmla="+- 0 0 G14"/>
              <a:gd name="G16" fmla="+- 10800 0 0"/>
              <a:gd name="G17" fmla="+- 10800 0 10594"/>
              <a:gd name="G18" fmla="*/ 10594 1 2"/>
              <a:gd name="G19" fmla="+- G18 5400 0"/>
              <a:gd name="G20" fmla="cos G19 -10553582"/>
              <a:gd name="G21" fmla="sin G19 -10553582"/>
              <a:gd name="G22" fmla="+- G20 10800 0"/>
              <a:gd name="G23" fmla="+- G21 10800 0"/>
              <a:gd name="G24" fmla="+- 10800 0 G20"/>
              <a:gd name="G25" fmla="+- 10594 10800 0"/>
              <a:gd name="G26" fmla="?: G9 G17 G25"/>
              <a:gd name="G27" fmla="?: G9 0 21600"/>
              <a:gd name="G28" fmla="cos 10800 -10553582"/>
              <a:gd name="G29" fmla="sin 10800 -10553582"/>
              <a:gd name="G30" fmla="sin 10594 -10553582"/>
              <a:gd name="G31" fmla="+- G28 10800 0"/>
              <a:gd name="G32" fmla="+- G29 10800 0"/>
              <a:gd name="G33" fmla="+- G30 10800 0"/>
              <a:gd name="G34" fmla="?: G4 0 G31"/>
              <a:gd name="G35" fmla="?: -10553582 G34 0"/>
              <a:gd name="G36" fmla="?: G6 G35 G31"/>
              <a:gd name="G37" fmla="+- 21600 0 G36"/>
              <a:gd name="G38" fmla="?: G4 0 G33"/>
              <a:gd name="G39" fmla="?: -10553582 G38 G32"/>
              <a:gd name="G40" fmla="?: G6 G39 0"/>
              <a:gd name="G41" fmla="?: G4 G32 21600"/>
              <a:gd name="G42" fmla="?: G6 G41 G33"/>
              <a:gd name="T12" fmla="*/ 10800 w 21600"/>
              <a:gd name="T13" fmla="*/ 0 h 21600"/>
              <a:gd name="T14" fmla="*/ 683 w 21600"/>
              <a:gd name="T15" fmla="*/ 7323 h 21600"/>
              <a:gd name="T16" fmla="*/ 10800 w 21600"/>
              <a:gd name="T17" fmla="*/ 206 h 21600"/>
              <a:gd name="T18" fmla="*/ 20917 w 21600"/>
              <a:gd name="T19" fmla="*/ 7323 h 21600"/>
              <a:gd name="T20" fmla="*/ G36 w 21600"/>
              <a:gd name="T21" fmla="*/ G40 h 21600"/>
              <a:gd name="T22" fmla="*/ G37 w 21600"/>
              <a:gd name="T23" fmla="*/ G42 h 21600"/>
            </a:gdLst>
            <a:ahLst/>
            <a:cxnLst>
              <a:cxn ang="0">
                <a:pos x="T12" y="T13"/>
              </a:cxn>
              <a:cxn ang="0">
                <a:pos x="T14" y="T15"/>
              </a:cxn>
              <a:cxn ang="0">
                <a:pos x="T16" y="T17"/>
              </a:cxn>
              <a:cxn ang="0">
                <a:pos x="T18" y="T19"/>
              </a:cxn>
            </a:cxnLst>
            <a:rect l="T20" t="T21" r="T22" b="T23"/>
            <a:pathLst>
              <a:path w="21600" h="21600">
                <a:moveTo>
                  <a:pt x="781" y="7357"/>
                </a:moveTo>
                <a:cubicBezTo>
                  <a:pt x="2251" y="3078"/>
                  <a:pt x="6276" y="205"/>
                  <a:pt x="10800" y="206"/>
                </a:cubicBezTo>
                <a:cubicBezTo>
                  <a:pt x="15323" y="206"/>
                  <a:pt x="19348" y="3078"/>
                  <a:pt x="20818" y="7357"/>
                </a:cubicBezTo>
                <a:lnTo>
                  <a:pt x="21013" y="7290"/>
                </a:lnTo>
                <a:cubicBezTo>
                  <a:pt x="19514" y="2928"/>
                  <a:pt x="15411" y="-1"/>
                  <a:pt x="10799" y="0"/>
                </a:cubicBezTo>
                <a:cubicBezTo>
                  <a:pt x="6188" y="0"/>
                  <a:pt x="2085" y="2928"/>
                  <a:pt x="586" y="7290"/>
                </a:cubicBezTo>
                <a:close/>
              </a:path>
            </a:pathLst>
          </a:custGeom>
          <a:gradFill rotWithShape="1">
            <a:gsLst>
              <a:gs pos="0">
                <a:schemeClr val="accent2"/>
              </a:gs>
              <a:gs pos="100000">
                <a:schemeClr val="accent2">
                  <a:gamma/>
                  <a:tint val="0"/>
                  <a:invGamma/>
                </a:schemeClr>
              </a:gs>
            </a:gsLst>
            <a:lin ang="5400000" scaled="1"/>
          </a:gradFill>
          <a:ln w="9525" algn="ctr">
            <a:noFill/>
            <a:miter lim="800000"/>
            <a:headEnd/>
            <a:tailEnd/>
          </a:ln>
          <a:effectLst/>
        </p:spPr>
        <p:txBody>
          <a:bodyPr wrap="none" anchor="ctr"/>
          <a:lstStyle/>
          <a:p>
            <a:pPr>
              <a:defRPr/>
            </a:pPr>
            <a:endParaRPr lang="zh-CN" altLang="en-US"/>
          </a:p>
        </p:txBody>
      </p:sp>
      <p:sp>
        <p:nvSpPr>
          <p:cNvPr id="125955" name="Rectangle 3"/>
          <p:cNvSpPr>
            <a:spLocks noGrp="1" noChangeArrowheads="1"/>
          </p:cNvSpPr>
          <p:nvPr>
            <p:ph type="title"/>
          </p:nvPr>
        </p:nvSpPr>
        <p:spPr/>
        <p:txBody>
          <a:bodyPr/>
          <a:lstStyle/>
          <a:p>
            <a:pPr algn="l" eaLnBrk="1" hangingPunct="1"/>
            <a:r>
              <a:rPr lang="zh-CN" altLang="en-US" sz="4000" b="1"/>
              <a:t>小结与作业</a:t>
            </a:r>
          </a:p>
        </p:txBody>
      </p:sp>
      <p:grpSp>
        <p:nvGrpSpPr>
          <p:cNvPr id="125956" name="Group 4"/>
          <p:cNvGrpSpPr>
            <a:grpSpLocks/>
          </p:cNvGrpSpPr>
          <p:nvPr/>
        </p:nvGrpSpPr>
        <p:grpSpPr bwMode="auto">
          <a:xfrm>
            <a:off x="1619250" y="2133600"/>
            <a:ext cx="6409241" cy="508000"/>
            <a:chOff x="1419" y="1480"/>
            <a:chExt cx="4422" cy="363"/>
          </a:xfrm>
        </p:grpSpPr>
        <p:grpSp>
          <p:nvGrpSpPr>
            <p:cNvPr id="125973" name="Group 5"/>
            <p:cNvGrpSpPr>
              <a:grpSpLocks/>
            </p:cNvGrpSpPr>
            <p:nvPr/>
          </p:nvGrpSpPr>
          <p:grpSpPr bwMode="auto">
            <a:xfrm>
              <a:off x="1419" y="1480"/>
              <a:ext cx="4422" cy="363"/>
              <a:chOff x="1419" y="1480"/>
              <a:chExt cx="4422" cy="363"/>
            </a:xfrm>
          </p:grpSpPr>
          <p:sp>
            <p:nvSpPr>
              <p:cNvPr id="133126" name="Oval 6"/>
              <p:cNvSpPr>
                <a:spLocks noChangeArrowheads="1"/>
              </p:cNvSpPr>
              <p:nvPr/>
            </p:nvSpPr>
            <p:spPr bwMode="gray">
              <a:xfrm>
                <a:off x="1419" y="1491"/>
                <a:ext cx="344" cy="344"/>
              </a:xfrm>
              <a:prstGeom prst="ellipse">
                <a:avLst/>
              </a:prstGeom>
              <a:gradFill rotWithShape="1">
                <a:gsLst>
                  <a:gs pos="0">
                    <a:schemeClr val="accent2">
                      <a:gamma/>
                      <a:shade val="46275"/>
                      <a:invGamma/>
                    </a:schemeClr>
                  </a:gs>
                  <a:gs pos="100000">
                    <a:schemeClr val="accent2"/>
                  </a:gs>
                </a:gsLst>
                <a:lin ang="0" scaled="1"/>
              </a:gradFill>
              <a:ln w="9525" algn="ctr">
                <a:noFill/>
                <a:round/>
                <a:headEnd/>
                <a:tailEnd/>
              </a:ln>
              <a:effectLst/>
            </p:spPr>
            <p:txBody>
              <a:bodyPr wrap="none" anchor="ctr"/>
              <a:lstStyle/>
              <a:p>
                <a:pPr>
                  <a:defRPr/>
                </a:pPr>
                <a:endParaRPr lang="zh-CN" altLang="en-US"/>
              </a:p>
            </p:txBody>
          </p:sp>
          <p:sp>
            <p:nvSpPr>
              <p:cNvPr id="133127" name="AutoShape 7"/>
              <p:cNvSpPr>
                <a:spLocks noChangeArrowheads="1"/>
              </p:cNvSpPr>
              <p:nvPr/>
            </p:nvSpPr>
            <p:spPr bwMode="gray">
              <a:xfrm>
                <a:off x="1683" y="1480"/>
                <a:ext cx="4158" cy="363"/>
              </a:xfrm>
              <a:prstGeom prst="roundRect">
                <a:avLst>
                  <a:gd name="adj" fmla="val 50000"/>
                </a:avLst>
              </a:prstGeom>
              <a:gradFill rotWithShape="1">
                <a:gsLst>
                  <a:gs pos="0">
                    <a:schemeClr val="accent2"/>
                  </a:gs>
                  <a:gs pos="100000">
                    <a:schemeClr val="accent2">
                      <a:gamma/>
                      <a:tint val="0"/>
                      <a:invGamma/>
                    </a:schemeClr>
                  </a:gs>
                </a:gsLst>
                <a:lin ang="0" scaled="1"/>
              </a:gradFill>
              <a:ln w="9525" algn="ctr">
                <a:noFill/>
                <a:round/>
                <a:headEnd/>
                <a:tailEnd/>
              </a:ln>
              <a:effectLst/>
            </p:spPr>
            <p:txBody>
              <a:bodyPr wrap="none" anchor="ctr"/>
              <a:lstStyle/>
              <a:p>
                <a:pPr>
                  <a:defRPr/>
                </a:pPr>
                <a:r>
                  <a:rPr lang="zh-CN" altLang="en-US" sz="3200" b="1" dirty="0"/>
                  <a:t>命题公式的析取范式及合取范式</a:t>
                </a:r>
              </a:p>
            </p:txBody>
          </p:sp>
        </p:grpSp>
        <p:sp>
          <p:nvSpPr>
            <p:cNvPr id="133128" name="Oval 8"/>
            <p:cNvSpPr>
              <a:spLocks noChangeArrowheads="1"/>
            </p:cNvSpPr>
            <p:nvPr/>
          </p:nvSpPr>
          <p:spPr bwMode="gray">
            <a:xfrm>
              <a:off x="1470" y="1541"/>
              <a:ext cx="239" cy="238"/>
            </a:xfrm>
            <a:prstGeom prst="ellipse">
              <a:avLst/>
            </a:prstGeom>
            <a:gradFill rotWithShape="1">
              <a:gsLst>
                <a:gs pos="0">
                  <a:schemeClr val="folHlink"/>
                </a:gs>
                <a:gs pos="100000">
                  <a:schemeClr val="folHlink">
                    <a:gamma/>
                    <a:shade val="76078"/>
                    <a:invGamma/>
                  </a:schemeClr>
                </a:gs>
              </a:gsLst>
              <a:lin ang="5400000" scaled="1"/>
            </a:gradFill>
            <a:ln w="9525" algn="ctr">
              <a:noFill/>
              <a:round/>
              <a:headEnd/>
              <a:tailEnd/>
            </a:ln>
            <a:effectLst>
              <a:outerShdw dist="35921" dir="2700000" algn="ctr" rotWithShape="0">
                <a:schemeClr val="tx1">
                  <a:alpha val="50000"/>
                </a:schemeClr>
              </a:outerShdw>
            </a:effectLst>
          </p:spPr>
          <p:txBody>
            <a:bodyPr wrap="none" anchor="ctr"/>
            <a:lstStyle/>
            <a:p>
              <a:pPr>
                <a:defRPr/>
              </a:pPr>
              <a:endParaRPr lang="zh-CN" altLang="en-US"/>
            </a:p>
          </p:txBody>
        </p:sp>
        <p:sp>
          <p:nvSpPr>
            <p:cNvPr id="125975" name="Oval 9"/>
            <p:cNvSpPr>
              <a:spLocks noChangeArrowheads="1"/>
            </p:cNvSpPr>
            <p:nvPr/>
          </p:nvSpPr>
          <p:spPr bwMode="gray">
            <a:xfrm>
              <a:off x="1474" y="1532"/>
              <a:ext cx="173" cy="174"/>
            </a:xfrm>
            <a:prstGeom prst="ellipse">
              <a:avLst/>
            </a:prstGeom>
            <a:gradFill rotWithShape="1">
              <a:gsLst>
                <a:gs pos="0">
                  <a:srgbClr val="FFFFFF"/>
                </a:gs>
                <a:gs pos="100000">
                  <a:srgbClr val="E9940B">
                    <a:alpha val="0"/>
                  </a:srgbClr>
                </a:gs>
              </a:gsLst>
              <a:path path="shape">
                <a:fillToRect l="50000" t="50000" r="50000" b="50000"/>
              </a:path>
            </a:gradFill>
            <a:ln>
              <a:noFill/>
            </a:ln>
            <a:extLst>
              <a:ext uri="{91240B29-F687-4F45-9708-019B960494DF}">
                <a14:hiddenLine xmlns:a14="http://schemas.microsoft.com/office/drawing/2010/main" w="9525" algn="ctr">
                  <a:solidFill>
                    <a:srgbClr val="000000"/>
                  </a:solidFill>
                  <a:round/>
                  <a:headEnd/>
                  <a:tailEnd/>
                </a14:hiddenLine>
              </a:ext>
            </a:extLst>
          </p:spPr>
          <p:txBody>
            <a:bodyPr wrap="none" anchor="ctr"/>
            <a:lstStyle/>
            <a:p>
              <a:endParaRPr lang="zh-CN" altLang="en-US"/>
            </a:p>
          </p:txBody>
        </p:sp>
      </p:grpSp>
      <p:grpSp>
        <p:nvGrpSpPr>
          <p:cNvPr id="125957" name="Group 10"/>
          <p:cNvGrpSpPr>
            <a:grpSpLocks/>
          </p:cNvGrpSpPr>
          <p:nvPr/>
        </p:nvGrpSpPr>
        <p:grpSpPr bwMode="auto">
          <a:xfrm>
            <a:off x="2268538" y="3716338"/>
            <a:ext cx="6417937" cy="508000"/>
            <a:chOff x="1419" y="1480"/>
            <a:chExt cx="4428" cy="363"/>
          </a:xfrm>
        </p:grpSpPr>
        <p:grpSp>
          <p:nvGrpSpPr>
            <p:cNvPr id="125968" name="Group 11"/>
            <p:cNvGrpSpPr>
              <a:grpSpLocks/>
            </p:cNvGrpSpPr>
            <p:nvPr/>
          </p:nvGrpSpPr>
          <p:grpSpPr bwMode="auto">
            <a:xfrm>
              <a:off x="1419" y="1480"/>
              <a:ext cx="4428" cy="363"/>
              <a:chOff x="1419" y="1480"/>
              <a:chExt cx="4428" cy="363"/>
            </a:xfrm>
          </p:grpSpPr>
          <p:sp>
            <p:nvSpPr>
              <p:cNvPr id="133132" name="Oval 12"/>
              <p:cNvSpPr>
                <a:spLocks noChangeArrowheads="1"/>
              </p:cNvSpPr>
              <p:nvPr/>
            </p:nvSpPr>
            <p:spPr bwMode="gray">
              <a:xfrm>
                <a:off x="1419" y="1491"/>
                <a:ext cx="344" cy="344"/>
              </a:xfrm>
              <a:prstGeom prst="ellipse">
                <a:avLst/>
              </a:prstGeom>
              <a:gradFill rotWithShape="1">
                <a:gsLst>
                  <a:gs pos="0">
                    <a:schemeClr val="accent2">
                      <a:gamma/>
                      <a:shade val="46275"/>
                      <a:invGamma/>
                    </a:schemeClr>
                  </a:gs>
                  <a:gs pos="100000">
                    <a:schemeClr val="accent2"/>
                  </a:gs>
                </a:gsLst>
                <a:lin ang="0" scaled="1"/>
              </a:gradFill>
              <a:ln w="9525" algn="ctr">
                <a:noFill/>
                <a:round/>
                <a:headEnd/>
                <a:tailEnd/>
              </a:ln>
              <a:effectLst/>
            </p:spPr>
            <p:txBody>
              <a:bodyPr wrap="none" anchor="ctr"/>
              <a:lstStyle/>
              <a:p>
                <a:pPr>
                  <a:defRPr/>
                </a:pPr>
                <a:endParaRPr lang="zh-CN" altLang="en-US"/>
              </a:p>
            </p:txBody>
          </p:sp>
          <p:sp>
            <p:nvSpPr>
              <p:cNvPr id="133133" name="AutoShape 13"/>
              <p:cNvSpPr>
                <a:spLocks noChangeArrowheads="1"/>
              </p:cNvSpPr>
              <p:nvPr/>
            </p:nvSpPr>
            <p:spPr bwMode="gray">
              <a:xfrm>
                <a:off x="1683" y="1480"/>
                <a:ext cx="4164" cy="363"/>
              </a:xfrm>
              <a:prstGeom prst="roundRect">
                <a:avLst>
                  <a:gd name="adj" fmla="val 50000"/>
                </a:avLst>
              </a:prstGeom>
              <a:gradFill rotWithShape="1">
                <a:gsLst>
                  <a:gs pos="0">
                    <a:schemeClr val="accent2"/>
                  </a:gs>
                  <a:gs pos="100000">
                    <a:schemeClr val="accent2">
                      <a:gamma/>
                      <a:tint val="0"/>
                      <a:invGamma/>
                    </a:schemeClr>
                  </a:gs>
                </a:gsLst>
                <a:lin ang="0" scaled="1"/>
              </a:gradFill>
              <a:ln w="9525" algn="ctr">
                <a:noFill/>
                <a:round/>
                <a:headEnd/>
                <a:tailEnd/>
              </a:ln>
              <a:effectLst/>
            </p:spPr>
            <p:txBody>
              <a:bodyPr wrap="none" anchor="ctr"/>
              <a:lstStyle/>
              <a:p>
                <a:pPr eaLnBrk="0" hangingPunct="0">
                  <a:defRPr/>
                </a:pPr>
                <a:r>
                  <a:rPr lang="zh-CN" altLang="en-US" sz="3200" b="1" dirty="0"/>
                  <a:t>命题公式的主析取及主合取范式</a:t>
                </a:r>
              </a:p>
            </p:txBody>
          </p:sp>
        </p:grpSp>
        <p:sp>
          <p:nvSpPr>
            <p:cNvPr id="133134" name="Oval 14"/>
            <p:cNvSpPr>
              <a:spLocks noChangeArrowheads="1"/>
            </p:cNvSpPr>
            <p:nvPr/>
          </p:nvSpPr>
          <p:spPr bwMode="gray">
            <a:xfrm>
              <a:off x="1470" y="1541"/>
              <a:ext cx="239" cy="238"/>
            </a:xfrm>
            <a:prstGeom prst="ellipse">
              <a:avLst/>
            </a:prstGeom>
            <a:gradFill rotWithShape="1">
              <a:gsLst>
                <a:gs pos="0">
                  <a:schemeClr val="folHlink"/>
                </a:gs>
                <a:gs pos="100000">
                  <a:schemeClr val="folHlink">
                    <a:gamma/>
                    <a:shade val="76078"/>
                    <a:invGamma/>
                  </a:schemeClr>
                </a:gs>
              </a:gsLst>
              <a:lin ang="5400000" scaled="1"/>
            </a:gradFill>
            <a:ln w="9525" algn="ctr">
              <a:noFill/>
              <a:round/>
              <a:headEnd/>
              <a:tailEnd/>
            </a:ln>
            <a:effectLst>
              <a:outerShdw dist="35921" dir="2700000" algn="ctr" rotWithShape="0">
                <a:schemeClr val="tx1">
                  <a:alpha val="50000"/>
                </a:schemeClr>
              </a:outerShdw>
            </a:effectLst>
          </p:spPr>
          <p:txBody>
            <a:bodyPr wrap="none" anchor="ctr"/>
            <a:lstStyle/>
            <a:p>
              <a:pPr>
                <a:defRPr/>
              </a:pPr>
              <a:endParaRPr lang="zh-CN" altLang="en-US"/>
            </a:p>
          </p:txBody>
        </p:sp>
        <p:sp>
          <p:nvSpPr>
            <p:cNvPr id="125970" name="Oval 15"/>
            <p:cNvSpPr>
              <a:spLocks noChangeArrowheads="1"/>
            </p:cNvSpPr>
            <p:nvPr/>
          </p:nvSpPr>
          <p:spPr bwMode="gray">
            <a:xfrm>
              <a:off x="1474" y="1532"/>
              <a:ext cx="173" cy="174"/>
            </a:xfrm>
            <a:prstGeom prst="ellipse">
              <a:avLst/>
            </a:prstGeom>
            <a:gradFill rotWithShape="1">
              <a:gsLst>
                <a:gs pos="0">
                  <a:srgbClr val="FFFFFF"/>
                </a:gs>
                <a:gs pos="100000">
                  <a:srgbClr val="E9940B">
                    <a:alpha val="0"/>
                  </a:srgbClr>
                </a:gs>
              </a:gsLst>
              <a:path path="shape">
                <a:fillToRect l="50000" t="50000" r="50000" b="50000"/>
              </a:path>
            </a:gradFill>
            <a:ln>
              <a:noFill/>
            </a:ln>
            <a:extLst>
              <a:ext uri="{91240B29-F687-4F45-9708-019B960494DF}">
                <a14:hiddenLine xmlns:a14="http://schemas.microsoft.com/office/drawing/2010/main" w="9525" algn="ctr">
                  <a:solidFill>
                    <a:srgbClr val="000000"/>
                  </a:solidFill>
                  <a:round/>
                  <a:headEnd/>
                  <a:tailEnd/>
                </a14:hiddenLine>
              </a:ext>
            </a:extLst>
          </p:spPr>
          <p:txBody>
            <a:bodyPr wrap="none" anchor="ctr"/>
            <a:lstStyle/>
            <a:p>
              <a:endParaRPr lang="zh-CN" altLang="en-US"/>
            </a:p>
          </p:txBody>
        </p:sp>
      </p:grpSp>
      <p:sp>
        <p:nvSpPr>
          <p:cNvPr id="125958" name="AutoShape 16"/>
          <p:cNvSpPr>
            <a:spLocks noChangeArrowheads="1"/>
          </p:cNvSpPr>
          <p:nvPr/>
        </p:nvSpPr>
        <p:spPr bwMode="gray">
          <a:xfrm>
            <a:off x="2660650" y="5300663"/>
            <a:ext cx="4665663" cy="315912"/>
          </a:xfrm>
          <a:prstGeom prst="roundRect">
            <a:avLst>
              <a:gd name="adj" fmla="val 0"/>
            </a:avLst>
          </a:prstGeom>
          <a:noFill/>
          <a:ln>
            <a:noFill/>
          </a:ln>
          <a:effectLst>
            <a:prstShdw prst="shdw17" dist="12700">
              <a:schemeClr val="bg2"/>
            </a:prst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round/>
                <a:headEnd/>
                <a:tailEnd/>
              </a14:hiddenLine>
            </a:ext>
          </a:extLst>
        </p:spPr>
        <p:txBody>
          <a:bodyPr wrap="none" anchor="ctr"/>
          <a:lstStyle/>
          <a:p>
            <a:pPr latinLnBrk="1"/>
            <a:endParaRPr kumimoji="1" lang="zh-CN" altLang="zh-CN" sz="2400" b="1">
              <a:solidFill>
                <a:schemeClr val="tx2"/>
              </a:solidFill>
              <a:ea typeface="Gulim" pitchFamily="34" charset="-127"/>
            </a:endParaRPr>
          </a:p>
        </p:txBody>
      </p:sp>
      <p:grpSp>
        <p:nvGrpSpPr>
          <p:cNvPr id="125960" name="Group 18"/>
          <p:cNvGrpSpPr>
            <a:grpSpLocks/>
          </p:cNvGrpSpPr>
          <p:nvPr/>
        </p:nvGrpSpPr>
        <p:grpSpPr bwMode="auto">
          <a:xfrm>
            <a:off x="539623" y="5321299"/>
            <a:ext cx="6171018" cy="1125538"/>
            <a:chOff x="650" y="2845"/>
            <a:chExt cx="3910" cy="709"/>
          </a:xfrm>
        </p:grpSpPr>
        <p:grpSp>
          <p:nvGrpSpPr>
            <p:cNvPr id="125961" name="Group 19"/>
            <p:cNvGrpSpPr>
              <a:grpSpLocks/>
            </p:cNvGrpSpPr>
            <p:nvPr/>
          </p:nvGrpSpPr>
          <p:grpSpPr bwMode="auto">
            <a:xfrm>
              <a:off x="1152" y="2845"/>
              <a:ext cx="480" cy="419"/>
              <a:chOff x="3174" y="2656"/>
              <a:chExt cx="1549" cy="1351"/>
            </a:xfrm>
          </p:grpSpPr>
          <p:sp>
            <p:nvSpPr>
              <p:cNvPr id="125965" name="AutoShape 20"/>
              <p:cNvSpPr>
                <a:spLocks noChangeArrowheads="1"/>
              </p:cNvSpPr>
              <p:nvPr/>
            </p:nvSpPr>
            <p:spPr bwMode="gray">
              <a:xfrm>
                <a:off x="3187" y="2679"/>
                <a:ext cx="1536" cy="1328"/>
              </a:xfrm>
              <a:prstGeom prst="hexagon">
                <a:avLst>
                  <a:gd name="adj" fmla="val 28916"/>
                  <a:gd name="vf" fmla="val 115470"/>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a:p>
            </p:txBody>
          </p:sp>
          <p:sp>
            <p:nvSpPr>
              <p:cNvPr id="125966" name="AutoShape 21"/>
              <p:cNvSpPr>
                <a:spLocks noChangeArrowheads="1"/>
              </p:cNvSpPr>
              <p:nvPr/>
            </p:nvSpPr>
            <p:spPr bwMode="gray">
              <a:xfrm>
                <a:off x="3174" y="2656"/>
                <a:ext cx="1536" cy="1328"/>
              </a:xfrm>
              <a:prstGeom prst="hexagon">
                <a:avLst>
                  <a:gd name="adj" fmla="val 28916"/>
                  <a:gd name="vf" fmla="val 115470"/>
                </a:avLst>
              </a:prstGeom>
              <a:gradFill rotWithShape="1">
                <a:gsLst>
                  <a:gs pos="0">
                    <a:srgbClr val="E6E6E6"/>
                  </a:gs>
                  <a:gs pos="7500">
                    <a:srgbClr val="7D8496"/>
                  </a:gs>
                  <a:gs pos="26500">
                    <a:srgbClr val="E6E6E6"/>
                  </a:gs>
                  <a:gs pos="34000">
                    <a:srgbClr val="7D8496"/>
                  </a:gs>
                  <a:gs pos="46500">
                    <a:srgbClr val="E6E6E6"/>
                  </a:gs>
                  <a:gs pos="50000">
                    <a:srgbClr val="FFFFFF"/>
                  </a:gs>
                  <a:gs pos="53500">
                    <a:srgbClr val="E6E6E6"/>
                  </a:gs>
                  <a:gs pos="66000">
                    <a:srgbClr val="7D8496"/>
                  </a:gs>
                  <a:gs pos="73500">
                    <a:srgbClr val="E6E6E6"/>
                  </a:gs>
                  <a:gs pos="92500">
                    <a:srgbClr val="7D8496"/>
                  </a:gs>
                  <a:gs pos="100000">
                    <a:srgbClr val="E6E6E6"/>
                  </a:gs>
                </a:gsLst>
                <a:lin ang="2700000" scaled="1"/>
              </a:gradFill>
              <a:ln w="9525">
                <a:solidFill>
                  <a:srgbClr val="C0C0C0"/>
                </a:solidFill>
                <a:miter lim="800000"/>
                <a:headEnd/>
                <a:tailEnd/>
              </a:ln>
            </p:spPr>
            <p:txBody>
              <a:bodyPr wrap="none" anchor="ctr"/>
              <a:lstStyle/>
              <a:p>
                <a:endParaRPr lang="zh-CN" altLang="en-US"/>
              </a:p>
            </p:txBody>
          </p:sp>
          <p:sp>
            <p:nvSpPr>
              <p:cNvPr id="133142" name="AutoShape 22"/>
              <p:cNvSpPr>
                <a:spLocks noChangeArrowheads="1"/>
              </p:cNvSpPr>
              <p:nvPr/>
            </p:nvSpPr>
            <p:spPr bwMode="gray">
              <a:xfrm>
                <a:off x="3265" y="2737"/>
                <a:ext cx="1347" cy="1167"/>
              </a:xfrm>
              <a:prstGeom prst="hexagon">
                <a:avLst>
                  <a:gd name="adj" fmla="val 28896"/>
                  <a:gd name="vf" fmla="val 115470"/>
                </a:avLst>
              </a:prstGeom>
              <a:gradFill rotWithShape="1">
                <a:gsLst>
                  <a:gs pos="0">
                    <a:schemeClr val="accent1">
                      <a:gamma/>
                      <a:shade val="46275"/>
                      <a:invGamma/>
                    </a:schemeClr>
                  </a:gs>
                  <a:gs pos="100000">
                    <a:schemeClr val="accent1"/>
                  </a:gs>
                </a:gsLst>
                <a:lin ang="2700000" scaled="1"/>
              </a:gradFill>
              <a:ln w="9525">
                <a:solidFill>
                  <a:schemeClr val="tx1"/>
                </a:solidFill>
                <a:miter lim="800000"/>
                <a:headEnd/>
                <a:tailEnd/>
              </a:ln>
              <a:effectLst/>
            </p:spPr>
            <p:txBody>
              <a:bodyPr wrap="none" anchor="ctr"/>
              <a:lstStyle/>
              <a:p>
                <a:pPr>
                  <a:defRPr/>
                </a:pPr>
                <a:endParaRPr lang="zh-CN" altLang="en-US"/>
              </a:p>
            </p:txBody>
          </p:sp>
        </p:grpSp>
        <p:sp>
          <p:nvSpPr>
            <p:cNvPr id="125962" name="Line 23"/>
            <p:cNvSpPr>
              <a:spLocks noChangeShapeType="1"/>
            </p:cNvSpPr>
            <p:nvPr/>
          </p:nvSpPr>
          <p:spPr bwMode="auto">
            <a:xfrm>
              <a:off x="1536" y="3229"/>
              <a:ext cx="3024" cy="0"/>
            </a:xfrm>
            <a:prstGeom prst="line">
              <a:avLst/>
            </a:prstGeom>
            <a:noFill/>
            <a:ln w="25400">
              <a:solidFill>
                <a:srgbClr val="C0C0C0"/>
              </a:solidFill>
              <a:prstDash val="sysDot"/>
              <a:round/>
              <a:headEnd/>
              <a:tailEnd type="oval"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5963" name="Text Box 24"/>
            <p:cNvSpPr txBox="1">
              <a:spLocks noChangeArrowheads="1"/>
            </p:cNvSpPr>
            <p:nvPr/>
          </p:nvSpPr>
          <p:spPr bwMode="auto">
            <a:xfrm>
              <a:off x="2067" y="3159"/>
              <a:ext cx="2154" cy="3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nSpc>
                  <a:spcPct val="120000"/>
                </a:lnSpc>
              </a:pPr>
              <a:r>
                <a:rPr lang="zh-CN" altLang="en-US" sz="3200" b="1" dirty="0">
                  <a:latin typeface="Times New Roman" pitchFamily="18" charset="0"/>
                </a:rPr>
                <a:t>习题</a:t>
              </a:r>
              <a:r>
                <a:rPr lang="en-US" altLang="zh-CN" sz="3200" b="1" dirty="0">
                  <a:latin typeface="Times New Roman" pitchFamily="18" charset="0"/>
                </a:rPr>
                <a:t>3.5  5(1)(2),  8</a:t>
              </a:r>
            </a:p>
          </p:txBody>
        </p:sp>
        <p:sp>
          <p:nvSpPr>
            <p:cNvPr id="125964" name="Text Box 25"/>
            <p:cNvSpPr txBox="1">
              <a:spLocks noChangeArrowheads="1"/>
            </p:cNvSpPr>
            <p:nvPr/>
          </p:nvSpPr>
          <p:spPr bwMode="gray">
            <a:xfrm>
              <a:off x="650" y="2928"/>
              <a:ext cx="966"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a:r>
                <a:rPr lang="zh-CN" altLang="en-US" sz="2000" b="1" dirty="0">
                  <a:solidFill>
                    <a:schemeClr val="bg1"/>
                  </a:solidFill>
                  <a:latin typeface="Times New Roman" pitchFamily="18" charset="0"/>
                </a:rPr>
                <a:t>第七周作业</a:t>
              </a:r>
            </a:p>
          </p:txBody>
        </p:sp>
      </p:grpSp>
      <p:sp>
        <p:nvSpPr>
          <p:cNvPr id="2" name="Text Box 36">
            <a:extLst>
              <a:ext uri="{FF2B5EF4-FFF2-40B4-BE49-F238E27FC236}">
                <a16:creationId xmlns:a16="http://schemas.microsoft.com/office/drawing/2014/main" id="{2E6790F8-30D6-6976-95BB-89CD8AB8B33F}"/>
              </a:ext>
            </a:extLst>
          </p:cNvPr>
          <p:cNvSpPr txBox="1">
            <a:spLocks noChangeArrowheads="1"/>
          </p:cNvSpPr>
          <p:nvPr/>
        </p:nvSpPr>
        <p:spPr bwMode="auto">
          <a:xfrm>
            <a:off x="2918825" y="5302250"/>
            <a:ext cx="419913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r>
              <a:rPr lang="zh-CN" altLang="en-US" sz="3200" b="1" dirty="0">
                <a:latin typeface="Times New Roman" pitchFamily="18" charset="0"/>
              </a:rPr>
              <a:t>习题</a:t>
            </a:r>
            <a:r>
              <a:rPr lang="en-US" altLang="zh-CN" sz="3200" b="1" dirty="0">
                <a:latin typeface="Times New Roman" pitchFamily="18" charset="0"/>
              </a:rPr>
              <a:t>3.4     10,   11(2)(3)</a:t>
            </a:r>
          </a:p>
        </p:txBody>
      </p:sp>
    </p:spTree>
  </p:cSld>
  <p:clrMapOvr>
    <a:masterClrMapping/>
  </p:clrMapOvr>
</p:sld>
</file>

<file path=ppt/theme/theme1.xml><?xml version="1.0" encoding="utf-8"?>
<a:theme xmlns:a="http://schemas.openxmlformats.org/drawingml/2006/main" name="5">
  <a:themeElements>
    <a:clrScheme name="5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5">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5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5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5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5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5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5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5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5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5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5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5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5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5</Template>
  <TotalTime>7712</TotalTime>
  <Words>3396</Words>
  <Application>Microsoft Office PowerPoint</Application>
  <PresentationFormat>全屏显示(4:3)</PresentationFormat>
  <Paragraphs>443</Paragraphs>
  <Slides>57</Slides>
  <Notes>0</Notes>
  <HiddenSlides>0</HiddenSlides>
  <MMClips>0</MMClips>
  <ScaleCrop>false</ScaleCrop>
  <HeadingPairs>
    <vt:vector size="8" baseType="variant">
      <vt:variant>
        <vt:lpstr>已用的字体</vt:lpstr>
      </vt:variant>
      <vt:variant>
        <vt:i4>9</vt:i4>
      </vt:variant>
      <vt:variant>
        <vt:lpstr>主题</vt:lpstr>
      </vt:variant>
      <vt:variant>
        <vt:i4>1</vt:i4>
      </vt:variant>
      <vt:variant>
        <vt:lpstr>嵌入 OLE 服务器</vt:lpstr>
      </vt:variant>
      <vt:variant>
        <vt:i4>2</vt:i4>
      </vt:variant>
      <vt:variant>
        <vt:lpstr>幻灯片标题</vt:lpstr>
      </vt:variant>
      <vt:variant>
        <vt:i4>57</vt:i4>
      </vt:variant>
    </vt:vector>
  </HeadingPairs>
  <TitlesOfParts>
    <vt:vector size="69" baseType="lpstr">
      <vt:lpstr>Gulim</vt:lpstr>
      <vt:lpstr>华文新魏</vt:lpstr>
      <vt:lpstr>华文新魏</vt:lpstr>
      <vt:lpstr>华文行楷</vt:lpstr>
      <vt:lpstr>楷体</vt:lpstr>
      <vt:lpstr>Arial</vt:lpstr>
      <vt:lpstr>Calibri</vt:lpstr>
      <vt:lpstr>Cambria Math</vt:lpstr>
      <vt:lpstr>Times New Roman</vt:lpstr>
      <vt:lpstr>5</vt:lpstr>
      <vt:lpstr>公式</vt:lpstr>
      <vt:lpstr>Equation</vt:lpstr>
      <vt:lpstr>第3章  命题逻辑</vt:lpstr>
      <vt:lpstr>第3章  命题逻辑</vt:lpstr>
      <vt:lpstr>3.4 逻辑等值的命题公式</vt:lpstr>
      <vt:lpstr>3.4  逻辑等值的命题公式</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3.4 逻辑等值的命题公式</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小结与作业</vt:lpstr>
      <vt:lpstr>第3章  命题逻辑</vt:lpstr>
      <vt:lpstr>3.5 命题公式的范式</vt:lpstr>
      <vt:lpstr>3.5  命题公式的范式</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小结与作业</vt:lpstr>
    </vt:vector>
  </TitlesOfParts>
  <Company>MC SYSTEM</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邓辉文</dc:creator>
  <cp:lastModifiedBy>Xia Zeng</cp:lastModifiedBy>
  <cp:revision>158</cp:revision>
  <dcterms:created xsi:type="dcterms:W3CDTF">2013-03-02T07:56:57Z</dcterms:created>
  <dcterms:modified xsi:type="dcterms:W3CDTF">2025-04-09T09:27:01Z</dcterms:modified>
</cp:coreProperties>
</file>