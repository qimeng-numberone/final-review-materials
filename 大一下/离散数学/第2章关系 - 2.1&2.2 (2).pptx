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7"/>
  </p:notesMasterIdLst>
  <p:sldIdLst>
    <p:sldId id="271" r:id="rId2"/>
    <p:sldId id="301" r:id="rId3"/>
    <p:sldId id="542" r:id="rId4"/>
    <p:sldId id="272" r:id="rId5"/>
    <p:sldId id="278" r:id="rId6"/>
    <p:sldId id="554" r:id="rId7"/>
    <p:sldId id="547" r:id="rId8"/>
    <p:sldId id="545" r:id="rId9"/>
    <p:sldId id="281" r:id="rId10"/>
    <p:sldId id="282" r:id="rId11"/>
    <p:sldId id="555" r:id="rId12"/>
    <p:sldId id="552" r:id="rId13"/>
    <p:sldId id="553" r:id="rId14"/>
    <p:sldId id="548" r:id="rId15"/>
    <p:sldId id="550" r:id="rId16"/>
    <p:sldId id="551" r:id="rId17"/>
    <p:sldId id="348" r:id="rId18"/>
    <p:sldId id="349" r:id="rId19"/>
    <p:sldId id="284" r:id="rId20"/>
    <p:sldId id="304" r:id="rId21"/>
    <p:sldId id="273" r:id="rId22"/>
    <p:sldId id="53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546" r:id="rId52"/>
    <p:sldId id="379" r:id="rId53"/>
    <p:sldId id="380" r:id="rId54"/>
    <p:sldId id="382" r:id="rId55"/>
    <p:sldId id="383" r:id="rId5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221"/>
    <a:srgbClr val="002E2D"/>
    <a:srgbClr val="DEFF00"/>
    <a:srgbClr val="002E00"/>
    <a:srgbClr val="B2B2B2"/>
    <a:srgbClr val="808080"/>
    <a:srgbClr val="009999"/>
    <a:srgbClr val="006699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7" autoAdjust="0"/>
    <p:restoredTop sz="84888" autoAdjust="0"/>
  </p:normalViewPr>
  <p:slideViewPr>
    <p:cSldViewPr>
      <p:cViewPr varScale="1">
        <p:scale>
          <a:sx n="75" d="100"/>
          <a:sy n="75" d="100"/>
        </p:scale>
        <p:origin x="16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7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6D26B8A9-601C-41A1-BD3C-DB045B189F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2552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</a:t>
            </a:r>
            <a:r>
              <a:rPr lang="zh-CN" altLang="en-US" dirty="0"/>
              <a:t>上的大于关系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09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上的整除关系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856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上的模</a:t>
            </a:r>
            <a:r>
              <a:rPr lang="en-US" altLang="zh-CN" dirty="0"/>
              <a:t>3</a:t>
            </a:r>
            <a:r>
              <a:rPr lang="zh-CN" altLang="en-US" dirty="0"/>
              <a:t>同余关系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48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）或记为（（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），（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））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6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课堂练习：</a:t>
            </a:r>
            <a:r>
              <a:rPr lang="en-US" altLang="zh-CN" dirty="0"/>
              <a:t>B</a:t>
            </a:r>
            <a:r>
              <a:rPr lang="zh-CN" altLang="en-US" dirty="0"/>
              <a:t>上的大于关系矩阵和恒等关系的矩阵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208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p41</a:t>
            </a:r>
            <a:r>
              <a:rPr lang="zh-CN" altLang="en-US" dirty="0"/>
              <a:t> </a:t>
            </a:r>
            <a:r>
              <a:rPr lang="en-US" altLang="zh-CN" dirty="0"/>
              <a:t>T5 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9738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46</a:t>
            </a:r>
            <a:r>
              <a:rPr lang="zh-CN" altLang="en-US" dirty="0"/>
              <a:t>页</a:t>
            </a:r>
            <a:r>
              <a:rPr lang="en-US" altLang="zh-CN"/>
              <a:t>T 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26B8A9-601C-41A1-BD3C-DB045B189FA0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49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003" descr="dxm1"/>
          <p:cNvPicPr>
            <a:picLocks noChangeAspect="1" noChangeArrowheads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71900"/>
            <a:ext cx="91440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844675"/>
            <a:ext cx="7921625" cy="1038225"/>
          </a:xfrm>
        </p:spPr>
        <p:txBody>
          <a:bodyPr/>
          <a:lstStyle>
            <a:lvl1pPr algn="ctr">
              <a:defRPr sz="6000">
                <a:solidFill>
                  <a:srgbClr val="006666"/>
                </a:solidFill>
                <a:ea typeface="隶书" pitchFamily="49" charset="-122"/>
              </a:defRPr>
            </a:lvl1pPr>
          </a:lstStyle>
          <a:p>
            <a:r>
              <a:rPr lang="zh-CN" altLang="en-US"/>
              <a:t>章节内容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9850" y="1052513"/>
            <a:ext cx="6400800" cy="782637"/>
          </a:xfrm>
          <a:noFill/>
          <a:ln w="9525" cmpd="sng"/>
        </p:spPr>
        <p:txBody>
          <a:bodyPr/>
          <a:lstStyle>
            <a:lvl1pPr marL="0" indent="0"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zh-CN" altLang="en-US"/>
              <a:t>课程名称</a:t>
            </a:r>
          </a:p>
        </p:txBody>
      </p:sp>
    </p:spTree>
    <p:extLst>
      <p:ext uri="{BB962C8B-B14F-4D97-AF65-F5344CB8AC3E}">
        <p14:creationId xmlns:p14="http://schemas.microsoft.com/office/powerpoint/2010/main" val="331353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ED86158A-B174-4243-A4CB-A7ABAEE3A875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8857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94929D52-B0C4-4F75-A81B-7EABFB173467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3493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836613"/>
            <a:ext cx="4495800" cy="5521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21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A38289E6-9449-4509-9D1A-BC870D6283D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06673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77A8AFE8-8003-49C8-9A43-143B5C49B883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22421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34FC23D1-E316-4149-9A5F-E4CC434F7FA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11758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90A161D3-ED44-4D34-BC41-CE11D2EE7BC1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024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2019063E-8C02-4B20-A1B8-CA62091CF2E2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59957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8AE16B31-C377-4FA9-A451-F6CAAA46CDB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30537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05403CE7-CCF4-4F73-ACA5-CC8F1C7E4901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0562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17475"/>
            <a:ext cx="2286000" cy="62404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7475"/>
            <a:ext cx="6705600" cy="62404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47FA4687-32C4-4510-ACB9-4314B4586EE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27526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17475"/>
            <a:ext cx="9144000" cy="6240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FB70471C-2D72-4B11-8C8B-C0CF02707F33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49566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36699"/>
            </a:gs>
            <a:gs pos="50000">
              <a:schemeClr val="bg1"/>
            </a:gs>
            <a:gs pos="100000">
              <a:srgbClr val="3366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5" descr="MCj02868450000[1]"/>
          <p:cNvPicPr>
            <a:picLocks noChangeAspect="1" noChangeArrowheads="1"/>
          </p:cNvPicPr>
          <p:nvPr userDrawn="1"/>
        </p:nvPicPr>
        <p:blipFill>
          <a:blip r:embed="rId14" cstate="print">
            <a:lum bright="40000" contrast="-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80063" y="2995613"/>
            <a:ext cx="3379787" cy="336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6613"/>
            <a:ext cx="9144000" cy="5521325"/>
          </a:xfrm>
          <a:prstGeom prst="rect">
            <a:avLst/>
          </a:prstGeom>
          <a:gradFill rotWithShape="1">
            <a:gsLst>
              <a:gs pos="0">
                <a:schemeClr val="bg1">
                  <a:alpha val="39000"/>
                </a:schemeClr>
              </a:gs>
              <a:gs pos="100000">
                <a:srgbClr val="336699">
                  <a:alpha val="82001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17475"/>
            <a:ext cx="87852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7625" y="6473825"/>
            <a:ext cx="10080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600" i="1">
                <a:solidFill>
                  <a:srgbClr val="B2B2B2"/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/>
              <a:t>第</a:t>
            </a:r>
            <a:fld id="{4814427F-095E-4574-98B8-C26D7EA63D9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  <p:pic>
        <p:nvPicPr>
          <p:cNvPr id="2" name="Picture 117" descr="西南大学"/>
          <p:cNvPicPr>
            <a:picLocks noChangeAspect="1" noChangeArrowheads="1"/>
          </p:cNvPicPr>
          <p:nvPr userDrawn="1"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496050"/>
            <a:ext cx="1295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9pPr>
    </p:titleStyle>
    <p:bodyStyle>
      <a:lvl1pPr marL="152400" indent="4445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2E2D"/>
          </a:solidFill>
          <a:latin typeface="+mn-lt"/>
          <a:ea typeface="+mn-ea"/>
          <a:cs typeface="+mn-cs"/>
        </a:defRPr>
      </a:lvl1pPr>
      <a:lvl2pPr marL="776288" indent="3238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sz="3200" b="1">
          <a:solidFill>
            <a:srgbClr val="002E2D"/>
          </a:solidFill>
          <a:latin typeface="+mn-lt"/>
          <a:ea typeface="+mn-ea"/>
        </a:defRPr>
      </a:lvl2pPr>
      <a:lvl3pPr marL="1279525" indent="25082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sz="3000" b="1">
          <a:solidFill>
            <a:srgbClr val="002E2D"/>
          </a:solidFill>
          <a:latin typeface="+mn-lt"/>
          <a:ea typeface="+mn-ea"/>
        </a:defRPr>
      </a:lvl3pPr>
      <a:lvl4pPr marL="1711325" indent="25558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800" b="1">
          <a:solidFill>
            <a:srgbClr val="002E2D"/>
          </a:solidFill>
          <a:latin typeface="+mn-lt"/>
          <a:ea typeface="+mn-ea"/>
        </a:defRPr>
      </a:lvl4pPr>
      <a:lvl5pPr marL="2146300" indent="2921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5pPr>
      <a:lvl6pPr marL="26035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6pPr>
      <a:lvl7pPr marL="30607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7pPr>
      <a:lvl8pPr marL="35179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8pPr>
      <a:lvl9pPr marL="39751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2.e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0.emf"/><Relationship Id="rId18" Type="http://schemas.openxmlformats.org/officeDocument/2006/relationships/oleObject" Target="../embeddings/oleObject48.bin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2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9.emf"/><Relationship Id="rId5" Type="http://schemas.openxmlformats.org/officeDocument/2006/relationships/image" Target="../media/image46.emf"/><Relationship Id="rId15" Type="http://schemas.openxmlformats.org/officeDocument/2006/relationships/image" Target="../media/image51.e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53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5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emf"/><Relationship Id="rId4" Type="http://schemas.openxmlformats.org/officeDocument/2006/relationships/oleObject" Target="../embeddings/oleObject6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8.e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72.emf"/><Relationship Id="rId4" Type="http://schemas.openxmlformats.org/officeDocument/2006/relationships/oleObject" Target="../embeddings/oleObject6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80.emf"/><Relationship Id="rId3" Type="http://schemas.openxmlformats.org/officeDocument/2006/relationships/image" Target="../media/image75.e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8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88.emf"/><Relationship Id="rId26" Type="http://schemas.openxmlformats.org/officeDocument/2006/relationships/image" Target="../media/image92.emf"/><Relationship Id="rId3" Type="http://schemas.openxmlformats.org/officeDocument/2006/relationships/image" Target="../media/image81.emf"/><Relationship Id="rId21" Type="http://schemas.openxmlformats.org/officeDocument/2006/relationships/oleObject" Target="../embeddings/oleObject85.bin"/><Relationship Id="rId7" Type="http://schemas.openxmlformats.org/officeDocument/2006/relationships/image" Target="../media/image83.emf"/><Relationship Id="rId12" Type="http://schemas.openxmlformats.org/officeDocument/2006/relationships/image" Target="../media/image85.emf"/><Relationship Id="rId17" Type="http://schemas.openxmlformats.org/officeDocument/2006/relationships/oleObject" Target="../embeddings/oleObject83.bin"/><Relationship Id="rId25" Type="http://schemas.openxmlformats.org/officeDocument/2006/relationships/oleObject" Target="../embeddings/oleObject87.bin"/><Relationship Id="rId2" Type="http://schemas.openxmlformats.org/officeDocument/2006/relationships/oleObject" Target="../embeddings/oleObject76.bin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91.emf"/><Relationship Id="rId5" Type="http://schemas.openxmlformats.org/officeDocument/2006/relationships/image" Target="../media/image82.emf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28" Type="http://schemas.openxmlformats.org/officeDocument/2006/relationships/image" Target="../media/image93.emf"/><Relationship Id="rId10" Type="http://schemas.openxmlformats.org/officeDocument/2006/relationships/image" Target="../media/image84.png"/><Relationship Id="rId19" Type="http://schemas.openxmlformats.org/officeDocument/2006/relationships/oleObject" Target="../embeddings/oleObject84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4.emf"/><Relationship Id="rId14" Type="http://schemas.openxmlformats.org/officeDocument/2006/relationships/image" Target="../media/image86.emf"/><Relationship Id="rId22" Type="http://schemas.openxmlformats.org/officeDocument/2006/relationships/image" Target="../media/image90.emf"/><Relationship Id="rId27" Type="http://schemas.openxmlformats.org/officeDocument/2006/relationships/oleObject" Target="../embeddings/oleObject8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3" Type="http://schemas.openxmlformats.org/officeDocument/2006/relationships/image" Target="../media/image94.emf"/><Relationship Id="rId7" Type="http://schemas.openxmlformats.org/officeDocument/2006/relationships/image" Target="../media/image96.e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1.bin"/><Relationship Id="rId5" Type="http://schemas.openxmlformats.org/officeDocument/2006/relationships/image" Target="../media/image95.e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7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03.emf"/><Relationship Id="rId3" Type="http://schemas.openxmlformats.org/officeDocument/2006/relationships/image" Target="../media/image98.emf"/><Relationship Id="rId7" Type="http://schemas.openxmlformats.org/officeDocument/2006/relationships/image" Target="../media/image100.emf"/><Relationship Id="rId12" Type="http://schemas.openxmlformats.org/officeDocument/2006/relationships/oleObject" Target="../embeddings/oleObject98.bin"/><Relationship Id="rId2" Type="http://schemas.openxmlformats.org/officeDocument/2006/relationships/oleObject" Target="../embeddings/oleObject93.bin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2.emf"/><Relationship Id="rId5" Type="http://schemas.openxmlformats.org/officeDocument/2006/relationships/image" Target="../media/image99.emf"/><Relationship Id="rId15" Type="http://schemas.openxmlformats.org/officeDocument/2006/relationships/image" Target="../media/image104.e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1.emf"/><Relationship Id="rId14" Type="http://schemas.openxmlformats.org/officeDocument/2006/relationships/oleObject" Target="../embeddings/oleObject9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5.emf"/><Relationship Id="rId7" Type="http://schemas.openxmlformats.org/officeDocument/2006/relationships/image" Target="../media/image107.e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06.emf"/><Relationship Id="rId4" Type="http://schemas.openxmlformats.org/officeDocument/2006/relationships/oleObject" Target="../embeddings/oleObject10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13.emf"/><Relationship Id="rId3" Type="http://schemas.openxmlformats.org/officeDocument/2006/relationships/image" Target="../media/image108.emf"/><Relationship Id="rId7" Type="http://schemas.openxmlformats.org/officeDocument/2006/relationships/image" Target="../media/image110.emf"/><Relationship Id="rId12" Type="http://schemas.openxmlformats.org/officeDocument/2006/relationships/oleObject" Target="../embeddings/oleObject100.bin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12.emf"/><Relationship Id="rId5" Type="http://schemas.openxmlformats.org/officeDocument/2006/relationships/image" Target="../media/image109.e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11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19.emf"/><Relationship Id="rId3" Type="http://schemas.openxmlformats.org/officeDocument/2006/relationships/image" Target="../media/image114.emf"/><Relationship Id="rId7" Type="http://schemas.openxmlformats.org/officeDocument/2006/relationships/image" Target="../media/image116.emf"/><Relationship Id="rId12" Type="http://schemas.openxmlformats.org/officeDocument/2006/relationships/oleObject" Target="../embeddings/oleObject113.bin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18.emf"/><Relationship Id="rId5" Type="http://schemas.openxmlformats.org/officeDocument/2006/relationships/image" Target="../media/image115.emf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17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115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7" Type="http://schemas.openxmlformats.org/officeDocument/2006/relationships/image" Target="../media/image124.e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117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126.emf"/><Relationship Id="rId4" Type="http://schemas.openxmlformats.org/officeDocument/2006/relationships/oleObject" Target="../embeddings/oleObject120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854275"/>
            <a:ext cx="6400800" cy="782637"/>
          </a:xfrm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>
                        <a:alpha val="39000"/>
                      </a:schemeClr>
                    </a:gs>
                    <a:gs pos="100000">
                      <a:srgbClr val="336699">
                        <a:alpha val="82001"/>
                      </a:srgbClr>
                    </a:gs>
                  </a:gsLst>
                  <a:lin ang="2700000" scaled="1"/>
                </a:gra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4400" dirty="0">
                <a:latin typeface="Times New Roman" pitchFamily="18" charset="0"/>
              </a:rPr>
              <a:t>第</a:t>
            </a:r>
            <a:r>
              <a:rPr lang="en-US" altLang="zh-CN" sz="4400" dirty="0">
                <a:latin typeface="Times New Roman" pitchFamily="18" charset="0"/>
              </a:rPr>
              <a:t>2</a:t>
            </a:r>
            <a:r>
              <a:rPr lang="zh-CN" altLang="en-US" sz="4400" dirty="0">
                <a:latin typeface="Times New Roman" pitchFamily="18" charset="0"/>
              </a:rPr>
              <a:t>章 关系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7174F8-0B55-CF49-9848-98A40540FDE8}"/>
              </a:ext>
            </a:extLst>
          </p:cNvPr>
          <p:cNvSpPr txBox="1"/>
          <p:nvPr/>
        </p:nvSpPr>
        <p:spPr>
          <a:xfrm>
            <a:off x="2339752" y="3645024"/>
            <a:ext cx="468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xzeng0712@swu.edu.cn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97E5055-6AF3-4B0D-A61D-530F5E62A903}" type="slidenum">
              <a:rPr lang="zh-CN" altLang="en-US"/>
              <a:pPr>
                <a:defRPr/>
              </a:pPr>
              <a:t>1</a:t>
            </a:fld>
            <a:r>
              <a:rPr lang="zh-CN" altLang="en-US"/>
              <a:t>页</a:t>
            </a:r>
          </a:p>
        </p:txBody>
      </p:sp>
      <p:sp>
        <p:nvSpPr>
          <p:cNvPr id="4099" name="Rectangle 4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离散对象虽然离散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但没有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“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关系”是不行的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在信息科学中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数据与数据之间总存在一定的关系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主要是</a:t>
            </a:r>
            <a:r>
              <a:rPr lang="zh-CN" altLang="en-US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关联关系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科学研究的主要任务就是发现事物之间的内在关系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特别是</a:t>
            </a:r>
            <a:r>
              <a:rPr lang="zh-CN" altLang="en-US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因果关系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如何建立关系的数学模型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关系内容对今后学习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模态逻辑、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数据结构以及数据库等很多课程都是很重要的</a:t>
            </a:r>
            <a:r>
              <a:rPr lang="en-US" altLang="zh-CN" dirty="0">
                <a:latin typeface="Times New Roman" pitchFamily="18" charset="0"/>
              </a:rPr>
              <a:t>.</a:t>
            </a:r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FD19968-C5BF-40D9-8ADA-F0DDB11504C1}" type="slidenum">
              <a:rPr lang="zh-CN" altLang="en-US" smtClean="0"/>
              <a:pPr>
                <a:defRPr/>
              </a:pPr>
              <a:t>2</a:t>
            </a:fld>
            <a:r>
              <a:rPr lang="zh-CN" altLang="en-US"/>
              <a:t>页</a:t>
            </a:r>
          </a:p>
        </p:txBody>
      </p:sp>
      <p:pic>
        <p:nvPicPr>
          <p:cNvPr id="512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54399"/>
            <a:ext cx="814863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030AA1F-B3A6-40D6-82F0-00997BF5E8AE}" type="slidenum">
              <a:rPr lang="zh-CN" altLang="en-US"/>
              <a:pPr>
                <a:defRPr/>
              </a:pPr>
              <a:t>3</a:t>
            </a:fld>
            <a:r>
              <a:rPr lang="zh-CN" altLang="en-US"/>
              <a:t>页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latin typeface="+mj-ea"/>
              </a:rPr>
              <a:t>关系的概念</a:t>
            </a:r>
            <a:endParaRPr lang="zh-CN" altLang="en-US" dirty="0">
              <a:latin typeface="+mj-ea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" y="812800"/>
            <a:ext cx="9144000" cy="552132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pSp>
        <p:nvGrpSpPr>
          <p:cNvPr id="6149" name="Group 4"/>
          <p:cNvGrpSpPr>
            <a:grpSpLocks/>
          </p:cNvGrpSpPr>
          <p:nvPr/>
        </p:nvGrpSpPr>
        <p:grpSpPr bwMode="auto">
          <a:xfrm>
            <a:off x="1042988" y="1408113"/>
            <a:ext cx="5410200" cy="669925"/>
            <a:chOff x="1152" y="1128"/>
            <a:chExt cx="3408" cy="422"/>
          </a:xfrm>
        </p:grpSpPr>
        <p:grpSp>
          <p:nvGrpSpPr>
            <p:cNvPr id="618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618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04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8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5" name="Text Box 10"/>
            <p:cNvSpPr txBox="1">
              <a:spLocks noChangeArrowheads="1"/>
            </p:cNvSpPr>
            <p:nvPr/>
          </p:nvSpPr>
          <p:spPr bwMode="auto">
            <a:xfrm>
              <a:off x="2112" y="1128"/>
              <a:ext cx="187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  <a:ea typeface="华文楷体" pitchFamily="2" charset="-122"/>
                </a:rPr>
                <a:t> n</a:t>
              </a:r>
              <a:r>
                <a:rPr lang="zh-CN" altLang="en-US" dirty="0">
                  <a:solidFill>
                    <a:schemeClr val="tx1"/>
                  </a:solidFill>
                  <a:ea typeface="华文楷体" pitchFamily="2" charset="-122"/>
                </a:rPr>
                <a:t>元关系的定义</a:t>
              </a:r>
            </a:p>
          </p:txBody>
        </p:sp>
        <p:sp>
          <p:nvSpPr>
            <p:cNvPr id="618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6150" name="Group 12"/>
          <p:cNvGrpSpPr>
            <a:grpSpLocks/>
          </p:cNvGrpSpPr>
          <p:nvPr/>
        </p:nvGrpSpPr>
        <p:grpSpPr bwMode="auto">
          <a:xfrm>
            <a:off x="1150938" y="2330450"/>
            <a:ext cx="5410200" cy="685800"/>
            <a:chOff x="1152" y="1694"/>
            <a:chExt cx="3408" cy="432"/>
          </a:xfrm>
        </p:grpSpPr>
        <p:grpSp>
          <p:nvGrpSpPr>
            <p:cNvPr id="617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18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12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7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23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</a:rPr>
                <a:t>元关系的有关概念</a:t>
              </a:r>
            </a:p>
          </p:txBody>
        </p:sp>
        <p:sp>
          <p:nvSpPr>
            <p:cNvPr id="617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6151" name="圆角矩形 1"/>
          <p:cNvSpPr>
            <a:spLocks noChangeArrowheads="1"/>
          </p:cNvSpPr>
          <p:nvPr/>
        </p:nvSpPr>
        <p:spPr bwMode="auto">
          <a:xfrm>
            <a:off x="827088" y="981075"/>
            <a:ext cx="5905500" cy="2232025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52" name="Group 12"/>
          <p:cNvGrpSpPr>
            <a:grpSpLocks/>
          </p:cNvGrpSpPr>
          <p:nvPr/>
        </p:nvGrpSpPr>
        <p:grpSpPr bwMode="auto">
          <a:xfrm>
            <a:off x="1150938" y="3306763"/>
            <a:ext cx="5410200" cy="712787"/>
            <a:chOff x="1152" y="1677"/>
            <a:chExt cx="3408" cy="449"/>
          </a:xfrm>
        </p:grpSpPr>
        <p:grpSp>
          <p:nvGrpSpPr>
            <p:cNvPr id="6169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173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4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70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1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关系的定义域和值域</a:t>
              </a:r>
            </a:p>
          </p:txBody>
        </p:sp>
        <p:sp>
          <p:nvSpPr>
            <p:cNvPr id="6172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6153" name="Group 20"/>
          <p:cNvGrpSpPr>
            <a:grpSpLocks/>
          </p:cNvGrpSpPr>
          <p:nvPr/>
        </p:nvGrpSpPr>
        <p:grpSpPr bwMode="auto">
          <a:xfrm>
            <a:off x="1130300" y="4183063"/>
            <a:ext cx="5616575" cy="712787"/>
            <a:chOff x="1152" y="2239"/>
            <a:chExt cx="3408" cy="449"/>
          </a:xfrm>
        </p:grpSpPr>
        <p:grpSp>
          <p:nvGrpSpPr>
            <p:cNvPr id="6162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166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67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6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关系的表示</a:t>
              </a:r>
            </a:p>
          </p:txBody>
        </p:sp>
        <p:sp>
          <p:nvSpPr>
            <p:cNvPr id="6165" name="Text Box 27"/>
            <p:cNvSpPr txBox="1">
              <a:spLocks noChangeArrowheads="1"/>
            </p:cNvSpPr>
            <p:nvPr/>
          </p:nvSpPr>
          <p:spPr bwMode="gray">
            <a:xfrm>
              <a:off x="1285" y="2332"/>
              <a:ext cx="2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6154" name="Group 28"/>
          <p:cNvGrpSpPr>
            <a:grpSpLocks/>
          </p:cNvGrpSpPr>
          <p:nvPr/>
        </p:nvGrpSpPr>
        <p:grpSpPr bwMode="auto">
          <a:xfrm>
            <a:off x="1160463" y="5068888"/>
            <a:ext cx="5457825" cy="712787"/>
            <a:chOff x="1122" y="2815"/>
            <a:chExt cx="3438" cy="449"/>
          </a:xfrm>
        </p:grpSpPr>
        <p:grpSp>
          <p:nvGrpSpPr>
            <p:cNvPr id="6155" name="Group 29"/>
            <p:cNvGrpSpPr>
              <a:grpSpLocks/>
            </p:cNvGrpSpPr>
            <p:nvPr/>
          </p:nvGrpSpPr>
          <p:grpSpPr bwMode="auto">
            <a:xfrm>
              <a:off x="1122" y="2845"/>
              <a:ext cx="510" cy="419"/>
              <a:chOff x="3077" y="2656"/>
              <a:chExt cx="1646" cy="1351"/>
            </a:xfrm>
          </p:grpSpPr>
          <p:sp>
            <p:nvSpPr>
              <p:cNvPr id="6159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60" name="AutoShape 31"/>
              <p:cNvSpPr>
                <a:spLocks noChangeArrowheads="1"/>
              </p:cNvSpPr>
              <p:nvPr/>
            </p:nvSpPr>
            <p:spPr bwMode="gray">
              <a:xfrm>
                <a:off x="3077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56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7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函数的关系定义</a:t>
              </a:r>
            </a:p>
          </p:txBody>
        </p:sp>
        <p:sp>
          <p:nvSpPr>
            <p:cNvPr id="6158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1C27877-4FDA-4640-8C11-0FAC67037620}" type="slidenum">
              <a:rPr lang="zh-CN" altLang="en-US"/>
              <a:pPr>
                <a:defRPr/>
              </a:pPr>
              <a:t>4</a:t>
            </a:fld>
            <a:r>
              <a:rPr lang="zh-CN" altLang="en-US"/>
              <a:t>页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33375"/>
            <a:ext cx="9144000" cy="60245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200" dirty="0">
                <a:latin typeface="Times New Roman" pitchFamily="18" charset="0"/>
              </a:rPr>
              <a:t>2.1.1 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元关系的定义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日常生活中存在各种各样的关系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数学中也已经学习过很多关系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32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如何建立关系的数学模型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引例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张三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李四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王五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C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离散数学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数据结构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良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合格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不合格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1C27877-4FDA-4640-8C11-0FAC67037620}" type="slidenum">
              <a:rPr lang="zh-CN" altLang="en-US"/>
              <a:pPr>
                <a:defRPr/>
              </a:pPr>
              <a:t>5</a:t>
            </a:fld>
            <a:r>
              <a:rPr lang="zh-CN" altLang="en-US"/>
              <a:t>页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33375"/>
            <a:ext cx="9144000" cy="60245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200" dirty="0">
                <a:latin typeface="Times New Roman" pitchFamily="18" charset="0"/>
              </a:rPr>
              <a:t>2.1.1 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元关系的定义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日常生活中存在各种各样的关系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数学中也已经学习过很多关系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32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如何建立关系的数学模型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引例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张三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李四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王五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C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离散数学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数据结构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良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合格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不合格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学生选课关系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 “学生课程成绩关系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如：张三选修离散数学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张三选修数据结构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张三选修英语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李四选修数据结构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王五选修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语言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400" dirty="0">
                <a:solidFill>
                  <a:srgbClr val="7030A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王五选修汇编语言</a:t>
            </a:r>
            <a:endParaRPr lang="en-US" altLang="zh-CN" sz="24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3093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编号占位符 2">
            <a:extLst>
              <a:ext uri="{FF2B5EF4-FFF2-40B4-BE49-F238E27FC236}">
                <a16:creationId xmlns:a16="http://schemas.microsoft.com/office/drawing/2014/main" id="{54500CCC-228C-4B40-9D1E-B9DE3DEEE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FB70471C-2D72-4B11-8C8B-C0CF02707F33}" type="slidenum">
              <a:rPr lang="zh-CN" altLang="en-US" smtClean="0"/>
              <a:pPr>
                <a:defRPr/>
              </a:pPr>
              <a:t>6</a:t>
            </a:fld>
            <a:r>
              <a:rPr lang="zh-CN" altLang="en-US"/>
              <a:t>页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FD3C00-9CC0-0942-9FBF-D2590A63E566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144463" y="260350"/>
            <a:ext cx="8820150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i="1" dirty="0">
                <a:solidFill>
                  <a:srgbClr val="66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6600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与</a:t>
            </a:r>
            <a:r>
              <a:rPr lang="en-US" altLang="zh-CN" i="1" dirty="0">
                <a:solidFill>
                  <a:srgbClr val="6600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6600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之间的关系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400" i="1" dirty="0">
                <a:latin typeface="Times New Roman" panose="02020603050405020304" pitchFamily="18" charset="0"/>
              </a:rPr>
              <a:t>R</a:t>
            </a:r>
            <a:r>
              <a:rPr lang="en-US" altLang="zh-CN" sz="3400" dirty="0">
                <a:latin typeface="Times New Roman" panose="02020603050405020304" pitchFamily="18" charset="0"/>
              </a:rPr>
              <a:t> = {(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离散数学</a:t>
            </a:r>
            <a:r>
              <a:rPr lang="en-US" altLang="zh-CN" sz="3400" dirty="0">
                <a:latin typeface="Times New Roman" panose="02020603050405020304" pitchFamily="18" charset="0"/>
              </a:rPr>
              <a:t>),  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数据结构</a:t>
            </a:r>
            <a:r>
              <a:rPr lang="en-US" altLang="zh-CN" sz="3400" dirty="0">
                <a:latin typeface="Times New Roman" panose="02020603050405020304" pitchFamily="18" charset="0"/>
              </a:rPr>
              <a:t>), 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英语</a:t>
            </a:r>
            <a:r>
              <a:rPr lang="en-US" altLang="zh-CN" sz="3400" dirty="0">
                <a:latin typeface="Times New Roman" panose="02020603050405020304" pitchFamily="18" charset="0"/>
              </a:rPr>
              <a:t>),  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李四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数据结构</a:t>
            </a:r>
            <a:r>
              <a:rPr lang="en-US" altLang="zh-CN" sz="3400" dirty="0">
                <a:latin typeface="Times New Roman" panose="02020603050405020304" pitchFamily="18" charset="0"/>
              </a:rPr>
              <a:t>),  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王五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en-US" altLang="zh-CN" sz="3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语言</a:t>
            </a:r>
            <a:r>
              <a:rPr lang="en-US" altLang="zh-CN" sz="3400" dirty="0">
                <a:latin typeface="Times New Roman" panose="02020603050405020304" pitchFamily="18" charset="0"/>
              </a:rPr>
              <a:t>),  (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王五</a:t>
            </a:r>
            <a:r>
              <a:rPr lang="en-US" altLang="zh-CN" sz="34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400" dirty="0">
                <a:latin typeface="KaiTi" panose="02010609060101010101" pitchFamily="49" charset="-122"/>
                <a:ea typeface="KaiTi" panose="02010609060101010101" pitchFamily="49" charset="-122"/>
              </a:rPr>
              <a:t>汇编语言</a:t>
            </a:r>
            <a:r>
              <a:rPr lang="en-US" altLang="zh-CN" sz="3400" dirty="0">
                <a:latin typeface="Times New Roman" panose="02020603050405020304" pitchFamily="18" charset="0"/>
              </a:rPr>
              <a:t>)} </a:t>
            </a:r>
            <a:r>
              <a:rPr lang="en-US" altLang="zh-CN" sz="3400" dirty="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sz="3400" i="1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A </a:t>
            </a:r>
            <a:r>
              <a:rPr lang="en-US" altLang="zh-CN" sz="3400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sz="3400" i="1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sz="340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1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i="1" dirty="0">
                <a:solidFill>
                  <a:srgbClr val="66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6600CC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6600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6600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与</a:t>
            </a:r>
            <a:r>
              <a:rPr lang="en-US" altLang="zh-CN" i="1" dirty="0">
                <a:solidFill>
                  <a:srgbClr val="6600CC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6600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之间的关系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3400" i="1" dirty="0">
                <a:latin typeface="Times New Roman" panose="02020603050405020304" pitchFamily="18" charset="0"/>
              </a:rPr>
              <a:t>S</a:t>
            </a:r>
            <a:r>
              <a:rPr lang="en-US" altLang="zh-CN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</a:rPr>
              <a:t>= </a:t>
            </a:r>
            <a:r>
              <a:rPr lang="en-US" altLang="zh-CN" sz="3200" dirty="0">
                <a:latin typeface="Times New Roman" panose="02020603050405020304" pitchFamily="18" charset="0"/>
              </a:rPr>
              <a:t>{(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离散数学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优</a:t>
            </a:r>
            <a:r>
              <a:rPr lang="en-US" altLang="zh-CN" sz="3200" dirty="0">
                <a:latin typeface="Times New Roman" panose="02020603050405020304" pitchFamily="18" charset="0"/>
              </a:rPr>
              <a:t>),  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数据结构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良</a:t>
            </a:r>
            <a:r>
              <a:rPr lang="en-US" altLang="zh-CN" sz="3200" dirty="0">
                <a:latin typeface="Times New Roman" panose="02020603050405020304" pitchFamily="18" charset="0"/>
              </a:rPr>
              <a:t>),  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张三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英语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优</a:t>
            </a:r>
            <a:r>
              <a:rPr lang="en-US" altLang="zh-CN" sz="3200" dirty="0">
                <a:latin typeface="Times New Roman" panose="02020603050405020304" pitchFamily="18" charset="0"/>
              </a:rPr>
              <a:t>),  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李四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数据结构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优</a:t>
            </a:r>
            <a:r>
              <a:rPr lang="en-US" altLang="zh-CN" sz="3200" dirty="0">
                <a:latin typeface="Times New Roman" panose="02020603050405020304" pitchFamily="18" charset="0"/>
              </a:rPr>
              <a:t>),     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王五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语言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合格</a:t>
            </a:r>
            <a:r>
              <a:rPr lang="en-US" altLang="zh-CN" sz="3200" dirty="0">
                <a:latin typeface="Times New Roman" panose="02020603050405020304" pitchFamily="18" charset="0"/>
              </a:rPr>
              <a:t>),  (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王五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汇编语言</a:t>
            </a:r>
            <a:r>
              <a:rPr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良</a:t>
            </a:r>
            <a:r>
              <a:rPr lang="en-US" altLang="zh-CN" sz="3200" dirty="0">
                <a:latin typeface="Times New Roman" panose="02020603050405020304" pitchFamily="18" charset="0"/>
              </a:rPr>
              <a:t>)} </a:t>
            </a:r>
            <a:r>
              <a:rPr lang="en-US" altLang="zh-CN" sz="3400" dirty="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sz="3400" i="1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A </a:t>
            </a:r>
            <a:r>
              <a:rPr lang="en-US" altLang="zh-CN" sz="3400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sz="3400" i="1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B </a:t>
            </a:r>
            <a:r>
              <a:rPr lang="en-US" altLang="zh-CN" sz="3400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sz="3400" i="1" dirty="0">
                <a:solidFill>
                  <a:srgbClr val="A50021"/>
                </a:solidFill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sz="34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54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5B38AD1-CF6F-4E71-9A83-C09A444E06D9}" type="slidenum">
              <a:rPr lang="zh-CN" altLang="en-US"/>
              <a:pPr>
                <a:defRPr/>
              </a:pPr>
              <a:t>7</a:t>
            </a:fld>
            <a:r>
              <a:rPr lang="zh-CN" altLang="en-US"/>
              <a:t>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2"/>
              <p:cNvSpPr>
                <a:spLocks noGrp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CN" altLang="en-US" dirty="0">
                    <a:highlight>
                      <a:srgbClr val="FFFF00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定义</a:t>
                </a:r>
                <a:r>
                  <a:rPr lang="en-US" altLang="zh-CN" dirty="0">
                    <a:highlight>
                      <a:srgbClr val="FFFF00"/>
                    </a:highlight>
                    <a:latin typeface="Times New Roman" pitchFamily="18" charset="0"/>
                  </a:rPr>
                  <a:t> 2-1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是集合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:r>
                  <a:rPr lang="zh-CN" altLang="en-US" dirty="0">
                    <a:ea typeface="楷体" panose="02010609060101010101" pitchFamily="49" charset="-122"/>
                  </a:rPr>
                  <a:t>若</a:t>
                </a:r>
                <a:endParaRPr lang="en-US" altLang="zh-CN" dirty="0">
                  <a:ea typeface="楷体" panose="02010609060101010101" pitchFamily="49" charset="-122"/>
                </a:endParaRPr>
              </a:p>
              <a:p>
                <a:pPr algn="ctr" eaLnBrk="1" hangingPunct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𝑹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⊆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⋯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</a:p>
              <a:p>
                <a:pPr eaLnBrk="1" hangingPunct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则称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间的</a:t>
                </a:r>
                <a:r>
                  <a:rPr lang="en-US" altLang="zh-CN" i="1" u="sng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元关系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 eaLnBrk="1" hangingPunct="1"/>
                <a:endParaRPr lang="en-US" altLang="zh-CN" dirty="0">
                  <a:latin typeface="Times New Roman" pitchFamily="18" charset="0"/>
                </a:endParaRPr>
              </a:p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特别地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⊆</m:t>
                    </m:r>
                    <m:limUpp>
                      <m:limUp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/>
                              </m:rPr>
                              <a:rPr lang="en-US" altLang="zh-CN" b="1" i="1" dirty="0" smtClean="0"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𝑨</m:t>
                            </m:r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×</m:t>
                            </m:r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𝑨</m:t>
                            </m:r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×⋯×</m:t>
                            </m:r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</m:groupChr>
                      </m:e>
                      <m:lim>
                        <m:r>
                          <a:rPr lang="en-US" altLang="zh-CN" b="1" i="1" dirty="0" smtClean="0"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𝒏</m:t>
                        </m:r>
                      </m:lim>
                    </m:limUpp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则称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i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i="1" u="sng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u="sng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元关系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24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667" t="-2246" r="-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27287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2D4CA30-5C45-4062-9C46-E6010A5B8883}" type="slidenum">
              <a:rPr lang="zh-CN" altLang="en-US"/>
              <a:pPr>
                <a:defRPr/>
              </a:pPr>
              <a:t>8</a:t>
            </a:fld>
            <a:r>
              <a:rPr lang="zh-CN" altLang="en-US"/>
              <a:t>页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2.1.2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二元关系</a:t>
            </a:r>
            <a:r>
              <a:rPr lang="en-US" altLang="zh-CN" dirty="0">
                <a:latin typeface="Times New Roman" pitchFamily="18" charset="0"/>
              </a:rPr>
              <a:t>(binary relation)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下面主要讨论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常见的是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altLang="zh-CN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(≥3)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元可归结到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An unary relation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 on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: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DD3CCFD-495C-4EF7-929F-C2EF84B75A65}" type="slidenum">
              <a:rPr lang="zh-CN" altLang="en-US"/>
              <a:pPr>
                <a:defRPr/>
              </a:pPr>
              <a:t>9</a:t>
            </a:fld>
            <a:r>
              <a:rPr lang="zh-CN" altLang="en-US"/>
              <a:t>页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两个集合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可以相同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间的关系称为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简称关系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): </a:t>
            </a:r>
          </a:p>
          <a:p>
            <a:pPr eaLnBrk="1" hangingPunct="1">
              <a:lnSpc>
                <a:spcPct val="12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-1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3},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/>
        </p:nvGraphicFramePr>
        <p:xfrm>
          <a:off x="3348038" y="1773238"/>
          <a:ext cx="17287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9690" imgH="104760" progId="Equation.3">
                  <p:embed/>
                </p:oleObj>
              </mc:Choice>
              <mc:Fallback>
                <p:oleObj name="公式" r:id="rId2" imgW="609690" imgH="1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73238"/>
                        <a:ext cx="17287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012986"/>
              </p:ext>
            </p:extLst>
          </p:nvPr>
        </p:nvGraphicFramePr>
        <p:xfrm>
          <a:off x="4572000" y="2492896"/>
          <a:ext cx="18843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6143" imgH="104760" progId="Equation.3">
                  <p:embed/>
                </p:oleObj>
              </mc:Choice>
              <mc:Fallback>
                <p:oleObj name="公式" r:id="rId4" imgW="676143" imgH="104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92896"/>
                        <a:ext cx="18843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5"/>
          <p:cNvGraphicFramePr>
            <a:graphicFrameLocks noChangeAspect="1"/>
          </p:cNvGraphicFramePr>
          <p:nvPr/>
        </p:nvGraphicFramePr>
        <p:xfrm>
          <a:off x="1403350" y="4149725"/>
          <a:ext cx="67976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47776" imgH="114210" progId="Equation.3">
                  <p:embed/>
                </p:oleObj>
              </mc:Choice>
              <mc:Fallback>
                <p:oleObj name="公式" r:id="rId6" imgW="2247776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149725"/>
                        <a:ext cx="67976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290513" y="5013325"/>
          <a:ext cx="8853487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33745" imgH="114210" progId="Equation.3">
                  <p:embed/>
                </p:oleObj>
              </mc:Choice>
              <mc:Fallback>
                <p:oleObj name="公式" r:id="rId8" imgW="2733745" imgH="1142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5013325"/>
                        <a:ext cx="8853487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E982905-1573-46A1-9694-F30F3F6BE69C}" type="slidenum">
              <a:rPr lang="zh-CN" altLang="en-US"/>
              <a:pPr>
                <a:defRPr/>
              </a:pPr>
              <a:t>10</a:t>
            </a:fld>
            <a:r>
              <a:rPr lang="zh-CN" altLang="en-US"/>
              <a:t>页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空关系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全关系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上的空关系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与全关系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2-1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|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____.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Hint  |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上的二元关系有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mm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030AA1F-B3A6-40D6-82F0-00997BF5E8AE}" type="slidenum">
              <a:rPr lang="zh-CN" altLang="en-US"/>
              <a:pPr>
                <a:defRPr/>
              </a:pPr>
              <a:t>11</a:t>
            </a:fld>
            <a:r>
              <a:rPr lang="zh-CN" altLang="en-US"/>
              <a:t>页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latin typeface="+mj-ea"/>
              </a:rPr>
              <a:t>关系的概念</a:t>
            </a:r>
            <a:endParaRPr lang="zh-CN" altLang="en-US" dirty="0">
              <a:latin typeface="+mj-ea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" y="812801"/>
            <a:ext cx="9144000" cy="43443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pSp>
        <p:nvGrpSpPr>
          <p:cNvPr id="6149" name="Group 4"/>
          <p:cNvGrpSpPr>
            <a:grpSpLocks/>
          </p:cNvGrpSpPr>
          <p:nvPr/>
        </p:nvGrpSpPr>
        <p:grpSpPr bwMode="auto">
          <a:xfrm>
            <a:off x="1042988" y="1408113"/>
            <a:ext cx="5410200" cy="669925"/>
            <a:chOff x="1152" y="1128"/>
            <a:chExt cx="3408" cy="422"/>
          </a:xfrm>
        </p:grpSpPr>
        <p:grpSp>
          <p:nvGrpSpPr>
            <p:cNvPr id="618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618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04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8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5" name="Text Box 10"/>
            <p:cNvSpPr txBox="1">
              <a:spLocks noChangeArrowheads="1"/>
            </p:cNvSpPr>
            <p:nvPr/>
          </p:nvSpPr>
          <p:spPr bwMode="auto">
            <a:xfrm>
              <a:off x="2112" y="1128"/>
              <a:ext cx="17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i="1" dirty="0">
                  <a:solidFill>
                    <a:schemeClr val="bg1">
                      <a:lumMod val="75000"/>
                    </a:schemeClr>
                  </a:solidFill>
                  <a:latin typeface="Times New Roman" pitchFamily="18" charset="0"/>
                  <a:ea typeface="华文楷体" pitchFamily="2" charset="-122"/>
                </a:rPr>
                <a:t>n</a:t>
              </a:r>
              <a:r>
                <a:rPr lang="zh-CN" altLang="en-US" dirty="0">
                  <a:solidFill>
                    <a:schemeClr val="bg1">
                      <a:lumMod val="75000"/>
                    </a:schemeClr>
                  </a:solidFill>
                  <a:ea typeface="华文楷体" pitchFamily="2" charset="-122"/>
                </a:rPr>
                <a:t>元关系的定义</a:t>
              </a:r>
            </a:p>
          </p:txBody>
        </p:sp>
        <p:sp>
          <p:nvSpPr>
            <p:cNvPr id="618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6150" name="Group 12"/>
          <p:cNvGrpSpPr>
            <a:grpSpLocks/>
          </p:cNvGrpSpPr>
          <p:nvPr/>
        </p:nvGrpSpPr>
        <p:grpSpPr bwMode="auto">
          <a:xfrm>
            <a:off x="1106016" y="2330450"/>
            <a:ext cx="5410200" cy="685800"/>
            <a:chOff x="1152" y="1694"/>
            <a:chExt cx="3408" cy="432"/>
          </a:xfrm>
        </p:grpSpPr>
        <p:grpSp>
          <p:nvGrpSpPr>
            <p:cNvPr id="617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18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12" name="AutoShape 16"/>
              <p:cNvSpPr>
                <a:spLocks noChangeArrowheads="1"/>
              </p:cNvSpPr>
              <p:nvPr/>
            </p:nvSpPr>
            <p:spPr bwMode="gray">
              <a:xfrm>
                <a:off x="322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17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23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chemeClr val="tx1"/>
                  </a:solidFill>
                </a:rPr>
                <a:t>元关系的有关概念</a:t>
              </a:r>
            </a:p>
          </p:txBody>
        </p:sp>
        <p:sp>
          <p:nvSpPr>
            <p:cNvPr id="617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2E5642DD-3F74-0642-BBF3-6265C8B2D7AD}"/>
              </a:ext>
            </a:extLst>
          </p:cNvPr>
          <p:cNvSpPr txBox="1"/>
          <p:nvPr/>
        </p:nvSpPr>
        <p:spPr>
          <a:xfrm>
            <a:off x="2267744" y="3645024"/>
            <a:ext cx="4432151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None/>
            </a:pPr>
            <a:r>
              <a:rPr kumimoji="1" lang="zh-Hans" altLang="en-US" sz="2600" dirty="0">
                <a:solidFill>
                  <a:schemeClr val="tx1"/>
                </a:solidFill>
              </a:rPr>
              <a:t>几类特殊的二元关系：</a:t>
            </a:r>
            <a:endParaRPr kumimoji="1" lang="en-US" altLang="zh-CN" sz="2600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kumimoji="1" lang="en-US" altLang="zh-CN" sz="2600" dirty="0">
                <a:solidFill>
                  <a:schemeClr val="tx1"/>
                </a:solidFill>
              </a:rPr>
              <a:t>&gt;      |       </a:t>
            </a:r>
            <a:r>
              <a:rPr lang="zh-CN" altLang="en-US" sz="2600" dirty="0">
                <a:solidFill>
                  <a:srgbClr val="002221"/>
                </a:solidFill>
                <a:latin typeface="Times New Roman" panose="02020603050405020304" pitchFamily="18" charset="0"/>
                <a:sym typeface="Symbol" pitchFamily="2" charset="2"/>
              </a:rPr>
              <a:t></a:t>
            </a:r>
            <a:r>
              <a:rPr lang="en-US" altLang="zh-CN" sz="2600" i="1" baseline="-25000" dirty="0">
                <a:solidFill>
                  <a:srgbClr val="002221"/>
                </a:solidFill>
                <a:latin typeface="Times New Roman" panose="02020603050405020304" pitchFamily="18" charset="0"/>
                <a:sym typeface="Symbol" pitchFamily="2" charset="2"/>
              </a:rPr>
              <a:t>m</a:t>
            </a:r>
            <a:endParaRPr kumimoji="1"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270073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C24F9-6AF4-9543-B2AB-55D827AC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A4C74-17D4-FF4E-A55F-C3F9C0E0C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Hans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Hans" dirty="0">
                <a:latin typeface="Times New Roman" pitchFamily="18" charset="0"/>
              </a:rPr>
              <a:t>3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3, </a:t>
            </a:r>
            <a:r>
              <a:rPr lang="en-US" altLang="zh-Hans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},</a:t>
            </a:r>
            <a:r>
              <a:rPr lang="zh-Hans" altLang="en-US" dirty="0">
                <a:latin typeface="Times New Roman" pitchFamily="18" charset="0"/>
              </a:rPr>
              <a:t> 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则</a:t>
            </a:r>
            <a:r>
              <a:rPr lang="en-US" altLang="zh-CN" i="1" dirty="0">
                <a:latin typeface="Times New Roman" pitchFamily="18" charset="0"/>
              </a:rPr>
              <a:t>A, B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间的大于关系为</a:t>
            </a:r>
            <a:r>
              <a:rPr lang="zh-Hans" altLang="en-US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altLang="zh-Hans" b="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通常谈到的</a:t>
            </a:r>
            <a:r>
              <a:rPr lang="zh-Hans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大于关系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是实数集合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上的大于关系，按集合记号应写成</a:t>
            </a:r>
            <a:endParaRPr lang="en-US" altLang="zh-Han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Hans" dirty="0">
                <a:latin typeface="KaiTi" panose="02010609060101010101" pitchFamily="49" charset="-122"/>
                <a:ea typeface="KaiTi" panose="02010609060101010101" pitchFamily="49" charset="-122"/>
              </a:rPr>
              <a:t>=</a:t>
            </a:r>
            <a:r>
              <a:rPr lang="zh-Hans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Hans" dirty="0"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Hans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Han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Hans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)| </a:t>
            </a:r>
            <a:r>
              <a:rPr lang="en-US" altLang="zh-Hans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Han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Hans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R</a:t>
            </a:r>
            <a:r>
              <a:rPr lang="zh-Hans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Han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且 </a:t>
            </a:r>
            <a:r>
              <a:rPr lang="en-US" altLang="zh-Han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Hans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lang="zh-Han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Han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Hans" dirty="0"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EC9D5F65-533F-3D41-BFFA-295BFE46C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ED86158A-B174-4243-A4CB-A7ABAEE3A875}" type="slidenum">
              <a:rPr lang="zh-CN" altLang="en-US" smtClean="0"/>
              <a:pPr>
                <a:defRPr/>
              </a:pPr>
              <a:t>12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11267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2">
            <a:extLst>
              <a:ext uri="{FF2B5EF4-FFF2-40B4-BE49-F238E27FC236}">
                <a16:creationId xmlns:a16="http://schemas.microsoft.com/office/drawing/2014/main" id="{DC06605A-9E1C-BE4B-A723-525CF2CD9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第</a:t>
            </a:r>
            <a:fld id="{0ABC3176-719B-9D42-8152-0C32E328FCDF}" type="slidenum">
              <a:rPr lang="zh-CN" altLang="en-US" sz="1600" smtClean="0">
                <a:solidFill>
                  <a:srgbClr val="B2B2B2"/>
                </a:solidFill>
                <a:latin typeface="楷体_GB2312" pitchFamily="49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页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7A339F45-3F08-8242-8E64-14BBC0B85076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-36513" y="117475"/>
            <a:ext cx="9109076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2-3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整数集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上的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sym typeface="Symbol" pitchFamily="2" charset="2"/>
              </a:rPr>
              <a:t>整除关系</a:t>
            </a:r>
            <a:r>
              <a:rPr lang="zh-Hans" altLang="en-US" b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“</a:t>
            </a:r>
            <a:r>
              <a:rPr lang="en-US" altLang="zh-CN" dirty="0">
                <a:solidFill>
                  <a:srgbClr val="002221"/>
                </a:solidFill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或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“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”.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44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详见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5.1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节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.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整数集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上的</a:t>
            </a:r>
            <a:r>
              <a:rPr lang="zh-CN" altLang="en-US" sz="3000" dirty="0">
                <a:solidFill>
                  <a:srgbClr val="0066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itchFamily="2" charset="2"/>
              </a:rPr>
              <a:t>整除关系的性质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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sz="3000" i="1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sz="300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Z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):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(1)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且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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或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= -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(3)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且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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|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(4)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CN" altLang="en-US" sz="3000" dirty="0">
                <a:latin typeface="Times New Roman" panose="02020603050405020304" pitchFamily="18" charset="0"/>
                <a:sym typeface="Symbol" pitchFamily="2" charset="2"/>
              </a:rPr>
              <a:t>且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Hans" altLang="en-US" sz="30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|</a:t>
            </a:r>
            <a:r>
              <a:rPr lang="zh-Hans" altLang="en-US" sz="3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 </a:t>
            </a:r>
            <a:r>
              <a:rPr lang="en-US" altLang="zh-CN" sz="3000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 | </a:t>
            </a:r>
            <a:r>
              <a:rPr lang="en-US" altLang="zh-CN" sz="3000" i="1" dirty="0" err="1">
                <a:latin typeface="Times New Roman" panose="02020603050405020304" pitchFamily="18" charset="0"/>
                <a:sym typeface="Symbol" pitchFamily="2" charset="2"/>
              </a:rPr>
              <a:t>my</a:t>
            </a:r>
            <a:r>
              <a:rPr lang="en-US" altLang="zh-CN" sz="3000" dirty="0" err="1">
                <a:latin typeface="Times New Roman" panose="02020603050405020304" pitchFamily="18" charset="0"/>
                <a:sym typeface="Symbol" pitchFamily="2" charset="2"/>
              </a:rPr>
              <a:t>+</a:t>
            </a:r>
            <a:r>
              <a:rPr lang="en-US" altLang="zh-CN" sz="3000" i="1" dirty="0" err="1">
                <a:latin typeface="Times New Roman" panose="02020603050405020304" pitchFamily="18" charset="0"/>
                <a:sym typeface="Symbol" pitchFamily="2" charset="2"/>
              </a:rPr>
              <a:t>nz</a:t>
            </a:r>
            <a:r>
              <a:rPr lang="en-US" altLang="zh-CN" sz="3000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0031AB25-BF06-D942-ADD9-2B8C62603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981075"/>
          <a:ext cx="35194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90550" imgH="57150" progId="Equation.3">
                  <p:embed/>
                </p:oleObj>
              </mc:Choice>
              <mc:Fallback>
                <p:oleObj name="公式" r:id="rId3" imgW="590550" imgH="57150" progId="Equation.3">
                  <p:embed/>
                  <p:pic>
                    <p:nvPicPr>
                      <p:cNvPr id="29699" name="Object 4">
                        <a:extLst>
                          <a:ext uri="{FF2B5EF4-FFF2-40B4-BE49-F238E27FC236}">
                            <a16:creationId xmlns:a16="http://schemas.microsoft.com/office/drawing/2014/main" id="{0031AB25-BF06-D942-ADD9-2B8C62603F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981075"/>
                        <a:ext cx="3519487" cy="5016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6">
            <a:extLst>
              <a:ext uri="{FF2B5EF4-FFF2-40B4-BE49-F238E27FC236}">
                <a16:creationId xmlns:a16="http://schemas.microsoft.com/office/drawing/2014/main" id="{F835574A-F222-5C40-81C7-55856C34E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101601"/>
              </p:ext>
            </p:extLst>
          </p:nvPr>
        </p:nvGraphicFramePr>
        <p:xfrm>
          <a:off x="1691680" y="1703215"/>
          <a:ext cx="5868629" cy="501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440" imgH="203040" progId="Equation.DSMT4">
                  <p:embed/>
                </p:oleObj>
              </mc:Choice>
              <mc:Fallback>
                <p:oleObj name="Equation" r:id="rId5" imgW="2260440" imgH="203040" progId="Equation.DSMT4">
                  <p:embed/>
                  <p:pic>
                    <p:nvPicPr>
                      <p:cNvPr id="29700" name="Object 6">
                        <a:extLst>
                          <a:ext uri="{FF2B5EF4-FFF2-40B4-BE49-F238E27FC236}">
                            <a16:creationId xmlns:a16="http://schemas.microsoft.com/office/drawing/2014/main" id="{F835574A-F222-5C40-81C7-55856C34E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703215"/>
                        <a:ext cx="5868629" cy="501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65181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2">
            <a:extLst>
              <a:ext uri="{FF2B5EF4-FFF2-40B4-BE49-F238E27FC236}">
                <a16:creationId xmlns:a16="http://schemas.microsoft.com/office/drawing/2014/main" id="{8A0B9E83-0511-C446-974E-B87D7B347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第</a:t>
            </a:r>
            <a:fld id="{51A9109F-02A6-9C4B-BAB7-042A26069434}" type="slidenum">
              <a:rPr lang="zh-CN" altLang="en-US" sz="1600" smtClean="0">
                <a:solidFill>
                  <a:srgbClr val="B2B2B2"/>
                </a:solidFill>
                <a:latin typeface="楷体_GB2312" pitchFamily="49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页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011E338-879C-B746-BB3C-F6B549515FF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2-4(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K. F. Gauss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)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对于正整数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整数集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上的</a:t>
            </a:r>
            <a:r>
              <a:rPr lang="zh-CN" altLang="en-US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itchFamily="2" charset="2"/>
              </a:rPr>
              <a:t>模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itchFamily="2" charset="2"/>
              </a:rPr>
              <a:t>m</a:t>
            </a:r>
            <a:r>
              <a:rPr lang="zh-CN" altLang="en-US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itchFamily="2" charset="2"/>
              </a:rPr>
              <a:t>同余关系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“</a:t>
            </a:r>
            <a:r>
              <a:rPr lang="zh-CN" altLang="en-US" dirty="0">
                <a:solidFill>
                  <a:srgbClr val="002221"/>
                </a:solidFill>
                <a:latin typeface="Times New Roman" panose="02020603050405020304" pitchFamily="18" charset="0"/>
                <a:sym typeface="Symbol" pitchFamily="2" charset="2"/>
              </a:rPr>
              <a:t></a:t>
            </a:r>
            <a:r>
              <a:rPr lang="en-US" altLang="zh-CN" i="1" baseline="-25000" dirty="0">
                <a:solidFill>
                  <a:srgbClr val="002221"/>
                </a:solidFill>
                <a:latin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”: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= 3: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3|(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-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)    </a:t>
            </a:r>
            <a:r>
              <a:rPr lang="en-US" altLang="zh-CN" i="1" u="sng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zh-CN" altLang="en-US" u="sng" dirty="0">
                <a:latin typeface="Times New Roman" panose="02020603050405020304" pitchFamily="18" charset="0"/>
                <a:sym typeface="Symbol" pitchFamily="2" charset="2"/>
              </a:rPr>
              <a:t>除以</a:t>
            </a:r>
            <a:r>
              <a:rPr lang="en-US" altLang="zh-CN" u="sng" dirty="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zh-CN" altLang="en-US" u="sng" dirty="0">
                <a:latin typeface="Times New Roman" panose="02020603050405020304" pitchFamily="18" charset="0"/>
                <a:sym typeface="Symbol" pitchFamily="2" charset="2"/>
              </a:rPr>
              <a:t>的</a:t>
            </a:r>
            <a:r>
              <a:rPr lang="zh-CN" altLang="en-US" u="sng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余数</a:t>
            </a:r>
            <a:r>
              <a:rPr lang="zh-CN" altLang="en-US" u="sng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u="sng" dirty="0">
                <a:latin typeface="Times New Roman" panose="02020603050405020304" pitchFamily="18" charset="0"/>
                <a:sym typeface="Symbol" pitchFamily="2" charset="2"/>
              </a:rPr>
              <a:t>= </a:t>
            </a:r>
            <a:r>
              <a:rPr lang="en-US" altLang="zh-CN" i="1" u="sng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zh-CN" altLang="en-US" u="sng" dirty="0">
                <a:latin typeface="Times New Roman" panose="02020603050405020304" pitchFamily="18" charset="0"/>
                <a:sym typeface="Symbol" pitchFamily="2" charset="2"/>
              </a:rPr>
              <a:t>除以</a:t>
            </a:r>
            <a:r>
              <a:rPr lang="en-US" altLang="zh-CN" u="sng" dirty="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zh-CN" altLang="en-US" u="sng" dirty="0">
                <a:latin typeface="Times New Roman" panose="02020603050405020304" pitchFamily="18" charset="0"/>
                <a:sym typeface="Symbol" pitchFamily="2" charset="2"/>
              </a:rPr>
              <a:t>的</a:t>
            </a:r>
            <a:r>
              <a:rPr lang="zh-CN" altLang="en-US" u="sng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余数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402A7044-0302-7949-A77F-55557833D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989138"/>
          <a:ext cx="34274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77850" imgH="69850" progId="Equation.3">
                  <p:embed/>
                </p:oleObj>
              </mc:Choice>
              <mc:Fallback>
                <p:oleObj name="公式" r:id="rId3" imgW="577850" imgH="69850" progId="Equation.3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402A7044-0302-7949-A77F-55557833D6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989138"/>
                        <a:ext cx="3427412" cy="565150"/>
                      </a:xfrm>
                      <a:prstGeom prst="rect">
                        <a:avLst/>
                      </a:prstGeom>
                      <a:solidFill>
                        <a:srgbClr val="FF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97414E81-10E1-0C41-833E-79AAFD6E2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213100"/>
          <a:ext cx="33115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33400" imgH="69850" progId="Equation.3">
                  <p:embed/>
                </p:oleObj>
              </mc:Choice>
              <mc:Fallback>
                <p:oleObj name="公式" r:id="rId5" imgW="533400" imgH="69850" progId="Equation.3">
                  <p:embed/>
                  <p:pic>
                    <p:nvPicPr>
                      <p:cNvPr id="31748" name="Object 4">
                        <a:extLst>
                          <a:ext uri="{FF2B5EF4-FFF2-40B4-BE49-F238E27FC236}">
                            <a16:creationId xmlns:a16="http://schemas.microsoft.com/office/drawing/2014/main" id="{97414E81-10E1-0C41-833E-79AAFD6E25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213100"/>
                        <a:ext cx="33115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3740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2">
            <a:extLst>
              <a:ext uri="{FF2B5EF4-FFF2-40B4-BE49-F238E27FC236}">
                <a16:creationId xmlns:a16="http://schemas.microsoft.com/office/drawing/2014/main" id="{A0E0B1DA-73D6-C246-B7DE-8D695D40B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第</a:t>
            </a:r>
            <a:fld id="{13A9938C-19F5-5A4B-A2E5-313E7A03808D}" type="slidenum">
              <a:rPr lang="zh-CN" altLang="en-US" sz="1600" smtClean="0">
                <a:solidFill>
                  <a:srgbClr val="B2B2B2"/>
                </a:solidFill>
                <a:latin typeface="楷体_GB2312" pitchFamily="49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</a:rPr>
              <a:t>页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3E0EA60-94EB-8B4A-B399-B506671869A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006699"/>
                </a:solidFill>
                <a:latin typeface="Times New Roman" panose="02020603050405020304" pitchFamily="18" charset="0"/>
              </a:rPr>
              <a:t>数论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(Number Theory)</a:t>
            </a:r>
            <a:r>
              <a:rPr lang="zh-CN" altLang="en-US">
                <a:solidFill>
                  <a:srgbClr val="006699"/>
                </a:solidFill>
                <a:latin typeface="Times New Roman" panose="02020603050405020304" pitchFamily="18" charset="0"/>
              </a:rPr>
              <a:t>中的常用记号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Remark                          </a:t>
            </a:r>
            <a:r>
              <a:rPr lang="zh-CN" altLang="en-US">
                <a:latin typeface="Times New Roman" panose="02020603050405020304" pitchFamily="18" charset="0"/>
              </a:rPr>
              <a:t>与                            的区别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32771" name="Object 3">
            <a:extLst>
              <a:ext uri="{FF2B5EF4-FFF2-40B4-BE49-F238E27FC236}">
                <a16:creationId xmlns:a16="http://schemas.microsoft.com/office/drawing/2014/main" id="{5389231D-C463-3642-B7F3-82D7A73DD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908050"/>
          <a:ext cx="15240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50" imgH="69850" progId="Equation.3">
                  <p:embed/>
                </p:oleObj>
              </mc:Choice>
              <mc:Fallback>
                <p:oleObj name="公式" r:id="rId2" imgW="171450" imgH="69850" progId="Equation.3">
                  <p:embed/>
                  <p:pic>
                    <p:nvPicPr>
                      <p:cNvPr id="32771" name="Object 3">
                        <a:extLst>
                          <a:ext uri="{FF2B5EF4-FFF2-40B4-BE49-F238E27FC236}">
                            <a16:creationId xmlns:a16="http://schemas.microsoft.com/office/drawing/2014/main" id="{5389231D-C463-3642-B7F3-82D7A73DD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908050"/>
                        <a:ext cx="1524000" cy="79057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860D9270-C875-8844-9033-0760385833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5800" y="3429000"/>
          <a:ext cx="33782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5600" imgH="57150" progId="Equation.3">
                  <p:embed/>
                </p:oleObj>
              </mc:Choice>
              <mc:Fallback>
                <p:oleObj name="公式" r:id="rId4" imgW="355600" imgH="57150" progId="Equation.3">
                  <p:embed/>
                  <p:pic>
                    <p:nvPicPr>
                      <p:cNvPr id="32772" name="Object 4">
                        <a:extLst>
                          <a:ext uri="{FF2B5EF4-FFF2-40B4-BE49-F238E27FC236}">
                            <a16:creationId xmlns:a16="http://schemas.microsoft.com/office/drawing/2014/main" id="{860D9270-C875-8844-9033-076038583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3429000"/>
                        <a:ext cx="33782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9">
            <a:extLst>
              <a:ext uri="{FF2B5EF4-FFF2-40B4-BE49-F238E27FC236}">
                <a16:creationId xmlns:a16="http://schemas.microsoft.com/office/drawing/2014/main" id="{72602BD6-67E4-FB47-8B64-72FAD665A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981075"/>
          <a:ext cx="29194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5600" imgH="57150" progId="Equation.3">
                  <p:embed/>
                </p:oleObj>
              </mc:Choice>
              <mc:Fallback>
                <p:oleObj name="公式" r:id="rId6" imgW="355600" imgH="57150" progId="Equation.3">
                  <p:embed/>
                  <p:pic>
                    <p:nvPicPr>
                      <p:cNvPr id="32773" name="Object 9">
                        <a:extLst>
                          <a:ext uri="{FF2B5EF4-FFF2-40B4-BE49-F238E27FC236}">
                            <a16:creationId xmlns:a16="http://schemas.microsoft.com/office/drawing/2014/main" id="{72602BD6-67E4-FB47-8B64-72FAD665A3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981075"/>
                        <a:ext cx="2919413" cy="70167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AutoShape 10">
            <a:extLst>
              <a:ext uri="{FF2B5EF4-FFF2-40B4-BE49-F238E27FC236}">
                <a16:creationId xmlns:a16="http://schemas.microsoft.com/office/drawing/2014/main" id="{9420D995-409E-1642-A6B6-6C567BC36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125538"/>
            <a:ext cx="1214437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3200">
              <a:solidFill>
                <a:srgbClr val="FFFF99"/>
              </a:solidFill>
            </a:endParaRPr>
          </a:p>
        </p:txBody>
      </p:sp>
      <p:graphicFrame>
        <p:nvGraphicFramePr>
          <p:cNvPr id="32775" name="Object 11">
            <a:extLst>
              <a:ext uri="{FF2B5EF4-FFF2-40B4-BE49-F238E27FC236}">
                <a16:creationId xmlns:a16="http://schemas.microsoft.com/office/drawing/2014/main" id="{860AB6E6-8E9A-7349-A451-7142BDA83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02025"/>
          <a:ext cx="29210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5600" imgH="57150" progId="Equation.3">
                  <p:embed/>
                </p:oleObj>
              </mc:Choice>
              <mc:Fallback>
                <p:oleObj name="公式" r:id="rId8" imgW="355600" imgH="57150" progId="Equation.3">
                  <p:embed/>
                  <p:pic>
                    <p:nvPicPr>
                      <p:cNvPr id="32775" name="Object 11">
                        <a:extLst>
                          <a:ext uri="{FF2B5EF4-FFF2-40B4-BE49-F238E27FC236}">
                            <a16:creationId xmlns:a16="http://schemas.microsoft.com/office/drawing/2014/main" id="{860AB6E6-8E9A-7349-A451-7142BDA83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02025"/>
                        <a:ext cx="29210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13">
            <a:extLst>
              <a:ext uri="{FF2B5EF4-FFF2-40B4-BE49-F238E27FC236}">
                <a16:creationId xmlns:a16="http://schemas.microsoft.com/office/drawing/2014/main" id="{ADDD4A2B-7BBF-9242-A787-EF1AA9D24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941888"/>
          <a:ext cx="6816725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63600" imgH="57150" progId="Equation.3">
                  <p:embed/>
                </p:oleObj>
              </mc:Choice>
              <mc:Fallback>
                <p:oleObj name="公式" r:id="rId10" imgW="863600" imgH="57150" progId="Equation.3">
                  <p:embed/>
                  <p:pic>
                    <p:nvPicPr>
                      <p:cNvPr id="21513" name="Object 13">
                        <a:extLst>
                          <a:ext uri="{FF2B5EF4-FFF2-40B4-BE49-F238E27FC236}">
                            <a16:creationId xmlns:a16="http://schemas.microsoft.com/office/drawing/2014/main" id="{ADDD4A2B-7BBF-9242-A787-EF1AA9D24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941888"/>
                        <a:ext cx="6816725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AutoShape 14">
            <a:extLst>
              <a:ext uri="{FF2B5EF4-FFF2-40B4-BE49-F238E27FC236}">
                <a16:creationId xmlns:a16="http://schemas.microsoft.com/office/drawing/2014/main" id="{53E311AD-3996-BB40-8A6B-414A9F0DB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989138"/>
            <a:ext cx="1214437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3200">
              <a:solidFill>
                <a:srgbClr val="FFFF99"/>
              </a:solidFill>
            </a:endParaRPr>
          </a:p>
        </p:txBody>
      </p:sp>
      <p:graphicFrame>
        <p:nvGraphicFramePr>
          <p:cNvPr id="32778" name="Object 15">
            <a:extLst>
              <a:ext uri="{FF2B5EF4-FFF2-40B4-BE49-F238E27FC236}">
                <a16:creationId xmlns:a16="http://schemas.microsoft.com/office/drawing/2014/main" id="{309E090A-DA1E-B847-AB80-55B423A9C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916113"/>
          <a:ext cx="46132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77850" imgH="57150" progId="Equation.3">
                  <p:embed/>
                </p:oleObj>
              </mc:Choice>
              <mc:Fallback>
                <p:oleObj name="公式" r:id="rId12" imgW="577850" imgH="57150" progId="Equation.3">
                  <p:embed/>
                  <p:pic>
                    <p:nvPicPr>
                      <p:cNvPr id="32778" name="Object 15">
                        <a:extLst>
                          <a:ext uri="{FF2B5EF4-FFF2-40B4-BE49-F238E27FC236}">
                            <a16:creationId xmlns:a16="http://schemas.microsoft.com/office/drawing/2014/main" id="{309E090A-DA1E-B847-AB80-55B423A9C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916113"/>
                        <a:ext cx="46132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文本框 1">
            <a:extLst>
              <a:ext uri="{FF2B5EF4-FFF2-40B4-BE49-F238E27FC236}">
                <a16:creationId xmlns:a16="http://schemas.microsoft.com/office/drawing/2014/main" id="{F5189B76-FA6A-4A4F-B9E0-B842CD6D1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2012950"/>
            <a:ext cx="1150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None/>
            </a:pPr>
            <a:r>
              <a:rPr lang="zh-CN" altLang="en-US" sz="2000" dirty="0"/>
              <a:t>含义</a:t>
            </a:r>
          </a:p>
        </p:txBody>
      </p:sp>
    </p:spTree>
    <p:extLst>
      <p:ext uri="{BB962C8B-B14F-4D97-AF65-F5344CB8AC3E}">
        <p14:creationId xmlns:p14="http://schemas.microsoft.com/office/powerpoint/2010/main" val="3659489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4363A30-877E-4DC5-B8F8-0449AE6506C9}" type="slidenum">
              <a:rPr lang="zh-CN" altLang="en-US"/>
              <a:pPr>
                <a:defRPr/>
              </a:pPr>
              <a:t>16</a:t>
            </a:fld>
            <a:r>
              <a:rPr lang="zh-CN" altLang="en-US"/>
              <a:t>页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</a:t>
            </a:r>
            <a:r>
              <a:rPr lang="zh-CN" altLang="en-US" dirty="0">
                <a:solidFill>
                  <a:schemeClr val="accent2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恒等关系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(identity relation):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16388" name="Object 3"/>
          <p:cNvGraphicFramePr>
            <a:graphicFrameLocks noChangeAspect="1"/>
          </p:cNvGraphicFramePr>
          <p:nvPr/>
        </p:nvGraphicFramePr>
        <p:xfrm>
          <a:off x="2124075" y="981075"/>
          <a:ext cx="41036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9110" imgH="133380" progId="Equation.3">
                  <p:embed/>
                </p:oleObj>
              </mc:Choice>
              <mc:Fallback>
                <p:oleObj name="公式" r:id="rId2" imgW="1219110" imgH="1333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981075"/>
                        <a:ext cx="4103688" cy="6731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34042"/>
              </p:ext>
            </p:extLst>
          </p:nvPr>
        </p:nvGraphicFramePr>
        <p:xfrm>
          <a:off x="2555776" y="3860800"/>
          <a:ext cx="4016474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9655" imgH="114210" progId="Equation.3">
                  <p:embed/>
                </p:oleObj>
              </mc:Choice>
              <mc:Fallback>
                <p:oleObj name="公式" r:id="rId4" imgW="1209655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860800"/>
                        <a:ext cx="4016474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2B1F37A-F344-4382-9577-8310D4231111}" type="slidenum">
              <a:rPr lang="zh-CN" altLang="en-US"/>
              <a:pPr>
                <a:defRPr/>
              </a:pPr>
              <a:t>17</a:t>
            </a:fld>
            <a:r>
              <a:rPr lang="zh-CN" altLang="en-US"/>
              <a:t>页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通常一个集合到一个集合的关系非常多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但在一个实际问题中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需要找到一个与问题有关的有助于问题解决的关系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这就要求我们要逐渐学会自己定义关系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见书中例子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BD438A-391B-834B-E214-D7D109FCB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289300"/>
            <a:ext cx="8785225" cy="285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2-7】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是正整数的序偶组成的集合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{(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)| 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是正整数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}, 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上的关系</a:t>
            </a:r>
            <a:r>
              <a:rPr lang="en-US" altLang="zh-CN" i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如下：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x,y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u,v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当且仅当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xv 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yu</a:t>
            </a:r>
            <a:endParaRPr lang="en-US" altLang="zh-CN" i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en-US" altLang="zh-CN" i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{1,2,3,6}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上的序偶组成的集合</a:t>
            </a:r>
            <a:endParaRPr lang="zh-CN" altLang="en-US" i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16FFF69-FB9B-4BD1-BE07-5D3B9BB70B77}" type="slidenum">
              <a:rPr lang="zh-CN" altLang="en-US"/>
              <a:pPr>
                <a:defRPr/>
              </a:pPr>
              <a:t>18</a:t>
            </a:fld>
            <a:r>
              <a:rPr lang="zh-CN" altLang="en-US"/>
              <a:t>页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则称元素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有关系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可记为</a:t>
            </a:r>
            <a:r>
              <a:rPr lang="en-US" altLang="zh-CN" i="1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xRy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例如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实数集合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上的大于“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&gt;”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</p:txBody>
      </p:sp>
      <p:graphicFrame>
        <p:nvGraphicFramePr>
          <p:cNvPr id="133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796874"/>
              </p:ext>
            </p:extLst>
          </p:nvPr>
        </p:nvGraphicFramePr>
        <p:xfrm>
          <a:off x="2555875" y="1773238"/>
          <a:ext cx="388778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666" imgH="114210" progId="Equation.3">
                  <p:embed/>
                </p:oleObj>
              </mc:Choice>
              <mc:Fallback>
                <p:oleObj name="Equation" r:id="rId2" imgW="1028666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773238"/>
                        <a:ext cx="3887788" cy="7048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4"/>
          <p:cNvGraphicFramePr>
            <a:graphicFrameLocks noChangeAspect="1"/>
          </p:cNvGraphicFramePr>
          <p:nvPr/>
        </p:nvGraphicFramePr>
        <p:xfrm>
          <a:off x="2124075" y="4797425"/>
          <a:ext cx="5422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7266" imgH="114210" progId="Equation.3">
                  <p:embed/>
                </p:oleObj>
              </mc:Choice>
              <mc:Fallback>
                <p:oleObj name="公式" r:id="rId4" imgW="1657266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97425"/>
                        <a:ext cx="54229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5"/>
          <p:cNvGraphicFramePr>
            <a:graphicFrameLocks noChangeAspect="1"/>
          </p:cNvGraphicFramePr>
          <p:nvPr/>
        </p:nvGraphicFramePr>
        <p:xfrm>
          <a:off x="2771775" y="3933825"/>
          <a:ext cx="35623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57300" imgH="114210" progId="Equation.3">
                  <p:embed/>
                </p:oleObj>
              </mc:Choice>
              <mc:Fallback>
                <p:oleObj name="公式" r:id="rId6" imgW="1057300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933825"/>
                        <a:ext cx="35623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2EA2CB4-56FA-4332-B4B4-A8CB5913C5F3}" type="slidenum">
              <a:rPr lang="zh-CN" altLang="en-US"/>
              <a:pPr>
                <a:defRPr/>
              </a:pPr>
              <a:t>19</a:t>
            </a:fld>
            <a:r>
              <a:rPr lang="zh-CN" altLang="en-US"/>
              <a:t>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9" name="Rectangle 4"/>
              <p:cNvSpPr>
                <a:spLocks noGrp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4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关系符号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(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关系名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):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  </a:t>
                </a:r>
              </a:p>
              <a:p>
                <a:pPr lvl="1" eaLnBrk="1" hangingPunct="1">
                  <a:lnSpc>
                    <a:spcPct val="14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任意集合符号可以作为关系符号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</a:p>
              <a:p>
                <a:pPr lvl="1" eaLnBrk="1" hangingPunct="1">
                  <a:lnSpc>
                    <a:spcPct val="14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对于常见的很有用的关系可以给出一个固定的特殊符号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altLang="zh-CN" dirty="0"/>
                  <a:t>&gt;,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 </a:t>
                </a:r>
                <a:r>
                  <a:rPr lang="zh-CN" altLang="en-US" dirty="0">
                    <a:solidFill>
                      <a:srgbClr val="002221"/>
                    </a:solidFill>
                    <a:latin typeface="Times New Roman" panose="02020603050405020304" pitchFamily="18" charset="0"/>
                    <a:sym typeface="Symbol" pitchFamily="2" charset="2"/>
                  </a:rPr>
                  <a:t></a:t>
                </a:r>
                <a:r>
                  <a:rPr lang="en-US" altLang="zh-CN" i="1" baseline="-25000" dirty="0">
                    <a:solidFill>
                      <a:srgbClr val="002221"/>
                    </a:solidFill>
                    <a:latin typeface="Times New Roman" panose="02020603050405020304" pitchFamily="18" charset="0"/>
                    <a:sym typeface="Symbol" pitchFamily="2" charset="2"/>
                  </a:rPr>
                  <a:t>m</a:t>
                </a:r>
                <a:r>
                  <a:rPr lang="en-US" altLang="zh-CN" dirty="0"/>
                  <a:t> , </a:t>
                </a:r>
                <a:r>
                  <a:rPr lang="en-US" altLang="zh-CN" dirty="0">
                    <a:sym typeface="Symbol"/>
                  </a:rPr>
                  <a:t></a:t>
                </a:r>
                <a:r>
                  <a:rPr lang="en-US" altLang="zh-CN" dirty="0"/>
                  <a:t>, </a:t>
                </a:r>
                <a:r>
                  <a:rPr lang="en-US" altLang="zh-CN" dirty="0">
                    <a:sym typeface="Symbol"/>
                  </a:rPr>
                  <a:t>, //,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  <a:sym typeface="Symbol"/>
                      </a:rPr>
                      <m:t>⊥</m:t>
                    </m:r>
                  </m:oMath>
                </a14:m>
                <a:r>
                  <a:rPr lang="zh-CN" altLang="zh-CN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等</a:t>
                </a:r>
                <a:r>
                  <a:rPr lang="en-US" altLang="zh-CN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</a:p>
              <a:p>
                <a:pPr lvl="1" eaLnBrk="1" hangingPunct="1">
                  <a:lnSpc>
                    <a:spcPct val="14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自己选定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itchFamily="18" charset="2"/>
                      </a:rPr>
                      <m:t>∽</m:t>
                    </m:r>
                    <m:r>
                      <a:rPr lang="en-US" altLang="zh-CN" i="1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itchFamily="18" charset="2"/>
                      </a:rPr>
                      <m:t>,</m:t>
                    </m:r>
                    <m:r>
                      <a:rPr lang="en-US" altLang="zh-CN" i="1">
                        <a:latin typeface="Cambria Math"/>
                        <a:ea typeface="Cambria Math"/>
                        <a:cs typeface="Times New Roman" panose="02020603050405020304" pitchFamily="18" charset="0"/>
                        <a:sym typeface="Symbol" pitchFamily="18" charset="2"/>
                      </a:rPr>
                      <m:t>⊲,⊢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  <a:cs typeface="Times New Roman" panose="02020603050405020304" pitchFamily="18" charset="0"/>
                        <a:sym typeface="Symbol" pitchFamily="18" charset="2"/>
                      </a:rPr>
                      <m:t>,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  <a:cs typeface="Times New Roman" panose="02020603050405020304" pitchFamily="18" charset="0"/>
                        <a:sym typeface="Symbol" pitchFamily="18" charset="2"/>
                      </a:rPr>
                      <m:t>𝐒𝐭𝐮𝐝𝐞𝐧𝐭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  <a:cs typeface="Times New Roman" panose="02020603050405020304" pitchFamily="18" charset="0"/>
                        <a:sym typeface="Symbol" pitchFamily="18" charset="2"/>
                      </a:rPr>
                      <m:t>, 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  <a:cs typeface="Times New Roman" panose="02020603050405020304" pitchFamily="18" charset="0"/>
                        <a:sym typeface="Symbol" pitchFamily="18" charset="2"/>
                      </a:rPr>
                      <m:t>𝐂𝐨𝐮𝐫𝐬𝐞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等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  <a:endParaRPr lang="en-US" altLang="zh-CN" dirty="0"/>
              </a:p>
            </p:txBody>
          </p:sp>
        </mc:Choice>
        <mc:Fallback>
          <p:sp>
            <p:nvSpPr>
              <p:cNvPr id="14339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33" r="-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34D393E-2E9D-47C1-A541-F2BB3FCC6497}" type="slidenum">
              <a:rPr lang="zh-CN" altLang="en-US"/>
              <a:pPr>
                <a:defRPr/>
              </a:pPr>
              <a:t>20</a:t>
            </a:fld>
            <a:r>
              <a:rPr lang="zh-CN" altLang="en-US"/>
              <a:t>页</a:t>
            </a:r>
          </a:p>
        </p:txBody>
      </p:sp>
      <p:sp>
        <p:nvSpPr>
          <p:cNvPr id="30722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/>
              <a:t>小结与作业</a:t>
            </a:r>
          </a:p>
        </p:txBody>
      </p:sp>
      <p:grpSp>
        <p:nvGrpSpPr>
          <p:cNvPr id="15365" name="Group 4"/>
          <p:cNvGrpSpPr>
            <a:grpSpLocks/>
          </p:cNvGrpSpPr>
          <p:nvPr/>
        </p:nvGrpSpPr>
        <p:grpSpPr bwMode="auto">
          <a:xfrm>
            <a:off x="1481138" y="1916113"/>
            <a:ext cx="5257800" cy="508000"/>
            <a:chOff x="1419" y="1480"/>
            <a:chExt cx="3575" cy="363"/>
          </a:xfrm>
        </p:grpSpPr>
        <p:grpSp>
          <p:nvGrpSpPr>
            <p:cNvPr id="15382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726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727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  <a:ea typeface="隶书" pitchFamily="49" charset="-122"/>
                  </a:rPr>
                  <a:t>n</a:t>
                </a:r>
                <a:r>
                  <a:rPr lang="zh-CN" altLang="en-US">
                    <a:solidFill>
                      <a:schemeClr val="tx1"/>
                    </a:solidFill>
                  </a:rPr>
                  <a:t>元关系的定义</a:t>
                </a:r>
              </a:p>
            </p:txBody>
          </p:sp>
        </p:grpSp>
        <p:sp>
          <p:nvSpPr>
            <p:cNvPr id="30728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42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84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66" name="Group 10"/>
          <p:cNvGrpSpPr>
            <a:grpSpLocks/>
          </p:cNvGrpSpPr>
          <p:nvPr/>
        </p:nvGrpSpPr>
        <p:grpSpPr bwMode="auto">
          <a:xfrm>
            <a:off x="2028825" y="3713163"/>
            <a:ext cx="5181600" cy="508000"/>
            <a:chOff x="1419" y="1480"/>
            <a:chExt cx="3575" cy="363"/>
          </a:xfrm>
        </p:grpSpPr>
        <p:grpSp>
          <p:nvGrpSpPr>
            <p:cNvPr id="15377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7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7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2</a:t>
                </a:r>
                <a:r>
                  <a:rPr lang="zh-CN" altLang="en-US">
                    <a:solidFill>
                      <a:schemeClr val="tx1"/>
                    </a:solidFill>
                  </a:rPr>
                  <a:t>元关系的有关概念</a:t>
                </a:r>
              </a:p>
            </p:txBody>
          </p:sp>
        </p:grpSp>
        <p:sp>
          <p:nvSpPr>
            <p:cNvPr id="30734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7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7BE8808-4B76-45A7-A592-8F8EBFE308A9}" type="slidenum">
              <a:rPr lang="zh-CN" altLang="en-US"/>
              <a:pPr>
                <a:defRPr/>
              </a:pPr>
              <a:t>21</a:t>
            </a:fld>
            <a:r>
              <a:rPr lang="zh-CN" altLang="en-US"/>
              <a:t>页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latin typeface="+mj-ea"/>
              </a:rPr>
              <a:t>关系的概念</a:t>
            </a:r>
            <a:endParaRPr lang="zh-CN" altLang="en-US" dirty="0">
              <a:latin typeface="+mj-ea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" y="812800"/>
            <a:ext cx="9144000" cy="552132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1054100" y="1117600"/>
            <a:ext cx="5410200" cy="669925"/>
            <a:chOff x="1152" y="1128"/>
            <a:chExt cx="3408" cy="422"/>
          </a:xfrm>
        </p:grpSpPr>
        <p:grpSp>
          <p:nvGrpSpPr>
            <p:cNvPr id="18471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8475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6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04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47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3" name="Text Box 10"/>
            <p:cNvSpPr txBox="1">
              <a:spLocks noChangeArrowheads="1"/>
            </p:cNvSpPr>
            <p:nvPr/>
          </p:nvSpPr>
          <p:spPr bwMode="auto">
            <a:xfrm>
              <a:off x="2112" y="1128"/>
              <a:ext cx="17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  <a:ea typeface="华文楷体" pitchFamily="2" charset="-122"/>
                </a:rPr>
                <a:t>n</a:t>
              </a:r>
              <a:r>
                <a:rPr lang="zh-CN" altLang="en-US">
                  <a:solidFill>
                    <a:srgbClr val="000000"/>
                  </a:solidFill>
                  <a:ea typeface="华文楷体" pitchFamily="2" charset="-122"/>
                </a:rPr>
                <a:t>元关系的定义</a:t>
              </a:r>
            </a:p>
          </p:txBody>
        </p:sp>
        <p:sp>
          <p:nvSpPr>
            <p:cNvPr id="18474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8438" name="Group 12"/>
          <p:cNvGrpSpPr>
            <a:grpSpLocks/>
          </p:cNvGrpSpPr>
          <p:nvPr/>
        </p:nvGrpSpPr>
        <p:grpSpPr bwMode="auto">
          <a:xfrm>
            <a:off x="1098550" y="2047875"/>
            <a:ext cx="5410200" cy="685800"/>
            <a:chOff x="1152" y="1694"/>
            <a:chExt cx="3408" cy="432"/>
          </a:xfrm>
        </p:grpSpPr>
        <p:grpSp>
          <p:nvGrpSpPr>
            <p:cNvPr id="18464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8468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9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12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46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23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rgbClr val="000000"/>
                  </a:solidFill>
                </a:rPr>
                <a:t>元关系的有关概念</a:t>
              </a:r>
            </a:p>
          </p:txBody>
        </p:sp>
        <p:sp>
          <p:nvSpPr>
            <p:cNvPr id="18467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18439" name="圆角矩形 1"/>
          <p:cNvSpPr>
            <a:spLocks noChangeArrowheads="1"/>
          </p:cNvSpPr>
          <p:nvPr/>
        </p:nvSpPr>
        <p:spPr bwMode="auto">
          <a:xfrm>
            <a:off x="1054100" y="3197225"/>
            <a:ext cx="5903913" cy="2824163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40" name="Group 12"/>
          <p:cNvGrpSpPr>
            <a:grpSpLocks/>
          </p:cNvGrpSpPr>
          <p:nvPr/>
        </p:nvGrpSpPr>
        <p:grpSpPr bwMode="auto">
          <a:xfrm>
            <a:off x="1150938" y="3306763"/>
            <a:ext cx="5410200" cy="712787"/>
            <a:chOff x="1152" y="1677"/>
            <a:chExt cx="3408" cy="449"/>
          </a:xfrm>
        </p:grpSpPr>
        <p:grpSp>
          <p:nvGrpSpPr>
            <p:cNvPr id="18457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8461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2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458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关系的定义域和值域</a:t>
              </a:r>
            </a:p>
          </p:txBody>
        </p:sp>
        <p:sp>
          <p:nvSpPr>
            <p:cNvPr id="18460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8441" name="Group 20"/>
          <p:cNvGrpSpPr>
            <a:grpSpLocks/>
          </p:cNvGrpSpPr>
          <p:nvPr/>
        </p:nvGrpSpPr>
        <p:grpSpPr bwMode="auto">
          <a:xfrm>
            <a:off x="1130300" y="4183063"/>
            <a:ext cx="5616575" cy="712787"/>
            <a:chOff x="1152" y="2239"/>
            <a:chExt cx="3408" cy="449"/>
          </a:xfrm>
        </p:grpSpPr>
        <p:grpSp>
          <p:nvGrpSpPr>
            <p:cNvPr id="18450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8454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5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451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关系的表示</a:t>
              </a:r>
            </a:p>
          </p:txBody>
        </p:sp>
        <p:sp>
          <p:nvSpPr>
            <p:cNvPr id="18453" name="Text Box 27"/>
            <p:cNvSpPr txBox="1">
              <a:spLocks noChangeArrowheads="1"/>
            </p:cNvSpPr>
            <p:nvPr/>
          </p:nvSpPr>
          <p:spPr bwMode="gray">
            <a:xfrm>
              <a:off x="1285" y="2332"/>
              <a:ext cx="2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18442" name="Group 28"/>
          <p:cNvGrpSpPr>
            <a:grpSpLocks/>
          </p:cNvGrpSpPr>
          <p:nvPr/>
        </p:nvGrpSpPr>
        <p:grpSpPr bwMode="auto">
          <a:xfrm>
            <a:off x="1160463" y="5068888"/>
            <a:ext cx="5457825" cy="712787"/>
            <a:chOff x="1122" y="2815"/>
            <a:chExt cx="3438" cy="449"/>
          </a:xfrm>
        </p:grpSpPr>
        <p:grpSp>
          <p:nvGrpSpPr>
            <p:cNvPr id="18443" name="Group 29"/>
            <p:cNvGrpSpPr>
              <a:grpSpLocks/>
            </p:cNvGrpSpPr>
            <p:nvPr/>
          </p:nvGrpSpPr>
          <p:grpSpPr bwMode="auto">
            <a:xfrm>
              <a:off x="1122" y="2845"/>
              <a:ext cx="510" cy="419"/>
              <a:chOff x="3077" y="2656"/>
              <a:chExt cx="1646" cy="1351"/>
            </a:xfrm>
          </p:grpSpPr>
          <p:sp>
            <p:nvSpPr>
              <p:cNvPr id="18447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48" name="AutoShape 31"/>
              <p:cNvSpPr>
                <a:spLocks noChangeArrowheads="1"/>
              </p:cNvSpPr>
              <p:nvPr/>
            </p:nvSpPr>
            <p:spPr bwMode="gray">
              <a:xfrm>
                <a:off x="3077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444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函数的关系定义</a:t>
              </a:r>
            </a:p>
          </p:txBody>
        </p:sp>
        <p:sp>
          <p:nvSpPr>
            <p:cNvPr id="18446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FAC2A43-53C4-4ADE-8583-2C0CD8DE30D2}" type="slidenum">
              <a:rPr lang="zh-CN" altLang="en-US"/>
              <a:pPr>
                <a:defRPr/>
              </a:pPr>
              <a:t>22</a:t>
            </a:fld>
            <a:r>
              <a:rPr lang="zh-CN" altLang="en-US"/>
              <a:t>页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15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2.1.3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关系的定义域与值域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dom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存在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使得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即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中所有有序对中</a:t>
            </a:r>
            <a:r>
              <a:rPr lang="zh-CN" altLang="en-US" dirty="0">
                <a:solidFill>
                  <a:schemeClr val="accent2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  <a:sym typeface="Symbol" pitchFamily="18" charset="2"/>
              </a:rPr>
              <a:t>第一位置元素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组成的集合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它显然是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的子集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例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2-2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= {(2, 1), (3, 1), (3, 2)}, 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则</a:t>
            </a:r>
            <a:r>
              <a:rPr lang="en-US" altLang="zh-CN" dirty="0" err="1">
                <a:latin typeface="Times New Roman" pitchFamily="18" charset="0"/>
                <a:sym typeface="Symbol" pitchFamily="18" charset="2"/>
              </a:rPr>
              <a:t>dom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= {2, 3}.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BA8C302F-E1FE-4063-8378-28BF7F72EAB6}" type="slidenum">
              <a:rPr lang="zh-CN" altLang="en-US"/>
              <a:pPr>
                <a:defRPr/>
              </a:pPr>
              <a:t>23</a:t>
            </a:fld>
            <a:r>
              <a:rPr lang="zh-CN" altLang="en-US"/>
              <a:t>页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ran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存在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使得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即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中所有有序对中</a:t>
            </a:r>
            <a:r>
              <a:rPr lang="zh-CN" altLang="en-US" dirty="0">
                <a:solidFill>
                  <a:schemeClr val="accent2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  <a:sym typeface="Symbol" pitchFamily="18" charset="2"/>
              </a:rPr>
              <a:t>第二位置元素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组成的集合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它是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的子集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{(2, 1), (3, 1), (3, 2)}, ran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{1, 2}.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Remark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由后面函数的关系定义知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ran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与函数的定义域与值域一致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一般地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关系中每个分量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属性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取值范围称为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域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2315994-B353-4652-B83A-30114508DDAD}" type="slidenum">
              <a:rPr lang="zh-CN" altLang="en-US"/>
              <a:pPr>
                <a:defRPr/>
              </a:pPr>
              <a:t>24</a:t>
            </a:fld>
            <a:r>
              <a:rPr lang="zh-CN" altLang="en-US"/>
              <a:t>页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2.1.4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关系的表示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除关系的集合表示外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还可以有下列两种表示方法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关系图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关系矩阵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7D3D6B0-720C-4C66-B6DE-D6928E879CEA}" type="slidenum">
              <a:rPr lang="zh-CN" altLang="en-US"/>
              <a:pPr>
                <a:defRPr/>
              </a:pPr>
              <a:t>25</a:t>
            </a:fld>
            <a:r>
              <a:rPr lang="zh-CN" altLang="en-US"/>
              <a:t>页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/>
          </p:nvPr>
        </p:nvSpPr>
        <p:spPr>
          <a:xfrm>
            <a:off x="0" y="219868"/>
            <a:ext cx="9144000" cy="608945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(Graph of relation)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情形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包括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3},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2),    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3),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2), (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, 2)}.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25" name="Oval 3">
            <a:extLst>
              <a:ext uri="{FF2B5EF4-FFF2-40B4-BE49-F238E27FC236}">
                <a16:creationId xmlns:a16="http://schemas.microsoft.com/office/drawing/2014/main" id="{12336784-DF7B-404D-84E5-1DFCB7ED5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636838"/>
            <a:ext cx="1582738" cy="2376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26" name="Oval 4">
            <a:extLst>
              <a:ext uri="{FF2B5EF4-FFF2-40B4-BE49-F238E27FC236}">
                <a16:creationId xmlns:a16="http://schemas.microsoft.com/office/drawing/2014/main" id="{692F9E5D-8999-B84A-9CC3-0F24193CC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81300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67661783-F2B6-224A-960F-35250B8FF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1416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20006A31-A6DB-E345-9C51-9F62B584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5734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29" name="Oval 7">
            <a:extLst>
              <a:ext uri="{FF2B5EF4-FFF2-40B4-BE49-F238E27FC236}">
                <a16:creationId xmlns:a16="http://schemas.microsoft.com/office/drawing/2014/main" id="{13B15496-90AA-384A-BB18-F510D1B8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7670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30" name="Oval 8">
            <a:extLst>
              <a:ext uri="{FF2B5EF4-FFF2-40B4-BE49-F238E27FC236}">
                <a16:creationId xmlns:a16="http://schemas.microsoft.com/office/drawing/2014/main" id="{65073054-DF0B-A249-8CC9-99FFA32FE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581525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31" name="Oval 9">
            <a:extLst>
              <a:ext uri="{FF2B5EF4-FFF2-40B4-BE49-F238E27FC236}">
                <a16:creationId xmlns:a16="http://schemas.microsoft.com/office/drawing/2014/main" id="{CC28AF07-6E45-8C49-B03B-E5AD568D5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068638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32" name="Oval 10">
            <a:extLst>
              <a:ext uri="{FF2B5EF4-FFF2-40B4-BE49-F238E27FC236}">
                <a16:creationId xmlns:a16="http://schemas.microsoft.com/office/drawing/2014/main" id="{555CD126-AA0D-5741-9106-8FD82C603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644900"/>
            <a:ext cx="73025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sp>
        <p:nvSpPr>
          <p:cNvPr id="33" name="Oval 11">
            <a:extLst>
              <a:ext uri="{FF2B5EF4-FFF2-40B4-BE49-F238E27FC236}">
                <a16:creationId xmlns:a16="http://schemas.microsoft.com/office/drawing/2014/main" id="{3535B136-A083-2144-8948-5023B6D9A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4221163"/>
            <a:ext cx="73025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l"/>
              <a:defRPr sz="32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n"/>
              <a:defRPr sz="30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u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 sz="2800" b="1">
                <a:solidFill>
                  <a:srgbClr val="002E2D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3200">
              <a:solidFill>
                <a:srgbClr val="FFFF99"/>
              </a:solidFill>
            </a:endParaRPr>
          </a:p>
        </p:txBody>
      </p:sp>
      <p:graphicFrame>
        <p:nvGraphicFramePr>
          <p:cNvPr id="34" name="Object 12">
            <a:extLst>
              <a:ext uri="{FF2B5EF4-FFF2-40B4-BE49-F238E27FC236}">
                <a16:creationId xmlns:a16="http://schemas.microsoft.com/office/drawing/2014/main" id="{EF128ECD-2134-3043-A722-E74BD0D51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997200"/>
          <a:ext cx="3143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" imgH="38100" progId="Equation.3">
                  <p:embed/>
                </p:oleObj>
              </mc:Choice>
              <mc:Fallback>
                <p:oleObj name="Equation" r:id="rId2" imgW="25400" imgH="38100" progId="Equation.3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CA1FAB52-FB23-A442-8BDA-7AB0C978A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3143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3">
            <a:extLst>
              <a:ext uri="{FF2B5EF4-FFF2-40B4-BE49-F238E27FC236}">
                <a16:creationId xmlns:a16="http://schemas.microsoft.com/office/drawing/2014/main" id="{3DE10827-E6C4-CC48-8CE6-21F3E51D1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429000"/>
          <a:ext cx="3143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00" imgH="50800" progId="Equation.3">
                  <p:embed/>
                </p:oleObj>
              </mc:Choice>
              <mc:Fallback>
                <p:oleObj name="Equation" r:id="rId4" imgW="25400" imgH="50800" progId="Equation.3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5A014C1A-3D23-0345-933C-35D0A3F23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429000"/>
                        <a:ext cx="3143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>
            <a:extLst>
              <a:ext uri="{FF2B5EF4-FFF2-40B4-BE49-F238E27FC236}">
                <a16:creationId xmlns:a16="http://schemas.microsoft.com/office/drawing/2014/main" id="{8E653C54-89D4-704E-A1BD-0973647AD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933825"/>
          <a:ext cx="282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00" imgH="38100" progId="Equation.3">
                  <p:embed/>
                </p:oleObj>
              </mc:Choice>
              <mc:Fallback>
                <p:oleObj name="Equation" r:id="rId6" imgW="25400" imgH="38100" progId="Equation.3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421E9256-4456-C04A-A241-7913920655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933825"/>
                        <a:ext cx="2825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5">
            <a:extLst>
              <a:ext uri="{FF2B5EF4-FFF2-40B4-BE49-F238E27FC236}">
                <a16:creationId xmlns:a16="http://schemas.microsoft.com/office/drawing/2014/main" id="{3A3399AC-66D5-4144-BC48-4A9D735A2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365625"/>
          <a:ext cx="3460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100" imgH="50800" progId="Equation.3">
                  <p:embed/>
                </p:oleObj>
              </mc:Choice>
              <mc:Fallback>
                <p:oleObj name="Equation" r:id="rId8" imgW="38100" imgH="50800" progId="Equation.3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4D63BB27-9218-864D-9589-81C04EFDF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365625"/>
                        <a:ext cx="3460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6">
            <a:extLst>
              <a:ext uri="{FF2B5EF4-FFF2-40B4-BE49-F238E27FC236}">
                <a16:creationId xmlns:a16="http://schemas.microsoft.com/office/drawing/2014/main" id="{CEFD7D74-202A-AB49-9AC0-261A0469A7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852738"/>
          <a:ext cx="2190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" imgH="44450" progId="Equation.3">
                  <p:embed/>
                </p:oleObj>
              </mc:Choice>
              <mc:Fallback>
                <p:oleObj name="Equation" r:id="rId10" imgW="19050" imgH="44450" progId="Equation.3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0209975B-AD2D-2F43-80DD-07198B189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852738"/>
                        <a:ext cx="2190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7">
            <a:extLst>
              <a:ext uri="{FF2B5EF4-FFF2-40B4-BE49-F238E27FC236}">
                <a16:creationId xmlns:a16="http://schemas.microsoft.com/office/drawing/2014/main" id="{DC8FB813-B622-F840-992F-B0D0049A91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357563"/>
          <a:ext cx="3127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400" imgH="44450" progId="Equation.3">
                  <p:embed/>
                </p:oleObj>
              </mc:Choice>
              <mc:Fallback>
                <p:oleObj name="Equation" r:id="rId12" imgW="25400" imgH="44450" progId="Equation.3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9C15517C-DF76-B84F-B7D2-B1F29464E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357563"/>
                        <a:ext cx="31273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>
            <a:extLst>
              <a:ext uri="{FF2B5EF4-FFF2-40B4-BE49-F238E27FC236}">
                <a16:creationId xmlns:a16="http://schemas.microsoft.com/office/drawing/2014/main" id="{DA895EB5-755A-E441-AD77-7F04AD8CC5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005263"/>
          <a:ext cx="2809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400" imgH="50800" progId="Equation.3">
                  <p:embed/>
                </p:oleObj>
              </mc:Choice>
              <mc:Fallback>
                <p:oleObj name="Equation" r:id="rId14" imgW="25400" imgH="50800" progId="Equation.3">
                  <p:embed/>
                  <p:pic>
                    <p:nvPicPr>
                      <p:cNvPr id="17" name="Object 18">
                        <a:extLst>
                          <a:ext uri="{FF2B5EF4-FFF2-40B4-BE49-F238E27FC236}">
                            <a16:creationId xmlns:a16="http://schemas.microsoft.com/office/drawing/2014/main" id="{7DF607D8-EE8E-A74A-899E-E36A5950D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005263"/>
                        <a:ext cx="2809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9">
            <a:extLst>
              <a:ext uri="{FF2B5EF4-FFF2-40B4-BE49-F238E27FC236}">
                <a16:creationId xmlns:a16="http://schemas.microsoft.com/office/drawing/2014/main" id="{1E02E2F1-6925-C545-8392-9BB944F67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229225"/>
          <a:ext cx="6477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9850" imgH="69850" progId="Equation.3">
                  <p:embed/>
                </p:oleObj>
              </mc:Choice>
              <mc:Fallback>
                <p:oleObj name="公式" r:id="rId16" imgW="69850" imgH="69850" progId="Equation.3">
                  <p:embed/>
                  <p:pic>
                    <p:nvPicPr>
                      <p:cNvPr id="18" name="Object 19">
                        <a:extLst>
                          <a:ext uri="{FF2B5EF4-FFF2-40B4-BE49-F238E27FC236}">
                            <a16:creationId xmlns:a16="http://schemas.microsoft.com/office/drawing/2014/main" id="{EBC13786-833D-BA4C-9B7F-346687415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229225"/>
                        <a:ext cx="6477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Line 20">
            <a:extLst>
              <a:ext uri="{FF2B5EF4-FFF2-40B4-BE49-F238E27FC236}">
                <a16:creationId xmlns:a16="http://schemas.microsoft.com/office/drawing/2014/main" id="{5EE63D0A-4941-DA47-92A2-051CAC0B8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213100"/>
            <a:ext cx="2592388" cy="431800"/>
          </a:xfrm>
          <a:prstGeom prst="line">
            <a:avLst/>
          </a:prstGeom>
          <a:noFill/>
          <a:ln w="190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E70F6F27-362E-3446-931A-2C5A73811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284538"/>
            <a:ext cx="2736850" cy="1008062"/>
          </a:xfrm>
          <a:prstGeom prst="line">
            <a:avLst/>
          </a:prstGeom>
          <a:noFill/>
          <a:ln w="190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22">
            <a:extLst>
              <a:ext uri="{FF2B5EF4-FFF2-40B4-BE49-F238E27FC236}">
                <a16:creationId xmlns:a16="http://schemas.microsoft.com/office/drawing/2014/main" id="{E9CFF3F1-6BA0-FC46-9E20-0235C216A4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716338"/>
            <a:ext cx="2592388" cy="360362"/>
          </a:xfrm>
          <a:prstGeom prst="line">
            <a:avLst/>
          </a:prstGeom>
          <a:noFill/>
          <a:ln w="190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23">
            <a:extLst>
              <a:ext uri="{FF2B5EF4-FFF2-40B4-BE49-F238E27FC236}">
                <a16:creationId xmlns:a16="http://schemas.microsoft.com/office/drawing/2014/main" id="{A4B72484-D2E1-9245-887B-5E209B79F4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762375"/>
            <a:ext cx="2657475" cy="819150"/>
          </a:xfrm>
          <a:prstGeom prst="line">
            <a:avLst/>
          </a:prstGeom>
          <a:noFill/>
          <a:ln w="190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C28298-14E9-0D5F-4A8D-478264FB5E56}"/>
              </a:ext>
            </a:extLst>
          </p:cNvPr>
          <p:cNvSpPr txBox="1"/>
          <p:nvPr/>
        </p:nvSpPr>
        <p:spPr>
          <a:xfrm>
            <a:off x="1980084" y="4869160"/>
            <a:ext cx="64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8EA479-D04C-D0AA-037C-7DD63E443C40}"/>
              </a:ext>
            </a:extLst>
          </p:cNvPr>
          <p:cNvSpPr txBox="1"/>
          <p:nvPr/>
        </p:nvSpPr>
        <p:spPr>
          <a:xfrm>
            <a:off x="5075238" y="4652962"/>
            <a:ext cx="64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F211882-A033-4020-AB60-2F155CB35F25}" type="slidenum">
              <a:rPr lang="zh-CN" altLang="en-US"/>
              <a:pPr>
                <a:defRPr/>
              </a:pPr>
              <a:t>26</a:t>
            </a:fld>
            <a:r>
              <a:rPr lang="zh-CN" altLang="en-US"/>
              <a:t>页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情形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上的关系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),   (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)}.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23556" name="Oval 3"/>
          <p:cNvSpPr>
            <a:spLocks noChangeArrowheads="1"/>
          </p:cNvSpPr>
          <p:nvPr/>
        </p:nvSpPr>
        <p:spPr bwMode="auto">
          <a:xfrm>
            <a:off x="2484438" y="27082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" name="Oval 4"/>
          <p:cNvSpPr>
            <a:spLocks noChangeArrowheads="1"/>
          </p:cNvSpPr>
          <p:nvPr/>
        </p:nvSpPr>
        <p:spPr bwMode="auto">
          <a:xfrm>
            <a:off x="4427538" y="27082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Oval 5"/>
          <p:cNvSpPr>
            <a:spLocks noChangeArrowheads="1"/>
          </p:cNvSpPr>
          <p:nvPr/>
        </p:nvSpPr>
        <p:spPr bwMode="auto">
          <a:xfrm>
            <a:off x="3419475" y="19891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Oval 6"/>
          <p:cNvSpPr>
            <a:spLocks noChangeArrowheads="1"/>
          </p:cNvSpPr>
          <p:nvPr/>
        </p:nvSpPr>
        <p:spPr bwMode="auto">
          <a:xfrm>
            <a:off x="3492500" y="36449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1979613" y="2636838"/>
          <a:ext cx="3143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636838"/>
                        <a:ext cx="3143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>
            <a:graphicFrameLocks noChangeAspect="1"/>
          </p:cNvGraphicFramePr>
          <p:nvPr/>
        </p:nvGraphicFramePr>
        <p:xfrm>
          <a:off x="3348038" y="1557338"/>
          <a:ext cx="282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57240" progId="Equation.3">
                  <p:embed/>
                </p:oleObj>
              </mc:Choice>
              <mc:Fallback>
                <p:oleObj name="Equation" r:id="rId4" imgW="28634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557338"/>
                        <a:ext cx="2825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0"/>
          <p:cNvGraphicFramePr>
            <a:graphicFrameLocks noChangeAspect="1"/>
          </p:cNvGraphicFramePr>
          <p:nvPr/>
        </p:nvGraphicFramePr>
        <p:xfrm>
          <a:off x="3332163" y="3959225"/>
          <a:ext cx="3460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95310" progId="Equation.3">
                  <p:embed/>
                </p:oleObj>
              </mc:Choice>
              <mc:Fallback>
                <p:oleObj name="Equation" r:id="rId6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3959225"/>
                        <a:ext cx="3460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7" name="Line 11"/>
          <p:cNvSpPr>
            <a:spLocks noChangeShapeType="1"/>
          </p:cNvSpPr>
          <p:nvPr/>
        </p:nvSpPr>
        <p:spPr bwMode="auto">
          <a:xfrm>
            <a:off x="2627313" y="2781300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8" name="Freeform 12"/>
          <p:cNvSpPr>
            <a:spLocks/>
          </p:cNvSpPr>
          <p:nvPr/>
        </p:nvSpPr>
        <p:spPr bwMode="auto">
          <a:xfrm>
            <a:off x="2471738" y="1941513"/>
            <a:ext cx="947737" cy="766762"/>
          </a:xfrm>
          <a:custGeom>
            <a:avLst/>
            <a:gdLst>
              <a:gd name="T0" fmla="*/ 2147483647 w 597"/>
              <a:gd name="T1" fmla="*/ 2147483647 h 483"/>
              <a:gd name="T2" fmla="*/ 2147483647 w 597"/>
              <a:gd name="T3" fmla="*/ 2147483647 h 483"/>
              <a:gd name="T4" fmla="*/ 2147483647 w 597"/>
              <a:gd name="T5" fmla="*/ 2147483647 h 483"/>
              <a:gd name="T6" fmla="*/ 0 60000 65536"/>
              <a:gd name="T7" fmla="*/ 0 60000 65536"/>
              <a:gd name="T8" fmla="*/ 0 60000 65536"/>
              <a:gd name="T9" fmla="*/ 0 w 597"/>
              <a:gd name="T10" fmla="*/ 0 h 483"/>
              <a:gd name="T11" fmla="*/ 597 w 597"/>
              <a:gd name="T12" fmla="*/ 483 h 4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7" h="483">
                <a:moveTo>
                  <a:pt x="8" y="483"/>
                </a:moveTo>
                <a:cubicBezTo>
                  <a:pt x="4" y="316"/>
                  <a:pt x="0" y="150"/>
                  <a:pt x="98" y="75"/>
                </a:cubicBezTo>
                <a:cubicBezTo>
                  <a:pt x="196" y="0"/>
                  <a:pt x="514" y="37"/>
                  <a:pt x="597" y="3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9" name="Freeform 13"/>
          <p:cNvSpPr>
            <a:spLocks/>
          </p:cNvSpPr>
          <p:nvPr/>
        </p:nvSpPr>
        <p:spPr bwMode="auto">
          <a:xfrm>
            <a:off x="2627313" y="2133600"/>
            <a:ext cx="792162" cy="574675"/>
          </a:xfrm>
          <a:custGeom>
            <a:avLst/>
            <a:gdLst>
              <a:gd name="T0" fmla="*/ 2147483647 w 499"/>
              <a:gd name="T1" fmla="*/ 0 h 362"/>
              <a:gd name="T2" fmla="*/ 2147483647 w 499"/>
              <a:gd name="T3" fmla="*/ 2147483647 h 362"/>
              <a:gd name="T4" fmla="*/ 0 w 499"/>
              <a:gd name="T5" fmla="*/ 2147483647 h 362"/>
              <a:gd name="T6" fmla="*/ 0 60000 65536"/>
              <a:gd name="T7" fmla="*/ 0 60000 65536"/>
              <a:gd name="T8" fmla="*/ 0 60000 65536"/>
              <a:gd name="T9" fmla="*/ 0 w 499"/>
              <a:gd name="T10" fmla="*/ 0 h 362"/>
              <a:gd name="T11" fmla="*/ 499 w 499"/>
              <a:gd name="T12" fmla="*/ 362 h 3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9" h="362">
                <a:moveTo>
                  <a:pt x="499" y="0"/>
                </a:moveTo>
                <a:cubicBezTo>
                  <a:pt x="472" y="106"/>
                  <a:pt x="446" y="212"/>
                  <a:pt x="363" y="272"/>
                </a:cubicBezTo>
                <a:cubicBezTo>
                  <a:pt x="280" y="332"/>
                  <a:pt x="140" y="347"/>
                  <a:pt x="0" y="36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 flipV="1">
            <a:off x="3563938" y="22050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1" name="Freeform 15"/>
          <p:cNvSpPr>
            <a:spLocks/>
          </p:cNvSpPr>
          <p:nvPr/>
        </p:nvSpPr>
        <p:spPr bwMode="auto">
          <a:xfrm>
            <a:off x="2697163" y="3727450"/>
            <a:ext cx="1392237" cy="708025"/>
          </a:xfrm>
          <a:custGeom>
            <a:avLst/>
            <a:gdLst>
              <a:gd name="T0" fmla="*/ 2147483647 w 877"/>
              <a:gd name="T1" fmla="*/ 0 h 446"/>
              <a:gd name="T2" fmla="*/ 2147483647 w 877"/>
              <a:gd name="T3" fmla="*/ 2147483647 h 446"/>
              <a:gd name="T4" fmla="*/ 2147483647 w 877"/>
              <a:gd name="T5" fmla="*/ 2147483647 h 446"/>
              <a:gd name="T6" fmla="*/ 2147483647 w 877"/>
              <a:gd name="T7" fmla="*/ 2147483647 h 446"/>
              <a:gd name="T8" fmla="*/ 0 60000 65536"/>
              <a:gd name="T9" fmla="*/ 0 60000 65536"/>
              <a:gd name="T10" fmla="*/ 0 60000 65536"/>
              <a:gd name="T11" fmla="*/ 0 60000 65536"/>
              <a:gd name="T12" fmla="*/ 0 w 877"/>
              <a:gd name="T13" fmla="*/ 0 h 446"/>
              <a:gd name="T14" fmla="*/ 877 w 877"/>
              <a:gd name="T15" fmla="*/ 446 h 4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77" h="446">
                <a:moveTo>
                  <a:pt x="462" y="0"/>
                </a:moveTo>
                <a:cubicBezTo>
                  <a:pt x="231" y="102"/>
                  <a:pt x="0" y="204"/>
                  <a:pt x="53" y="272"/>
                </a:cubicBezTo>
                <a:cubicBezTo>
                  <a:pt x="106" y="340"/>
                  <a:pt x="681" y="446"/>
                  <a:pt x="779" y="408"/>
                </a:cubicBezTo>
                <a:cubicBezTo>
                  <a:pt x="877" y="370"/>
                  <a:pt x="760" y="207"/>
                  <a:pt x="643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878CA10B-6F84-9F46-95CB-8CBE4F6AD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2519363"/>
          <a:ext cx="3143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400" imgH="50800" progId="Equation.3">
                  <p:embed/>
                </p:oleObj>
              </mc:Choice>
              <mc:Fallback>
                <p:oleObj name="Equation" r:id="rId8" imgW="25400" imgH="50800" progId="Equation.3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C3F06FA4-5197-C04A-B38F-4793A6891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519363"/>
                        <a:ext cx="31432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7" grpId="0" animBg="1"/>
      <p:bldP spid="142348" grpId="0" animBg="1"/>
      <p:bldP spid="142349" grpId="0" animBg="1"/>
      <p:bldP spid="142350" grpId="0" animBg="1"/>
      <p:bldP spid="1423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0C42A85-6CCD-4283-9F61-E80301EEC1D9}" type="slidenum">
              <a:rPr lang="zh-CN" altLang="en-US"/>
              <a:pPr>
                <a:defRPr/>
              </a:pPr>
              <a:t>27</a:t>
            </a:fld>
            <a:r>
              <a:rPr lang="zh-CN" altLang="en-US"/>
              <a:t>页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关系矩阵</a:t>
            </a:r>
            <a:r>
              <a:rPr lang="en-US" altLang="zh-CN" dirty="0">
                <a:latin typeface="Times New Roman" pitchFamily="18" charset="0"/>
              </a:rPr>
              <a:t>(matrix of relation)</a:t>
            </a: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24580" name="Object 3"/>
          <p:cNvGraphicFramePr>
            <a:graphicFrameLocks noChangeAspect="1"/>
          </p:cNvGraphicFramePr>
          <p:nvPr/>
        </p:nvGraphicFramePr>
        <p:xfrm>
          <a:off x="1181100" y="908050"/>
          <a:ext cx="29860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4023" imgH="142830" progId="Equation.3">
                  <p:embed/>
                </p:oleObj>
              </mc:Choice>
              <mc:Fallback>
                <p:oleObj name="公式" r:id="rId2" imgW="1124023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908050"/>
                        <a:ext cx="29860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4164013" y="981075"/>
          <a:ext cx="29241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5389" imgH="142830" progId="Equation.3">
                  <p:embed/>
                </p:oleObj>
              </mc:Choice>
              <mc:Fallback>
                <p:oleObj name="公式" r:id="rId4" imgW="1095389" imgH="1428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981075"/>
                        <a:ext cx="29241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1476375" y="1773238"/>
          <a:ext cx="16668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0511" imgH="104760" progId="Equation.3">
                  <p:embed/>
                </p:oleObj>
              </mc:Choice>
              <mc:Fallback>
                <p:oleObj name="公式" r:id="rId6" imgW="590511" imgH="104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73238"/>
                        <a:ext cx="16668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3203575" y="1773238"/>
          <a:ext cx="28622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66755" imgH="152280" progId="Equation.3">
                  <p:embed/>
                </p:oleObj>
              </mc:Choice>
              <mc:Fallback>
                <p:oleObj name="公式" r:id="rId8" imgW="1066755" imgH="152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773238"/>
                        <a:ext cx="28622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1403350" y="3141663"/>
          <a:ext cx="69818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33745" imgH="400140" progId="Equation.3">
                  <p:embed/>
                </p:oleObj>
              </mc:Choice>
              <mc:Fallback>
                <p:oleObj name="公式" r:id="rId10" imgW="2733745" imgH="4001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141663"/>
                        <a:ext cx="698182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7311BEA-018C-4184-987F-ED5C41B31FB6}" type="slidenum">
              <a:rPr lang="zh-CN" altLang="en-US"/>
              <a:pPr>
                <a:defRPr/>
              </a:pPr>
              <a:t>28</a:t>
            </a:fld>
            <a:r>
              <a:rPr lang="zh-CN" altLang="en-US"/>
              <a:t>页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2-11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3},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2),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3),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2), (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, 2)}.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课堂练习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zh-CN" altLang="en-US" sz="3200" b="0" dirty="0">
                <a:latin typeface="楷体" panose="02010609060101010101" pitchFamily="49" charset="-122"/>
                <a:ea typeface="楷体" panose="02010609060101010101" pitchFamily="49" charset="-122"/>
              </a:rPr>
              <a:t>上的大于关系矩阵和恒等关系的矩阵</a:t>
            </a:r>
            <a:endParaRPr lang="en-US" altLang="zh-CN" sz="32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942895"/>
              </p:ext>
            </p:extLst>
          </p:nvPr>
        </p:nvGraphicFramePr>
        <p:xfrm>
          <a:off x="899592" y="2391152"/>
          <a:ext cx="3868738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76277" imgH="838080" progId="Equation.3">
                  <p:embed/>
                </p:oleObj>
              </mc:Choice>
              <mc:Fallback>
                <p:oleObj name="公式" r:id="rId3" imgW="1476277" imgH="838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391152"/>
                        <a:ext cx="3868738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931629"/>
              </p:ext>
            </p:extLst>
          </p:nvPr>
        </p:nvGraphicFramePr>
        <p:xfrm>
          <a:off x="2771800" y="1916832"/>
          <a:ext cx="1368152" cy="456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8156" imgH="133380" progId="Equation.3">
                  <p:embed/>
                </p:oleObj>
              </mc:Choice>
              <mc:Fallback>
                <p:oleObj name="Equation" r:id="rId5" imgW="438156" imgH="1333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916832"/>
                        <a:ext cx="1368152" cy="456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0303CC-CB40-1EE8-FC06-EF97750F6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136299"/>
              </p:ext>
            </p:extLst>
          </p:nvPr>
        </p:nvGraphicFramePr>
        <p:xfrm>
          <a:off x="4644008" y="2373189"/>
          <a:ext cx="3801867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080" imgH="927000" progId="Equation.DSMT4">
                  <p:embed/>
                </p:oleObj>
              </mc:Choice>
              <mc:Fallback>
                <p:oleObj name="Equation" r:id="rId7" imgW="154908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4008" y="2373189"/>
                        <a:ext cx="3801867" cy="227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第</a:t>
            </a:r>
            <a:fld id="{4BBFD9F9-F4F0-4E0E-840C-8DEBA99D6985}" type="slidenum">
              <a:rPr lang="zh-CN" altLang="en-US"/>
              <a:pPr>
                <a:defRPr/>
              </a:pPr>
              <a:t>29</a:t>
            </a:fld>
            <a:r>
              <a:rPr lang="zh-CN" altLang="en-US" dirty="0"/>
              <a:t>页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2.1.5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函数是如何转换成关系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3}, 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 = 2,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 = 3,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 = 3.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6628" name="Oval 3"/>
          <p:cNvSpPr>
            <a:spLocks noChangeArrowheads="1"/>
          </p:cNvSpPr>
          <p:nvPr/>
        </p:nvSpPr>
        <p:spPr bwMode="auto">
          <a:xfrm>
            <a:off x="1907704" y="3313336"/>
            <a:ext cx="1295400" cy="2089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9" name="Oval 4"/>
          <p:cNvSpPr>
            <a:spLocks noChangeArrowheads="1"/>
          </p:cNvSpPr>
          <p:nvPr/>
        </p:nvSpPr>
        <p:spPr bwMode="auto">
          <a:xfrm>
            <a:off x="5363692" y="3097436"/>
            <a:ext cx="1296987" cy="23764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0" name="Oval 5"/>
          <p:cNvSpPr>
            <a:spLocks noChangeArrowheads="1"/>
          </p:cNvSpPr>
          <p:nvPr/>
        </p:nvSpPr>
        <p:spPr bwMode="auto">
          <a:xfrm>
            <a:off x="2483967" y="3745136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1" name="Oval 6"/>
          <p:cNvSpPr>
            <a:spLocks noChangeArrowheads="1"/>
          </p:cNvSpPr>
          <p:nvPr/>
        </p:nvSpPr>
        <p:spPr bwMode="auto">
          <a:xfrm>
            <a:off x="2483967" y="424996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Oval 7"/>
          <p:cNvSpPr>
            <a:spLocks noChangeArrowheads="1"/>
          </p:cNvSpPr>
          <p:nvPr/>
        </p:nvSpPr>
        <p:spPr bwMode="auto">
          <a:xfrm>
            <a:off x="2483967" y="4825826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3" name="Oval 8"/>
          <p:cNvSpPr>
            <a:spLocks noChangeArrowheads="1"/>
          </p:cNvSpPr>
          <p:nvPr/>
        </p:nvSpPr>
        <p:spPr bwMode="auto">
          <a:xfrm>
            <a:off x="5939954" y="360226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4" name="Oval 9"/>
          <p:cNvSpPr>
            <a:spLocks noChangeArrowheads="1"/>
          </p:cNvSpPr>
          <p:nvPr/>
        </p:nvSpPr>
        <p:spPr bwMode="auto">
          <a:xfrm>
            <a:off x="5939954" y="424996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Oval 10"/>
          <p:cNvSpPr>
            <a:spLocks noChangeArrowheads="1"/>
          </p:cNvSpPr>
          <p:nvPr/>
        </p:nvSpPr>
        <p:spPr bwMode="auto">
          <a:xfrm>
            <a:off x="6011392" y="489766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069848"/>
              </p:ext>
            </p:extLst>
          </p:nvPr>
        </p:nvGraphicFramePr>
        <p:xfrm>
          <a:off x="2307754" y="5202461"/>
          <a:ext cx="3778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723" imgH="76140" progId="Equation.3">
                  <p:embed/>
                </p:oleObj>
              </mc:Choice>
              <mc:Fallback>
                <p:oleObj name="公式" r:id="rId2" imgW="66723" imgH="761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754" y="5202461"/>
                        <a:ext cx="3778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771747"/>
              </p:ext>
            </p:extLst>
          </p:nvPr>
        </p:nvGraphicFramePr>
        <p:xfrm>
          <a:off x="5868517" y="5258023"/>
          <a:ext cx="3778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76140" progId="Equation.3">
                  <p:embed/>
                </p:oleObj>
              </mc:Choice>
              <mc:Fallback>
                <p:oleObj name="公式" r:id="rId4" imgW="66723" imgH="761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517" y="5258023"/>
                        <a:ext cx="3778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4" name="Line 19"/>
          <p:cNvSpPr>
            <a:spLocks noChangeShapeType="1"/>
          </p:cNvSpPr>
          <p:nvPr/>
        </p:nvSpPr>
        <p:spPr bwMode="auto">
          <a:xfrm>
            <a:off x="2483967" y="3818161"/>
            <a:ext cx="338455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5" name="Line 20"/>
          <p:cNvSpPr>
            <a:spLocks noChangeShapeType="1"/>
          </p:cNvSpPr>
          <p:nvPr/>
        </p:nvSpPr>
        <p:spPr bwMode="auto">
          <a:xfrm>
            <a:off x="2555404" y="4321398"/>
            <a:ext cx="3384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6" name="Line 21"/>
          <p:cNvSpPr>
            <a:spLocks noChangeShapeType="1"/>
          </p:cNvSpPr>
          <p:nvPr/>
        </p:nvSpPr>
        <p:spPr bwMode="auto">
          <a:xfrm>
            <a:off x="2555404" y="4898405"/>
            <a:ext cx="338455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64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008990"/>
              </p:ext>
            </p:extLst>
          </p:nvPr>
        </p:nvGraphicFramePr>
        <p:xfrm>
          <a:off x="4068292" y="3529236"/>
          <a:ext cx="3778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723" imgH="114210" progId="Equation.3">
                  <p:embed/>
                </p:oleObj>
              </mc:Choice>
              <mc:Fallback>
                <p:oleObj name="公式" r:id="rId6" imgW="66723" imgH="11421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292" y="3529236"/>
                        <a:ext cx="3778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>
            <a:extLst>
              <a:ext uri="{FF2B5EF4-FFF2-40B4-BE49-F238E27FC236}">
                <a16:creationId xmlns:a16="http://schemas.microsoft.com/office/drawing/2014/main" id="{2B5EF443-B6E7-B04F-92FE-A22A69680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430458"/>
              </p:ext>
            </p:extLst>
          </p:nvPr>
        </p:nvGraphicFramePr>
        <p:xfrm>
          <a:off x="6155829" y="3385666"/>
          <a:ext cx="2190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50" imgH="44450" progId="Equation.3">
                  <p:embed/>
                </p:oleObj>
              </mc:Choice>
              <mc:Fallback>
                <p:oleObj name="公式" r:id="rId8" imgW="19050" imgH="44450" progId="Equation.3">
                  <p:embed/>
                  <p:pic>
                    <p:nvPicPr>
                      <p:cNvPr id="2" name="Object 16">
                        <a:extLst>
                          <a:ext uri="{FF2B5EF4-FFF2-40B4-BE49-F238E27FC236}">
                            <a16:creationId xmlns:a16="http://schemas.microsoft.com/office/drawing/2014/main" id="{4371F4F1-04C4-0E48-8859-EB4BD4AC5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829" y="3385666"/>
                        <a:ext cx="2190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7">
            <a:extLst>
              <a:ext uri="{FF2B5EF4-FFF2-40B4-BE49-F238E27FC236}">
                <a16:creationId xmlns:a16="http://schemas.microsoft.com/office/drawing/2014/main" id="{044EB08B-2C19-BD4E-B37C-918AD3C076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574862"/>
              </p:ext>
            </p:extLst>
          </p:nvPr>
        </p:nvGraphicFramePr>
        <p:xfrm>
          <a:off x="6109817" y="4034061"/>
          <a:ext cx="3127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400" imgH="44450" progId="Equation.3">
                  <p:embed/>
                </p:oleObj>
              </mc:Choice>
              <mc:Fallback>
                <p:oleObj name="公式" r:id="rId10" imgW="25400" imgH="44450" progId="Equation.3">
                  <p:embed/>
                  <p:pic>
                    <p:nvPicPr>
                      <p:cNvPr id="3" name="Object 17">
                        <a:extLst>
                          <a:ext uri="{FF2B5EF4-FFF2-40B4-BE49-F238E27FC236}">
                            <a16:creationId xmlns:a16="http://schemas.microsoft.com/office/drawing/2014/main" id="{1A6D5420-FCC8-884B-A352-2349CAF14F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817" y="4034061"/>
                        <a:ext cx="3127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>
            <a:extLst>
              <a:ext uri="{FF2B5EF4-FFF2-40B4-BE49-F238E27FC236}">
                <a16:creationId xmlns:a16="http://schemas.microsoft.com/office/drawing/2014/main" id="{AF2732BE-F8AD-AC46-83C5-5BCF7FFBE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34035"/>
              </p:ext>
            </p:extLst>
          </p:nvPr>
        </p:nvGraphicFramePr>
        <p:xfrm>
          <a:off x="6155829" y="4681810"/>
          <a:ext cx="2809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400" imgH="50800" progId="Equation.3">
                  <p:embed/>
                </p:oleObj>
              </mc:Choice>
              <mc:Fallback>
                <p:oleObj name="公式" r:id="rId12" imgW="25400" imgH="50800" progId="Equation.3">
                  <p:embed/>
                  <p:pic>
                    <p:nvPicPr>
                      <p:cNvPr id="4" name="Object 18">
                        <a:extLst>
                          <a:ext uri="{FF2B5EF4-FFF2-40B4-BE49-F238E27FC236}">
                            <a16:creationId xmlns:a16="http://schemas.microsoft.com/office/drawing/2014/main" id="{5E7AA6E1-65AA-644C-B3B8-E974495DA3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829" y="4681810"/>
                        <a:ext cx="2809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D14638E5-4A9E-AD4E-9293-CBCE295B2F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351041"/>
              </p:ext>
            </p:extLst>
          </p:nvPr>
        </p:nvGraphicFramePr>
        <p:xfrm>
          <a:off x="2052167" y="3602261"/>
          <a:ext cx="3143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400" imgH="38100" progId="Equation.3">
                  <p:embed/>
                </p:oleObj>
              </mc:Choice>
              <mc:Fallback>
                <p:oleObj name="公式" r:id="rId14" imgW="25400" imgH="38100" progId="Equation.3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5BC583BC-9216-694A-89D9-4D70F211D0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167" y="3602261"/>
                        <a:ext cx="3143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B17F0DFD-2DBA-C440-8265-CBEDB8CE1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309106"/>
              </p:ext>
            </p:extLst>
          </p:nvPr>
        </p:nvGraphicFramePr>
        <p:xfrm>
          <a:off x="2052167" y="4059461"/>
          <a:ext cx="3143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400" imgH="50800" progId="Equation.3">
                  <p:embed/>
                </p:oleObj>
              </mc:Choice>
              <mc:Fallback>
                <p:oleObj name="公式" r:id="rId16" imgW="25400" imgH="50800" progId="Equation.3">
                  <p:embed/>
                  <p:pic>
                    <p:nvPicPr>
                      <p:cNvPr id="3" name="Object 12">
                        <a:extLst>
                          <a:ext uri="{FF2B5EF4-FFF2-40B4-BE49-F238E27FC236}">
                            <a16:creationId xmlns:a16="http://schemas.microsoft.com/office/drawing/2014/main" id="{AC2E3678-97FA-A740-8D7E-33F0C3BDC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167" y="4059461"/>
                        <a:ext cx="3143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>
            <a:extLst>
              <a:ext uri="{FF2B5EF4-FFF2-40B4-BE49-F238E27FC236}">
                <a16:creationId xmlns:a16="http://schemas.microsoft.com/office/drawing/2014/main" id="{C8D7218F-0503-9B4A-8C94-492F926AC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602826"/>
              </p:ext>
            </p:extLst>
          </p:nvPr>
        </p:nvGraphicFramePr>
        <p:xfrm>
          <a:off x="2139479" y="4727798"/>
          <a:ext cx="2825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400" imgH="38100" progId="Equation.3">
                  <p:embed/>
                </p:oleObj>
              </mc:Choice>
              <mc:Fallback>
                <p:oleObj name="公式" r:id="rId18" imgW="25400" imgH="38100" progId="Equation.3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1B187105-9AE1-7F4E-93E5-A52C24A52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479" y="4727798"/>
                        <a:ext cx="2825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74B1755-04A1-401C-BB2F-369CA8EBA98B}" type="slidenum">
              <a:rPr lang="zh-CN" altLang="en-US"/>
              <a:pPr>
                <a:defRPr/>
              </a:pPr>
              <a:t>30</a:t>
            </a:fld>
            <a:r>
              <a:rPr lang="zh-CN" altLang="en-US"/>
              <a:t>页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Times New Roman" pitchFamily="18" charset="0"/>
                <a:sym typeface="Symbol" pitchFamily="18" charset="2"/>
              </a:rPr>
              <a:t>Remark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一般来说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的关系不是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276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221167"/>
              </p:ext>
            </p:extLst>
          </p:nvPr>
        </p:nvGraphicFramePr>
        <p:xfrm>
          <a:off x="2123728" y="3900375"/>
          <a:ext cx="4680520" cy="647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2932" imgH="114210" progId="Equation.3">
                  <p:embed/>
                </p:oleObj>
              </mc:Choice>
              <mc:Fallback>
                <p:oleObj name="公式" r:id="rId2" imgW="1142932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900375"/>
                        <a:ext cx="4680520" cy="647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1541463" y="620713"/>
          <a:ext cx="41100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0644" imgH="114210" progId="Equation.3">
                  <p:embed/>
                </p:oleObj>
              </mc:Choice>
              <mc:Fallback>
                <p:oleObj name="公式" r:id="rId4" imgW="1390644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620713"/>
                        <a:ext cx="411003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5"/>
          <p:cNvGraphicFramePr>
            <a:graphicFrameLocks noChangeAspect="1"/>
          </p:cNvGraphicFramePr>
          <p:nvPr/>
        </p:nvGraphicFramePr>
        <p:xfrm>
          <a:off x="2684463" y="1484313"/>
          <a:ext cx="484028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52454" imgH="114210" progId="Equation.3">
                  <p:embed/>
                </p:oleObj>
              </mc:Choice>
              <mc:Fallback>
                <p:oleObj name="公式" r:id="rId6" imgW="1552454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1484313"/>
                        <a:ext cx="4840287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096E0AE-C125-475B-A4F7-536A8F562A1D}" type="slidenum">
              <a:rPr lang="zh-CN" altLang="en-US"/>
              <a:pPr>
                <a:defRPr/>
              </a:pPr>
              <a:t>31</a:t>
            </a:fld>
            <a:r>
              <a:rPr lang="zh-CN" altLang="en-US"/>
              <a:t>页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满足什么条件成为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  <a:endParaRPr lang="en-US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(Why?)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关系是函数的推广</a:t>
            </a:r>
            <a:r>
              <a:rPr lang="en-US" altLang="zh-CN" sz="4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86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050580"/>
              </p:ext>
            </p:extLst>
          </p:nvPr>
        </p:nvGraphicFramePr>
        <p:xfrm>
          <a:off x="1258888" y="2060575"/>
          <a:ext cx="6049416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24055" imgH="133380" progId="Equation.3">
                  <p:embed/>
                </p:oleObj>
              </mc:Choice>
              <mc:Fallback>
                <p:oleObj name="公式" r:id="rId3" imgW="2124055" imgH="1333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060575"/>
                        <a:ext cx="6049416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07ECEDA-4FB5-4A84-9865-8F26AE68DBBE}" type="slidenum">
              <a:rPr lang="zh-CN" altLang="en-US"/>
              <a:pPr>
                <a:defRPr/>
              </a:pPr>
              <a:t>32</a:t>
            </a:fld>
            <a:r>
              <a:rPr lang="zh-CN" altLang="en-US"/>
              <a:t>页</a:t>
            </a:r>
          </a:p>
        </p:txBody>
      </p:sp>
      <p:sp>
        <p:nvSpPr>
          <p:cNvPr id="148482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/>
              <a:t>小结与作业</a:t>
            </a:r>
          </a:p>
        </p:txBody>
      </p:sp>
      <p:grpSp>
        <p:nvGrpSpPr>
          <p:cNvPr id="29701" name="Group 10"/>
          <p:cNvGrpSpPr>
            <a:grpSpLocks/>
          </p:cNvGrpSpPr>
          <p:nvPr/>
        </p:nvGrpSpPr>
        <p:grpSpPr bwMode="auto">
          <a:xfrm>
            <a:off x="1314450" y="1412875"/>
            <a:ext cx="5181600" cy="508000"/>
            <a:chOff x="1419" y="1480"/>
            <a:chExt cx="3575" cy="363"/>
          </a:xfrm>
        </p:grpSpPr>
        <p:grpSp>
          <p:nvGrpSpPr>
            <p:cNvPr id="29724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849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849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关系的定义域与值域</a:t>
                </a:r>
              </a:p>
            </p:txBody>
          </p:sp>
        </p:grpSp>
        <p:sp>
          <p:nvSpPr>
            <p:cNvPr id="148494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726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2" name="Group 16"/>
          <p:cNvGrpSpPr>
            <a:grpSpLocks/>
          </p:cNvGrpSpPr>
          <p:nvPr/>
        </p:nvGrpSpPr>
        <p:grpSpPr bwMode="auto">
          <a:xfrm>
            <a:off x="2027238" y="2776984"/>
            <a:ext cx="5181600" cy="508000"/>
            <a:chOff x="1419" y="1480"/>
            <a:chExt cx="3575" cy="363"/>
          </a:xfrm>
        </p:grpSpPr>
        <p:grpSp>
          <p:nvGrpSpPr>
            <p:cNvPr id="29719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8498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8499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关系图与关系矩阵</a:t>
                </a:r>
              </a:p>
            </p:txBody>
          </p:sp>
        </p:grpSp>
        <p:sp>
          <p:nvSpPr>
            <p:cNvPr id="148500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721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3" name="Group 22"/>
          <p:cNvGrpSpPr>
            <a:grpSpLocks/>
          </p:cNvGrpSpPr>
          <p:nvPr/>
        </p:nvGrpSpPr>
        <p:grpSpPr bwMode="auto">
          <a:xfrm>
            <a:off x="1835150" y="4292600"/>
            <a:ext cx="5181600" cy="508000"/>
            <a:chOff x="1419" y="1480"/>
            <a:chExt cx="3575" cy="363"/>
          </a:xfrm>
        </p:grpSpPr>
        <p:grpSp>
          <p:nvGrpSpPr>
            <p:cNvPr id="29714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48504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48505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函数的关系定义</a:t>
                </a:r>
              </a:p>
            </p:txBody>
          </p:sp>
        </p:grpSp>
        <p:sp>
          <p:nvSpPr>
            <p:cNvPr id="148506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716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0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29706" name="Group 30"/>
          <p:cNvGrpSpPr>
            <a:grpSpLocks/>
          </p:cNvGrpSpPr>
          <p:nvPr/>
        </p:nvGrpSpPr>
        <p:grpSpPr bwMode="auto">
          <a:xfrm>
            <a:off x="1116013" y="5105404"/>
            <a:ext cx="5380489" cy="665163"/>
            <a:chOff x="1152" y="2845"/>
            <a:chExt cx="3408" cy="419"/>
          </a:xfrm>
        </p:grpSpPr>
        <p:grpSp>
          <p:nvGrpSpPr>
            <p:cNvPr id="29707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29711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12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14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9708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0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989138"/>
            <a:ext cx="7921625" cy="103822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itchFamily="18" charset="0"/>
              </a:rPr>
              <a:t>2.2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关系的运算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>
                        <a:alpha val="39000"/>
                      </a:schemeClr>
                    </a:gs>
                    <a:gs pos="100000">
                      <a:srgbClr val="336699">
                        <a:alpha val="82001"/>
                      </a:srgbClr>
                    </a:gs>
                  </a:gsLst>
                  <a:lin ang="2700000" scaled="1"/>
                </a:gradFill>
              </a14:hiddenFill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latin typeface="Times New Roman" pitchFamily="18" charset="0"/>
              </a:rPr>
              <a:t>第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章 关系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F7080182-04E1-4F5D-8863-3A5E6D003F83}" type="slidenum">
              <a:rPr lang="zh-CN" altLang="en-US"/>
              <a:pPr>
                <a:defRPr/>
              </a:pPr>
              <a:t>34</a:t>
            </a:fld>
            <a:r>
              <a:rPr lang="zh-CN" altLang="en-US"/>
              <a:t>页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2.2 </a:t>
            </a:r>
            <a:r>
              <a:rPr lang="zh-CN" altLang="en-US"/>
              <a:t>关系的运算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pSp>
        <p:nvGrpSpPr>
          <p:cNvPr id="31749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31767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31771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2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36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3176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232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关系的</a:t>
              </a:r>
              <a:r>
                <a: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5</a:t>
              </a: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种集合运算</a:t>
              </a:r>
            </a:p>
          </p:txBody>
        </p:sp>
        <p:sp>
          <p:nvSpPr>
            <p:cNvPr id="31770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31750" name="Group 12"/>
          <p:cNvGrpSpPr>
            <a:grpSpLocks/>
          </p:cNvGrpSpPr>
          <p:nvPr/>
        </p:nvGrpSpPr>
        <p:grpSpPr bwMode="auto">
          <a:xfrm>
            <a:off x="1042988" y="2781300"/>
            <a:ext cx="5410200" cy="712788"/>
            <a:chOff x="1152" y="1677"/>
            <a:chExt cx="3408" cy="449"/>
          </a:xfrm>
        </p:grpSpPr>
        <p:grpSp>
          <p:nvGrpSpPr>
            <p:cNvPr id="31760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31764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44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31761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2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关系的逆运算及性质</a:t>
              </a:r>
            </a:p>
          </p:txBody>
        </p:sp>
        <p:sp>
          <p:nvSpPr>
            <p:cNvPr id="31763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31751" name="Group 20"/>
          <p:cNvGrpSpPr>
            <a:grpSpLocks/>
          </p:cNvGrpSpPr>
          <p:nvPr/>
        </p:nvGrpSpPr>
        <p:grpSpPr bwMode="auto">
          <a:xfrm>
            <a:off x="1042988" y="4221163"/>
            <a:ext cx="5788025" cy="712787"/>
            <a:chOff x="1152" y="2239"/>
            <a:chExt cx="3646" cy="449"/>
          </a:xfrm>
        </p:grpSpPr>
        <p:grpSp>
          <p:nvGrpSpPr>
            <p:cNvPr id="31753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31757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8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52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31754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5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68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关系的复合运算及性质</a:t>
              </a:r>
            </a:p>
          </p:txBody>
        </p:sp>
        <p:sp>
          <p:nvSpPr>
            <p:cNvPr id="31756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31752" name="圆角矩形 1"/>
          <p:cNvSpPr>
            <a:spLocks noChangeArrowheads="1"/>
          </p:cNvSpPr>
          <p:nvPr/>
        </p:nvSpPr>
        <p:spPr bwMode="auto">
          <a:xfrm>
            <a:off x="755650" y="1052513"/>
            <a:ext cx="6337300" cy="4248150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4FBA36B-404E-4000-91A1-91E6CEE6F5D2}" type="slidenum">
              <a:rPr lang="zh-CN" altLang="en-US"/>
              <a:pPr>
                <a:defRPr/>
              </a:pPr>
              <a:t>35</a:t>
            </a:fld>
            <a:r>
              <a:rPr lang="zh-CN" altLang="en-US"/>
              <a:t>页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itchFamily="18" charset="0"/>
              </a:rPr>
              <a:t>2.2 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关系的运算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讨论关系的运算是为了从已知的关系得出新的关系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2.2.1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关系的集合运算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zh-CN" altLang="en-US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Remark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1187450" y="3141663"/>
          <a:ext cx="22002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00134" imgH="114210" progId="Equation.3">
                  <p:embed/>
                </p:oleObj>
              </mc:Choice>
              <mc:Fallback>
                <p:oleObj name="公式" r:id="rId2" imgW="800134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141663"/>
                        <a:ext cx="22002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3438525" y="3068638"/>
          <a:ext cx="468471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09621" imgH="152280" progId="Equation.3">
                  <p:embed/>
                </p:oleObj>
              </mc:Choice>
              <mc:Fallback>
                <p:oleObj name="公式" r:id="rId4" imgW="1809621" imgH="152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3068638"/>
                        <a:ext cx="468471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2478088" y="3933825"/>
          <a:ext cx="4371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76445" imgH="142830" progId="Equation.3">
                  <p:embed/>
                </p:oleObj>
              </mc:Choice>
              <mc:Fallback>
                <p:oleObj name="公式" r:id="rId6" imgW="1676445" imgH="1428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3933825"/>
                        <a:ext cx="43719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924403"/>
              </p:ext>
            </p:extLst>
          </p:nvPr>
        </p:nvGraphicFramePr>
        <p:xfrm>
          <a:off x="2478088" y="4724400"/>
          <a:ext cx="4371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6445" imgH="142830" progId="Equation.3">
                  <p:embed/>
                </p:oleObj>
              </mc:Choice>
              <mc:Fallback>
                <p:oleObj name="公式" r:id="rId8" imgW="1676445" imgH="1428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4724400"/>
                        <a:ext cx="43719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8FF47F1C-5973-443B-A95F-9477AC9DD9BF}" type="slidenum">
              <a:rPr lang="zh-CN" altLang="en-US"/>
              <a:pPr>
                <a:defRPr/>
              </a:pPr>
              <a:t>36</a:t>
            </a:fld>
            <a:r>
              <a:rPr lang="zh-CN" altLang="en-US"/>
              <a:t>页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2-15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={2, 3, 4},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分别计算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zh-CN" altLang="en-US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Hint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R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{(2, 2), (2, 4), (3, 3), (4, 4)}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{(2, 3), (2, 4), (3, 4)}</a:t>
            </a:r>
          </a:p>
        </p:txBody>
      </p:sp>
      <p:graphicFrame>
        <p:nvGraphicFramePr>
          <p:cNvPr id="337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121572"/>
              </p:ext>
            </p:extLst>
          </p:nvPr>
        </p:nvGraphicFramePr>
        <p:xfrm>
          <a:off x="1692275" y="2420888"/>
          <a:ext cx="30099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85934" imgH="114210" progId="Equation.3">
                  <p:embed/>
                </p:oleObj>
              </mc:Choice>
              <mc:Fallback>
                <p:oleObj name="公式" r:id="rId3" imgW="1085934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888"/>
                        <a:ext cx="30099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508407"/>
              </p:ext>
            </p:extLst>
          </p:nvPr>
        </p:nvGraphicFramePr>
        <p:xfrm>
          <a:off x="2195513" y="1556792"/>
          <a:ext cx="4684712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09621" imgH="152280" progId="Equation.3">
                  <p:embed/>
                </p:oleObj>
              </mc:Choice>
              <mc:Fallback>
                <p:oleObj name="公式" r:id="rId5" imgW="1809621" imgH="152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556792"/>
                        <a:ext cx="4684712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54637F0-21BF-4B5A-ACDF-BB0D41DE2F53}" type="slidenum">
              <a:rPr lang="zh-CN" altLang="en-US"/>
              <a:pPr>
                <a:defRPr/>
              </a:pPr>
              <a:t>37</a:t>
            </a:fld>
            <a:r>
              <a:rPr lang="zh-CN" altLang="en-US"/>
              <a:t>页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2.2.2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(inverse)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运算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为何考虑关系的逆运算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的老师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的学生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348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803976"/>
              </p:ext>
            </p:extLst>
          </p:nvPr>
        </p:nvGraphicFramePr>
        <p:xfrm>
          <a:off x="805882" y="2708920"/>
          <a:ext cx="7532235" cy="57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76646" imgH="142830" progId="Equation.3">
                  <p:embed/>
                </p:oleObj>
              </mc:Choice>
              <mc:Fallback>
                <p:oleObj name="公式" r:id="rId2" imgW="2876646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882" y="2708920"/>
                        <a:ext cx="7532235" cy="5761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2CFCDB88-EA3F-4FEB-8597-A0A4A97EADA8}" type="slidenum">
              <a:rPr lang="zh-CN" altLang="en-US"/>
              <a:pPr>
                <a:defRPr/>
              </a:pPr>
              <a:t>38</a:t>
            </a:fld>
            <a:r>
              <a:rPr lang="zh-CN" altLang="en-US"/>
              <a:t>页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2-16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 = {1, 2, 3}, 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3),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2),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2),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2)}.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&gt;</a:t>
            </a:r>
            <a:r>
              <a:rPr lang="en-US" altLang="zh-CN" baseline="30000" dirty="0">
                <a:latin typeface="Times New Roman" pitchFamily="18" charset="0"/>
                <a:ea typeface="华文新魏" pitchFamily="2" charset="-122"/>
              </a:rPr>
              <a:t>-1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 = &lt; ,   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</a:t>
            </a:r>
            <a:r>
              <a:rPr lang="en-US" altLang="zh-CN" baseline="30000" dirty="0">
                <a:latin typeface="Times New Roman" pitchFamily="18" charset="0"/>
                <a:ea typeface="华文新魏" pitchFamily="2" charset="-122"/>
              </a:rPr>
              <a:t>-1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 = 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 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…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358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334554"/>
              </p:ext>
            </p:extLst>
          </p:nvPr>
        </p:nvGraphicFramePr>
        <p:xfrm>
          <a:off x="539552" y="1700808"/>
          <a:ext cx="6010933" cy="70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4977" imgH="142830" progId="Equation.3">
                  <p:embed/>
                </p:oleObj>
              </mc:Choice>
              <mc:Fallback>
                <p:oleObj name="公式" r:id="rId2" imgW="1904977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700808"/>
                        <a:ext cx="6010933" cy="704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3132138" y="2924175"/>
          <a:ext cx="185578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6688" imgH="152280" progId="Equation.3">
                  <p:embed/>
                </p:oleObj>
              </mc:Choice>
              <mc:Fallback>
                <p:oleObj name="公式" r:id="rId4" imgW="666688" imgH="152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924175"/>
                        <a:ext cx="185578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843658E-7D65-42D4-85D9-296BB6B32FE1}" type="slidenum">
              <a:rPr lang="zh-CN" altLang="en-US"/>
              <a:pPr>
                <a:defRPr/>
              </a:pPr>
              <a:t>39</a:t>
            </a:fld>
            <a:r>
              <a:rPr lang="zh-CN" altLang="en-US"/>
              <a:t>页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/>
          </p:nvPr>
        </p:nvSpPr>
        <p:spPr>
          <a:xfrm>
            <a:off x="0" y="0"/>
            <a:ext cx="9144000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逆运算的性质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2-2(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对合律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2-3(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逆运算与关系的集合运算并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补的关系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(3)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368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29978"/>
              </p:ext>
            </p:extLst>
          </p:nvPr>
        </p:nvGraphicFramePr>
        <p:xfrm>
          <a:off x="5030564" y="852389"/>
          <a:ext cx="19177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868" imgH="142830" progId="Equation.3">
                  <p:embed/>
                </p:oleObj>
              </mc:Choice>
              <mc:Fallback>
                <p:oleObj name="公式" r:id="rId2" imgW="685868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564" y="852389"/>
                        <a:ext cx="19177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338371"/>
              </p:ext>
            </p:extLst>
          </p:nvPr>
        </p:nvGraphicFramePr>
        <p:xfrm>
          <a:off x="1367532" y="3068960"/>
          <a:ext cx="34925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3922" imgH="142830" progId="Equation.3">
                  <p:embed/>
                </p:oleObj>
              </mc:Choice>
              <mc:Fallback>
                <p:oleObj name="公式" r:id="rId4" imgW="1323922" imgH="1428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532" y="3068960"/>
                        <a:ext cx="34925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167846"/>
              </p:ext>
            </p:extLst>
          </p:nvPr>
        </p:nvGraphicFramePr>
        <p:xfrm>
          <a:off x="1357313" y="3804717"/>
          <a:ext cx="349091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23922" imgH="142830" progId="Equation.3">
                  <p:embed/>
                </p:oleObj>
              </mc:Choice>
              <mc:Fallback>
                <p:oleObj name="公式" r:id="rId6" imgW="1323922" imgH="1428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804717"/>
                        <a:ext cx="349091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6"/>
          <p:cNvGraphicFramePr>
            <a:graphicFrameLocks noChangeAspect="1"/>
          </p:cNvGraphicFramePr>
          <p:nvPr/>
        </p:nvGraphicFramePr>
        <p:xfrm>
          <a:off x="1373188" y="4581525"/>
          <a:ext cx="18224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47779" imgH="180900" progId="Equation.3">
                  <p:embed/>
                </p:oleObj>
              </mc:Choice>
              <mc:Fallback>
                <p:oleObj name="公式" r:id="rId8" imgW="647779" imgH="180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4581525"/>
                        <a:ext cx="182245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413BF4A-2AB2-2E95-2ACC-71781CFE4B9E}"/>
              </a:ext>
            </a:extLst>
          </p:cNvPr>
          <p:cNvSpPr txBox="1"/>
          <p:nvPr/>
        </p:nvSpPr>
        <p:spPr>
          <a:xfrm>
            <a:off x="4164149" y="92244"/>
            <a:ext cx="2280059" cy="58477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b="0" i="1" dirty="0">
                <a:solidFill>
                  <a:srgbClr val="0022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S</a:t>
            </a:r>
            <a:r>
              <a:rPr lang="en-US" altLang="zh-CN" dirty="0">
                <a:solidFill>
                  <a:srgbClr val="002221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  </a:t>
            </a:r>
            <a:r>
              <a:rPr lang="en-US" altLang="zh-CN" i="1" dirty="0">
                <a:solidFill>
                  <a:srgbClr val="002221"/>
                </a:solidFill>
                <a:latin typeface="Times New Roman" panose="02020603050405020304" pitchFamily="18" charset="0"/>
                <a:ea typeface="华文新魏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000" b="0" dirty="0">
                <a:solidFill>
                  <a:srgbClr val="002221"/>
                </a:solidFill>
                <a:latin typeface="Times New Roman" panose="02020603050405020304" pitchFamily="18" charset="0"/>
                <a:ea typeface="华文新魏" pitchFamily="2" charset="-122"/>
                <a:cs typeface="Times New Roman" panose="02020603050405020304" pitchFamily="18" charset="0"/>
                <a:sym typeface="Symbol" pitchFamily="18" charset="2"/>
              </a:rPr>
              <a:t>✖</a:t>
            </a:r>
            <a:r>
              <a:rPr lang="en-US" altLang="zh-CN" i="1" dirty="0">
                <a:solidFill>
                  <a:srgbClr val="002221"/>
                </a:solidFill>
                <a:latin typeface="Times New Roman" panose="02020603050405020304" pitchFamily="18" charset="0"/>
                <a:ea typeface="华文新魏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lang="zh-CN" altLang="en-US" i="1" dirty="0">
              <a:solidFill>
                <a:srgbClr val="0022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17C9B46-0308-426C-8E79-A43564032EDC}" type="slidenum">
              <a:rPr lang="zh-CN" altLang="en-US"/>
              <a:pPr>
                <a:defRPr/>
              </a:pPr>
              <a:t>40</a:t>
            </a:fld>
            <a:r>
              <a:rPr lang="zh-CN" altLang="en-US"/>
              <a:t>页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latin typeface="Times New Roman" pitchFamily="18" charset="0"/>
              </a:rPr>
              <a:t>Proof (2)</a:t>
            </a:r>
          </a:p>
        </p:txBody>
      </p:sp>
      <p:graphicFrame>
        <p:nvGraphicFramePr>
          <p:cNvPr id="37894" name="Object 5"/>
          <p:cNvGraphicFramePr>
            <a:graphicFrameLocks noChangeAspect="1"/>
          </p:cNvGraphicFramePr>
          <p:nvPr/>
        </p:nvGraphicFramePr>
        <p:xfrm>
          <a:off x="2484438" y="260350"/>
          <a:ext cx="55006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510" imgH="142830" progId="Equation.3">
                  <p:embed/>
                </p:oleObj>
              </mc:Choice>
              <mc:Fallback>
                <p:oleObj name="Equation" r:id="rId2" imgW="2133510" imgH="1428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60350"/>
                        <a:ext cx="55006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6"/>
          <p:cNvGraphicFramePr>
            <a:graphicFrameLocks noChangeAspect="1"/>
          </p:cNvGraphicFramePr>
          <p:nvPr/>
        </p:nvGraphicFramePr>
        <p:xfrm>
          <a:off x="1042988" y="1341438"/>
          <a:ext cx="738663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555" imgH="142830" progId="Equation.3">
                  <p:embed/>
                </p:oleObj>
              </mc:Choice>
              <mc:Fallback>
                <p:oleObj name="Equation" r:id="rId4" imgW="2895555" imgH="1428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341438"/>
                        <a:ext cx="7386637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7"/>
          <p:cNvGraphicFramePr>
            <a:graphicFrameLocks noChangeAspect="1"/>
          </p:cNvGraphicFramePr>
          <p:nvPr/>
        </p:nvGraphicFramePr>
        <p:xfrm>
          <a:off x="1116013" y="2565400"/>
          <a:ext cx="32067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9655" imgH="142830" progId="Equation.3">
                  <p:embed/>
                </p:oleObj>
              </mc:Choice>
              <mc:Fallback>
                <p:oleObj name="Equation" r:id="rId6" imgW="1209655" imgH="1428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565400"/>
                        <a:ext cx="32067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B0E38A08-144D-4457-8812-6CBFAF8E730B}" type="slidenum">
              <a:rPr lang="zh-CN" altLang="en-US"/>
              <a:pPr>
                <a:defRPr/>
              </a:pPr>
              <a:t>41</a:t>
            </a:fld>
            <a:r>
              <a:rPr lang="zh-CN" altLang="en-US"/>
              <a:t>页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2.2.3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关系的复合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(composition)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运算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的复合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◦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为何考虑关系的复合运算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的母亲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的妻子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的岳母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sz="2400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389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541676"/>
              </p:ext>
            </p:extLst>
          </p:nvPr>
        </p:nvGraphicFramePr>
        <p:xfrm>
          <a:off x="1042988" y="3500438"/>
          <a:ext cx="7417444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86100" imgH="342900" progId="Equation.3">
                  <p:embed/>
                </p:oleObj>
              </mc:Choice>
              <mc:Fallback>
                <p:oleObj name="公式" r:id="rId2" imgW="2886100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7417444" cy="1300162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圆角矩形 12">
            <a:extLst>
              <a:ext uri="{FF2B5EF4-FFF2-40B4-BE49-F238E27FC236}">
                <a16:creationId xmlns:a16="http://schemas.microsoft.com/office/drawing/2014/main" id="{7AB0FFD4-DA3D-6343-9515-4B3C4A1AA53E}"/>
              </a:ext>
            </a:extLst>
          </p:cNvPr>
          <p:cNvSpPr/>
          <p:nvPr/>
        </p:nvSpPr>
        <p:spPr bwMode="auto">
          <a:xfrm>
            <a:off x="2411760" y="3429000"/>
            <a:ext cx="288032" cy="576634"/>
          </a:xfrm>
          <a:prstGeom prst="roundRect">
            <a:avLst/>
          </a:prstGeom>
          <a:noFill/>
          <a:ln w="57150" cap="flat" cmpd="thinThick" algn="ctr">
            <a:solidFill>
              <a:srgbClr val="DE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CB2B2FB-3848-FD4D-B67C-A89BB3B4C290}"/>
              </a:ext>
            </a:extLst>
          </p:cNvPr>
          <p:cNvSpPr/>
          <p:nvPr/>
        </p:nvSpPr>
        <p:spPr bwMode="auto">
          <a:xfrm>
            <a:off x="3491880" y="3500438"/>
            <a:ext cx="360040" cy="505196"/>
          </a:xfrm>
          <a:prstGeom prst="roundRect">
            <a:avLst/>
          </a:prstGeom>
          <a:noFill/>
          <a:ln w="57150" cap="flat" cmpd="thinThick" algn="ctr">
            <a:solidFill>
              <a:srgbClr val="DE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7DC44F6-6BFC-47AD-9F60-D003F79E23D0}" type="slidenum">
              <a:rPr lang="zh-CN" altLang="en-US"/>
              <a:pPr>
                <a:defRPr/>
              </a:pPr>
              <a:t>42</a:t>
            </a:fld>
            <a:r>
              <a:rPr lang="zh-CN" altLang="en-US"/>
              <a:t>页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/>
          </p:nvPr>
        </p:nvSpPr>
        <p:spPr>
          <a:xfrm>
            <a:off x="0" y="248748"/>
            <a:ext cx="9144000" cy="62404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2-17</a:t>
            </a:r>
          </a:p>
        </p:txBody>
      </p:sp>
      <p:graphicFrame>
        <p:nvGraphicFramePr>
          <p:cNvPr id="39940" name="Object 3"/>
          <p:cNvGraphicFramePr>
            <a:graphicFrameLocks noChangeAspect="1"/>
          </p:cNvGraphicFramePr>
          <p:nvPr/>
        </p:nvGraphicFramePr>
        <p:xfrm>
          <a:off x="854075" y="1268413"/>
          <a:ext cx="54070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421" imgH="114210" progId="Equation.3">
                  <p:embed/>
                </p:oleObj>
              </mc:Choice>
              <mc:Fallback>
                <p:oleObj name="公式" r:id="rId2" imgW="2095421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1268413"/>
                        <a:ext cx="54070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4"/>
          <p:cNvGraphicFramePr>
            <a:graphicFrameLocks noChangeAspect="1"/>
          </p:cNvGraphicFramePr>
          <p:nvPr/>
        </p:nvGraphicFramePr>
        <p:xfrm>
          <a:off x="3563938" y="1916113"/>
          <a:ext cx="48101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57434" imgH="114210" progId="Equation.3">
                  <p:embed/>
                </p:oleObj>
              </mc:Choice>
              <mc:Fallback>
                <p:oleObj name="公式" r:id="rId4" imgW="1857434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916113"/>
                        <a:ext cx="48101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5"/>
          <p:cNvGraphicFramePr>
            <a:graphicFrameLocks noChangeAspect="1"/>
          </p:cNvGraphicFramePr>
          <p:nvPr/>
        </p:nvGraphicFramePr>
        <p:xfrm>
          <a:off x="968375" y="3141663"/>
          <a:ext cx="75771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71732" imgH="114210" progId="Equation.3">
                  <p:embed/>
                </p:oleObj>
              </mc:Choice>
              <mc:Fallback>
                <p:oleObj name="公式" r:id="rId6" imgW="2971732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3141663"/>
                        <a:ext cx="757713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6"/>
          <p:cNvGraphicFramePr>
            <a:graphicFrameLocks noChangeAspect="1"/>
          </p:cNvGraphicFramePr>
          <p:nvPr/>
        </p:nvGraphicFramePr>
        <p:xfrm>
          <a:off x="868363" y="4076700"/>
          <a:ext cx="21066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2045" imgH="114210" progId="Equation.3">
                  <p:embed/>
                </p:oleObj>
              </mc:Choice>
              <mc:Fallback>
                <p:oleObj name="公式" r:id="rId8" imgW="762045" imgH="1142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076700"/>
                        <a:ext cx="21066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Line 7"/>
          <p:cNvSpPr>
            <a:spLocks noChangeShapeType="1"/>
          </p:cNvSpPr>
          <p:nvPr/>
        </p:nvSpPr>
        <p:spPr bwMode="auto">
          <a:xfrm flipH="1">
            <a:off x="1259632" y="3573016"/>
            <a:ext cx="288180" cy="5036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8"/>
          <p:cNvSpPr>
            <a:spLocks noChangeShapeType="1"/>
          </p:cNvSpPr>
          <p:nvPr/>
        </p:nvSpPr>
        <p:spPr bwMode="auto">
          <a:xfrm>
            <a:off x="2123727" y="3573016"/>
            <a:ext cx="292448" cy="5036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46" name="Object 9"/>
          <p:cNvGraphicFramePr>
            <a:graphicFrameLocks noChangeAspect="1"/>
          </p:cNvGraphicFramePr>
          <p:nvPr/>
        </p:nvGraphicFramePr>
        <p:xfrm>
          <a:off x="2179638" y="333375"/>
          <a:ext cx="67913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57568" imgH="114210" progId="Equation.3">
                  <p:embed/>
                </p:oleObj>
              </mc:Choice>
              <mc:Fallback>
                <p:oleObj name="公式" r:id="rId10" imgW="2657568" imgH="1142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333375"/>
                        <a:ext cx="67913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0"/>
          <p:cNvGraphicFramePr>
            <a:graphicFrameLocks noChangeAspect="1"/>
          </p:cNvGraphicFramePr>
          <p:nvPr/>
        </p:nvGraphicFramePr>
        <p:xfrm>
          <a:off x="1547813" y="4797425"/>
          <a:ext cx="705167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86100" imgH="342900" progId="Equation.3">
                  <p:embed/>
                </p:oleObj>
              </mc:Choice>
              <mc:Fallback>
                <p:oleObj name="公式" r:id="rId12" imgW="2886100" imgH="342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797425"/>
                        <a:ext cx="705167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F8663C9-745E-4845-A497-FBEFA3D761A0}" type="slidenum">
              <a:rPr lang="zh-CN" altLang="en-US"/>
              <a:pPr>
                <a:defRPr/>
              </a:pPr>
              <a:t>43</a:t>
            </a:fld>
            <a:r>
              <a:rPr lang="zh-CN" altLang="en-US"/>
              <a:t>页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借助于关系图理解复合运算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可以利用关系矩阵计算关系的复合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0964" name="Oval 3"/>
          <p:cNvSpPr>
            <a:spLocks noChangeArrowheads="1"/>
          </p:cNvSpPr>
          <p:nvPr/>
        </p:nvSpPr>
        <p:spPr bwMode="auto">
          <a:xfrm>
            <a:off x="1403350" y="1052513"/>
            <a:ext cx="1223963" cy="2663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Oval 4"/>
          <p:cNvSpPr>
            <a:spLocks noChangeArrowheads="1"/>
          </p:cNvSpPr>
          <p:nvPr/>
        </p:nvSpPr>
        <p:spPr bwMode="auto">
          <a:xfrm>
            <a:off x="3779838" y="1484313"/>
            <a:ext cx="1368425" cy="18002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Oval 5"/>
          <p:cNvSpPr>
            <a:spLocks noChangeArrowheads="1"/>
          </p:cNvSpPr>
          <p:nvPr/>
        </p:nvSpPr>
        <p:spPr bwMode="auto">
          <a:xfrm>
            <a:off x="6443663" y="1052513"/>
            <a:ext cx="1584325" cy="2592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67" name="Object 6"/>
          <p:cNvGraphicFramePr>
            <a:graphicFrameLocks noChangeAspect="1"/>
          </p:cNvGraphicFramePr>
          <p:nvPr/>
        </p:nvGraphicFramePr>
        <p:xfrm>
          <a:off x="1619250" y="1341438"/>
          <a:ext cx="3143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341438"/>
                        <a:ext cx="3143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Oval 7"/>
          <p:cNvSpPr>
            <a:spLocks noChangeArrowheads="1"/>
          </p:cNvSpPr>
          <p:nvPr/>
        </p:nvSpPr>
        <p:spPr bwMode="auto">
          <a:xfrm flipH="1">
            <a:off x="2051050" y="148431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Oval 8"/>
          <p:cNvSpPr>
            <a:spLocks noChangeArrowheads="1"/>
          </p:cNvSpPr>
          <p:nvPr/>
        </p:nvSpPr>
        <p:spPr bwMode="auto">
          <a:xfrm flipH="1">
            <a:off x="2051050" y="19891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Oval 9"/>
          <p:cNvSpPr>
            <a:spLocks noChangeArrowheads="1"/>
          </p:cNvSpPr>
          <p:nvPr/>
        </p:nvSpPr>
        <p:spPr bwMode="auto">
          <a:xfrm flipH="1">
            <a:off x="2051050" y="25654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Oval 10"/>
          <p:cNvSpPr>
            <a:spLocks noChangeArrowheads="1"/>
          </p:cNvSpPr>
          <p:nvPr/>
        </p:nvSpPr>
        <p:spPr bwMode="auto">
          <a:xfrm flipH="1">
            <a:off x="2051050" y="314166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Oval 11"/>
          <p:cNvSpPr>
            <a:spLocks noChangeArrowheads="1"/>
          </p:cNvSpPr>
          <p:nvPr/>
        </p:nvSpPr>
        <p:spPr bwMode="auto">
          <a:xfrm flipH="1">
            <a:off x="4356100" y="170021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3" name="Oval 12"/>
          <p:cNvSpPr>
            <a:spLocks noChangeArrowheads="1"/>
          </p:cNvSpPr>
          <p:nvPr/>
        </p:nvSpPr>
        <p:spPr bwMode="auto">
          <a:xfrm flipH="1">
            <a:off x="4356100" y="21336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4" name="Oval 13"/>
          <p:cNvSpPr>
            <a:spLocks noChangeArrowheads="1"/>
          </p:cNvSpPr>
          <p:nvPr/>
        </p:nvSpPr>
        <p:spPr bwMode="auto">
          <a:xfrm flipH="1">
            <a:off x="4356100" y="25654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Oval 14"/>
          <p:cNvSpPr>
            <a:spLocks noChangeArrowheads="1"/>
          </p:cNvSpPr>
          <p:nvPr/>
        </p:nvSpPr>
        <p:spPr bwMode="auto">
          <a:xfrm flipH="1">
            <a:off x="4356100" y="30686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6" name="Oval 15"/>
          <p:cNvSpPr>
            <a:spLocks noChangeArrowheads="1"/>
          </p:cNvSpPr>
          <p:nvPr/>
        </p:nvSpPr>
        <p:spPr bwMode="auto">
          <a:xfrm flipH="1">
            <a:off x="7164388" y="1412875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7" name="Oval 16"/>
          <p:cNvSpPr>
            <a:spLocks noChangeArrowheads="1"/>
          </p:cNvSpPr>
          <p:nvPr/>
        </p:nvSpPr>
        <p:spPr bwMode="auto">
          <a:xfrm flipH="1">
            <a:off x="7164388" y="1916113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8" name="Oval 17"/>
          <p:cNvSpPr>
            <a:spLocks noChangeArrowheads="1"/>
          </p:cNvSpPr>
          <p:nvPr/>
        </p:nvSpPr>
        <p:spPr bwMode="auto">
          <a:xfrm flipH="1">
            <a:off x="7164388" y="2420938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9" name="Oval 18"/>
          <p:cNvSpPr>
            <a:spLocks noChangeArrowheads="1"/>
          </p:cNvSpPr>
          <p:nvPr/>
        </p:nvSpPr>
        <p:spPr bwMode="auto">
          <a:xfrm flipH="1">
            <a:off x="7164388" y="3068638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80" name="Object 19"/>
          <p:cNvGraphicFramePr>
            <a:graphicFrameLocks noChangeAspect="1"/>
          </p:cNvGraphicFramePr>
          <p:nvPr/>
        </p:nvGraphicFramePr>
        <p:xfrm>
          <a:off x="1619250" y="1798638"/>
          <a:ext cx="3143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9" imgH="95310" progId="Equation.3">
                  <p:embed/>
                </p:oleObj>
              </mc:Choice>
              <mc:Fallback>
                <p:oleObj name="Equation" r:id="rId4" imgW="38089" imgH="9531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98638"/>
                        <a:ext cx="3143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Object 20"/>
          <p:cNvGraphicFramePr>
            <a:graphicFrameLocks noChangeAspect="1"/>
          </p:cNvGraphicFramePr>
          <p:nvPr/>
        </p:nvGraphicFramePr>
        <p:xfrm>
          <a:off x="1625600" y="2420938"/>
          <a:ext cx="2825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34" imgH="57240" progId="Equation.3">
                  <p:embed/>
                </p:oleObj>
              </mc:Choice>
              <mc:Fallback>
                <p:oleObj name="Equation" r:id="rId6" imgW="28634" imgH="57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2420938"/>
                        <a:ext cx="2825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2" name="Object 21"/>
          <p:cNvGraphicFramePr>
            <a:graphicFrameLocks noChangeAspect="1"/>
          </p:cNvGraphicFramePr>
          <p:nvPr/>
        </p:nvGraphicFramePr>
        <p:xfrm>
          <a:off x="1603375" y="2878138"/>
          <a:ext cx="3460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268" imgH="95310" progId="Equation.3">
                  <p:embed/>
                </p:oleObj>
              </mc:Choice>
              <mc:Fallback>
                <p:oleObj name="Equation" r:id="rId8" imgW="57268" imgH="9531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2878138"/>
                        <a:ext cx="3460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983" name="Object 22"/>
              <p:cNvSpPr txBox="1"/>
              <p:nvPr/>
            </p:nvSpPr>
            <p:spPr bwMode="auto">
              <a:xfrm>
                <a:off x="4427984" y="1454150"/>
                <a:ext cx="219075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0983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1454150"/>
                <a:ext cx="219075" cy="403225"/>
              </a:xfrm>
              <a:prstGeom prst="rect">
                <a:avLst/>
              </a:prstGeom>
              <a:blipFill>
                <a:blip r:embed="rId10"/>
                <a:stretch>
                  <a:fillRect r="-194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984" name="Object 23"/>
          <p:cNvGraphicFramePr>
            <a:graphicFrameLocks noChangeAspect="1"/>
          </p:cNvGraphicFramePr>
          <p:nvPr/>
        </p:nvGraphicFramePr>
        <p:xfrm>
          <a:off x="4525963" y="2060575"/>
          <a:ext cx="3127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9" imgH="76140" progId="Equation.3">
                  <p:embed/>
                </p:oleObj>
              </mc:Choice>
              <mc:Fallback>
                <p:oleObj name="Equation" r:id="rId11" imgW="38089" imgH="761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2060575"/>
                        <a:ext cx="3127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5" name="Object 24"/>
          <p:cNvGraphicFramePr>
            <a:graphicFrameLocks noChangeAspect="1"/>
          </p:cNvGraphicFramePr>
          <p:nvPr/>
        </p:nvGraphicFramePr>
        <p:xfrm>
          <a:off x="4587875" y="2405063"/>
          <a:ext cx="2809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634" imgH="95310" progId="Equation.3">
                  <p:embed/>
                </p:oleObj>
              </mc:Choice>
              <mc:Fallback>
                <p:oleObj name="Equation" r:id="rId13" imgW="28634" imgH="9531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2405063"/>
                        <a:ext cx="2809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07837"/>
              </p:ext>
            </p:extLst>
          </p:nvPr>
        </p:nvGraphicFramePr>
        <p:xfrm>
          <a:off x="4546600" y="2881759"/>
          <a:ext cx="3127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89" imgH="76140" progId="Equation.3">
                  <p:embed/>
                </p:oleObj>
              </mc:Choice>
              <mc:Fallback>
                <p:oleObj name="Equation" r:id="rId15" imgW="38089" imgH="761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2881759"/>
                        <a:ext cx="3127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7" name="Object 26"/>
          <p:cNvGraphicFramePr>
            <a:graphicFrameLocks noChangeAspect="1"/>
          </p:cNvGraphicFramePr>
          <p:nvPr/>
        </p:nvGraphicFramePr>
        <p:xfrm>
          <a:off x="7364413" y="1298575"/>
          <a:ext cx="3444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7268" imgH="57240" progId="Equation.3">
                  <p:embed/>
                </p:oleObj>
              </mc:Choice>
              <mc:Fallback>
                <p:oleObj name="Equation" r:id="rId17" imgW="57268" imgH="572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413" y="1298575"/>
                        <a:ext cx="3444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611024"/>
              </p:ext>
            </p:extLst>
          </p:nvPr>
        </p:nvGraphicFramePr>
        <p:xfrm>
          <a:off x="7365702" y="1766888"/>
          <a:ext cx="3746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6723" imgH="114210" progId="Equation.3">
                  <p:embed/>
                </p:oleObj>
              </mc:Choice>
              <mc:Fallback>
                <p:oleObj name="Equation" r:id="rId19" imgW="66723" imgH="11421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702" y="1766888"/>
                        <a:ext cx="3746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494528"/>
              </p:ext>
            </p:extLst>
          </p:nvPr>
        </p:nvGraphicFramePr>
        <p:xfrm>
          <a:off x="7380312" y="2305695"/>
          <a:ext cx="3143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8089" imgH="76140" progId="Equation.3">
                  <p:embed/>
                </p:oleObj>
              </mc:Choice>
              <mc:Fallback>
                <p:oleObj name="Equation" r:id="rId21" imgW="38089" imgH="761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2305695"/>
                        <a:ext cx="3143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0" name="Object 29"/>
          <p:cNvGraphicFramePr>
            <a:graphicFrameLocks noChangeAspect="1"/>
          </p:cNvGraphicFramePr>
          <p:nvPr/>
        </p:nvGraphicFramePr>
        <p:xfrm>
          <a:off x="7380288" y="2878138"/>
          <a:ext cx="3444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7268" imgH="95310" progId="Equation.3">
                  <p:embed/>
                </p:oleObj>
              </mc:Choice>
              <mc:Fallback>
                <p:oleObj name="Equation" r:id="rId23" imgW="57268" imgH="9531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2878138"/>
                        <a:ext cx="3444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1" name="Line 30"/>
          <p:cNvSpPr>
            <a:spLocks noChangeShapeType="1"/>
          </p:cNvSpPr>
          <p:nvPr/>
        </p:nvSpPr>
        <p:spPr bwMode="auto">
          <a:xfrm>
            <a:off x="2124075" y="1557338"/>
            <a:ext cx="23034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2" name="Line 31"/>
          <p:cNvSpPr>
            <a:spLocks noChangeShapeType="1"/>
          </p:cNvSpPr>
          <p:nvPr/>
        </p:nvSpPr>
        <p:spPr bwMode="auto">
          <a:xfrm>
            <a:off x="2124075" y="1557338"/>
            <a:ext cx="22320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3" name="Line 32"/>
          <p:cNvSpPr>
            <a:spLocks noChangeShapeType="1"/>
          </p:cNvSpPr>
          <p:nvPr/>
        </p:nvSpPr>
        <p:spPr bwMode="auto">
          <a:xfrm>
            <a:off x="2124075" y="2060575"/>
            <a:ext cx="2303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4" name="Line 33"/>
          <p:cNvSpPr>
            <a:spLocks noChangeShapeType="1"/>
          </p:cNvSpPr>
          <p:nvPr/>
        </p:nvSpPr>
        <p:spPr bwMode="auto">
          <a:xfrm flipV="1">
            <a:off x="2124075" y="2636838"/>
            <a:ext cx="22320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5" name="Line 34"/>
          <p:cNvSpPr>
            <a:spLocks noChangeShapeType="1"/>
          </p:cNvSpPr>
          <p:nvPr/>
        </p:nvSpPr>
        <p:spPr bwMode="auto">
          <a:xfrm>
            <a:off x="2124075" y="2636838"/>
            <a:ext cx="22320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6" name="Line 35"/>
          <p:cNvSpPr>
            <a:spLocks noChangeShapeType="1"/>
          </p:cNvSpPr>
          <p:nvPr/>
        </p:nvSpPr>
        <p:spPr bwMode="auto">
          <a:xfrm flipV="1">
            <a:off x="4500563" y="1484313"/>
            <a:ext cx="26638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7" name="Line 36"/>
          <p:cNvSpPr>
            <a:spLocks noChangeShapeType="1"/>
          </p:cNvSpPr>
          <p:nvPr/>
        </p:nvSpPr>
        <p:spPr bwMode="auto">
          <a:xfrm flipV="1">
            <a:off x="4427538" y="1989138"/>
            <a:ext cx="266541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8" name="Line 37"/>
          <p:cNvSpPr>
            <a:spLocks noChangeShapeType="1"/>
          </p:cNvSpPr>
          <p:nvPr/>
        </p:nvSpPr>
        <p:spPr bwMode="auto">
          <a:xfrm>
            <a:off x="4427538" y="2205038"/>
            <a:ext cx="273685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9" name="Line 38"/>
          <p:cNvSpPr>
            <a:spLocks noChangeShapeType="1"/>
          </p:cNvSpPr>
          <p:nvPr/>
        </p:nvSpPr>
        <p:spPr bwMode="auto">
          <a:xfrm flipV="1">
            <a:off x="4427538" y="2060575"/>
            <a:ext cx="2665412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000" name="Object 39"/>
          <p:cNvGraphicFramePr>
            <a:graphicFrameLocks noChangeAspect="1"/>
          </p:cNvGraphicFramePr>
          <p:nvPr/>
        </p:nvGraphicFramePr>
        <p:xfrm>
          <a:off x="2949575" y="3265488"/>
          <a:ext cx="5349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3446" imgH="133380" progId="Equation.3">
                  <p:embed/>
                </p:oleObj>
              </mc:Choice>
              <mc:Fallback>
                <p:oleObj name="Equation" r:id="rId25" imgW="133446" imgH="1333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3265488"/>
                        <a:ext cx="5349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1" name="Object 40"/>
          <p:cNvGraphicFramePr>
            <a:graphicFrameLocks noChangeAspect="1"/>
          </p:cNvGraphicFramePr>
          <p:nvPr/>
        </p:nvGraphicFramePr>
        <p:xfrm>
          <a:off x="5581650" y="3284538"/>
          <a:ext cx="5032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4266" imgH="142830" progId="Equation.3">
                  <p:embed/>
                </p:oleObj>
              </mc:Choice>
              <mc:Fallback>
                <p:oleObj name="Equation" r:id="rId27" imgW="114266" imgH="14283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284538"/>
                        <a:ext cx="5032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792A9C1-BE19-47CB-B578-4B08BB706C0A}" type="slidenum">
              <a:rPr lang="zh-CN" altLang="en-US"/>
              <a:pPr>
                <a:defRPr/>
              </a:pPr>
              <a:t>44</a:t>
            </a:fld>
            <a:r>
              <a:rPr lang="zh-CN" altLang="en-US"/>
              <a:t>页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Remark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关系的复合运算不满足交换律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即一般来说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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2-18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 </a:t>
            </a:r>
            <a:r>
              <a:rPr lang="en-US" altLang="zh-CN" dirty="0">
                <a:latin typeface="Times New Roman" pitchFamily="18" charset="0"/>
              </a:rPr>
              <a:t>={(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dirty="0" err="1">
                <a:latin typeface="Times New Roman" pitchFamily="18" charset="0"/>
              </a:rPr>
              <a:t>,</a:t>
            </a:r>
            <a:r>
              <a:rPr lang="en-US" altLang="zh-CN" i="1" dirty="0" err="1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)|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 err="1">
                <a:latin typeface="Times New Roman" pitchFamily="18" charset="0"/>
              </a:rPr>
              <a:t>y</a:t>
            </a:r>
            <a:r>
              <a:rPr lang="en-US" altLang="zh-CN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y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+1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itchFamily="18" charset="2"/>
              </a:rPr>
              <a:t>或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=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/2}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={(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)|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 err="1">
                <a:latin typeface="Times New Roman" pitchFamily="18" charset="0"/>
              </a:rPr>
              <a:t>y</a:t>
            </a:r>
            <a:r>
              <a:rPr lang="en-US" altLang="zh-CN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=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+2}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1116013" y="3284538"/>
          <a:ext cx="46545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90711" imgH="114210" progId="Equation.3">
                  <p:embed/>
                </p:oleObj>
              </mc:Choice>
              <mc:Fallback>
                <p:oleObj name="公式" r:id="rId2" imgW="1790711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284538"/>
                        <a:ext cx="46545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555530"/>
              </p:ext>
            </p:extLst>
          </p:nvPr>
        </p:nvGraphicFramePr>
        <p:xfrm>
          <a:off x="5867400" y="4005064"/>
          <a:ext cx="22002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00134" imgH="114210" progId="Equation.3">
                  <p:embed/>
                </p:oleObj>
              </mc:Choice>
              <mc:Fallback>
                <p:oleObj name="公式" r:id="rId4" imgW="800134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005064"/>
                        <a:ext cx="22002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257946"/>
              </p:ext>
            </p:extLst>
          </p:nvPr>
        </p:nvGraphicFramePr>
        <p:xfrm>
          <a:off x="2594025" y="4724400"/>
          <a:ext cx="29860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24023" imgH="114210" progId="Equation.3">
                  <p:embed/>
                </p:oleObj>
              </mc:Choice>
              <mc:Fallback>
                <p:oleObj name="公式" r:id="rId6" imgW="1124023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4025" y="4724400"/>
                        <a:ext cx="29860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6"/>
          <p:cNvGraphicFramePr>
            <a:graphicFrameLocks noChangeAspect="1"/>
          </p:cNvGraphicFramePr>
          <p:nvPr/>
        </p:nvGraphicFramePr>
        <p:xfrm>
          <a:off x="2555875" y="5445125"/>
          <a:ext cx="389731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86001" imgH="114210" progId="Equation.3">
                  <p:embed/>
                </p:oleObj>
              </mc:Choice>
              <mc:Fallback>
                <p:oleObj name="公式" r:id="rId8" imgW="1486001" imgH="1142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445125"/>
                        <a:ext cx="389731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19F2C61-08B3-0B51-38C5-B3FE0DB9573E}"/>
              </a:ext>
            </a:extLst>
          </p:cNvPr>
          <p:cNvSpPr txBox="1"/>
          <p:nvPr/>
        </p:nvSpPr>
        <p:spPr>
          <a:xfrm>
            <a:off x="2267744" y="1556792"/>
            <a:ext cx="6920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i="1" dirty="0">
                <a:solidFill>
                  <a:srgbClr val="002E2D"/>
                </a:solidFill>
                <a:latin typeface="Times New Roman" pitchFamily="18" charset="0"/>
              </a:rPr>
              <a:t>A </a:t>
            </a:r>
            <a:r>
              <a:rPr lang="en-US" altLang="zh-CN" dirty="0">
                <a:solidFill>
                  <a:srgbClr val="002E2D"/>
                </a:solidFill>
                <a:latin typeface="Times New Roman" pitchFamily="18" charset="0"/>
              </a:rPr>
              <a:t>={0, 1, </a:t>
            </a:r>
            <a:r>
              <a:rPr lang="en-US" altLang="zh-CN" dirty="0">
                <a:solidFill>
                  <a:srgbClr val="002E2D"/>
                </a:solidFill>
                <a:latin typeface="Times New Roman" pitchFamily="18" charset="0"/>
                <a:sym typeface="Symbol" pitchFamily="18" charset="2"/>
              </a:rPr>
              <a:t>2, 3}, </a:t>
            </a:r>
            <a:r>
              <a:rPr lang="en-US" altLang="zh-CN" i="1" dirty="0">
                <a:solidFill>
                  <a:srgbClr val="002E2D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002E2D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600" dirty="0">
                <a:solidFill>
                  <a:srgbClr val="002E2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i="1" dirty="0">
                <a:solidFill>
                  <a:srgbClr val="002E2D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zh-CN" altLang="en-US" sz="3600" dirty="0">
                <a:solidFill>
                  <a:srgbClr val="002E2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solidFill>
                  <a:srgbClr val="002E2D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sz="3600" dirty="0">
                <a:solidFill>
                  <a:srgbClr val="002E2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上的关系</a:t>
            </a:r>
            <a:endParaRPr lang="en-US" altLang="zh-CN" sz="3600" dirty="0">
              <a:solidFill>
                <a:srgbClr val="002E2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33E07CA-BAB2-473B-9CEF-7AB221EFBC51}" type="slidenum">
              <a:rPr lang="zh-CN" altLang="en-US"/>
              <a:pPr>
                <a:defRPr/>
              </a:pPr>
              <a:t>45</a:t>
            </a:fld>
            <a:r>
              <a:rPr lang="zh-CN" altLang="en-US"/>
              <a:t>页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/>
          </p:nvPr>
        </p:nvSpPr>
        <p:spPr>
          <a:xfrm>
            <a:off x="0" y="44624"/>
            <a:ext cx="9144000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Theorem 2-4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1600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Proof (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altLang="zh-CN" dirty="0"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00878"/>
              </p:ext>
            </p:extLst>
          </p:nvPr>
        </p:nvGraphicFramePr>
        <p:xfrm>
          <a:off x="1826667" y="720459"/>
          <a:ext cx="537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5967" imgH="114210" progId="Equation.3">
                  <p:embed/>
                </p:oleObj>
              </mc:Choice>
              <mc:Fallback>
                <p:oleObj name="公式" r:id="rId2" imgW="2085967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667" y="720459"/>
                        <a:ext cx="5372100" cy="495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380710"/>
              </p:ext>
            </p:extLst>
          </p:nvPr>
        </p:nvGraphicFramePr>
        <p:xfrm>
          <a:off x="395536" y="2200010"/>
          <a:ext cx="82343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38624" imgH="114210" progId="Equation.3">
                  <p:embed/>
                </p:oleObj>
              </mc:Choice>
              <mc:Fallback>
                <p:oleObj name="公式" r:id="rId4" imgW="3238624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200010"/>
                        <a:ext cx="82343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715919"/>
              </p:ext>
            </p:extLst>
          </p:nvPr>
        </p:nvGraphicFramePr>
        <p:xfrm>
          <a:off x="1512358" y="3063610"/>
          <a:ext cx="6286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57399" imgH="114210" progId="Equation.3">
                  <p:embed/>
                </p:oleObj>
              </mc:Choice>
              <mc:Fallback>
                <p:oleObj name="公式" r:id="rId6" imgW="2457399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58" y="3063610"/>
                        <a:ext cx="6286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582888"/>
              </p:ext>
            </p:extLst>
          </p:nvPr>
        </p:nvGraphicFramePr>
        <p:xfrm>
          <a:off x="1512358" y="3869804"/>
          <a:ext cx="40862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2179" imgH="114210" progId="Equation.3">
                  <p:embed/>
                </p:oleObj>
              </mc:Choice>
              <mc:Fallback>
                <p:oleObj name="公式" r:id="rId8" imgW="1562179" imgH="1142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58" y="3869804"/>
                        <a:ext cx="40862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066063"/>
              </p:ext>
            </p:extLst>
          </p:nvPr>
        </p:nvGraphicFramePr>
        <p:xfrm>
          <a:off x="1512358" y="4724930"/>
          <a:ext cx="32686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8289" imgH="114210" progId="Equation.3">
                  <p:embed/>
                </p:oleObj>
              </mc:Choice>
              <mc:Fallback>
                <p:oleObj name="公式" r:id="rId10" imgW="1238289" imgH="1142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358" y="4724930"/>
                        <a:ext cx="32686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47028"/>
              </p:ext>
            </p:extLst>
          </p:nvPr>
        </p:nvGraphicFramePr>
        <p:xfrm>
          <a:off x="2483768" y="1387020"/>
          <a:ext cx="35512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52556" imgH="114210" progId="Equation.3">
                  <p:embed/>
                </p:oleObj>
              </mc:Choice>
              <mc:Fallback>
                <p:oleObj name="公式" r:id="rId12" imgW="1352556" imgH="1142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387020"/>
                        <a:ext cx="35512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103787"/>
              </p:ext>
            </p:extLst>
          </p:nvPr>
        </p:nvGraphicFramePr>
        <p:xfrm>
          <a:off x="1524107" y="5884156"/>
          <a:ext cx="3740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28733" imgH="114210" progId="Equation.3">
                  <p:embed/>
                </p:oleObj>
              </mc:Choice>
              <mc:Fallback>
                <p:oleObj name="公式" r:id="rId14" imgW="1428733" imgH="1142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107" y="5884156"/>
                        <a:ext cx="37401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347D821-412C-5BE6-0C3C-668EF236F7E3}"/>
                  </a:ext>
                </a:extLst>
              </p:cNvPr>
              <p:cNvSpPr txBox="1"/>
              <p:nvPr/>
            </p:nvSpPr>
            <p:spPr>
              <a:xfrm>
                <a:off x="3347120" y="98556"/>
                <a:ext cx="55453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lang="zh-CN" altLang="en-US" sz="2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✖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B, 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S</a:t>
                </a:r>
                <a:r>
                  <a:rPr lang="en-US" altLang="zh-CN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B</a:t>
                </a:r>
                <a:r>
                  <a:rPr lang="zh-CN" altLang="en-US" sz="2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✖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C, 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C</a:t>
                </a:r>
                <a:r>
                  <a:rPr lang="zh-CN" altLang="en-US" sz="2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✖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D.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347D821-412C-5BE6-0C3C-668EF236F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120" y="98556"/>
                <a:ext cx="5545360" cy="584775"/>
              </a:xfrm>
              <a:prstGeom prst="rect">
                <a:avLst/>
              </a:prstGeom>
              <a:blipFill>
                <a:blip r:embed="rId16"/>
                <a:stretch>
                  <a:fillRect l="-2747" t="-14583" b="-32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077FAFF-4B05-C343-999E-9A42996EB788}"/>
              </a:ext>
            </a:extLst>
          </p:cNvPr>
          <p:cNvCxnSpPr>
            <a:cxnSpLocks/>
          </p:cNvCxnSpPr>
          <p:nvPr/>
        </p:nvCxnSpPr>
        <p:spPr bwMode="auto">
          <a:xfrm>
            <a:off x="3923928" y="2666357"/>
            <a:ext cx="1080120" cy="0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607B-5013-DA11-B7A4-85F33B12A8E3}"/>
              </a:ext>
            </a:extLst>
          </p:cNvPr>
          <p:cNvCxnSpPr>
            <a:cxnSpLocks/>
          </p:cNvCxnSpPr>
          <p:nvPr/>
        </p:nvCxnSpPr>
        <p:spPr bwMode="auto">
          <a:xfrm>
            <a:off x="4860032" y="3558910"/>
            <a:ext cx="2807593" cy="0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A75111C-9D9D-4D15-ACAB-2470B15F982E}"/>
              </a:ext>
            </a:extLst>
          </p:cNvPr>
          <p:cNvCxnSpPr>
            <a:cxnSpLocks/>
          </p:cNvCxnSpPr>
          <p:nvPr/>
        </p:nvCxnSpPr>
        <p:spPr bwMode="auto">
          <a:xfrm>
            <a:off x="5264257" y="2666357"/>
            <a:ext cx="1684007" cy="0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297D060-45ED-A134-A60E-28686A5E8B40}"/>
              </a:ext>
            </a:extLst>
          </p:cNvPr>
          <p:cNvCxnSpPr>
            <a:cxnSpLocks/>
          </p:cNvCxnSpPr>
          <p:nvPr/>
        </p:nvCxnSpPr>
        <p:spPr bwMode="auto">
          <a:xfrm>
            <a:off x="3673176" y="4365104"/>
            <a:ext cx="1925407" cy="0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AD64B8F3-81C1-498E-985A-D8F86C775F8A}" type="slidenum">
              <a:rPr lang="zh-CN" altLang="en-US"/>
              <a:pPr>
                <a:defRPr/>
              </a:pPr>
              <a:t>46</a:t>
            </a:fld>
            <a:r>
              <a:rPr lang="zh-CN" altLang="en-US"/>
              <a:t>页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Theorem 2-5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 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复合运算对并运算可分配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Remark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一般来说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44036" name="Object 3"/>
          <p:cNvGraphicFramePr>
            <a:graphicFrameLocks noChangeAspect="1"/>
          </p:cNvGraphicFramePr>
          <p:nvPr/>
        </p:nvGraphicFramePr>
        <p:xfrm>
          <a:off x="1341438" y="2565400"/>
          <a:ext cx="48148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7434" imgH="114210" progId="Equation.3">
                  <p:embed/>
                </p:oleObj>
              </mc:Choice>
              <mc:Fallback>
                <p:oleObj name="公式" r:id="rId2" imgW="1857434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2565400"/>
                        <a:ext cx="48148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4"/>
          <p:cNvGraphicFramePr>
            <a:graphicFrameLocks noChangeAspect="1"/>
          </p:cNvGraphicFramePr>
          <p:nvPr/>
        </p:nvGraphicFramePr>
        <p:xfrm>
          <a:off x="2622550" y="1700213"/>
          <a:ext cx="47831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7979" imgH="114210" progId="Equation.3">
                  <p:embed/>
                </p:oleObj>
              </mc:Choice>
              <mc:Fallback>
                <p:oleObj name="公式" r:id="rId4" imgW="1847979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700213"/>
                        <a:ext cx="47831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5"/>
          <p:cNvGraphicFramePr>
            <a:graphicFrameLocks noChangeAspect="1"/>
          </p:cNvGraphicFramePr>
          <p:nvPr/>
        </p:nvGraphicFramePr>
        <p:xfrm>
          <a:off x="4360863" y="4149725"/>
          <a:ext cx="47831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7979" imgH="114210" progId="Equation.3">
                  <p:embed/>
                </p:oleObj>
              </mc:Choice>
              <mc:Fallback>
                <p:oleObj name="公式" r:id="rId6" imgW="1847979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863" y="4149725"/>
                        <a:ext cx="47831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F3782B-AF20-97E4-0CD0-2AFADF3A434B}"/>
                  </a:ext>
                </a:extLst>
              </p:cNvPr>
              <p:cNvSpPr txBox="1"/>
              <p:nvPr/>
            </p:nvSpPr>
            <p:spPr>
              <a:xfrm>
                <a:off x="3383645" y="183863"/>
                <a:ext cx="55453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A</a:t>
                </a:r>
                <a:r>
                  <a:rPr lang="zh-CN" altLang="en-US" sz="2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✖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B,   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S,T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Times New Roman" pitchFamily="18" charset="0"/>
                  </a:rPr>
                  <a:t>B</a:t>
                </a:r>
                <a:r>
                  <a:rPr lang="zh-CN" altLang="en-US" sz="26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✖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C.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F3782B-AF20-97E4-0CD0-2AFADF3A4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645" y="183863"/>
                <a:ext cx="5545360" cy="584775"/>
              </a:xfrm>
              <a:prstGeom prst="rect">
                <a:avLst/>
              </a:prstGeom>
              <a:blipFill>
                <a:blip r:embed="rId8"/>
                <a:stretch>
                  <a:fillRect l="-2747" t="-14583" b="-32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13251DD-36CE-4FEB-9835-C377CDB3C3FC}" type="slidenum">
              <a:rPr lang="zh-CN" altLang="en-US"/>
              <a:pPr>
                <a:defRPr/>
              </a:pPr>
              <a:t>47</a:t>
            </a:fld>
            <a:r>
              <a:rPr lang="zh-CN" altLang="en-US"/>
              <a:t>页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2-20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  <p:graphicFrame>
        <p:nvGraphicFramePr>
          <p:cNvPr id="450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510962"/>
              </p:ext>
            </p:extLst>
          </p:nvPr>
        </p:nvGraphicFramePr>
        <p:xfrm>
          <a:off x="3818036" y="1052513"/>
          <a:ext cx="27701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28666" imgH="114210" progId="Equation.3">
                  <p:embed/>
                </p:oleObj>
              </mc:Choice>
              <mc:Fallback>
                <p:oleObj name="公式" r:id="rId2" imgW="1028666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036" y="1052513"/>
                        <a:ext cx="27701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4"/>
          <p:cNvGraphicFramePr>
            <a:graphicFrameLocks noChangeAspect="1"/>
          </p:cNvGraphicFramePr>
          <p:nvPr/>
        </p:nvGraphicFramePr>
        <p:xfrm>
          <a:off x="2411413" y="3644900"/>
          <a:ext cx="47831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7979" imgH="114210" progId="Equation.3">
                  <p:embed/>
                </p:oleObj>
              </mc:Choice>
              <mc:Fallback>
                <p:oleObj name="公式" r:id="rId4" imgW="1847979" imgH="1142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644900"/>
                        <a:ext cx="47831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067616"/>
              </p:ext>
            </p:extLst>
          </p:nvPr>
        </p:nvGraphicFramePr>
        <p:xfrm>
          <a:off x="2195736" y="260648"/>
          <a:ext cx="22336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9043" imgH="114210" progId="Equation.3">
                  <p:embed/>
                </p:oleObj>
              </mc:Choice>
              <mc:Fallback>
                <p:oleObj name="公式" r:id="rId6" imgW="819043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60648"/>
                        <a:ext cx="22336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9539"/>
              </p:ext>
            </p:extLst>
          </p:nvPr>
        </p:nvGraphicFramePr>
        <p:xfrm>
          <a:off x="3851920" y="1916113"/>
          <a:ext cx="1857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6688" imgH="114210" progId="Equation.3">
                  <p:embed/>
                </p:oleObj>
              </mc:Choice>
              <mc:Fallback>
                <p:oleObj name="公式" r:id="rId8" imgW="666688" imgH="1142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916113"/>
                        <a:ext cx="18573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7"/>
          <p:cNvGraphicFramePr>
            <a:graphicFrameLocks noChangeAspect="1"/>
          </p:cNvGraphicFramePr>
          <p:nvPr/>
        </p:nvGraphicFramePr>
        <p:xfrm>
          <a:off x="3851275" y="2708275"/>
          <a:ext cx="1857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66688" imgH="114210" progId="Equation.3">
                  <p:embed/>
                </p:oleObj>
              </mc:Choice>
              <mc:Fallback>
                <p:oleObj name="公式" r:id="rId10" imgW="666688" imgH="1142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708275"/>
                        <a:ext cx="18573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8"/>
          <p:cNvGraphicFramePr>
            <a:graphicFrameLocks noChangeAspect="1"/>
          </p:cNvGraphicFramePr>
          <p:nvPr/>
        </p:nvGraphicFramePr>
        <p:xfrm>
          <a:off x="2411413" y="4581525"/>
          <a:ext cx="48148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57434" imgH="114210" progId="Equation.3">
                  <p:embed/>
                </p:oleObj>
              </mc:Choice>
              <mc:Fallback>
                <p:oleObj name="公式" r:id="rId12" imgW="1857434" imgH="1142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581525"/>
                        <a:ext cx="48148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92F1218-6D7F-4892-8523-F9F2D718EF6E}" type="slidenum">
              <a:rPr lang="zh-CN" altLang="en-US"/>
              <a:pPr>
                <a:defRPr/>
              </a:pPr>
              <a:t>48</a:t>
            </a:fld>
            <a:r>
              <a:rPr lang="zh-CN" altLang="en-US"/>
              <a:t>页</a:t>
            </a:r>
          </a:p>
        </p:txBody>
      </p:sp>
      <p:sp>
        <p:nvSpPr>
          <p:cNvPr id="4608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下述定理给出复合运算与逆运算之间的关系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Theorem 2-6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Proof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46084" name="Object 3"/>
          <p:cNvGraphicFramePr>
            <a:graphicFrameLocks noChangeAspect="1"/>
          </p:cNvGraphicFramePr>
          <p:nvPr/>
        </p:nvGraphicFramePr>
        <p:xfrm>
          <a:off x="3419475" y="1341438"/>
          <a:ext cx="32051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9655" imgH="142830" progId="Equation.3">
                  <p:embed/>
                </p:oleObj>
              </mc:Choice>
              <mc:Fallback>
                <p:oleObj name="公式" r:id="rId2" imgW="1209655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341438"/>
                        <a:ext cx="320516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654180"/>
              </p:ext>
            </p:extLst>
          </p:nvPr>
        </p:nvGraphicFramePr>
        <p:xfrm>
          <a:off x="2124075" y="2132856"/>
          <a:ext cx="52181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4" imgH="142830" progId="Equation.3">
                  <p:embed/>
                </p:oleObj>
              </mc:Choice>
              <mc:Fallback>
                <p:oleObj name="Equation" r:id="rId4" imgW="2019244" imgH="1428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32856"/>
                        <a:ext cx="52181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443415"/>
              </p:ext>
            </p:extLst>
          </p:nvPr>
        </p:nvGraphicFramePr>
        <p:xfrm>
          <a:off x="2129631" y="2997200"/>
          <a:ext cx="4746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114210" progId="Equation.3">
                  <p:embed/>
                </p:oleObj>
              </mc:Choice>
              <mc:Fallback>
                <p:oleObj name="Equation" r:id="rId6" imgW="1828800" imgH="1142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631" y="2997200"/>
                        <a:ext cx="4746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6"/>
          <p:cNvGraphicFramePr>
            <a:graphicFrameLocks noChangeAspect="1"/>
          </p:cNvGraphicFramePr>
          <p:nvPr/>
        </p:nvGraphicFramePr>
        <p:xfrm>
          <a:off x="2124075" y="3789363"/>
          <a:ext cx="52498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38423" imgH="142830" progId="Equation.3">
                  <p:embed/>
                </p:oleObj>
              </mc:Choice>
              <mc:Fallback>
                <p:oleObj name="公式" r:id="rId8" imgW="2038423" imgH="1428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789363"/>
                        <a:ext cx="524986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49841"/>
              </p:ext>
            </p:extLst>
          </p:nvPr>
        </p:nvGraphicFramePr>
        <p:xfrm>
          <a:off x="2010569" y="5800725"/>
          <a:ext cx="51228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81155" imgH="142830" progId="Equation.3">
                  <p:embed/>
                </p:oleObj>
              </mc:Choice>
              <mc:Fallback>
                <p:oleObj name="公式" r:id="rId10" imgW="1981155" imgH="1428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569" y="5800725"/>
                        <a:ext cx="512286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8"/>
          <p:cNvGraphicFramePr>
            <a:graphicFrameLocks noChangeAspect="1"/>
          </p:cNvGraphicFramePr>
          <p:nvPr/>
        </p:nvGraphicFramePr>
        <p:xfrm>
          <a:off x="2124075" y="4652963"/>
          <a:ext cx="30813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62112" imgH="142830" progId="Equation.3">
                  <p:embed/>
                </p:oleObj>
              </mc:Choice>
              <mc:Fallback>
                <p:oleObj name="公式" r:id="rId12" imgW="1162112" imgH="1428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652963"/>
                        <a:ext cx="30813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2959E8AD-030D-46DB-BF3D-A7F5E4337278}" type="slidenum">
              <a:rPr lang="zh-CN" altLang="en-US"/>
              <a:pPr>
                <a:defRPr/>
              </a:pPr>
              <a:t>49</a:t>
            </a:fld>
            <a:r>
              <a:rPr lang="zh-CN" altLang="en-US"/>
              <a:t>页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(power)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运算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一般来说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没有意义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2411413" y="1268413"/>
          <a:ext cx="4049712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00268" imgH="114210" progId="Equation.3">
                  <p:embed/>
                </p:oleObj>
              </mc:Choice>
              <mc:Fallback>
                <p:oleObj name="公式" r:id="rId2" imgW="1600268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268413"/>
                        <a:ext cx="4049712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Freeform 4"/>
          <p:cNvSpPr>
            <a:spLocks/>
          </p:cNvSpPr>
          <p:nvPr/>
        </p:nvSpPr>
        <p:spPr bwMode="auto">
          <a:xfrm>
            <a:off x="4716016" y="1773635"/>
            <a:ext cx="1008063" cy="503237"/>
          </a:xfrm>
          <a:custGeom>
            <a:avLst/>
            <a:gdLst>
              <a:gd name="T0" fmla="*/ 0 w 635"/>
              <a:gd name="T1" fmla="*/ 0 h 317"/>
              <a:gd name="T2" fmla="*/ 2147483647 w 635"/>
              <a:gd name="T3" fmla="*/ 2147483647 h 317"/>
              <a:gd name="T4" fmla="*/ 2147483647 w 635"/>
              <a:gd name="T5" fmla="*/ 2147483647 h 317"/>
              <a:gd name="T6" fmla="*/ 2147483647 w 635"/>
              <a:gd name="T7" fmla="*/ 2147483647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635"/>
              <a:gd name="T13" fmla="*/ 0 h 317"/>
              <a:gd name="T14" fmla="*/ 635 w 635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5" h="317">
                <a:moveTo>
                  <a:pt x="0" y="0"/>
                </a:moveTo>
                <a:cubicBezTo>
                  <a:pt x="49" y="113"/>
                  <a:pt x="98" y="227"/>
                  <a:pt x="181" y="272"/>
                </a:cubicBezTo>
                <a:cubicBezTo>
                  <a:pt x="264" y="317"/>
                  <a:pt x="424" y="310"/>
                  <a:pt x="499" y="272"/>
                </a:cubicBezTo>
                <a:cubicBezTo>
                  <a:pt x="574" y="234"/>
                  <a:pt x="604" y="139"/>
                  <a:pt x="635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DC82E2C2-0C5B-4CE6-8FA6-1892FFC14F40}" type="slidenum">
              <a:rPr lang="zh-CN" altLang="en-US"/>
              <a:pPr/>
              <a:t>50</a:t>
            </a:fld>
            <a:r>
              <a:rPr lang="zh-CN" altLang="en-US"/>
              <a:t>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4" name="Rectangle 4"/>
              <p:cNvSpPr>
                <a:spLocks noGrp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𝑹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:</m:t>
                    </m:r>
                  </m:oMath>
                </a14:m>
                <a:endParaRPr lang="en-US" altLang="zh-CN" dirty="0"/>
              </a:p>
              <a:p>
                <a:pPr indent="0">
                  <a:buNone/>
                </a:pPr>
                <a:r>
                  <a:rPr lang="en-US" altLang="zh-CN" dirty="0"/>
                  <a:t>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𝑹</m:t>
                      </m:r>
                    </m:oMath>
                  </m:oMathPara>
                </a14:m>
                <a:endParaRPr lang="en-US" altLang="zh-CN" dirty="0"/>
              </a:p>
              <a:p>
                <a:pPr indent="0">
                  <a:buNone/>
                </a:pPr>
                <a:r>
                  <a:rPr lang="en-US" altLang="zh-CN" b="1" dirty="0"/>
                  <a:t>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𝑹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∘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𝑹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limUpp>
                      <m:limUp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/>
                              </m:rPr>
                              <a:rPr lang="en-US" altLang="zh-CN" b="1" i="1" smtClean="0">
                                <a:latin typeface="Cambria Math"/>
                              </a:rPr>
                              <m:t>𝑹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∘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𝑹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∘⋯∘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𝑹</m:t>
                            </m:r>
                          </m:e>
                        </m:groupChr>
                      </m:e>
                      <m:lim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lim>
                    </m:limUpp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∘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𝑹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2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324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3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087145"/>
              </p:ext>
            </p:extLst>
          </p:nvPr>
        </p:nvGraphicFramePr>
        <p:xfrm>
          <a:off x="4283968" y="2708920"/>
          <a:ext cx="1889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5960" imgH="190440" progId="Equation.3">
                  <p:embed/>
                </p:oleObj>
              </mc:Choice>
              <mc:Fallback>
                <p:oleObj name="公式" r:id="rId4" imgW="7596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2708920"/>
                        <a:ext cx="1889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8162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2E60112C-BF93-4965-8CC6-C5A2DB0957E0}" type="slidenum">
              <a:rPr lang="zh-CN" altLang="en-US"/>
              <a:pPr>
                <a:defRPr/>
              </a:pPr>
              <a:t>51</a:t>
            </a:fld>
            <a:r>
              <a:rPr lang="zh-CN" altLang="en-US"/>
              <a:t>页</a:t>
            </a:r>
          </a:p>
        </p:txBody>
      </p:sp>
      <p:sp>
        <p:nvSpPr>
          <p:cNvPr id="49155" name="Rectangle 2"/>
          <p:cNvSpPr>
            <a:spLocks noGrp="1" noChangeArrowheads="1"/>
          </p:cNvSpPr>
          <p:nvPr>
            <p:ph/>
          </p:nvPr>
        </p:nvSpPr>
        <p:spPr>
          <a:xfrm>
            <a:off x="0" y="0"/>
            <a:ext cx="9144000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方幂运算的性质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(3)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49156" name="Object 3"/>
          <p:cNvGraphicFramePr>
            <a:graphicFrameLocks noChangeAspect="1"/>
          </p:cNvGraphicFramePr>
          <p:nvPr/>
        </p:nvGraphicFramePr>
        <p:xfrm>
          <a:off x="1403350" y="908050"/>
          <a:ext cx="24209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95221" imgH="104760" progId="Equation.3">
                  <p:embed/>
                </p:oleObj>
              </mc:Choice>
              <mc:Fallback>
                <p:oleObj name="公式" r:id="rId2" imgW="895221" imgH="1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908050"/>
                        <a:ext cx="242093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025234"/>
              </p:ext>
            </p:extLst>
          </p:nvPr>
        </p:nvGraphicFramePr>
        <p:xfrm>
          <a:off x="1476375" y="1556792"/>
          <a:ext cx="19177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868" imgH="180900" progId="Equation.3">
                  <p:embed/>
                </p:oleObj>
              </mc:Choice>
              <mc:Fallback>
                <p:oleObj name="公式" r:id="rId4" imgW="685868" imgH="180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556792"/>
                        <a:ext cx="19177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5"/>
          <p:cNvGraphicFramePr>
            <a:graphicFrameLocks noChangeAspect="1"/>
          </p:cNvGraphicFramePr>
          <p:nvPr/>
        </p:nvGraphicFramePr>
        <p:xfrm>
          <a:off x="1403350" y="2349500"/>
          <a:ext cx="235902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66857" imgH="180900" progId="Equation.3">
                  <p:embed/>
                </p:oleObj>
              </mc:Choice>
              <mc:Fallback>
                <p:oleObj name="公式" r:id="rId6" imgW="866857" imgH="180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49500"/>
                        <a:ext cx="2359025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977EA20-33C2-4702-8FBE-621245943285}" type="slidenum">
              <a:rPr lang="zh-CN" altLang="en-US"/>
              <a:pPr>
                <a:defRPr/>
              </a:pPr>
              <a:t>52</a:t>
            </a:fld>
            <a:r>
              <a:rPr lang="zh-CN" altLang="en-US"/>
              <a:t>页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</a:rPr>
              <a:t>2-21</a:t>
            </a:r>
            <a:r>
              <a:rPr lang="en-US" altLang="zh-CN" i="1" dirty="0">
                <a:latin typeface="Times New Roman" pitchFamily="18" charset="0"/>
              </a:rPr>
              <a:t>         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}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50180" name="Object 3"/>
          <p:cNvGraphicFramePr>
            <a:graphicFrameLocks noChangeAspect="1"/>
          </p:cNvGraphicFramePr>
          <p:nvPr/>
        </p:nvGraphicFramePr>
        <p:xfrm>
          <a:off x="2611438" y="1196975"/>
          <a:ext cx="36798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0099" imgH="114210" progId="Equation.3">
                  <p:embed/>
                </p:oleObj>
              </mc:Choice>
              <mc:Fallback>
                <p:oleObj name="公式" r:id="rId2" imgW="1400099" imgH="1142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1196975"/>
                        <a:ext cx="36798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/>
        </p:nvGraphicFramePr>
        <p:xfrm>
          <a:off x="2063750" y="2174875"/>
          <a:ext cx="50323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066" imgH="142830" progId="Equation.3">
                  <p:embed/>
                </p:oleObj>
              </mc:Choice>
              <mc:Fallback>
                <p:oleObj name="公式" r:id="rId4" imgW="1943066" imgH="1428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174875"/>
                        <a:ext cx="50323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5"/>
          <p:cNvGraphicFramePr>
            <a:graphicFrameLocks noChangeAspect="1"/>
          </p:cNvGraphicFramePr>
          <p:nvPr/>
        </p:nvGraphicFramePr>
        <p:xfrm>
          <a:off x="1206500" y="3429000"/>
          <a:ext cx="6918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111" imgH="142830" progId="Equation.3">
                  <p:embed/>
                </p:oleObj>
              </mc:Choice>
              <mc:Fallback>
                <p:oleObj name="公式" r:id="rId6" imgW="2705111" imgH="1428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429000"/>
                        <a:ext cx="69183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9098654-30E8-424E-A384-7489A07DD26B}" type="slidenum">
              <a:rPr lang="zh-CN" altLang="en-US"/>
              <a:pPr>
                <a:defRPr/>
              </a:pPr>
              <a:t>53</a:t>
            </a:fld>
            <a:r>
              <a:rPr lang="zh-CN" altLang="en-US"/>
              <a:t>页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>
                <a:latin typeface="Times New Roman" pitchFamily="18" charset="0"/>
              </a:rPr>
              <a:t>2.2.4 *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的其他运算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在具体应用中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如在数据库理论中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还会涉及到关系的其他运算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如关系的连接运算、关系的投影运算、关系的限制运算、关系的除运算等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由于篇幅限制和侧重点不同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再此不作讨论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种闭包运算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C59E33E-F614-4E81-A4E3-A21E163AF045}" type="slidenum">
              <a:rPr lang="zh-CN" altLang="en-US"/>
              <a:pPr>
                <a:defRPr/>
              </a:pPr>
              <a:t>54</a:t>
            </a:fld>
            <a:r>
              <a:rPr lang="zh-CN" altLang="en-US"/>
              <a:t>页</a:t>
            </a:r>
          </a:p>
        </p:txBody>
      </p:sp>
      <p:sp>
        <p:nvSpPr>
          <p:cNvPr id="172034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/>
              <a:t>小结与作业</a:t>
            </a:r>
          </a:p>
        </p:txBody>
      </p:sp>
      <p:grpSp>
        <p:nvGrpSpPr>
          <p:cNvPr id="53253" name="Group 4"/>
          <p:cNvGrpSpPr>
            <a:grpSpLocks/>
          </p:cNvGrpSpPr>
          <p:nvPr/>
        </p:nvGrpSpPr>
        <p:grpSpPr bwMode="auto">
          <a:xfrm>
            <a:off x="1042988" y="1268413"/>
            <a:ext cx="5181600" cy="508000"/>
            <a:chOff x="1419" y="1480"/>
            <a:chExt cx="3575" cy="363"/>
          </a:xfrm>
        </p:grpSpPr>
        <p:grpSp>
          <p:nvGrpSpPr>
            <p:cNvPr id="53282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7203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7203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关系的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5</a:t>
                </a:r>
                <a:r>
                  <a:rPr lang="zh-CN" altLang="en-US">
                    <a:solidFill>
                      <a:schemeClr val="tx1"/>
                    </a:solidFill>
                  </a:rPr>
                  <a:t>种集合运算</a:t>
                </a:r>
              </a:p>
            </p:txBody>
          </p:sp>
        </p:grpSp>
        <p:sp>
          <p:nvSpPr>
            <p:cNvPr id="172040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284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254" name="Group 10"/>
          <p:cNvGrpSpPr>
            <a:grpSpLocks/>
          </p:cNvGrpSpPr>
          <p:nvPr/>
        </p:nvGrpSpPr>
        <p:grpSpPr bwMode="auto">
          <a:xfrm>
            <a:off x="1763713" y="2276475"/>
            <a:ext cx="5181600" cy="508000"/>
            <a:chOff x="1419" y="1480"/>
            <a:chExt cx="3575" cy="363"/>
          </a:xfrm>
        </p:grpSpPr>
        <p:grpSp>
          <p:nvGrpSpPr>
            <p:cNvPr id="53277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7204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7204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itchFamily="18" charset="0"/>
                  </a:rPr>
                  <a:t>-1</a:t>
                </a:r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及性质</a:t>
                </a:r>
              </a:p>
            </p:txBody>
          </p:sp>
        </p:grpSp>
        <p:sp>
          <p:nvSpPr>
            <p:cNvPr id="17204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27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255" name="Group 16"/>
          <p:cNvGrpSpPr>
            <a:grpSpLocks/>
          </p:cNvGrpSpPr>
          <p:nvPr/>
        </p:nvGrpSpPr>
        <p:grpSpPr bwMode="auto">
          <a:xfrm>
            <a:off x="2051050" y="3284538"/>
            <a:ext cx="5181600" cy="508000"/>
            <a:chOff x="1419" y="1480"/>
            <a:chExt cx="3575" cy="363"/>
          </a:xfrm>
        </p:grpSpPr>
        <p:grpSp>
          <p:nvGrpSpPr>
            <p:cNvPr id="53272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72050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72051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 baseline="-10000">
                    <a:solidFill>
                      <a:schemeClr val="tx1"/>
                    </a:solidFill>
                    <a:latin typeface="Times New Roman" pitchFamily="18" charset="0"/>
                    <a:cs typeface="Arial Unicode MS" pitchFamily="34" charset="-122"/>
                  </a:rPr>
                  <a:t>º</a:t>
                </a:r>
                <a:r>
                  <a:rPr lang="en-US" altLang="zh-CN" i="1" baseline="-10000">
                    <a:solidFill>
                      <a:schemeClr val="tx1"/>
                    </a:solidFill>
                    <a:latin typeface="Times New Roman" pitchFamily="18" charset="0"/>
                    <a:cs typeface="Arial Unicode MS" pitchFamily="34" charset="-122"/>
                  </a:rPr>
                  <a:t> 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S</a:t>
                </a:r>
                <a:r>
                  <a:rPr lang="zh-CN" altLang="en-US">
                    <a:solidFill>
                      <a:schemeClr val="tx1"/>
                    </a:solidFill>
                  </a:rPr>
                  <a:t>及性质</a:t>
                </a:r>
              </a:p>
            </p:txBody>
          </p:sp>
        </p:grpSp>
        <p:sp>
          <p:nvSpPr>
            <p:cNvPr id="172052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274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256" name="Group 22"/>
          <p:cNvGrpSpPr>
            <a:grpSpLocks/>
          </p:cNvGrpSpPr>
          <p:nvPr/>
        </p:nvGrpSpPr>
        <p:grpSpPr bwMode="auto">
          <a:xfrm>
            <a:off x="1835150" y="4292600"/>
            <a:ext cx="5181600" cy="508000"/>
            <a:chOff x="1419" y="1480"/>
            <a:chExt cx="3575" cy="363"/>
          </a:xfrm>
        </p:grpSpPr>
        <p:grpSp>
          <p:nvGrpSpPr>
            <p:cNvPr id="53267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72056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72057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itchFamily="18" charset="0"/>
                  </a:rPr>
                  <a:t>n</a:t>
                </a:r>
              </a:p>
            </p:txBody>
          </p:sp>
        </p:grpSp>
        <p:sp>
          <p:nvSpPr>
            <p:cNvPr id="172058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269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257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53259" name="Group 30"/>
          <p:cNvGrpSpPr>
            <a:grpSpLocks/>
          </p:cNvGrpSpPr>
          <p:nvPr/>
        </p:nvGrpSpPr>
        <p:grpSpPr bwMode="auto">
          <a:xfrm>
            <a:off x="1187450" y="5084765"/>
            <a:ext cx="5531588" cy="1077913"/>
            <a:chOff x="1152" y="2832"/>
            <a:chExt cx="3504" cy="679"/>
          </a:xfrm>
        </p:grpSpPr>
        <p:grpSp>
          <p:nvGrpSpPr>
            <p:cNvPr id="53260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53264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5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066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3261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2" name="Text Box 36"/>
            <p:cNvSpPr txBox="1">
              <a:spLocks noChangeArrowheads="1"/>
            </p:cNvSpPr>
            <p:nvPr/>
          </p:nvSpPr>
          <p:spPr bwMode="auto">
            <a:xfrm>
              <a:off x="2112" y="2832"/>
              <a:ext cx="2544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dirty="0">
                  <a:solidFill>
                    <a:schemeClr val="tx1"/>
                  </a:solidFill>
                  <a:ea typeface="宋体" pitchFamily="2" charset="-122"/>
                </a:rPr>
                <a:t>习题</a:t>
              </a:r>
              <a:r>
                <a:rPr lang="en-US" altLang="zh-CN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2.1   3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,      4(1)(4)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ea typeface="宋体" pitchFamily="2" charset="-122"/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2.2   2(2),    3</a:t>
              </a:r>
            </a:p>
          </p:txBody>
        </p:sp>
        <p:sp>
          <p:nvSpPr>
            <p:cNvPr id="53263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2DB1D07-9558-CE16-C830-88B6292F8474}"/>
              </a:ext>
            </a:extLst>
          </p:cNvPr>
          <p:cNvSpPr txBox="1"/>
          <p:nvPr/>
        </p:nvSpPr>
        <p:spPr>
          <a:xfrm>
            <a:off x="45432" y="5172375"/>
            <a:ext cx="1542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第四周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10872</TotalTime>
  <Words>2595</Words>
  <Application>Microsoft Office PowerPoint</Application>
  <PresentationFormat>全屏显示(4:3)</PresentationFormat>
  <Paragraphs>360</Paragraphs>
  <Slides>55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2" baseType="lpstr">
      <vt:lpstr>Gulim</vt:lpstr>
      <vt:lpstr>华文楷体</vt:lpstr>
      <vt:lpstr>STXinwei</vt:lpstr>
      <vt:lpstr>STXinwei</vt:lpstr>
      <vt:lpstr>KaiTi</vt:lpstr>
      <vt:lpstr>KaiTi</vt:lpstr>
      <vt:lpstr>楷体_GB2312</vt:lpstr>
      <vt:lpstr>隶书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2.1 关系的概念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关系的概念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2.1 关系的概念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2.2 关系的运算</vt:lpstr>
      <vt:lpstr>2.2 关系的运算</vt:lpstr>
      <vt:lpstr>2.2 关系的运算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</vt:vector>
  </TitlesOfParts>
  <Company>fdf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关系的概念</dc:title>
  <dc:creator>邓辉文</dc:creator>
  <cp:lastModifiedBy>Xia Zeng</cp:lastModifiedBy>
  <cp:revision>307</cp:revision>
  <dcterms:created xsi:type="dcterms:W3CDTF">2007-10-03T12:58:11Z</dcterms:created>
  <dcterms:modified xsi:type="dcterms:W3CDTF">2025-03-12T09:08:05Z</dcterms:modified>
</cp:coreProperties>
</file>