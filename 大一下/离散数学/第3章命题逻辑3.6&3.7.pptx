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8" r:id="rId2"/>
    <p:sldId id="371" r:id="rId3"/>
    <p:sldId id="372" r:id="rId4"/>
    <p:sldId id="373" r:id="rId5"/>
    <p:sldId id="374" r:id="rId6"/>
    <p:sldId id="375" r:id="rId7"/>
    <p:sldId id="376" r:id="rId8"/>
    <p:sldId id="378" r:id="rId9"/>
    <p:sldId id="379" r:id="rId10"/>
    <p:sldId id="380" r:id="rId11"/>
    <p:sldId id="381" r:id="rId12"/>
    <p:sldId id="465" r:id="rId13"/>
    <p:sldId id="383" r:id="rId14"/>
    <p:sldId id="384" r:id="rId15"/>
    <p:sldId id="386" r:id="rId16"/>
    <p:sldId id="387" r:id="rId17"/>
    <p:sldId id="389" r:id="rId18"/>
    <p:sldId id="390" r:id="rId19"/>
    <p:sldId id="391" r:id="rId20"/>
    <p:sldId id="393" r:id="rId21"/>
    <p:sldId id="394" r:id="rId22"/>
    <p:sldId id="395" r:id="rId23"/>
    <p:sldId id="396" r:id="rId24"/>
    <p:sldId id="397" r:id="rId25"/>
    <p:sldId id="466" r:id="rId26"/>
    <p:sldId id="399" r:id="rId27"/>
    <p:sldId id="400" r:id="rId28"/>
    <p:sldId id="401" r:id="rId29"/>
    <p:sldId id="402" r:id="rId30"/>
    <p:sldId id="403" r:id="rId31"/>
    <p:sldId id="404" r:id="rId32"/>
    <p:sldId id="405" r:id="rId33"/>
    <p:sldId id="406" r:id="rId34"/>
    <p:sldId id="407" r:id="rId35"/>
    <p:sldId id="408" r:id="rId36"/>
    <p:sldId id="409" r:id="rId37"/>
    <p:sldId id="410" r:id="rId38"/>
    <p:sldId id="411" r:id="rId39"/>
    <p:sldId id="412" r:id="rId40"/>
    <p:sldId id="413" r:id="rId41"/>
    <p:sldId id="461" r:id="rId42"/>
    <p:sldId id="414" r:id="rId43"/>
    <p:sldId id="415" r:id="rId44"/>
    <p:sldId id="416" r:id="rId45"/>
    <p:sldId id="417" r:id="rId46"/>
    <p:sldId id="460" r:id="rId47"/>
    <p:sldId id="419" r:id="rId48"/>
    <p:sldId id="420" r:id="rId4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29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63"/>
    <p:restoredTop sz="94590"/>
  </p:normalViewPr>
  <p:slideViewPr>
    <p:cSldViewPr>
      <p:cViewPr varScale="1">
        <p:scale>
          <a:sx n="84" d="100"/>
          <a:sy n="84" d="100"/>
        </p:scale>
        <p:origin x="1500" y="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C924F2-AC48-4752-AC41-9CBE9BAA49E6}"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3BB2BF-BBAF-4CD7-8C48-B3C6EAEE70C3}" type="slidenum">
              <a:rPr lang="zh-CN" altLang="en-US" smtClean="0"/>
              <a:t>‹#›</a:t>
            </a:fld>
            <a:endParaRPr lang="zh-CN" altLang="en-US"/>
          </a:p>
        </p:txBody>
      </p:sp>
    </p:spTree>
    <p:extLst>
      <p:ext uri="{BB962C8B-B14F-4D97-AF65-F5344CB8AC3E}">
        <p14:creationId xmlns:p14="http://schemas.microsoft.com/office/powerpoint/2010/main" val="394952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88804E-B2D9-451B-8C1B-EB32CAA230B2}" type="slidenum">
              <a:rPr lang="zh-CN" altLang="en-US" smtClean="0"/>
              <a:t>12</a:t>
            </a:fld>
            <a:endParaRPr lang="zh-CN" altLang="en-US"/>
          </a:p>
        </p:txBody>
      </p:sp>
    </p:spTree>
    <p:extLst>
      <p:ext uri="{BB962C8B-B14F-4D97-AF65-F5344CB8AC3E}">
        <p14:creationId xmlns:p14="http://schemas.microsoft.com/office/powerpoint/2010/main" val="11977812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8" descr="20051116191053522副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DE54970-628D-4F74-972D-C7D5192CCFE9}" type="slidenum">
              <a:rPr lang="en-US" altLang="zh-CN"/>
              <a:pPr>
                <a:defRPr/>
              </a:pPr>
              <a:t>‹#›</a:t>
            </a:fld>
            <a:endParaRPr lang="en-US" altLang="zh-CN"/>
          </a:p>
        </p:txBody>
      </p:sp>
    </p:spTree>
    <p:extLst>
      <p:ext uri="{BB962C8B-B14F-4D97-AF65-F5344CB8AC3E}">
        <p14:creationId xmlns:p14="http://schemas.microsoft.com/office/powerpoint/2010/main" val="28037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021C13D-27B5-4451-A8EC-6C217761F0D0}" type="slidenum">
              <a:rPr lang="en-US" altLang="zh-CN"/>
              <a:pPr>
                <a:defRPr/>
              </a:pPr>
              <a:t>‹#›</a:t>
            </a:fld>
            <a:endParaRPr lang="en-US" altLang="zh-CN"/>
          </a:p>
        </p:txBody>
      </p:sp>
    </p:spTree>
    <p:extLst>
      <p:ext uri="{BB962C8B-B14F-4D97-AF65-F5344CB8AC3E}">
        <p14:creationId xmlns:p14="http://schemas.microsoft.com/office/powerpoint/2010/main" val="141283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7BCED83-5618-4D48-8B0A-977BBD6B4F49}" type="slidenum">
              <a:rPr lang="en-US" altLang="zh-CN"/>
              <a:pPr>
                <a:defRPr/>
              </a:pPr>
              <a:t>‹#›</a:t>
            </a:fld>
            <a:endParaRPr lang="en-US" altLang="zh-CN"/>
          </a:p>
        </p:txBody>
      </p:sp>
    </p:spTree>
    <p:extLst>
      <p:ext uri="{BB962C8B-B14F-4D97-AF65-F5344CB8AC3E}">
        <p14:creationId xmlns:p14="http://schemas.microsoft.com/office/powerpoint/2010/main" val="3842892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B27D5B6-71CF-491D-8919-BE56010AB781}" type="slidenum">
              <a:rPr lang="en-US" altLang="zh-CN"/>
              <a:pPr>
                <a:defRPr/>
              </a:pPr>
              <a:t>‹#›</a:t>
            </a:fld>
            <a:endParaRPr lang="en-US" altLang="zh-CN"/>
          </a:p>
        </p:txBody>
      </p:sp>
    </p:spTree>
    <p:extLst>
      <p:ext uri="{BB962C8B-B14F-4D97-AF65-F5344CB8AC3E}">
        <p14:creationId xmlns:p14="http://schemas.microsoft.com/office/powerpoint/2010/main" val="149589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F8D8DEC-2CBA-4C44-A561-80AB6FD44973}" type="slidenum">
              <a:rPr lang="en-US" altLang="zh-CN"/>
              <a:pPr>
                <a:defRPr/>
              </a:pPr>
              <a:t>‹#›</a:t>
            </a:fld>
            <a:endParaRPr lang="en-US" altLang="zh-CN"/>
          </a:p>
        </p:txBody>
      </p:sp>
    </p:spTree>
    <p:extLst>
      <p:ext uri="{BB962C8B-B14F-4D97-AF65-F5344CB8AC3E}">
        <p14:creationId xmlns:p14="http://schemas.microsoft.com/office/powerpoint/2010/main" val="343472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1A71795-9142-451B-8DDF-2920A65E358B}" type="slidenum">
              <a:rPr lang="en-US" altLang="zh-CN"/>
              <a:pPr>
                <a:defRPr/>
              </a:pPr>
              <a:t>‹#›</a:t>
            </a:fld>
            <a:endParaRPr lang="en-US" altLang="zh-CN"/>
          </a:p>
        </p:txBody>
      </p:sp>
    </p:spTree>
    <p:extLst>
      <p:ext uri="{BB962C8B-B14F-4D97-AF65-F5344CB8AC3E}">
        <p14:creationId xmlns:p14="http://schemas.microsoft.com/office/powerpoint/2010/main" val="2936401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9719C63D-797D-4610-AF95-B76A09E95AC7}" type="slidenum">
              <a:rPr lang="en-US" altLang="zh-CN"/>
              <a:pPr>
                <a:defRPr/>
              </a:pPr>
              <a:t>‹#›</a:t>
            </a:fld>
            <a:endParaRPr lang="en-US" altLang="zh-CN"/>
          </a:p>
        </p:txBody>
      </p:sp>
    </p:spTree>
    <p:extLst>
      <p:ext uri="{BB962C8B-B14F-4D97-AF65-F5344CB8AC3E}">
        <p14:creationId xmlns:p14="http://schemas.microsoft.com/office/powerpoint/2010/main" val="411216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03022F0-E47D-41FB-83D6-036120704DDD}" type="slidenum">
              <a:rPr lang="en-US" altLang="zh-CN"/>
              <a:pPr>
                <a:defRPr/>
              </a:pPr>
              <a:t>‹#›</a:t>
            </a:fld>
            <a:endParaRPr lang="en-US" altLang="zh-CN"/>
          </a:p>
        </p:txBody>
      </p:sp>
    </p:spTree>
    <p:extLst>
      <p:ext uri="{BB962C8B-B14F-4D97-AF65-F5344CB8AC3E}">
        <p14:creationId xmlns:p14="http://schemas.microsoft.com/office/powerpoint/2010/main" val="83162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2D64CC2-0784-499F-890A-34B5A7ABF69E}" type="slidenum">
              <a:rPr lang="en-US" altLang="zh-CN"/>
              <a:pPr>
                <a:defRPr/>
              </a:pPr>
              <a:t>‹#›</a:t>
            </a:fld>
            <a:endParaRPr lang="en-US" altLang="zh-CN"/>
          </a:p>
        </p:txBody>
      </p:sp>
    </p:spTree>
    <p:extLst>
      <p:ext uri="{BB962C8B-B14F-4D97-AF65-F5344CB8AC3E}">
        <p14:creationId xmlns:p14="http://schemas.microsoft.com/office/powerpoint/2010/main" val="3278980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E7448F0-866D-41A6-BDFE-49678B3312D7}" type="slidenum">
              <a:rPr lang="en-US" altLang="zh-CN"/>
              <a:pPr>
                <a:defRPr/>
              </a:pPr>
              <a:t>‹#›</a:t>
            </a:fld>
            <a:endParaRPr lang="en-US" altLang="zh-CN"/>
          </a:p>
        </p:txBody>
      </p:sp>
    </p:spTree>
    <p:extLst>
      <p:ext uri="{BB962C8B-B14F-4D97-AF65-F5344CB8AC3E}">
        <p14:creationId xmlns:p14="http://schemas.microsoft.com/office/powerpoint/2010/main" val="2617271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413E221-D035-4935-B750-B07720533F69}" type="slidenum">
              <a:rPr lang="en-US" altLang="zh-CN"/>
              <a:pPr>
                <a:defRPr/>
              </a:pPr>
              <a:t>‹#›</a:t>
            </a:fld>
            <a:endParaRPr lang="en-US" altLang="zh-CN"/>
          </a:p>
        </p:txBody>
      </p:sp>
    </p:spTree>
    <p:extLst>
      <p:ext uri="{BB962C8B-B14F-4D97-AF65-F5344CB8AC3E}">
        <p14:creationId xmlns:p14="http://schemas.microsoft.com/office/powerpoint/2010/main" val="2451598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D373BE2-A4BA-4C7F-BB7C-BB6FF8694D3F}" type="slidenum">
              <a:rPr lang="en-US" altLang="zh-CN"/>
              <a:pPr>
                <a:defRPr/>
              </a:pPr>
              <a:t>‹#›</a:t>
            </a:fld>
            <a:endParaRPr lang="en-US" altLang="zh-CN"/>
          </a:p>
        </p:txBody>
      </p:sp>
    </p:spTree>
    <p:extLst>
      <p:ext uri="{BB962C8B-B14F-4D97-AF65-F5344CB8AC3E}">
        <p14:creationId xmlns:p14="http://schemas.microsoft.com/office/powerpoint/2010/main" val="1005036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descr="200511161909123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51DA17F-0216-4ED9-BE9B-C5284855812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77"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2.xml"/><Relationship Id="rId5" Type="http://schemas.openxmlformats.org/officeDocument/2006/relationships/image" Target="../media/image5.e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12.xml"/><Relationship Id="rId5" Type="http://schemas.openxmlformats.org/officeDocument/2006/relationships/image" Target="../media/image7.e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oleObject" Target="../embeddings/oleObject6.bin"/><Relationship Id="rId1" Type="http://schemas.openxmlformats.org/officeDocument/2006/relationships/slideLayout" Target="../slideLayouts/slideLayout12.xml"/><Relationship Id="rId6" Type="http://schemas.openxmlformats.org/officeDocument/2006/relationships/oleObject" Target="../embeddings/oleObject8.bin"/><Relationship Id="rId5" Type="http://schemas.openxmlformats.org/officeDocument/2006/relationships/image" Target="../media/image9.emf"/><Relationship Id="rId4"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13.png"/><Relationship Id="rId7" Type="http://schemas.openxmlformats.org/officeDocument/2006/relationships/oleObject" Target="../embeddings/oleObject11.bin"/><Relationship Id="rId2"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4.emf"/><Relationship Id="rId7"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12.xml"/><Relationship Id="rId6" Type="http://schemas.openxmlformats.org/officeDocument/2006/relationships/oleObject" Target="../embeddings/oleObject14.bin"/><Relationship Id="rId5" Type="http://schemas.openxmlformats.org/officeDocument/2006/relationships/image" Target="../media/image15.emf"/><Relationship Id="rId4" Type="http://schemas.openxmlformats.org/officeDocument/2006/relationships/oleObject" Target="../embeddings/oleObject13.bin"/><Relationship Id="rId9" Type="http://schemas.openxmlformats.org/officeDocument/2006/relationships/image" Target="../media/image17.emf"/></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6.bin"/><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7.bin"/><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0.emf"/><Relationship Id="rId7" Type="http://schemas.openxmlformats.org/officeDocument/2006/relationships/image" Target="../media/image22.emf"/><Relationship Id="rId2" Type="http://schemas.openxmlformats.org/officeDocument/2006/relationships/oleObject" Target="../embeddings/oleObject18.bin"/><Relationship Id="rId1" Type="http://schemas.openxmlformats.org/officeDocument/2006/relationships/slideLayout" Target="../slideLayouts/slideLayout12.xml"/><Relationship Id="rId6" Type="http://schemas.openxmlformats.org/officeDocument/2006/relationships/oleObject" Target="../embeddings/oleObject20.bin"/><Relationship Id="rId11" Type="http://schemas.openxmlformats.org/officeDocument/2006/relationships/image" Target="../media/image24.emf"/><Relationship Id="rId5" Type="http://schemas.openxmlformats.org/officeDocument/2006/relationships/image" Target="../media/image21.e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3.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5.emf"/><Relationship Id="rId7" Type="http://schemas.openxmlformats.org/officeDocument/2006/relationships/image" Target="../media/image27.emf"/><Relationship Id="rId2" Type="http://schemas.openxmlformats.org/officeDocument/2006/relationships/oleObject" Target="../embeddings/oleObject23.bin"/><Relationship Id="rId1" Type="http://schemas.openxmlformats.org/officeDocument/2006/relationships/slideLayout" Target="../slideLayouts/slideLayout12.xml"/><Relationship Id="rId6" Type="http://schemas.openxmlformats.org/officeDocument/2006/relationships/oleObject" Target="../embeddings/oleObject25.bin"/><Relationship Id="rId5" Type="http://schemas.openxmlformats.org/officeDocument/2006/relationships/image" Target="../media/image26.emf"/><Relationship Id="rId4" Type="http://schemas.openxmlformats.org/officeDocument/2006/relationships/oleObject" Target="../embeddings/oleObject24.bin"/><Relationship Id="rId9" Type="http://schemas.openxmlformats.org/officeDocument/2006/relationships/image" Target="../media/image28.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7.bin"/><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8.bin"/><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6.emf"/><Relationship Id="rId3" Type="http://schemas.openxmlformats.org/officeDocument/2006/relationships/image" Target="../media/image31.emf"/><Relationship Id="rId7" Type="http://schemas.openxmlformats.org/officeDocument/2006/relationships/image" Target="../media/image33.e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12.xml"/><Relationship Id="rId6" Type="http://schemas.openxmlformats.org/officeDocument/2006/relationships/oleObject" Target="../embeddings/oleObject31.bin"/><Relationship Id="rId11" Type="http://schemas.openxmlformats.org/officeDocument/2006/relationships/image" Target="../media/image35.emf"/><Relationship Id="rId5" Type="http://schemas.openxmlformats.org/officeDocument/2006/relationships/image" Target="../media/image32.e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4.emf"/></Relationships>
</file>

<file path=ppt/slides/_rels/slide4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5.bin"/><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36.bin"/><Relationship Id="rId1" Type="http://schemas.openxmlformats.org/officeDocument/2006/relationships/slideLayout" Target="../slideLayouts/slideLayout12.xml"/><Relationship Id="rId6" Type="http://schemas.openxmlformats.org/officeDocument/2006/relationships/oleObject" Target="../embeddings/oleObject38.bin"/><Relationship Id="rId5" Type="http://schemas.openxmlformats.org/officeDocument/2006/relationships/image" Target="../media/image39.emf"/><Relationship Id="rId4" Type="http://schemas.openxmlformats.org/officeDocument/2006/relationships/oleObject" Target="../embeddings/oleObject37.bin"/></Relationships>
</file>

<file path=ppt/slides/_rels/slide46.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zh-CN" altLang="en-US" b="1">
                <a:latin typeface="Times New Roman" pitchFamily="18" charset="0"/>
              </a:rPr>
              <a:t>第</a:t>
            </a:r>
            <a:r>
              <a:rPr lang="en-US" altLang="zh-CN" b="1">
                <a:latin typeface="Times New Roman" pitchFamily="18" charset="0"/>
              </a:rPr>
              <a:t>3</a:t>
            </a:r>
            <a:r>
              <a:rPr lang="zh-CN" altLang="en-US" b="1">
                <a:latin typeface="Times New Roman" pitchFamily="18" charset="0"/>
              </a:rPr>
              <a:t>章  命题逻辑</a:t>
            </a:r>
          </a:p>
        </p:txBody>
      </p:sp>
      <p:sp>
        <p:nvSpPr>
          <p:cNvPr id="3075" name="Rectangle 5"/>
          <p:cNvSpPr>
            <a:spLocks noGrp="1" noChangeArrowheads="1"/>
          </p:cNvSpPr>
          <p:nvPr>
            <p:ph type="subTitle" idx="1"/>
          </p:nvPr>
        </p:nvSpPr>
        <p:spPr/>
        <p:txBody>
          <a:bodyPr/>
          <a:lstStyle/>
          <a:p>
            <a:pPr eaLnBrk="1" hangingPunct="1">
              <a:lnSpc>
                <a:spcPct val="120000"/>
              </a:lnSpc>
            </a:pPr>
            <a:r>
              <a:rPr lang="en-US" altLang="zh-CN">
                <a:solidFill>
                  <a:srgbClr val="FF0000"/>
                </a:solidFill>
                <a:latin typeface="Times New Roman" pitchFamily="18" charset="0"/>
              </a:rPr>
              <a:t>Socrates </a:t>
            </a:r>
            <a:r>
              <a:rPr lang="en-US" altLang="zh-CN">
                <a:solidFill>
                  <a:srgbClr val="FF0000"/>
                </a:solidFill>
                <a:latin typeface="Times New Roman" pitchFamily="18" charset="0"/>
                <a:sym typeface="Symbol" pitchFamily="18" charset="2"/>
              </a:rPr>
              <a:t> Plato  Aristotele</a:t>
            </a:r>
            <a:endParaRPr lang="en-US" altLang="en-US">
              <a:latin typeface="Times New Roman" pitchFamily="18" charset="0"/>
              <a:sym typeface="Symbol" pitchFamily="18" charset="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Theorem 3-9</a:t>
            </a:r>
            <a:r>
              <a:rPr lang="en-US" altLang="zh-CN" b="1" dirty="0"/>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任意非永假命题公式都存在唯一的主析取范式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任意非永真命题公式都存在唯一的主合取范式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命题公式的主析取范式和主合取范式是等值的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主析取范式中所含的极小项个数加上主合取范式中所含的极大项个数等于该命题公式的真值指派数目</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可以从主析取范式求出主合取范式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反过来亦然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p:nvPr>
        </p:nvSpPr>
        <p:spPr/>
        <p:txBody>
          <a:bodyPr/>
          <a:lstStyle/>
          <a:p>
            <a:pPr eaLnBrk="1" hangingPunct="1">
              <a:lnSpc>
                <a:spcPct val="120000"/>
              </a:lnSpc>
            </a:pPr>
            <a:r>
              <a:rPr lang="en-US" altLang="zh-CN" b="1" dirty="0">
                <a:solidFill>
                  <a:schemeClr val="hlink"/>
                </a:solidFill>
                <a:latin typeface="Times New Roman"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利用命题公式的主析取范式及主合取范式判定其类型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利用主范式判断命题公式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的类型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itchFamily="18" charset="0"/>
              </a:rPr>
              <a:t>Solution </a:t>
            </a:r>
          </a:p>
          <a:p>
            <a:pPr eaLnBrk="1" hangingPunct="1">
              <a:lnSpc>
                <a:spcPct val="120000"/>
              </a:lnSpc>
            </a:pPr>
            <a:endParaRPr lang="en-US" altLang="zh-CN" b="1" dirty="0">
              <a:latin typeface="Times New Roman" pitchFamily="18" charset="0"/>
            </a:endParaRPr>
          </a:p>
        </p:txBody>
      </p:sp>
      <p:graphicFrame>
        <p:nvGraphicFramePr>
          <p:cNvPr id="119811" name="Object 3"/>
          <p:cNvGraphicFramePr>
            <a:graphicFrameLocks noChangeAspect="1"/>
          </p:cNvGraphicFramePr>
          <p:nvPr/>
        </p:nvGraphicFramePr>
        <p:xfrm>
          <a:off x="2700338" y="2997200"/>
          <a:ext cx="3303587" cy="2117725"/>
        </p:xfrm>
        <a:graphic>
          <a:graphicData uri="http://schemas.openxmlformats.org/presentationml/2006/ole">
            <mc:AlternateContent xmlns:mc="http://schemas.openxmlformats.org/markup-compatibility/2006">
              <mc:Choice xmlns:v="urn:schemas-microsoft-com:vml" Requires="v">
                <p:oleObj name="Equation" r:id="rId2" imgW="1305012" imgH="809730" progId="Equation.3">
                  <p:embed/>
                </p:oleObj>
              </mc:Choice>
              <mc:Fallback>
                <p:oleObj name="Equation" r:id="rId2" imgW="1305012" imgH="8097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2997200"/>
                        <a:ext cx="3303587" cy="211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p:nvPr>
        </p:nvSpPr>
        <p:spPr/>
        <p:txBody>
          <a:bodyPr/>
          <a:lstStyle/>
          <a:p>
            <a:pPr eaLnBrk="1" hangingPunct="1">
              <a:lnSpc>
                <a:spcPct val="120000"/>
              </a:lnSpc>
            </a:pP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利用命题公式的主析取范式及主合取范式可以判断两个命题公式是否等值</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3-24</a:t>
            </a:r>
          </a:p>
          <a:p>
            <a:pPr eaLnBrk="1" hangingPunct="1">
              <a:lnSpc>
                <a:spcPct val="120000"/>
              </a:lnSpc>
            </a:pPr>
            <a:r>
              <a:rPr lang="en-US" altLang="zh-CN" b="1" dirty="0">
                <a:latin typeface="Times New Roman" pitchFamily="18" charset="0"/>
                <a:ea typeface="华文新魏" pitchFamily="2" charset="-122"/>
              </a:rPr>
              <a:t>(1)</a:t>
            </a:r>
          </a:p>
          <a:p>
            <a:pPr eaLnBrk="1" hangingPunct="1">
              <a:lnSpc>
                <a:spcPct val="120000"/>
              </a:lnSpc>
            </a:pPr>
            <a:endParaRPr lang="en-US" altLang="zh-CN" b="1" dirty="0">
              <a:latin typeface="Times New Roman" pitchFamily="18" charset="0"/>
              <a:ea typeface="华文新魏" pitchFamily="2" charset="-122"/>
            </a:endParaRPr>
          </a:p>
          <a:p>
            <a:pPr eaLnBrk="1" hangingPunct="1">
              <a:lnSpc>
                <a:spcPct val="120000"/>
              </a:lnSpc>
            </a:pPr>
            <a:r>
              <a:rPr lang="en-US" altLang="zh-CN" b="1" dirty="0">
                <a:latin typeface="Times New Roman" pitchFamily="18" charset="0"/>
                <a:ea typeface="华文新魏" pitchFamily="2" charset="-122"/>
              </a:rPr>
              <a:t>(2)</a:t>
            </a:r>
          </a:p>
          <a:p>
            <a:pPr eaLnBrk="1" hangingPunct="1">
              <a:lnSpc>
                <a:spcPct val="120000"/>
              </a:lnSpc>
            </a:pPr>
            <a:endParaRPr lang="en-US" altLang="zh-CN" b="1" dirty="0"/>
          </a:p>
        </p:txBody>
      </p:sp>
      <p:graphicFrame>
        <p:nvGraphicFramePr>
          <p:cNvPr id="120835" name="Object 3"/>
          <p:cNvGraphicFramePr>
            <a:graphicFrameLocks noChangeAspect="1"/>
          </p:cNvGraphicFramePr>
          <p:nvPr/>
        </p:nvGraphicFramePr>
        <p:xfrm>
          <a:off x="1490663" y="2276475"/>
          <a:ext cx="2455862" cy="1028700"/>
        </p:xfrm>
        <a:graphic>
          <a:graphicData uri="http://schemas.openxmlformats.org/presentationml/2006/ole">
            <mc:AlternateContent xmlns:mc="http://schemas.openxmlformats.org/markup-compatibility/2006">
              <mc:Choice xmlns:v="urn:schemas-microsoft-com:vml" Requires="v">
                <p:oleObj name="公式" r:id="rId2" imgW="952489" imgH="352350" progId="Equation.3">
                  <p:embed/>
                </p:oleObj>
              </mc:Choice>
              <mc:Fallback>
                <p:oleObj name="公式" r:id="rId2" imgW="952489" imgH="35235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3" y="2276475"/>
                        <a:ext cx="2455862"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36" name="Object 4"/>
          <p:cNvGraphicFramePr>
            <a:graphicFrameLocks noChangeAspect="1"/>
          </p:cNvGraphicFramePr>
          <p:nvPr/>
        </p:nvGraphicFramePr>
        <p:xfrm>
          <a:off x="1403350" y="3716338"/>
          <a:ext cx="6667500" cy="1030287"/>
        </p:xfrm>
        <a:graphic>
          <a:graphicData uri="http://schemas.openxmlformats.org/presentationml/2006/ole">
            <mc:AlternateContent xmlns:mc="http://schemas.openxmlformats.org/markup-compatibility/2006">
              <mc:Choice xmlns:v="urn:schemas-microsoft-com:vml" Requires="v">
                <p:oleObj name="Equation" r:id="rId4" imgW="2714566" imgH="352350" progId="Equation.3">
                  <p:embed/>
                </p:oleObj>
              </mc:Choice>
              <mc:Fallback>
                <p:oleObj name="Equation" r:id="rId4" imgW="2714566" imgH="3523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716338"/>
                        <a:ext cx="6667500" cy="1030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p:nvPr>
        </p:nvSpPr>
        <p:spPr/>
        <p:txBody>
          <a:bodyPr/>
          <a:lstStyle/>
          <a:p>
            <a:pPr eaLnBrk="1" hangingPunct="1">
              <a:lnSpc>
                <a:spcPct val="120000"/>
              </a:lnSpc>
            </a:pP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在数字逻辑等后继课程中的应用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的真值表如下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ndParaRPr>
          </a:p>
        </p:txBody>
      </p:sp>
      <p:graphicFrame>
        <p:nvGraphicFramePr>
          <p:cNvPr id="129027" name="Group 3"/>
          <p:cNvGraphicFramePr>
            <a:graphicFrameLocks noGrp="1"/>
          </p:cNvGraphicFramePr>
          <p:nvPr/>
        </p:nvGraphicFramePr>
        <p:xfrm>
          <a:off x="1547813" y="1773238"/>
          <a:ext cx="6096000" cy="4664079"/>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p</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q</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r</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A</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2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p:nvPr>
        </p:nvSpPr>
        <p:spPr/>
        <p:txBody>
          <a:bodyPr/>
          <a:lstStyle/>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化简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门电路实现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122883" name="Object 3"/>
          <p:cNvGraphicFramePr>
            <a:graphicFrameLocks noChangeAspect="1"/>
          </p:cNvGraphicFramePr>
          <p:nvPr>
            <p:extLst>
              <p:ext uri="{D42A27DB-BD31-4B8C-83A1-F6EECF244321}">
                <p14:modId xmlns:p14="http://schemas.microsoft.com/office/powerpoint/2010/main" val="2227166046"/>
              </p:ext>
            </p:extLst>
          </p:nvPr>
        </p:nvGraphicFramePr>
        <p:xfrm>
          <a:off x="755576" y="1052513"/>
          <a:ext cx="7992888" cy="471417"/>
        </p:xfrm>
        <a:graphic>
          <a:graphicData uri="http://schemas.openxmlformats.org/presentationml/2006/ole">
            <mc:AlternateContent xmlns:mc="http://schemas.openxmlformats.org/markup-compatibility/2006">
              <mc:Choice xmlns:v="urn:schemas-microsoft-com:vml" Requires="v">
                <p:oleObj name="Equation" r:id="rId2" imgW="2981457" imgH="123930" progId="Equation.3">
                  <p:embed/>
                </p:oleObj>
              </mc:Choice>
              <mc:Fallback>
                <p:oleObj name="Equation" r:id="rId2" imgW="2981457"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052513"/>
                        <a:ext cx="7992888" cy="471417"/>
                      </a:xfrm>
                      <a:prstGeom prst="rect">
                        <a:avLst/>
                      </a:prstGeom>
                      <a:noFill/>
                      <a:ln>
                        <a:noFill/>
                      </a:ln>
                      <a:effectLst/>
                    </p:spPr>
                  </p:pic>
                </p:oleObj>
              </mc:Fallback>
            </mc:AlternateContent>
          </a:graphicData>
        </a:graphic>
      </p:graphicFrame>
      <p:graphicFrame>
        <p:nvGraphicFramePr>
          <p:cNvPr id="122884" name="Object 4"/>
          <p:cNvGraphicFramePr>
            <a:graphicFrameLocks noChangeAspect="1"/>
          </p:cNvGraphicFramePr>
          <p:nvPr/>
        </p:nvGraphicFramePr>
        <p:xfrm>
          <a:off x="785813" y="2276475"/>
          <a:ext cx="7427912" cy="1028700"/>
        </p:xfrm>
        <a:graphic>
          <a:graphicData uri="http://schemas.openxmlformats.org/presentationml/2006/ole">
            <mc:AlternateContent xmlns:mc="http://schemas.openxmlformats.org/markup-compatibility/2006">
              <mc:Choice xmlns:v="urn:schemas-microsoft-com:vml" Requires="v">
                <p:oleObj name="Equation" r:id="rId4" imgW="3038455" imgH="352350" progId="Equation.3">
                  <p:embed/>
                </p:oleObj>
              </mc:Choice>
              <mc:Fallback>
                <p:oleObj name="Equation" r:id="rId4" imgW="3038455" imgH="3523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2276475"/>
                        <a:ext cx="7427912"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解法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比解法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好</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因为极小项的个数为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而最大项的个数为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所以在电路实现时对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进行的化简要容易些</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只要给出了一个命题公式的真值表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就可以将该命题公式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的表达式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求出来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这一点在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节中也会用到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另外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根据真值表法可知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若得出了命题公式的主析取范式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则可以得出使为真的所有指派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进而得出使为假的所有指派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因此可以得出命题公式的主合取范式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反过来亦然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p>
        </p:txBody>
      </p:sp>
      <p:sp>
        <p:nvSpPr>
          <p:cNvPr id="125955" name="Rectangle 3"/>
          <p:cNvSpPr>
            <a:spLocks noGrp="1" noChangeArrowheads="1"/>
          </p:cNvSpPr>
          <p:nvPr>
            <p:ph type="title"/>
          </p:nvPr>
        </p:nvSpPr>
        <p:spPr/>
        <p:txBody>
          <a:bodyPr/>
          <a:lstStyle/>
          <a:p>
            <a:pPr algn="l" eaLnBrk="1" hangingPunct="1"/>
            <a:r>
              <a:rPr lang="zh-CN" altLang="en-US" sz="4000" b="1"/>
              <a:t>小结与作业</a:t>
            </a:r>
          </a:p>
        </p:txBody>
      </p:sp>
      <p:grpSp>
        <p:nvGrpSpPr>
          <p:cNvPr id="125956" name="Group 4"/>
          <p:cNvGrpSpPr>
            <a:grpSpLocks/>
          </p:cNvGrpSpPr>
          <p:nvPr/>
        </p:nvGrpSpPr>
        <p:grpSpPr bwMode="auto">
          <a:xfrm>
            <a:off x="1619250" y="2133600"/>
            <a:ext cx="6409241" cy="508000"/>
            <a:chOff x="1419" y="1480"/>
            <a:chExt cx="4422" cy="363"/>
          </a:xfrm>
        </p:grpSpPr>
        <p:grpSp>
          <p:nvGrpSpPr>
            <p:cNvPr id="125973" name="Group 5"/>
            <p:cNvGrpSpPr>
              <a:grpSpLocks/>
            </p:cNvGrpSpPr>
            <p:nvPr/>
          </p:nvGrpSpPr>
          <p:grpSpPr bwMode="auto">
            <a:xfrm>
              <a:off x="1419" y="1480"/>
              <a:ext cx="4422" cy="363"/>
              <a:chOff x="1419" y="1480"/>
              <a:chExt cx="4422" cy="363"/>
            </a:xfrm>
          </p:grpSpPr>
          <p:sp>
            <p:nvSpPr>
              <p:cNvPr id="133126"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33127" name="AutoShape 7"/>
              <p:cNvSpPr>
                <a:spLocks noChangeArrowheads="1"/>
              </p:cNvSpPr>
              <p:nvPr/>
            </p:nvSpPr>
            <p:spPr bwMode="gray">
              <a:xfrm>
                <a:off x="1683" y="1480"/>
                <a:ext cx="4158"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dirty="0"/>
                  <a:t>命题公式的析取范式及合取范式</a:t>
                </a:r>
              </a:p>
            </p:txBody>
          </p:sp>
        </p:grpSp>
        <p:sp>
          <p:nvSpPr>
            <p:cNvPr id="133128"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25975"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125957" name="Group 10"/>
          <p:cNvGrpSpPr>
            <a:grpSpLocks/>
          </p:cNvGrpSpPr>
          <p:nvPr/>
        </p:nvGrpSpPr>
        <p:grpSpPr bwMode="auto">
          <a:xfrm>
            <a:off x="2268538" y="3716338"/>
            <a:ext cx="6417937" cy="508000"/>
            <a:chOff x="1419" y="1480"/>
            <a:chExt cx="4428" cy="363"/>
          </a:xfrm>
        </p:grpSpPr>
        <p:grpSp>
          <p:nvGrpSpPr>
            <p:cNvPr id="125968" name="Group 11"/>
            <p:cNvGrpSpPr>
              <a:grpSpLocks/>
            </p:cNvGrpSpPr>
            <p:nvPr/>
          </p:nvGrpSpPr>
          <p:grpSpPr bwMode="auto">
            <a:xfrm>
              <a:off x="1419" y="1480"/>
              <a:ext cx="4428" cy="363"/>
              <a:chOff x="1419" y="1480"/>
              <a:chExt cx="4428" cy="363"/>
            </a:xfrm>
          </p:grpSpPr>
          <p:sp>
            <p:nvSpPr>
              <p:cNvPr id="133132"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33133" name="AutoShape 13"/>
              <p:cNvSpPr>
                <a:spLocks noChangeArrowheads="1"/>
              </p:cNvSpPr>
              <p:nvPr/>
            </p:nvSpPr>
            <p:spPr bwMode="gray">
              <a:xfrm>
                <a:off x="1683" y="1480"/>
                <a:ext cx="4164"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eaLnBrk="0" hangingPunct="0">
                  <a:defRPr/>
                </a:pPr>
                <a:r>
                  <a:rPr lang="zh-CN" altLang="en-US" sz="3200" b="1" dirty="0"/>
                  <a:t>命题公式的主析取及主合取范式</a:t>
                </a:r>
              </a:p>
            </p:txBody>
          </p:sp>
        </p:grpSp>
        <p:sp>
          <p:nvSpPr>
            <p:cNvPr id="133134"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25970"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125958" name="AutoShape 16"/>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125960" name="Group 18"/>
          <p:cNvGrpSpPr>
            <a:grpSpLocks/>
          </p:cNvGrpSpPr>
          <p:nvPr/>
        </p:nvGrpSpPr>
        <p:grpSpPr bwMode="auto">
          <a:xfrm>
            <a:off x="1331913" y="5222875"/>
            <a:ext cx="5378730" cy="763588"/>
            <a:chOff x="1152" y="2783"/>
            <a:chExt cx="3408" cy="481"/>
          </a:xfrm>
        </p:grpSpPr>
        <p:grpSp>
          <p:nvGrpSpPr>
            <p:cNvPr id="125961" name="Group 19"/>
            <p:cNvGrpSpPr>
              <a:grpSpLocks/>
            </p:cNvGrpSpPr>
            <p:nvPr/>
          </p:nvGrpSpPr>
          <p:grpSpPr bwMode="auto">
            <a:xfrm>
              <a:off x="1152" y="2845"/>
              <a:ext cx="480" cy="419"/>
              <a:chOff x="3174" y="2656"/>
              <a:chExt cx="1549" cy="1351"/>
            </a:xfrm>
          </p:grpSpPr>
          <p:sp>
            <p:nvSpPr>
              <p:cNvPr id="125965" name="AutoShape 2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25966" name="AutoShape 2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33142" name="AutoShape 22"/>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25962" name="Line 2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3" name="Text Box 24"/>
            <p:cNvSpPr txBox="1">
              <a:spLocks noChangeArrowheads="1"/>
            </p:cNvSpPr>
            <p:nvPr/>
          </p:nvSpPr>
          <p:spPr bwMode="auto">
            <a:xfrm>
              <a:off x="2112" y="2783"/>
              <a:ext cx="2154"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0000"/>
                </a:lnSpc>
              </a:pPr>
              <a:r>
                <a:rPr lang="zh-CN" altLang="en-US" sz="3200" b="1" dirty="0">
                  <a:latin typeface="Times New Roman" pitchFamily="18" charset="0"/>
                </a:rPr>
                <a:t>习题</a:t>
              </a:r>
              <a:r>
                <a:rPr lang="en-US" altLang="zh-CN" sz="3200" b="1" dirty="0">
                  <a:latin typeface="Times New Roman" pitchFamily="18" charset="0"/>
                </a:rPr>
                <a:t>3.5  5(1)(2),  </a:t>
              </a:r>
              <a:r>
                <a:rPr lang="en-US" altLang="zh-CN" sz="3200" b="1" dirty="0">
                  <a:solidFill>
                    <a:schemeClr val="bg1">
                      <a:lumMod val="50000"/>
                    </a:schemeClr>
                  </a:solidFill>
                  <a:latin typeface="Times New Roman" pitchFamily="18" charset="0"/>
                </a:rPr>
                <a:t>8</a:t>
              </a:r>
            </a:p>
          </p:txBody>
        </p:sp>
        <p:sp>
          <p:nvSpPr>
            <p:cNvPr id="125964" name="Text Box 25"/>
            <p:cNvSpPr txBox="1">
              <a:spLocks noChangeArrowheads="1"/>
            </p:cNvSpPr>
            <p:nvPr/>
          </p:nvSpPr>
          <p:spPr bwMode="gray">
            <a:xfrm>
              <a:off x="1169" y="2928"/>
              <a:ext cx="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a:solidFill>
                    <a:schemeClr val="bg1"/>
                  </a:solidFill>
                  <a:latin typeface="Times New Roman" pitchFamily="18" charset="0"/>
                </a:rPr>
                <a:t>作业</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ctrTitle"/>
          </p:nvPr>
        </p:nvSpPr>
        <p:spPr/>
        <p:txBody>
          <a:bodyPr/>
          <a:lstStyle/>
          <a:p>
            <a:pPr eaLnBrk="1" hangingPunct="1"/>
            <a:r>
              <a:rPr lang="zh-CN" altLang="en-US" b="1">
                <a:latin typeface="Times New Roman" pitchFamily="18" charset="0"/>
              </a:rPr>
              <a:t>第</a:t>
            </a:r>
            <a:r>
              <a:rPr lang="en-US" altLang="zh-CN" b="1">
                <a:latin typeface="Times New Roman" pitchFamily="18" charset="0"/>
              </a:rPr>
              <a:t>3</a:t>
            </a:r>
            <a:r>
              <a:rPr lang="zh-CN" altLang="en-US" b="1">
                <a:latin typeface="Times New Roman" pitchFamily="18" charset="0"/>
              </a:rPr>
              <a:t>章  命题逻辑</a:t>
            </a:r>
          </a:p>
        </p:txBody>
      </p:sp>
      <p:sp>
        <p:nvSpPr>
          <p:cNvPr id="126979" name="Rectangle 3"/>
          <p:cNvSpPr>
            <a:spLocks noGrp="1" noChangeArrowheads="1"/>
          </p:cNvSpPr>
          <p:nvPr>
            <p:ph type="subTitle" idx="1"/>
          </p:nvPr>
        </p:nvSpPr>
        <p:spPr/>
        <p:txBody>
          <a:bodyPr/>
          <a:lstStyle/>
          <a:p>
            <a:pPr eaLnBrk="1" hangingPunct="1"/>
            <a:r>
              <a:rPr lang="en-US" altLang="zh-CN" b="1">
                <a:latin typeface="Times New Roman" pitchFamily="18" charset="0"/>
              </a:rPr>
              <a:t>3.6  </a:t>
            </a:r>
            <a:r>
              <a:rPr lang="zh-CN" altLang="en-US" b="1">
                <a:latin typeface="Times New Roman" pitchFamily="18" charset="0"/>
              </a:rPr>
              <a:t>联结词集合的功能完备性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algn="l" eaLnBrk="1" hangingPunct="1"/>
            <a:r>
              <a:rPr lang="en-US" altLang="zh-CN" b="1">
                <a:latin typeface="Times New Roman" pitchFamily="18" charset="0"/>
              </a:rPr>
              <a:t>3.6  </a:t>
            </a:r>
            <a:r>
              <a:rPr lang="zh-CN" altLang="en-US" b="1">
                <a:latin typeface="Times New Roman" pitchFamily="18" charset="0"/>
              </a:rPr>
              <a:t>联结词集合的功能完备性</a:t>
            </a:r>
          </a:p>
        </p:txBody>
      </p:sp>
      <p:sp>
        <p:nvSpPr>
          <p:cNvPr id="128003"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128004" name="Group 4"/>
          <p:cNvGrpSpPr>
            <a:grpSpLocks/>
          </p:cNvGrpSpPr>
          <p:nvPr/>
        </p:nvGrpSpPr>
        <p:grpSpPr bwMode="auto">
          <a:xfrm>
            <a:off x="1116013" y="1628775"/>
            <a:ext cx="5410200" cy="712788"/>
            <a:chOff x="1152" y="1101"/>
            <a:chExt cx="3408" cy="449"/>
          </a:xfrm>
        </p:grpSpPr>
        <p:grpSp>
          <p:nvGrpSpPr>
            <p:cNvPr id="128014" name="Group 5"/>
            <p:cNvGrpSpPr>
              <a:grpSpLocks/>
            </p:cNvGrpSpPr>
            <p:nvPr/>
          </p:nvGrpSpPr>
          <p:grpSpPr bwMode="auto">
            <a:xfrm>
              <a:off x="1152" y="1131"/>
              <a:ext cx="480" cy="419"/>
              <a:chOff x="1110" y="2656"/>
              <a:chExt cx="1549" cy="1351"/>
            </a:xfrm>
          </p:grpSpPr>
          <p:sp>
            <p:nvSpPr>
              <p:cNvPr id="128018"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28019"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35176"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28015"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6" name="Text Box 10"/>
            <p:cNvSpPr txBox="1">
              <a:spLocks noChangeArrowheads="1"/>
            </p:cNvSpPr>
            <p:nvPr/>
          </p:nvSpPr>
          <p:spPr bwMode="auto">
            <a:xfrm>
              <a:off x="2112" y="1101"/>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联结词的个数</a:t>
              </a:r>
            </a:p>
          </p:txBody>
        </p:sp>
        <p:sp>
          <p:nvSpPr>
            <p:cNvPr id="128017"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128005" name="Group 12"/>
          <p:cNvGrpSpPr>
            <a:grpSpLocks/>
          </p:cNvGrpSpPr>
          <p:nvPr/>
        </p:nvGrpSpPr>
        <p:grpSpPr bwMode="auto">
          <a:xfrm>
            <a:off x="1042988" y="3213100"/>
            <a:ext cx="6754812" cy="765175"/>
            <a:chOff x="1152" y="1644"/>
            <a:chExt cx="4255" cy="482"/>
          </a:xfrm>
        </p:grpSpPr>
        <p:grpSp>
          <p:nvGrpSpPr>
            <p:cNvPr id="128007" name="Group 13"/>
            <p:cNvGrpSpPr>
              <a:grpSpLocks/>
            </p:cNvGrpSpPr>
            <p:nvPr/>
          </p:nvGrpSpPr>
          <p:grpSpPr bwMode="auto">
            <a:xfrm>
              <a:off x="1152" y="1707"/>
              <a:ext cx="480" cy="419"/>
              <a:chOff x="3174" y="2656"/>
              <a:chExt cx="1549" cy="1351"/>
            </a:xfrm>
          </p:grpSpPr>
          <p:sp>
            <p:nvSpPr>
              <p:cNvPr id="128011"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28012"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35184"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28008"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Text Box 18"/>
            <p:cNvSpPr txBox="1">
              <a:spLocks noChangeArrowheads="1"/>
            </p:cNvSpPr>
            <p:nvPr/>
          </p:nvSpPr>
          <p:spPr bwMode="auto">
            <a:xfrm>
              <a:off x="2112" y="1644"/>
              <a:ext cx="329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600" b="1"/>
                <a:t>联结词集合的功能完备性</a:t>
              </a:r>
            </a:p>
          </p:txBody>
        </p:sp>
        <p:sp>
          <p:nvSpPr>
            <p:cNvPr id="128010"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sp>
        <p:nvSpPr>
          <p:cNvPr id="2" name="圆角矩形 1"/>
          <p:cNvSpPr/>
          <p:nvPr/>
        </p:nvSpPr>
        <p:spPr>
          <a:xfrm>
            <a:off x="900113" y="1412875"/>
            <a:ext cx="7632700" cy="280828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en-US" altLang="zh-CN" b="1">
                <a:latin typeface="Times New Roman" pitchFamily="18" charset="0"/>
              </a:rPr>
              <a:t>3.6  </a:t>
            </a:r>
            <a:r>
              <a:rPr lang="zh-CN" altLang="en-US" b="1">
                <a:latin typeface="Times New Roman" pitchFamily="18" charset="0"/>
              </a:rPr>
              <a:t>联结词集合的功能完备性</a:t>
            </a:r>
          </a:p>
        </p:txBody>
      </p:sp>
      <p:sp>
        <p:nvSpPr>
          <p:cNvPr id="129027" name="Rectangle 3"/>
          <p:cNvSpPr>
            <a:spLocks noGrp="1" noChangeArrowheads="1"/>
          </p:cNvSpPr>
          <p:nvPr>
            <p:ph type="body" idx="1"/>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前面介绍了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个联结词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我们想知道</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元和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联结词一共有多少个</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哪些联结词集合具有功能完备性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这些内容可以从一定的理论高度帮助理解逻辑门电路的种类及其按一定要求化简逻辑函数等问题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3.6.1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联结词的个数</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338" name="Rectangle 2"/>
              <p:cNvSpPr>
                <a:spLocks noGrp="1" noChangeArrowheads="1"/>
              </p:cNvSpPr>
              <p:nvPr>
                <p:ph/>
              </p:nvPr>
            </p:nvSpPr>
            <p:spPr/>
            <p:txBody>
              <a:bodyPr/>
              <a:lstStyle/>
              <a:p>
                <a:pPr>
                  <a:lnSpc>
                    <a:spcPct val="120000"/>
                  </a:lnSpc>
                </a:pPr>
                <a:r>
                  <a:rPr lang="zh-Hans" altLang="en-US" b="1" dirty="0"/>
                  <a:t>考虑公式 </a:t>
                </a:r>
                <a14:m>
                  <m:oMath xmlns:m="http://schemas.openxmlformats.org/officeDocument/2006/math">
                    <m:r>
                      <a:rPr lang="en-US" altLang="zh-CN" b="1" i="1" smtClean="0">
                        <a:latin typeface="Cambria Math"/>
                      </a:rPr>
                      <m:t>𝑨</m:t>
                    </m:r>
                    <m:r>
                      <a:rPr lang="en-US" altLang="zh-CN" b="1" i="1" smtClean="0">
                        <a:latin typeface="Cambria Math" panose="02040503050406030204" pitchFamily="18" charset="0"/>
                      </a:rPr>
                      <m:t>(</m:t>
                    </m:r>
                    <m:r>
                      <a:rPr lang="en-US" altLang="zh-CN" b="1" i="1" smtClean="0">
                        <a:latin typeface="Cambria Math"/>
                      </a:rPr>
                      <m:t>𝒑</m:t>
                    </m:r>
                    <m:r>
                      <a:rPr lang="en-US" altLang="zh-CN" b="1" i="1" smtClean="0">
                        <a:latin typeface="Cambria Math" panose="02040503050406030204" pitchFamily="18" charset="0"/>
                      </a:rPr>
                      <m:t>,</m:t>
                    </m:r>
                    <m:r>
                      <a:rPr lang="en-US" altLang="zh-CN" b="1" i="1" smtClean="0">
                        <a:latin typeface="Cambria Math"/>
                      </a:rPr>
                      <m:t>𝒒</m:t>
                    </m:r>
                    <m:r>
                      <a:rPr lang="en-US" altLang="zh-CN" b="1" i="1" smtClean="0">
                        <a:latin typeface="Cambria Math" panose="02040503050406030204" pitchFamily="18" charset="0"/>
                      </a:rPr>
                      <m:t>)</m:t>
                    </m:r>
                  </m:oMath>
                </a14:m>
                <a:r>
                  <a:rPr lang="zh-Hans" altLang="en-US" b="1" dirty="0">
                    <a:latin typeface="Times New Roman" pitchFamily="18" charset="0"/>
                  </a:rPr>
                  <a:t>，由</a:t>
                </a:r>
                <a14:m>
                  <m:oMath xmlns:m="http://schemas.openxmlformats.org/officeDocument/2006/math">
                    <m:r>
                      <a:rPr lang="en-US" altLang="zh-CN" b="1" i="1">
                        <a:latin typeface="Cambria Math"/>
                      </a:rPr>
                      <m:t>𝒑</m:t>
                    </m:r>
                    <m:r>
                      <a:rPr lang="zh-Hans" altLang="en-US" b="1" i="1" smtClean="0">
                        <a:latin typeface="Cambria Math" panose="02040503050406030204" pitchFamily="18" charset="0"/>
                      </a:rPr>
                      <m:t>和</m:t>
                    </m:r>
                    <m:r>
                      <a:rPr lang="en-US" altLang="zh-CN" b="1" i="1">
                        <a:latin typeface="Cambria Math"/>
                      </a:rPr>
                      <m:t>𝒒</m:t>
                    </m:r>
                  </m:oMath>
                </a14:m>
                <a:r>
                  <a:rPr lang="zh-Hans" altLang="en-US" b="1" dirty="0">
                    <a:latin typeface="Times New Roman" pitchFamily="18" charset="0"/>
                  </a:rPr>
                  <a:t>可构成不等值的命题公式</a:t>
                </a:r>
                <a:r>
                  <a:rPr lang="zh-Hans" altLang="en-US" b="1" dirty="0">
                    <a:solidFill>
                      <a:srgbClr val="1829A6"/>
                    </a:solidFill>
                    <a:latin typeface="Times New Roman" pitchFamily="18" charset="0"/>
                  </a:rPr>
                  <a:t>共有      个</a:t>
                </a:r>
                <a:r>
                  <a:rPr lang="zh-Hans" altLang="en-US" b="1" dirty="0">
                    <a:latin typeface="Times New Roman" pitchFamily="18" charset="0"/>
                  </a:rPr>
                  <a:t>？</a:t>
                </a:r>
                <a:endParaRPr lang="en-US" altLang="zh-CN" b="1" dirty="0">
                  <a:latin typeface="Times New Roman" pitchFamily="18" charset="0"/>
                </a:endParaRPr>
              </a:p>
              <a:p>
                <a:pPr>
                  <a:lnSpc>
                    <a:spcPct val="120000"/>
                  </a:lnSpc>
                </a:pPr>
                <a:endParaRPr lang="en-US" altLang="zh-CN" b="1" dirty="0">
                  <a:latin typeface="Times New Roman" pitchFamily="18" charset="0"/>
                </a:endParaRPr>
              </a:p>
              <a:p>
                <a:pPr>
                  <a:lnSpc>
                    <a:spcPct val="120000"/>
                  </a:lnSpc>
                </a:pPr>
                <a:endParaRPr lang="en-US" altLang="zh-CN" b="1" dirty="0">
                  <a:latin typeface="Times New Roman" pitchFamily="18" charset="0"/>
                </a:endParaRPr>
              </a:p>
              <a:p>
                <a:pPr>
                  <a:lnSpc>
                    <a:spcPct val="120000"/>
                  </a:lnSpc>
                </a:pPr>
                <a:endParaRPr lang="en-US" altLang="zh-CN" b="1" dirty="0">
                  <a:latin typeface="Times New Roman" pitchFamily="18" charset="0"/>
                </a:endParaRPr>
              </a:p>
              <a:p>
                <a:pPr>
                  <a:lnSpc>
                    <a:spcPct val="120000"/>
                  </a:lnSpc>
                </a:pPr>
                <a:endParaRPr lang="en-US" altLang="zh-CN" b="1" dirty="0">
                  <a:latin typeface="Times New Roman" pitchFamily="18" charset="0"/>
                </a:endParaRPr>
              </a:p>
              <a:p>
                <a:pPr marL="0" indent="0">
                  <a:lnSpc>
                    <a:spcPct val="120000"/>
                  </a:lnSpc>
                  <a:buNone/>
                </a:pPr>
                <a:r>
                  <a:rPr lang="en-US" altLang="zh-CN" b="1" dirty="0"/>
                  <a:t>    </a:t>
                </a:r>
                <a14:m>
                  <m:oMath xmlns:m="http://schemas.openxmlformats.org/officeDocument/2006/math">
                    <m:r>
                      <a:rPr lang="en-US" altLang="zh-CN" b="1" i="1" smtClean="0">
                        <a:latin typeface="Cambria Math"/>
                      </a:rPr>
                      <m:t>𝟏</m:t>
                    </m:r>
                    <m:r>
                      <a:rPr lang="en-US" altLang="zh-CN" b="1" i="1" smtClean="0">
                        <a:latin typeface="Cambria Math"/>
                      </a:rPr>
                      <m:t>,  </m:t>
                    </m:r>
                    <m:r>
                      <a:rPr lang="en-US" altLang="zh-CN" b="1" i="1" smtClean="0">
                        <a:latin typeface="Cambria Math"/>
                      </a:rPr>
                      <m:t>𝟎</m:t>
                    </m:r>
                    <m:r>
                      <a:rPr lang="en-US" altLang="zh-CN" b="1" i="1" smtClean="0">
                        <a:latin typeface="Cambria Math"/>
                      </a:rPr>
                      <m:t>,</m:t>
                    </m:r>
                    <m:r>
                      <a:rPr lang="en-US" altLang="zh-CN" b="1" i="1" smtClean="0">
                        <a:latin typeface="Cambria Math"/>
                      </a:rPr>
                      <m:t>𝒑</m:t>
                    </m:r>
                    <m:r>
                      <a:rPr lang="en-US" altLang="zh-CN" b="1" i="1" smtClean="0">
                        <a:latin typeface="Cambria Math"/>
                      </a:rPr>
                      <m:t>,</m:t>
                    </m:r>
                    <m:r>
                      <a:rPr lang="en-US" altLang="zh-CN" b="1" i="1" smtClean="0">
                        <a:latin typeface="Cambria Math"/>
                      </a:rPr>
                      <m:t>𝒒</m:t>
                    </m:r>
                    <m:r>
                      <a:rPr lang="en-US" altLang="zh-CN" b="1" i="1" smtClean="0">
                        <a:latin typeface="Cambria Math"/>
                      </a:rPr>
                      <m:t>,¬,¬,  ∧,  ↑,  ∨,  ↓,→,↦,</m:t>
                    </m:r>
                    <m:r>
                      <a:rPr lang="en-US" altLang="zh-CN" b="1" i="1" smtClean="0">
                        <a:latin typeface="Cambria Math"/>
                      </a:rPr>
                      <m:t>↔</m:t>
                    </m:r>
                    <m:r>
                      <a:rPr lang="en-US" altLang="zh-CN" b="1" i="1" smtClean="0">
                        <a:latin typeface="Cambria Math"/>
                      </a:rPr>
                      <m:t>,</m:t>
                    </m:r>
                    <m:nary>
                      <m:naryPr>
                        <m:chr m:val="⨁"/>
                        <m:subHide m:val="on"/>
                        <m:supHide m:val="on"/>
                        <m:ctrlPr>
                          <a:rPr lang="en-US" altLang="zh-CN" b="1" i="1" smtClean="0">
                            <a:latin typeface="Cambria Math" panose="02040503050406030204" pitchFamily="18" charset="0"/>
                            <a:ea typeface="Cambria Math"/>
                          </a:rPr>
                        </m:ctrlPr>
                      </m:naryPr>
                      <m:sub/>
                      <m:sup/>
                      <m:e>
                        <m:r>
                          <a:rPr lang="en-US" altLang="zh-CN" b="1" i="1" smtClean="0">
                            <a:latin typeface="Cambria Math"/>
                            <a:ea typeface="Cambria Math"/>
                          </a:rPr>
                          <m:t>→,</m:t>
                        </m:r>
                      </m:e>
                    </m:nary>
                  </m:oMath>
                </a14:m>
                <a:r>
                  <a:rPr lang="en-US" altLang="zh-CN" b="1" dirty="0"/>
                  <a:t> </a:t>
                </a:r>
                <a14:m>
                  <m:oMath xmlns:m="http://schemas.openxmlformats.org/officeDocument/2006/math">
                    <m:r>
                      <a:rPr lang="en-US" altLang="zh-CN" b="1" i="1">
                        <a:latin typeface="Cambria Math"/>
                      </a:rPr>
                      <m:t>↦</m:t>
                    </m:r>
                  </m:oMath>
                </a14:m>
                <a:r>
                  <a:rPr lang="en-US" altLang="zh-CN" b="1" dirty="0">
                    <a:ea typeface="Cambria Math"/>
                  </a:rPr>
                  <a:t> </a:t>
                </a:r>
              </a:p>
              <a:p>
                <a:pPr marL="0" indent="0">
                  <a:lnSpc>
                    <a:spcPct val="120000"/>
                  </a:lnSpc>
                  <a:buNone/>
                </a:pPr>
                <a:r>
                  <a:rPr lang="en-US" altLang="zh-CN" b="1" dirty="0">
                    <a:ea typeface="Cambria Math"/>
                  </a:rPr>
                  <a:t>          </a:t>
                </a:r>
                <a14:m>
                  <m:oMath xmlns:m="http://schemas.openxmlformats.org/officeDocument/2006/math">
                    <m:r>
                      <a:rPr lang="en-US" altLang="zh-CN" b="1" i="1" dirty="0" smtClean="0">
                        <a:latin typeface="Cambria Math"/>
                        <a:ea typeface="Cambria Math"/>
                      </a:rPr>
                      <m:t> </m:t>
                    </m:r>
                    <m:r>
                      <a:rPr lang="en-US" altLang="zh-CN" b="1" i="1" dirty="0" smtClean="0">
                        <a:latin typeface="Cambria Math"/>
                        <a:ea typeface="Cambria Math"/>
                      </a:rPr>
                      <m:t>𝑼</m:t>
                    </m:r>
                    <m:r>
                      <a:rPr lang="en-US" altLang="zh-CN" b="1" i="1" dirty="0" smtClean="0">
                        <a:latin typeface="Cambria Math"/>
                        <a:ea typeface="Cambria Math"/>
                      </a:rPr>
                      <m:t>={¬,  ∧,  ∨,⨁,→,↔,↑, ↓,↦}</m:t>
                    </m:r>
                  </m:oMath>
                </a14:m>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en-US" altLang="zh-CN" b="1" dirty="0"/>
              </a:p>
              <a:p>
                <a:pPr>
                  <a:lnSpc>
                    <a:spcPct val="120000"/>
                  </a:lnSpc>
                </a:pPr>
                <a:endParaRPr lang="en-US" altLang="zh-CN" b="1" dirty="0"/>
              </a:p>
            </p:txBody>
          </p:sp>
        </mc:Choice>
        <mc:Fallback xmlns="">
          <p:sp>
            <p:nvSpPr>
              <p:cNvPr id="14338" name="Rectangle 2"/>
              <p:cNvSpPr>
                <a:spLocks noGrp="1" noRot="1" noChangeAspect="1" noMove="1" noResize="1" noEditPoints="1" noAdjustHandles="1" noChangeArrowheads="1" noChangeShapeType="1" noTextEdit="1"/>
              </p:cNvSpPr>
              <p:nvPr>
                <p:ph/>
              </p:nvPr>
            </p:nvSpPr>
            <p:spPr>
              <a:blipFill>
                <a:blip r:embed="rId3"/>
                <a:stretch>
                  <a:fillRect l="-1852" t="-868" r="-154"/>
                </a:stretch>
              </a:blipFill>
            </p:spPr>
            <p:txBody>
              <a:bodyPr/>
              <a:lstStyle/>
              <a:p>
                <a:r>
                  <a:rPr lang="zh-CN" altLang="en-US">
                    <a:noFill/>
                  </a:rPr>
                  <a:t> </a:t>
                </a:r>
              </a:p>
            </p:txBody>
          </p:sp>
        </mc:Fallback>
      </mc:AlternateContent>
      <p:graphicFrame>
        <p:nvGraphicFramePr>
          <p:cNvPr id="14453" name="Group 117"/>
          <p:cNvGraphicFramePr>
            <a:graphicFrameLocks noGrp="1"/>
          </p:cNvGraphicFramePr>
          <p:nvPr>
            <p:extLst>
              <p:ext uri="{D42A27DB-BD31-4B8C-83A1-F6EECF244321}">
                <p14:modId xmlns:p14="http://schemas.microsoft.com/office/powerpoint/2010/main" val="3392457011"/>
              </p:ext>
            </p:extLst>
          </p:nvPr>
        </p:nvGraphicFramePr>
        <p:xfrm>
          <a:off x="539552" y="1700808"/>
          <a:ext cx="8137525" cy="2461452"/>
        </p:xfrm>
        <a:graphic>
          <a:graphicData uri="http://schemas.openxmlformats.org/drawingml/2006/table">
            <a:tbl>
              <a:tblPr/>
              <a:tblGrid>
                <a:gridCol w="576262">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41275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gridCol w="481013">
                  <a:extLst>
                    <a:ext uri="{9D8B030D-6E8A-4147-A177-3AD203B41FA5}">
                      <a16:colId xmlns:a16="http://schemas.microsoft.com/office/drawing/2014/main" val="20004"/>
                    </a:ext>
                  </a:extLst>
                </a:gridCol>
                <a:gridCol w="477837">
                  <a:extLst>
                    <a:ext uri="{9D8B030D-6E8A-4147-A177-3AD203B41FA5}">
                      <a16:colId xmlns:a16="http://schemas.microsoft.com/office/drawing/2014/main" val="20005"/>
                    </a:ext>
                  </a:extLst>
                </a:gridCol>
                <a:gridCol w="476250">
                  <a:extLst>
                    <a:ext uri="{9D8B030D-6E8A-4147-A177-3AD203B41FA5}">
                      <a16:colId xmlns:a16="http://schemas.microsoft.com/office/drawing/2014/main" val="20006"/>
                    </a:ext>
                  </a:extLst>
                </a:gridCol>
                <a:gridCol w="482600">
                  <a:extLst>
                    <a:ext uri="{9D8B030D-6E8A-4147-A177-3AD203B41FA5}">
                      <a16:colId xmlns:a16="http://schemas.microsoft.com/office/drawing/2014/main" val="20007"/>
                    </a:ext>
                  </a:extLst>
                </a:gridCol>
                <a:gridCol w="476250">
                  <a:extLst>
                    <a:ext uri="{9D8B030D-6E8A-4147-A177-3AD203B41FA5}">
                      <a16:colId xmlns:a16="http://schemas.microsoft.com/office/drawing/2014/main" val="20008"/>
                    </a:ext>
                  </a:extLst>
                </a:gridCol>
                <a:gridCol w="482600">
                  <a:extLst>
                    <a:ext uri="{9D8B030D-6E8A-4147-A177-3AD203B41FA5}">
                      <a16:colId xmlns:a16="http://schemas.microsoft.com/office/drawing/2014/main" val="20009"/>
                    </a:ext>
                  </a:extLst>
                </a:gridCol>
                <a:gridCol w="476250">
                  <a:extLst>
                    <a:ext uri="{9D8B030D-6E8A-4147-A177-3AD203B41FA5}">
                      <a16:colId xmlns:a16="http://schemas.microsoft.com/office/drawing/2014/main" val="20010"/>
                    </a:ext>
                  </a:extLst>
                </a:gridCol>
                <a:gridCol w="477838">
                  <a:extLst>
                    <a:ext uri="{9D8B030D-6E8A-4147-A177-3AD203B41FA5}">
                      <a16:colId xmlns:a16="http://schemas.microsoft.com/office/drawing/2014/main" val="20011"/>
                    </a:ext>
                  </a:extLst>
                </a:gridCol>
                <a:gridCol w="481012">
                  <a:extLst>
                    <a:ext uri="{9D8B030D-6E8A-4147-A177-3AD203B41FA5}">
                      <a16:colId xmlns:a16="http://schemas.microsoft.com/office/drawing/2014/main" val="20012"/>
                    </a:ext>
                  </a:extLst>
                </a:gridCol>
                <a:gridCol w="476250">
                  <a:extLst>
                    <a:ext uri="{9D8B030D-6E8A-4147-A177-3AD203B41FA5}">
                      <a16:colId xmlns:a16="http://schemas.microsoft.com/office/drawing/2014/main" val="20013"/>
                    </a:ext>
                  </a:extLst>
                </a:gridCol>
                <a:gridCol w="476250">
                  <a:extLst>
                    <a:ext uri="{9D8B030D-6E8A-4147-A177-3AD203B41FA5}">
                      <a16:colId xmlns:a16="http://schemas.microsoft.com/office/drawing/2014/main" val="20014"/>
                    </a:ext>
                  </a:extLst>
                </a:gridCol>
                <a:gridCol w="455613">
                  <a:extLst>
                    <a:ext uri="{9D8B030D-6E8A-4147-A177-3AD203B41FA5}">
                      <a16:colId xmlns:a16="http://schemas.microsoft.com/office/drawing/2014/main" val="20015"/>
                    </a:ext>
                  </a:extLst>
                </a:gridCol>
                <a:gridCol w="504825">
                  <a:extLst>
                    <a:ext uri="{9D8B030D-6E8A-4147-A177-3AD203B41FA5}">
                      <a16:colId xmlns:a16="http://schemas.microsoft.com/office/drawing/2014/main" val="20016"/>
                    </a:ext>
                  </a:extLst>
                </a:gridCol>
              </a:tblGrid>
              <a:tr h="1555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rPr>
                        <a:t>p</a:t>
                      </a:r>
                      <a:r>
                        <a:rPr kumimoji="0" lang="en-US" altLang="zh-CN" sz="2000" b="0" i="0" u="none" strike="noStrike" cap="none" normalizeH="0" baseline="0">
                          <a:ln>
                            <a:noFill/>
                          </a:ln>
                          <a:solidFill>
                            <a:schemeClr val="tx1"/>
                          </a:solidFill>
                          <a:effectLst/>
                          <a:latin typeface="Times New Roman" pitchFamily="18" charset="0"/>
                          <a:ea typeface="宋体" pitchFamily="2" charset="-122"/>
                        </a:rPr>
                        <a:t> </a:t>
                      </a:r>
                      <a:r>
                        <a:rPr kumimoji="0" lang="en-US" altLang="zh-CN" sz="2000" b="0" i="1" u="none" strike="noStrike" cap="none" normalizeH="0" baseline="0">
                          <a:ln>
                            <a:noFill/>
                          </a:ln>
                          <a:solidFill>
                            <a:schemeClr val="tx1"/>
                          </a:solidFill>
                          <a:effectLst/>
                          <a:latin typeface="Times New Roman" pitchFamily="18" charset="0"/>
                          <a:ea typeface="宋体" pitchFamily="2" charset="-122"/>
                        </a:rPr>
                        <a:t>q</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2</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3</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4</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5</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6</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7</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8</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9</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10</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11</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12</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13</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14</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15</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1" u="none" strike="noStrike" cap="none" normalizeH="0" baseline="0">
                          <a:ln>
                            <a:noFill/>
                          </a:ln>
                          <a:solidFill>
                            <a:schemeClr val="tx1"/>
                          </a:solidFill>
                          <a:effectLst/>
                          <a:latin typeface="Times New Roman" pitchFamily="18" charset="0"/>
                          <a:ea typeface="宋体" pitchFamily="2" charset="-122"/>
                        </a:rPr>
                        <a:t>A</a:t>
                      </a:r>
                      <a:r>
                        <a:rPr kumimoji="0" lang="en-US" altLang="zh-CN" sz="1600" b="0" i="0" u="none" strike="noStrike" cap="none" normalizeH="0" baseline="-25000">
                          <a:ln>
                            <a:noFill/>
                          </a:ln>
                          <a:solidFill>
                            <a:schemeClr val="tx1"/>
                          </a:solidFill>
                          <a:effectLst/>
                          <a:latin typeface="Times New Roman" pitchFamily="18" charset="0"/>
                          <a:ea typeface="宋体" pitchFamily="2" charset="-122"/>
                        </a:rPr>
                        <a:t>16</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6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7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3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0 1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0 0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3" name="直线连接符 2">
            <a:extLst>
              <a:ext uri="{FF2B5EF4-FFF2-40B4-BE49-F238E27FC236}">
                <a16:creationId xmlns:a16="http://schemas.microsoft.com/office/drawing/2014/main" id="{69261BB0-8E03-0B48-B6AB-623FA2506D18}"/>
              </a:ext>
            </a:extLst>
          </p:cNvPr>
          <p:cNvCxnSpPr/>
          <p:nvPr/>
        </p:nvCxnSpPr>
        <p:spPr>
          <a:xfrm>
            <a:off x="3275856" y="1412776"/>
            <a:ext cx="720080" cy="0"/>
          </a:xfrm>
          <a:prstGeom prst="line">
            <a:avLst/>
          </a:prstGeom>
          <a:ln w="19050">
            <a:solidFill>
              <a:srgbClr val="1829A6"/>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7426B8E-87C2-244F-8085-140337F3236B}"/>
              </a:ext>
            </a:extLst>
          </p:cNvPr>
          <p:cNvSpPr txBox="1"/>
          <p:nvPr/>
        </p:nvSpPr>
        <p:spPr>
          <a:xfrm>
            <a:off x="3419872" y="980728"/>
            <a:ext cx="648072" cy="430887"/>
          </a:xfrm>
          <a:prstGeom prst="rect">
            <a:avLst/>
          </a:prstGeom>
          <a:noFill/>
        </p:spPr>
        <p:txBody>
          <a:bodyPr wrap="square" rtlCol="0">
            <a:spAutoFit/>
          </a:bodyPr>
          <a:lstStyle/>
          <a:p>
            <a:r>
              <a:rPr lang="en-US" altLang="zh-Hans" sz="2200" b="1" dirty="0">
                <a:solidFill>
                  <a:srgbClr val="1829A6"/>
                </a:solidFill>
                <a:latin typeface="Times New Roman" pitchFamily="18" charset="0"/>
              </a:rPr>
              <a:t>16</a:t>
            </a:r>
            <a:endParaRPr kumimoji="1" lang="zh-CN" altLang="en-US" sz="2200" dirty="0"/>
          </a:p>
        </p:txBody>
      </p:sp>
    </p:spTree>
    <p:extLst>
      <p:ext uri="{BB962C8B-B14F-4D97-AF65-F5344CB8AC3E}">
        <p14:creationId xmlns:p14="http://schemas.microsoft.com/office/powerpoint/2010/main" val="25168277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07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集合运算与逻辑运算之间有紧密的联系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能否类似于真值表形式给出集合运算的定义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若能</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如何给出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前面已经说明了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不同的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元和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元逻辑运算共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元逻辑运算更多</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而集合运算只介绍了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给出另外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种集合运算的定义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3  9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种逻辑运算与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种集合运算是如何对应的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3.6.2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联结词集合的功能完备性</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有些逻辑运算可以借助于其他联结词加以定义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Def 3-11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对于若干个联结词组成的非空集合</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若任意的命题公式都可由仅含</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中的联结词等值地表示出来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则称</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功能完备联结词集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(complete group of connectives， </a:t>
            </a:r>
            <a:r>
              <a:rPr lang="en-US" altLang="zh-CN"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adequate sets of connectives</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中的联结词理解为门电路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是完备的是指任何的组合逻辑电路都可以由这些门电路实现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任意命题公式都存在唯一的主析取范式或主合取范式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于是任意的命题公式都可以由</a:t>
            </a:r>
            <a:r>
              <a:rPr lang="zh-CN" altLang="en-US"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等值表示出来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因此</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a:t>
            </a:r>
            <a:r>
              <a:rPr lang="en-US" altLang="zh-CN"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rPr>
              <a:t>是功能完备联结词集</a:t>
            </a:r>
            <a:r>
              <a:rPr lang="en-US" altLang="zh-CN" b="1" dirty="0">
                <a:solidFill>
                  <a:schemeClr val="tx2"/>
                </a:solidFill>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p:nvPr>
        </p:nvSpPr>
        <p:spPr/>
        <p:txBody>
          <a:bodyPr/>
          <a:lstStyle/>
          <a:p>
            <a:pPr eaLnBrk="1" hangingPunct="1"/>
            <a:r>
              <a:rPr lang="en-US" altLang="zh-CN" b="1" dirty="0">
                <a:latin typeface="Times New Roman" pitchFamily="18" charset="0"/>
              </a:rPr>
              <a:t>Corollary  (1){</a:t>
            </a:r>
            <a:r>
              <a:rPr lang="en-US" altLang="zh-CN" b="1" dirty="0">
                <a:latin typeface="Times New Roman" pitchFamily="18" charset="0"/>
                <a:sym typeface="Symbol" pitchFamily="18" charset="2"/>
              </a:rPr>
              <a:t></a:t>
            </a:r>
            <a:r>
              <a:rPr lang="en-US" altLang="zh-CN" b="1" dirty="0">
                <a:latin typeface="Times New Roman" pitchFamily="18" charset="0"/>
              </a:rPr>
              <a:t>}. (2){</a:t>
            </a:r>
            <a:r>
              <a:rPr lang="en-US" altLang="zh-CN" b="1" dirty="0">
                <a:latin typeface="Times New Roman" pitchFamily="18" charset="0"/>
                <a:sym typeface="Symbol" pitchFamily="18" charset="2"/>
              </a:rPr>
              <a:t></a:t>
            </a:r>
            <a:r>
              <a:rPr lang="en-US" altLang="zh-CN" b="1" dirty="0">
                <a:latin typeface="Times New Roman" pitchFamily="18" charset="0"/>
              </a:rPr>
              <a:t>}.(3){</a:t>
            </a:r>
            <a:r>
              <a:rPr lang="en-US" altLang="zh-CN" b="1" dirty="0">
                <a:latin typeface="Times New Roman" pitchFamily="18" charset="0"/>
                <a:sym typeface="Symbol" pitchFamily="18" charset="2"/>
              </a:rPr>
              <a:t>, </a:t>
            </a:r>
            <a:r>
              <a:rPr lang="en-US" altLang="zh-CN" b="1" dirty="0">
                <a:latin typeface="Times New Roman" pitchFamily="18" charset="0"/>
              </a:rPr>
              <a:t>}.</a:t>
            </a:r>
          </a:p>
          <a:p>
            <a:pPr eaLnBrk="1" hangingPunct="1">
              <a:buFontTx/>
              <a:buNone/>
            </a:pPr>
            <a:r>
              <a:rPr lang="en-US" altLang="zh-CN" b="1" dirty="0">
                <a:latin typeface="Times New Roman" pitchFamily="18" charset="0"/>
              </a:rPr>
              <a:t>                      (4){</a:t>
            </a:r>
            <a:r>
              <a:rPr lang="en-US" altLang="zh-CN" b="1" dirty="0">
                <a:latin typeface="Times New Roman" pitchFamily="18" charset="0"/>
                <a:sym typeface="Symbol" pitchFamily="18" charset="2"/>
              </a:rPr>
              <a:t>, </a:t>
            </a:r>
            <a:r>
              <a:rPr lang="en-US" altLang="zh-CN" b="1" dirty="0">
                <a:latin typeface="Times New Roman" pitchFamily="18" charset="0"/>
              </a:rPr>
              <a:t>}. (5){</a:t>
            </a:r>
            <a:r>
              <a:rPr lang="en-US" altLang="zh-CN" b="1" dirty="0">
                <a:latin typeface="Times New Roman" pitchFamily="18" charset="0"/>
                <a:sym typeface="Symbol" pitchFamily="18" charset="2"/>
              </a:rPr>
              <a:t>, </a:t>
            </a:r>
            <a:r>
              <a:rPr lang="en-US" altLang="zh-CN" b="1" dirty="0">
                <a:latin typeface="Times New Roman" pitchFamily="18" charset="0"/>
              </a:rPr>
              <a:t>}. </a:t>
            </a:r>
          </a:p>
          <a:p>
            <a:pPr eaLnBrk="1" hangingPunct="1">
              <a:buFontTx/>
              <a:buNone/>
            </a:pPr>
            <a:endParaRPr lang="en-US" altLang="zh-CN" sz="1200" b="1" dirty="0">
              <a:latin typeface="Times New Roman" pitchFamily="18" charset="0"/>
            </a:endParaRPr>
          </a:p>
          <a:p>
            <a:pPr eaLnBrk="1" hangingPunct="1"/>
            <a:r>
              <a:rPr lang="en-US" altLang="zh-CN" b="1" dirty="0">
                <a:latin typeface="Times New Roman" pitchFamily="18" charset="0"/>
              </a:rPr>
              <a:t>Proof (1)</a:t>
            </a:r>
          </a:p>
          <a:p>
            <a:pPr eaLnBrk="1" hangingPunct="1"/>
            <a:endParaRPr lang="en-US" altLang="zh-CN" b="1" dirty="0">
              <a:latin typeface="Times New Roman" pitchFamily="18" charset="0"/>
            </a:endParaRPr>
          </a:p>
        </p:txBody>
      </p:sp>
      <p:graphicFrame>
        <p:nvGraphicFramePr>
          <p:cNvPr id="135171" name="Object 3"/>
          <p:cNvGraphicFramePr>
            <a:graphicFrameLocks noChangeAspect="1"/>
          </p:cNvGraphicFramePr>
          <p:nvPr>
            <p:extLst>
              <p:ext uri="{D42A27DB-BD31-4B8C-83A1-F6EECF244321}">
                <p14:modId xmlns:p14="http://schemas.microsoft.com/office/powerpoint/2010/main" val="2354014586"/>
              </p:ext>
            </p:extLst>
          </p:nvPr>
        </p:nvGraphicFramePr>
        <p:xfrm>
          <a:off x="2987675" y="1660352"/>
          <a:ext cx="3548063" cy="544512"/>
        </p:xfrm>
        <a:graphic>
          <a:graphicData uri="http://schemas.openxmlformats.org/presentationml/2006/ole">
            <mc:AlternateContent xmlns:mc="http://schemas.openxmlformats.org/markup-compatibility/2006">
              <mc:Choice xmlns:v="urn:schemas-microsoft-com:vml" Requires="v">
                <p:oleObj name="Equation" r:id="rId2" imgW="1409824" imgH="152280" progId="Equation.3">
                  <p:embed/>
                </p:oleObj>
              </mc:Choice>
              <mc:Fallback>
                <p:oleObj name="Equation" r:id="rId2" imgW="1409824"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1660352"/>
                        <a:ext cx="3548063"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72" name="Object 4"/>
          <p:cNvGraphicFramePr>
            <a:graphicFrameLocks noChangeAspect="1"/>
          </p:cNvGraphicFramePr>
          <p:nvPr>
            <p:extLst>
              <p:ext uri="{D42A27DB-BD31-4B8C-83A1-F6EECF244321}">
                <p14:modId xmlns:p14="http://schemas.microsoft.com/office/powerpoint/2010/main" val="2521223165"/>
              </p:ext>
            </p:extLst>
          </p:nvPr>
        </p:nvGraphicFramePr>
        <p:xfrm>
          <a:off x="2987675" y="2852936"/>
          <a:ext cx="5094288" cy="1089025"/>
        </p:xfrm>
        <a:graphic>
          <a:graphicData uri="http://schemas.openxmlformats.org/presentationml/2006/ole">
            <mc:AlternateContent xmlns:mc="http://schemas.openxmlformats.org/markup-compatibility/2006">
              <mc:Choice xmlns:v="urn:schemas-microsoft-com:vml" Requires="v">
                <p:oleObj name="Equation" r:id="rId4" imgW="2057332" imgH="380970" progId="Equation.3">
                  <p:embed/>
                </p:oleObj>
              </mc:Choice>
              <mc:Fallback>
                <p:oleObj name="Equation" r:id="rId4" imgW="2057332" imgH="38097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2852936"/>
                        <a:ext cx="5094288"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73" name="Object 5"/>
          <p:cNvGraphicFramePr>
            <a:graphicFrameLocks noChangeAspect="1"/>
          </p:cNvGraphicFramePr>
          <p:nvPr>
            <p:extLst>
              <p:ext uri="{D42A27DB-BD31-4B8C-83A1-F6EECF244321}">
                <p14:modId xmlns:p14="http://schemas.microsoft.com/office/powerpoint/2010/main" val="911845238"/>
              </p:ext>
            </p:extLst>
          </p:nvPr>
        </p:nvGraphicFramePr>
        <p:xfrm>
          <a:off x="2915816" y="4508500"/>
          <a:ext cx="4610100" cy="1089025"/>
        </p:xfrm>
        <a:graphic>
          <a:graphicData uri="http://schemas.openxmlformats.org/presentationml/2006/ole">
            <mc:AlternateContent xmlns:mc="http://schemas.openxmlformats.org/markup-compatibility/2006">
              <mc:Choice xmlns:v="urn:schemas-microsoft-com:vml" Requires="v">
                <p:oleObj name="Equation" r:id="rId6" imgW="1857434" imgH="380970" progId="Equation.3">
                  <p:embed/>
                </p:oleObj>
              </mc:Choice>
              <mc:Fallback>
                <p:oleObj name="Equation" r:id="rId6" imgW="1857434" imgH="38097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5816" y="4508500"/>
                        <a:ext cx="4610100"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7218" name="Rectangle 2"/>
          <p:cNvSpPr>
            <a:spLocks noGrp="1" noChangeArrowheads="1"/>
          </p:cNvSpPr>
          <p:nvPr>
            <p:ph/>
          </p:nvPr>
        </p:nvSpPr>
        <p:spPr/>
        <p:txBody>
          <a:bodyPr/>
          <a:lstStyle/>
          <a:p>
            <a:pPr eaLnBrk="1" hangingPunct="1">
              <a:lnSpc>
                <a:spcPct val="120000"/>
              </a:lnSpc>
            </a:pPr>
            <a:r>
              <a:rPr lang="zh-CN" altLang="en-US" b="1" dirty="0">
                <a:latin typeface="Times New Roman" pitchFamily="18" charset="0"/>
                <a:ea typeface="华文新魏" pitchFamily="2" charset="-122"/>
              </a:rPr>
              <a:t>例</a:t>
            </a:r>
            <a:r>
              <a:rPr lang="en-US" altLang="zh-CN" b="1" dirty="0">
                <a:latin typeface="Times New Roman" pitchFamily="18" charset="0"/>
                <a:ea typeface="华文新魏" pitchFamily="2" charset="-122"/>
              </a:rPr>
              <a:t>3-27 </a:t>
            </a:r>
            <a:r>
              <a:rPr lang="zh-CN" altLang="en-US" sz="2800" b="1" dirty="0">
                <a:latin typeface="+mn-ea"/>
              </a:rPr>
              <a:t>化简公式，并用仅含</a:t>
            </a:r>
            <a:r>
              <a:rPr lang="en-US" altLang="zh-CN" sz="2800" b="1" dirty="0">
                <a:latin typeface="+mn-ea"/>
                <a:sym typeface="Symbol" pitchFamily="18" charset="2"/>
              </a:rPr>
              <a:t>, </a:t>
            </a:r>
            <a:r>
              <a:rPr lang="zh-CN" altLang="en-US" sz="2800" b="1" dirty="0">
                <a:latin typeface="+mn-ea"/>
                <a:sym typeface="Symbol" pitchFamily="18" charset="2"/>
              </a:rPr>
              <a:t>的等值公式表示</a:t>
            </a:r>
            <a:endParaRPr lang="en-US" altLang="zh-CN" sz="2800" b="1" dirty="0">
              <a:latin typeface="+mn-ea"/>
            </a:endParaRPr>
          </a:p>
          <a:p>
            <a:pPr eaLnBrk="1" hangingPunct="1">
              <a:lnSpc>
                <a:spcPct val="120000"/>
              </a:lnSpc>
            </a:pPr>
            <a:r>
              <a:rPr lang="en-US" altLang="zh-CN" b="1" dirty="0">
                <a:latin typeface="Times New Roman" pitchFamily="18" charset="0"/>
              </a:rPr>
              <a:t>Solution</a:t>
            </a:r>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p>
          <a:p>
            <a:pPr eaLnBrk="1" hangingPunct="1">
              <a:lnSpc>
                <a:spcPct val="120000"/>
              </a:lnSpc>
            </a:pPr>
            <a:endParaRPr lang="en-US" altLang="zh-CN" b="1" dirty="0">
              <a:latin typeface="Times New Roman" pitchFamily="18" charset="0"/>
            </a:endParaRPr>
          </a:p>
          <a:p>
            <a:pPr eaLnBrk="1" hangingPunct="1">
              <a:lnSpc>
                <a:spcPct val="120000"/>
              </a:lnSpc>
            </a:pPr>
            <a:r>
              <a:rPr lang="en-US" altLang="zh-CN" b="1" dirty="0">
                <a:latin typeface="Times New Roman" pitchFamily="18" charset="0"/>
              </a:rPr>
              <a:t>{</a:t>
            </a:r>
            <a:r>
              <a:rPr lang="en-US" altLang="zh-CN" b="1" dirty="0">
                <a:latin typeface="Times New Roman" pitchFamily="18" charset="0"/>
                <a:sym typeface="Symbol" pitchFamily="18" charset="2"/>
              </a:rPr>
              <a:t>, </a:t>
            </a:r>
            <a:r>
              <a:rPr lang="en-US" altLang="zh-CN" b="1" dirty="0">
                <a:latin typeface="Times New Roman" pitchFamily="18" charset="0"/>
              </a:rPr>
              <a:t>}?</a:t>
            </a:r>
          </a:p>
        </p:txBody>
      </p:sp>
      <p:graphicFrame>
        <p:nvGraphicFramePr>
          <p:cNvPr id="137219" name="Object 3"/>
          <p:cNvGraphicFramePr>
            <a:graphicFrameLocks noChangeAspect="1"/>
          </p:cNvGraphicFramePr>
          <p:nvPr/>
        </p:nvGraphicFramePr>
        <p:xfrm>
          <a:off x="2843213" y="1125538"/>
          <a:ext cx="3852862" cy="3751262"/>
        </p:xfrm>
        <a:graphic>
          <a:graphicData uri="http://schemas.openxmlformats.org/presentationml/2006/ole">
            <mc:AlternateContent xmlns:mc="http://schemas.openxmlformats.org/markup-compatibility/2006">
              <mc:Choice xmlns:v="urn:schemas-microsoft-com:vml" Requires="v">
                <p:oleObj name="Equation" r:id="rId2" imgW="1533545" imgH="1495530" progId="Equation.3">
                  <p:embed/>
                </p:oleObj>
              </mc:Choice>
              <mc:Fallback>
                <p:oleObj name="Equation" r:id="rId2" imgW="1533545" imgH="14955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1125538"/>
                        <a:ext cx="3852862" cy="3751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8242" name="Rectangle 2"/>
          <p:cNvSpPr>
            <a:spLocks noGrp="1" noChangeArrowheads="1"/>
          </p:cNvSpPr>
          <p:nvPr>
            <p:ph/>
          </p:nvPr>
        </p:nvSpPr>
        <p:spPr>
          <a:xfrm>
            <a:off x="457200" y="274638"/>
            <a:ext cx="8147248" cy="5851525"/>
          </a:xfrm>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下面考虑不具有功能完备性的联结词集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3-28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首先证明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对于只含有联结词</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的任意命题公式</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在所有命题变元均取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的真值为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中所含的</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联结词个数</a:t>
            </a:r>
            <a:r>
              <a:rPr lang="en-US" altLang="zh-CN" b="1" i="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使用数学归纳法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0?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其次说明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p:nvPr>
        </p:nvSpPr>
        <p:spPr/>
        <p:txBody>
          <a:bodyPr/>
          <a:lstStyle/>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3-12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是功能完备的联结词集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的任意非空真子集都不是功能完备的联结词集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则称</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极小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的功能完备的联结词集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3-11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下列联结词集是极小功能完备的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itchFamily="18" charset="0"/>
              </a:rPr>
              <a:t>(1){</a:t>
            </a:r>
            <a:r>
              <a:rPr lang="en-US" altLang="zh-CN" b="1" dirty="0">
                <a:latin typeface="Times New Roman" pitchFamily="18" charset="0"/>
                <a:sym typeface="Symbol" pitchFamily="18" charset="2"/>
              </a:rPr>
              <a:t></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(2){</a:t>
            </a:r>
            <a:r>
              <a:rPr lang="en-US" altLang="zh-CN" b="1" dirty="0">
                <a:latin typeface="Times New Roman" pitchFamily="18" charset="0"/>
                <a:sym typeface="Symbol" pitchFamily="18" charset="2"/>
              </a:rPr>
              <a:t></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(3){</a:t>
            </a:r>
            <a:r>
              <a:rPr lang="en-US" altLang="zh-CN" b="1" dirty="0">
                <a:latin typeface="Times New Roman" pitchFamily="18" charset="0"/>
                <a:sym typeface="Symbol" pitchFamily="18" charset="2"/>
              </a:rPr>
              <a:t>, </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(4){</a:t>
            </a:r>
            <a:r>
              <a:rPr lang="en-US" altLang="zh-CN" b="1" dirty="0">
                <a:latin typeface="Times New Roman" pitchFamily="18" charset="0"/>
                <a:sym typeface="Symbol" pitchFamily="18" charset="2"/>
              </a:rPr>
              <a:t>, </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(5){</a:t>
            </a:r>
            <a:r>
              <a:rPr lang="en-US" altLang="zh-CN" b="1" dirty="0">
                <a:latin typeface="Times New Roman" pitchFamily="18" charset="0"/>
                <a:sym typeface="Symbol" pitchFamily="18" charset="2"/>
              </a:rPr>
              <a:t>, </a:t>
            </a:r>
            <a:r>
              <a:rPr lang="en-US" altLang="zh-CN" b="1" dirty="0">
                <a:latin typeface="Times New Roman" pitchFamily="18" charset="0"/>
              </a:rPr>
              <a: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p>
        </p:txBody>
      </p:sp>
      <p:sp>
        <p:nvSpPr>
          <p:cNvPr id="141315" name="Rectangle 3"/>
          <p:cNvSpPr>
            <a:spLocks noGrp="1" noChangeArrowheads="1"/>
          </p:cNvSpPr>
          <p:nvPr>
            <p:ph type="title"/>
          </p:nvPr>
        </p:nvSpPr>
        <p:spPr/>
        <p:txBody>
          <a:bodyPr/>
          <a:lstStyle/>
          <a:p>
            <a:pPr algn="l" eaLnBrk="1" hangingPunct="1"/>
            <a:r>
              <a:rPr lang="zh-CN" altLang="en-US" sz="4000" b="1"/>
              <a:t>小结</a:t>
            </a:r>
          </a:p>
        </p:txBody>
      </p:sp>
      <p:grpSp>
        <p:nvGrpSpPr>
          <p:cNvPr id="141316" name="Group 4"/>
          <p:cNvGrpSpPr>
            <a:grpSpLocks/>
          </p:cNvGrpSpPr>
          <p:nvPr/>
        </p:nvGrpSpPr>
        <p:grpSpPr bwMode="auto">
          <a:xfrm>
            <a:off x="1619250" y="2060575"/>
            <a:ext cx="5181600" cy="508000"/>
            <a:chOff x="1419" y="1480"/>
            <a:chExt cx="3575" cy="363"/>
          </a:xfrm>
        </p:grpSpPr>
        <p:grpSp>
          <p:nvGrpSpPr>
            <p:cNvPr id="141325" name="Group 5"/>
            <p:cNvGrpSpPr>
              <a:grpSpLocks/>
            </p:cNvGrpSpPr>
            <p:nvPr/>
          </p:nvGrpSpPr>
          <p:grpSpPr bwMode="auto">
            <a:xfrm>
              <a:off x="1419" y="1480"/>
              <a:ext cx="3575" cy="363"/>
              <a:chOff x="1419" y="1480"/>
              <a:chExt cx="3575" cy="363"/>
            </a:xfrm>
          </p:grpSpPr>
          <p:sp>
            <p:nvSpPr>
              <p:cNvPr id="148486"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48487"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联结词的个数</a:t>
                </a:r>
              </a:p>
            </p:txBody>
          </p:sp>
        </p:grpSp>
        <p:sp>
          <p:nvSpPr>
            <p:cNvPr id="148488"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41327"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141317" name="Group 10"/>
          <p:cNvGrpSpPr>
            <a:grpSpLocks/>
          </p:cNvGrpSpPr>
          <p:nvPr/>
        </p:nvGrpSpPr>
        <p:grpSpPr bwMode="auto">
          <a:xfrm>
            <a:off x="2195513" y="4076700"/>
            <a:ext cx="5181600" cy="508000"/>
            <a:chOff x="1419" y="1480"/>
            <a:chExt cx="3575" cy="363"/>
          </a:xfrm>
        </p:grpSpPr>
        <p:grpSp>
          <p:nvGrpSpPr>
            <p:cNvPr id="141320" name="Group 11"/>
            <p:cNvGrpSpPr>
              <a:grpSpLocks/>
            </p:cNvGrpSpPr>
            <p:nvPr/>
          </p:nvGrpSpPr>
          <p:grpSpPr bwMode="auto">
            <a:xfrm>
              <a:off x="1419" y="1480"/>
              <a:ext cx="3575" cy="363"/>
              <a:chOff x="1419" y="1480"/>
              <a:chExt cx="3575" cy="363"/>
            </a:xfrm>
          </p:grpSpPr>
          <p:sp>
            <p:nvSpPr>
              <p:cNvPr id="148492"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48493"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联结词集合的功能完备性</a:t>
                </a:r>
              </a:p>
            </p:txBody>
          </p:sp>
        </p:grpSp>
        <p:sp>
          <p:nvSpPr>
            <p:cNvPr id="148494"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41322"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141318" name="AutoShape 16"/>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ctrTitle"/>
          </p:nvPr>
        </p:nvSpPr>
        <p:spPr/>
        <p:txBody>
          <a:bodyPr/>
          <a:lstStyle/>
          <a:p>
            <a:pPr eaLnBrk="1" hangingPunct="1"/>
            <a:r>
              <a:rPr lang="zh-CN" altLang="en-US" b="1">
                <a:latin typeface="Times New Roman" pitchFamily="18" charset="0"/>
              </a:rPr>
              <a:t>第</a:t>
            </a:r>
            <a:r>
              <a:rPr lang="en-US" altLang="zh-CN" b="1">
                <a:latin typeface="Times New Roman" pitchFamily="18" charset="0"/>
              </a:rPr>
              <a:t>3</a:t>
            </a:r>
            <a:r>
              <a:rPr lang="zh-CN" altLang="en-US" b="1">
                <a:latin typeface="Times New Roman" pitchFamily="18" charset="0"/>
              </a:rPr>
              <a:t>章  命题逻辑</a:t>
            </a:r>
          </a:p>
        </p:txBody>
      </p:sp>
      <p:sp>
        <p:nvSpPr>
          <p:cNvPr id="142339" name="Rectangle 3"/>
          <p:cNvSpPr>
            <a:spLocks noGrp="1" noChangeArrowheads="1"/>
          </p:cNvSpPr>
          <p:nvPr>
            <p:ph type="subTitle" idx="1"/>
          </p:nvPr>
        </p:nvSpPr>
        <p:spPr/>
        <p:txBody>
          <a:bodyPr/>
          <a:lstStyle/>
          <a:p>
            <a:pPr eaLnBrk="1" hangingPunct="1"/>
            <a:r>
              <a:rPr lang="en-US" altLang="zh-CN" b="1">
                <a:latin typeface="Times New Roman" pitchFamily="18" charset="0"/>
              </a:rPr>
              <a:t>3.7 </a:t>
            </a:r>
            <a:r>
              <a:rPr lang="zh-CN" altLang="en-US" b="1">
                <a:latin typeface="Times New Roman" pitchFamily="18" charset="0"/>
              </a:rPr>
              <a:t>命题逻辑中的推理</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l" eaLnBrk="1" hangingPunct="1"/>
            <a:r>
              <a:rPr lang="en-US" altLang="zh-CN" b="1">
                <a:latin typeface="Times New Roman" pitchFamily="18" charset="0"/>
              </a:rPr>
              <a:t>3.7 </a:t>
            </a:r>
            <a:r>
              <a:rPr lang="zh-CN" altLang="en-US" b="1">
                <a:latin typeface="Times New Roman" pitchFamily="18" charset="0"/>
              </a:rPr>
              <a:t>命题逻辑中的推理</a:t>
            </a:r>
          </a:p>
        </p:txBody>
      </p:sp>
      <p:sp>
        <p:nvSpPr>
          <p:cNvPr id="143363"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143364" name="Group 4"/>
          <p:cNvGrpSpPr>
            <a:grpSpLocks/>
          </p:cNvGrpSpPr>
          <p:nvPr/>
        </p:nvGrpSpPr>
        <p:grpSpPr bwMode="auto">
          <a:xfrm>
            <a:off x="1042988" y="1365250"/>
            <a:ext cx="5788025" cy="712788"/>
            <a:chOff x="1152" y="1101"/>
            <a:chExt cx="3646" cy="449"/>
          </a:xfrm>
        </p:grpSpPr>
        <p:grpSp>
          <p:nvGrpSpPr>
            <p:cNvPr id="143382" name="Group 5"/>
            <p:cNvGrpSpPr>
              <a:grpSpLocks/>
            </p:cNvGrpSpPr>
            <p:nvPr/>
          </p:nvGrpSpPr>
          <p:grpSpPr bwMode="auto">
            <a:xfrm>
              <a:off x="1152" y="1131"/>
              <a:ext cx="480" cy="419"/>
              <a:chOff x="1110" y="2656"/>
              <a:chExt cx="1549" cy="1351"/>
            </a:xfrm>
          </p:grpSpPr>
          <p:sp>
            <p:nvSpPr>
              <p:cNvPr id="143386"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43387"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50536"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43383"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84" name="Text Box 10"/>
            <p:cNvSpPr txBox="1">
              <a:spLocks noChangeArrowheads="1"/>
            </p:cNvSpPr>
            <p:nvPr/>
          </p:nvSpPr>
          <p:spPr bwMode="auto">
            <a:xfrm>
              <a:off x="2112" y="1101"/>
              <a:ext cx="268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推理形式有效性的定义</a:t>
              </a:r>
            </a:p>
          </p:txBody>
        </p:sp>
        <p:sp>
          <p:nvSpPr>
            <p:cNvPr id="143385"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143365" name="Group 12"/>
          <p:cNvGrpSpPr>
            <a:grpSpLocks/>
          </p:cNvGrpSpPr>
          <p:nvPr/>
        </p:nvGrpSpPr>
        <p:grpSpPr bwMode="auto">
          <a:xfrm>
            <a:off x="1042988" y="2636838"/>
            <a:ext cx="5410200" cy="712787"/>
            <a:chOff x="1152" y="1677"/>
            <a:chExt cx="3408" cy="449"/>
          </a:xfrm>
        </p:grpSpPr>
        <p:grpSp>
          <p:nvGrpSpPr>
            <p:cNvPr id="143375" name="Group 13"/>
            <p:cNvGrpSpPr>
              <a:grpSpLocks/>
            </p:cNvGrpSpPr>
            <p:nvPr/>
          </p:nvGrpSpPr>
          <p:grpSpPr bwMode="auto">
            <a:xfrm>
              <a:off x="1152" y="1707"/>
              <a:ext cx="480" cy="419"/>
              <a:chOff x="3174" y="2656"/>
              <a:chExt cx="1549" cy="1351"/>
            </a:xfrm>
          </p:grpSpPr>
          <p:sp>
            <p:nvSpPr>
              <p:cNvPr id="143379"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43380"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50544"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43376"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77" name="Text Box 18"/>
            <p:cNvSpPr txBox="1">
              <a:spLocks noChangeArrowheads="1"/>
            </p:cNvSpPr>
            <p:nvPr/>
          </p:nvSpPr>
          <p:spPr bwMode="auto">
            <a:xfrm>
              <a:off x="2112" y="1677"/>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基本推理规则</a:t>
              </a:r>
            </a:p>
          </p:txBody>
        </p:sp>
        <p:sp>
          <p:nvSpPr>
            <p:cNvPr id="143378"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grpSp>
        <p:nvGrpSpPr>
          <p:cNvPr id="143366" name="Group 20"/>
          <p:cNvGrpSpPr>
            <a:grpSpLocks/>
          </p:cNvGrpSpPr>
          <p:nvPr/>
        </p:nvGrpSpPr>
        <p:grpSpPr bwMode="auto">
          <a:xfrm>
            <a:off x="971550" y="3860800"/>
            <a:ext cx="6196013" cy="712788"/>
            <a:chOff x="1152" y="2239"/>
            <a:chExt cx="3903" cy="449"/>
          </a:xfrm>
        </p:grpSpPr>
        <p:grpSp>
          <p:nvGrpSpPr>
            <p:cNvPr id="143368" name="Group 21"/>
            <p:cNvGrpSpPr>
              <a:grpSpLocks/>
            </p:cNvGrpSpPr>
            <p:nvPr/>
          </p:nvGrpSpPr>
          <p:grpSpPr bwMode="auto">
            <a:xfrm>
              <a:off x="1152" y="2269"/>
              <a:ext cx="480" cy="419"/>
              <a:chOff x="1110" y="2656"/>
              <a:chExt cx="1549" cy="1351"/>
            </a:xfrm>
          </p:grpSpPr>
          <p:sp>
            <p:nvSpPr>
              <p:cNvPr id="143372"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43373"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50552"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43369"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70" name="Text Box 26"/>
            <p:cNvSpPr txBox="1">
              <a:spLocks noChangeArrowheads="1"/>
            </p:cNvSpPr>
            <p:nvPr/>
          </p:nvSpPr>
          <p:spPr bwMode="auto">
            <a:xfrm>
              <a:off x="2112" y="2239"/>
              <a:ext cx="294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t>命题逻辑的自然推理系统</a:t>
              </a:r>
            </a:p>
          </p:txBody>
        </p:sp>
        <p:sp>
          <p:nvSpPr>
            <p:cNvPr id="143371"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3</a:t>
              </a:r>
            </a:p>
          </p:txBody>
        </p:sp>
      </p:grpSp>
      <p:sp>
        <p:nvSpPr>
          <p:cNvPr id="2" name="圆角矩形 1"/>
          <p:cNvSpPr/>
          <p:nvPr/>
        </p:nvSpPr>
        <p:spPr>
          <a:xfrm>
            <a:off x="1016000" y="1196975"/>
            <a:ext cx="6796088" cy="3744913"/>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ltLang="zh-CN" b="1">
                <a:latin typeface="Times New Roman" pitchFamily="18" charset="0"/>
              </a:rPr>
              <a:t>3.7  </a:t>
            </a:r>
            <a:r>
              <a:rPr lang="zh-CN" altLang="en-US" b="1">
                <a:latin typeface="Times New Roman" pitchFamily="18" charset="0"/>
              </a:rPr>
              <a:t>命题逻辑中的推理</a:t>
            </a:r>
          </a:p>
        </p:txBody>
      </p:sp>
      <p:sp>
        <p:nvSpPr>
          <p:cNvPr id="144387" name="Rectangle 3"/>
          <p:cNvSpPr>
            <a:spLocks noGrp="1" noChangeArrowheads="1"/>
          </p:cNvSpPr>
          <p:nvPr>
            <p:ph type="body" idx="1"/>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逻辑学的主要内容是研究推理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推理是从一些前提推出</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所需</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结论的思维过程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例如破案</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数理逻辑主要是用数学的方法研究逻辑中的推理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它关心的是</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推理形式的有效性</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下面两个推理</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若两直线平行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则同位角相等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这两直线是平行的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同位角相等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若两个三角形全等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则其对应边相等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这两个三角形全等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它们的对应边相等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都具有如下的推理形式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algn="ctr" eaLnBrk="1" hangingPunct="1">
              <a:lnSpc>
                <a:spcPct val="120000"/>
              </a:lnSpc>
              <a:buFontTx/>
              <a:buNone/>
            </a:pPr>
            <a:r>
              <a:rPr lang="zh-CN" altLang="en-US" b="1" dirty="0">
                <a:solidFill>
                  <a:schemeClr val="accent2"/>
                </a:solidFill>
                <a:latin typeface="Times New Roman" pitchFamily="18" charset="0"/>
              </a:rPr>
              <a:t>由</a:t>
            </a:r>
            <a:r>
              <a:rPr lang="en-US" altLang="zh-CN" b="1" i="1" dirty="0">
                <a:solidFill>
                  <a:schemeClr val="accent2"/>
                </a:solidFill>
                <a:latin typeface="Times New Roman" pitchFamily="18" charset="0"/>
              </a:rPr>
              <a:t>p </a:t>
            </a:r>
            <a:r>
              <a:rPr lang="en-US" altLang="zh-CN" b="1" dirty="0">
                <a:solidFill>
                  <a:schemeClr val="accent2"/>
                </a:solidFill>
                <a:latin typeface="Times New Roman" pitchFamily="18" charset="0"/>
                <a:sym typeface="Symbol" pitchFamily="18" charset="2"/>
              </a:rPr>
              <a:t> </a:t>
            </a:r>
            <a:r>
              <a:rPr lang="en-US" altLang="zh-CN" b="1" i="1" dirty="0">
                <a:solidFill>
                  <a:schemeClr val="accent2"/>
                </a:solidFill>
                <a:latin typeface="Times New Roman" pitchFamily="18" charset="0"/>
                <a:sym typeface="Symbol" pitchFamily="18" charset="2"/>
              </a:rPr>
              <a:t>q</a:t>
            </a:r>
            <a:r>
              <a:rPr lang="en-US" altLang="zh-CN" b="1" dirty="0">
                <a:solidFill>
                  <a:schemeClr val="accent2"/>
                </a:solidFill>
                <a:latin typeface="Times New Roman" pitchFamily="18" charset="0"/>
              </a:rPr>
              <a:t>,  </a:t>
            </a:r>
            <a:r>
              <a:rPr lang="en-US" altLang="zh-CN" b="1" i="1" dirty="0">
                <a:solidFill>
                  <a:schemeClr val="accent2"/>
                </a:solidFill>
                <a:latin typeface="Times New Roman" pitchFamily="18" charset="0"/>
              </a:rPr>
              <a:t>p </a:t>
            </a:r>
            <a:r>
              <a:rPr lang="zh-CN" altLang="en-US" b="1" dirty="0">
                <a:solidFill>
                  <a:schemeClr val="accent2"/>
                </a:solidFill>
                <a:latin typeface="Times New Roman" pitchFamily="18" charset="0"/>
              </a:rPr>
              <a:t>得出</a:t>
            </a:r>
            <a:r>
              <a:rPr lang="en-US" altLang="zh-CN" b="1" i="1" dirty="0">
                <a:solidFill>
                  <a:schemeClr val="accent2"/>
                </a:solidFill>
                <a:latin typeface="Times New Roman" pitchFamily="18" charset="0"/>
              </a:rPr>
              <a:t>q</a:t>
            </a:r>
            <a:r>
              <a:rPr lang="en-US" altLang="zh-CN" b="1" dirty="0">
                <a:solidFill>
                  <a:schemeClr val="accent2"/>
                </a:solidFill>
                <a:latin typeface="Times New Roman" pitchFamily="18" charset="0"/>
              </a:rPr>
              <a:t>.</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6434" name="Rectangle 2"/>
              <p:cNvSpPr>
                <a:spLocks noGrp="1" noChangeArrowheads="1"/>
              </p:cNvSpPr>
              <p:nvPr>
                <p:ph/>
              </p:nvPr>
            </p:nvSpPr>
            <p:spPr>
              <a:xfrm>
                <a:off x="107504" y="26194"/>
                <a:ext cx="8928992" cy="5851525"/>
              </a:xfrm>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所谓</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推理形式的有效性</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是指</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如果前提全为真</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那么所得结论必然真</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而不考虑前提和结论的真实含义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有效的推理形式是四海皆准的推理规则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3.7.1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推理形式有效性的定义</a:t>
                </a:r>
              </a:p>
              <a:p>
                <a:pPr eaLnBrk="1" hangingPunct="1">
                  <a:lnSpc>
                    <a:spcPct val="120000"/>
                  </a:lnSpc>
                </a:pPr>
                <a:r>
                  <a:rPr lang="en-US" altLang="zh-CN" b="1" dirty="0">
                    <a:latin typeface="Times New Roman" pitchFamily="18" charset="0"/>
                  </a:rPr>
                  <a:t>Def 3-13(logically follows) </a:t>
                </a:r>
                <a:r>
                  <a:rPr lang="zh-CN" altLang="en-US" b="1" dirty="0">
                    <a:latin typeface="Times New Roman" pitchFamily="18" charset="0"/>
                  </a:rPr>
                  <a:t>设</a:t>
                </a:r>
                <a14:m>
                  <m:oMath xmlns:m="http://schemas.openxmlformats.org/officeDocument/2006/math">
                    <m:sSub>
                      <m:sSubPr>
                        <m:ctrlPr>
                          <a:rPr lang="zh-CN" altLang="en-US" sz="3200" i="1" smtClean="0">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2</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和</m:t>
                    </m:r>
                    <m:r>
                      <a:rPr lang="zh-CN" altLang="en-US" sz="3200"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是</m:t>
                    </m:r>
                  </m:oMath>
                </a14:m>
                <a:r>
                  <a:rPr lang="zh-CN" altLang="en-US" dirty="0">
                    <a:latin typeface="Times New Roman" pitchFamily="18" charset="0"/>
                  </a:rPr>
                  <a:t>命题公式，若当</a:t>
                </a:r>
                <a14:m>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𝐻</m:t>
                        </m:r>
                      </m:e>
                      <m:sub>
                        <m:r>
                          <a:rPr lang="zh-CN" altLang="en-US" b="0" i="1">
                            <a:solidFill>
                              <a:srgbClr val="000000"/>
                            </a:solidFill>
                            <a:latin typeface="Cambria Math" panose="02040503050406030204" pitchFamily="18" charset="0"/>
                          </a:rPr>
                          <m:t>1</m:t>
                        </m:r>
                      </m:sub>
                    </m:sSub>
                    <m:r>
                      <a:rPr lang="zh-CN" altLang="en-US" b="0"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𝐻</m:t>
                        </m:r>
                      </m:e>
                      <m:sub>
                        <m:r>
                          <a:rPr lang="zh-CN" altLang="en-US" b="0" i="1">
                            <a:solidFill>
                              <a:srgbClr val="000000"/>
                            </a:solidFill>
                            <a:latin typeface="Cambria Math" panose="02040503050406030204" pitchFamily="18" charset="0"/>
                          </a:rPr>
                          <m:t>2</m:t>
                        </m:r>
                      </m:sub>
                    </m:sSub>
                    <m:r>
                      <a:rPr lang="zh-CN" altLang="en-US" b="0"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𝐻</m:t>
                        </m:r>
                      </m:e>
                      <m:sub>
                        <m:r>
                          <a:rPr lang="zh-CN" altLang="en-US" b="0" i="1">
                            <a:solidFill>
                              <a:srgbClr val="000000"/>
                            </a:solidFill>
                            <a:latin typeface="Cambria Math" panose="02040503050406030204" pitchFamily="18" charset="0"/>
                          </a:rPr>
                          <m:t>𝑛</m:t>
                        </m:r>
                      </m:sub>
                    </m:sSub>
                    <m:r>
                      <a:rPr lang="zh-CN" altLang="en-US" b="0" i="1">
                        <a:solidFill>
                          <a:srgbClr val="000000"/>
                        </a:solidFill>
                        <a:latin typeface="Cambria Math" panose="02040503050406030204" pitchFamily="18" charset="0"/>
                      </a:rPr>
                      <m:t>全为</m:t>
                    </m:r>
                  </m:oMath>
                </a14:m>
                <a:r>
                  <a:rPr lang="zh-CN" altLang="en-US" dirty="0">
                    <a:latin typeface="Times New Roman" pitchFamily="18" charset="0"/>
                  </a:rPr>
                  <a:t>真，可得出</a:t>
                </a:r>
                <a14:m>
                  <m:oMath xmlns:m="http://schemas.openxmlformats.org/officeDocument/2006/math">
                    <m:r>
                      <a:rPr lang="zh-CN" altLang="en-US" b="0" i="1">
                        <a:solidFill>
                          <a:srgbClr val="000000"/>
                        </a:solidFill>
                        <a:latin typeface="Cambria Math" panose="02040503050406030204" pitchFamily="18" charset="0"/>
                      </a:rPr>
                      <m:t>𝐶</m:t>
                    </m:r>
                  </m:oMath>
                </a14:m>
                <a:r>
                  <a:rPr lang="zh-CN" altLang="en-US" dirty="0">
                    <a:latin typeface="Times New Roman" pitchFamily="18" charset="0"/>
                  </a:rPr>
                  <a:t>必然为真的结论，则称由</a:t>
                </a:r>
                <a14:m>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𝐻</m:t>
                        </m:r>
                      </m:e>
                      <m:sub>
                        <m:r>
                          <a:rPr lang="zh-CN" altLang="en-US" b="0" i="1">
                            <a:solidFill>
                              <a:srgbClr val="000000"/>
                            </a:solidFill>
                            <a:latin typeface="Cambria Math" panose="02040503050406030204" pitchFamily="18" charset="0"/>
                          </a:rPr>
                          <m:t>1</m:t>
                        </m:r>
                      </m:sub>
                    </m:sSub>
                    <m:r>
                      <a:rPr lang="zh-CN" altLang="en-US" b="0"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𝐻</m:t>
                        </m:r>
                      </m:e>
                      <m:sub>
                        <m:r>
                          <a:rPr lang="zh-CN" altLang="en-US" b="0" i="1">
                            <a:solidFill>
                              <a:srgbClr val="000000"/>
                            </a:solidFill>
                            <a:latin typeface="Cambria Math" panose="02040503050406030204" pitchFamily="18" charset="0"/>
                          </a:rPr>
                          <m:t>2</m:t>
                        </m:r>
                      </m:sub>
                    </m:sSub>
                    <m:r>
                      <a:rPr lang="zh-CN" altLang="en-US" b="0"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𝐻</m:t>
                        </m:r>
                      </m:e>
                      <m:sub>
                        <m:r>
                          <a:rPr lang="zh-CN" altLang="en-US" b="0" i="1">
                            <a:solidFill>
                              <a:srgbClr val="000000"/>
                            </a:solidFill>
                            <a:latin typeface="Cambria Math" panose="02040503050406030204" pitchFamily="18" charset="0"/>
                          </a:rPr>
                          <m:t>𝑛</m:t>
                        </m:r>
                      </m:sub>
                    </m:sSub>
                    <m:r>
                      <a:rPr lang="zh-CN" altLang="en-US" b="0" i="1">
                        <a:solidFill>
                          <a:srgbClr val="000000"/>
                        </a:solidFill>
                        <a:latin typeface="Cambria Math" panose="02040503050406030204" pitchFamily="18" charset="0"/>
                      </a:rPr>
                      <m:t>推得</m:t>
                    </m:r>
                    <m:r>
                      <a:rPr lang="zh-CN" altLang="en-US" b="0" i="1">
                        <a:solidFill>
                          <a:srgbClr val="000000"/>
                        </a:solidFill>
                        <a:latin typeface="Cambria Math" panose="02040503050406030204" pitchFamily="18" charset="0"/>
                      </a:rPr>
                      <m:t>𝐶</m:t>
                    </m:r>
                    <m:r>
                      <a:rPr lang="zh-CN" altLang="en-US" b="0" i="1">
                        <a:solidFill>
                          <a:srgbClr val="000000"/>
                        </a:solidFill>
                        <a:latin typeface="Cambria Math" panose="02040503050406030204" pitchFamily="18" charset="0"/>
                      </a:rPr>
                      <m:t>的</m:t>
                    </m:r>
                  </m:oMath>
                </a14:m>
                <a:r>
                  <a:rPr lang="zh-CN" altLang="en-US" b="1" dirty="0">
                    <a:latin typeface="Times New Roman" pitchFamily="18" charset="0"/>
                  </a:rPr>
                  <a:t>推理形式是有效的</a:t>
                </a:r>
                <a:r>
                  <a:rPr lang="zh-CN" altLang="en-US" dirty="0">
                    <a:latin typeface="Times New Roman" pitchFamily="18" charset="0"/>
                  </a:rPr>
                  <a:t>，记为：</a:t>
                </a:r>
                <a:endParaRPr lang="en-US" altLang="zh-CN" dirty="0">
                  <a:latin typeface="Times New Roman" pitchFamily="18" charset="0"/>
                </a:endParaRPr>
              </a:p>
              <a:p>
                <a:pPr eaLnBrk="1" hangingPunct="1">
                  <a:lnSpc>
                    <a:spcPct val="120000"/>
                  </a:lnSpc>
                </a:pPr>
                <a:endParaRPr lang="en-US" altLang="zh-CN" b="1" dirty="0">
                  <a:latin typeface="Times New Roman" pitchFamily="18" charset="0"/>
                </a:endParaRPr>
              </a:p>
            </p:txBody>
          </p:sp>
        </mc:Choice>
        <mc:Fallback xmlns="">
          <p:sp>
            <p:nvSpPr>
              <p:cNvPr id="146434" name="Rectangle 2"/>
              <p:cNvSpPr>
                <a:spLocks noGrp="1" noRot="1" noChangeAspect="1" noMove="1" noResize="1" noEditPoints="1" noAdjustHandles="1" noChangeArrowheads="1" noChangeShapeType="1" noTextEdit="1"/>
              </p:cNvSpPr>
              <p:nvPr>
                <p:ph/>
              </p:nvPr>
            </p:nvSpPr>
            <p:spPr>
              <a:xfrm>
                <a:off x="107504" y="26194"/>
                <a:ext cx="8928992" cy="5851525"/>
              </a:xfrm>
              <a:blipFill>
                <a:blip r:embed="rId2"/>
                <a:stretch>
                  <a:fillRect l="-1571" t="-1042" r="-23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6435" name="Object 3"/>
              <p:cNvSpPr txBox="1"/>
              <p:nvPr/>
            </p:nvSpPr>
            <p:spPr bwMode="auto">
              <a:xfrm>
                <a:off x="5183560" y="4365104"/>
                <a:ext cx="3276872" cy="576262"/>
              </a:xfrm>
              <a:prstGeom prst="rect">
                <a:avLst/>
              </a:prstGeom>
              <a:noFill/>
              <a:ln>
                <a:solidFill>
                  <a:srgbClr val="C00000"/>
                </a:solid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2</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𝑛</m:t>
                          </m:r>
                        </m:sub>
                      </m:sSub>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𝐶</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146435" name="Object 3"/>
              <p:cNvSpPr txBox="1">
                <a:spLocks noRot="1" noChangeAspect="1" noMove="1" noResize="1" noEditPoints="1" noAdjustHandles="1" noChangeArrowheads="1" noChangeShapeType="1" noTextEdit="1"/>
              </p:cNvSpPr>
              <p:nvPr/>
            </p:nvSpPr>
            <p:spPr bwMode="auto">
              <a:xfrm>
                <a:off x="5183560" y="4365104"/>
                <a:ext cx="3276872" cy="576262"/>
              </a:xfrm>
              <a:prstGeom prst="rect">
                <a:avLst/>
              </a:prstGeom>
              <a:blipFill>
                <a:blip r:embed="rId3"/>
                <a:stretch>
                  <a:fillRect/>
                </a:stretch>
              </a:blipFill>
              <a:ln>
                <a:solidFill>
                  <a:srgbClr val="C00000"/>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对象 1"/>
              <p:cNvSpPr txBox="1"/>
              <p:nvPr/>
            </p:nvSpPr>
            <p:spPr bwMode="auto">
              <a:xfrm>
                <a:off x="4967623" y="5409560"/>
                <a:ext cx="4392314" cy="5762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2</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𝐻</m:t>
                          </m:r>
                        </m:e>
                        <m:sub>
                          <m:r>
                            <a:rPr lang="zh-CN" altLang="en-US" sz="3200" i="1">
                              <a:solidFill>
                                <a:srgbClr val="000000"/>
                              </a:solidFill>
                              <a:latin typeface="Cambria Math" panose="02040503050406030204" pitchFamily="18" charset="0"/>
                            </a:rPr>
                            <m:t>𝑛</m:t>
                          </m:r>
                        </m:sub>
                      </m:sSub>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𝐶</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xmlns="">
          <p:sp>
            <p:nvSpPr>
              <p:cNvPr id="2" name="对象 1"/>
              <p:cNvSpPr txBox="1">
                <a:spLocks noRot="1" noChangeAspect="1" noMove="1" noResize="1" noEditPoints="1" noAdjustHandles="1" noChangeArrowheads="1" noChangeShapeType="1" noTextEdit="1"/>
              </p:cNvSpPr>
              <p:nvPr/>
            </p:nvSpPr>
            <p:spPr bwMode="auto">
              <a:xfrm>
                <a:off x="4967623" y="5409560"/>
                <a:ext cx="4392314" cy="576262"/>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3" name="上下箭头 2"/>
          <p:cNvSpPr/>
          <p:nvPr/>
        </p:nvSpPr>
        <p:spPr>
          <a:xfrm>
            <a:off x="7164288" y="4941366"/>
            <a:ext cx="360548" cy="576262"/>
          </a:xfrm>
          <a:prstGeom prst="up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对象 3">
            <a:extLst>
              <a:ext uri="{FF2B5EF4-FFF2-40B4-BE49-F238E27FC236}">
                <a16:creationId xmlns:a16="http://schemas.microsoft.com/office/drawing/2014/main" id="{512DA0B2-86D8-26FF-1960-E3EEC6FFCD4C}"/>
              </a:ext>
            </a:extLst>
          </p:cNvPr>
          <p:cNvGraphicFramePr>
            <a:graphicFrameLocks noChangeAspect="1"/>
          </p:cNvGraphicFramePr>
          <p:nvPr/>
        </p:nvGraphicFramePr>
        <p:xfrm>
          <a:off x="751285" y="5517628"/>
          <a:ext cx="3454065" cy="438031"/>
        </p:xfrm>
        <a:graphic>
          <a:graphicData uri="http://schemas.openxmlformats.org/presentationml/2006/ole">
            <mc:AlternateContent xmlns:mc="http://schemas.openxmlformats.org/markup-compatibility/2006">
              <mc:Choice xmlns:v="urn:schemas-microsoft-com:vml" Requires="v">
                <p:oleObj name="Equation" r:id="rId5" imgW="2108160" imgH="203040" progId="Equation.DSMT4">
                  <p:embed/>
                </p:oleObj>
              </mc:Choice>
              <mc:Fallback>
                <p:oleObj name="Equation" r:id="rId5" imgW="2108160" imgH="203040" progId="Equation.DSMT4">
                  <p:embed/>
                  <p:pic>
                    <p:nvPicPr>
                      <p:cNvPr id="4" name="对象 3">
                        <a:extLst>
                          <a:ext uri="{FF2B5EF4-FFF2-40B4-BE49-F238E27FC236}">
                            <a16:creationId xmlns:a16="http://schemas.microsoft.com/office/drawing/2014/main" id="{512DA0B2-86D8-26FF-1960-E3EEC6FFCD4C}"/>
                          </a:ext>
                        </a:extLst>
                      </p:cNvPr>
                      <p:cNvPicPr>
                        <a:picLocks noChangeAspect="1" noChangeArrowheads="1"/>
                      </p:cNvPicPr>
                      <p:nvPr/>
                    </p:nvPicPr>
                    <p:blipFill>
                      <a:blip r:embed="rId6"/>
                      <a:srcRect/>
                      <a:stretch>
                        <a:fillRect/>
                      </a:stretch>
                    </p:blipFill>
                    <p:spPr bwMode="auto">
                      <a:xfrm>
                        <a:off x="751285" y="5517628"/>
                        <a:ext cx="3454065" cy="438031"/>
                      </a:xfrm>
                      <a:prstGeom prst="rect">
                        <a:avLst/>
                      </a:prstGeom>
                      <a:noFill/>
                      <a:ln>
                        <a:noFill/>
                      </a:ln>
                      <a:effectLst/>
                    </p:spPr>
                  </p:pic>
                </p:oleObj>
              </mc:Fallback>
            </mc:AlternateContent>
          </a:graphicData>
        </a:graphic>
      </p:graphicFrame>
      <p:graphicFrame>
        <p:nvGraphicFramePr>
          <p:cNvPr id="5" name="Object 4">
            <a:extLst>
              <a:ext uri="{FF2B5EF4-FFF2-40B4-BE49-F238E27FC236}">
                <a16:creationId xmlns:a16="http://schemas.microsoft.com/office/drawing/2014/main" id="{46FE8047-7242-330B-42EB-8A9DEEDF6955}"/>
              </a:ext>
            </a:extLst>
          </p:cNvPr>
          <p:cNvGraphicFramePr>
            <a:graphicFrameLocks noChangeAspect="1"/>
          </p:cNvGraphicFramePr>
          <p:nvPr>
            <p:extLst>
              <p:ext uri="{D42A27DB-BD31-4B8C-83A1-F6EECF244321}">
                <p14:modId xmlns:p14="http://schemas.microsoft.com/office/powerpoint/2010/main" val="3407878349"/>
              </p:ext>
            </p:extLst>
          </p:nvPr>
        </p:nvGraphicFramePr>
        <p:xfrm>
          <a:off x="5148064" y="6154715"/>
          <a:ext cx="3753789" cy="598532"/>
        </p:xfrm>
        <a:graphic>
          <a:graphicData uri="http://schemas.openxmlformats.org/presentationml/2006/ole">
            <mc:AlternateContent xmlns:mc="http://schemas.openxmlformats.org/markup-compatibility/2006">
              <mc:Choice xmlns:v="urn:schemas-microsoft-com:vml" Requires="v">
                <p:oleObj name="Equation" r:id="rId7" imgW="1523880" imgH="228600" progId="Equation.DSMT4">
                  <p:embed/>
                </p:oleObj>
              </mc:Choice>
              <mc:Fallback>
                <p:oleObj name="Equation" r:id="rId7" imgW="1523880" imgH="228600" progId="Equation.DSMT4">
                  <p:embed/>
                  <p:pic>
                    <p:nvPicPr>
                      <p:cNvPr id="147460" name="Object 4"/>
                      <p:cNvPicPr>
                        <a:picLocks noChangeAspect="1" noChangeArrowheads="1"/>
                      </p:cNvPicPr>
                      <p:nvPr/>
                    </p:nvPicPr>
                    <p:blipFill>
                      <a:blip r:embed="rId8"/>
                      <a:srcRect/>
                      <a:stretch>
                        <a:fillRect/>
                      </a:stretch>
                    </p:blipFill>
                    <p:spPr bwMode="auto">
                      <a:xfrm>
                        <a:off x="5148064" y="6154715"/>
                        <a:ext cx="3753789" cy="598532"/>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的充要条件</a:t>
            </a: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由上述定理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知</a:t>
            </a: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zh-CN" altLang="en-US"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r>
              <a:rPr lang="en-US" altLang="zh-Hans" b="1" dirty="0">
                <a:latin typeface="Times New Roman" panose="02020603050405020304" pitchFamily="18" charset="0"/>
                <a:ea typeface="楷体" panose="02010609060101010101" pitchFamily="49" charset="-122"/>
                <a:cs typeface="Times New Roman" panose="02020603050405020304" pitchFamily="18" charset="0"/>
              </a:rPr>
              <a:t>remark</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是关系符号</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它与蕴涵联结词 “</a:t>
            </a:r>
            <a:r>
              <a:rPr lang="zh-CN" altLang="en-US"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”是不同的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dirty="0">
              <a:latin typeface="Times New Roman" pitchFamily="18" charset="0"/>
            </a:endParaRPr>
          </a:p>
          <a:p>
            <a:pPr eaLnBrk="1" hangingPunct="1">
              <a:lnSpc>
                <a:spcPct val="120000"/>
              </a:lnSpc>
            </a:pPr>
            <a:endParaRPr lang="en-US" altLang="zh-CN" b="1" dirty="0"/>
          </a:p>
        </p:txBody>
      </p:sp>
      <p:graphicFrame>
        <p:nvGraphicFramePr>
          <p:cNvPr id="147459" name="Object 3"/>
          <p:cNvGraphicFramePr>
            <a:graphicFrameLocks noChangeAspect="1"/>
          </p:cNvGraphicFramePr>
          <p:nvPr>
            <p:extLst>
              <p:ext uri="{D42A27DB-BD31-4B8C-83A1-F6EECF244321}">
                <p14:modId xmlns:p14="http://schemas.microsoft.com/office/powerpoint/2010/main" val="721003197"/>
              </p:ext>
            </p:extLst>
          </p:nvPr>
        </p:nvGraphicFramePr>
        <p:xfrm>
          <a:off x="2543101" y="362620"/>
          <a:ext cx="2820987" cy="546100"/>
        </p:xfrm>
        <a:graphic>
          <a:graphicData uri="http://schemas.openxmlformats.org/presentationml/2006/ole">
            <mc:AlternateContent xmlns:mc="http://schemas.openxmlformats.org/markup-compatibility/2006">
              <mc:Choice xmlns:v="urn:schemas-microsoft-com:vml" Requires="v">
                <p:oleObj name="Equation" r:id="rId2" imgW="1104844" imgH="152280" progId="Equation.3">
                  <p:embed/>
                </p:oleObj>
              </mc:Choice>
              <mc:Fallback>
                <p:oleObj name="Equation" r:id="rId2" imgW="1104844"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101" y="362620"/>
                        <a:ext cx="2820987"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0" name="Object 4"/>
          <p:cNvGraphicFramePr>
            <a:graphicFrameLocks noChangeAspect="1"/>
          </p:cNvGraphicFramePr>
          <p:nvPr>
            <p:extLst>
              <p:ext uri="{D42A27DB-BD31-4B8C-83A1-F6EECF244321}">
                <p14:modId xmlns:p14="http://schemas.microsoft.com/office/powerpoint/2010/main" val="687268514"/>
              </p:ext>
            </p:extLst>
          </p:nvPr>
        </p:nvGraphicFramePr>
        <p:xfrm>
          <a:off x="3203848" y="1125538"/>
          <a:ext cx="4216400" cy="546100"/>
        </p:xfrm>
        <a:graphic>
          <a:graphicData uri="http://schemas.openxmlformats.org/presentationml/2006/ole">
            <mc:AlternateContent xmlns:mc="http://schemas.openxmlformats.org/markup-compatibility/2006">
              <mc:Choice xmlns:v="urn:schemas-microsoft-com:vml" Requires="v">
                <p:oleObj name="Equation" r:id="rId4" imgW="1685900" imgH="152280" progId="Equation.3">
                  <p:embed/>
                </p:oleObj>
              </mc:Choice>
              <mc:Fallback>
                <p:oleObj name="Equation" r:id="rId4" imgW="1685900" imgH="1522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48" y="1125538"/>
                        <a:ext cx="42164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1" name="Object 5"/>
          <p:cNvGraphicFramePr>
            <a:graphicFrameLocks noChangeAspect="1"/>
          </p:cNvGraphicFramePr>
          <p:nvPr/>
        </p:nvGraphicFramePr>
        <p:xfrm>
          <a:off x="2268538" y="3213100"/>
          <a:ext cx="1122362" cy="423863"/>
        </p:xfrm>
        <a:graphic>
          <a:graphicData uri="http://schemas.openxmlformats.org/presentationml/2006/ole">
            <mc:AlternateContent xmlns:mc="http://schemas.openxmlformats.org/markup-compatibility/2006">
              <mc:Choice xmlns:v="urn:schemas-microsoft-com:vml" Requires="v">
                <p:oleObj name="公式" r:id="rId6" imgW="390612" imgH="104760" progId="Equation.3">
                  <p:embed/>
                </p:oleObj>
              </mc:Choice>
              <mc:Fallback>
                <p:oleObj name="公式" r:id="rId6" imgW="390612" imgH="10476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3213100"/>
                        <a:ext cx="1122362"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2" name="AutoShape 6"/>
          <p:cNvSpPr>
            <a:spLocks noChangeArrowheads="1"/>
          </p:cNvSpPr>
          <p:nvPr/>
        </p:nvSpPr>
        <p:spPr bwMode="auto">
          <a:xfrm>
            <a:off x="3492500" y="3213100"/>
            <a:ext cx="1214438" cy="485775"/>
          </a:xfrm>
          <a:prstGeom prst="leftRightArrow">
            <a:avLst>
              <a:gd name="adj1" fmla="val 50000"/>
              <a:gd name="adj2" fmla="val 50000"/>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147463" name="Object 7"/>
          <p:cNvGraphicFramePr>
            <a:graphicFrameLocks noChangeAspect="1"/>
          </p:cNvGraphicFramePr>
          <p:nvPr/>
        </p:nvGraphicFramePr>
        <p:xfrm>
          <a:off x="4716463" y="3213100"/>
          <a:ext cx="1851025" cy="484188"/>
        </p:xfrm>
        <a:graphic>
          <a:graphicData uri="http://schemas.openxmlformats.org/presentationml/2006/ole">
            <mc:AlternateContent xmlns:mc="http://schemas.openxmlformats.org/markup-compatibility/2006">
              <mc:Choice xmlns:v="urn:schemas-microsoft-com:vml" Requires="v">
                <p:oleObj name="公式" r:id="rId8" imgW="695322" imgH="123930" progId="Equation.3">
                  <p:embed/>
                </p:oleObj>
              </mc:Choice>
              <mc:Fallback>
                <p:oleObj name="公式" r:id="rId8" imgW="695322" imgH="12393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6463" y="3213100"/>
                        <a:ext cx="18510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4" name="Rectangle 8"/>
          <p:cNvSpPr>
            <a:spLocks noChangeArrowheads="1"/>
          </p:cNvSpPr>
          <p:nvPr/>
        </p:nvSpPr>
        <p:spPr bwMode="auto">
          <a:xfrm>
            <a:off x="2195513" y="2924175"/>
            <a:ext cx="4392612" cy="10096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从推理的角度看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写成“</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”更适合</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3-13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的充要条件是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itchFamily="18" charset="0"/>
              </a:rPr>
              <a:t>Hint </a:t>
            </a:r>
          </a:p>
          <a:p>
            <a:pPr eaLnBrk="1" hangingPunct="1">
              <a:lnSpc>
                <a:spcPct val="120000"/>
              </a:lnSpc>
            </a:pPr>
            <a:endParaRPr lang="en-US" altLang="zh-CN" b="1" dirty="0"/>
          </a:p>
        </p:txBody>
      </p:sp>
      <p:graphicFrame>
        <p:nvGraphicFramePr>
          <p:cNvPr id="148483" name="Object 3"/>
          <p:cNvGraphicFramePr>
            <a:graphicFrameLocks noChangeAspect="1"/>
          </p:cNvGraphicFramePr>
          <p:nvPr/>
        </p:nvGraphicFramePr>
        <p:xfrm>
          <a:off x="2411413" y="3068638"/>
          <a:ext cx="4429125" cy="485775"/>
        </p:xfrm>
        <a:graphic>
          <a:graphicData uri="http://schemas.openxmlformats.org/presentationml/2006/ole">
            <mc:AlternateContent xmlns:mc="http://schemas.openxmlformats.org/markup-compatibility/2006">
              <mc:Choice xmlns:v="urn:schemas-microsoft-com:vml" Requires="v">
                <p:oleObj name="Equation" r:id="rId2" imgW="1781257" imgH="123930" progId="Equation.3">
                  <p:embed/>
                </p:oleObj>
              </mc:Choice>
              <mc:Fallback>
                <p:oleObj name="Equation" r:id="rId2" imgW="1781257"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3068638"/>
                        <a:ext cx="4429125"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命题公式间的永真蕴涵关系是偏序关系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自反性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反对称性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传递性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0530"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命题公式间的</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关系还具有下面两条性质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3-15</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3-16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则对于命题公式间的“</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关系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itchFamily="18" charset="0"/>
              </a:rPr>
              <a:t>(1) sup{</a:t>
            </a:r>
            <a:r>
              <a:rPr lang="en-US" altLang="zh-CN" b="1" i="1" dirty="0">
                <a:latin typeface="Times New Roman" pitchFamily="18" charset="0"/>
              </a:rPr>
              <a:t>A</a:t>
            </a:r>
            <a:r>
              <a:rPr lang="en-US" altLang="zh-CN" b="1" dirty="0">
                <a:latin typeface="Times New Roman" pitchFamily="18" charset="0"/>
              </a:rPr>
              <a:t>, </a:t>
            </a:r>
            <a:r>
              <a:rPr lang="en-US" altLang="zh-CN" b="1" i="1" dirty="0">
                <a:latin typeface="Times New Roman" pitchFamily="18" charset="0"/>
              </a:rPr>
              <a:t>B</a:t>
            </a:r>
            <a:r>
              <a:rPr lang="en-US" altLang="zh-CN" b="1" dirty="0">
                <a:latin typeface="Times New Roman" pitchFamily="18" charset="0"/>
              </a:rPr>
              <a:t>} = </a:t>
            </a:r>
            <a:r>
              <a:rPr lang="en-US" altLang="zh-CN" b="1" i="1" dirty="0">
                <a:latin typeface="Times New Roman" pitchFamily="18" charset="0"/>
              </a:rPr>
              <a:t>A</a:t>
            </a:r>
            <a:r>
              <a:rPr lang="en-US" altLang="zh-CN" b="1" dirty="0">
                <a:latin typeface="Times New Roman" pitchFamily="18" charset="0"/>
              </a:rPr>
              <a:t> </a:t>
            </a:r>
            <a:r>
              <a:rPr lang="en-US" altLang="zh-CN" b="1" dirty="0">
                <a:latin typeface="Times New Roman" pitchFamily="18" charset="0"/>
                <a:sym typeface="Symbol" pitchFamily="18" charset="2"/>
              </a:rPr>
              <a:t> </a:t>
            </a:r>
            <a:r>
              <a:rPr lang="en-US" altLang="zh-CN" b="1" i="1" dirty="0">
                <a:latin typeface="Times New Roman" pitchFamily="18" charset="0"/>
                <a:sym typeface="Symbol" pitchFamily="18" charset="2"/>
              </a:rPr>
              <a:t>B</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(2) </a:t>
            </a:r>
            <a:r>
              <a:rPr lang="en-US" altLang="zh-CN" b="1" dirty="0" err="1">
                <a:latin typeface="Times New Roman" pitchFamily="18" charset="0"/>
              </a:rPr>
              <a:t>inf</a:t>
            </a:r>
            <a:r>
              <a:rPr lang="en-US" altLang="zh-CN" b="1" dirty="0">
                <a:latin typeface="Times New Roman" pitchFamily="18" charset="0"/>
              </a:rPr>
              <a:t>{</a:t>
            </a:r>
            <a:r>
              <a:rPr lang="en-US" altLang="zh-CN" b="1" i="1" dirty="0">
                <a:latin typeface="Times New Roman" pitchFamily="18" charset="0"/>
              </a:rPr>
              <a:t>A</a:t>
            </a:r>
            <a:r>
              <a:rPr lang="en-US" altLang="zh-CN" b="1" dirty="0">
                <a:latin typeface="Times New Roman" pitchFamily="18" charset="0"/>
              </a:rPr>
              <a:t>, </a:t>
            </a:r>
            <a:r>
              <a:rPr lang="en-US" altLang="zh-CN" b="1" i="1" dirty="0">
                <a:latin typeface="Times New Roman" pitchFamily="18" charset="0"/>
              </a:rPr>
              <a:t>B</a:t>
            </a:r>
            <a:r>
              <a:rPr lang="en-US" altLang="zh-CN" b="1" dirty="0">
                <a:latin typeface="Times New Roman" pitchFamily="18" charset="0"/>
              </a:rPr>
              <a:t>} = </a:t>
            </a:r>
            <a:r>
              <a:rPr lang="en-US" altLang="zh-CN" b="1" i="1" dirty="0">
                <a:latin typeface="Times New Roman" pitchFamily="18" charset="0"/>
              </a:rPr>
              <a:t>A</a:t>
            </a:r>
            <a:r>
              <a:rPr lang="en-US" altLang="zh-CN" b="1" dirty="0">
                <a:latin typeface="Times New Roman" pitchFamily="18" charset="0"/>
              </a:rPr>
              <a:t> </a:t>
            </a:r>
            <a:r>
              <a:rPr lang="en-US" altLang="zh-CN" b="1" dirty="0">
                <a:latin typeface="Times New Roman" pitchFamily="18" charset="0"/>
                <a:sym typeface="Symbol" pitchFamily="18" charset="2"/>
              </a:rPr>
              <a:t> </a:t>
            </a:r>
            <a:r>
              <a:rPr lang="en-US" altLang="zh-CN" b="1" i="1" dirty="0">
                <a:latin typeface="Times New Roman" pitchFamily="18" charset="0"/>
                <a:sym typeface="Symbol" pitchFamily="18" charset="2"/>
              </a:rPr>
              <a:t>B</a:t>
            </a:r>
            <a:r>
              <a:rPr lang="en-US" altLang="zh-CN" b="1" dirty="0">
                <a:latin typeface="Times New Roman" pitchFamily="18" charset="0"/>
              </a:rPr>
              <a:t>.</a:t>
            </a:r>
            <a:r>
              <a:rPr lang="en-US" altLang="zh-CN" dirty="0">
                <a:latin typeface="Times New Roman" pitchFamily="18"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3.7.2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基本推理规则</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下面举例说明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证明推理形式有效性</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3-29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证明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A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分析</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永真</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Proof 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真值表法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Proof 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取值法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itchFamily="18" charset="0"/>
              </a:rPr>
              <a:t>(</a:t>
            </a:r>
            <a:r>
              <a:rPr lang="en-US" altLang="zh-CN" b="1" i="1" dirty="0">
                <a:latin typeface="Times New Roman" pitchFamily="18" charset="0"/>
              </a:rPr>
              <a:t>p </a:t>
            </a:r>
            <a:r>
              <a:rPr lang="en-US" altLang="zh-CN" b="1" dirty="0">
                <a:latin typeface="Times New Roman" pitchFamily="18" charset="0"/>
                <a:sym typeface="Symbol" pitchFamily="18" charset="2"/>
              </a:rPr>
              <a:t> </a:t>
            </a:r>
            <a:r>
              <a:rPr lang="en-US" altLang="zh-CN" b="1" i="1" dirty="0">
                <a:latin typeface="Times New Roman" pitchFamily="18" charset="0"/>
                <a:sym typeface="Symbol" pitchFamily="18" charset="2"/>
              </a:rPr>
              <a:t>q</a:t>
            </a:r>
            <a:r>
              <a:rPr lang="en-US" altLang="zh-CN" b="1" dirty="0">
                <a:latin typeface="Times New Roman" pitchFamily="18" charset="0"/>
              </a:rPr>
              <a:t>) </a:t>
            </a:r>
            <a:r>
              <a:rPr lang="en-US" altLang="zh-CN" b="1" dirty="0">
                <a:latin typeface="Times New Roman" pitchFamily="18" charset="0"/>
                <a:sym typeface="Symbol" pitchFamily="18" charset="2"/>
              </a:rPr>
              <a:t></a:t>
            </a:r>
            <a:r>
              <a:rPr lang="en-US" altLang="zh-CN" b="1" dirty="0">
                <a:latin typeface="Times New Roman" pitchFamily="18" charset="0"/>
              </a:rPr>
              <a:t> </a:t>
            </a:r>
            <a:r>
              <a:rPr lang="en-US" altLang="zh-CN" b="1" i="1" dirty="0">
                <a:latin typeface="Times New Roman" pitchFamily="18" charset="0"/>
              </a:rPr>
              <a:t>p </a:t>
            </a:r>
            <a:r>
              <a:rPr lang="en-US" altLang="zh-CN" b="1" dirty="0">
                <a:latin typeface="Times New Roman" pitchFamily="18" charset="0"/>
              </a:rPr>
              <a:t>= 1, </a:t>
            </a:r>
            <a:r>
              <a:rPr lang="en-US" altLang="zh-CN" b="1" i="1" dirty="0">
                <a:latin typeface="Times New Roman" pitchFamily="18" charset="0"/>
              </a:rPr>
              <a:t>q</a:t>
            </a:r>
            <a:r>
              <a:rPr lang="en-US" altLang="zh-CN" b="1" dirty="0">
                <a:latin typeface="Times New Roman" pitchFamily="18" charset="0"/>
              </a:rPr>
              <a:t> = 1?</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p:nvPr>
        </p:nvSpPr>
        <p:spPr/>
        <p:txBody>
          <a:bodyPr/>
          <a:lstStyle/>
          <a:p>
            <a:pPr eaLnBrk="1" hangingPunct="1">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Proof 3</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等值演算法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q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1?</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Proof 4</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主范式法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主析取范式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主合取范式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不存在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en-US" altLang="zh-CN" b="1" dirty="0">
              <a:latin typeface="Times New Roman" pitchFamily="18" charset="0"/>
            </a:endParaRPr>
          </a:p>
        </p:txBody>
      </p:sp>
      <p:graphicFrame>
        <p:nvGraphicFramePr>
          <p:cNvPr id="152579" name="Object 3"/>
          <p:cNvGraphicFramePr>
            <a:graphicFrameLocks noChangeAspect="1"/>
          </p:cNvGraphicFramePr>
          <p:nvPr>
            <p:extLst>
              <p:ext uri="{D42A27DB-BD31-4B8C-83A1-F6EECF244321}">
                <p14:modId xmlns:p14="http://schemas.microsoft.com/office/powerpoint/2010/main" val="907432794"/>
              </p:ext>
            </p:extLst>
          </p:nvPr>
        </p:nvGraphicFramePr>
        <p:xfrm>
          <a:off x="2150244" y="3645024"/>
          <a:ext cx="6526212" cy="1031875"/>
        </p:xfrm>
        <a:graphic>
          <a:graphicData uri="http://schemas.openxmlformats.org/presentationml/2006/ole">
            <mc:AlternateContent xmlns:mc="http://schemas.openxmlformats.org/markup-compatibility/2006">
              <mc:Choice xmlns:v="urn:schemas-microsoft-com:vml" Requires="v">
                <p:oleObj name="Equation" r:id="rId2" imgW="2657568" imgH="352350" progId="Equation.3">
                  <p:embed/>
                </p:oleObj>
              </mc:Choice>
              <mc:Fallback>
                <p:oleObj name="Equation" r:id="rId2" imgW="2657568" imgH="35235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0244" y="3645024"/>
                        <a:ext cx="6526212"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p:nvPr>
        </p:nvSpPr>
        <p:spPr/>
        <p:txBody>
          <a:bodyPr/>
          <a:lstStyle/>
          <a:p>
            <a:pPr eaLnBrk="1" hangingPunct="1">
              <a:lnSpc>
                <a:spcPct val="120000"/>
              </a:lnSpc>
            </a:pP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基本推理规则</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或基本蕴涵式</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solidFill>
                  <a:srgbClr val="C00000"/>
                </a:solidFill>
                <a:latin typeface="Times New Roman" pitchFamily="18" charset="0"/>
                <a:ea typeface="华文新魏" pitchFamily="2" charset="-122"/>
              </a:rPr>
              <a:t>I</a:t>
            </a:r>
            <a:r>
              <a:rPr lang="en-US" altLang="zh-CN" b="1" dirty="0">
                <a:latin typeface="Times New Roman" pitchFamily="18" charset="0"/>
                <a:ea typeface="华文新魏" pitchFamily="2" charset="-122"/>
              </a:rPr>
              <a:t>.</a:t>
            </a:r>
            <a:endParaRPr lang="en-US" altLang="zh-CN" b="1" dirty="0">
              <a:latin typeface="Times New Roman" pitchFamily="18" charset="0"/>
            </a:endParaRPr>
          </a:p>
          <a:p>
            <a:pPr eaLnBrk="1" hangingPunct="1">
              <a:lnSpc>
                <a:spcPct val="120000"/>
              </a:lnSpc>
            </a:pPr>
            <a:r>
              <a:rPr lang="en-US" altLang="zh-CN" b="1" dirty="0">
                <a:latin typeface="Times New Roman" pitchFamily="18" charset="0"/>
              </a:rPr>
              <a:t>(1)</a:t>
            </a:r>
          </a:p>
          <a:p>
            <a:pPr eaLnBrk="1" hangingPunct="1">
              <a:lnSpc>
                <a:spcPct val="120000"/>
              </a:lnSpc>
            </a:pPr>
            <a:r>
              <a:rPr lang="en-US" altLang="zh-CN" b="1" dirty="0">
                <a:latin typeface="Times New Roman" pitchFamily="18" charset="0"/>
              </a:rPr>
              <a:t>(2)</a:t>
            </a:r>
          </a:p>
          <a:p>
            <a:pPr eaLnBrk="1" hangingPunct="1">
              <a:lnSpc>
                <a:spcPct val="120000"/>
              </a:lnSpc>
            </a:pPr>
            <a:r>
              <a:rPr lang="en-US" altLang="zh-CN" b="1" dirty="0">
                <a:latin typeface="Times New Roman" pitchFamily="18" charset="0"/>
              </a:rPr>
              <a:t>(3)</a:t>
            </a:r>
          </a:p>
          <a:p>
            <a:pPr eaLnBrk="1" hangingPunct="1">
              <a:lnSpc>
                <a:spcPct val="120000"/>
              </a:lnSpc>
            </a:pPr>
            <a:r>
              <a:rPr lang="en-US" altLang="zh-CN" b="1" dirty="0">
                <a:latin typeface="Times New Roman" pitchFamily="18" charset="0"/>
              </a:rPr>
              <a:t>(4)</a:t>
            </a:r>
          </a:p>
        </p:txBody>
      </p:sp>
      <p:graphicFrame>
        <p:nvGraphicFramePr>
          <p:cNvPr id="153603" name="Object 3"/>
          <p:cNvGraphicFramePr>
            <a:graphicFrameLocks noChangeAspect="1"/>
          </p:cNvGraphicFramePr>
          <p:nvPr/>
        </p:nvGraphicFramePr>
        <p:xfrm>
          <a:off x="1692275" y="1196975"/>
          <a:ext cx="1789113" cy="485775"/>
        </p:xfrm>
        <a:graphic>
          <a:graphicData uri="http://schemas.openxmlformats.org/presentationml/2006/ole">
            <mc:AlternateContent xmlns:mc="http://schemas.openxmlformats.org/markup-compatibility/2006">
              <mc:Choice xmlns:v="urn:schemas-microsoft-com:vml" Requires="v">
                <p:oleObj name="公式" r:id="rId2" imgW="676143" imgH="123930" progId="Equation.3">
                  <p:embed/>
                </p:oleObj>
              </mc:Choice>
              <mc:Fallback>
                <p:oleObj name="公式" r:id="rId2" imgW="676143"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196975"/>
                        <a:ext cx="178911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4" name="Object 4"/>
          <p:cNvGraphicFramePr>
            <a:graphicFrameLocks noChangeAspect="1"/>
          </p:cNvGraphicFramePr>
          <p:nvPr/>
        </p:nvGraphicFramePr>
        <p:xfrm>
          <a:off x="3563938" y="1196975"/>
          <a:ext cx="1758950" cy="423863"/>
        </p:xfrm>
        <a:graphic>
          <a:graphicData uri="http://schemas.openxmlformats.org/presentationml/2006/ole">
            <mc:AlternateContent xmlns:mc="http://schemas.openxmlformats.org/markup-compatibility/2006">
              <mc:Choice xmlns:v="urn:schemas-microsoft-com:vml" Requires="v">
                <p:oleObj name="公式" r:id="rId4" imgW="657233" imgH="104760" progId="Equation.3">
                  <p:embed/>
                </p:oleObj>
              </mc:Choice>
              <mc:Fallback>
                <p:oleObj name="公式" r:id="rId4" imgW="657233" imgH="10476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1196975"/>
                        <a:ext cx="1758950"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5" name="Object 5"/>
          <p:cNvGraphicFramePr>
            <a:graphicFrameLocks noChangeAspect="1"/>
          </p:cNvGraphicFramePr>
          <p:nvPr/>
        </p:nvGraphicFramePr>
        <p:xfrm>
          <a:off x="1763713" y="1916113"/>
          <a:ext cx="3487737" cy="484187"/>
        </p:xfrm>
        <a:graphic>
          <a:graphicData uri="http://schemas.openxmlformats.org/presentationml/2006/ole">
            <mc:AlternateContent xmlns:mc="http://schemas.openxmlformats.org/markup-compatibility/2006">
              <mc:Choice xmlns:v="urn:schemas-microsoft-com:vml" Requires="v">
                <p:oleObj name="公式" r:id="rId6" imgW="1381190" imgH="123930" progId="Equation.3">
                  <p:embed/>
                </p:oleObj>
              </mc:Choice>
              <mc:Fallback>
                <p:oleObj name="公式" r:id="rId6" imgW="1381190"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3" y="1916113"/>
                        <a:ext cx="3487737"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6" name="Object 6"/>
          <p:cNvGraphicFramePr>
            <a:graphicFrameLocks noChangeAspect="1"/>
          </p:cNvGraphicFramePr>
          <p:nvPr/>
        </p:nvGraphicFramePr>
        <p:xfrm>
          <a:off x="1763713" y="2492375"/>
          <a:ext cx="2122487" cy="484188"/>
        </p:xfrm>
        <a:graphic>
          <a:graphicData uri="http://schemas.openxmlformats.org/presentationml/2006/ole">
            <mc:AlternateContent xmlns:mc="http://schemas.openxmlformats.org/markup-compatibility/2006">
              <mc:Choice xmlns:v="urn:schemas-microsoft-com:vml" Requires="v">
                <p:oleObj name="公式" r:id="rId8" imgW="809588" imgH="123930" progId="Equation.3">
                  <p:embed/>
                </p:oleObj>
              </mc:Choice>
              <mc:Fallback>
                <p:oleObj name="公式" r:id="rId8" imgW="809588"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63713" y="2492375"/>
                        <a:ext cx="2122487"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7" name="Object 7"/>
          <p:cNvGraphicFramePr>
            <a:graphicFrameLocks noChangeAspect="1"/>
          </p:cNvGraphicFramePr>
          <p:nvPr/>
        </p:nvGraphicFramePr>
        <p:xfrm>
          <a:off x="1692275" y="3141663"/>
          <a:ext cx="2365375" cy="484187"/>
        </p:xfrm>
        <a:graphic>
          <a:graphicData uri="http://schemas.openxmlformats.org/presentationml/2006/ole">
            <mc:AlternateContent xmlns:mc="http://schemas.openxmlformats.org/markup-compatibility/2006">
              <mc:Choice xmlns:v="urn:schemas-microsoft-com:vml" Requires="v">
                <p:oleObj name="公式" r:id="rId10" imgW="914400" imgH="123930" progId="Equation.3">
                  <p:embed/>
                </p:oleObj>
              </mc:Choice>
              <mc:Fallback>
                <p:oleObj name="公式" r:id="rId10" imgW="914400" imgH="12393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3141663"/>
                        <a:ext cx="23653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a:t>
            </a:r>
            <a:r>
              <a:rPr lang="en-US" altLang="zh-CN" b="1" dirty="0">
                <a:solidFill>
                  <a:schemeClr val="hlink"/>
                </a:solidFill>
                <a:latin typeface="Times New Roman" pitchFamily="18" charset="0"/>
              </a:rPr>
              <a:t>5</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a:t>
            </a:r>
            <a:r>
              <a:rPr lang="en-US" altLang="zh-CN" b="1" dirty="0">
                <a:solidFill>
                  <a:schemeClr val="hlink"/>
                </a:solidFill>
                <a:latin typeface="Times New Roman" pitchFamily="18" charset="0"/>
              </a:rPr>
              <a:t>6</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a:t>
            </a:r>
            <a:r>
              <a:rPr lang="en-US" altLang="zh-CN" b="1" dirty="0">
                <a:solidFill>
                  <a:schemeClr val="hlink"/>
                </a:solidFill>
                <a:latin typeface="Times New Roman" pitchFamily="18" charset="0"/>
              </a:rPr>
              <a:t>7</a:t>
            </a:r>
            <a:r>
              <a:rPr lang="en-US" altLang="zh-CN" b="1" dirty="0">
                <a:latin typeface="Times New Roman" pitchFamily="18" charset="0"/>
              </a:rPr>
              <a:t>)</a:t>
            </a:r>
          </a:p>
          <a:p>
            <a:pPr eaLnBrk="1" hangingPunct="1">
              <a:lnSpc>
                <a:spcPct val="120000"/>
              </a:lnSpc>
            </a:pPr>
            <a:r>
              <a:rPr lang="en-US" altLang="zh-CN" b="1" dirty="0">
                <a:latin typeface="Times New Roman" pitchFamily="18" charset="0"/>
              </a:rPr>
              <a:t>(</a:t>
            </a:r>
            <a:r>
              <a:rPr lang="en-US" altLang="zh-CN" b="1" dirty="0">
                <a:solidFill>
                  <a:schemeClr val="hlink"/>
                </a:solidFill>
                <a:latin typeface="Times New Roman" pitchFamily="18" charset="0"/>
              </a:rPr>
              <a:t>8</a:t>
            </a:r>
            <a:r>
              <a:rPr lang="en-US" altLang="zh-CN" b="1" dirty="0">
                <a:latin typeface="Times New Roman" pitchFamily="18" charset="0"/>
              </a:rPr>
              <a:t>)</a:t>
            </a:r>
          </a:p>
          <a:p>
            <a:pPr eaLnBrk="1" hangingPunct="1">
              <a:lnSpc>
                <a:spcPct val="120000"/>
              </a:lnSpc>
            </a:pPr>
            <a:endParaRPr lang="en-US" altLang="zh-CN" b="1" dirty="0">
              <a:latin typeface="Times New Roman" pitchFamily="18" charset="0"/>
              <a:ea typeface="华文新魏" pitchFamily="2" charset="-122"/>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基本等值式</a:t>
            </a:r>
            <a:r>
              <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3-5】&amp;【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en-US" altLang="zh-Hans" b="1" dirty="0">
                <a:latin typeface="Times New Roman" panose="02020603050405020304" pitchFamily="18" charset="0"/>
                <a:ea typeface="楷体" panose="02010609060101010101" pitchFamily="49" charset="-122"/>
                <a:cs typeface="Times New Roman" panose="02020603050405020304" pitchFamily="18" charset="0"/>
              </a:rPr>
              <a:t>6</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dirty="0"/>
          </a:p>
        </p:txBody>
      </p:sp>
      <p:graphicFrame>
        <p:nvGraphicFramePr>
          <p:cNvPr id="154627" name="Object 3"/>
          <p:cNvGraphicFramePr>
            <a:graphicFrameLocks noChangeAspect="1"/>
          </p:cNvGraphicFramePr>
          <p:nvPr/>
        </p:nvGraphicFramePr>
        <p:xfrm>
          <a:off x="1476375" y="2420938"/>
          <a:ext cx="4065588" cy="484187"/>
        </p:xfrm>
        <a:graphic>
          <a:graphicData uri="http://schemas.openxmlformats.org/presentationml/2006/ole">
            <mc:AlternateContent xmlns:mc="http://schemas.openxmlformats.org/markup-compatibility/2006">
              <mc:Choice xmlns:v="urn:schemas-microsoft-com:vml" Requires="v">
                <p:oleObj name="公式" r:id="rId2" imgW="1628902" imgH="123930" progId="Equation.3">
                  <p:embed/>
                </p:oleObj>
              </mc:Choice>
              <mc:Fallback>
                <p:oleObj name="公式" r:id="rId2" imgW="1628902"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420938"/>
                        <a:ext cx="4065588"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28" name="Object 4"/>
          <p:cNvGraphicFramePr>
            <a:graphicFrameLocks noChangeAspect="1"/>
          </p:cNvGraphicFramePr>
          <p:nvPr/>
        </p:nvGraphicFramePr>
        <p:xfrm>
          <a:off x="1476375" y="1773238"/>
          <a:ext cx="3852863" cy="484187"/>
        </p:xfrm>
        <a:graphic>
          <a:graphicData uri="http://schemas.openxmlformats.org/presentationml/2006/ole">
            <mc:AlternateContent xmlns:mc="http://schemas.openxmlformats.org/markup-compatibility/2006">
              <mc:Choice xmlns:v="urn:schemas-microsoft-com:vml" Requires="v">
                <p:oleObj name="公式" r:id="rId4" imgW="1533545" imgH="123930" progId="Equation.3">
                  <p:embed/>
                </p:oleObj>
              </mc:Choice>
              <mc:Fallback>
                <p:oleObj name="公式" r:id="rId4" imgW="1533545" imgH="1239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1773238"/>
                        <a:ext cx="385286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29" name="Object 5"/>
          <p:cNvGraphicFramePr>
            <a:graphicFrameLocks noChangeAspect="1"/>
          </p:cNvGraphicFramePr>
          <p:nvPr/>
        </p:nvGraphicFramePr>
        <p:xfrm>
          <a:off x="1476375" y="1052513"/>
          <a:ext cx="2760663" cy="484187"/>
        </p:xfrm>
        <a:graphic>
          <a:graphicData uri="http://schemas.openxmlformats.org/presentationml/2006/ole">
            <mc:AlternateContent xmlns:mc="http://schemas.openxmlformats.org/markup-compatibility/2006">
              <mc:Choice xmlns:v="urn:schemas-microsoft-com:vml" Requires="v">
                <p:oleObj name="公式" r:id="rId6" imgW="1076210" imgH="123930" progId="Equation.3">
                  <p:embed/>
                </p:oleObj>
              </mc:Choice>
              <mc:Fallback>
                <p:oleObj name="公式" r:id="rId6" imgW="1076210" imgH="12393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1052513"/>
                        <a:ext cx="276066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30" name="Object 6"/>
          <p:cNvGraphicFramePr>
            <a:graphicFrameLocks noChangeAspect="1"/>
          </p:cNvGraphicFramePr>
          <p:nvPr/>
        </p:nvGraphicFramePr>
        <p:xfrm>
          <a:off x="1547813" y="333375"/>
          <a:ext cx="2305050" cy="484188"/>
        </p:xfrm>
        <a:graphic>
          <a:graphicData uri="http://schemas.openxmlformats.org/presentationml/2006/ole">
            <mc:AlternateContent xmlns:mc="http://schemas.openxmlformats.org/markup-compatibility/2006">
              <mc:Choice xmlns:v="urn:schemas-microsoft-com:vml" Requires="v">
                <p:oleObj name="公式" r:id="rId8" imgW="885766" imgH="123930" progId="Equation.3">
                  <p:embed/>
                </p:oleObj>
              </mc:Choice>
              <mc:Fallback>
                <p:oleObj name="公式" r:id="rId8" imgW="885766" imgH="1239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333375"/>
                        <a:ext cx="2305050"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3.7.3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命题逻辑的自然推理系统</a:t>
            </a:r>
          </a:p>
          <a:p>
            <a:pPr eaLnBrk="1" hangingPunct="1">
              <a:lnSpc>
                <a:spcPct val="120000"/>
              </a:lnSpc>
            </a:pP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推理系统</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原则上有以下四个部分：</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它应有</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初始符号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它是系统中允许出现的字符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自然推理系统的初始符号有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lvl="1"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命题变元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lvl="1"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5</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个联结词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lvl="1"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左右圆括号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ndParaRPr>
          </a:p>
          <a:p>
            <a:pPr eaLnBrk="1" hangingPunct="1">
              <a:lnSpc>
                <a:spcPct val="120000"/>
              </a:lnSpc>
            </a:pPr>
            <a:endParaRPr lang="en-US" altLang="zh-CN" b="1" dirty="0">
              <a:latin typeface="Times New Roman"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定义推理系统中的</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它是按一定的形成规则得到的有意义的符号串</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粗略地说</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它就是命题公式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但它原则上不出现除</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 ,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外的其它联结词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同时原则上不出现命题常量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 </a:t>
            </a:r>
          </a:p>
          <a:p>
            <a:pPr eaLnBrk="1" hangingPunct="1">
              <a:lnSpc>
                <a:spcPct val="120000"/>
              </a:lnSpc>
            </a:pPr>
            <a:endParaRPr lang="en-US" altLang="zh-CN" b="1"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确定</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公理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就是推理系统中不加推导就承认的公式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从语义的角度看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它就是永真式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自然推理系统中没有公理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这一点是与公理推理系统截然不同的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第四</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确定</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推理规则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在自然推理系统中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把所有与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个联结词有关的基本逻辑蕴涵式都作为推理规则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定理</a:t>
            </a:r>
            <a:r>
              <a:rPr lang="en-US" altLang="zh-Hans" b="1" dirty="0">
                <a:latin typeface="Times New Roman" panose="02020603050405020304" pitchFamily="18" charset="0"/>
                <a:ea typeface="楷体" panose="02010609060101010101" pitchFamily="49" charset="-122"/>
                <a:cs typeface="Times New Roman" panose="02020603050405020304" pitchFamily="18" charset="0"/>
              </a:rPr>
              <a:t>3-17</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同时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一个基本等值式相当于两个基本逻辑蕴涵式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两个最基本的推理规则：</a:t>
            </a:r>
          </a:p>
          <a:p>
            <a:pPr lvl="1" eaLnBrk="1" hangingPunct="1">
              <a:lnSpc>
                <a:spcPct val="120000"/>
              </a:lnSpc>
            </a:pP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规则</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remise rule)</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所给的前提在证明过程中随时可以引用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lvl="1" eaLnBrk="1" hangingPunct="1">
              <a:lnSpc>
                <a:spcPct val="120000"/>
              </a:lnSpc>
            </a:pP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T</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规则</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ruth rule)</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已经推出的公式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事实</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在以后的证明过程中可以随时引用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p:nvPr>
        </p:nvSpPr>
        <p:spPr/>
        <p:txBody>
          <a:bodyPr/>
          <a:lstStyle/>
          <a:p>
            <a:pPr eaLnBrk="1" hangingPunct="1">
              <a:lnSpc>
                <a:spcPct val="120000"/>
              </a:lnSpc>
            </a:pP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自然推理系统</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的显著特点是没有公理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作为推理依据的只有推理规则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这似乎更符合人们日常思维的推理习惯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因此称为自然推理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在进行自然推理时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采用构造性证明方法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简称“</a:t>
            </a:r>
            <a:r>
              <a:rPr lang="zh-CN" altLang="en-US" b="1" dirty="0">
                <a:solidFill>
                  <a:schemeClr val="hlink"/>
                </a:solidFill>
                <a:latin typeface="Times New Roman" panose="02020603050405020304" pitchFamily="18" charset="0"/>
                <a:ea typeface="楷体" panose="02010609060101010101" pitchFamily="49" charset="-122"/>
                <a:cs typeface="Times New Roman" panose="02020603050405020304" pitchFamily="18" charset="0"/>
              </a:rPr>
              <a:t>构造法</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更准确地应该说是数理逻辑中的演绎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(deduction)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通过一个例子了解证明的书写格式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p:nvPr>
        </p:nvSpPr>
        <p:spPr/>
        <p:txBody>
          <a:bodyPr/>
          <a:lstStyle/>
          <a:p>
            <a:pPr eaLnBrk="1" hangingPunct="1"/>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3-30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使用构造法证明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endParaRPr lang="en-US" altLang="zh-CN" b="1" dirty="0">
              <a:latin typeface="Times New Roman" pitchFamily="18" charset="0"/>
            </a:endParaRPr>
          </a:p>
          <a:p>
            <a:pPr eaLnBrk="1" hangingPunct="1"/>
            <a:r>
              <a:rPr lang="en-US" altLang="zh-CN" b="1" dirty="0">
                <a:latin typeface="Times New Roman" pitchFamily="18" charset="0"/>
              </a:rPr>
              <a:t>Proof</a:t>
            </a:r>
          </a:p>
          <a:p>
            <a:pPr eaLnBrk="1" hangingPunct="1"/>
            <a:r>
              <a:rPr lang="en-US" altLang="zh-CN" b="1" dirty="0">
                <a:latin typeface="Times New Roman" pitchFamily="18" charset="0"/>
              </a:rPr>
              <a:t>(1)</a:t>
            </a:r>
            <a:r>
              <a:rPr lang="zh-Hans" altLang="en-US" b="1" dirty="0">
                <a:latin typeface="Times New Roman" pitchFamily="18" charset="0"/>
              </a:rPr>
              <a:t> </a:t>
            </a:r>
            <a:r>
              <a:rPr lang="en-US" altLang="zh-CN" b="1" i="1" dirty="0">
                <a:latin typeface="Times New Roman" pitchFamily="18" charset="0"/>
              </a:rPr>
              <a:t>p</a:t>
            </a:r>
            <a:r>
              <a:rPr lang="en-US" altLang="zh-CN"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s</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P</a:t>
            </a:r>
          </a:p>
          <a:p>
            <a:pPr eaLnBrk="1" hangingPunct="1"/>
            <a:r>
              <a:rPr lang="en-US" altLang="zh-CN" b="1" dirty="0">
                <a:latin typeface="Times New Roman" pitchFamily="18" charset="0"/>
              </a:rPr>
              <a:t>(2)</a:t>
            </a:r>
            <a:r>
              <a:rPr lang="zh-Hans" altLang="en-US" b="1" dirty="0">
                <a:latin typeface="Times New Roman" pitchFamily="18" charset="0"/>
              </a:rPr>
              <a:t> </a:t>
            </a:r>
            <a:r>
              <a:rPr lang="en-US" altLang="zh-CN" b="1" i="1" dirty="0">
                <a:latin typeface="Times New Roman" pitchFamily="18" charset="0"/>
              </a:rPr>
              <a:t>p</a:t>
            </a:r>
            <a:r>
              <a:rPr lang="en-US" altLang="zh-CN" b="1" dirty="0">
                <a:latin typeface="Times New Roman" pitchFamily="18" charset="0"/>
              </a:rPr>
              <a:t>         </a:t>
            </a:r>
            <a:r>
              <a:rPr lang="zh-Hans" altLang="en-US" b="1" dirty="0">
                <a:latin typeface="Times New Roman" pitchFamily="18" charset="0"/>
              </a:rPr>
              <a:t>     </a:t>
            </a:r>
            <a:r>
              <a:rPr lang="en-US" altLang="zh-CN" b="1" dirty="0">
                <a:latin typeface="Times New Roman" pitchFamily="18" charset="0"/>
              </a:rPr>
              <a:t> </a:t>
            </a:r>
            <a:r>
              <a:rPr lang="zh-Hans" altLang="en-US" b="1" dirty="0">
                <a:latin typeface="Times New Roman" pitchFamily="18" charset="0"/>
              </a:rPr>
              <a:t>  </a:t>
            </a:r>
            <a:r>
              <a:rPr lang="en-US" altLang="zh-CN" b="1" dirty="0">
                <a:latin typeface="Times New Roman" pitchFamily="18" charset="0"/>
              </a:rPr>
              <a:t>T(1)I</a:t>
            </a:r>
          </a:p>
          <a:p>
            <a:pPr eaLnBrk="1" hangingPunct="1"/>
            <a:r>
              <a:rPr lang="en-US" altLang="zh-CN" b="1" dirty="0">
                <a:latin typeface="Times New Roman" pitchFamily="18" charset="0"/>
              </a:rPr>
              <a:t>(3)</a:t>
            </a:r>
            <a:r>
              <a:rPr lang="zh-Hans" altLang="en-US"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s</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T(1)I</a:t>
            </a:r>
            <a:endParaRPr lang="en-US" altLang="zh-CN" b="1" dirty="0">
              <a:latin typeface="Times New Roman" pitchFamily="18" charset="0"/>
            </a:endParaRPr>
          </a:p>
          <a:p>
            <a:pPr eaLnBrk="1" hangingPunct="1"/>
            <a:r>
              <a:rPr lang="en-US" altLang="zh-CN" b="1" dirty="0">
                <a:latin typeface="Times New Roman" pitchFamily="18" charset="0"/>
              </a:rPr>
              <a:t>(4)</a:t>
            </a:r>
            <a:r>
              <a:rPr lang="zh-Hans" altLang="en-US" b="1" dirty="0">
                <a:latin typeface="Times New Roman" pitchFamily="18" charset="0"/>
              </a:rPr>
              <a:t> </a:t>
            </a:r>
            <a:r>
              <a:rPr lang="en-US" altLang="zh-CN" b="1" i="1" dirty="0">
                <a:latin typeface="Times New Roman" pitchFamily="18" charset="0"/>
              </a:rPr>
              <a:t>p</a:t>
            </a:r>
            <a:r>
              <a:rPr lang="en-US" altLang="zh-CN"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P</a:t>
            </a:r>
          </a:p>
          <a:p>
            <a:pPr eaLnBrk="1" hangingPunct="1"/>
            <a:r>
              <a:rPr lang="en-US" altLang="zh-CN" b="1" dirty="0">
                <a:latin typeface="Times New Roman" pitchFamily="18" charset="0"/>
              </a:rPr>
              <a:t>(5)</a:t>
            </a:r>
            <a:r>
              <a:rPr lang="zh-Hans" altLang="en-US" b="1" dirty="0">
                <a:latin typeface="Times New Roman" pitchFamily="18" charset="0"/>
              </a:rPr>
              <a:t> </a:t>
            </a:r>
            <a:r>
              <a:rPr lang="en-US" altLang="zh-CN" b="1" i="1" dirty="0">
                <a:latin typeface="Times New Roman" pitchFamily="18" charset="0"/>
                <a:sym typeface="Symbol" pitchFamily="18" charset="2"/>
              </a:rPr>
              <a:t>q</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r </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T(2)(4)I </a:t>
            </a:r>
            <a:endParaRPr lang="en-US" altLang="zh-CN" b="1" dirty="0">
              <a:latin typeface="Times New Roman" pitchFamily="18" charset="0"/>
            </a:endParaRPr>
          </a:p>
          <a:p>
            <a:pPr eaLnBrk="1" hangingPunct="1"/>
            <a:r>
              <a:rPr lang="en-US" altLang="zh-CN" b="1" dirty="0">
                <a:latin typeface="Times New Roman" pitchFamily="18" charset="0"/>
              </a:rPr>
              <a:t>(6)</a:t>
            </a:r>
            <a:r>
              <a:rPr lang="zh-Hans" altLang="en-US"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s</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    </a:t>
            </a:r>
            <a:r>
              <a:rPr lang="zh-Hans" altLang="en-US" b="1" i="1" dirty="0">
                <a:latin typeface="Times New Roman" pitchFamily="18" charset="0"/>
                <a:sym typeface="Symbol" pitchFamily="18" charset="2"/>
              </a:rPr>
              <a:t>   </a:t>
            </a:r>
            <a:r>
              <a:rPr lang="en-US" altLang="zh-CN" b="1" dirty="0">
                <a:latin typeface="Times New Roman" pitchFamily="18" charset="0"/>
                <a:sym typeface="Symbol" pitchFamily="18" charset="2"/>
              </a:rPr>
              <a:t>P </a:t>
            </a:r>
          </a:p>
          <a:p>
            <a:pPr eaLnBrk="1" hangingPunct="1"/>
            <a:r>
              <a:rPr lang="en-US" altLang="zh-CN" b="1" dirty="0">
                <a:latin typeface="Times New Roman" pitchFamily="18" charset="0"/>
              </a:rPr>
              <a:t>(7)</a:t>
            </a:r>
            <a:r>
              <a:rPr lang="zh-Hans" altLang="en-US" b="1" dirty="0">
                <a:latin typeface="Times New Roman" pitchFamily="18" charset="0"/>
              </a:rPr>
              <a:t> </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q        </a:t>
            </a:r>
            <a:r>
              <a:rPr lang="zh-Hans" altLang="en-US" b="1" i="1" dirty="0">
                <a:latin typeface="Times New Roman" pitchFamily="18" charset="0"/>
                <a:sym typeface="Symbol" pitchFamily="18" charset="2"/>
              </a:rPr>
              <a:t>   </a:t>
            </a:r>
            <a:r>
              <a:rPr lang="en-US" altLang="zh-CN" b="1" i="1" dirty="0">
                <a:latin typeface="Times New Roman" pitchFamily="18" charset="0"/>
                <a:sym typeface="Symbol" pitchFamily="18" charset="2"/>
              </a:rPr>
              <a:t> </a:t>
            </a:r>
            <a:r>
              <a:rPr lang="en-US" altLang="zh-CN" b="1" dirty="0">
                <a:latin typeface="Times New Roman" pitchFamily="18" charset="0"/>
                <a:sym typeface="Symbol" pitchFamily="18" charset="2"/>
              </a:rPr>
              <a:t>T(3)(6)I </a:t>
            </a:r>
            <a:endParaRPr lang="en-US" altLang="zh-CN" b="1" dirty="0">
              <a:latin typeface="Times New Roman" pitchFamily="18" charset="0"/>
            </a:endParaRPr>
          </a:p>
          <a:p>
            <a:pPr eaLnBrk="1" hangingPunct="1"/>
            <a:r>
              <a:rPr lang="en-US" altLang="zh-CN" b="1" dirty="0">
                <a:latin typeface="Times New Roman" pitchFamily="18" charset="0"/>
              </a:rPr>
              <a:t>(8)</a:t>
            </a:r>
            <a:r>
              <a:rPr lang="zh-Hans" altLang="en-US" b="1" dirty="0">
                <a:latin typeface="Times New Roman" pitchFamily="18" charset="0"/>
              </a:rPr>
              <a:t> </a:t>
            </a:r>
            <a:r>
              <a:rPr lang="en-US" altLang="zh-CN" b="1" i="1" dirty="0">
                <a:latin typeface="Times New Roman" pitchFamily="18" charset="0"/>
              </a:rPr>
              <a:t>r</a:t>
            </a:r>
            <a:r>
              <a:rPr lang="en-US" altLang="zh-CN" b="1" dirty="0">
                <a:latin typeface="Times New Roman" pitchFamily="18" charset="0"/>
              </a:rPr>
              <a:t>           </a:t>
            </a:r>
            <a:r>
              <a:rPr lang="zh-Hans" altLang="en-US" b="1" dirty="0">
                <a:latin typeface="Times New Roman" pitchFamily="18" charset="0"/>
              </a:rPr>
              <a:t>   </a:t>
            </a:r>
            <a:r>
              <a:rPr lang="en-US" altLang="zh-CN" b="1" dirty="0">
                <a:latin typeface="Times New Roman" pitchFamily="18" charset="0"/>
              </a:rPr>
              <a:t> T(5)(7)I</a:t>
            </a:r>
          </a:p>
        </p:txBody>
      </p:sp>
      <p:graphicFrame>
        <p:nvGraphicFramePr>
          <p:cNvPr id="160771" name="Object 3"/>
          <p:cNvGraphicFramePr>
            <a:graphicFrameLocks noChangeAspect="1"/>
          </p:cNvGraphicFramePr>
          <p:nvPr>
            <p:extLst>
              <p:ext uri="{D42A27DB-BD31-4B8C-83A1-F6EECF244321}">
                <p14:modId xmlns:p14="http://schemas.microsoft.com/office/powerpoint/2010/main" val="3231049730"/>
              </p:ext>
            </p:extLst>
          </p:nvPr>
        </p:nvGraphicFramePr>
        <p:xfrm>
          <a:off x="2195066" y="908720"/>
          <a:ext cx="6337374" cy="485775"/>
        </p:xfrm>
        <a:graphic>
          <a:graphicData uri="http://schemas.openxmlformats.org/presentationml/2006/ole">
            <mc:AlternateContent xmlns:mc="http://schemas.openxmlformats.org/markup-compatibility/2006">
              <mc:Choice xmlns:v="urn:schemas-microsoft-com:vml" Requires="v">
                <p:oleObj name="Equation" r:id="rId2" imgW="2085967" imgH="123930" progId="Equation.3">
                  <p:embed/>
                </p:oleObj>
              </mc:Choice>
              <mc:Fallback>
                <p:oleObj name="Equation" r:id="rId2" imgW="2085967" imgH="12393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066" y="908720"/>
                        <a:ext cx="6337374" cy="485775"/>
                      </a:xfrm>
                      <a:prstGeom prst="rect">
                        <a:avLst/>
                      </a:prstGeom>
                      <a:noFill/>
                      <a:ln>
                        <a:noFill/>
                      </a:ln>
                      <a:effec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从证明过程可以看出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每一行由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部分组成：第一部分是编号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说明它是证明的第几步；第二部分仅写一个命题公式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实际上编号也说明了它是第几个命题公式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第三部分是写理由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交代该命题公式是怎样得来的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初学者最感困难的是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如何一步一步的构造出从前提到结论的证明过程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与其它证明题一样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可以先进行分析</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p:nvPr>
            </p:nvSpPr>
            <p:spPr/>
            <p:txBody>
              <a:bodyPr/>
              <a:lstStyle/>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要推出结论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个前提中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只有公式</a:t>
                </a:r>
                <a14:m>
                  <m:oMath xmlns:m="http://schemas.openxmlformats.org/officeDocument/2006/math">
                    <m:r>
                      <a:rPr lang="en-US" altLang="zh-CN" b="1" i="1">
                        <a:latin typeface="Cambria Math"/>
                      </a:rPr>
                      <m:t>𝒑</m:t>
                    </m:r>
                    <m:r>
                      <a:rPr lang="en-US" altLang="zh-CN" b="1">
                        <a:latin typeface="Cambria Math"/>
                      </a:rPr>
                      <m:t>→(</m:t>
                    </m:r>
                    <m:r>
                      <a:rPr lang="en-US" altLang="zh-CN" b="1" i="1">
                        <a:latin typeface="Cambria Math"/>
                      </a:rPr>
                      <m:t>𝒒</m:t>
                    </m:r>
                    <m:r>
                      <a:rPr lang="en-US" altLang="zh-CN" b="1">
                        <a:latin typeface="Cambria Math"/>
                      </a:rPr>
                      <m:t>∨</m:t>
                    </m:r>
                    <m:r>
                      <a:rPr lang="en-US" altLang="zh-CN" b="1" i="1">
                        <a:latin typeface="Cambria Math"/>
                      </a:rPr>
                      <m:t>𝒓</m:t>
                    </m:r>
                    <m:r>
                      <a:rPr lang="en-US" altLang="zh-CN" b="1">
                        <a:latin typeface="Cambria Math"/>
                      </a:rPr>
                      <m:t>)</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中含有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且在后件</a:t>
                </a:r>
                <a14:m>
                  <m:oMath xmlns:m="http://schemas.openxmlformats.org/officeDocument/2006/math">
                    <m:r>
                      <a:rPr lang="en-US" altLang="zh-CN" b="1" i="1">
                        <a:latin typeface="Cambria Math"/>
                      </a:rPr>
                      <m:t>𝒒</m:t>
                    </m:r>
                    <m:r>
                      <a:rPr lang="en-US" altLang="zh-CN" b="1">
                        <a:latin typeface="Cambria Math"/>
                      </a:rPr>
                      <m:t>∨</m:t>
                    </m:r>
                    <m:r>
                      <a:rPr lang="en-US" altLang="zh-CN" b="1" i="1">
                        <a:latin typeface="Cambria Math"/>
                      </a:rPr>
                      <m:t>𝒓</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若能推出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则根据</a:t>
                </a:r>
                <a14:m>
                  <m:oMath xmlns:m="http://schemas.openxmlformats.org/officeDocument/2006/math">
                    <m:r>
                      <a:rPr lang="en-US" altLang="zh-CN" b="1" i="1">
                        <a:latin typeface="Cambria Math"/>
                      </a:rPr>
                      <m:t>𝑨</m:t>
                    </m:r>
                    <m:r>
                      <a:rPr lang="en-US" altLang="zh-CN" b="1">
                        <a:latin typeface="Cambria Math"/>
                      </a:rPr>
                      <m:t>→</m:t>
                    </m:r>
                    <m:r>
                      <a:rPr lang="en-US" altLang="zh-CN" b="1" i="1">
                        <a:latin typeface="Cambria Math"/>
                      </a:rPr>
                      <m:t>𝑩</m:t>
                    </m:r>
                    <m:r>
                      <a:rPr lang="en-US" altLang="zh-CN" b="1">
                        <a:latin typeface="Cambria Math"/>
                      </a:rPr>
                      <m:t>,</m:t>
                    </m:r>
                    <m:r>
                      <a:rPr lang="en-US" altLang="zh-CN" b="1" i="1">
                        <a:latin typeface="Cambria Math"/>
                      </a:rPr>
                      <m:t>𝑨</m:t>
                    </m:r>
                    <m:r>
                      <a:rPr lang="en-US" altLang="zh-CN" b="1">
                        <a:latin typeface="Cambria Math"/>
                      </a:rPr>
                      <m:t>⇒</m:t>
                    </m:r>
                    <m:r>
                      <a:rPr lang="en-US" altLang="zh-CN" b="1" i="1">
                        <a:latin typeface="Cambria Math"/>
                      </a:rPr>
                      <m:t>𝑩</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即得</a:t>
                </a:r>
                <a14:m>
                  <m:oMath xmlns:m="http://schemas.openxmlformats.org/officeDocument/2006/math">
                    <m:r>
                      <a:rPr lang="en-US" altLang="zh-CN" b="1" i="1">
                        <a:latin typeface="Cambria Math"/>
                      </a:rPr>
                      <m:t>𝒒</m:t>
                    </m:r>
                    <m:r>
                      <a:rPr lang="en-US" altLang="zh-CN" b="1">
                        <a:latin typeface="Cambria Math"/>
                      </a:rPr>
                      <m:t>∨</m:t>
                    </m:r>
                    <m:r>
                      <a:rPr lang="en-US" altLang="zh-CN" b="1" i="1">
                        <a:latin typeface="Cambria Math"/>
                      </a:rPr>
                      <m:t>𝒓</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而这一点很容易办到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因为有前提</a:t>
                </a:r>
                <a14:m>
                  <m:oMath xmlns:m="http://schemas.openxmlformats.org/officeDocument/2006/math">
                    <m:r>
                      <a:rPr lang="en-US" altLang="zh-CN" b="1" i="1">
                        <a:latin typeface="Cambria Math"/>
                      </a:rPr>
                      <m:t>𝒑</m:t>
                    </m:r>
                    <m:r>
                      <a:rPr lang="en-US" altLang="zh-CN" b="1">
                        <a:latin typeface="Cambria Math"/>
                      </a:rPr>
                      <m:t>∧¬</m:t>
                    </m:r>
                    <m:r>
                      <a:rPr lang="en-US" altLang="zh-CN" b="1" i="1">
                        <a:latin typeface="Cambria Math"/>
                      </a:rPr>
                      <m:t>𝒔</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在得到公式</a:t>
                </a:r>
                <a14:m>
                  <m:oMath xmlns:m="http://schemas.openxmlformats.org/officeDocument/2006/math">
                    <m:r>
                      <a:rPr lang="en-US" altLang="zh-CN" b="1" i="1">
                        <a:latin typeface="Cambria Math"/>
                      </a:rPr>
                      <m:t>𝒒</m:t>
                    </m:r>
                    <m:r>
                      <a:rPr lang="en-US" altLang="zh-CN" b="1">
                        <a:latin typeface="Cambria Math"/>
                      </a:rPr>
                      <m:t>∨</m:t>
                    </m:r>
                    <m:r>
                      <a:rPr lang="en-US" altLang="zh-CN" b="1" i="1">
                        <a:latin typeface="Cambria Math"/>
                      </a:rPr>
                      <m:t>𝒓</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若能推出</a:t>
                </a:r>
                <a14:m>
                  <m:oMath xmlns:m="http://schemas.openxmlformats.org/officeDocument/2006/math">
                    <m:r>
                      <a:rPr lang="en-US" altLang="zh-CN" b="1">
                        <a:latin typeface="Cambria Math"/>
                      </a:rPr>
                      <m:t>¬</m:t>
                    </m:r>
                    <m:r>
                      <a:rPr lang="en-US" altLang="zh-CN" b="1" i="1">
                        <a:latin typeface="Cambria Math"/>
                      </a:rPr>
                      <m:t>𝒒</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则利用</a:t>
                </a:r>
                <a14:m>
                  <m:oMath xmlns:m="http://schemas.openxmlformats.org/officeDocument/2006/math">
                    <m:r>
                      <a:rPr lang="en-US" altLang="zh-CN" b="1" i="1">
                        <a:latin typeface="Cambria Math"/>
                      </a:rPr>
                      <m:t>𝑨</m:t>
                    </m:r>
                    <m:r>
                      <a:rPr lang="en-US" altLang="zh-CN" b="1">
                        <a:latin typeface="Cambria Math"/>
                      </a:rPr>
                      <m:t>∨</m:t>
                    </m:r>
                    <m:r>
                      <a:rPr lang="en-US" altLang="zh-CN" b="1" i="1">
                        <a:latin typeface="Cambria Math"/>
                      </a:rPr>
                      <m:t>𝑩</m:t>
                    </m:r>
                    <m:r>
                      <a:rPr lang="en-US" altLang="zh-CN" b="1">
                        <a:latin typeface="Cambria Math"/>
                      </a:rPr>
                      <m:t>,¬</m:t>
                    </m:r>
                    <m:r>
                      <a:rPr lang="en-US" altLang="zh-CN" b="1" i="1">
                        <a:latin typeface="Cambria Math"/>
                      </a:rPr>
                      <m:t>𝑨</m:t>
                    </m:r>
                    <m:r>
                      <a:rPr lang="en-US" altLang="zh-CN" b="1">
                        <a:latin typeface="Cambria Math"/>
                      </a:rPr>
                      <m:t>⇒</m:t>
                    </m:r>
                    <m:r>
                      <a:rPr lang="en-US" altLang="zh-CN" b="1" i="1">
                        <a:latin typeface="Cambria Math"/>
                      </a:rPr>
                      <m:t>𝑩</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可得</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b="1">
                    <a:latin typeface="Times New Roman" panose="02020603050405020304" pitchFamily="18" charset="0"/>
                    <a:ea typeface="楷体" panose="02010609060101010101" pitchFamily="49" charset="-122"/>
                    <a:cs typeface="Times New Roman" panose="02020603050405020304" pitchFamily="18" charset="0"/>
                  </a:rPr>
                  <a:t>. </a:t>
                </a:r>
              </a:p>
              <a:p>
                <a:r>
                  <a:rPr lang="zh-CN" altLang="zh-CN" b="1">
                    <a:latin typeface="Times New Roman" panose="02020603050405020304" pitchFamily="18" charset="0"/>
                    <a:ea typeface="楷体" panose="02010609060101010101" pitchFamily="49" charset="-122"/>
                    <a:cs typeface="Times New Roman" panose="02020603050405020304" pitchFamily="18" charset="0"/>
                  </a:rPr>
                  <a:t>如何</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推出</a:t>
                </a:r>
                <a14:m>
                  <m:oMath xmlns:m="http://schemas.openxmlformats.org/officeDocument/2006/math">
                    <m:r>
                      <a:rPr lang="en-US" altLang="zh-CN" b="1">
                        <a:latin typeface="Cambria Math"/>
                      </a:rPr>
                      <m:t>¬</m:t>
                    </m:r>
                    <m:r>
                      <a:rPr lang="en-US" altLang="zh-CN" b="1" i="1">
                        <a:latin typeface="Cambria Math"/>
                      </a:rPr>
                      <m:t>𝒒</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？在前提</a:t>
                </a:r>
                <a14:m>
                  <m:oMath xmlns:m="http://schemas.openxmlformats.org/officeDocument/2006/math">
                    <m:r>
                      <a:rPr lang="en-US" altLang="zh-CN" b="1" i="1">
                        <a:latin typeface="Cambria Math"/>
                      </a:rPr>
                      <m:t>¬</m:t>
                    </m:r>
                    <m:r>
                      <a:rPr lang="en-US" altLang="zh-CN" b="1" i="1">
                        <a:latin typeface="Cambria Math"/>
                      </a:rPr>
                      <m:t>𝒔</m:t>
                    </m:r>
                    <m:r>
                      <a:rPr lang="en-US" altLang="zh-CN" b="1" i="1">
                        <a:latin typeface="Cambria Math"/>
                      </a:rPr>
                      <m:t>→¬</m:t>
                    </m:r>
                    <m:r>
                      <a:rPr lang="en-US" altLang="zh-CN" b="1" i="1">
                        <a:latin typeface="Cambria Math"/>
                      </a:rPr>
                      <m:t>𝒒</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含有</a:t>
                </a:r>
                <a14:m>
                  <m:oMath xmlns:m="http://schemas.openxmlformats.org/officeDocument/2006/math">
                    <m:r>
                      <a:rPr lang="en-US" altLang="zh-CN" b="1">
                        <a:latin typeface="Cambria Math"/>
                      </a:rPr>
                      <m:t>¬</m:t>
                    </m:r>
                    <m:r>
                      <a:rPr lang="en-US" altLang="zh-CN" b="1" i="1">
                        <a:latin typeface="Cambria Math"/>
                      </a:rPr>
                      <m:t>𝒒</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只需要推出</a:t>
                </a:r>
                <a14:m>
                  <m:oMath xmlns:m="http://schemas.openxmlformats.org/officeDocument/2006/math">
                    <m:r>
                      <a:rPr lang="en-US" altLang="zh-CN" b="1">
                        <a:latin typeface="Cambria Math"/>
                      </a:rPr>
                      <m:t>¬</m:t>
                    </m:r>
                    <m:r>
                      <a:rPr lang="en-US" altLang="zh-CN" b="1" i="1">
                        <a:latin typeface="Cambria Math"/>
                      </a:rPr>
                      <m:t>𝒔</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即可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这一点也很容易办到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因为有前提</a:t>
                </a:r>
                <a14:m>
                  <m:oMath xmlns:m="http://schemas.openxmlformats.org/officeDocument/2006/math">
                    <m:r>
                      <a:rPr lang="en-US" altLang="zh-CN" b="1" i="1">
                        <a:latin typeface="Cambria Math"/>
                      </a:rPr>
                      <m:t>𝒑</m:t>
                    </m:r>
                    <m:r>
                      <a:rPr lang="en-US" altLang="zh-CN" b="1">
                        <a:latin typeface="Cambria Math"/>
                      </a:rPr>
                      <m:t>∧¬</m:t>
                    </m:r>
                    <m:r>
                      <a:rPr lang="en-US" altLang="zh-CN" b="1" i="1">
                        <a:latin typeface="Cambria Math"/>
                      </a:rPr>
                      <m:t>𝒔</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p:nvPr>
            </p:nvSpPr>
            <p:spPr>
              <a:blipFill rotWithShape="1">
                <a:blip r:embed="rId2"/>
                <a:stretch>
                  <a:fillRect l="-1630" t="-1771" r="-3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6148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一个推理形式是有效的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实际上是指符号推理是正确的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要证明一个推理形式是有效的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首先将所给的前提和结论符号化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再证明这个符号推理是正确的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3-32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用构造法证明下列推理形式的有效性：如果小赵和小钱去上自习</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则小孙也去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小李不去自习或小赵去自习</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由于小钱和小李已经去自习了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所以小孙也去上自习了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graphicFrame>
        <p:nvGraphicFramePr>
          <p:cNvPr id="162819" name="Object 3"/>
          <p:cNvGraphicFramePr>
            <a:graphicFrameLocks noChangeAspect="1"/>
          </p:cNvGraphicFramePr>
          <p:nvPr/>
        </p:nvGraphicFramePr>
        <p:xfrm>
          <a:off x="1979613" y="5229225"/>
          <a:ext cx="5545137" cy="552450"/>
        </p:xfrm>
        <a:graphic>
          <a:graphicData uri="http://schemas.openxmlformats.org/presentationml/2006/ole">
            <mc:AlternateContent xmlns:mc="http://schemas.openxmlformats.org/markup-compatibility/2006">
              <mc:Choice xmlns:v="urn:schemas-microsoft-com:vml" Requires="v">
                <p:oleObj name="Equation" r:id="rId2" imgW="1705079" imgH="104760" progId="Equation.3">
                  <p:embed/>
                </p:oleObj>
              </mc:Choice>
              <mc:Fallback>
                <p:oleObj name="Equation" r:id="rId2" imgW="1705079" imgH="10476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5229225"/>
                        <a:ext cx="5545137"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下面介绍两种间接的构造性证明方法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归谬法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contradiction method</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要证明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将结论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否定得到</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然后推出一个矛盾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S</a:t>
            </a:r>
            <a:r>
              <a:rPr lang="en-US" altLang="zh-CN"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即可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63843" name="Object 3"/>
          <p:cNvGraphicFramePr>
            <a:graphicFrameLocks noChangeAspect="1"/>
          </p:cNvGraphicFramePr>
          <p:nvPr>
            <p:extLst>
              <p:ext uri="{D42A27DB-BD31-4B8C-83A1-F6EECF244321}">
                <p14:modId xmlns:p14="http://schemas.microsoft.com/office/powerpoint/2010/main" val="3151062907"/>
              </p:ext>
            </p:extLst>
          </p:nvPr>
        </p:nvGraphicFramePr>
        <p:xfrm>
          <a:off x="2123728" y="1719286"/>
          <a:ext cx="2880320" cy="557586"/>
        </p:xfrm>
        <a:graphic>
          <a:graphicData uri="http://schemas.openxmlformats.org/presentationml/2006/ole">
            <mc:AlternateContent xmlns:mc="http://schemas.openxmlformats.org/markup-compatibility/2006">
              <mc:Choice xmlns:v="urn:schemas-microsoft-com:vml" Requires="v">
                <p:oleObj name="Equation" r:id="rId2" imgW="1104844" imgH="152280" progId="Equation.3">
                  <p:embed/>
                </p:oleObj>
              </mc:Choice>
              <mc:Fallback>
                <p:oleObj name="Equation" r:id="rId2" imgW="1104844"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719286"/>
                        <a:ext cx="2880320" cy="557586"/>
                      </a:xfrm>
                      <a:prstGeom prst="rect">
                        <a:avLst/>
                      </a:prstGeom>
                      <a:noFill/>
                      <a:ln>
                        <a:noFill/>
                      </a:ln>
                      <a:effectLst/>
                    </p:spPr>
                  </p:pic>
                </p:oleObj>
              </mc:Fallback>
            </mc:AlternateContent>
          </a:graphicData>
        </a:graphic>
      </p:graphicFrame>
      <p:graphicFrame>
        <p:nvGraphicFramePr>
          <p:cNvPr id="163844" name="Object 4"/>
          <p:cNvGraphicFramePr>
            <a:graphicFrameLocks noChangeAspect="1"/>
          </p:cNvGraphicFramePr>
          <p:nvPr/>
        </p:nvGraphicFramePr>
        <p:xfrm>
          <a:off x="2987675" y="2924175"/>
          <a:ext cx="2820988" cy="546100"/>
        </p:xfrm>
        <a:graphic>
          <a:graphicData uri="http://schemas.openxmlformats.org/presentationml/2006/ole">
            <mc:AlternateContent xmlns:mc="http://schemas.openxmlformats.org/markup-compatibility/2006">
              <mc:Choice xmlns:v="urn:schemas-microsoft-com:vml" Requires="v">
                <p:oleObj name="Equation" r:id="rId4" imgW="1104844" imgH="152280" progId="Equation.3">
                  <p:embed/>
                </p:oleObj>
              </mc:Choice>
              <mc:Fallback>
                <p:oleObj name="Equation" r:id="rId4" imgW="1104844" imgH="1522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2924175"/>
                        <a:ext cx="2820988"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45" name="Object 5"/>
          <p:cNvGraphicFramePr>
            <a:graphicFrameLocks noChangeAspect="1"/>
          </p:cNvGraphicFramePr>
          <p:nvPr/>
        </p:nvGraphicFramePr>
        <p:xfrm>
          <a:off x="2627313" y="3500438"/>
          <a:ext cx="4154487" cy="546100"/>
        </p:xfrm>
        <a:graphic>
          <a:graphicData uri="http://schemas.openxmlformats.org/presentationml/2006/ole">
            <mc:AlternateContent xmlns:mc="http://schemas.openxmlformats.org/markup-compatibility/2006">
              <mc:Choice xmlns:v="urn:schemas-microsoft-com:vml" Requires="v">
                <p:oleObj name="Equation" r:id="rId6" imgW="1666990" imgH="152280" progId="Equation.3">
                  <p:embed/>
                </p:oleObj>
              </mc:Choice>
              <mc:Fallback>
                <p:oleObj name="Equation" r:id="rId6" imgW="1666990" imgH="15228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3500438"/>
                        <a:ext cx="4154487"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46" name="Object 6"/>
          <p:cNvGraphicFramePr>
            <a:graphicFrameLocks noChangeAspect="1"/>
          </p:cNvGraphicFramePr>
          <p:nvPr/>
        </p:nvGraphicFramePr>
        <p:xfrm>
          <a:off x="2411413" y="4149725"/>
          <a:ext cx="4487862" cy="546100"/>
        </p:xfrm>
        <a:graphic>
          <a:graphicData uri="http://schemas.openxmlformats.org/presentationml/2006/ole">
            <mc:AlternateContent xmlns:mc="http://schemas.openxmlformats.org/markup-compatibility/2006">
              <mc:Choice xmlns:v="urn:schemas-microsoft-com:vml" Requires="v">
                <p:oleObj name="Equation" r:id="rId8" imgW="1800166" imgH="152280" progId="Equation.3">
                  <p:embed/>
                </p:oleObj>
              </mc:Choice>
              <mc:Fallback>
                <p:oleObj name="Equation" r:id="rId8" imgW="1800166" imgH="15228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1413" y="4149725"/>
                        <a:ext cx="4487862"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47" name="Object 7"/>
          <p:cNvGraphicFramePr>
            <a:graphicFrameLocks noChangeAspect="1"/>
          </p:cNvGraphicFramePr>
          <p:nvPr/>
        </p:nvGraphicFramePr>
        <p:xfrm>
          <a:off x="2339975" y="4797425"/>
          <a:ext cx="5003800" cy="546100"/>
        </p:xfrm>
        <a:graphic>
          <a:graphicData uri="http://schemas.openxmlformats.org/presentationml/2006/ole">
            <mc:AlternateContent xmlns:mc="http://schemas.openxmlformats.org/markup-compatibility/2006">
              <mc:Choice xmlns:v="urn:schemas-microsoft-com:vml" Requires="v">
                <p:oleObj name="Equation" r:id="rId10" imgW="2019244" imgH="152280" progId="Equation.3">
                  <p:embed/>
                </p:oleObj>
              </mc:Choice>
              <mc:Fallback>
                <p:oleObj name="Equation" r:id="rId10" imgW="2019244" imgH="15228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39975" y="4797425"/>
                        <a:ext cx="50038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48" name="Object 8"/>
          <p:cNvGraphicFramePr>
            <a:graphicFrameLocks noChangeAspect="1"/>
          </p:cNvGraphicFramePr>
          <p:nvPr/>
        </p:nvGraphicFramePr>
        <p:xfrm>
          <a:off x="2484438" y="5445125"/>
          <a:ext cx="4275137" cy="546100"/>
        </p:xfrm>
        <a:graphic>
          <a:graphicData uri="http://schemas.openxmlformats.org/presentationml/2006/ole">
            <mc:AlternateContent xmlns:mc="http://schemas.openxmlformats.org/markup-compatibility/2006">
              <mc:Choice xmlns:v="urn:schemas-microsoft-com:vml" Requires="v">
                <p:oleObj name="Equation" r:id="rId12" imgW="1714534" imgH="152280" progId="Equation.3">
                  <p:embed/>
                </p:oleObj>
              </mc:Choice>
              <mc:Fallback>
                <p:oleObj name="Equation" r:id="rId12" imgW="1714534" imgH="15228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5445125"/>
                        <a:ext cx="4275137"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圆角矩形 1">
            <a:extLst>
              <a:ext uri="{FF2B5EF4-FFF2-40B4-BE49-F238E27FC236}">
                <a16:creationId xmlns:a16="http://schemas.microsoft.com/office/drawing/2014/main" id="{EBF70E64-16D4-9D41-B370-D59CCFD4F79E}"/>
              </a:ext>
            </a:extLst>
          </p:cNvPr>
          <p:cNvSpPr/>
          <p:nvPr/>
        </p:nvSpPr>
        <p:spPr>
          <a:xfrm>
            <a:off x="2123728" y="1772816"/>
            <a:ext cx="2975772" cy="432048"/>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p:nvPr>
        </p:nvSpPr>
        <p:spPr/>
        <p:txBody>
          <a:bodyPr/>
          <a:lstStyle/>
          <a:p>
            <a:pPr eaLnBrk="1" hangingPunct="1"/>
            <a:r>
              <a:rPr lang="zh-CN" altLang="en-US"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3-33 </a:t>
            </a:r>
            <a:r>
              <a:rPr lang="zh-CN" altLang="en-US" b="1" dirty="0">
                <a:solidFill>
                  <a:srgbClr val="1829A6"/>
                </a:solidFill>
                <a:latin typeface="Times New Roman" panose="02020603050405020304" pitchFamily="18" charset="0"/>
                <a:ea typeface="楷体" panose="02010609060101010101" pitchFamily="49" charset="-122"/>
                <a:cs typeface="Times New Roman" panose="02020603050405020304" pitchFamily="18" charset="0"/>
              </a:rPr>
              <a:t>归谬法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a:t>
            </a:r>
          </a:p>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P(</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附加</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r>
              <a:rPr lang="en-US" altLang="zh-CN" b="1" dirty="0">
                <a:latin typeface="Times New Roman" pitchFamily="18" charset="0"/>
              </a:rPr>
              <a:t>(2)</a:t>
            </a:r>
            <a:r>
              <a:rPr lang="en-US" altLang="zh-CN" b="1" i="1" dirty="0">
                <a:latin typeface="Times New Roman" pitchFamily="18" charset="0"/>
              </a:rPr>
              <a:t>p</a:t>
            </a:r>
            <a:r>
              <a:rPr lang="en-US" altLang="zh-CN" b="1" dirty="0">
                <a:latin typeface="Times New Roman" pitchFamily="18" charset="0"/>
              </a:rPr>
              <a:t>           </a:t>
            </a:r>
            <a:r>
              <a:rPr lang="zh-Hans" altLang="en-US" b="1" dirty="0">
                <a:latin typeface="Times New Roman" pitchFamily="18" charset="0"/>
              </a:rPr>
              <a:t>   </a:t>
            </a:r>
            <a:r>
              <a:rPr lang="en-US" altLang="zh-CN" b="1" dirty="0">
                <a:latin typeface="Times New Roman" pitchFamily="18" charset="0"/>
              </a:rPr>
              <a:t> T(1)E</a:t>
            </a:r>
          </a:p>
          <a:p>
            <a:pPr eaLnBrk="1" hangingPunct="1"/>
            <a:r>
              <a:rPr lang="en-US" altLang="zh-CN" b="1" dirty="0">
                <a:latin typeface="Times New Roman" pitchFamily="18" charset="0"/>
              </a:rPr>
              <a:t>(3)</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r</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   </a:t>
            </a:r>
            <a:r>
              <a:rPr lang="zh-Hans" altLang="en-US" b="1" i="1" dirty="0">
                <a:latin typeface="Times New Roman" pitchFamily="18" charset="0"/>
                <a:sym typeface="Symbol" pitchFamily="18" charset="2"/>
              </a:rPr>
              <a:t>   </a:t>
            </a:r>
            <a:r>
              <a:rPr lang="en-US" altLang="zh-CN" b="1" i="1" dirty="0">
                <a:latin typeface="Times New Roman" pitchFamily="18" charset="0"/>
                <a:sym typeface="Symbol" pitchFamily="18" charset="2"/>
              </a:rPr>
              <a:t> </a:t>
            </a:r>
            <a:r>
              <a:rPr lang="en-US" altLang="zh-CN" b="1" dirty="0">
                <a:latin typeface="Times New Roman" pitchFamily="18" charset="0"/>
                <a:sym typeface="Symbol" pitchFamily="18" charset="2"/>
              </a:rPr>
              <a:t>P </a:t>
            </a:r>
          </a:p>
          <a:p>
            <a:pPr eaLnBrk="1" hangingPunct="1"/>
            <a:r>
              <a:rPr lang="en-US" altLang="zh-CN" b="1" dirty="0">
                <a:latin typeface="Times New Roman" pitchFamily="18" charset="0"/>
              </a:rPr>
              <a:t>(4)</a:t>
            </a:r>
            <a:r>
              <a:rPr lang="en-US" altLang="zh-CN" b="1" dirty="0">
                <a:latin typeface="Times New Roman" pitchFamily="18" charset="0"/>
                <a:sym typeface="Symbol" pitchFamily="18" charset="2"/>
              </a:rPr>
              <a:t></a:t>
            </a:r>
            <a:r>
              <a:rPr lang="en-US" altLang="zh-CN" b="1" i="1" dirty="0">
                <a:latin typeface="Times New Roman" pitchFamily="18" charset="0"/>
                <a:sym typeface="Symbol" pitchFamily="18" charset="2"/>
              </a:rPr>
              <a:t>q    </a:t>
            </a:r>
            <a:r>
              <a:rPr lang="en-US" altLang="zh-CN" b="1" dirty="0">
                <a:latin typeface="Times New Roman" pitchFamily="18" charset="0"/>
                <a:sym typeface="Symbol" pitchFamily="18" charset="2"/>
              </a:rPr>
              <a:t>      </a:t>
            </a:r>
            <a:r>
              <a:rPr lang="zh-Hans" altLang="en-US" b="1" dirty="0">
                <a:latin typeface="Times New Roman" pitchFamily="18" charset="0"/>
                <a:sym typeface="Symbol" pitchFamily="18" charset="2"/>
              </a:rPr>
              <a:t>  </a:t>
            </a:r>
            <a:r>
              <a:rPr lang="en-US" altLang="zh-CN" b="1" dirty="0">
                <a:latin typeface="Times New Roman" pitchFamily="18" charset="0"/>
                <a:sym typeface="Symbol" pitchFamily="18" charset="2"/>
              </a:rPr>
              <a:t>T(3)I </a:t>
            </a:r>
            <a:endParaRPr lang="en-US" altLang="zh-CN" b="1" dirty="0">
              <a:latin typeface="Times New Roman" pitchFamily="18" charset="0"/>
            </a:endParaRPr>
          </a:p>
          <a:p>
            <a:pPr eaLnBrk="1" hangingPunct="1"/>
            <a:r>
              <a:rPr lang="en-US" altLang="zh-CN" b="1" dirty="0">
                <a:latin typeface="Times New Roman" pitchFamily="18" charset="0"/>
              </a:rPr>
              <a:t>(5)</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a:latin typeface="Times New Roman" pitchFamily="18" charset="0"/>
                <a:sym typeface="Symbol" pitchFamily="18" charset="2"/>
              </a:rPr>
              <a:t>q    </a:t>
            </a:r>
            <a:r>
              <a:rPr lang="zh-Hans" altLang="en-US" b="1" i="1" dirty="0">
                <a:latin typeface="Times New Roman" pitchFamily="18" charset="0"/>
                <a:sym typeface="Symbol" pitchFamily="18" charset="2"/>
              </a:rPr>
              <a:t> </a:t>
            </a:r>
            <a:r>
              <a:rPr lang="en-US" altLang="zh-CN" b="1" dirty="0">
                <a:latin typeface="Times New Roman" pitchFamily="18" charset="0"/>
                <a:sym typeface="Symbol" pitchFamily="18" charset="2"/>
              </a:rPr>
              <a:t>T(2)(4)I</a:t>
            </a:r>
            <a:endParaRPr lang="en-US" altLang="zh-CN" b="1" dirty="0">
              <a:latin typeface="Times New Roman" pitchFamily="18" charset="0"/>
            </a:endParaRPr>
          </a:p>
          <a:p>
            <a:pPr eaLnBrk="1" hangingPunct="1"/>
            <a:r>
              <a:rPr lang="en-US" altLang="zh-CN" b="1" dirty="0">
                <a:latin typeface="Times New Roman" pitchFamily="18" charset="0"/>
              </a:rPr>
              <a:t>(6)</a:t>
            </a:r>
            <a:r>
              <a:rPr lang="en-US" altLang="zh-CN" b="1" i="1" dirty="0">
                <a:latin typeface="Times New Roman" pitchFamily="18" charset="0"/>
                <a:sym typeface="Symbol" pitchFamily="18" charset="2"/>
              </a:rPr>
              <a:t>p</a:t>
            </a:r>
            <a:r>
              <a:rPr lang="en-US" altLang="zh-CN" b="1" dirty="0">
                <a:latin typeface="Times New Roman" pitchFamily="18" charset="0"/>
                <a:sym typeface="Symbol" pitchFamily="18" charset="2"/>
              </a:rPr>
              <a:t>  </a:t>
            </a:r>
            <a:r>
              <a:rPr lang="en-US" altLang="zh-CN" b="1" i="1" dirty="0" err="1">
                <a:latin typeface="Times New Roman" pitchFamily="18" charset="0"/>
                <a:sym typeface="Symbol" pitchFamily="18" charset="2"/>
              </a:rPr>
              <a:t>q</a:t>
            </a:r>
            <a:r>
              <a:rPr lang="en-US" altLang="zh-CN" b="1" dirty="0" err="1">
                <a:latin typeface="Times New Roman" pitchFamily="18" charset="0"/>
                <a:sym typeface="Symbol" pitchFamily="18" charset="2"/>
              </a:rPr>
              <a:t></a:t>
            </a:r>
            <a:r>
              <a:rPr lang="en-US" altLang="zh-CN" b="1" i="1" dirty="0" err="1">
                <a:latin typeface="Times New Roman" pitchFamily="18" charset="0"/>
                <a:sym typeface="Symbol" pitchFamily="18" charset="2"/>
              </a:rPr>
              <a:t>r</a:t>
            </a:r>
            <a:r>
              <a:rPr lang="en-US" altLang="zh-CN" b="1" i="1" dirty="0">
                <a:latin typeface="Times New Roman" pitchFamily="18" charset="0"/>
                <a:sym typeface="Symbol" pitchFamily="18" charset="2"/>
              </a:rPr>
              <a:t>  </a:t>
            </a:r>
            <a:r>
              <a:rPr lang="zh-Hans" altLang="en-US" b="1" i="1" dirty="0">
                <a:latin typeface="Times New Roman" pitchFamily="18" charset="0"/>
                <a:sym typeface="Symbol" pitchFamily="18" charset="2"/>
              </a:rPr>
              <a:t>  </a:t>
            </a:r>
            <a:r>
              <a:rPr lang="en-US" altLang="zh-CN" b="1" i="1" dirty="0">
                <a:latin typeface="Times New Roman" pitchFamily="18" charset="0"/>
                <a:sym typeface="Symbol" pitchFamily="18" charset="2"/>
              </a:rPr>
              <a:t> </a:t>
            </a:r>
            <a:r>
              <a:rPr lang="en-US" altLang="zh-CN" b="1" dirty="0">
                <a:latin typeface="Times New Roman" pitchFamily="18" charset="0"/>
                <a:sym typeface="Symbol" pitchFamily="18" charset="2"/>
              </a:rPr>
              <a:t>P</a:t>
            </a:r>
            <a:endParaRPr lang="en-US" altLang="zh-CN" b="1" dirty="0">
              <a:latin typeface="Times New Roman" pitchFamily="18" charset="0"/>
            </a:endParaRPr>
          </a:p>
          <a:p>
            <a:pPr eaLnBrk="1" hangingPunct="1"/>
            <a:r>
              <a:rPr lang="en-US" altLang="zh-CN" b="1" dirty="0">
                <a:latin typeface="Times New Roman" pitchFamily="18" charset="0"/>
              </a:rPr>
              <a:t>(7)</a:t>
            </a:r>
            <a:r>
              <a:rPr lang="en-US" altLang="zh-CN" b="1" i="1" dirty="0">
                <a:latin typeface="Times New Roman" pitchFamily="18" charset="0"/>
              </a:rPr>
              <a:t>r        </a:t>
            </a:r>
            <a:r>
              <a:rPr lang="zh-Hans" altLang="en-US" b="1" i="1" dirty="0">
                <a:latin typeface="Times New Roman" pitchFamily="18" charset="0"/>
              </a:rPr>
              <a:t>     </a:t>
            </a:r>
            <a:r>
              <a:rPr lang="en-US" altLang="zh-CN" b="1" i="1" dirty="0">
                <a:latin typeface="Times New Roman" pitchFamily="18" charset="0"/>
              </a:rPr>
              <a:t>  </a:t>
            </a:r>
            <a:r>
              <a:rPr lang="en-US" altLang="zh-CN" b="1" dirty="0">
                <a:latin typeface="Times New Roman" pitchFamily="18" charset="0"/>
              </a:rPr>
              <a:t>T(5)(6)I</a:t>
            </a:r>
            <a:r>
              <a:rPr lang="en-US" altLang="zh-CN" b="1" i="1" dirty="0">
                <a:latin typeface="Times New Roman" pitchFamily="18" charset="0"/>
              </a:rPr>
              <a:t>   </a:t>
            </a:r>
            <a:endParaRPr lang="en-US" altLang="zh-CN" b="1" dirty="0">
              <a:latin typeface="Times New Roman" pitchFamily="18" charset="0"/>
            </a:endParaRPr>
          </a:p>
          <a:p>
            <a:pPr eaLnBrk="1" hangingPunct="1"/>
            <a:r>
              <a:rPr lang="en-US" altLang="zh-CN" b="1" dirty="0">
                <a:latin typeface="Times New Roman" pitchFamily="18" charset="0"/>
              </a:rPr>
              <a:t>(8)</a:t>
            </a:r>
            <a:r>
              <a:rPr lang="en-US" altLang="zh-CN" b="1" dirty="0">
                <a:latin typeface="Times New Roman" pitchFamily="18" charset="0"/>
                <a:sym typeface="Symbol" pitchFamily="18" charset="2"/>
              </a:rPr>
              <a:t></a:t>
            </a:r>
            <a:r>
              <a:rPr lang="en-US" altLang="zh-CN" b="1" i="1" dirty="0">
                <a:latin typeface="Times New Roman" pitchFamily="18" charset="0"/>
              </a:rPr>
              <a:t>r      </a:t>
            </a:r>
            <a:r>
              <a:rPr lang="zh-Hans" altLang="en-US" b="1" i="1" dirty="0">
                <a:latin typeface="Times New Roman" pitchFamily="18" charset="0"/>
              </a:rPr>
              <a:t>  </a:t>
            </a:r>
            <a:r>
              <a:rPr lang="en-US" altLang="zh-CN" b="1" i="1" dirty="0">
                <a:latin typeface="Times New Roman" pitchFamily="18" charset="0"/>
              </a:rPr>
              <a:t>   </a:t>
            </a:r>
            <a:r>
              <a:rPr lang="zh-Hans" altLang="en-US" b="1" i="1" dirty="0">
                <a:latin typeface="Times New Roman" pitchFamily="18" charset="0"/>
              </a:rPr>
              <a:t> </a:t>
            </a:r>
            <a:r>
              <a:rPr lang="en-US" altLang="zh-CN" b="1" dirty="0">
                <a:latin typeface="Times New Roman" pitchFamily="18" charset="0"/>
              </a:rPr>
              <a:t>T(3)I</a:t>
            </a:r>
            <a:r>
              <a:rPr lang="en-US" altLang="zh-CN" b="1" i="1" dirty="0">
                <a:latin typeface="Times New Roman" pitchFamily="18" charset="0"/>
              </a:rPr>
              <a:t> </a:t>
            </a:r>
            <a:endParaRPr lang="en-US" altLang="zh-CN" b="1" dirty="0">
              <a:latin typeface="Times New Roman" pitchFamily="18" charset="0"/>
            </a:endParaRPr>
          </a:p>
          <a:p>
            <a:pPr eaLnBrk="1" hangingPunct="1"/>
            <a:r>
              <a:rPr lang="en-US" altLang="zh-CN" b="1" dirty="0">
                <a:latin typeface="Times New Roman" pitchFamily="18" charset="0"/>
              </a:rPr>
              <a:t>(9)</a:t>
            </a:r>
            <a:r>
              <a:rPr lang="en-US" altLang="zh-CN" b="1" i="1" dirty="0">
                <a:latin typeface="Times New Roman" pitchFamily="18" charset="0"/>
              </a:rPr>
              <a:t>r </a:t>
            </a:r>
            <a:r>
              <a:rPr lang="en-US" altLang="zh-CN" b="1" dirty="0">
                <a:latin typeface="Times New Roman" pitchFamily="18" charset="0"/>
                <a:sym typeface="Symbol" pitchFamily="18" charset="2"/>
              </a:rPr>
              <a:t></a:t>
            </a:r>
            <a:r>
              <a:rPr lang="en-US" altLang="zh-CN" b="1" i="1" dirty="0">
                <a:latin typeface="Times New Roman" pitchFamily="18" charset="0"/>
              </a:rPr>
              <a:t>r    </a:t>
            </a:r>
            <a:r>
              <a:rPr lang="zh-Hans" altLang="en-US" b="1" i="1" dirty="0">
                <a:latin typeface="Times New Roman" pitchFamily="18" charset="0"/>
              </a:rPr>
              <a:t>   </a:t>
            </a:r>
            <a:r>
              <a:rPr lang="en-US" altLang="zh-CN" b="1" dirty="0">
                <a:latin typeface="Times New Roman" pitchFamily="18" charset="0"/>
              </a:rPr>
              <a:t>T(7)(8)I</a:t>
            </a:r>
          </a:p>
        </p:txBody>
      </p:sp>
      <p:graphicFrame>
        <p:nvGraphicFramePr>
          <p:cNvPr id="164867" name="Object 3"/>
          <p:cNvGraphicFramePr>
            <a:graphicFrameLocks noChangeAspect="1"/>
          </p:cNvGraphicFramePr>
          <p:nvPr>
            <p:extLst>
              <p:ext uri="{D42A27DB-BD31-4B8C-83A1-F6EECF244321}">
                <p14:modId xmlns:p14="http://schemas.microsoft.com/office/powerpoint/2010/main" val="444089719"/>
              </p:ext>
            </p:extLst>
          </p:nvPr>
        </p:nvGraphicFramePr>
        <p:xfrm>
          <a:off x="3708400" y="332656"/>
          <a:ext cx="5256088" cy="504056"/>
        </p:xfrm>
        <a:graphic>
          <a:graphicData uri="http://schemas.openxmlformats.org/presentationml/2006/ole">
            <mc:AlternateContent xmlns:mc="http://schemas.openxmlformats.org/markup-compatibility/2006">
              <mc:Choice xmlns:v="urn:schemas-microsoft-com:vml" Requires="v">
                <p:oleObj name="Equation" r:id="rId2" imgW="1676445" imgH="104760" progId="Equation.3">
                  <p:embed/>
                </p:oleObj>
              </mc:Choice>
              <mc:Fallback>
                <p:oleObj name="Equation" r:id="rId2" imgW="1676445" imgH="10476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400" y="332656"/>
                        <a:ext cx="5256088" cy="504056"/>
                      </a:xfrm>
                      <a:prstGeom prst="rect">
                        <a:avLst/>
                      </a:prstGeom>
                      <a:noFill/>
                      <a:ln>
                        <a:noFill/>
                      </a:ln>
                      <a:effectLst/>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rPr>
              <a:t>(2)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CP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规则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条件证明规则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onditional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roof rule)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对于如下形式的推理</a:t>
            </a: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只需要证明</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因为</a:t>
            </a:r>
          </a:p>
        </p:txBody>
      </p:sp>
      <p:graphicFrame>
        <p:nvGraphicFramePr>
          <p:cNvPr id="165891" name="Object 3"/>
          <p:cNvGraphicFramePr>
            <a:graphicFrameLocks noChangeAspect="1"/>
          </p:cNvGraphicFramePr>
          <p:nvPr>
            <p:extLst>
              <p:ext uri="{D42A27DB-BD31-4B8C-83A1-F6EECF244321}">
                <p14:modId xmlns:p14="http://schemas.microsoft.com/office/powerpoint/2010/main" val="2121264003"/>
              </p:ext>
            </p:extLst>
          </p:nvPr>
        </p:nvGraphicFramePr>
        <p:xfrm>
          <a:off x="2267744" y="2204864"/>
          <a:ext cx="3579812" cy="546100"/>
        </p:xfrm>
        <a:graphic>
          <a:graphicData uri="http://schemas.openxmlformats.org/presentationml/2006/ole">
            <mc:AlternateContent xmlns:mc="http://schemas.openxmlformats.org/markup-compatibility/2006">
              <mc:Choice xmlns:v="urn:schemas-microsoft-com:vml" Requires="v">
                <p:oleObj name="Equation" r:id="rId2" imgW="1419278" imgH="152280" progId="Equation.3">
                  <p:embed/>
                </p:oleObj>
              </mc:Choice>
              <mc:Fallback>
                <p:oleObj name="Equation" r:id="rId2" imgW="1419278"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204864"/>
                        <a:ext cx="3579812"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892" name="Object 4"/>
          <p:cNvGraphicFramePr>
            <a:graphicFrameLocks noChangeAspect="1"/>
          </p:cNvGraphicFramePr>
          <p:nvPr>
            <p:extLst>
              <p:ext uri="{D42A27DB-BD31-4B8C-83A1-F6EECF244321}">
                <p14:modId xmlns:p14="http://schemas.microsoft.com/office/powerpoint/2010/main" val="885666725"/>
              </p:ext>
            </p:extLst>
          </p:nvPr>
        </p:nvGraphicFramePr>
        <p:xfrm>
          <a:off x="3059832" y="2996952"/>
          <a:ext cx="3276600" cy="546100"/>
        </p:xfrm>
        <a:graphic>
          <a:graphicData uri="http://schemas.openxmlformats.org/presentationml/2006/ole">
            <mc:AlternateContent xmlns:mc="http://schemas.openxmlformats.org/markup-compatibility/2006">
              <mc:Choice xmlns:v="urn:schemas-microsoft-com:vml" Requires="v">
                <p:oleObj name="Equation" r:id="rId4" imgW="1295287" imgH="152280" progId="Equation.3">
                  <p:embed/>
                </p:oleObj>
              </mc:Choice>
              <mc:Fallback>
                <p:oleObj name="Equation" r:id="rId4" imgW="1295287" imgH="1522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832" y="2996952"/>
                        <a:ext cx="32766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893" name="Object 5"/>
          <p:cNvGraphicFramePr>
            <a:graphicFrameLocks noChangeAspect="1"/>
          </p:cNvGraphicFramePr>
          <p:nvPr>
            <p:extLst>
              <p:ext uri="{D42A27DB-BD31-4B8C-83A1-F6EECF244321}">
                <p14:modId xmlns:p14="http://schemas.microsoft.com/office/powerpoint/2010/main" val="967334429"/>
              </p:ext>
            </p:extLst>
          </p:nvPr>
        </p:nvGraphicFramePr>
        <p:xfrm>
          <a:off x="1907704" y="3717032"/>
          <a:ext cx="5156200" cy="2184400"/>
        </p:xfrm>
        <a:graphic>
          <a:graphicData uri="http://schemas.openxmlformats.org/presentationml/2006/ole">
            <mc:AlternateContent xmlns:mc="http://schemas.openxmlformats.org/markup-compatibility/2006">
              <mc:Choice xmlns:v="urn:schemas-microsoft-com:vml" Requires="v">
                <p:oleObj name="Equation" r:id="rId6" imgW="2085967" imgH="838080" progId="Equation.3">
                  <p:embed/>
                </p:oleObj>
              </mc:Choice>
              <mc:Fallback>
                <p:oleObj name="Equation" r:id="rId6" imgW="2085967" imgH="83808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7704" y="3717032"/>
                        <a:ext cx="5156200" cy="218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圆角矩形 5">
            <a:extLst>
              <a:ext uri="{FF2B5EF4-FFF2-40B4-BE49-F238E27FC236}">
                <a16:creationId xmlns:a16="http://schemas.microsoft.com/office/drawing/2014/main" id="{230A2144-F2A3-4F46-9730-C75995144636}"/>
              </a:ext>
            </a:extLst>
          </p:cNvPr>
          <p:cNvSpPr/>
          <p:nvPr/>
        </p:nvSpPr>
        <p:spPr>
          <a:xfrm>
            <a:off x="2987824" y="3068960"/>
            <a:ext cx="3191796" cy="432048"/>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73CB472D-8549-BB47-9A87-56809BDD1E1F}"/>
              </a:ext>
            </a:extLst>
          </p:cNvPr>
          <p:cNvCxnSpPr>
            <a:cxnSpLocks/>
          </p:cNvCxnSpPr>
          <p:nvPr/>
        </p:nvCxnSpPr>
        <p:spPr>
          <a:xfrm>
            <a:off x="4860032" y="2725471"/>
            <a:ext cx="7920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02B450DC-34DB-3F4A-B7FD-9F05BB67592A}"/>
              </a:ext>
            </a:extLst>
          </p:cNvPr>
          <p:cNvSpPr txBox="1"/>
          <p:nvPr/>
        </p:nvSpPr>
        <p:spPr>
          <a:xfrm>
            <a:off x="7524328" y="3717032"/>
            <a:ext cx="1008112" cy="461665"/>
          </a:xfrm>
          <a:prstGeom prst="rect">
            <a:avLst/>
          </a:prstGeom>
          <a:noFill/>
        </p:spPr>
        <p:txBody>
          <a:bodyPr wrap="square" rtlCol="0">
            <a:spAutoFit/>
          </a:bodyPr>
          <a:lstStyle/>
          <a:p>
            <a:r>
              <a:rPr kumimoji="1" lang="zh-Hans" altLang="en-US" sz="2400" dirty="0">
                <a:solidFill>
                  <a:srgbClr val="1829A6"/>
                </a:solidFill>
              </a:rPr>
              <a:t>永真</a:t>
            </a:r>
            <a:endParaRPr kumimoji="1" lang="zh-CN" altLang="en-US" sz="2400" dirty="0">
              <a:solidFill>
                <a:srgbClr val="1829A6"/>
              </a:solidFill>
            </a:endParaRPr>
          </a:p>
        </p:txBody>
      </p:sp>
      <p:sp>
        <p:nvSpPr>
          <p:cNvPr id="16" name="文本框 15">
            <a:extLst>
              <a:ext uri="{FF2B5EF4-FFF2-40B4-BE49-F238E27FC236}">
                <a16:creationId xmlns:a16="http://schemas.microsoft.com/office/drawing/2014/main" id="{19D4E968-35D7-7245-A688-8769D706AF87}"/>
              </a:ext>
            </a:extLst>
          </p:cNvPr>
          <p:cNvSpPr txBox="1"/>
          <p:nvPr/>
        </p:nvSpPr>
        <p:spPr>
          <a:xfrm>
            <a:off x="7524328" y="5415607"/>
            <a:ext cx="1008112" cy="461665"/>
          </a:xfrm>
          <a:prstGeom prst="rect">
            <a:avLst/>
          </a:prstGeom>
          <a:noFill/>
        </p:spPr>
        <p:txBody>
          <a:bodyPr wrap="square" rtlCol="0">
            <a:spAutoFit/>
          </a:bodyPr>
          <a:lstStyle/>
          <a:p>
            <a:r>
              <a:rPr kumimoji="1" lang="zh-Hans" altLang="en-US" sz="2400" dirty="0">
                <a:solidFill>
                  <a:srgbClr val="1829A6"/>
                </a:solidFill>
              </a:rPr>
              <a:t>永真</a:t>
            </a:r>
            <a:endParaRPr kumimoji="1" lang="zh-CN" altLang="en-US" sz="2400" dirty="0">
              <a:solidFill>
                <a:srgbClr val="1829A6"/>
              </a:solidFill>
            </a:endParaRPr>
          </a:p>
        </p:txBody>
      </p:sp>
      <p:sp>
        <p:nvSpPr>
          <p:cNvPr id="12" name="左右箭头 11">
            <a:extLst>
              <a:ext uri="{FF2B5EF4-FFF2-40B4-BE49-F238E27FC236}">
                <a16:creationId xmlns:a16="http://schemas.microsoft.com/office/drawing/2014/main" id="{731500A0-8330-9440-B9ED-082FEAE4D12D}"/>
              </a:ext>
            </a:extLst>
          </p:cNvPr>
          <p:cNvSpPr/>
          <p:nvPr/>
        </p:nvSpPr>
        <p:spPr>
          <a:xfrm rot="5400000">
            <a:off x="7359117" y="4703948"/>
            <a:ext cx="1122511" cy="216025"/>
          </a:xfrm>
          <a:prstGeom prst="lef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6914" name="Rectangle 2"/>
              <p:cNvSpPr>
                <a:spLocks noGrp="1" noChangeArrowheads="1"/>
              </p:cNvSpPr>
              <p:nvPr>
                <p:ph/>
              </p:nvPr>
            </p:nvSpPr>
            <p:spPr/>
            <p:txBody>
              <a:bodyPr/>
              <a:lstStyle/>
              <a:p>
                <a:pPr eaLnBrk="1" hangingPunct="1"/>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3-34 </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使用</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CP</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规则证明</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p>
              <a:p>
                <a:pPr marL="0" indent="0" eaLnBrk="1" hangingPunct="1">
                  <a:buNone/>
                </a:pPr>
                <a14:m>
                  <m:oMathPara xmlns:m="http://schemas.openxmlformats.org/officeDocument/2006/math">
                    <m:oMathParaPr>
                      <m:jc m:val="centerGroup"/>
                    </m:oMathParaPr>
                    <m:oMath xmlns:m="http://schemas.openxmlformats.org/officeDocument/2006/math">
                      <m:r>
                        <a:rPr lang="en-US" altLang="zh-CN" sz="2800" b="1" i="1" smtClean="0">
                          <a:latin typeface="Cambria Math"/>
                          <a:ea typeface="楷体" panose="02010609060101010101" pitchFamily="49" charset="-122"/>
                          <a:cs typeface="Times New Roman" panose="02020603050405020304" pitchFamily="18" charset="0"/>
                        </a:rPr>
                        <m:t>𝒑</m:t>
                      </m:r>
                      <m:r>
                        <a:rPr lang="en-US" altLang="zh-CN" sz="2800" b="1" i="1" smtClean="0">
                          <a:latin typeface="Cambria Math"/>
                          <a:ea typeface="Cambria Math"/>
                          <a:cs typeface="Times New Roman" panose="02020603050405020304" pitchFamily="18" charset="0"/>
                        </a:rPr>
                        <m:t>→</m:t>
                      </m:r>
                      <m:d>
                        <m:dPr>
                          <m:ctrlPr>
                            <a:rPr lang="en-US" altLang="zh-CN" sz="2800" b="1" i="1" smtClean="0">
                              <a:latin typeface="Cambria Math" panose="02040503050406030204" pitchFamily="18" charset="0"/>
                              <a:ea typeface="Cambria Math"/>
                              <a:cs typeface="Times New Roman" panose="02020603050405020304" pitchFamily="18" charset="0"/>
                            </a:rPr>
                          </m:ctrlPr>
                        </m:dPr>
                        <m:e>
                          <m:r>
                            <a:rPr lang="en-US" altLang="zh-CN" sz="2800" b="1" i="1" smtClean="0">
                              <a:latin typeface="Cambria Math"/>
                              <a:ea typeface="Cambria Math"/>
                              <a:cs typeface="Times New Roman" panose="02020603050405020304" pitchFamily="18" charset="0"/>
                            </a:rPr>
                            <m:t>𝒒</m:t>
                          </m:r>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𝒓</m:t>
                          </m:r>
                        </m:e>
                      </m:d>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𝒒</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𝒑</m:t>
                      </m:r>
                      <m:r>
                        <a:rPr lang="en-US" altLang="zh-CN" sz="2800" b="1" i="1">
                          <a:latin typeface="Cambria Math"/>
                          <a:ea typeface="Cambria Math"/>
                          <a:cs typeface="Times New Roman" panose="02020603050405020304" pitchFamily="18" charset="0"/>
                        </a:rPr>
                        <m:t>,</m:t>
                      </m:r>
                      <m:r>
                        <a:rPr lang="en-US" altLang="zh-CN" sz="2800" b="1" i="1">
                          <a:latin typeface="Cambria Math"/>
                          <a:ea typeface="Cambria Math"/>
                          <a:cs typeface="Times New Roman" panose="02020603050405020304" pitchFamily="18" charset="0"/>
                        </a:rPr>
                        <m:t>𝒔</m:t>
                      </m:r>
                      <m:r>
                        <a:rPr lang="en-US" altLang="zh-CN" sz="2800" b="1" i="1">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𝒓</m:t>
                      </m:r>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𝒑</m:t>
                      </m:r>
                      <m:r>
                        <a:rPr lang="en-US" altLang="zh-CN" sz="2800" b="1" i="1" smtClean="0">
                          <a:latin typeface="Cambria Math"/>
                          <a:ea typeface="Cambria Math"/>
                          <a:cs typeface="Times New Roman" panose="02020603050405020304" pitchFamily="18" charset="0"/>
                        </a:rPr>
                        <m:t>→¬</m:t>
                      </m:r>
                      <m:r>
                        <a:rPr lang="en-US" altLang="zh-CN" sz="2800" b="1" i="1" smtClean="0">
                          <a:latin typeface="Cambria Math"/>
                          <a:ea typeface="Cambria Math"/>
                          <a:cs typeface="Times New Roman" panose="02020603050405020304" pitchFamily="18" charset="0"/>
                        </a:rPr>
                        <m:t>𝒔</m:t>
                      </m:r>
                    </m:oMath>
                  </m:oMathPara>
                </a14:m>
                <a:endParaRPr lang="en-US" altLang="zh-CN" sz="2800" b="1" dirty="0">
                  <a:latin typeface="Times New Roman" panose="02020603050405020304" pitchFamily="18" charset="0"/>
                  <a:ea typeface="Cambria Math"/>
                  <a:cs typeface="Times New Roman" panose="02020603050405020304" pitchFamily="18" charset="0"/>
                </a:endParaRPr>
              </a:p>
              <a:p>
                <a:pPr eaLnBrk="1" hangingPunct="1"/>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证</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P</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(2)</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附加</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(3)</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T(1)(2)I</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(4)</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q</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P</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(5)</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p</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T(4)E</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(6)</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q</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T(2)(5)I</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(7)</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T(3)(6)I</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(8)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r       </a:t>
                </a:r>
                <a:r>
                  <a:rPr lang="zh-Hans" altLang="en-US"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P</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(9) </a:t>
                </a:r>
                <a14:m>
                  <m:oMath xmlns:m="http://schemas.openxmlformats.org/officeDocument/2006/math">
                    <m:r>
                      <a:rPr lang="en-US" altLang="zh-CN" sz="2800" b="1" i="1" smtClean="0">
                        <a:latin typeface="Cambria Math"/>
                        <a:ea typeface="Cambria Math"/>
                        <a:cs typeface="Times New Roman" panose="02020603050405020304" pitchFamily="18" charset="0"/>
                        <a:sym typeface="Symbol" pitchFamily="18" charset="2"/>
                      </a:rPr>
                      <m:t>¬</m:t>
                    </m:r>
                    <m:r>
                      <a:rPr lang="en-US" altLang="zh-CN" sz="2800" b="1" i="1" smtClean="0">
                        <a:latin typeface="Cambria Math"/>
                        <a:ea typeface="Cambria Math"/>
                        <a:cs typeface="Times New Roman" panose="02020603050405020304" pitchFamily="18" charset="0"/>
                        <a:sym typeface="Symbol" pitchFamily="18" charset="2"/>
                      </a:rPr>
                      <m:t>𝒔</m:t>
                    </m:r>
                    <m:r>
                      <a:rPr lang="en-US" altLang="zh-CN" sz="2800" b="1" i="1" smtClean="0">
                        <a:latin typeface="Cambria Math"/>
                        <a:ea typeface="Cambria Math"/>
                        <a:cs typeface="Times New Roman" panose="02020603050405020304" pitchFamily="18" charset="0"/>
                        <a:sym typeface="Symbol" pitchFamily="18" charset="2"/>
                      </a:rPr>
                      <m:t>∨¬</m:t>
                    </m:r>
                    <m:r>
                      <a:rPr lang="en-US" altLang="zh-CN" sz="2800" b="1" i="1" smtClean="0">
                        <a:latin typeface="Cambria Math"/>
                        <a:ea typeface="Cambria Math"/>
                        <a:cs typeface="Times New Roman" panose="02020603050405020304" pitchFamily="18" charset="0"/>
                        <a:sym typeface="Symbol" pitchFamily="18" charset="2"/>
                      </a:rPr>
                      <m:t>𝒓</m:t>
                    </m:r>
                  </m:oMath>
                </a14:m>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T(8)E</a:t>
                </a:r>
              </a:p>
              <a:p>
                <a:pPr eaLnBrk="1" hangingPunct="1"/>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(10) </a:t>
                </a:r>
                <a14:m>
                  <m:oMath xmlns:m="http://schemas.openxmlformats.org/officeDocument/2006/math">
                    <m:r>
                      <a:rPr lang="en-US" altLang="zh-CN" sz="2800" b="1" i="1">
                        <a:latin typeface="Cambria Math"/>
                        <a:ea typeface="Cambria Math"/>
                        <a:cs typeface="Times New Roman" panose="02020603050405020304" pitchFamily="18" charset="0"/>
                        <a:sym typeface="Symbol" pitchFamily="18" charset="2"/>
                      </a:rPr>
                      <m:t>¬</m:t>
                    </m:r>
                    <m:r>
                      <a:rPr lang="en-US" altLang="zh-CN" sz="2800" b="1" i="1">
                        <a:latin typeface="Cambria Math"/>
                        <a:ea typeface="Cambria Math"/>
                        <a:cs typeface="Times New Roman" panose="02020603050405020304" pitchFamily="18" charset="0"/>
                        <a:sym typeface="Symbol" pitchFamily="18" charset="2"/>
                      </a:rPr>
                      <m:t>𝒔</m:t>
                    </m:r>
                  </m:oMath>
                </a14:m>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T(7)(9)I</a:t>
                </a:r>
              </a:p>
            </p:txBody>
          </p:sp>
        </mc:Choice>
        <mc:Fallback xmlns="">
          <p:sp>
            <p:nvSpPr>
              <p:cNvPr id="166914" name="Rectangle 2"/>
              <p:cNvSpPr>
                <a:spLocks noGrp="1" noRot="1" noChangeAspect="1" noMove="1" noResize="1" noEditPoints="1" noAdjustHandles="1" noChangeArrowheads="1" noChangeShapeType="1" noTextEdit="1"/>
              </p:cNvSpPr>
              <p:nvPr>
                <p:ph/>
              </p:nvPr>
            </p:nvSpPr>
            <p:spPr>
              <a:blipFill>
                <a:blip r:embed="rId2"/>
                <a:stretch>
                  <a:fillRect l="-1389" t="-1518" b="-67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4380769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p:nvPr>
        </p:nvSpPr>
        <p:spPr>
          <a:xfrm>
            <a:off x="457200" y="692696"/>
            <a:ext cx="8229600" cy="5851525"/>
          </a:xfrm>
        </p:spPr>
        <p:txBody>
          <a:bodyPr/>
          <a:lstStyle/>
          <a:p>
            <a:pPr eaLnBrk="1" hangingPunct="1">
              <a:lnSpc>
                <a:spcPct val="120000"/>
              </a:lnSpc>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数理逻辑的主要研究任务是建立一个严密的逻辑推理系统</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公理推理系统来刻划人类的思维规律</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如</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PC(formal system of Proposition Calculus)</a:t>
            </a:r>
          </a:p>
          <a:p>
            <a:pPr eaLnBrk="1" hangingPunct="1">
              <a:lnSpc>
                <a:spcPct val="120000"/>
              </a:lnSpc>
            </a:pP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p>
        </p:txBody>
      </p:sp>
      <p:sp>
        <p:nvSpPr>
          <p:cNvPr id="168963" name="Rectangle 3"/>
          <p:cNvSpPr>
            <a:spLocks noGrp="1" noChangeArrowheads="1"/>
          </p:cNvSpPr>
          <p:nvPr>
            <p:ph type="title"/>
          </p:nvPr>
        </p:nvSpPr>
        <p:spPr/>
        <p:txBody>
          <a:bodyPr/>
          <a:lstStyle/>
          <a:p>
            <a:pPr algn="l" eaLnBrk="1" hangingPunct="1"/>
            <a:r>
              <a:rPr lang="zh-CN" altLang="en-US" sz="4000" b="1"/>
              <a:t>小结与作业</a:t>
            </a:r>
          </a:p>
        </p:txBody>
      </p:sp>
      <p:grpSp>
        <p:nvGrpSpPr>
          <p:cNvPr id="168964" name="Group 4"/>
          <p:cNvGrpSpPr>
            <a:grpSpLocks/>
          </p:cNvGrpSpPr>
          <p:nvPr/>
        </p:nvGrpSpPr>
        <p:grpSpPr bwMode="auto">
          <a:xfrm>
            <a:off x="1331913" y="1773238"/>
            <a:ext cx="5181600" cy="508000"/>
            <a:chOff x="1419" y="1480"/>
            <a:chExt cx="3575" cy="363"/>
          </a:xfrm>
        </p:grpSpPr>
        <p:grpSp>
          <p:nvGrpSpPr>
            <p:cNvPr id="168987" name="Group 5"/>
            <p:cNvGrpSpPr>
              <a:grpSpLocks/>
            </p:cNvGrpSpPr>
            <p:nvPr/>
          </p:nvGrpSpPr>
          <p:grpSpPr bwMode="auto">
            <a:xfrm>
              <a:off x="1419" y="1480"/>
              <a:ext cx="3575" cy="363"/>
              <a:chOff x="1419" y="1480"/>
              <a:chExt cx="3575" cy="363"/>
            </a:xfrm>
          </p:grpSpPr>
          <p:sp>
            <p:nvSpPr>
              <p:cNvPr id="176134"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76135"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推理形式有效性的定义</a:t>
                </a:r>
              </a:p>
            </p:txBody>
          </p:sp>
        </p:grpSp>
        <p:sp>
          <p:nvSpPr>
            <p:cNvPr id="176136"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68989"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168965" name="Group 10"/>
          <p:cNvGrpSpPr>
            <a:grpSpLocks/>
          </p:cNvGrpSpPr>
          <p:nvPr/>
        </p:nvGrpSpPr>
        <p:grpSpPr bwMode="auto">
          <a:xfrm>
            <a:off x="2051050" y="2924175"/>
            <a:ext cx="5181600" cy="508000"/>
            <a:chOff x="1419" y="1480"/>
            <a:chExt cx="3575" cy="363"/>
          </a:xfrm>
        </p:grpSpPr>
        <p:grpSp>
          <p:nvGrpSpPr>
            <p:cNvPr id="168982" name="Group 11"/>
            <p:cNvGrpSpPr>
              <a:grpSpLocks/>
            </p:cNvGrpSpPr>
            <p:nvPr/>
          </p:nvGrpSpPr>
          <p:grpSpPr bwMode="auto">
            <a:xfrm>
              <a:off x="1419" y="1480"/>
              <a:ext cx="3575" cy="363"/>
              <a:chOff x="1419" y="1480"/>
              <a:chExt cx="3575" cy="363"/>
            </a:xfrm>
          </p:grpSpPr>
          <p:sp>
            <p:nvSpPr>
              <p:cNvPr id="176140"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76141"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eaLnBrk="0" hangingPunct="0">
                  <a:defRPr/>
                </a:pPr>
                <a:r>
                  <a:rPr lang="zh-CN" altLang="en-US" sz="3200" b="1"/>
                  <a:t>基本推理规则</a:t>
                </a:r>
              </a:p>
            </p:txBody>
          </p:sp>
        </p:grpSp>
        <p:sp>
          <p:nvSpPr>
            <p:cNvPr id="176142"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68984"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168966" name="Group 16"/>
          <p:cNvGrpSpPr>
            <a:grpSpLocks/>
          </p:cNvGrpSpPr>
          <p:nvPr/>
        </p:nvGrpSpPr>
        <p:grpSpPr bwMode="auto">
          <a:xfrm>
            <a:off x="2268538" y="4076700"/>
            <a:ext cx="5181600" cy="508000"/>
            <a:chOff x="1419" y="1480"/>
            <a:chExt cx="3575" cy="363"/>
          </a:xfrm>
        </p:grpSpPr>
        <p:grpSp>
          <p:nvGrpSpPr>
            <p:cNvPr id="168977" name="Group 17"/>
            <p:cNvGrpSpPr>
              <a:grpSpLocks/>
            </p:cNvGrpSpPr>
            <p:nvPr/>
          </p:nvGrpSpPr>
          <p:grpSpPr bwMode="auto">
            <a:xfrm>
              <a:off x="1419" y="1480"/>
              <a:ext cx="3575" cy="363"/>
              <a:chOff x="1419" y="1480"/>
              <a:chExt cx="3575" cy="363"/>
            </a:xfrm>
          </p:grpSpPr>
          <p:sp>
            <p:nvSpPr>
              <p:cNvPr id="176146" name="Oval 18"/>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p>
            </p:txBody>
          </p:sp>
          <p:sp>
            <p:nvSpPr>
              <p:cNvPr id="176147" name="AutoShape 19"/>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t>命题逻辑的自然推理系统</a:t>
                </a:r>
              </a:p>
            </p:txBody>
          </p:sp>
        </p:grpSp>
        <p:sp>
          <p:nvSpPr>
            <p:cNvPr id="176148" name="Oval 20"/>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p>
          </p:txBody>
        </p:sp>
        <p:sp>
          <p:nvSpPr>
            <p:cNvPr id="168979" name="Oval 21"/>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168967" name="AutoShape 22"/>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168969" name="Group 24"/>
          <p:cNvGrpSpPr>
            <a:grpSpLocks/>
          </p:cNvGrpSpPr>
          <p:nvPr/>
        </p:nvGrpSpPr>
        <p:grpSpPr bwMode="auto">
          <a:xfrm>
            <a:off x="507506" y="5300663"/>
            <a:ext cx="6731065" cy="685800"/>
            <a:chOff x="630" y="2832"/>
            <a:chExt cx="4262" cy="432"/>
          </a:xfrm>
        </p:grpSpPr>
        <p:grpSp>
          <p:nvGrpSpPr>
            <p:cNvPr id="168970" name="Group 25"/>
            <p:cNvGrpSpPr>
              <a:grpSpLocks/>
            </p:cNvGrpSpPr>
            <p:nvPr/>
          </p:nvGrpSpPr>
          <p:grpSpPr bwMode="auto">
            <a:xfrm>
              <a:off x="1152" y="2845"/>
              <a:ext cx="480" cy="419"/>
              <a:chOff x="3174" y="2656"/>
              <a:chExt cx="1549" cy="1351"/>
            </a:xfrm>
          </p:grpSpPr>
          <p:sp>
            <p:nvSpPr>
              <p:cNvPr id="168974" name="AutoShape 26"/>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68975" name="AutoShape 27"/>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76156" name="AutoShape 28"/>
              <p:cNvSpPr>
                <a:spLocks noChangeArrowheads="1"/>
              </p:cNvSpPr>
              <p:nvPr/>
            </p:nvSpPr>
            <p:spPr bwMode="gray">
              <a:xfrm>
                <a:off x="3265"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p>
            </p:txBody>
          </p:sp>
        </p:grpSp>
        <p:sp>
          <p:nvSpPr>
            <p:cNvPr id="168971" name="Line 29"/>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972" name="Text Box 30"/>
            <p:cNvSpPr txBox="1">
              <a:spLocks noChangeArrowheads="1"/>
            </p:cNvSpPr>
            <p:nvPr/>
          </p:nvSpPr>
          <p:spPr bwMode="auto">
            <a:xfrm>
              <a:off x="2112" y="2832"/>
              <a:ext cx="278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t>习题</a:t>
              </a:r>
              <a:r>
                <a:rPr lang="en-US" altLang="zh-CN" sz="3200" b="1" dirty="0">
                  <a:latin typeface="Times New Roman" pitchFamily="18" charset="0"/>
                </a:rPr>
                <a:t>3.7 </a:t>
              </a:r>
              <a:r>
                <a:rPr lang="zh-Hans" altLang="en-US" sz="3200" b="1" dirty="0">
                  <a:latin typeface="Times New Roman" pitchFamily="18" charset="0"/>
                </a:rPr>
                <a:t>  </a:t>
              </a:r>
              <a:r>
                <a:rPr lang="en-US" altLang="zh-CN" sz="3200" b="1" dirty="0">
                  <a:latin typeface="Times New Roman" pitchFamily="18" charset="0"/>
                </a:rPr>
                <a:t> 7(1), 8(1), 9(1)</a:t>
              </a:r>
            </a:p>
          </p:txBody>
        </p:sp>
        <p:sp>
          <p:nvSpPr>
            <p:cNvPr id="168973" name="Text Box 31"/>
            <p:cNvSpPr txBox="1">
              <a:spLocks noChangeArrowheads="1"/>
            </p:cNvSpPr>
            <p:nvPr/>
          </p:nvSpPr>
          <p:spPr bwMode="gray">
            <a:xfrm>
              <a:off x="630" y="2928"/>
              <a:ext cx="9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a:solidFill>
                    <a:schemeClr val="bg1"/>
                  </a:solidFill>
                  <a:latin typeface="Times New Roman" pitchFamily="18" charset="0"/>
                </a:rPr>
                <a:t>第八周 作业</a:t>
              </a:r>
              <a:endParaRPr lang="zh-CN" altLang="en-US" sz="2000" b="1" dirty="0">
                <a:solidFill>
                  <a:schemeClr val="bg1"/>
                </a:solidFill>
                <a:latin typeface="Times New Roman" pitchFamily="18" charset="0"/>
              </a:endParaRPr>
            </a:p>
          </p:txBody>
        </p:sp>
      </p:grpSp>
    </p:spTree>
  </p:cSld>
  <p:clrMapOvr>
    <a:masterClrMapping/>
  </p:clrMapOvr>
</p:sld>
</file>

<file path=ppt/theme/theme1.xml><?xml version="1.0" encoding="utf-8"?>
<a:theme xmlns:a="http://schemas.openxmlformats.org/drawingml/2006/main" name="5">
  <a:themeElements>
    <a:clrScheme nam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Template>
  <TotalTime>4656</TotalTime>
  <Words>2879</Words>
  <Application>Microsoft Office PowerPoint</Application>
  <PresentationFormat>全屏显示(4:3)</PresentationFormat>
  <Paragraphs>367</Paragraphs>
  <Slides>48</Slides>
  <Notes>1</Notes>
  <HiddenSlides>5</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3</vt:i4>
      </vt:variant>
      <vt:variant>
        <vt:lpstr>幻灯片标题</vt:lpstr>
      </vt:variant>
      <vt:variant>
        <vt:i4>48</vt:i4>
      </vt:variant>
    </vt:vector>
  </HeadingPairs>
  <TitlesOfParts>
    <vt:vector size="57" baseType="lpstr">
      <vt:lpstr>Gulim</vt:lpstr>
      <vt:lpstr>Arial</vt:lpstr>
      <vt:lpstr>Calibri</vt:lpstr>
      <vt:lpstr>Cambria Math</vt:lpstr>
      <vt:lpstr>Times New Roman</vt:lpstr>
      <vt:lpstr>5</vt:lpstr>
      <vt:lpstr>Equation</vt:lpstr>
      <vt:lpstr>公式</vt:lpstr>
      <vt:lpstr>MathType 7.0 Equation</vt:lpstr>
      <vt:lpstr>第3章  命题逻辑</vt:lpstr>
      <vt:lpstr>PowerPoint 演示文稿</vt:lpstr>
      <vt:lpstr>PowerPoint 演示文稿</vt:lpstr>
      <vt:lpstr>PowerPoint 演示文稿</vt:lpstr>
      <vt:lpstr>PowerPoint 演示文稿</vt:lpstr>
      <vt:lpstr>PowerPoint 演示文稿</vt:lpstr>
      <vt:lpstr>PowerPoint 演示文稿</vt:lpstr>
      <vt:lpstr>小结与作业</vt:lpstr>
      <vt:lpstr>第3章  命题逻辑</vt:lpstr>
      <vt:lpstr>3.6  联结词集合的功能完备性</vt:lpstr>
      <vt:lpstr>3.6  联结词集合的功能完备性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第3章  命题逻辑</vt:lpstr>
      <vt:lpstr>3.7 命题逻辑中的推理</vt:lpstr>
      <vt:lpstr>3.7  命题逻辑中的推理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小结与作业</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邓辉文</dc:creator>
  <cp:lastModifiedBy>Xia Zeng</cp:lastModifiedBy>
  <cp:revision>148</cp:revision>
  <dcterms:created xsi:type="dcterms:W3CDTF">2013-03-02T07:56:57Z</dcterms:created>
  <dcterms:modified xsi:type="dcterms:W3CDTF">2025-04-16T09:04:02Z</dcterms:modified>
</cp:coreProperties>
</file>